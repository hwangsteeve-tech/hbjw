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72" r:id="rId4"/>
  </p:sldMasterIdLst>
  <p:notesMasterIdLst>
    <p:notesMasterId r:id="rId225"/>
  </p:notesMasterIdLst>
  <p:handoutMasterIdLst>
    <p:handoutMasterId r:id="rId226"/>
  </p:handoutMasterIdLst>
  <p:sldIdLst>
    <p:sldId id="260" r:id="rId5"/>
    <p:sldId id="7487" r:id="rId6"/>
    <p:sldId id="277" r:id="rId7"/>
    <p:sldId id="283" r:id="rId8"/>
    <p:sldId id="275" r:id="rId9"/>
    <p:sldId id="7643" r:id="rId10"/>
    <p:sldId id="7645" r:id="rId11"/>
    <p:sldId id="7646" r:id="rId12"/>
    <p:sldId id="7648" r:id="rId13"/>
    <p:sldId id="7649" r:id="rId14"/>
    <p:sldId id="7650" r:id="rId15"/>
    <p:sldId id="7651" r:id="rId16"/>
    <p:sldId id="7653" r:id="rId17"/>
    <p:sldId id="7656" r:id="rId18"/>
    <p:sldId id="7657" r:id="rId19"/>
    <p:sldId id="7658" r:id="rId20"/>
    <p:sldId id="7659" r:id="rId21"/>
    <p:sldId id="7660" r:id="rId22"/>
    <p:sldId id="7662" r:id="rId23"/>
    <p:sldId id="7663" r:id="rId24"/>
    <p:sldId id="7665" r:id="rId25"/>
    <p:sldId id="7668" r:id="rId26"/>
    <p:sldId id="7669" r:id="rId27"/>
    <p:sldId id="7671" r:id="rId28"/>
    <p:sldId id="7673" r:id="rId29"/>
    <p:sldId id="7677" r:id="rId30"/>
    <p:sldId id="7679" r:id="rId31"/>
    <p:sldId id="7680" r:id="rId32"/>
    <p:sldId id="7681" r:id="rId33"/>
    <p:sldId id="7682" r:id="rId34"/>
    <p:sldId id="7742" r:id="rId35"/>
    <p:sldId id="7685" r:id="rId36"/>
    <p:sldId id="7686" r:id="rId37"/>
    <p:sldId id="7687" r:id="rId38"/>
    <p:sldId id="7688" r:id="rId39"/>
    <p:sldId id="7744" r:id="rId40"/>
    <p:sldId id="7690" r:id="rId41"/>
    <p:sldId id="7740" r:id="rId42"/>
    <p:sldId id="7691" r:id="rId43"/>
    <p:sldId id="7739" r:id="rId44"/>
    <p:sldId id="7692" r:id="rId45"/>
    <p:sldId id="7738" r:id="rId46"/>
    <p:sldId id="7694" r:id="rId47"/>
    <p:sldId id="7696" r:id="rId48"/>
    <p:sldId id="7698" r:id="rId49"/>
    <p:sldId id="7733" r:id="rId50"/>
    <p:sldId id="7734" r:id="rId51"/>
    <p:sldId id="7735" r:id="rId52"/>
    <p:sldId id="7736" r:id="rId53"/>
    <p:sldId id="7451" r:id="rId54"/>
    <p:sldId id="7743" r:id="rId55"/>
    <p:sldId id="7745" r:id="rId56"/>
    <p:sldId id="7746" r:id="rId57"/>
    <p:sldId id="7765" r:id="rId58"/>
    <p:sldId id="7749" r:id="rId59"/>
    <p:sldId id="7755" r:id="rId60"/>
    <p:sldId id="7771" r:id="rId61"/>
    <p:sldId id="7769" r:id="rId62"/>
    <p:sldId id="7757" r:id="rId63"/>
    <p:sldId id="7766" r:id="rId64"/>
    <p:sldId id="7767" r:id="rId65"/>
    <p:sldId id="7748" r:id="rId66"/>
    <p:sldId id="7595" r:id="rId67"/>
    <p:sldId id="7752" r:id="rId68"/>
    <p:sldId id="7596" r:id="rId69"/>
    <p:sldId id="7756" r:id="rId70"/>
    <p:sldId id="7760" r:id="rId71"/>
    <p:sldId id="7597" r:id="rId72"/>
    <p:sldId id="7763" r:id="rId73"/>
    <p:sldId id="7764" r:id="rId74"/>
    <p:sldId id="7768" r:id="rId75"/>
    <p:sldId id="7598" r:id="rId76"/>
    <p:sldId id="7770" r:id="rId77"/>
    <p:sldId id="7599" r:id="rId78"/>
    <p:sldId id="7600" r:id="rId79"/>
    <p:sldId id="7601" r:id="rId80"/>
    <p:sldId id="7602" r:id="rId81"/>
    <p:sldId id="7758" r:id="rId82"/>
    <p:sldId id="7759" r:id="rId83"/>
    <p:sldId id="7603" r:id="rId84"/>
    <p:sldId id="7761" r:id="rId85"/>
    <p:sldId id="7762" r:id="rId86"/>
    <p:sldId id="7753" r:id="rId87"/>
    <p:sldId id="7604" r:id="rId88"/>
    <p:sldId id="7772" r:id="rId89"/>
    <p:sldId id="7605" r:id="rId90"/>
    <p:sldId id="7773" r:id="rId91"/>
    <p:sldId id="7606" r:id="rId92"/>
    <p:sldId id="7811" r:id="rId93"/>
    <p:sldId id="7774" r:id="rId94"/>
    <p:sldId id="7815" r:id="rId95"/>
    <p:sldId id="7607" r:id="rId96"/>
    <p:sldId id="7779" r:id="rId97"/>
    <p:sldId id="7608" r:id="rId98"/>
    <p:sldId id="7785" r:id="rId99"/>
    <p:sldId id="7609" r:id="rId100"/>
    <p:sldId id="7788" r:id="rId101"/>
    <p:sldId id="7610" r:id="rId102"/>
    <p:sldId id="7789" r:id="rId103"/>
    <p:sldId id="7611" r:id="rId104"/>
    <p:sldId id="7790" r:id="rId105"/>
    <p:sldId id="7612" r:id="rId106"/>
    <p:sldId id="7791" r:id="rId107"/>
    <p:sldId id="7614" r:id="rId108"/>
    <p:sldId id="7792" r:id="rId109"/>
    <p:sldId id="7615" r:id="rId110"/>
    <p:sldId id="7793" r:id="rId111"/>
    <p:sldId id="7616" r:id="rId112"/>
    <p:sldId id="7794" r:id="rId113"/>
    <p:sldId id="7617" r:id="rId114"/>
    <p:sldId id="7795" r:id="rId115"/>
    <p:sldId id="7618" r:id="rId116"/>
    <p:sldId id="7798" r:id="rId117"/>
    <p:sldId id="7619" r:id="rId118"/>
    <p:sldId id="7620" r:id="rId119"/>
    <p:sldId id="7621" r:id="rId120"/>
    <p:sldId id="7801" r:id="rId121"/>
    <p:sldId id="7622" r:id="rId122"/>
    <p:sldId id="7803" r:id="rId123"/>
    <p:sldId id="7623" r:id="rId124"/>
    <p:sldId id="7624" r:id="rId125"/>
    <p:sldId id="7804" r:id="rId126"/>
    <p:sldId id="7625" r:id="rId127"/>
    <p:sldId id="7626" r:id="rId128"/>
    <p:sldId id="7627" r:id="rId129"/>
    <p:sldId id="7806" r:id="rId130"/>
    <p:sldId id="7628" r:id="rId131"/>
    <p:sldId id="7808" r:id="rId132"/>
    <p:sldId id="7629" r:id="rId133"/>
    <p:sldId id="7630" r:id="rId134"/>
    <p:sldId id="7631" r:id="rId135"/>
    <p:sldId id="7632" r:id="rId136"/>
    <p:sldId id="7633" r:id="rId137"/>
    <p:sldId id="7809" r:id="rId138"/>
    <p:sldId id="7634" r:id="rId139"/>
    <p:sldId id="7810" r:id="rId140"/>
    <p:sldId id="7635" r:id="rId141"/>
    <p:sldId id="7636" r:id="rId142"/>
    <p:sldId id="7637" r:id="rId143"/>
    <p:sldId id="7812" r:id="rId144"/>
    <p:sldId id="7638" r:id="rId145"/>
    <p:sldId id="7805" r:id="rId146"/>
    <p:sldId id="7639" r:id="rId147"/>
    <p:sldId id="7807" r:id="rId148"/>
    <p:sldId id="7640" r:id="rId149"/>
    <p:sldId id="7641" r:id="rId150"/>
    <p:sldId id="7642" r:id="rId151"/>
    <p:sldId id="7644" r:id="rId152"/>
    <p:sldId id="7647" r:id="rId153"/>
    <p:sldId id="7652" r:id="rId154"/>
    <p:sldId id="7654" r:id="rId155"/>
    <p:sldId id="7655" r:id="rId156"/>
    <p:sldId id="7813" r:id="rId157"/>
    <p:sldId id="7775" r:id="rId158"/>
    <p:sldId id="7661" r:id="rId159"/>
    <p:sldId id="7776" r:id="rId160"/>
    <p:sldId id="7664" r:id="rId161"/>
    <p:sldId id="7777" r:id="rId162"/>
    <p:sldId id="7666" r:id="rId163"/>
    <p:sldId id="7778" r:id="rId164"/>
    <p:sldId id="7667" r:id="rId165"/>
    <p:sldId id="7780" r:id="rId166"/>
    <p:sldId id="7670" r:id="rId167"/>
    <p:sldId id="7781" r:id="rId168"/>
    <p:sldId id="7672" r:id="rId169"/>
    <p:sldId id="7782" r:id="rId170"/>
    <p:sldId id="7674" r:id="rId171"/>
    <p:sldId id="7783" r:id="rId172"/>
    <p:sldId id="7675" r:id="rId173"/>
    <p:sldId id="7784" r:id="rId174"/>
    <p:sldId id="7676" r:id="rId175"/>
    <p:sldId id="7786" r:id="rId176"/>
    <p:sldId id="7787" r:id="rId177"/>
    <p:sldId id="7678" r:id="rId178"/>
    <p:sldId id="7814" r:id="rId179"/>
    <p:sldId id="7683" r:id="rId180"/>
    <p:sldId id="7684" r:id="rId181"/>
    <p:sldId id="7689" r:id="rId182"/>
    <p:sldId id="7799" r:id="rId183"/>
    <p:sldId id="7693" r:id="rId184"/>
    <p:sldId id="7695" r:id="rId185"/>
    <p:sldId id="7800" r:id="rId186"/>
    <p:sldId id="7697" r:id="rId187"/>
    <p:sldId id="7701" r:id="rId188"/>
    <p:sldId id="7802" r:id="rId189"/>
    <p:sldId id="7453" r:id="rId190"/>
    <p:sldId id="7488" r:id="rId191"/>
    <p:sldId id="7702" r:id="rId192"/>
    <p:sldId id="7706" r:id="rId193"/>
    <p:sldId id="7714" r:id="rId194"/>
    <p:sldId id="7716" r:id="rId195"/>
    <p:sldId id="7737" r:id="rId196"/>
    <p:sldId id="7715" r:id="rId197"/>
    <p:sldId id="7717" r:id="rId198"/>
    <p:sldId id="7718" r:id="rId199"/>
    <p:sldId id="7719" r:id="rId200"/>
    <p:sldId id="7720" r:id="rId201"/>
    <p:sldId id="7721" r:id="rId202"/>
    <p:sldId id="7722" r:id="rId203"/>
    <p:sldId id="7723" r:id="rId204"/>
    <p:sldId id="7724" r:id="rId205"/>
    <p:sldId id="7725" r:id="rId206"/>
    <p:sldId id="7726" r:id="rId207"/>
    <p:sldId id="7727" r:id="rId208"/>
    <p:sldId id="7728" r:id="rId209"/>
    <p:sldId id="7729" r:id="rId210"/>
    <p:sldId id="7456" r:id="rId211"/>
    <p:sldId id="7703" r:id="rId212"/>
    <p:sldId id="7704" r:id="rId213"/>
    <p:sldId id="7705" r:id="rId214"/>
    <p:sldId id="7707" r:id="rId215"/>
    <p:sldId id="7709" r:id="rId216"/>
    <p:sldId id="7710" r:id="rId217"/>
    <p:sldId id="7711" r:id="rId218"/>
    <p:sldId id="7713" r:id="rId219"/>
    <p:sldId id="7455" r:id="rId220"/>
    <p:sldId id="7730" r:id="rId221"/>
    <p:sldId id="7731" r:id="rId222"/>
    <p:sldId id="7732" r:id="rId223"/>
    <p:sldId id="7592" r:id="rId224"/>
  </p:sldIdLst>
  <p:sldSz cx="6858000" cy="9906000" type="A4"/>
  <p:notesSz cx="7104063" cy="10234613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120" userDrawn="1">
          <p15:clr>
            <a:srgbClr val="A4A3A4"/>
          </p15:clr>
        </p15:guide>
        <p15:guide id="2" pos="2160" userDrawn="1">
          <p15:clr>
            <a:srgbClr val="A4A3A4"/>
          </p15:clr>
        </p15:guide>
        <p15:guide id="3" pos="170" userDrawn="1">
          <p15:clr>
            <a:srgbClr val="A4A3A4"/>
          </p15:clr>
        </p15:guide>
        <p15:guide id="4" pos="4163" userDrawn="1">
          <p15:clr>
            <a:srgbClr val="A4A3A4"/>
          </p15:clr>
        </p15:guide>
        <p15:guide id="5" pos="348" userDrawn="1">
          <p15:clr>
            <a:srgbClr val="A4A3A4"/>
          </p15:clr>
        </p15:guide>
        <p15:guide id="6" pos="3972" userDrawn="1">
          <p15:clr>
            <a:srgbClr val="A4A3A4"/>
          </p15:clr>
        </p15:guide>
        <p15:guide id="7" pos="221" userDrawn="1">
          <p15:clr>
            <a:srgbClr val="A4A3A4"/>
          </p15:clr>
        </p15:guide>
        <p15:guide id="8" pos="4099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70C0"/>
    <a:srgbClr val="DEEBF7"/>
    <a:srgbClr val="A1DEED"/>
    <a:srgbClr val="D9D9D9"/>
    <a:srgbClr val="FFFFFF"/>
    <a:srgbClr val="2F76B6"/>
    <a:srgbClr val="0070BA"/>
    <a:srgbClr val="2C4F78"/>
    <a:srgbClr val="64C3DC"/>
    <a:srgbClr val="DAE3F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27" autoAdjust="0"/>
    <p:restoredTop sz="94660"/>
  </p:normalViewPr>
  <p:slideViewPr>
    <p:cSldViewPr snapToGrid="0">
      <p:cViewPr>
        <p:scale>
          <a:sx n="75" d="100"/>
          <a:sy n="75" d="100"/>
        </p:scale>
        <p:origin x="1506" y="936"/>
      </p:cViewPr>
      <p:guideLst>
        <p:guide orient="horz" pos="3120"/>
        <p:guide pos="2160"/>
        <p:guide pos="170"/>
        <p:guide pos="4163"/>
        <p:guide pos="348"/>
        <p:guide pos="3972"/>
        <p:guide pos="221"/>
        <p:guide pos="4099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59" Type="http://schemas.openxmlformats.org/officeDocument/2006/relationships/slide" Target="slides/slide155.xml"/><Relationship Id="rId170" Type="http://schemas.openxmlformats.org/officeDocument/2006/relationships/slide" Target="slides/slide166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26" Type="http://schemas.openxmlformats.org/officeDocument/2006/relationships/handoutMaster" Target="handoutMasters/handoutMaster1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53" Type="http://schemas.openxmlformats.org/officeDocument/2006/relationships/slide" Target="slides/slide49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149" Type="http://schemas.openxmlformats.org/officeDocument/2006/relationships/slide" Target="slides/slide145.xml"/><Relationship Id="rId5" Type="http://schemas.openxmlformats.org/officeDocument/2006/relationships/slide" Target="slides/slide1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181" Type="http://schemas.openxmlformats.org/officeDocument/2006/relationships/slide" Target="slides/slide177.xml"/><Relationship Id="rId216" Type="http://schemas.openxmlformats.org/officeDocument/2006/relationships/slide" Target="slides/slide212.xml"/><Relationship Id="rId22" Type="http://schemas.openxmlformats.org/officeDocument/2006/relationships/slide" Target="slides/slide18.xml"/><Relationship Id="rId43" Type="http://schemas.openxmlformats.org/officeDocument/2006/relationships/slide" Target="slides/slide39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139" Type="http://schemas.openxmlformats.org/officeDocument/2006/relationships/slide" Target="slides/slide135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71" Type="http://schemas.openxmlformats.org/officeDocument/2006/relationships/slide" Target="slides/slide167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27" Type="http://schemas.openxmlformats.org/officeDocument/2006/relationships/presProps" Target="presProps.xml"/><Relationship Id="rId12" Type="http://schemas.openxmlformats.org/officeDocument/2006/relationships/slide" Target="slides/slide8.xml"/><Relationship Id="rId33" Type="http://schemas.openxmlformats.org/officeDocument/2006/relationships/slide" Target="slides/slide29.xml"/><Relationship Id="rId108" Type="http://schemas.openxmlformats.org/officeDocument/2006/relationships/slide" Target="slides/slide104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5" Type="http://schemas.openxmlformats.org/officeDocument/2006/relationships/slide" Target="slides/slide71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61" Type="http://schemas.openxmlformats.org/officeDocument/2006/relationships/slide" Target="slides/slide157.xml"/><Relationship Id="rId182" Type="http://schemas.openxmlformats.org/officeDocument/2006/relationships/slide" Target="slides/slide178.xml"/><Relationship Id="rId217" Type="http://schemas.openxmlformats.org/officeDocument/2006/relationships/slide" Target="slides/slide213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5" Type="http://schemas.openxmlformats.org/officeDocument/2006/relationships/slide" Target="slides/slide61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51" Type="http://schemas.openxmlformats.org/officeDocument/2006/relationships/slide" Target="slides/slide147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28" Type="http://schemas.openxmlformats.org/officeDocument/2006/relationships/viewProps" Target="viewProps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8" Type="http://schemas.openxmlformats.org/officeDocument/2006/relationships/slide" Target="slides/slide214.xml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29" Type="http://schemas.openxmlformats.org/officeDocument/2006/relationships/theme" Target="theme/theme1.xml"/><Relationship Id="rId14" Type="http://schemas.openxmlformats.org/officeDocument/2006/relationships/slide" Target="slides/slide10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8" Type="http://schemas.openxmlformats.org/officeDocument/2006/relationships/slide" Target="slides/slide4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219" Type="http://schemas.openxmlformats.org/officeDocument/2006/relationships/slide" Target="slides/slide215.xml"/><Relationship Id="rId230" Type="http://schemas.openxmlformats.org/officeDocument/2006/relationships/tableStyles" Target="tableStyles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79" Type="http://schemas.openxmlformats.org/officeDocument/2006/relationships/slide" Target="slides/slide175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0" Type="http://schemas.openxmlformats.org/officeDocument/2006/relationships/slide" Target="slides/slide216.xml"/><Relationship Id="rId225" Type="http://schemas.openxmlformats.org/officeDocument/2006/relationships/notesMaster" Target="notesMasters/notesMaster1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48" Type="http://schemas.openxmlformats.org/officeDocument/2006/relationships/slide" Target="slides/slide144.xml"/><Relationship Id="rId164" Type="http://schemas.openxmlformats.org/officeDocument/2006/relationships/slide" Target="slides/slide160.xml"/><Relationship Id="rId169" Type="http://schemas.openxmlformats.org/officeDocument/2006/relationships/slide" Target="slides/slide165.xml"/><Relationship Id="rId185" Type="http://schemas.openxmlformats.org/officeDocument/2006/relationships/slide" Target="slides/slide18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80" Type="http://schemas.openxmlformats.org/officeDocument/2006/relationships/slide" Target="slides/slide176.xml"/><Relationship Id="rId210" Type="http://schemas.openxmlformats.org/officeDocument/2006/relationships/slide" Target="slides/slide206.xml"/><Relationship Id="rId215" Type="http://schemas.openxmlformats.org/officeDocument/2006/relationships/slide" Target="slides/slide211.xml"/><Relationship Id="rId26" Type="http://schemas.openxmlformats.org/officeDocument/2006/relationships/slide" Target="slides/slide22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>
            <a:extLst>
              <a:ext uri="{FF2B5EF4-FFF2-40B4-BE49-F238E27FC236}">
                <a16:creationId xmlns:a16="http://schemas.microsoft.com/office/drawing/2014/main" id="{3FC88C87-A870-CEB0-ED88-C071B577138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EE2BC45F-FED5-D4BC-E846-A726E2675E2F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4024313" y="0"/>
            <a:ext cx="3078162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3A53264-FF37-4A28-A320-34D44B9DA959}" type="datetimeFigureOut">
              <a:rPr lang="ko-KR" altLang="en-US" smtClean="0"/>
              <a:t>2026-07-25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2FF340D6-2F04-0925-A1CA-8AEFCB2ADB13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72185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1C895D71-45E6-1EE8-27B3-45C23B4D7FDA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4024313" y="9721850"/>
            <a:ext cx="3078162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2CE9521-B036-447B-9F05-EA285466CC7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875986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4023992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r">
              <a:defRPr sz="1300"/>
            </a:lvl1pPr>
          </a:lstStyle>
          <a:p>
            <a:fld id="{FD334089-59B3-40BB-96F8-BCCD425B3E10}" type="datetimeFigureOut">
              <a:rPr lang="ko-KR" altLang="en-US" smtClean="0"/>
              <a:t>2026-07-25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2357438" y="1279525"/>
            <a:ext cx="2390775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75" tIns="49538" rIns="99075" bIns="49538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710407" y="4925407"/>
            <a:ext cx="5683250" cy="4029879"/>
          </a:xfrm>
          <a:prstGeom prst="rect">
            <a:avLst/>
          </a:prstGeom>
        </p:spPr>
        <p:txBody>
          <a:bodyPr vert="horz" lIns="99075" tIns="49538" rIns="99075" bIns="49538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4023992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r">
              <a:defRPr sz="1300"/>
            </a:lvl1pPr>
          </a:lstStyle>
          <a:p>
            <a:fld id="{E228262F-01A3-4CFF-895B-FDF42B6E38A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7875603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803485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64913F-DAE3-7A3C-14AA-8B4C28FBC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0F87357-BDC6-7451-2E7F-ADE5691D2C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3B3C05-1A68-9378-2F76-9CF6210E84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8FA4C03-AFEC-9906-0E60-BD5B4A7381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81673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30DB2F-10B4-EEAC-A781-2EEEB667F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905E77-7E3E-F9AF-8D23-47B531AE28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4A8530-7C19-9D0C-FE14-4919612B34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03F2B0F-965B-7B22-E55E-74BC71E7A3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495567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60B9A0-05B8-E29D-5DA3-3C9DB0FB24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07D1682-6D62-2F50-B62C-E93D1F7D6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6187C48-169C-F2D6-7D7A-D68E39A1FB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317C3F1-CF95-FB5E-4440-7F69FFD8F0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657372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F362B-E5AC-7BD8-7FCE-49D8C88AC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6083F6A-A2B8-3D56-E85E-C34D22BD0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B10D392-FEAB-DE7C-269C-97067F0FE3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46749F-5C12-EF86-13E9-968668F6A5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4235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567B95-6D49-1541-6CA6-FF687D0E56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4188991-6791-E1E7-6EC9-DC9DDAC785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F8CCCA7-411C-4377-3125-45671A214F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968B1B-34FF-FEEE-ACDC-24B7055102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7554030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1BACD6-C63D-5487-55C8-017548266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7152AC2-4581-2B5C-3EF3-4AAF5D5519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787561-577C-2AF3-3FC1-3E1116771D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C835EAB-0E3C-2CB1-D62C-8CE2768694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462503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5B644D-56A0-CF2A-D24F-3FEE1A706A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D4B4D35-686F-9395-1650-5CFC65AF23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89C10A-FB81-5472-9D91-D351561719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B6EA6EF-98EF-A9A3-FB66-F4ABC3D007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4748693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CB5D1E-0DF6-1E12-D17F-35B27BFE9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0A615CA-8E86-5688-9179-C15A6250D5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536018-FD5C-06FC-9C31-119AF83423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AEF6B16-CEFB-D6AA-F9E5-D47C53F0A2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68278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1A020-6E0D-265F-B358-E750DED88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325B492-E1C3-D736-3937-25E4080E20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72F85-4421-C171-606F-EB9784ACDE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FD2A780-FE9A-B136-B249-411F722F6A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59171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AFE4C4-33D6-FCF1-6FB2-8439EA35A8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CE69CF-437F-6DB7-437A-3FA6D9E9B8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B1F6209-3CDA-3B98-E111-5DD86A4A33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BFD2D37-5BBA-5843-37F2-3E75316212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544289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24F360-A250-447E-A889-ADAFEA20D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AB97E87-E055-F2C8-F9CB-AEB0743520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096801-3125-A9AA-2AC9-3B58571185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EEF0A5F-DB5A-022E-F798-73A98B9E3C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3958516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594F00-0FBF-AC9F-4948-DA8F7422AA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BAD997C-7E6C-A8EA-20F4-1E90B3EEFB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85E60E-6D5B-B741-1EFA-94662FA0949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4AB1149-7932-C0F9-5A06-3767497CD3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348297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766DC-581F-ACD8-8688-1951FDCCDD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0CC644C-013E-8B23-1B40-8B0691B2A0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829794-2B5A-BF04-EABC-B9C1D32F70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801EE8B-1EBF-AF54-CE4A-7BB3462F58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0510605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0B5907-9766-4DAA-394F-EBFB3FB36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70DD095-CA3B-EBBB-CA60-0966EB2ED1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A8CE2B7-A114-3F44-06B6-0FDE5163E5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7E45A7-6073-0F35-1491-AF4564307F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512293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E4419C-1F64-71FF-0B87-188A7BF183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28BB8A6-47DB-3DAF-4CD0-FBA6041E55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B34BFE-990B-66EB-9EB4-CE6AEE91CC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DEF5C76-064F-FD50-A4B7-4BC91FC5E4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9089737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71DE9C-6436-3B91-5395-8050145B84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27CB11C-90BF-10C5-F61B-5107597ACF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932330-8AE4-16D3-6ABC-E49898CE71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FBF3FC9-B058-5050-1873-633F3FAC2B3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78997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B1B462-D7BA-D5B2-E415-FD269AF2BE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0384DC3-AF17-B202-0748-F01A2FA35D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67E671-C915-2577-72A3-9061071237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039192-115E-0127-9BEC-E0C8C38027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019086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755C8C-53AC-1949-55AB-227003789C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580FBE-7A7F-F3B9-C5E5-2C6BE8EC4B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CF9F50-045D-0744-7BF7-7493990C61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DB49F0-7D1B-4898-17BF-801FE8E953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240602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58991-FC45-F658-E130-9C72158C6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3E12754-1102-0569-9EDF-DB67F96025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735993-0780-D51B-732D-CC9D288086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97180EA-ACD0-050B-F0CF-03890AF066E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731353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1CD4E4-1145-E3B2-7893-729DEF7CFE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8291EAD-DE8C-C010-5622-EA8AA29D52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D31C126-16BA-49D7-9D51-09D6921E40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2E7E28C-E3B3-7105-B8BB-0A486B30FF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904030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3DCA0D-43F0-FB42-3ED8-9B93D7FBE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F156A2-DBC0-BA64-1B65-40238C7B26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B02AA3-A42F-D763-E72A-93EE1A45E3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1B9EBDE-8CE0-4C08-99BF-4F368052673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13732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C18EF1-00F0-5F48-01B7-6E4471456B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0A02067-1411-8637-4805-89190AFA97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F89104-11C6-1EB2-CFF5-625F870F6E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F561E2-5150-7698-B9DB-C7FDCB2886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00019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B3FE93-7A51-F151-E2A8-DB76B1BE97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82AA03D-5DFD-56CC-5F87-B7E97ACAA6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42882B-F79E-ACE2-ED0E-CAAC97DE4F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16D678-86E0-87A4-D884-1FAF2ED290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774162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38A024-23BC-8AB7-32F0-20755254E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0630090-C0BE-C089-CC91-8C5DEFAFFE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F844504-9639-52EA-FA91-C1A07A949B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5C21518-75AB-C64E-FFB5-958C96BB64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306638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D4DF91-4D90-7443-D015-21C32BC46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BFBC84E-B399-F453-B79C-ECFA8F98AB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777241-35BD-2007-5DA8-99DBE0DB8A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4E1120B-4CD4-A0E5-E174-A4BCD1BFDED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5044067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6F0BD2-E6FC-2D0B-09F3-38FBFEAE95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88A4CE2-33E7-8E2D-7211-34A3FCDCDF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63C86D2-D9E1-B3E4-B957-64CF8CF930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BF68D2E-183C-494B-C624-A0159A14C1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834078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0E0684-62CD-6AB7-7D4B-7DBC18A632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401182-A0A9-D3BC-7DDD-67EB9ADA74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45CF169-F2C3-E61E-1A27-0B2176E609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4C5585-8FBE-5C89-0CD8-0F5E019E5C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485496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2DF23-F3EA-7A35-C31C-92E50051C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CDDC49-6E8A-4D67-6940-2333E2F6D2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FFD562-2439-217C-2C87-0AB1B55137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BB03EAB-360A-9944-58DD-213E2C75EE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5168881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605B5A-9C50-04C4-F49F-857D9AA159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88A790-3645-FCF6-B48A-A915A092F7D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D400B2-AD31-9824-6EB8-05B6CC303E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FFD3CCA-E757-7362-72F5-9156E3B533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506756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D66AE2-2B52-9BC5-0975-D029EF134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0F03300-AB3A-1C10-4BBF-CC29749C80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ED9C61-094E-C70C-5228-1219266F38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D0E82D-8B77-F2B1-36C8-583EF1C74B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588123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E5C07D-1DF7-F4B0-DA0A-DC191901D5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9077C79-FEBE-CA87-63AD-A0EADEF25B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1593DF1-7E0B-1D25-EBFE-65F51CE9F0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552E2F1-00E9-58A1-B6AF-F917C614E1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3295853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FEECA8-A7D0-3C55-FE2B-3E19DBEA37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86B0DF6-CB60-1CEE-DC1B-027BA52ADC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EBB599-7927-9E33-DC6D-C38CDEEFB35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ACA62D0-4930-FA53-8C8C-AB0982EB2E8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6547524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1D2B48-65CB-8D8F-48F1-B33AC2E677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A82CED-F060-A870-7CE1-5EAD7EE497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7E4EDA7-6EF7-0695-D8F8-5057942DDF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41490D8-5C18-D5F1-D10F-8C0326D40D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1971622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DE3044-0E51-D337-F459-9CDAB0A2F4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7AB6ED-5B37-6E6A-611D-A0D8BDCC809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DD79146-9BD5-80D1-00CB-E046FC7718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609034-C7A2-F99C-15A5-11AAA9FCAD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81924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793F7A-0775-DFE0-96A4-6E1853F447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E3443AA-FDF5-D4D6-6778-274BCCA19C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F0EFBB4-BC4F-4372-FB93-249D45FF6C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57C1237-7821-EA82-AA6E-BB8066E747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807347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684E72-D193-D7B3-1656-82F6FB753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5C571C-ECA9-C398-2632-EE1D624CFD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3CC6301-7876-9ED7-DB9C-3FCC061865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2D907F3-41FB-2361-B4D0-9C5D4C98E6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3039194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515878-4934-6F08-5DE6-5150C0C494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000578-ECF6-C8D1-A55D-5F6D75666C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1C1D895-DF9A-D5BC-0D49-F856EF1EBB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CE7BD72-349D-A2F2-5301-0F3F335C45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9609753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B9220-4CB5-E910-CE80-AE67364B73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9E8672-F8F1-2A8B-AECB-58D6B038DF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8F4594-FA0F-F980-F636-D844896062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9FEA0F3-150D-DB3A-387F-D6D007131E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4556840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59FAC-F645-6850-1993-4446C1483F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E6C62DF-1C95-90E1-8DA0-FB097EA53C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356235E-ABAF-A32F-EAF1-764943EB40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FFF77F-DCDA-D3C9-0AF8-7CEF1E1D46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207897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653402-17B1-77C7-F1D0-E3E0AB5CF0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B59B040-1A4A-26AA-F7F3-7B71519CCC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802E58F-2D93-1D60-2868-E07CD5683D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947C7F-27A8-6E75-5557-EC7C92D5FF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9153183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1A9D43-0988-1637-B341-A555256BBE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142BC9F-ADC7-4FD8-E22C-6CBE2EE097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4AFD3A0-EDD4-E268-91EF-4287498614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675227E-1676-FE0F-F40A-1962982A30C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6282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F56982-4988-B3DB-95B4-C76CC26A2F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C957C9B-0836-CE4C-7E10-C60698842D5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921362F-8C42-775B-0DF2-30D1ACD9CB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272A4F4-A6BE-A0D3-0898-447085F84B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9313213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9031B7-BA6E-C5AC-EF6A-371C18EF24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D17ED22-DC0E-D170-C16A-364D2042EB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95F5A3-3312-EAA7-497C-BF69C5950E5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A47529F-C56E-AEA3-7732-25B27210E8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168894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6BD4D9-68CE-FDE4-ADD0-551D96D526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481BEFB-8352-C92A-EA87-B291F2167B4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816AC3-7DBB-C9E7-B4CD-3CDE229B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B8D749-3928-89BB-0C44-9CC176D15C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654441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ADDF7-94C0-0B06-0A31-E8E44A41E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267244-CF61-2AC5-090E-1363C163EB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118704E-DD5C-09D2-A59B-AC6E5D14E2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52BDE1A-AE16-0ABE-3462-CC7D474B01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124652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3D9B88-6358-22DB-FED0-7F91575C2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7A6F831-89C5-CCEA-2A4F-68CE7316DC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1ABFED-F887-2310-1542-27ACC450D2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977C786-7928-5A3D-9582-EBA587EF0A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8605827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6691AE-853D-5755-0B91-F4EF0D06A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E421E8-6A31-72C4-D67E-3F1AC9BD81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F771D70-A94A-406E-2262-6BC8C669A3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95BB8F-CAE3-63AD-F406-764E10BA63E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0690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10D275-F3D3-595E-0724-B6BB26449A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750C91-5D51-3DE2-BFD4-23B56160C1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FC9C5CE-77DF-BB1C-E209-4315149143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7FD86DD-2576-7F00-5673-F1E13500E1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240937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545F9D-C317-AC7D-F4C8-720E6F31C3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B105EB0-233B-EBEB-D180-F935EE28F0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078DEC-7C88-FF10-5EE7-A90067F7F7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66943AC-D20F-61E6-885F-B795CB7835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015860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545F9D-C317-AC7D-F4C8-720E6F31C3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B105EB0-233B-EBEB-D180-F935EE28F0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078DEC-7C88-FF10-5EE7-A90067F7F7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66943AC-D20F-61E6-885F-B795CB7835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67961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311775-3BAD-70BA-4A95-34C0F49764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397EF7-49FF-34C5-6433-344A7BD3C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56BDDB9-999E-DFB6-D6F5-CAF612D33A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7DEC8F9-03E7-3896-1900-2761BE73BB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711259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2C2B37-8037-3C7D-42E5-A8FBF5A9F5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C172AD-BF34-90A8-70B3-F924597FBC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B88848-16AE-4CE2-A740-ACD3FEC701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54C0F85-52C9-CE7F-75B3-53E5A710DB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129990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557DF1-049E-DC20-BA76-6469A325CB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EA45E38-4C44-469A-8D38-5A1E5BA719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406295F-08E9-8173-CCF6-ECDDB591C1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83A0BA9-32C4-B77E-043D-F05B9D2D5F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3531746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59C7BA-A9D2-B3F0-3F17-5B78DCCFE9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0403D44-45ED-C676-4867-B6ADE8EE2BC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6A1727F-D809-8535-7BE5-EDAA8F5805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09FBC2-E68F-2216-CC26-1A61DC4B86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546536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C7E5F4-2EF1-8F85-87E7-6CFB7737D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581A496-A37E-970C-CB5C-F64938CA9A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2D0AE5-8FFC-3344-8AB2-40767D2EDB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85291AD-D474-AE69-FA6B-76F74BE4B5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410661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77C857-51B9-2C47-27A9-BE5E76DD49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D26E56C-6B97-5D5B-723C-14C20C1F24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9A2311F-67BB-BB49-F595-53D50914A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4452FB7-A4E7-F3D1-FD50-86112CEDAF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055301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9990FB-4C47-1F54-9FC5-5FAFB41FFA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67DC1D7-208F-5901-CB3C-0971406BFA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FEC3570-50D4-6D1D-EBD4-5CAFC68FC64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5986D0C-7E91-8C4A-3EA0-5564015898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5222228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7A1C21-C897-9586-202E-3B9C1B515E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6BF60C-2ACE-964C-2F15-6A82099D23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3A70D6-5C5E-4F0D-739B-0085E48348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67D67F-B73F-FFEF-6AF1-EAF6FEE06E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4023628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A9F33F-7039-45A3-C2C9-B5EEF4420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7F313D1-D43F-D00D-70FF-63C9C5B6B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728C18D-A70F-CA58-C760-84D45A7019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AE7A66A-0BF7-26C5-54BB-F6416676E0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650902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8063BA-4069-7723-8C68-5FD226E54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F172CE-0991-994B-397A-A6E3B162AC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3F9F9D-6E44-0D72-9686-04DB09A70E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9F09A31-9D9C-08BE-B17B-B629582EE0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9226681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34630-C33B-BE4F-11D4-0E9E66A1F4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D199198-5D9E-5B5D-EE53-97005E23A4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5D90DA-C004-2AAD-79D8-102F916873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4CFC4-CF7D-8841-4A16-5B92D0EF94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8868774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A99FF0-0EA2-8FAB-B76F-7E195B9A6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D97B679-025F-459D-2203-6EF189D1E8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97DDC82-67C3-DDDE-C90B-8219B74872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B35A031-FF02-B748-C565-2F401F0D87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77421210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D8328-0663-3948-704F-597D361EE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F29F21B-F2FD-7436-608D-2DCC1F6954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EC7D39-2A75-5323-31A7-F34229001D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15127B-9A0C-7124-B173-7ED4C8806F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732735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04F0CB-4609-94ED-6622-C6D472FC48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2F7BB3-414D-314F-8C2C-92DE29C2BA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1D361C8-0641-AA9D-1AEA-5843F634B1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1C030C9-1C41-DA06-F465-768ADF8DA3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201881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BA0EE-6D69-F06B-F15B-60808243F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8BC5C6F-5391-5DEF-243A-DEDB244030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2CF9166-23DA-92DC-B16D-4474001D02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B1AC57-E47B-F531-A99B-B4290804AD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659862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5E9DD-A18A-9172-84F9-180D8BC273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E4F9163-3C80-9150-FFE2-7A85C90D1C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FF8ED41-624E-C63C-B285-FAF2592502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D0B1EDA-1DC7-047E-0046-E6217DACCA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596626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CE5089-D6CD-0602-C770-40950180ED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8739B08-0E2B-31F9-E31B-9CDB662087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76BE95-A287-E99B-726E-5DD492253B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E1567B-2BF9-82D3-E0DA-9A49E84AF9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3742247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CE5089-D6CD-0602-C770-40950180ED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8739B08-0E2B-31F9-E31B-9CDB662087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76BE95-A287-E99B-726E-5DD492253B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E1567B-2BF9-82D3-E0DA-9A49E84AF9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8126305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5743B9-98A4-5C16-CCD8-56A06E4730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3671E-C345-E1B6-F163-8E7C1237B5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4DCB04-D899-0867-5E61-9E16EE728A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EFFECD8-88B9-2DDB-99D5-B2D9AA30E7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2862256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40F679-E7C8-BDD6-EF1C-A9CBC8CCA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4C106-B0F0-B6D6-1DC8-FE044250DF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917DE8-2958-DA04-CC2A-A26D6BEC90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D97837-0891-242E-9737-AC6BD06EB5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3923794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91368-8038-F510-BD4D-4C3580231F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A0740B3-2FC4-03AF-B7C2-4CB1BA1337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246465-E3FE-A25C-8912-761831F60C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1721AA6-60B9-FEC0-5320-F2FE8A3090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143051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B6562E-428B-D9B6-E858-D69B655E52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29886E-F670-BAA4-9AAA-05994B05C20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146B4D0-757E-6F31-3F13-94AD30A95F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ABE2317-F382-6F51-2803-232DE171BE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7085313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219306-D12C-E349-22CB-7C5518796A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EA29F7E-60F3-1D9E-186E-6C1D1698EB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35D38D6-DD5E-F687-7910-D677A63EC7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BDDBFF4-0B97-1735-97D7-2AAF44CB54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6197303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65760A-CCA3-24FB-A13F-B608C59FBA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F064490-363C-902D-5C2B-02451E96AE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01322D-152A-5E40-DE57-2B414D3F55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E8DD53-4DD8-204A-7AB5-29FCB6FDAC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31860630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C15436-4F5E-634A-442D-270C6EE17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1644B-3308-853C-A3A2-40B444CEB5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C2EF77-D005-3788-7E15-64EEDE1269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57A6589-64B9-0912-0EC3-4A755C3C60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4479028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178E24-76AA-D9F6-E6F7-27B4C0F47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98F0A1E-3C22-FCB3-F346-CF8471F4DB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CAC0781-569F-2438-87F1-79282D6BE3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5134898-64E0-ECC1-E044-8400FE0180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7683240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F6A6FE-E3F7-E03C-DEA8-98F43166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339C138-FE0D-8014-FC1F-A2E5DAA6E4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E528C7-E842-28DC-7E53-30B7924BB9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672345A-1583-CC33-42EE-75685DE557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851817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E77518-BC29-19E9-08B7-656B68E2A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40C3A-0E38-4151-38A3-7926530B2E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3303C-B914-868C-0A88-A77EF7CA59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B9F8BA5-155D-5983-9E5E-5DA9D42CF1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405928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2BB0EC-EAE1-41AD-5FC6-DAF7E387D1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D22831A-E6BC-23CE-7312-1EF3C0F733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BD1A367-080C-708F-B79C-DE4D3F1A50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6ED73C9-8F30-631C-4A12-05550CD02C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04960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BEBC5-BCBF-9CEB-A529-B0E5744124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AC8569D-EA09-FB0C-7F0F-5CD196D6D4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09EDB-820C-2F5A-8A36-16EEF7C636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C39D8A-20B7-CB61-4872-275DFBC150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0330086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8756C1-8A8E-9631-48DC-406F317EE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3C3477B-8B37-8748-D403-B632B32E56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10A19F5-4B03-82BB-BC78-BD60C812EF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4F69C5A-BEB8-56D9-23F7-90146CCE60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714593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F69CDA-0EE1-C72C-8E41-C94F581966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5D95F39-E1E2-DA85-787C-E9883DDD6CC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61B653-9974-2159-8E2A-F7A8DFE8C2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080D340-2E3A-BD00-ECD9-B7E539EF19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569198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A40F53-25E9-FC4D-8992-825C80ECB6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A37A1-D01D-2F97-17E6-4411A2F26F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FA04B05-BA68-3E74-EEB2-14E56E97D8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AF0DFE-0F1F-4665-F3AA-17D86C1892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521093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906BF7-C9AB-880C-C736-92487A0D5C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AA9C0E2-AAB5-19FC-54E9-990E5FD76A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3E07378-B2E1-25C5-9567-3F5146EE28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1C7314A-8ACA-97C8-C0E5-48ADFE9251C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038860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23F12-D73D-E64C-8019-4321E6D27E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751DD0E-4045-5A67-B7DE-27C0D6B98D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0841FBB-16D2-2B66-206E-CF7E51179E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6C360CB-E401-EE45-096C-56C59540DB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9109312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FAC922-F367-4351-F701-7EB8F4AFB8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51052D-4A73-6E16-206C-46ED88AA87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8352015-6C1C-2A9C-5B4E-26F55AD3655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E757531-B1EA-5832-1B9B-9D8F7BAC75B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3992124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D3F55C-A759-03AF-A7E1-F45AF8C649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29A3B56-F74F-C278-9C7E-D3D2D4A23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2C3DBCB-D336-86F1-D469-6341E300A2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EAC3BA-A724-CDAF-3CF3-1AAF0B259D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4097475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6EA07A-7B2B-D0C0-DBE4-FE8D4D51BC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FF17484-3515-A6F3-C18C-41716E3BCE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986465-1B0F-FBCD-0AFB-39410C171A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14761E-05AB-4378-3D9F-A7DB0486C8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64513188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9D3AE9-8B82-9FAA-E8CD-BF9EF1B7ED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18AEC-16EA-B611-39F7-1D21E73637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03DD45E-D5F7-2196-8332-8E2B1B4215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6626E48-AC04-861A-9B86-7A4C77E10F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18863338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2D5B23-C557-E166-F8A0-A3194A047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0236A9-C2CF-2099-145E-ED399D4172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E9E820E-F522-6441-4427-017A4585F2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BE18715-8E64-A3AB-6DD4-2B189F38A8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80515764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25319B-57C0-F0B9-A5EB-ACDFAAD106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91C08E-4DE2-E42C-30B6-768D292083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5FFFDC4-E0ED-9DFF-7D83-2429D6A44C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D1390EB-10D1-CE3B-7B52-1EF67B4A5FB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903860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64A304-314D-14C0-62F9-03B0B16BDE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537C7A-E436-8860-A951-D893AF9DCA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ADD147-5CF5-3A76-9E3A-C2A2A2DB67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B8C7809-9328-071F-C878-D2EF689025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849278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B9556D-C863-0CE0-242A-B073B322DC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DCD0A8A-A42F-914E-DEAD-BCB33C641A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A97D2D-22FE-3E11-726B-07C3B222C0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947A77C-537D-78EA-A0D5-C905FA380E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9029662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F38E25-B013-846D-BC21-AE5F05E82F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6B71D49-5B40-252A-5B44-A739F4A6D1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5FEA689-102F-6B51-2778-A75C499DEB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C4A361-0444-158F-1579-4F6D55DF66A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29780182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545058-6DCE-9BC6-704D-079F5DD5E9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E656EB3-4457-1045-FDEC-F92159F41A0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1BE0A72-F416-5B1E-F631-D7E8F21EB3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C34C5A-6FED-47E1-739F-ACD3237B60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690585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EC778D-74FC-DD1E-365E-FDDEAD25DE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4A6A6F7-B597-BF9F-F6CF-16CB2B5510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A27BFAC-C27B-4E9D-28D2-D4B07348EE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62FF9C-65F4-9607-530C-D06280E4CA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2276560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CC2A26-97D2-AC3B-EDFF-2E89FD302D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E4F21D-C7EA-2F40-8740-CB06D14E15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49DE2DE-5202-BC77-1D69-AF7626CA0F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EE6650-390D-E50F-DF29-D7D72A7548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920852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93BEB7-2718-0A94-FFE4-CF47576975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6DDCA4B-1205-E4AD-8059-E31D925CB4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49A27FE-9270-097D-E109-B44877D84A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27978D0-F36D-BEF7-09FC-4E4E3C7729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3870503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06513A-651A-0B31-42E9-754A226B3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47C6CC0-DEF4-C7CE-EABB-00ED838A990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6289B4-F6F7-EA10-EAA2-C0659D44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F4373C9-7221-856A-51FA-A1DC8F91C3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58162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D45A5D-84D8-C3C3-1E74-DB6E9C904F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B5A0F0-1889-1348-763D-06C66504C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48B0A62-E94D-8AF9-3D89-54E6B4A7416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E825A8B-CC1D-5184-CA8A-F72A5654D0B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8431321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C47AD0-C288-0CF6-11BD-DB600AC7D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0D2631C-4D09-4E48-0A0F-809A758557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3889E4-3D04-0836-BB0B-E0A84FC140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49ABA26-D354-1924-5501-3409213268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741325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3693DC-06A9-FAF8-78CB-4E591D0965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BEC108-3A35-56FF-F2BA-7BE20B6BFF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1CD156-1CAF-AB05-9284-7200FF9278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69C3FE-6869-B54B-56DC-3AD9E7D853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4344156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A864F-EE0F-09F0-29DF-633E6ADB39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BA916A9-E1BC-3981-23C7-CDE6F87F7D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606B05-88A5-6DDF-A49A-F5A1312FA5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E50DC0F-A030-CA90-74F1-0DE3FB3C09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69951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06F90-BCEB-960D-96A6-BEF35E8756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F5F23BD-567F-D9AA-CB57-73BBEF2626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195BEFE-710C-3FE1-C471-D608F3888D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9B22DD-B49E-3175-660E-D358DCD7AD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29182474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A0A97-A1F0-08C5-3472-E8CE6D26DB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3E7081-042F-B9C8-1BDB-F275A31304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D5F879-5769-6194-670F-BE52C37AB5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1D51B2B-6268-AB3B-2916-A062C6C357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2560567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924D0B-C3D5-DCEA-753D-30E3A4525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904EF43-7848-2EE3-2C1B-913E9DBE3E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2179A80-62C8-9F5C-EEB0-D0411400C7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374357-E525-F0AE-6CB5-CE97608E02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411890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8C1456-1FBD-546F-E834-36F1A7DB2F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30171F5-AF7D-FCF4-D3B0-A9DCC7AC9E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656528-CC26-BD97-CF3C-A50B7964DC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F7C51A-7FB8-7F78-4093-8C3E3079F7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4063737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9D3852-416F-1002-DB89-8AEA218CB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2A963CC-62A2-506D-0C15-645F018ABB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EB2D9A-811C-9185-D495-18D6A62715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2B2186E-5AEF-9DD4-0477-28B5FF7684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6275366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47FE0-BBEC-F388-8D05-D6C0646700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EBC819F-7BDA-F580-C299-527FE0E15E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4E3288B-A4AC-CF6B-61E9-187D38B7E0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F73BD13-977C-8CC8-9B82-31A0F4E47F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9053748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7EBFC-E96F-9D46-DC31-BA39A9C1AD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D7D0A59-DD7A-2D7C-55EE-EEAECD29C6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22C2355-E7F2-C971-537E-ACFCB6EFF5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E48CAFB-7485-E7A0-CE5B-7816A66E8F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554384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CA2A08-4017-4255-A3BD-C2DDCA60DC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57E65E9-6BB6-42E6-C2CB-6D34085C21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F476B6A-CE83-DE84-A87F-79C22BC7A6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BB99A8-5AAB-596E-B27F-0D2D2A3789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7881048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362678-85A3-1F01-6B47-B677B442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A8FEDBA-C7A9-B524-6EA8-8718D36940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409293C-EEDE-3BAA-C37E-302C52761F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7250C2-F3B6-DDCF-9325-24773D439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170355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ADE478-441A-13A3-EB19-E615C9C132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15DCAE9-3B9A-EFF4-A48B-188CD55204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0CE0926-3101-DD18-24CD-832DB8E755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210EBDB-1CDF-82E6-460E-6E14EC49BA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3542177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BC39D9-0760-1EBC-813E-F054148277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EF9C8-BBC2-B79E-8AD5-8D84867613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48B2B14-BD76-84AE-9C78-C61FDF8C51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0B0CA2-1A4B-3AD9-460E-CA2CA83F6E8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2660029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817DDE-0678-73AD-4080-542C0CA504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213212D-C313-84F6-6BCB-963940F674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FB55081-78A4-0904-9F75-1B4FA0245C2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D9EE51D-3110-8D0F-58E7-5686EC5C0C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3587802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C2F757-F10D-A1E0-39AC-C38281F41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C08EDB-D744-3B19-3BB7-79BED7C34D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E6F2FD5-8FD8-A5CF-88E4-0325D36BDE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2AF6EEA-B01E-2CF6-EE04-343591BA31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61308366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2C858E-8B20-4A8D-0F69-0B96786FD8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311F21D-1D13-C8E3-8730-91431281F4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CC3712-1FA8-4DB0-BC78-21D4DA3116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CFE871-D7DA-FCCE-9D60-D13FB68A20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5816748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AE5C5C-68BD-4E3A-FC00-217BEDB4C3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5958E1-579D-5227-F2DB-54E78D7CD5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058FA4-0834-1C80-417C-8EC5D73EF9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C73E9E-2390-E798-D9F6-A110F388B58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0741873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FD2A6C-BD08-40D2-8751-FF9CFF6E1D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DBE8030-CBB4-174C-30BD-3FAD8088A7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8CAE317-9000-7FBF-D3CD-EFC2963017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4FAAF2-DCBA-1628-43EF-66F86E7F35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2151216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D6152C-373D-7438-FDAF-1FA38E8889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7C1541-7D01-BA74-CEB5-A06E828E27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FACA258-68F5-D45F-71A5-8B340E84C3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236A51E-F431-0AB9-FDCF-35DA435CAE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473165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397D5-677B-3CB5-0082-6E68C51FC8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0DC1274-5088-B36E-6D69-33F1BFEF50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E61B99D-116B-1D5B-DAF4-64ECE7EF86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FBA0608-9FCB-289A-273A-FDD22E0EE5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0673201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D95F51-7729-9EAD-2061-9CFCEA089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5DFF4F0-2061-6BED-41EA-76C5FC80DF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DB2DA6-DAB3-C907-D945-594028C03B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F7098A-1C6A-C558-B920-3F07CB611D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9348851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FBBFE6-4C2B-4937-0189-C12EA9E627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C69B15-029F-6CC8-0362-3603A0C802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E1E302-7563-CDC5-7EE4-EC15D887D31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C48430-EF0D-7082-37C3-13EAFF52046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9162864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1DEF36-7988-65AD-D425-2B4C1A6BE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FA92A1-376C-AACB-4F16-63DAB99241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B83712-B897-9184-472D-B8CBD620E9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46CA229-7922-1948-3642-5E8F9247C5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776454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136DE-BD78-6634-653F-0E83D8701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C38860-97A8-F374-FB30-511A3C9362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C5541D3-1CA2-0FE1-5255-339F0558FE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C7FF0B-3212-A88D-F038-40DA2CF2B3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4563563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3C57D-D6A5-065E-2CA0-ABF3EFF4C2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B3C081F-1F86-D856-04C8-7A377E8D2B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970E3-4D5F-DC31-17A8-A3916F63BD6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4F4316-EB94-F506-85B7-9059C3ADFA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08080870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639D69-3CFF-5BB0-3076-DC90313A5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61033B-1034-7465-A6F8-8064F2B420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50D9A9-B941-A74D-0060-6FD70BC806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1AD444-A52A-0D61-DFF5-2CE6C5C270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8950155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71183A-A621-517F-D3AD-0AE7317D0F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C1835C7-567C-C7C0-56AC-62BE867E42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F8D4740-9CB1-D99D-54D4-99BFA293D9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C50F798-FB7E-2E31-6883-1C9CCCA9C3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16561057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50DC7-D0A3-5203-75C5-8622BD9F24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F34287B-37F5-D85E-D07A-B2A2452D22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89B2309-6138-C6B0-84ED-2708EBD8E2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CC4C65-3E61-2EA8-7A5B-42084D8EAF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9488480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435D0A-1BF0-FE14-26E0-A9D2994AFC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FF04B0E-B783-0453-793F-93ECB248E3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E7BBC0B-FFB9-7ED0-5F6A-7D8D5233B4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747FF6A-993B-969B-F6B8-233BD5BB9A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9643315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FCE6E-6C80-F482-E936-95CF78DD6A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92ABF91-A6D4-AF61-E4F7-BA11DBE4EF5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E623772-C6ED-BADB-C4F7-A807422632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CA60E92-6911-0083-3371-2E84BD9F02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3186634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41B65-9CA4-418A-2776-4A30E0BCB9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61A8EB9-A0DD-E77A-3905-20DE331E8D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E9BBC9-9A9C-9AE8-2EF6-B63FDD95D1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F07ECD4-487B-4A09-6CBE-2E25F81668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0490677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AC5974-957D-722C-1077-23F99D6C9F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81693FF-91A8-457A-9088-0FF3194119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A69F2C9-EAA2-2950-B07B-C86C88E5423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58FCBEA-FF4E-5782-1F09-B054207FD4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6929126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AFA639-1B5A-7368-A4FC-E6E39C24D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2060903-ED08-8BCB-5B95-2BD2A8392B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5D7880A-9C49-2EC3-575D-DD37AB649B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EF3F1C0-A162-5D16-7B38-154DBCA0D4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8311715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EF4E31-1EF7-CFCA-3807-E53EE057B9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2F697A7-DA80-9489-777B-4FD4419EFE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CB3A33-9B2B-52F0-3BB6-A1DC56477D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A40A52-EC11-4B4F-94B7-59027995707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54978662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6AE78-6039-96F6-D0B5-7796EE788A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8A8445-8779-B7A7-2819-BBE626918F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ACADCB-394C-1B14-14D1-E684C6EC50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8ED37C-B65F-7728-2490-8C4CA8C15F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228262F-01A3-4CFF-895B-FDF42B6E38AC}" type="slidenum">
              <a:rPr lang="ko-KR" altLang="en-US" smtClean="0"/>
              <a:t>185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037836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14350" y="1621191"/>
            <a:ext cx="5829300" cy="3448756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57250" y="5202944"/>
            <a:ext cx="5143500" cy="2391656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ko-KR" altLang="en-US"/>
              <a:t>클릭하여 마스터 부제목 스타일 편집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09025116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7612334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7916" y="2469624"/>
            <a:ext cx="5915025" cy="4120620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67916" y="6629226"/>
            <a:ext cx="5915025" cy="216693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30498293"/>
      </p:ext>
    </p:extLst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71488" y="2637014"/>
            <a:ext cx="2914650" cy="6285266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471863" y="2637014"/>
            <a:ext cx="2914650" cy="6285266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4504242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527405"/>
            <a:ext cx="5915025" cy="1914702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2381" y="2428347"/>
            <a:ext cx="2901255" cy="1190095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381" y="3618442"/>
            <a:ext cx="2901255" cy="5322183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471863" y="2428347"/>
            <a:ext cx="2915543" cy="1190095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471863" y="3618442"/>
            <a:ext cx="2915543" cy="5322183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92758556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31302546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68809296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660400"/>
            <a:ext cx="2211884" cy="23114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915543" y="1426283"/>
            <a:ext cx="3471863" cy="7039681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971800"/>
            <a:ext cx="2211884" cy="5505627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41997953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660400"/>
            <a:ext cx="2211884" cy="23114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915543" y="1426283"/>
            <a:ext cx="3471863" cy="7039681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971800"/>
            <a:ext cx="2211884" cy="5505627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47051594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9064295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907757" y="527403"/>
            <a:ext cx="1478756" cy="8394877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71488" y="527403"/>
            <a:ext cx="4350544" cy="8394877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9300550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표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C76020E4-D3BF-2E23-3FDA-C00182CF911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604556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컨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>
            <a:extLst>
              <a:ext uri="{FF2B5EF4-FFF2-40B4-BE49-F238E27FC236}">
                <a16:creationId xmlns:a16="http://schemas.microsoft.com/office/drawing/2014/main" id="{40B0BCB0-8223-B3D9-E890-81D448F5CD0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399711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441A63F8-CD22-3A28-E2D3-10878032E2D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049059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5863852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본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>
            <a:extLst>
              <a:ext uri="{FF2B5EF4-FFF2-40B4-BE49-F238E27FC236}">
                <a16:creationId xmlns:a16="http://schemas.microsoft.com/office/drawing/2014/main" id="{80C846F1-727C-0585-985D-8DD19A4411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359" t="1639" r="80900" b="92396"/>
          <a:stretch>
            <a:fillRect/>
          </a:stretch>
        </p:blipFill>
        <p:spPr>
          <a:xfrm>
            <a:off x="0" y="0"/>
            <a:ext cx="1256670" cy="673100"/>
          </a:xfrm>
          <a:prstGeom prst="rect">
            <a:avLst/>
          </a:prstGeom>
        </p:spPr>
      </p:pic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5CC61270-E58C-4CD3-75BC-975AFBC2C20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23850" y="257983"/>
            <a:ext cx="5318423" cy="32008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 marL="0" indent="0">
              <a:buNone/>
              <a:defRPr lang="ko-KR" altLang="en-US" sz="1600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2">
                    <a:lumMod val="10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defRPr>
            </a:lvl1pPr>
            <a:lvl2pPr marL="104478" indent="0">
              <a:buNone/>
              <a:defRPr lang="ko-KR" altLang="en-US" sz="823" smtClean="0"/>
            </a:lvl2pPr>
            <a:lvl3pPr marL="313432" indent="0">
              <a:buNone/>
              <a:defRPr lang="ko-KR" altLang="en-US" sz="823" smtClean="0"/>
            </a:lvl3pPr>
            <a:lvl4pPr marL="522387" indent="0">
              <a:buNone/>
              <a:defRPr lang="ko-KR" altLang="en-US" smtClean="0"/>
            </a:lvl4pPr>
            <a:lvl5pPr marL="731342" indent="0">
              <a:buNone/>
              <a:defRPr lang="ko-KR" altLang="en-US"/>
            </a:lvl5pPr>
          </a:lstStyle>
          <a:p>
            <a:pPr marL="0" marR="0" lvl="0" fontAlgn="auto">
              <a:spcAft>
                <a:spcPts val="0"/>
              </a:spcAft>
              <a:buClrTx/>
              <a:buSzTx/>
              <a:tabLst/>
            </a:pPr>
            <a:r>
              <a:rPr lang="ko-KR" altLang="en-US"/>
              <a:t>마스터 텍스트 스타일을 편집하려면 클릭</a:t>
            </a:r>
          </a:p>
        </p:txBody>
      </p:sp>
      <p:sp>
        <p:nvSpPr>
          <p:cNvPr id="59" name="슬라이드 번호 개체 틀 2">
            <a:extLst>
              <a:ext uri="{FF2B5EF4-FFF2-40B4-BE49-F238E27FC236}">
                <a16:creationId xmlns:a16="http://schemas.microsoft.com/office/drawing/2014/main" id="{CE098A9A-461E-2B74-D55E-49CB2DCBB94A}"/>
              </a:ext>
            </a:extLst>
          </p:cNvPr>
          <p:cNvSpPr txBox="1">
            <a:spLocks/>
          </p:cNvSpPr>
          <p:nvPr userDrawn="1"/>
        </p:nvSpPr>
        <p:spPr>
          <a:xfrm>
            <a:off x="3174610" y="9688018"/>
            <a:ext cx="508780" cy="527403"/>
          </a:xfrm>
          <a:prstGeom prst="rect">
            <a:avLst/>
          </a:prstGeom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42A9537A-DB42-4D35-B31B-5C8E293FF6D7}" type="slidenum">
              <a:rPr lang="ko-KR" altLang="en-US" sz="900" smtClean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pPr algn="ctr"/>
              <a:t>‹#›</a:t>
            </a:fld>
            <a:endParaRPr lang="ko-KR" alt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384064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텍스트 개체 틀 13">
            <a:extLst>
              <a:ext uri="{FF2B5EF4-FFF2-40B4-BE49-F238E27FC236}">
                <a16:creationId xmlns:a16="http://schemas.microsoft.com/office/drawing/2014/main" id="{C174FC7F-2931-4560-A3C1-364B07A5E3B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94234" y="1453800"/>
            <a:ext cx="6109424" cy="181525"/>
          </a:xfrm>
          <a:noFill/>
        </p:spPr>
        <p:txBody>
          <a:bodyPr wrap="square" rtlCol="0">
            <a:spAutoFit/>
          </a:bodyPr>
          <a:lstStyle>
            <a:lvl1pPr marL="0" indent="0">
              <a:buNone/>
              <a:defRPr lang="ko-KR" altLang="en-US" sz="640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2">
                    <a:lumMod val="25000"/>
                  </a:schemeClr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defRPr>
            </a:lvl1pPr>
            <a:lvl2pPr>
              <a:defRPr lang="ko-KR" altLang="en-US" sz="823" smtClean="0"/>
            </a:lvl2pPr>
            <a:lvl3pPr>
              <a:defRPr lang="ko-KR" altLang="en-US" sz="823" smtClean="0"/>
            </a:lvl3pPr>
            <a:lvl4pPr>
              <a:defRPr lang="ko-KR" altLang="en-US" smtClean="0"/>
            </a:lvl4pPr>
            <a:lvl5pPr>
              <a:defRPr lang="ko-KR" altLang="en-US"/>
            </a:lvl5pPr>
          </a:lstStyle>
          <a:p>
            <a:pPr marL="0"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7" name="사각형: 둥근 한쪽 모서리 6">
            <a:extLst>
              <a:ext uri="{FF2B5EF4-FFF2-40B4-BE49-F238E27FC236}">
                <a16:creationId xmlns:a16="http://schemas.microsoft.com/office/drawing/2014/main" id="{B541F7BF-9ADF-46AB-81E5-B13C2B27F216}"/>
              </a:ext>
            </a:extLst>
          </p:cNvPr>
          <p:cNvSpPr/>
          <p:nvPr userDrawn="1"/>
        </p:nvSpPr>
        <p:spPr>
          <a:xfrm>
            <a:off x="0" y="473287"/>
            <a:ext cx="524014" cy="852098"/>
          </a:xfrm>
          <a:prstGeom prst="round1Rect">
            <a:avLst/>
          </a:prstGeom>
          <a:solidFill>
            <a:srgbClr val="008B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F5F91E45-9FCF-43BD-A8FF-24BD1BC3E732}"/>
              </a:ext>
            </a:extLst>
          </p:cNvPr>
          <p:cNvCxnSpPr>
            <a:cxnSpLocks/>
          </p:cNvCxnSpPr>
          <p:nvPr userDrawn="1"/>
        </p:nvCxnSpPr>
        <p:spPr>
          <a:xfrm>
            <a:off x="0" y="1325385"/>
            <a:ext cx="6608862" cy="0"/>
          </a:xfrm>
          <a:prstGeom prst="line">
            <a:avLst/>
          </a:prstGeom>
          <a:ln w="19050">
            <a:solidFill>
              <a:srgbClr val="0074A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텍스트 개체 틀 13">
            <a:extLst>
              <a:ext uri="{FF2B5EF4-FFF2-40B4-BE49-F238E27FC236}">
                <a16:creationId xmlns:a16="http://schemas.microsoft.com/office/drawing/2014/main" id="{B014F6E5-DAED-4795-8473-F27C314E903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569969" y="699426"/>
            <a:ext cx="5023588" cy="233013"/>
          </a:xfrm>
          <a:noFill/>
        </p:spPr>
        <p:txBody>
          <a:bodyPr wrap="square" rtlCol="0">
            <a:spAutoFit/>
          </a:bodyPr>
          <a:lstStyle>
            <a:lvl1pPr marL="0" indent="0">
              <a:lnSpc>
                <a:spcPct val="100000"/>
              </a:lnSpc>
              <a:buNone/>
              <a:defRPr lang="ko-KR" altLang="en-US" sz="914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18" name="텍스트 개체 틀 13">
            <a:extLst>
              <a:ext uri="{FF2B5EF4-FFF2-40B4-BE49-F238E27FC236}">
                <a16:creationId xmlns:a16="http://schemas.microsoft.com/office/drawing/2014/main" id="{2ECBBF39-A383-4AFE-9C30-8005D916AD6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02769" y="655398"/>
            <a:ext cx="377293" cy="544593"/>
          </a:xfrm>
          <a:noFill/>
        </p:spPr>
        <p:txBody>
          <a:bodyPr wrap="square" rtlCol="0">
            <a:noAutofit/>
          </a:bodyPr>
          <a:lstStyle>
            <a:lvl1pPr marL="0" indent="0" algn="r">
              <a:buNone/>
              <a:defRPr lang="ko-KR" altLang="en-US" sz="1097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lvl="0" algn="ctr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6BF7D64-638A-0DB1-1838-1BFE0A31C328}"/>
              </a:ext>
            </a:extLst>
          </p:cNvPr>
          <p:cNvSpPr txBox="1"/>
          <p:nvPr userDrawn="1"/>
        </p:nvSpPr>
        <p:spPr>
          <a:xfrm>
            <a:off x="6522317" y="9372523"/>
            <a:ext cx="335685" cy="3456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823" b="0" i="0" u="none" strike="noStrike" kern="1200" cap="none" spc="0" normalizeH="0" baseline="0" noProof="0">
                <a:ln>
                  <a:noFill/>
                </a:ln>
                <a:solidFill>
                  <a:srgbClr val="171616"/>
                </a:solidFill>
                <a:effectLst/>
                <a:uLnTx/>
                <a:uFillTx/>
                <a:latin typeface="나눔스퀘어"/>
                <a:ea typeface="나눔스퀘어"/>
                <a:cs typeface="+mn-cs"/>
              </a:rPr>
              <a:t>&lt;#&gt;</a:t>
            </a:r>
            <a:endParaRPr lang="ko-KR" altLang="en-US" sz="823"/>
          </a:p>
        </p:txBody>
      </p:sp>
    </p:spTree>
    <p:extLst>
      <p:ext uri="{BB962C8B-B14F-4D97-AF65-F5344CB8AC3E}">
        <p14:creationId xmlns:p14="http://schemas.microsoft.com/office/powerpoint/2010/main" val="55598936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본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842A813A-2054-9B7A-A3EE-537D2323E4B8}"/>
              </a:ext>
            </a:extLst>
          </p:cNvPr>
          <p:cNvSpPr/>
          <p:nvPr userDrawn="1"/>
        </p:nvSpPr>
        <p:spPr>
          <a:xfrm>
            <a:off x="0" y="0"/>
            <a:ext cx="6858000" cy="8168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CC0A6FCF-E2F3-8AD2-0209-5A0ACB9F8120}"/>
              </a:ext>
            </a:extLst>
          </p:cNvPr>
          <p:cNvSpPr/>
          <p:nvPr userDrawn="1"/>
        </p:nvSpPr>
        <p:spPr>
          <a:xfrm>
            <a:off x="56168" y="2"/>
            <a:ext cx="291683" cy="832380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5949" h="647701">
                <a:moveTo>
                  <a:pt x="0" y="0"/>
                </a:moveTo>
                <a:lnTo>
                  <a:pt x="545949" y="0"/>
                </a:ln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  <a:close/>
              </a:path>
            </a:pathLst>
          </a:custGeom>
          <a:solidFill>
            <a:schemeClr val="tx1">
              <a:lumMod val="95000"/>
              <a:lumOff val="5000"/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0CB78D1D-B4FE-DA6C-EE5A-0D2C0C024C53}"/>
              </a:ext>
            </a:extLst>
          </p:cNvPr>
          <p:cNvSpPr/>
          <p:nvPr userDrawn="1"/>
        </p:nvSpPr>
        <p:spPr>
          <a:xfrm>
            <a:off x="0" y="0"/>
            <a:ext cx="317814" cy="906949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5949" h="647701">
                <a:moveTo>
                  <a:pt x="0" y="0"/>
                </a:moveTo>
                <a:lnTo>
                  <a:pt x="545949" y="0"/>
                </a:ln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  <a:close/>
              </a:path>
            </a:pathLst>
          </a:custGeom>
          <a:solidFill>
            <a:srgbClr val="0074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75B00E28-9584-240E-0333-89C94C82345D}"/>
              </a:ext>
            </a:extLst>
          </p:cNvPr>
          <p:cNvSpPr/>
          <p:nvPr userDrawn="1"/>
        </p:nvSpPr>
        <p:spPr>
          <a:xfrm>
            <a:off x="-1749" y="0"/>
            <a:ext cx="283035" cy="846485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7" fmla="*/ 88356 w 545949"/>
              <a:gd name="connsiteY7" fmla="*/ 94325 h 647701"/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0" fmla="*/ 545949 w 545949"/>
              <a:gd name="connsiteY0" fmla="*/ 0 h 647701"/>
              <a:gd name="connsiteX1" fmla="*/ 545949 w 545949"/>
              <a:gd name="connsiteY1" fmla="*/ 3 h 647701"/>
              <a:gd name="connsiteX2" fmla="*/ 374465 w 545949"/>
              <a:gd name="connsiteY2" fmla="*/ 568337 h 647701"/>
              <a:gd name="connsiteX3" fmla="*/ 346936 w 545949"/>
              <a:gd name="connsiteY3" fmla="*/ 613539 h 647701"/>
              <a:gd name="connsiteX4" fmla="*/ 252547 w 545949"/>
              <a:gd name="connsiteY4" fmla="*/ 647701 h 647701"/>
              <a:gd name="connsiteX5" fmla="*/ 0 w 545949"/>
              <a:gd name="connsiteY5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5949" h="647701">
                <a:moveTo>
                  <a:pt x="545949" y="0"/>
                </a:move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</a:path>
            </a:pathLst>
          </a:cu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5CC61270-E58C-4CD3-75BC-975AFBC2C20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17897" y="271413"/>
            <a:ext cx="5635526" cy="20633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 marL="0" indent="0">
              <a:buNone/>
              <a:defRPr lang="ko-KR" altLang="en-US" sz="823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2">
                    <a:lumMod val="10000"/>
                  </a:schemeClr>
                </a:solidFill>
                <a:latin typeface="경기천년제목 Bold" panose="02020803020101020101" pitchFamily="18" charset="-127"/>
                <a:ea typeface="경기천년제목 Bold" panose="02020803020101020101" pitchFamily="18" charset="-127"/>
              </a:defRPr>
            </a:lvl1pPr>
            <a:lvl2pPr marL="104479" indent="0">
              <a:buNone/>
              <a:defRPr lang="ko-KR" altLang="en-US" sz="823" smtClean="0"/>
            </a:lvl2pPr>
            <a:lvl3pPr marL="313437" indent="0">
              <a:buNone/>
              <a:defRPr lang="ko-KR" altLang="en-US" sz="823" smtClean="0"/>
            </a:lvl3pPr>
            <a:lvl4pPr marL="522394" indent="0">
              <a:buNone/>
              <a:defRPr lang="ko-KR" altLang="en-US" smtClean="0"/>
            </a:lvl4pPr>
            <a:lvl5pPr marL="731351" indent="0">
              <a:buNone/>
              <a:defRPr lang="ko-KR" altLang="en-US"/>
            </a:lvl5pPr>
          </a:lstStyle>
          <a:p>
            <a:pPr marL="0" marR="0" lvl="0" fontAlgn="auto">
              <a:spcAft>
                <a:spcPts val="0"/>
              </a:spcAft>
              <a:buClrTx/>
              <a:buSzTx/>
              <a:tabLst/>
            </a:pPr>
            <a:r>
              <a:rPr lang="ko-KR" altLang="en-US"/>
              <a:t>마스터 텍스트 스타일을 편집하려면 클릭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9821875-ABEF-94C5-5C9F-62A6F241B498}"/>
              </a:ext>
            </a:extLst>
          </p:cNvPr>
          <p:cNvSpPr/>
          <p:nvPr userDrawn="1"/>
        </p:nvSpPr>
        <p:spPr>
          <a:xfrm>
            <a:off x="244812" y="2693909"/>
            <a:ext cx="3125255" cy="66342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55ED841-3E70-2D52-DBCB-E944C07C3B70}"/>
              </a:ext>
            </a:extLst>
          </p:cNvPr>
          <p:cNvSpPr/>
          <p:nvPr userDrawn="1"/>
        </p:nvSpPr>
        <p:spPr>
          <a:xfrm>
            <a:off x="3487937" y="2693909"/>
            <a:ext cx="3125255" cy="66342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sp>
        <p:nvSpPr>
          <p:cNvPr id="9" name="슬라이드 번호 개체 틀 2">
            <a:extLst>
              <a:ext uri="{FF2B5EF4-FFF2-40B4-BE49-F238E27FC236}">
                <a16:creationId xmlns:a16="http://schemas.microsoft.com/office/drawing/2014/main" id="{B2797B26-B1E8-6159-7F70-D2371837A9AB}"/>
              </a:ext>
            </a:extLst>
          </p:cNvPr>
          <p:cNvSpPr txBox="1">
            <a:spLocks/>
          </p:cNvSpPr>
          <p:nvPr userDrawn="1"/>
        </p:nvSpPr>
        <p:spPr>
          <a:xfrm>
            <a:off x="6349221" y="9545322"/>
            <a:ext cx="508780" cy="527403"/>
          </a:xfrm>
          <a:prstGeom prst="rect">
            <a:avLst/>
          </a:prstGeom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42A9537A-DB42-4D35-B31B-5C8E293FF6D7}" type="slidenum">
              <a:rPr lang="ko-KR" altLang="en-US" sz="457" smtClean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pPr algn="r"/>
              <a:t>‹#›</a:t>
            </a:fld>
            <a:endParaRPr lang="ko-KR" altLang="en-US" sz="64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3811650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본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842A813A-2054-9B7A-A3EE-537D2323E4B8}"/>
              </a:ext>
            </a:extLst>
          </p:cNvPr>
          <p:cNvSpPr/>
          <p:nvPr userDrawn="1"/>
        </p:nvSpPr>
        <p:spPr>
          <a:xfrm>
            <a:off x="0" y="0"/>
            <a:ext cx="6858000" cy="8168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CC0A6FCF-E2F3-8AD2-0209-5A0ACB9F8120}"/>
              </a:ext>
            </a:extLst>
          </p:cNvPr>
          <p:cNvSpPr/>
          <p:nvPr userDrawn="1"/>
        </p:nvSpPr>
        <p:spPr>
          <a:xfrm>
            <a:off x="56168" y="2"/>
            <a:ext cx="291683" cy="832380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5949" h="647701">
                <a:moveTo>
                  <a:pt x="0" y="0"/>
                </a:moveTo>
                <a:lnTo>
                  <a:pt x="545949" y="0"/>
                </a:ln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  <a:close/>
              </a:path>
            </a:pathLst>
          </a:custGeom>
          <a:solidFill>
            <a:schemeClr val="tx1">
              <a:lumMod val="95000"/>
              <a:lumOff val="5000"/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0CB78D1D-B4FE-DA6C-EE5A-0D2C0C024C53}"/>
              </a:ext>
            </a:extLst>
          </p:cNvPr>
          <p:cNvSpPr/>
          <p:nvPr userDrawn="1"/>
        </p:nvSpPr>
        <p:spPr>
          <a:xfrm>
            <a:off x="0" y="0"/>
            <a:ext cx="317814" cy="906949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5949" h="647701">
                <a:moveTo>
                  <a:pt x="0" y="0"/>
                </a:moveTo>
                <a:lnTo>
                  <a:pt x="545949" y="0"/>
                </a:ln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  <a:close/>
              </a:path>
            </a:pathLst>
          </a:custGeom>
          <a:solidFill>
            <a:srgbClr val="0074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75B00E28-9584-240E-0333-89C94C82345D}"/>
              </a:ext>
            </a:extLst>
          </p:cNvPr>
          <p:cNvSpPr/>
          <p:nvPr userDrawn="1"/>
        </p:nvSpPr>
        <p:spPr>
          <a:xfrm>
            <a:off x="-1749" y="0"/>
            <a:ext cx="283035" cy="846485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7" fmla="*/ 88356 w 545949"/>
              <a:gd name="connsiteY7" fmla="*/ 94325 h 647701"/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0" fmla="*/ 545949 w 545949"/>
              <a:gd name="connsiteY0" fmla="*/ 0 h 647701"/>
              <a:gd name="connsiteX1" fmla="*/ 545949 w 545949"/>
              <a:gd name="connsiteY1" fmla="*/ 3 h 647701"/>
              <a:gd name="connsiteX2" fmla="*/ 374465 w 545949"/>
              <a:gd name="connsiteY2" fmla="*/ 568337 h 647701"/>
              <a:gd name="connsiteX3" fmla="*/ 346936 w 545949"/>
              <a:gd name="connsiteY3" fmla="*/ 613539 h 647701"/>
              <a:gd name="connsiteX4" fmla="*/ 252547 w 545949"/>
              <a:gd name="connsiteY4" fmla="*/ 647701 h 647701"/>
              <a:gd name="connsiteX5" fmla="*/ 0 w 545949"/>
              <a:gd name="connsiteY5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5949" h="647701">
                <a:moveTo>
                  <a:pt x="545949" y="0"/>
                </a:move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</a:path>
            </a:pathLst>
          </a:cu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5CC61270-E58C-4CD3-75BC-975AFBC2C20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17897" y="271413"/>
            <a:ext cx="5635526" cy="20633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 marL="0" indent="0">
              <a:buNone/>
              <a:defRPr lang="ko-KR" altLang="en-US" sz="823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2">
                    <a:lumMod val="10000"/>
                  </a:schemeClr>
                </a:solidFill>
                <a:latin typeface="경기천년제목 Bold" panose="02020803020101020101" pitchFamily="18" charset="-127"/>
                <a:ea typeface="경기천년제목 Bold" panose="02020803020101020101" pitchFamily="18" charset="-127"/>
              </a:defRPr>
            </a:lvl1pPr>
            <a:lvl2pPr marL="104479" indent="0">
              <a:buNone/>
              <a:defRPr lang="ko-KR" altLang="en-US" sz="823" smtClean="0"/>
            </a:lvl2pPr>
            <a:lvl3pPr marL="313437" indent="0">
              <a:buNone/>
              <a:defRPr lang="ko-KR" altLang="en-US" sz="823" smtClean="0"/>
            </a:lvl3pPr>
            <a:lvl4pPr marL="522394" indent="0">
              <a:buNone/>
              <a:defRPr lang="ko-KR" altLang="en-US" smtClean="0"/>
            </a:lvl4pPr>
            <a:lvl5pPr marL="731351" indent="0">
              <a:buNone/>
              <a:defRPr lang="ko-KR" altLang="en-US"/>
            </a:lvl5pPr>
          </a:lstStyle>
          <a:p>
            <a:pPr marL="0" marR="0" lvl="0" fontAlgn="auto">
              <a:spcAft>
                <a:spcPts val="0"/>
              </a:spcAft>
              <a:buClrTx/>
              <a:buSzTx/>
              <a:tabLst/>
            </a:pPr>
            <a:r>
              <a:rPr lang="ko-KR" altLang="en-US"/>
              <a:t>마스터 텍스트 스타일을 편집하려면 클릭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9821875-ABEF-94C5-5C9F-62A6F241B498}"/>
              </a:ext>
            </a:extLst>
          </p:cNvPr>
          <p:cNvSpPr/>
          <p:nvPr userDrawn="1"/>
        </p:nvSpPr>
        <p:spPr>
          <a:xfrm>
            <a:off x="244810" y="2693909"/>
            <a:ext cx="6368380" cy="66342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1F5EF080-74F1-2009-15B4-D5D932E8218F}"/>
              </a:ext>
            </a:extLst>
          </p:cNvPr>
          <p:cNvSpPr txBox="1">
            <a:spLocks/>
          </p:cNvSpPr>
          <p:nvPr userDrawn="1"/>
        </p:nvSpPr>
        <p:spPr>
          <a:xfrm>
            <a:off x="6349221" y="9545322"/>
            <a:ext cx="508780" cy="527403"/>
          </a:xfrm>
          <a:prstGeom prst="rect">
            <a:avLst/>
          </a:prstGeom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42A9537A-DB42-4D35-B31B-5C8E293FF6D7}" type="slidenum">
              <a:rPr lang="ko-KR" altLang="en-US" sz="457" smtClean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pPr algn="r"/>
              <a:t>‹#›</a:t>
            </a:fld>
            <a:endParaRPr lang="ko-KR" altLang="en-US" sz="64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7351623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본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842A813A-2054-9B7A-A3EE-537D2323E4B8}"/>
              </a:ext>
            </a:extLst>
          </p:cNvPr>
          <p:cNvSpPr/>
          <p:nvPr userDrawn="1"/>
        </p:nvSpPr>
        <p:spPr>
          <a:xfrm>
            <a:off x="0" y="0"/>
            <a:ext cx="6858000" cy="8168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23"/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CC0A6FCF-E2F3-8AD2-0209-5A0ACB9F8120}"/>
              </a:ext>
            </a:extLst>
          </p:cNvPr>
          <p:cNvSpPr/>
          <p:nvPr userDrawn="1"/>
        </p:nvSpPr>
        <p:spPr>
          <a:xfrm>
            <a:off x="56168" y="2"/>
            <a:ext cx="291683" cy="832380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5949" h="647701">
                <a:moveTo>
                  <a:pt x="0" y="0"/>
                </a:moveTo>
                <a:lnTo>
                  <a:pt x="545949" y="0"/>
                </a:ln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  <a:close/>
              </a:path>
            </a:pathLst>
          </a:custGeom>
          <a:solidFill>
            <a:schemeClr val="tx1">
              <a:lumMod val="95000"/>
              <a:lumOff val="5000"/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0CB78D1D-B4FE-DA6C-EE5A-0D2C0C024C53}"/>
              </a:ext>
            </a:extLst>
          </p:cNvPr>
          <p:cNvSpPr/>
          <p:nvPr userDrawn="1"/>
        </p:nvSpPr>
        <p:spPr>
          <a:xfrm>
            <a:off x="0" y="0"/>
            <a:ext cx="317814" cy="906949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5949" h="647701">
                <a:moveTo>
                  <a:pt x="0" y="0"/>
                </a:moveTo>
                <a:lnTo>
                  <a:pt x="545949" y="0"/>
                </a:ln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  <a:close/>
              </a:path>
            </a:pathLst>
          </a:custGeom>
          <a:solidFill>
            <a:srgbClr val="0074A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75B00E28-9584-240E-0333-89C94C82345D}"/>
              </a:ext>
            </a:extLst>
          </p:cNvPr>
          <p:cNvSpPr/>
          <p:nvPr userDrawn="1"/>
        </p:nvSpPr>
        <p:spPr>
          <a:xfrm>
            <a:off x="-1749" y="0"/>
            <a:ext cx="283035" cy="846485"/>
          </a:xfrm>
          <a:custGeom>
            <a:avLst/>
            <a:gdLst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7" fmla="*/ 88356 w 545949"/>
              <a:gd name="connsiteY7" fmla="*/ 94325 h 647701"/>
              <a:gd name="connsiteX0" fmla="*/ 0 w 545949"/>
              <a:gd name="connsiteY0" fmla="*/ 0 h 647701"/>
              <a:gd name="connsiteX1" fmla="*/ 545949 w 545949"/>
              <a:gd name="connsiteY1" fmla="*/ 0 h 647701"/>
              <a:gd name="connsiteX2" fmla="*/ 545949 w 545949"/>
              <a:gd name="connsiteY2" fmla="*/ 3 h 647701"/>
              <a:gd name="connsiteX3" fmla="*/ 374465 w 545949"/>
              <a:gd name="connsiteY3" fmla="*/ 568337 h 647701"/>
              <a:gd name="connsiteX4" fmla="*/ 346936 w 545949"/>
              <a:gd name="connsiteY4" fmla="*/ 613539 h 647701"/>
              <a:gd name="connsiteX5" fmla="*/ 252547 w 545949"/>
              <a:gd name="connsiteY5" fmla="*/ 647701 h 647701"/>
              <a:gd name="connsiteX6" fmla="*/ 0 w 545949"/>
              <a:gd name="connsiteY6" fmla="*/ 647701 h 647701"/>
              <a:gd name="connsiteX0" fmla="*/ 545949 w 545949"/>
              <a:gd name="connsiteY0" fmla="*/ 0 h 647701"/>
              <a:gd name="connsiteX1" fmla="*/ 545949 w 545949"/>
              <a:gd name="connsiteY1" fmla="*/ 3 h 647701"/>
              <a:gd name="connsiteX2" fmla="*/ 374465 w 545949"/>
              <a:gd name="connsiteY2" fmla="*/ 568337 h 647701"/>
              <a:gd name="connsiteX3" fmla="*/ 346936 w 545949"/>
              <a:gd name="connsiteY3" fmla="*/ 613539 h 647701"/>
              <a:gd name="connsiteX4" fmla="*/ 252547 w 545949"/>
              <a:gd name="connsiteY4" fmla="*/ 647701 h 647701"/>
              <a:gd name="connsiteX5" fmla="*/ 0 w 545949"/>
              <a:gd name="connsiteY5" fmla="*/ 647701 h 64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5949" h="647701">
                <a:moveTo>
                  <a:pt x="545949" y="0"/>
                </a:moveTo>
                <a:lnTo>
                  <a:pt x="545949" y="3"/>
                </a:lnTo>
                <a:lnTo>
                  <a:pt x="374465" y="568337"/>
                </a:lnTo>
                <a:cubicBezTo>
                  <a:pt x="369409" y="585063"/>
                  <a:pt x="360294" y="600804"/>
                  <a:pt x="346936" y="613539"/>
                </a:cubicBezTo>
                <a:cubicBezTo>
                  <a:pt x="328957" y="630593"/>
                  <a:pt x="299367" y="647701"/>
                  <a:pt x="252547" y="647701"/>
                </a:cubicBezTo>
                <a:lnTo>
                  <a:pt x="0" y="647701"/>
                </a:lnTo>
              </a:path>
            </a:pathLst>
          </a:cu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823"/>
          </a:p>
        </p:txBody>
      </p: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5CC61270-E58C-4CD3-75BC-975AFBC2C20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17897" y="271413"/>
            <a:ext cx="5635526" cy="20633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 marL="0" indent="0">
              <a:buNone/>
              <a:defRPr lang="ko-KR" altLang="en-US" sz="823" smtClean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2">
                    <a:lumMod val="10000"/>
                  </a:schemeClr>
                </a:solidFill>
                <a:latin typeface="경기천년제목 Bold" panose="02020803020101020101" pitchFamily="18" charset="-127"/>
                <a:ea typeface="경기천년제목 Bold" panose="02020803020101020101" pitchFamily="18" charset="-127"/>
              </a:defRPr>
            </a:lvl1pPr>
            <a:lvl2pPr marL="104479" indent="0">
              <a:buNone/>
              <a:defRPr lang="ko-KR" altLang="en-US" sz="823" smtClean="0"/>
            </a:lvl2pPr>
            <a:lvl3pPr marL="313437" indent="0">
              <a:buNone/>
              <a:defRPr lang="ko-KR" altLang="en-US" sz="823" smtClean="0"/>
            </a:lvl3pPr>
            <a:lvl4pPr marL="522394" indent="0">
              <a:buNone/>
              <a:defRPr lang="ko-KR" altLang="en-US" smtClean="0"/>
            </a:lvl4pPr>
            <a:lvl5pPr marL="731351" indent="0">
              <a:buNone/>
              <a:defRPr lang="ko-KR" altLang="en-US"/>
            </a:lvl5pPr>
          </a:lstStyle>
          <a:p>
            <a:pPr marL="0" marR="0" lvl="0" fontAlgn="auto">
              <a:spcAft>
                <a:spcPts val="0"/>
              </a:spcAft>
              <a:buClrTx/>
              <a:buSzTx/>
              <a:tabLst/>
            </a:pPr>
            <a:r>
              <a:rPr lang="ko-KR" altLang="en-US"/>
              <a:t>마스터 텍스트 스타일을 편집하려면 클릭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60DC690-6E34-460F-B6A4-6CF5A62EB2C3}"/>
              </a:ext>
            </a:extLst>
          </p:cNvPr>
          <p:cNvSpPr/>
          <p:nvPr userDrawn="1"/>
        </p:nvSpPr>
        <p:spPr>
          <a:xfrm>
            <a:off x="244811" y="2693909"/>
            <a:ext cx="1989132" cy="66342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823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72717FD-D39F-8E98-379C-C3F05153C648}"/>
              </a:ext>
            </a:extLst>
          </p:cNvPr>
          <p:cNvSpPr/>
          <p:nvPr userDrawn="1"/>
        </p:nvSpPr>
        <p:spPr>
          <a:xfrm>
            <a:off x="4624058" y="2693909"/>
            <a:ext cx="1989132" cy="66342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823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B5475A5-6520-B581-0354-5E7DA0EF6ADD}"/>
              </a:ext>
            </a:extLst>
          </p:cNvPr>
          <p:cNvSpPr/>
          <p:nvPr userDrawn="1"/>
        </p:nvSpPr>
        <p:spPr>
          <a:xfrm>
            <a:off x="2434435" y="2693909"/>
            <a:ext cx="1989132" cy="663424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823"/>
          </a:p>
        </p:txBody>
      </p:sp>
      <p:sp>
        <p:nvSpPr>
          <p:cNvPr id="7" name="슬라이드 번호 개체 틀 2">
            <a:extLst>
              <a:ext uri="{FF2B5EF4-FFF2-40B4-BE49-F238E27FC236}">
                <a16:creationId xmlns:a16="http://schemas.microsoft.com/office/drawing/2014/main" id="{D7A74A86-AF2F-4131-0264-FB4B27ABEF36}"/>
              </a:ext>
            </a:extLst>
          </p:cNvPr>
          <p:cNvSpPr txBox="1">
            <a:spLocks/>
          </p:cNvSpPr>
          <p:nvPr userDrawn="1"/>
        </p:nvSpPr>
        <p:spPr>
          <a:xfrm>
            <a:off x="6349221" y="9545322"/>
            <a:ext cx="508780" cy="527403"/>
          </a:xfrm>
          <a:prstGeom prst="rect">
            <a:avLst/>
          </a:prstGeom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42A9537A-DB42-4D35-B31B-5C8E293FF6D7}" type="slidenum">
              <a:rPr lang="ko-KR" altLang="en-US" sz="457" smtClean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pPr algn="r"/>
              <a:t>‹#›</a:t>
            </a:fld>
            <a:endParaRPr lang="ko-KR" altLang="en-US" sz="64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2931341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B1E447B-F4B4-4E30-97EE-52936639FAEF}"/>
              </a:ext>
            </a:extLst>
          </p:cNvPr>
          <p:cNvSpPr txBox="1"/>
          <p:nvPr userDrawn="1"/>
        </p:nvSpPr>
        <p:spPr>
          <a:xfrm flipH="1">
            <a:off x="489703" y="1285390"/>
            <a:ext cx="2125266" cy="2279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  <a:spcBef>
                <a:spcPts val="275"/>
              </a:spcBef>
            </a:pPr>
            <a:r>
              <a:rPr lang="ko-KR" altLang="en-US" sz="731" kern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2">
                    <a:lumMod val="25000"/>
                  </a:schemeClr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  <a:cs typeface="+mn-cs"/>
              </a:rPr>
              <a:t>템인트 프레젠테이션 템플릿 저작권</a:t>
            </a:r>
            <a:endParaRPr lang="en-US" altLang="ko-KR" sz="731" kern="12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2">
                  <a:lumMod val="25000"/>
                </a:schemeClr>
              </a:solidFill>
              <a:latin typeface="나눔스퀘어 Bold" panose="020B0600000101010101" pitchFamily="50" charset="-127"/>
              <a:ea typeface="나눔스퀘어 Bold" panose="020B0600000101010101" pitchFamily="50" charset="-127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8F0AAC5-6251-4A45-9BE4-4EDC00C4FF72}"/>
              </a:ext>
            </a:extLst>
          </p:cNvPr>
          <p:cNvSpPr txBox="1"/>
          <p:nvPr userDrawn="1"/>
        </p:nvSpPr>
        <p:spPr>
          <a:xfrm flipH="1">
            <a:off x="489703" y="2089168"/>
            <a:ext cx="5747149" cy="709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  <a:spcBef>
                <a:spcPts val="275"/>
              </a:spcBef>
            </a:pP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본 템플릿에 제공되는 디자인 재산권은 </a:t>
            </a:r>
            <a:r>
              <a:rPr lang="ko-KR" altLang="en-US" sz="548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템인트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(quiethee8)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이 소유하고 있습니다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.</a:t>
            </a:r>
          </a:p>
          <a:p>
            <a:pPr>
              <a:lnSpc>
                <a:spcPct val="130000"/>
              </a:lnSpc>
              <a:spcBef>
                <a:spcPts val="275"/>
              </a:spcBef>
            </a:pP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어떠한 경우에도 </a:t>
            </a:r>
            <a:r>
              <a:rPr lang="ko-KR" altLang="en-US" sz="548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템인트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템플릿 및 디자인을 유료로 복제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,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판매하는 것은 금지하며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,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재배포를 금지합니다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. </a:t>
            </a:r>
            <a:b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</a:b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본 프레젠테이션은 비영리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,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비상업적인 목적으로만 사용 가능합니다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.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또한 홍보 목적이 아닌 내부 자료로는 사용 가능합니다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.</a:t>
            </a:r>
            <a:b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</a:b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상업적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,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영리적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,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홍보목적인 경우에는 구매 후 사용 가능합니다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.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상업적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, 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영리목적일 시에는 블로그 혹은 메일로 연락 </a:t>
            </a:r>
            <a:r>
              <a:rPr lang="ko-KR" altLang="en-US" sz="548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주시길</a:t>
            </a: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바랍니다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62A61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.</a:t>
            </a:r>
          </a:p>
          <a:p>
            <a:pPr>
              <a:lnSpc>
                <a:spcPct val="130000"/>
              </a:lnSpc>
              <a:spcBef>
                <a:spcPts val="275"/>
              </a:spcBef>
            </a:pPr>
            <a:r>
              <a:rPr lang="ko-KR" altLang="en-US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이는 다운받는 블로그에도 기재되어 있으며 다운받고 사용시에 동의한 것으로 간주합니다</a:t>
            </a:r>
            <a:r>
              <a:rPr lang="en-US" altLang="ko-KR" sz="548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. </a:t>
            </a:r>
          </a:p>
        </p:txBody>
      </p:sp>
      <p:graphicFrame>
        <p:nvGraphicFramePr>
          <p:cNvPr id="4" name="표 4">
            <a:extLst>
              <a:ext uri="{FF2B5EF4-FFF2-40B4-BE49-F238E27FC236}">
                <a16:creationId xmlns:a16="http://schemas.microsoft.com/office/drawing/2014/main" id="{26E1EB96-6ED2-443B-ACE2-CF11854FC42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282227894"/>
              </p:ext>
            </p:extLst>
          </p:nvPr>
        </p:nvGraphicFramePr>
        <p:xfrm>
          <a:off x="489705" y="4615250"/>
          <a:ext cx="5878595" cy="42499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2775">
                  <a:extLst>
                    <a:ext uri="{9D8B030D-6E8A-4147-A177-3AD203B41FA5}">
                      <a16:colId xmlns:a16="http://schemas.microsoft.com/office/drawing/2014/main" val="3182386323"/>
                    </a:ext>
                  </a:extLst>
                </a:gridCol>
                <a:gridCol w="2622910">
                  <a:extLst>
                    <a:ext uri="{9D8B030D-6E8A-4147-A177-3AD203B41FA5}">
                      <a16:colId xmlns:a16="http://schemas.microsoft.com/office/drawing/2014/main" val="2510118193"/>
                    </a:ext>
                  </a:extLst>
                </a:gridCol>
                <a:gridCol w="2622910">
                  <a:extLst>
                    <a:ext uri="{9D8B030D-6E8A-4147-A177-3AD203B41FA5}">
                      <a16:colId xmlns:a16="http://schemas.microsoft.com/office/drawing/2014/main" val="579559814"/>
                    </a:ext>
                  </a:extLst>
                </a:gridCol>
              </a:tblGrid>
              <a:tr h="6675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분류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CCD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허용범위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CCD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사용금지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예시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)</a:t>
                      </a:r>
                      <a:endParaRPr lang="ko-KR" altLang="en-US" sz="1700" kern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나눔스퀘어" panose="020B0600000101010101" pitchFamily="50" charset="-127"/>
                        <a:ea typeface="나눔스퀘어" panose="020B0600000101010101" pitchFamily="50" charset="-127"/>
                        <a:cs typeface="+mn-cs"/>
                      </a:endParaRP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CC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181525"/>
                  </a:ext>
                </a:extLst>
              </a:tr>
              <a:tr h="6675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학생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학교 과제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학교 내부 발표용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공모전 출품 금지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[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문의가능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]</a:t>
                      </a:r>
                      <a:endParaRPr lang="ko-KR" altLang="en-US" sz="1700" kern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나눔스퀘어" panose="020B0600000101010101" pitchFamily="50" charset="-127"/>
                        <a:ea typeface="나눔스퀘어" panose="020B0600000101010101" pitchFamily="50" charset="-127"/>
                        <a:cs typeface="+mn-cs"/>
                      </a:endParaRP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952909"/>
                  </a:ext>
                </a:extLst>
              </a:tr>
              <a:tr h="91217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기업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내부자료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보안용 자료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대외용 발표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방송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행사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프로모션 등의 홍보자료 사용 금지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7693132"/>
                  </a:ext>
                </a:extLst>
              </a:tr>
              <a:tr h="6675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학교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학교 내부 강의자료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대외용 발표 자료 및 강의자료 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1159216"/>
                  </a:ext>
                </a:extLst>
              </a:tr>
              <a:tr h="6675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기업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내부자료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보안용 자료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대외용 발표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방송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행사</a:t>
                      </a:r>
                      <a:r>
                        <a:rPr lang="en-US" altLang="ko-KR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프로모션 등 사용 금지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2042118"/>
                  </a:ext>
                </a:extLst>
              </a:tr>
              <a:tr h="66756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기타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7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나눔스퀘어" panose="020B0600000101010101" pitchFamily="50" charset="-127"/>
                          <a:ea typeface="나눔스퀘어" panose="020B0600000101010101" pitchFamily="50" charset="-127"/>
                          <a:cs typeface="+mn-cs"/>
                        </a:rPr>
                        <a:t>기타 사용 부분에는 문의 바랍니다</a:t>
                      </a:r>
                    </a:p>
                  </a:txBody>
                  <a:tcPr marL="51435" marR="51435" marT="66040" marB="66040"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400" kern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나눔스퀘어" panose="020B0600000101010101" pitchFamily="50" charset="-127"/>
                        <a:ea typeface="나눔스퀘어" panose="020B0600000101010101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ADBE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20319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22259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71488" y="527405"/>
            <a:ext cx="5915025" cy="19147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1488" y="2637014"/>
            <a:ext cx="5915025" cy="62852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71488" y="9181397"/>
            <a:ext cx="1543050" cy="52740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271713" y="9181397"/>
            <a:ext cx="2314575" cy="52740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843463" y="9181397"/>
            <a:ext cx="1543050" cy="52740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9D51B42-B0E4-4F72-9081-FD856815FA9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96133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8" r:id="rId14"/>
    <p:sldLayoutId id="2147483687" r:id="rId15"/>
    <p:sldLayoutId id="2147483686" r:id="rId16"/>
    <p:sldLayoutId id="2147483650" r:id="rId17"/>
    <p:sldLayoutId id="2147483654" r:id="rId18"/>
    <p:sldLayoutId id="2147483656" r:id="rId19"/>
    <p:sldLayoutId id="2147483655" r:id="rId20"/>
    <p:sldLayoutId id="2147483652" r:id="rId21"/>
  </p:sldLayoutIdLst>
  <p:hf hdr="0" ftr="0" dt="0"/>
  <p:txStyles>
    <p:titleStyle>
      <a:lvl1pPr algn="l" defTabSz="685800" rtl="0" eaLnBrk="1" latinLnBrk="1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1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9.png"/><Relationship Id="rId7" Type="http://schemas.openxmlformats.org/officeDocument/2006/relationships/image" Target="../media/image6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10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6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6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6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6.png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6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8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6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6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6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6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6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6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6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6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6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6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6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6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6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6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13" Type="http://schemas.openxmlformats.org/officeDocument/2006/relationships/image" Target="../media/image33.png"/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12" Type="http://schemas.openxmlformats.org/officeDocument/2006/relationships/image" Target="../media/image32.png"/><Relationship Id="rId2" Type="http://schemas.openxmlformats.org/officeDocument/2006/relationships/notesSlide" Target="../notesSlides/notesSlide38.xml"/><Relationship Id="rId16" Type="http://schemas.openxmlformats.org/officeDocument/2006/relationships/image" Target="../media/image36.pn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26.png"/><Relationship Id="rId11" Type="http://schemas.openxmlformats.org/officeDocument/2006/relationships/image" Target="../media/image31.png"/><Relationship Id="rId5" Type="http://schemas.openxmlformats.org/officeDocument/2006/relationships/image" Target="../media/image25.png"/><Relationship Id="rId15" Type="http://schemas.openxmlformats.org/officeDocument/2006/relationships/image" Target="../media/image35.png"/><Relationship Id="rId10" Type="http://schemas.openxmlformats.org/officeDocument/2006/relationships/image" Target="../media/image30.png"/><Relationship Id="rId4" Type="http://schemas.openxmlformats.org/officeDocument/2006/relationships/image" Target="../media/image24.png"/><Relationship Id="rId9" Type="http://schemas.openxmlformats.org/officeDocument/2006/relationships/image" Target="../media/image29.png"/><Relationship Id="rId14" Type="http://schemas.openxmlformats.org/officeDocument/2006/relationships/image" Target="../media/image34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6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6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6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6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6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12" Type="http://schemas.openxmlformats.org/officeDocument/2006/relationships/image" Target="../media/image47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41.png"/><Relationship Id="rId11" Type="http://schemas.openxmlformats.org/officeDocument/2006/relationships/image" Target="../media/image46.png"/><Relationship Id="rId5" Type="http://schemas.openxmlformats.org/officeDocument/2006/relationships/image" Target="../media/image40.png"/><Relationship Id="rId10" Type="http://schemas.openxmlformats.org/officeDocument/2006/relationships/image" Target="../media/image45.png"/><Relationship Id="rId4" Type="http://schemas.openxmlformats.org/officeDocument/2006/relationships/image" Target="../media/image39.png"/><Relationship Id="rId9" Type="http://schemas.openxmlformats.org/officeDocument/2006/relationships/image" Target="../media/image44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6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6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6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6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6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6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6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6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6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6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6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6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6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6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6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6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6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6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6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6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6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6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6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6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6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6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6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6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6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6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6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6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6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6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6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6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6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6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6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6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6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6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6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6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6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6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6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6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6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6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6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6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6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6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6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6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6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6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6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6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6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6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6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6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6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6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6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6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6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6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6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6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6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6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6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6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6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6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6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6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6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6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6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6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6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6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svg"/><Relationship Id="rId2" Type="http://schemas.openxmlformats.org/officeDocument/2006/relationships/image" Target="../media/image60.sv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64.svg"/><Relationship Id="rId5" Type="http://schemas.openxmlformats.org/officeDocument/2006/relationships/image" Target="../media/image63.svg"/><Relationship Id="rId4" Type="http://schemas.openxmlformats.org/officeDocument/2006/relationships/image" Target="../media/image62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16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16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16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5E46FF42-C36A-87C9-3A55-247FEA1EEF60}"/>
              </a:ext>
            </a:extLst>
          </p:cNvPr>
          <p:cNvSpPr txBox="1"/>
          <p:nvPr/>
        </p:nvSpPr>
        <p:spPr>
          <a:xfrm>
            <a:off x="2826170" y="1555100"/>
            <a:ext cx="3584636" cy="16327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4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>
                    <a:lumMod val="50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정성제안서</a:t>
            </a:r>
            <a:endParaRPr lang="en-US" altLang="ko-KR" sz="14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>
                  <a:lumMod val="50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algn="r">
              <a:lnSpc>
                <a:spcPct val="150000"/>
              </a:lnSpc>
            </a:pPr>
            <a:r>
              <a:rPr lang="en-US" altLang="ko-KR" sz="2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AI</a:t>
            </a:r>
            <a:r>
              <a:rPr lang="ko-KR" altLang="en-US" sz="2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학습용데이터 </a:t>
            </a:r>
            <a:endParaRPr lang="en-US" altLang="ko-KR" sz="2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0070C0"/>
              </a:solidFill>
              <a:latin typeface="a옛날사진관5" panose="02020600000000000000" pitchFamily="18" charset="-127"/>
              <a:ea typeface="a옛날사진관5" panose="02020600000000000000" pitchFamily="18" charset="-127"/>
            </a:endParaRPr>
          </a:p>
          <a:p>
            <a:pPr algn="r">
              <a:lnSpc>
                <a:spcPct val="150000"/>
              </a:lnSpc>
            </a:pPr>
            <a:r>
              <a:rPr lang="ko-KR" altLang="en-US" sz="2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통합 제공 시스템 구축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8AEF8EA-14B3-6E55-F0E1-066986D1E0FA}"/>
              </a:ext>
            </a:extLst>
          </p:cNvPr>
          <p:cNvSpPr txBox="1"/>
          <p:nvPr/>
        </p:nvSpPr>
        <p:spPr>
          <a:xfrm>
            <a:off x="4601846" y="3560894"/>
            <a:ext cx="17604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PM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6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</a:t>
            </a:r>
            <a:r>
              <a:rPr lang="ko-KR" altLang="en-US" sz="16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6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</a:t>
            </a:r>
            <a:r>
              <a:rPr lang="ko-KR" altLang="en-US" sz="16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6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파트너</a:t>
            </a:r>
            <a:endParaRPr lang="en-US" altLang="ko-KR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E8C5FC7-1811-9A2D-3F96-29EC88554124}"/>
              </a:ext>
            </a:extLst>
          </p:cNvPr>
          <p:cNvSpPr txBox="1"/>
          <p:nvPr/>
        </p:nvSpPr>
        <p:spPr>
          <a:xfrm>
            <a:off x="3660241" y="4152781"/>
            <a:ext cx="2291653" cy="1177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30598" indent="-130598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주관기관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12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에이치나인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30598" indent="-130598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12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와이젠정보기술</a:t>
            </a:r>
            <a:b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            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보안관련업체</a:t>
            </a:r>
            <a:b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             </a:t>
            </a:r>
            <a:r>
              <a:rPr lang="ko-KR" altLang="en-US" sz="12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테크노베이션파트너스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5759953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A43C7B-4F4B-63BC-1CC9-98A4F95D1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3AAF7DB-A166-A483-FE8C-342530E140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9054091"/>
              </p:ext>
            </p:extLst>
          </p:nvPr>
        </p:nvGraphicFramePr>
        <p:xfrm>
          <a:off x="414337" y="456168"/>
          <a:ext cx="6030005" cy="9269579"/>
        </p:xfrm>
        <a:graphic>
          <a:graphicData uri="http://schemas.openxmlformats.org/drawingml/2006/table">
            <a:tbl>
              <a:tblPr/>
              <a:tblGrid>
                <a:gridCol w="2077372">
                  <a:extLst>
                    <a:ext uri="{9D8B030D-6E8A-4147-A177-3AD203B41FA5}">
                      <a16:colId xmlns:a16="http://schemas.microsoft.com/office/drawing/2014/main" val="1041386363"/>
                    </a:ext>
                  </a:extLst>
                </a:gridCol>
                <a:gridCol w="1935984">
                  <a:extLst>
                    <a:ext uri="{9D8B030D-6E8A-4147-A177-3AD203B41FA5}">
                      <a16:colId xmlns:a16="http://schemas.microsoft.com/office/drawing/2014/main" val="848350541"/>
                    </a:ext>
                  </a:extLst>
                </a:gridCol>
                <a:gridCol w="2016649">
                  <a:extLst>
                    <a:ext uri="{9D8B030D-6E8A-4147-A177-3AD203B41FA5}">
                      <a16:colId xmlns:a16="http://schemas.microsoft.com/office/drawing/2014/main" val="4190916919"/>
                    </a:ext>
                  </a:extLst>
                </a:gridCol>
              </a:tblGrid>
              <a:tr h="24507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분류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ID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 페이지</a:t>
                      </a: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970752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현황분석 및 요구사항 정의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en-US" altLang="ko-KR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781147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r>
                        <a:rPr 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en-US" altLang="ko-KR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3813082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 진단 및 개선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en-US" altLang="ko-KR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3300395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en-US" altLang="ko-KR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403585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성과계획 및 활용방안 수립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en-US" altLang="ko-KR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899547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장비 구성 요구사항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1421685"/>
                  </a:ext>
                </a:extLst>
              </a:tr>
              <a:tr h="238848">
                <a:tc rowSpan="2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기타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8496981"/>
                  </a:ext>
                </a:extLst>
              </a:tr>
              <a:tr h="238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7410412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319678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4882847"/>
                  </a:ext>
                </a:extLst>
              </a:tr>
              <a:tr h="238848">
                <a:tc rowSpan="2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217107"/>
                  </a:ext>
                </a:extLst>
              </a:tr>
              <a:tr h="238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2299899"/>
                  </a:ext>
                </a:extLst>
              </a:tr>
              <a:tr h="238848">
                <a:tc rowSpan="3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3918701"/>
                  </a:ext>
                </a:extLst>
              </a:tr>
              <a:tr h="2388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2816298"/>
                  </a:ext>
                </a:extLst>
              </a:tr>
              <a:tr h="238848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buNone/>
                      </a:pPr>
                      <a:endParaRPr lang="ko-KR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0" spc="0" dirty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10050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722865"/>
                  </a:ext>
                </a:extLst>
              </a:tr>
              <a:tr h="215830">
                <a:tc rowSpan="5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7363019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3295995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0938472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3216104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6897416"/>
                  </a:ext>
                </a:extLst>
              </a:tr>
              <a:tr h="23884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제약사항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935820"/>
                  </a:ext>
                </a:extLst>
              </a:tr>
              <a:tr h="215830">
                <a:tc rowSpan="13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프로젝트 관리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6116778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7610564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7786804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575543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8475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3659213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0869312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405688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3045662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7197672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9295354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3958372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0517366"/>
                  </a:ext>
                </a:extLst>
              </a:tr>
              <a:tr h="215830">
                <a:tc rowSpan="5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8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프로젝트 지원</a:t>
                      </a:r>
                    </a:p>
                  </a:txBody>
                  <a:tcPr marL="15211" marR="15211" marT="15211" marB="1521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5032494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0775481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4681474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9014735"/>
                  </a:ext>
                </a:extLst>
              </a:tr>
              <a:tr h="2158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800" kern="0" spc="0" dirty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5211" marR="15211" marT="15211" marB="1521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522027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4DC8926-ACD6-EA8A-8DE2-83D5D453BA15}"/>
              </a:ext>
            </a:extLst>
          </p:cNvPr>
          <p:cNvSpPr txBox="1"/>
          <p:nvPr/>
        </p:nvSpPr>
        <p:spPr>
          <a:xfrm>
            <a:off x="1403350" y="142102"/>
            <a:ext cx="39830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분석표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1527701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1ED316A1-3D0B-757D-AEF4-F34868C8FC6D}"/>
              </a:ext>
            </a:extLst>
          </p:cNvPr>
          <p:cNvSpPr txBox="1"/>
          <p:nvPr/>
        </p:nvSpPr>
        <p:spPr>
          <a:xfrm>
            <a:off x="963899" y="1892346"/>
            <a:ext cx="4179139" cy="43088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r>
              <a:rPr lang="en-US" altLang="ko-KR" sz="2800" b="1" spc="-68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70C0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rPr>
              <a:t>CONTENTS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923660C-AD3D-186F-0EF1-52BEE39D9A52}"/>
              </a:ext>
            </a:extLst>
          </p:cNvPr>
          <p:cNvSpPr txBox="1"/>
          <p:nvPr/>
        </p:nvSpPr>
        <p:spPr>
          <a:xfrm>
            <a:off x="1792637" y="2778782"/>
            <a:ext cx="3027013" cy="2769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1270" h="1270"/>
            </a:sp3d>
          </a:bodyPr>
          <a:lstStyle>
            <a:defPPr>
              <a:defRPr lang="ko-KR"/>
            </a:defPPr>
            <a:lvl1pPr algn="ctr">
              <a:defRPr sz="2000" spc="-100">
                <a:solidFill>
                  <a:srgbClr val="00FE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algn="l" defTabSz="487783"/>
            <a:r>
              <a:rPr lang="ko-KR" altLang="en-US" sz="1800" spc="-32">
                <a:solidFill>
                  <a:schemeClr val="tx1"/>
                </a:solidFill>
                <a:effectLst/>
                <a:latin typeface="KoPubWorld돋움체 Bold" panose="00000800000000000000" pitchFamily="2" charset="-127"/>
                <a:ea typeface="KoPubWorld돋움체 Bold" panose="00000800000000000000" pitchFamily="2" charset="-127"/>
              </a:rPr>
              <a:t>제안개요 및 전략</a:t>
            </a:r>
            <a:r>
              <a:rPr lang="en-US" altLang="ko-KR" sz="1800" spc="-32">
                <a:solidFill>
                  <a:schemeClr val="tx1"/>
                </a:solidFill>
                <a:effectLst/>
                <a:latin typeface="KoPubWorld돋움체 Bold" panose="00000800000000000000" pitchFamily="2" charset="-127"/>
                <a:ea typeface="KoPubWorld돋움체 Bold" panose="00000800000000000000" pitchFamily="2" charset="-127"/>
              </a:rPr>
              <a:t>, </a:t>
            </a:r>
            <a:r>
              <a:rPr lang="ko-KR" altLang="en-US" sz="1800" spc="-32">
                <a:solidFill>
                  <a:schemeClr val="tx1"/>
                </a:solidFill>
                <a:effectLst/>
                <a:latin typeface="KoPubWorld돋움체 Bold" panose="00000800000000000000" pitchFamily="2" charset="-127"/>
                <a:ea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973BF974-F27A-A26D-92AE-A3FDA5DBD9B9}"/>
              </a:ext>
            </a:extLst>
          </p:cNvPr>
          <p:cNvSpPr/>
          <p:nvPr/>
        </p:nvSpPr>
        <p:spPr>
          <a:xfrm>
            <a:off x="997744" y="2671265"/>
            <a:ext cx="463836" cy="463836"/>
          </a:xfrm>
          <a:prstGeom prst="ellips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10800000" scaled="0"/>
          </a:gra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바탕체 Light" panose="00000300000000000000" pitchFamily="2" charset="-127"/>
              <a:ea typeface="KoPubWorld바탕체 Light" panose="00000300000000000000" pitchFamily="2" charset="-127"/>
              <a:cs typeface="+mn-cs"/>
            </a:endParaRPr>
          </a:p>
        </p:txBody>
      </p: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AFF93279-6419-FEFA-DC07-59D0D037F171}"/>
              </a:ext>
            </a:extLst>
          </p:cNvPr>
          <p:cNvCxnSpPr>
            <a:cxnSpLocks/>
          </p:cNvCxnSpPr>
          <p:nvPr/>
        </p:nvCxnSpPr>
        <p:spPr>
          <a:xfrm>
            <a:off x="1457325" y="2893304"/>
            <a:ext cx="179070" cy="0"/>
          </a:xfrm>
          <a:prstGeom prst="straightConnector1">
            <a:avLst/>
          </a:prstGeom>
          <a:ln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5C71D9D8-E904-42CE-D557-CF9EB8160CF4}"/>
              </a:ext>
            </a:extLst>
          </p:cNvPr>
          <p:cNvSpPr txBox="1"/>
          <p:nvPr/>
        </p:nvSpPr>
        <p:spPr>
          <a:xfrm>
            <a:off x="1026096" y="2673089"/>
            <a:ext cx="4191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KoPub바탕체 Bold" panose="00000800000000000000" pitchFamily="2" charset="-127"/>
                <a:ea typeface="KoPub바탕체 Bold" panose="00000800000000000000" pitchFamily="2" charset="-127"/>
              </a:rPr>
              <a:t>Ⅰ</a:t>
            </a:r>
            <a:endParaRPr kumimoji="0" lang="ko-KR" altLang="en-US" sz="2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KoPub바탕체 Bold" panose="00000800000000000000" pitchFamily="2" charset="-127"/>
              <a:ea typeface="KoPub바탕체 Bold" panose="00000800000000000000" pitchFamily="2" charset="-127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706EACA4-2A8B-84E5-3AB9-081E6CC8A010}"/>
              </a:ext>
            </a:extLst>
          </p:cNvPr>
          <p:cNvCxnSpPr/>
          <p:nvPr/>
        </p:nvCxnSpPr>
        <p:spPr>
          <a:xfrm>
            <a:off x="1792637" y="3168946"/>
            <a:ext cx="2715863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53693798-066A-9293-D084-BAAB8EA5188D}"/>
              </a:ext>
            </a:extLst>
          </p:cNvPr>
          <p:cNvSpPr txBox="1"/>
          <p:nvPr/>
        </p:nvSpPr>
        <p:spPr>
          <a:xfrm>
            <a:off x="1792637" y="3474108"/>
            <a:ext cx="3770240" cy="2769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1270" h="1270"/>
            </a:sp3d>
          </a:bodyPr>
          <a:lstStyle>
            <a:defPPr>
              <a:defRPr lang="ko-KR"/>
            </a:defPPr>
            <a:lvl1pPr algn="ctr">
              <a:defRPr sz="2000" spc="-100">
                <a:solidFill>
                  <a:srgbClr val="00FE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algn="l" defTabSz="487783"/>
            <a:r>
              <a:rPr lang="ko-KR" altLang="en-US" sz="1800" spc="-32">
                <a:solidFill>
                  <a:schemeClr val="tx1"/>
                </a:solidFill>
                <a:effectLst/>
                <a:latin typeface="KoPubWorld돋움체 Bold" panose="00000800000000000000" pitchFamily="2" charset="-127"/>
                <a:ea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D5EDD0C4-26DC-D8BE-6716-8D1CCDC0ADA3}"/>
              </a:ext>
            </a:extLst>
          </p:cNvPr>
          <p:cNvSpPr/>
          <p:nvPr/>
        </p:nvSpPr>
        <p:spPr>
          <a:xfrm>
            <a:off x="997744" y="3366590"/>
            <a:ext cx="463836" cy="463836"/>
          </a:xfrm>
          <a:prstGeom prst="ellipse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바탕체 Light" panose="00000300000000000000" pitchFamily="2" charset="-127"/>
              <a:ea typeface="KoPubWorld바탕체 Light" panose="00000300000000000000" pitchFamily="2" charset="-127"/>
              <a:cs typeface="+mn-cs"/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6FAED54C-9A10-F27F-E106-F0FC6039A040}"/>
              </a:ext>
            </a:extLst>
          </p:cNvPr>
          <p:cNvCxnSpPr>
            <a:cxnSpLocks/>
          </p:cNvCxnSpPr>
          <p:nvPr/>
        </p:nvCxnSpPr>
        <p:spPr>
          <a:xfrm>
            <a:off x="1457325" y="3588629"/>
            <a:ext cx="179070" cy="0"/>
          </a:xfrm>
          <a:prstGeom prst="straightConnector1">
            <a:avLst/>
          </a:prstGeom>
          <a:ln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TextBox 75">
            <a:extLst>
              <a:ext uri="{FF2B5EF4-FFF2-40B4-BE49-F238E27FC236}">
                <a16:creationId xmlns:a16="http://schemas.microsoft.com/office/drawing/2014/main" id="{C90591A8-7332-1DC4-78C2-0B7B001988E0}"/>
              </a:ext>
            </a:extLst>
          </p:cNvPr>
          <p:cNvSpPr txBox="1"/>
          <p:nvPr/>
        </p:nvSpPr>
        <p:spPr>
          <a:xfrm>
            <a:off x="1026096" y="3368414"/>
            <a:ext cx="4191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KoPub바탕체 Bold" panose="00000800000000000000" pitchFamily="2" charset="-127"/>
                <a:ea typeface="KoPub바탕체 Bold" panose="00000800000000000000" pitchFamily="2" charset="-127"/>
              </a:rPr>
              <a:t>Ⅱ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3B5E297-2288-8F31-6B00-8F038C11F2FB}"/>
              </a:ext>
            </a:extLst>
          </p:cNvPr>
          <p:cNvCxnSpPr/>
          <p:nvPr/>
        </p:nvCxnSpPr>
        <p:spPr>
          <a:xfrm>
            <a:off x="1792637" y="3864271"/>
            <a:ext cx="2715863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48B50084-448C-E2CD-68FA-B3E32C48B9D2}"/>
              </a:ext>
            </a:extLst>
          </p:cNvPr>
          <p:cNvSpPr txBox="1"/>
          <p:nvPr/>
        </p:nvSpPr>
        <p:spPr>
          <a:xfrm>
            <a:off x="1792636" y="4169432"/>
            <a:ext cx="3447437" cy="2769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1270" h="1270"/>
            </a:sp3d>
          </a:bodyPr>
          <a:lstStyle>
            <a:defPPr>
              <a:defRPr lang="ko-KR"/>
            </a:defPPr>
            <a:lvl1pPr algn="ctr">
              <a:defRPr sz="2000" spc="-100">
                <a:solidFill>
                  <a:srgbClr val="00FE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algn="l" defTabSz="487783"/>
            <a:r>
              <a:rPr lang="ko-KR" altLang="en-US" sz="1800" spc="-32">
                <a:solidFill>
                  <a:schemeClr val="tx1"/>
                </a:solidFill>
                <a:effectLst/>
                <a:latin typeface="KoPubWorld돋움체 Bold" panose="00000800000000000000" pitchFamily="2" charset="-127"/>
                <a:ea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5751F4F5-E233-BD0D-3542-C3386951C7AD}"/>
              </a:ext>
            </a:extLst>
          </p:cNvPr>
          <p:cNvSpPr/>
          <p:nvPr/>
        </p:nvSpPr>
        <p:spPr>
          <a:xfrm>
            <a:off x="997744" y="4061915"/>
            <a:ext cx="463836" cy="463836"/>
          </a:xfrm>
          <a:prstGeom prst="ellips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10800000" scaled="0"/>
          </a:gra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바탕체 Light" panose="00000300000000000000" pitchFamily="2" charset="-127"/>
              <a:ea typeface="KoPubWorld바탕체 Light" panose="00000300000000000000" pitchFamily="2" charset="-127"/>
              <a:cs typeface="+mn-cs"/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4CF6795F-A777-9D0D-F3FA-9EDD11EC0EA4}"/>
              </a:ext>
            </a:extLst>
          </p:cNvPr>
          <p:cNvCxnSpPr>
            <a:cxnSpLocks/>
          </p:cNvCxnSpPr>
          <p:nvPr/>
        </p:nvCxnSpPr>
        <p:spPr>
          <a:xfrm>
            <a:off x="1457325" y="4283954"/>
            <a:ext cx="179070" cy="0"/>
          </a:xfrm>
          <a:prstGeom prst="straightConnector1">
            <a:avLst/>
          </a:prstGeom>
          <a:ln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2A4BE77F-3073-3E39-3D0F-0DEEC206ED06}"/>
              </a:ext>
            </a:extLst>
          </p:cNvPr>
          <p:cNvSpPr txBox="1"/>
          <p:nvPr/>
        </p:nvSpPr>
        <p:spPr>
          <a:xfrm>
            <a:off x="1026096" y="4063739"/>
            <a:ext cx="4191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KoPub바탕체 Bold" panose="00000800000000000000" pitchFamily="2" charset="-127"/>
                <a:ea typeface="KoPub바탕체 Bold" panose="00000800000000000000" pitchFamily="2" charset="-127"/>
              </a:rPr>
              <a:t>Ⅲ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F6FDEE6D-B42F-F795-0B4E-114057AA25CC}"/>
              </a:ext>
            </a:extLst>
          </p:cNvPr>
          <p:cNvCxnSpPr/>
          <p:nvPr/>
        </p:nvCxnSpPr>
        <p:spPr>
          <a:xfrm>
            <a:off x="1792637" y="4559596"/>
            <a:ext cx="2715863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E4B42F4F-8164-4774-BB4F-D80CAFE3CF22}"/>
              </a:ext>
            </a:extLst>
          </p:cNvPr>
          <p:cNvSpPr txBox="1"/>
          <p:nvPr/>
        </p:nvSpPr>
        <p:spPr>
          <a:xfrm>
            <a:off x="1792637" y="4864757"/>
            <a:ext cx="3027013" cy="2769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1270" h="1270"/>
            </a:sp3d>
          </a:bodyPr>
          <a:lstStyle>
            <a:defPPr>
              <a:defRPr lang="ko-KR"/>
            </a:defPPr>
            <a:lvl1pPr algn="ctr">
              <a:defRPr sz="2000" spc="-100">
                <a:solidFill>
                  <a:srgbClr val="00FE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algn="l" defTabSz="487783"/>
            <a:r>
              <a:rPr lang="ko-KR" altLang="en-US" sz="1800" spc="-32">
                <a:solidFill>
                  <a:schemeClr val="tx1"/>
                </a:solidFill>
                <a:effectLst/>
                <a:latin typeface="KoPubWorld돋움체 Bold" panose="00000800000000000000" pitchFamily="2" charset="-127"/>
                <a:ea typeface="KoPubWorld돋움체 Bold" panose="00000800000000000000" pitchFamily="2" charset="-127"/>
              </a:rPr>
              <a:t>기타</a:t>
            </a: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A4497247-C59A-73CB-36FB-F07E3EE7DF66}"/>
              </a:ext>
            </a:extLst>
          </p:cNvPr>
          <p:cNvSpPr/>
          <p:nvPr/>
        </p:nvSpPr>
        <p:spPr>
          <a:xfrm>
            <a:off x="997744" y="4757240"/>
            <a:ext cx="463836" cy="463836"/>
          </a:xfrm>
          <a:prstGeom prst="ellipse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바탕체 Light" panose="00000300000000000000" pitchFamily="2" charset="-127"/>
              <a:ea typeface="KoPubWorld바탕체 Light" panose="00000300000000000000" pitchFamily="2" charset="-127"/>
              <a:cs typeface="+mn-cs"/>
            </a:endParaRP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59F4C191-F10E-7536-853B-588BAB97CF60}"/>
              </a:ext>
            </a:extLst>
          </p:cNvPr>
          <p:cNvCxnSpPr>
            <a:cxnSpLocks/>
          </p:cNvCxnSpPr>
          <p:nvPr/>
        </p:nvCxnSpPr>
        <p:spPr>
          <a:xfrm>
            <a:off x="1457325" y="4979279"/>
            <a:ext cx="179070" cy="0"/>
          </a:xfrm>
          <a:prstGeom prst="straightConnector1">
            <a:avLst/>
          </a:prstGeom>
          <a:ln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4CC00223-1AE3-2EC8-F628-9F898A2F5201}"/>
              </a:ext>
            </a:extLst>
          </p:cNvPr>
          <p:cNvSpPr txBox="1"/>
          <p:nvPr/>
        </p:nvSpPr>
        <p:spPr>
          <a:xfrm>
            <a:off x="1026096" y="4759064"/>
            <a:ext cx="4191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8778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KoPub바탕체 Bold" panose="00000800000000000000" pitchFamily="2" charset="-127"/>
                <a:ea typeface="KoPub바탕체 Bold" panose="00000800000000000000" pitchFamily="2" charset="-127"/>
              </a:rPr>
              <a:t>Ⅳ</a:t>
            </a: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21FE6CDF-2A2A-5231-EEFB-8F64CAB4AC21}"/>
              </a:ext>
            </a:extLst>
          </p:cNvPr>
          <p:cNvCxnSpPr/>
          <p:nvPr/>
        </p:nvCxnSpPr>
        <p:spPr>
          <a:xfrm>
            <a:off x="1792637" y="5195394"/>
            <a:ext cx="2715863" cy="0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7660038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DF5FEDB-ABA7-CD11-C7AD-E40BDE3B293E}"/>
              </a:ext>
            </a:extLst>
          </p:cNvPr>
          <p:cNvSpPr txBox="1"/>
          <p:nvPr/>
        </p:nvSpPr>
        <p:spPr>
          <a:xfrm>
            <a:off x="1416060" y="1498812"/>
            <a:ext cx="51269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제안개요 및 전략</a:t>
            </a:r>
            <a:r>
              <a:rPr lang="en-US" altLang="ko-KR" sz="36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, </a:t>
            </a:r>
            <a:r>
              <a:rPr lang="ko-KR" altLang="en-US" sz="36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방법론</a:t>
            </a:r>
          </a:p>
        </p:txBody>
      </p:sp>
      <p:sp>
        <p:nvSpPr>
          <p:cNvPr id="6" name="TextBox 17">
            <a:extLst>
              <a:ext uri="{FF2B5EF4-FFF2-40B4-BE49-F238E27FC236}">
                <a16:creationId xmlns:a16="http://schemas.microsoft.com/office/drawing/2014/main" id="{1D84C8F8-5169-F371-3701-8467EC5A1DB8}"/>
              </a:ext>
            </a:extLst>
          </p:cNvPr>
          <p:cNvSpPr txBox="1"/>
          <p:nvPr/>
        </p:nvSpPr>
        <p:spPr>
          <a:xfrm>
            <a:off x="315018" y="1209008"/>
            <a:ext cx="1101042" cy="1142350"/>
          </a:xfrm>
          <a:prstGeom prst="rect">
            <a:avLst/>
          </a:prstGeom>
          <a:noFill/>
          <a:effectLst/>
        </p:spPr>
        <p:txBody>
          <a:bodyPr wrap="none" lIns="34022" tIns="17011" rIns="34022" bIns="17011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1" defTabSz="208696" latinLnBrk="0">
              <a:defRPr/>
            </a:pPr>
            <a:r>
              <a:rPr kumimoji="1" lang="en-US" altLang="ko-KR" sz="7200" b="1">
                <a:ln>
                  <a:solidFill>
                    <a:srgbClr val="4FD1FF">
                      <a:alpha val="0"/>
                    </a:srgbClr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ldhabi" panose="01000000000000000000" pitchFamily="2" charset="-78"/>
                <a:ea typeface="KoPubWorld바탕체 Bold" panose="00000800000000000000" pitchFamily="2" charset="-127"/>
                <a:cs typeface="Aldhabi" panose="01000000000000000000" pitchFamily="2" charset="-78"/>
              </a:rPr>
              <a:t>Ⅰ.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4E0BB873-3323-D7E3-9919-67D51240FAB2}"/>
              </a:ext>
            </a:extLst>
          </p:cNvPr>
          <p:cNvCxnSpPr>
            <a:cxnSpLocks/>
          </p:cNvCxnSpPr>
          <p:nvPr/>
        </p:nvCxnSpPr>
        <p:spPr>
          <a:xfrm>
            <a:off x="713137" y="2472264"/>
            <a:ext cx="3528663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CA023684-4D4D-73A4-B973-1E990C2DFFB4}"/>
              </a:ext>
            </a:extLst>
          </p:cNvPr>
          <p:cNvSpPr txBox="1"/>
          <p:nvPr/>
        </p:nvSpPr>
        <p:spPr>
          <a:xfrm>
            <a:off x="713137" y="2517722"/>
            <a:ext cx="4913749" cy="37087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제안배경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전략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제안의 특징 및 장점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수행 조직 및 인원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관련 보유 기술 및 주요 사업실적</a:t>
            </a:r>
            <a:endParaRPr lang="en-US" altLang="ko-KR" sz="2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제안요청 요건 수용</a:t>
            </a:r>
          </a:p>
        </p:txBody>
      </p:sp>
    </p:spTree>
    <p:extLst>
      <p:ext uri="{BB962C8B-B14F-4D97-AF65-F5344CB8AC3E}">
        <p14:creationId xmlns:p14="http://schemas.microsoft.com/office/powerpoint/2010/main" val="76861957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9F520BA-26D9-1D94-37C1-390B16677E0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0F69D74-9EAF-CEEE-AF7B-E2FF8AD04DB7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0C64E1C-7DCB-6DC9-8F48-316B5313706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1.1.1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추진배경 및 필요성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2CE8A46-6233-C6A4-2BE2-039EC8621B5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배경 및 목적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E032AD2-3F32-1F05-D1B6-C16ED22DC29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2C99469-ED07-BACE-4043-A14BE6A98A7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F6B35FA-FE50-D5C3-04C6-2FEB2ED9830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95336257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84D79F-87D2-5B6D-5F24-8EC2774921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925A129-8AEC-8789-04A2-05269FDB551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13B1A02-3986-6835-92CC-CB20EB66A28B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BE8DA28-E6D6-3CC6-2166-07AFC4CCFD3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사업 개요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BC86037-ED48-CB5F-0A27-FDBAE84FA67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배경 및 목적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3681B9-F18D-B3E6-768F-A44F499DF28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0123EFD-02A3-00EC-B1BF-70432BB1C81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E2E4AFE-4AFA-694A-2295-B4BD789B7E1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5722520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F807C9-5B06-9022-F523-269561F5A5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F4B55DE3-F716-8765-A980-EBB206D2F15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9EBDF02-0588-C8BA-D708-19DC1C9A62E8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6A045D8-6053-7C3E-E746-C1B43502DE7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1.1.3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확보 경로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912CA9C-3834-F6D5-40F3-511C0CA3036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배경 및 목적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D4AF786-896A-E000-D538-F290A0D529F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D67D849-D4DA-FE61-090A-CED23CADE54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0111D36-A827-C0E7-BE64-0BD012654DB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42050279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5561-6AC9-6941-8EFF-B7139F70D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94BE1132-8070-FFA2-37E1-D8FEA9F820E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751F064-CF25-62F8-D0AB-D7260DB29FD5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0C75F8E-867E-CA17-AD2A-5AE8ECED49B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1.2.1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사업 범위 및 대상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F88247E-CA67-0473-4B87-BDB9622AD6B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범위 및 대상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FAD451D-D218-C563-4246-F8374FBC092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A3A2E8D-FFF4-36BE-54FE-F20844D3EA7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A861E8F-E086-09A1-A509-554C1A31E3F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60705858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1A866-1E67-6471-C710-FF4DEE4216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6B925E1E-FD0C-1D01-DC93-4A883AC4B7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101E695-5CA0-DD52-2CB1-FF34368DAB45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9198753-1970-5E79-A531-6934F08ADF4E}"/>
              </a:ext>
            </a:extLst>
          </p:cNvPr>
          <p:cNvSpPr/>
          <p:nvPr/>
        </p:nvSpPr>
        <p:spPr bwMode="auto">
          <a:xfrm>
            <a:off x="588602" y="1003442"/>
            <a:ext cx="461204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1.3.1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부처별 데이터 전수조사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·NIA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리사이클 사업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7F6782C-2549-C32A-9479-7271B4B48C2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유사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연계 사업 현황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008609F-5AD6-20CA-9010-9376CB79788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B749A2F-FB8D-5F95-1350-D3BB118DEA8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093C088-D4C3-A542-7D64-1D91E581D95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25413239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F749A2-5732-1132-9749-A33D02F9CE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484AEC38-55DC-F2A1-E94D-5F10F5DF194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9DDB208-F921-31B0-A99E-DAEE9B9653A7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A4EF942-9C4B-8154-A44A-0A66D089400D}"/>
              </a:ext>
            </a:extLst>
          </p:cNvPr>
          <p:cNvSpPr/>
          <p:nvPr/>
        </p:nvSpPr>
        <p:spPr bwMode="auto">
          <a:xfrm>
            <a:off x="588602" y="1003442"/>
            <a:ext cx="461204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1.3.2 AI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학습용데이터 통합 거버넌스 체계 지원사업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8DCF6DB-3DE4-A663-9027-2DF6324CA3E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유사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연계 사업 현황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05F824E-06AD-7F5F-65A7-296F8564D51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691547A-0DBB-57CF-64B4-A87E09674FE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59591AD-C7F5-6D58-19FE-956FCDC186E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81660741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507EA-9626-B3DA-6801-D023F6E7C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FBD43E2-9BCD-F8BF-E55A-FA7EAAB6E8B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C5A8E18-2A17-82D1-CF5F-8D48C6B7B036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813B502-5B8A-C7B6-708B-63267F174CAC}"/>
              </a:ext>
            </a:extLst>
          </p:cNvPr>
          <p:cNvSpPr/>
          <p:nvPr/>
        </p:nvSpPr>
        <p:spPr bwMode="auto">
          <a:xfrm>
            <a:off x="588602" y="1003442"/>
            <a:ext cx="461204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1.3.3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클라우드 인프라 별도 구축사업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910E901-C5EA-26B3-869D-5F9537D4AA1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유사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연계 사업 현황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7A5DCDE-14F2-E676-3E41-19F9A67C98D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35658B7-1C3D-19F9-1225-8589B0EB42F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86487DA-6C2C-731A-FB4F-3E63D97BA64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46400829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01005-8A0E-295C-1454-6AB8CD12B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B178E1C8-C1A9-0067-F8B6-9DFB7BFAF98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/>
              <a:t>제안배경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79829E6-B99A-ED21-9058-7D5B960925A5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F31B49B-002B-22E3-4A1C-DFC4A7C08383}"/>
              </a:ext>
            </a:extLst>
          </p:cNvPr>
          <p:cNvSpPr/>
          <p:nvPr/>
        </p:nvSpPr>
        <p:spPr bwMode="auto">
          <a:xfrm>
            <a:off x="588602" y="1003442"/>
            <a:ext cx="461204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1.3.4 One-Window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사업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,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저작권위원회 권리정보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DB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연계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2E5596A-C629-31EC-C7CC-454FCE6742A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유사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연계 사업 현황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ECA9FB4-90FE-60A3-4CDA-0F71D9ECF48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47DA841-02A0-819A-6C02-B0118192986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D525255-19FA-2B07-E523-A0EE34EC1B7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67667894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F1FDB-62EA-2A71-460C-8CA650FFE2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2B06975-6ABE-1570-930E-8F964710756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E3B7846-B346-A42D-4976-94B6A73A21BE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8D4CBA-7A0C-AEB5-F0B4-39A432869ABB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2.1.1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사업 추진 프로세스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7C6D6A3-B494-E80B-E45F-45295DFBFF5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추진전략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42BB9422-8342-A62E-E227-9C7C0D109D7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 분석을 통해 목표모델을 수립하여 데이터 품질 개선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개방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및 포털 연계를 수행하고 데이터 성과 관리 체계 수립 후 실제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SW/HW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도입을 통해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‘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신재생에너지 및 복합발전 운전 데이터 제공 서비스를 구현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’</a:t>
            </a:r>
            <a:endParaRPr kumimoji="1" lang="ko-KR" altLang="en-US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7A04153-7C94-B5CF-C65F-E1490691F977}"/>
              </a:ext>
            </a:extLst>
          </p:cNvPr>
          <p:cNvSpPr/>
          <p:nvPr/>
        </p:nvSpPr>
        <p:spPr>
          <a:xfrm>
            <a:off x="5614752" y="2758382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목표모델</a:t>
            </a:r>
            <a:r>
              <a:rPr lang="en-US" altLang="ko-KR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설계</a:t>
            </a:r>
            <a:endParaRPr lang="ko-KR" altLang="en-US" sz="120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C0000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6876C5C3-7D82-8752-C406-AF5492453E2B}"/>
              </a:ext>
            </a:extLst>
          </p:cNvPr>
          <p:cNvCxnSpPr>
            <a:cxnSpLocks/>
          </p:cNvCxnSpPr>
          <p:nvPr/>
        </p:nvCxnSpPr>
        <p:spPr>
          <a:xfrm>
            <a:off x="312925" y="22956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F251EDB7-0F14-7CCF-8FED-E5C451D9D812}"/>
              </a:ext>
            </a:extLst>
          </p:cNvPr>
          <p:cNvSpPr txBox="1"/>
          <p:nvPr/>
        </p:nvSpPr>
        <p:spPr>
          <a:xfrm>
            <a:off x="335011" y="22695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ko-KR" altLang="en-US" sz="11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추진 프로세스</a:t>
            </a:r>
            <a:endParaRPr lang="en-US" altLang="ko-KR" sz="11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95BCBB0-730C-3137-7042-A5024F346EC9}"/>
              </a:ext>
            </a:extLst>
          </p:cNvPr>
          <p:cNvSpPr/>
          <p:nvPr/>
        </p:nvSpPr>
        <p:spPr>
          <a:xfrm>
            <a:off x="358877" y="2676950"/>
            <a:ext cx="5152923" cy="1053277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327CF98A-0E77-EA6E-5F93-6A5A4E5B2E0A}"/>
              </a:ext>
            </a:extLst>
          </p:cNvPr>
          <p:cNvCxnSpPr>
            <a:cxnSpLocks/>
          </p:cNvCxnSpPr>
          <p:nvPr/>
        </p:nvCxnSpPr>
        <p:spPr>
          <a:xfrm>
            <a:off x="1203423" y="2773992"/>
            <a:ext cx="0" cy="864137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73F1E6D5-965D-867E-1D75-09635A5FA604}"/>
              </a:ext>
            </a:extLst>
          </p:cNvPr>
          <p:cNvSpPr txBox="1"/>
          <p:nvPr/>
        </p:nvSpPr>
        <p:spPr>
          <a:xfrm flipH="1">
            <a:off x="353868" y="2759835"/>
            <a:ext cx="85314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M1. 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현황분석 및 목표모델 정의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815A4188-3785-6E93-4E4A-5797EA0A8277}"/>
              </a:ext>
            </a:extLst>
          </p:cNvPr>
          <p:cNvGrpSpPr/>
          <p:nvPr/>
        </p:nvGrpSpPr>
        <p:grpSpPr>
          <a:xfrm>
            <a:off x="1343331" y="2781666"/>
            <a:ext cx="4091475" cy="849065"/>
            <a:chOff x="1536223" y="3117794"/>
            <a:chExt cx="3959701" cy="849065"/>
          </a:xfrm>
        </p:grpSpPr>
        <p:sp>
          <p:nvSpPr>
            <p:cNvPr id="16" name="사각형: 둥근 모서리 15">
              <a:extLst>
                <a:ext uri="{FF2B5EF4-FFF2-40B4-BE49-F238E27FC236}">
                  <a16:creationId xmlns:a16="http://schemas.microsoft.com/office/drawing/2014/main" id="{DB56B154-AB25-431E-B336-45A420CDA83A}"/>
                </a:ext>
              </a:extLst>
            </p:cNvPr>
            <p:cNvSpPr/>
            <p:nvPr/>
          </p:nvSpPr>
          <p:spPr>
            <a:xfrm>
              <a:off x="1536224" y="3117794"/>
              <a:ext cx="189277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대내외 환경분석</a:t>
              </a:r>
            </a:p>
          </p:txBody>
        </p:sp>
        <p:sp>
          <p:nvSpPr>
            <p:cNvPr id="17" name="사각형: 둥근 모서리 16">
              <a:extLst>
                <a:ext uri="{FF2B5EF4-FFF2-40B4-BE49-F238E27FC236}">
                  <a16:creationId xmlns:a16="http://schemas.microsoft.com/office/drawing/2014/main" id="{75AE6DD2-0E3F-E64C-DB86-7D1289BA2CBC}"/>
                </a:ext>
              </a:extLst>
            </p:cNvPr>
            <p:cNvSpPr/>
            <p:nvPr/>
          </p:nvSpPr>
          <p:spPr>
            <a:xfrm>
              <a:off x="3603149" y="3117794"/>
              <a:ext cx="189277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수요분석 및 요구사항 정의</a:t>
              </a:r>
            </a:p>
          </p:txBody>
        </p:sp>
        <p:sp>
          <p:nvSpPr>
            <p:cNvPr id="18" name="사각형: 둥근 모서리 17">
              <a:extLst>
                <a:ext uri="{FF2B5EF4-FFF2-40B4-BE49-F238E27FC236}">
                  <a16:creationId xmlns:a16="http://schemas.microsoft.com/office/drawing/2014/main" id="{DBD48C55-749C-C1F9-4A78-1B13AA773692}"/>
                </a:ext>
              </a:extLst>
            </p:cNvPr>
            <p:cNvSpPr/>
            <p:nvPr/>
          </p:nvSpPr>
          <p:spPr>
            <a:xfrm>
              <a:off x="1536223" y="3714752"/>
              <a:ext cx="3959700" cy="252107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목표모델 정의 및 표준 설계</a:t>
              </a:r>
            </a:p>
          </p:txBody>
        </p:sp>
      </p:grpSp>
      <p:sp>
        <p:nvSpPr>
          <p:cNvPr id="19" name="이등변 삼각형 18">
            <a:extLst>
              <a:ext uri="{FF2B5EF4-FFF2-40B4-BE49-F238E27FC236}">
                <a16:creationId xmlns:a16="http://schemas.microsoft.com/office/drawing/2014/main" id="{50945871-DFDF-D61B-F6CD-AE7A1F2DFAB2}"/>
              </a:ext>
            </a:extLst>
          </p:cNvPr>
          <p:cNvSpPr/>
          <p:nvPr/>
        </p:nvSpPr>
        <p:spPr>
          <a:xfrm rot="10800000">
            <a:off x="2368086" y="3206082"/>
            <a:ext cx="2041963" cy="125232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7424E5D-7AAF-F3E5-CF62-1F715942AAA2}"/>
              </a:ext>
            </a:extLst>
          </p:cNvPr>
          <p:cNvSpPr/>
          <p:nvPr/>
        </p:nvSpPr>
        <p:spPr>
          <a:xfrm>
            <a:off x="358877" y="3817306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01B9718C-B4B4-F344-4C50-1038061C1C5B}"/>
              </a:ext>
            </a:extLst>
          </p:cNvPr>
          <p:cNvCxnSpPr>
            <a:cxnSpLocks/>
          </p:cNvCxnSpPr>
          <p:nvPr/>
        </p:nvCxnSpPr>
        <p:spPr>
          <a:xfrm>
            <a:off x="1203423" y="3914347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046C0D69-7CB6-F542-5A4A-EB1BD0624DAF}"/>
              </a:ext>
            </a:extLst>
          </p:cNvPr>
          <p:cNvSpPr txBox="1"/>
          <p:nvPr/>
        </p:nvSpPr>
        <p:spPr>
          <a:xfrm flipH="1">
            <a:off x="353868" y="3940816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M2. </a:t>
            </a:r>
            <a:b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품질 진단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1F8BEA79-9227-0612-3148-687A014EE122}"/>
              </a:ext>
            </a:extLst>
          </p:cNvPr>
          <p:cNvSpPr/>
          <p:nvPr/>
        </p:nvSpPr>
        <p:spPr>
          <a:xfrm>
            <a:off x="1343332" y="3896621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품질진단 계획 수립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68FFEEAD-33F4-08CF-E89E-7379B416400F}"/>
              </a:ext>
            </a:extLst>
          </p:cNvPr>
          <p:cNvSpPr/>
          <p:nvPr/>
        </p:nvSpPr>
        <p:spPr>
          <a:xfrm>
            <a:off x="3479041" y="3896621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진단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47D93D5-EC96-07E6-C06F-A4947C13D97C}"/>
              </a:ext>
            </a:extLst>
          </p:cNvPr>
          <p:cNvSpPr/>
          <p:nvPr/>
        </p:nvSpPr>
        <p:spPr>
          <a:xfrm>
            <a:off x="1343332" y="4347979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개선계획 수립 및 품질 개선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6024207D-4F1C-10F1-8C2A-D03A569804F5}"/>
              </a:ext>
            </a:extLst>
          </p:cNvPr>
          <p:cNvSpPr/>
          <p:nvPr/>
        </p:nvSpPr>
        <p:spPr>
          <a:xfrm>
            <a:off x="3479041" y="4347979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지속 품질관리 체계 수립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A4E6379-7E52-5BD9-D943-F825AEAA6942}"/>
              </a:ext>
            </a:extLst>
          </p:cNvPr>
          <p:cNvSpPr/>
          <p:nvPr/>
        </p:nvSpPr>
        <p:spPr>
          <a:xfrm>
            <a:off x="358877" y="6009359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9A0A6741-58F1-415F-750C-E4091046ABDF}"/>
              </a:ext>
            </a:extLst>
          </p:cNvPr>
          <p:cNvCxnSpPr>
            <a:cxnSpLocks/>
          </p:cNvCxnSpPr>
          <p:nvPr/>
        </p:nvCxnSpPr>
        <p:spPr>
          <a:xfrm>
            <a:off x="1203423" y="6106400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9B84EE8F-2476-787B-CA6E-A1F92E109154}"/>
              </a:ext>
            </a:extLst>
          </p:cNvPr>
          <p:cNvSpPr txBox="1"/>
          <p:nvPr/>
        </p:nvSpPr>
        <p:spPr>
          <a:xfrm flipH="1">
            <a:off x="353868" y="6132869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M4. </a:t>
            </a:r>
            <a:b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11C5DCCA-ADDA-536E-BF35-C29685B5AA5F}"/>
              </a:ext>
            </a:extLst>
          </p:cNvPr>
          <p:cNvSpPr/>
          <p:nvPr/>
        </p:nvSpPr>
        <p:spPr>
          <a:xfrm>
            <a:off x="1343332" y="608867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시스템 분석 및 오픈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EE1C9EDA-19AB-E300-91CB-405BB7C92517}"/>
              </a:ext>
            </a:extLst>
          </p:cNvPr>
          <p:cNvSpPr/>
          <p:nvPr/>
        </p:nvSpPr>
        <p:spPr>
          <a:xfrm>
            <a:off x="3479041" y="608867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및 테스트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2635AAEC-CCCD-73D3-7DD2-CF3696E93C7E}"/>
              </a:ext>
            </a:extLst>
          </p:cNvPr>
          <p:cNvSpPr/>
          <p:nvPr/>
        </p:nvSpPr>
        <p:spPr>
          <a:xfrm>
            <a:off x="1343332" y="6540032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관리도구 및 </a:t>
            </a:r>
            <a:b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1000" b="0" i="0" u="none" strike="noStrike" kern="1200" cap="none" spc="0" normalizeH="0" baseline="0" noProof="0" err="1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공공데이터포털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연계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628D220A-CA38-27A9-75A0-C94921D6CED7}"/>
              </a:ext>
            </a:extLst>
          </p:cNvPr>
          <p:cNvSpPr/>
          <p:nvPr/>
        </p:nvSpPr>
        <p:spPr>
          <a:xfrm>
            <a:off x="3479041" y="6540032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MCP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서버 및 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활용사례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E33A47-B517-BB88-5F5B-BDCBEC23EC41}"/>
              </a:ext>
            </a:extLst>
          </p:cNvPr>
          <p:cNvSpPr/>
          <p:nvPr/>
        </p:nvSpPr>
        <p:spPr>
          <a:xfrm>
            <a:off x="358877" y="7078162"/>
            <a:ext cx="5152923" cy="698688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D2DF8B7-9005-196A-C7BA-47FB51DAB598}"/>
              </a:ext>
            </a:extLst>
          </p:cNvPr>
          <p:cNvCxnSpPr>
            <a:cxnSpLocks/>
          </p:cNvCxnSpPr>
          <p:nvPr/>
        </p:nvCxnSpPr>
        <p:spPr>
          <a:xfrm>
            <a:off x="1203423" y="7175203"/>
            <a:ext cx="0" cy="504328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473BEA96-542A-8BF5-A4E7-92C9C13131D0}"/>
              </a:ext>
            </a:extLst>
          </p:cNvPr>
          <p:cNvSpPr txBox="1"/>
          <p:nvPr/>
        </p:nvSpPr>
        <p:spPr>
          <a:xfrm flipH="1">
            <a:off x="353868" y="7075119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M5. </a:t>
            </a:r>
            <a:b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성과계획 및 활용방안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BC2C2C-5317-3730-AD8A-D47F9719D740}"/>
              </a:ext>
            </a:extLst>
          </p:cNvPr>
          <p:cNvSpPr/>
          <p:nvPr/>
        </p:nvSpPr>
        <p:spPr>
          <a:xfrm>
            <a:off x="1343332" y="724075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성과계획 수립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787EDE0-35D0-D6F1-D85C-C1B4150D10DD}"/>
              </a:ext>
            </a:extLst>
          </p:cNvPr>
          <p:cNvSpPr/>
          <p:nvPr/>
        </p:nvSpPr>
        <p:spPr>
          <a:xfrm>
            <a:off x="3479041" y="724075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민간 활용 및 서비스 지원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F8D8084-FAA0-AB97-57B4-94C2C761C2D8}"/>
              </a:ext>
            </a:extLst>
          </p:cNvPr>
          <p:cNvSpPr/>
          <p:nvPr/>
        </p:nvSpPr>
        <p:spPr>
          <a:xfrm>
            <a:off x="358877" y="7876934"/>
            <a:ext cx="5152923" cy="990841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80D1791D-03A4-5803-2938-077983C70FD3}"/>
              </a:ext>
            </a:extLst>
          </p:cNvPr>
          <p:cNvCxnSpPr>
            <a:cxnSpLocks/>
          </p:cNvCxnSpPr>
          <p:nvPr/>
        </p:nvCxnSpPr>
        <p:spPr>
          <a:xfrm>
            <a:off x="1203423" y="7973975"/>
            <a:ext cx="0" cy="801899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F3D5062-74E9-FC4F-90A2-66509B7AA64A}"/>
              </a:ext>
            </a:extLst>
          </p:cNvPr>
          <p:cNvSpPr txBox="1"/>
          <p:nvPr/>
        </p:nvSpPr>
        <p:spPr>
          <a:xfrm flipH="1">
            <a:off x="353868" y="8021488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M6. </a:t>
            </a:r>
            <a:b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장비 구성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5EB1CF71-B761-FC5E-4055-93AAD14923A3}"/>
              </a:ext>
            </a:extLst>
          </p:cNvPr>
          <p:cNvSpPr/>
          <p:nvPr/>
        </p:nvSpPr>
        <p:spPr>
          <a:xfrm>
            <a:off x="1343332" y="796927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아키텍처 및 인프라 구성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A000D869-8059-2C33-C9D1-E527728F62DC}"/>
              </a:ext>
            </a:extLst>
          </p:cNvPr>
          <p:cNvSpPr/>
          <p:nvPr/>
        </p:nvSpPr>
        <p:spPr>
          <a:xfrm>
            <a:off x="3479041" y="796927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SW·HW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도입 및 설치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4E73845-96F6-8AB6-DB6B-FCDC578F6D91}"/>
              </a:ext>
            </a:extLst>
          </p:cNvPr>
          <p:cNvSpPr/>
          <p:nvPr/>
        </p:nvSpPr>
        <p:spPr>
          <a:xfrm>
            <a:off x="1343332" y="8473462"/>
            <a:ext cx="4091471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테스트 및 성능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인터페이스 검증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D7F16E1E-B90B-609C-4426-D84609538D4F}"/>
              </a:ext>
            </a:extLst>
          </p:cNvPr>
          <p:cNvSpPr/>
          <p:nvPr/>
        </p:nvSpPr>
        <p:spPr>
          <a:xfrm>
            <a:off x="5614752" y="3860729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표준화 </a:t>
            </a: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및 관리 체계</a:t>
            </a:r>
            <a:endParaRPr lang="ko-KR" altLang="en-US" sz="120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C0000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2567208A-2AE8-CAAE-3F03-A71952F0D90C}"/>
              </a:ext>
            </a:extLst>
          </p:cNvPr>
          <p:cNvSpPr/>
          <p:nvPr/>
        </p:nvSpPr>
        <p:spPr>
          <a:xfrm>
            <a:off x="5614752" y="6059189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및 </a:t>
            </a:r>
            <a:br>
              <a:rPr lang="en-US" altLang="ko-KR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MCP </a:t>
            </a: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서버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1486E6F-F556-04BB-5F35-BEF09F1B4276}"/>
              </a:ext>
            </a:extLst>
          </p:cNvPr>
          <p:cNvSpPr/>
          <p:nvPr/>
        </p:nvSpPr>
        <p:spPr>
          <a:xfrm>
            <a:off x="5614752" y="7089527"/>
            <a:ext cx="995758" cy="687323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성과관리 계획</a:t>
            </a:r>
            <a:endParaRPr lang="ko-KR" altLang="en-US" sz="120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C0000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CDE2DE8-2C11-164C-6D13-2ED4D40B8895}"/>
              </a:ext>
            </a:extLst>
          </p:cNvPr>
          <p:cNvSpPr/>
          <p:nvPr/>
        </p:nvSpPr>
        <p:spPr>
          <a:xfrm>
            <a:off x="5614752" y="7932479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시스템 구축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C603761-FC74-E4C6-E656-77DCA3F55F9F}"/>
              </a:ext>
            </a:extLst>
          </p:cNvPr>
          <p:cNvSpPr/>
          <p:nvPr/>
        </p:nvSpPr>
        <p:spPr>
          <a:xfrm>
            <a:off x="358877" y="4906507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711ACC02-997E-8528-93F9-22A69E94BE85}"/>
              </a:ext>
            </a:extLst>
          </p:cNvPr>
          <p:cNvCxnSpPr>
            <a:cxnSpLocks/>
          </p:cNvCxnSpPr>
          <p:nvPr/>
        </p:nvCxnSpPr>
        <p:spPr>
          <a:xfrm>
            <a:off x="1203423" y="5003548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FDE23C70-B848-4B76-EAC2-42F4D7D0CAAC}"/>
              </a:ext>
            </a:extLst>
          </p:cNvPr>
          <p:cNvSpPr txBox="1"/>
          <p:nvPr/>
        </p:nvSpPr>
        <p:spPr>
          <a:xfrm flipH="1">
            <a:off x="353868" y="5055398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M3. 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4C8BF88-80CA-21D6-D233-81BD53F13EC4}"/>
              </a:ext>
            </a:extLst>
          </p:cNvPr>
          <p:cNvSpPr/>
          <p:nvPr/>
        </p:nvSpPr>
        <p:spPr>
          <a:xfrm>
            <a:off x="1343332" y="4985822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 및 설계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ED80766-7EF2-2882-7504-EB4478FCF7F1}"/>
              </a:ext>
            </a:extLst>
          </p:cNvPr>
          <p:cNvSpPr/>
          <p:nvPr/>
        </p:nvSpPr>
        <p:spPr>
          <a:xfrm>
            <a:off x="3479041" y="4985822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이행 및 연계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4A0A7D4E-555C-25D1-5056-CE125B4FB741}"/>
              </a:ext>
            </a:extLst>
          </p:cNvPr>
          <p:cNvSpPr/>
          <p:nvPr/>
        </p:nvSpPr>
        <p:spPr>
          <a:xfrm>
            <a:off x="1343332" y="5437180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변환 자동화 및 전환 실증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16283CC9-19BC-8A27-7057-C9FE4DFB5988}"/>
              </a:ext>
            </a:extLst>
          </p:cNvPr>
          <p:cNvSpPr/>
          <p:nvPr/>
        </p:nvSpPr>
        <p:spPr>
          <a:xfrm>
            <a:off x="3479041" y="5437180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학습용 데이터 가공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63E2680C-1DDB-C145-65F2-A4CFA9380F9D}"/>
              </a:ext>
            </a:extLst>
          </p:cNvPr>
          <p:cNvSpPr/>
          <p:nvPr/>
        </p:nvSpPr>
        <p:spPr>
          <a:xfrm>
            <a:off x="5614752" y="4929234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</a:t>
            </a:r>
            <a:r>
              <a:rPr lang="en-US" altLang="ko-KR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lang="ko-KR" altLang="en-US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2042AC27-B336-4AE5-10B5-05AFE1470671}"/>
              </a:ext>
            </a:extLst>
          </p:cNvPr>
          <p:cNvCxnSpPr>
            <a:stCxn id="23" idx="3"/>
            <a:endCxn id="24" idx="1"/>
          </p:cNvCxnSpPr>
          <p:nvPr/>
        </p:nvCxnSpPr>
        <p:spPr>
          <a:xfrm>
            <a:off x="3299097" y="4073250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연결선: 꺾임 58">
            <a:extLst>
              <a:ext uri="{FF2B5EF4-FFF2-40B4-BE49-F238E27FC236}">
                <a16:creationId xmlns:a16="http://schemas.microsoft.com/office/drawing/2014/main" id="{3B46D2E8-D3DF-D4B5-B2D7-626009C900CB}"/>
              </a:ext>
            </a:extLst>
          </p:cNvPr>
          <p:cNvCxnSpPr>
            <a:stCxn id="24" idx="2"/>
            <a:endCxn id="25" idx="0"/>
          </p:cNvCxnSpPr>
          <p:nvPr/>
        </p:nvCxnSpPr>
        <p:spPr>
          <a:xfrm rot="5400000">
            <a:off x="3340020" y="3231075"/>
            <a:ext cx="98100" cy="213570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1F73FE59-DB1A-EE17-6FAD-CC7B87F6E31E}"/>
              </a:ext>
            </a:extLst>
          </p:cNvPr>
          <p:cNvCxnSpPr>
            <a:stCxn id="25" idx="3"/>
            <a:endCxn id="26" idx="1"/>
          </p:cNvCxnSpPr>
          <p:nvPr/>
        </p:nvCxnSpPr>
        <p:spPr>
          <a:xfrm>
            <a:off x="3299097" y="4524608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613C5FB8-E612-D913-9F1B-86E6D58C9E88}"/>
              </a:ext>
            </a:extLst>
          </p:cNvPr>
          <p:cNvCxnSpPr>
            <a:stCxn id="53" idx="3"/>
            <a:endCxn id="54" idx="1"/>
          </p:cNvCxnSpPr>
          <p:nvPr/>
        </p:nvCxnSpPr>
        <p:spPr>
          <a:xfrm>
            <a:off x="3299097" y="5162451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C5AB331B-0E8E-A428-34C6-26AE85F80646}"/>
              </a:ext>
            </a:extLst>
          </p:cNvPr>
          <p:cNvCxnSpPr>
            <a:stCxn id="43" idx="3"/>
            <a:endCxn id="44" idx="1"/>
          </p:cNvCxnSpPr>
          <p:nvPr/>
        </p:nvCxnSpPr>
        <p:spPr>
          <a:xfrm>
            <a:off x="3299097" y="8145903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이등변 삼각형 62">
            <a:extLst>
              <a:ext uri="{FF2B5EF4-FFF2-40B4-BE49-F238E27FC236}">
                <a16:creationId xmlns:a16="http://schemas.microsoft.com/office/drawing/2014/main" id="{B3306035-C2ED-E8FA-E114-837A0A0832A2}"/>
              </a:ext>
            </a:extLst>
          </p:cNvPr>
          <p:cNvSpPr/>
          <p:nvPr/>
        </p:nvSpPr>
        <p:spPr>
          <a:xfrm rot="10800000">
            <a:off x="2368085" y="8370332"/>
            <a:ext cx="2041963" cy="89080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cxnSp>
        <p:nvCxnSpPr>
          <p:cNvPr id="64" name="연결선: 꺾임 63">
            <a:extLst>
              <a:ext uri="{FF2B5EF4-FFF2-40B4-BE49-F238E27FC236}">
                <a16:creationId xmlns:a16="http://schemas.microsoft.com/office/drawing/2014/main" id="{D329EAEE-FC86-DBC6-D388-0C14F814B58B}"/>
              </a:ext>
            </a:extLst>
          </p:cNvPr>
          <p:cNvCxnSpPr>
            <a:stCxn id="54" idx="2"/>
            <a:endCxn id="55" idx="0"/>
          </p:cNvCxnSpPr>
          <p:nvPr/>
        </p:nvCxnSpPr>
        <p:spPr>
          <a:xfrm rot="5400000">
            <a:off x="3340020" y="4320276"/>
            <a:ext cx="98100" cy="213570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1F914643-BCF4-BBD6-85BE-F1B808431FC4}"/>
              </a:ext>
            </a:extLst>
          </p:cNvPr>
          <p:cNvCxnSpPr>
            <a:stCxn id="55" idx="3"/>
            <a:endCxn id="56" idx="1"/>
          </p:cNvCxnSpPr>
          <p:nvPr/>
        </p:nvCxnSpPr>
        <p:spPr>
          <a:xfrm>
            <a:off x="3299097" y="5613809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화살표 연결선 65">
            <a:extLst>
              <a:ext uri="{FF2B5EF4-FFF2-40B4-BE49-F238E27FC236}">
                <a16:creationId xmlns:a16="http://schemas.microsoft.com/office/drawing/2014/main" id="{CDAC9375-9073-3989-7E57-2A4AA883CC46}"/>
              </a:ext>
            </a:extLst>
          </p:cNvPr>
          <p:cNvCxnSpPr>
            <a:stCxn id="31" idx="3"/>
            <a:endCxn id="32" idx="1"/>
          </p:cNvCxnSpPr>
          <p:nvPr/>
        </p:nvCxnSpPr>
        <p:spPr>
          <a:xfrm>
            <a:off x="3299097" y="6265303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A09E4F1F-9BA0-37B1-7F81-F56F544CFCBD}"/>
              </a:ext>
            </a:extLst>
          </p:cNvPr>
          <p:cNvCxnSpPr>
            <a:stCxn id="33" idx="3"/>
            <a:endCxn id="34" idx="1"/>
          </p:cNvCxnSpPr>
          <p:nvPr/>
        </p:nvCxnSpPr>
        <p:spPr>
          <a:xfrm>
            <a:off x="3299097" y="6716661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7">
            <a:extLst>
              <a:ext uri="{FF2B5EF4-FFF2-40B4-BE49-F238E27FC236}">
                <a16:creationId xmlns:a16="http://schemas.microsoft.com/office/drawing/2014/main" id="{386076AE-D290-BA48-C6DA-E912E5F5F08C}"/>
              </a:ext>
            </a:extLst>
          </p:cNvPr>
          <p:cNvCxnSpPr>
            <a:stCxn id="32" idx="2"/>
            <a:endCxn id="33" idx="0"/>
          </p:cNvCxnSpPr>
          <p:nvPr/>
        </p:nvCxnSpPr>
        <p:spPr>
          <a:xfrm rot="5400000">
            <a:off x="3340020" y="5423128"/>
            <a:ext cx="98100" cy="213570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51156A4E-8F45-B161-FE5B-0EB5A9425BF0}"/>
              </a:ext>
            </a:extLst>
          </p:cNvPr>
          <p:cNvSpPr txBox="1"/>
          <p:nvPr/>
        </p:nvSpPr>
        <p:spPr>
          <a:xfrm>
            <a:off x="4988760" y="8960115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 </a:t>
            </a:r>
            <a:r>
              <a:rPr lang="ko-KR" altLang="en-US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결과물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EDA7601-2D3C-795D-AE4A-1C5452380468}"/>
              </a:ext>
            </a:extLst>
          </p:cNvPr>
          <p:cNvSpPr txBox="1"/>
          <p:nvPr/>
        </p:nvSpPr>
        <p:spPr>
          <a:xfrm>
            <a:off x="5753208" y="8960115"/>
            <a:ext cx="110479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전략 산출물</a:t>
            </a:r>
          </a:p>
        </p:txBody>
      </p:sp>
    </p:spTree>
    <p:extLst>
      <p:ext uri="{BB962C8B-B14F-4D97-AF65-F5344CB8AC3E}">
        <p14:creationId xmlns:p14="http://schemas.microsoft.com/office/powerpoint/2010/main" val="57187215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DD9082-EEB3-7C1B-236D-9911F0371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CE0F3373-55BB-B134-D7A9-1465E562F0A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1F26876-29E6-DB5D-3884-4AFF363BF71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DF254F7-2BF3-92B0-865E-72B0C8768E91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2.1.2 </a:t>
            </a:r>
            <a:r>
              <a:rPr kumimoji="0" lang="ko-KR" altLang="en-US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사업 핵심현안 및 전략방향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ECA7864-7DE7-9987-B93A-DAAB5C5029B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추진전략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F867E4D-0E6F-361E-CC8F-3F36F26376F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DE3E69D-08CF-D76A-E6EF-10E5AC48062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E6A2A3B-25F8-F7C4-E3AC-2CA2A3315EA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79750735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5F6F-A358-07F6-E43B-41396D880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07C2D52A-CFF6-67F1-8880-1300D3985F1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03FAB89-361F-8F35-85E8-C47B79118F8C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0A6155-19B0-022F-8265-F5336ECBFE68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전략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1.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국제표준 기반 통합 아키텍처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0399EDA-F8ED-DC47-D520-9CB181AB010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중점 차별화 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62602A7-D7F9-D030-C086-08EB8B90568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5AC0252-C10B-4210-B974-6FDCBDC642F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40ECBF6-73F6-709D-4A46-843E7AFB28F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59437638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7FDDC1-14AE-98B1-AA7C-371B7F52D5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3E87C52A-2A95-06D0-8EF1-99C68FF1CC5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74DD175-3FCD-024B-575A-A448E50F73CE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177726-D566-6E56-DCDF-3107DD3BED88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전략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지능형 검색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지식화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45640C6-1564-7C11-E10F-A11A74C086C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중점 차별화 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7235D7D-786C-6974-B733-9DC12DBBE55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D76D4B1-1B5D-186F-116A-54B28DF93AF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2D77D3A-0BA6-758A-54E1-2C1D82FFF41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20215649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104C4E-05C7-6623-4981-B4085D1948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30B06F19-15E5-0C86-CF0F-5D0E24561A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CF46B03-54B9-16A2-2E28-E541F92018FC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C50A466-6626-513D-2E0F-E13AA25163B7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2.2.3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전략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3.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신뢰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E1C6FD8-87D9-EB70-10CB-2CBCEB80958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중점 차별화 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58FD859-A981-DDC9-7987-7470578867E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926679D-554E-EB62-24F6-3DDCF3BACC0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DB4E6E2-C37F-EAB2-0114-6E3FA50A6AB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15366388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0194F-782B-07C4-1181-52130B315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CC887EB-DDED-8F73-18C4-957D8829B96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456076D-42F5-1767-8453-1BFB7894418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2884D0B-E63F-5675-CD9E-CE1F94FEFC0A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2.2.4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전략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거버넌스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확산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04081B8-A0D1-0482-7675-DFF2CF7C232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중점 차별화 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1CEB9C1-BCEC-93C7-CDD8-BB9C2B2F406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995B802-43DB-594D-DD1D-4CE3FCEB760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841DB90-3F24-9CC4-CDC0-E4638EFE838F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421210674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092F69-8333-918C-393F-BCD8F7EE6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077230A-C508-CE2D-BBB7-5CEDBB65A22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EC9A115-30B7-9B65-D185-EFDE672E282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87A9969-08BC-3F81-4768-0E00178D0A9F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2.2.5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 모듈화 구조 설계 및 고도화 로드맵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1595BA9-9DA9-5AEA-62F3-650C0D89C41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중점 차별화 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7C1E12A-63F2-F1A2-65D5-022F1E36660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9AD5E4F-DD68-DDCD-3B64-7B2686F46C9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EB4C421-701B-780C-3D07-F9F0E76B1C5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428239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CC2308-F9F8-B562-422C-808916E3CA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F3AAD03-BCDE-9E76-7FC4-5D19A34E2F0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CE82B68-7C6B-2403-B22E-E425723C07E9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57C9AC-FA90-3B8F-FF26-64424CCD8A42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2.2.6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차별화 전략 상호 연계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15F5F64-E7C4-C78D-F68B-48B835A0CEA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중점 차별화 전략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BD48264-520F-AAD8-E121-06D22514E4D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AEA6973-D55C-403C-EA9B-79B4B0B8DF8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1444234-DBDE-CC64-B6C7-0A09CD89A2FA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22736303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A469AE-F363-6CA1-701F-A66D1DB1B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269354F1-7D94-F10E-840D-BDF953A0906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사업수행 전략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C694E2F-ED12-8175-CEF3-6E40D5E22790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34AA53-4DF4-AFD3-0F2A-9490B9270173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2.3.1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위험요소 및 창의적 대응방안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31BDEAD-C994-CC8C-CE88-B107B4C76E6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위험요소 및 창의적 대응방안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9F0C16A-FB66-E53B-4C4C-9F640DC5534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4A48CC4-BF9A-513D-6181-C1C5DC4A418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074EB06-C731-83F2-4CE4-CAD21B05081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21894042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16452-2973-F3E1-1D42-FA0707664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2E0B1E59-4B20-AD4F-F68A-DD919F84954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제안의 특징 및 장점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02A8A24-C9B4-067B-5E9D-840B8F4BC781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059983-23B1-B0E6-1B6F-98069E7C6D80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컨소시엄 특장점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7EFC6FA-D41E-C2D8-5EA8-A04EE831FFA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제안의 특장점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D9D3DA-4F86-BF87-FB62-3B35DEDCB04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8AFFE64-F479-C23E-A831-A2990C7E7A6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3DFDAC8-D20C-8AAB-A2C2-24BD5F9E749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96700124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D6DE9-4F8F-0155-D612-39BF4667C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2DFC0215-88B0-AD21-CA35-1EFCC061A0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제안의 특징 및 장점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EA94FF8-659E-C559-A4B4-3C1178456C03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799EFB7-2200-D7D6-3FEB-63D93A9D0C7D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유사사업 대비 차별성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F7B56B-1728-AFA4-402E-5D58B7CC155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제안의 특장점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01C6059-7CC7-0664-F5F8-8A3AA4F275B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2BAEF2F-65CC-093F-0C74-20D0374FF7A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34BF8FA-2C97-42EE-7809-25012EB003A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03452020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6C6D31-009D-A745-10C4-5B7DAECD6B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04CC3A0-6202-7244-4817-7871251EA1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제안의 특징 및 장점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1E83EAD-4802-7C2D-C6D8-7091BC051435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EEA1F7E-B260-38F7-117A-61675F0AC480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정량적 기대효과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EA51D2D-26D5-BA0E-ED76-D8476B7A18C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기대효과 분석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6F661D7-EFFB-3EE1-D983-3C2F1CD4F78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3989636-D445-535C-4F95-1A5AB44A643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44C8070-081F-D6EC-DB15-9B555727733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908641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EAA8A9-2DC4-D7B2-CE50-21CE2A83B1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7DF421A7-6445-C0D2-3A71-729DF189645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제안의 특징 및 장점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2985575-A0AA-B232-7B62-FF4F1DD8A833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F5AA295-C7AD-6BF2-C210-1D2AB031D8D8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정책적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산업적 기대효과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45FF812-A259-B74A-51A9-8E416734F40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기대효과 분석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88A1CAB-660C-F474-3784-E83369AC7DE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BC5C605-0737-0269-2BDC-6BC5498E472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CE5620C-0108-02CB-BAB5-906A3BB936B3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57923967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5B3AC2-4D8C-9968-FEA1-3A995A42FC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A1E0EAC-ED11-2959-C0A8-24DB7D06FBE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5AD8D39-75EE-6795-D950-4B1B2CF2BDB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EEE8ED9-D0F2-82EF-15CB-3135F46B2C85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4.1.1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주관기관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dirty="0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에이치나인</a:t>
            </a:r>
            <a:endParaRPr lang="ko-KR" altLang="ko-KR" sz="1400" spc="-19" dirty="0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93B346A-C013-5799-1E31-0E320D6ED4E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kumimoji="0" lang="ko-KR" altLang="en-US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일반현황 및 연혁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2C36395-99E1-EFEA-C00A-DA96741234A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우리는 기술을 통해 창의적인 경험을 만들어갑니다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사려 깊은 디자인과 사용자 중심의 접근 방식을 바탕으로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사람과 제품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디지털 서비스 간의 의미 있는 연결을 만드는 것이 우리의 목표입니다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." 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DE7DA9A-BD56-CE33-D46B-C2CBDA98F1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1414466"/>
              </p:ext>
            </p:extLst>
          </p:nvPr>
        </p:nvGraphicFramePr>
        <p:xfrm>
          <a:off x="302559" y="2753085"/>
          <a:ext cx="6307952" cy="16635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6988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603079045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3173717048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931619598"/>
                    </a:ext>
                  </a:extLst>
                </a:gridCol>
              </a:tblGrid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명</a:t>
                      </a:r>
                    </a:p>
                  </a:txBody>
                  <a:tcPr marL="17606" marR="17606" marT="17606" marB="17606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주식회사 </a:t>
                      </a:r>
                      <a:r>
                        <a:rPr lang="ko-KR" altLang="en-US" sz="1000" b="0" i="0" kern="1200" dirty="0" err="1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에이치나인</a:t>
                      </a:r>
                      <a:endParaRPr lang="ko-KR" altLang="en-US" sz="1000" b="0" i="0" kern="1200" dirty="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대 표 자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최우식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분 야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S/W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및 </a:t>
                      </a:r>
                      <a:r>
                        <a:rPr lang="ko-KR" altLang="en-US" sz="1000" b="0" i="0" kern="1200" dirty="0" err="1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공급업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서비스업</a:t>
                      </a:r>
                      <a:endParaRPr lang="ko-KR" altLang="ko-KR" sz="1000" b="0" i="0" kern="1200" dirty="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 소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서울특별시 성동구 </a:t>
                      </a:r>
                      <a:r>
                        <a:rPr lang="ko-KR" altLang="en-US" sz="1000" b="0" i="0" kern="1200" dirty="0" err="1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뚝섬로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길 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25, 10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층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성수동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b="0" i="0" kern="1200" dirty="0" err="1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서울숲한라에코밸리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ko-KR" sz="1000" b="0" i="0" kern="1200" dirty="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전 화 번 호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TEL: 02-521-0518 FAX: 02-567-0518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09826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설 립 년 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2010 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 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04 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</a:t>
                      </a:r>
                      <a:endParaRPr lang="ko-KR" altLang="ko-KR" sz="1000" b="0" i="0" kern="1200" dirty="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31023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해당부문 종사기간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2010.04.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～ 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2026.06. (16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</a:t>
                      </a:r>
                      <a:r>
                        <a:rPr lang="en-US" altLang="ko-KR" sz="1000" b="0" i="0" kern="1200" dirty="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ko-KR" sz="1000" b="0" i="0" kern="1200" dirty="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503191"/>
                  </a:ext>
                </a:extLst>
              </a:tr>
            </a:tbl>
          </a:graphicData>
        </a:graphic>
      </p:graphicFrame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85AFB160-ECEA-1489-6B8C-4720E51BFA9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C1011BA0-ECAB-4E38-2755-2EAEBAC83AA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일반현황 및 연혁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BB000ABA-A36A-1D20-E3AF-D98D2B472642}"/>
              </a:ext>
            </a:extLst>
          </p:cNvPr>
          <p:cNvCxnSpPr>
            <a:cxnSpLocks/>
          </p:cNvCxnSpPr>
          <p:nvPr/>
        </p:nvCxnSpPr>
        <p:spPr>
          <a:xfrm>
            <a:off x="312925" y="4554940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02B9218F-0180-812C-00CB-F4F81FD972B4}"/>
              </a:ext>
            </a:extLst>
          </p:cNvPr>
          <p:cNvSpPr txBox="1"/>
          <p:nvPr/>
        </p:nvSpPr>
        <p:spPr>
          <a:xfrm>
            <a:off x="335012" y="4528863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연혁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CB5C150-4B81-0151-313C-49DA6B0D27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7905903"/>
              </p:ext>
            </p:extLst>
          </p:nvPr>
        </p:nvGraphicFramePr>
        <p:xfrm>
          <a:off x="302559" y="4825651"/>
          <a:ext cx="6307325" cy="31391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4500161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755839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214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연 도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내 용 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비 고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2010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에이치나인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법인 설립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2011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창업진흥원 혁신적 기업가상 수상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 dirty="0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120777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2014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벤처기업인증획득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 dirty="0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5295837"/>
                  </a:ext>
                </a:extLst>
              </a:tr>
              <a:tr h="120777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2016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스마트앱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어워드 커뮤니케이션분야 최우수상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7949424"/>
                  </a:ext>
                </a:extLst>
              </a:tr>
              <a:tr h="13066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2017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Good </a:t>
                      </a:r>
                      <a:r>
                        <a:rPr lang="en-US" altLang="ko-KR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DesignAward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수상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: </a:t>
                      </a: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코레일톡플러스모바일앱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140087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2019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중소벤처기업부 사내벤처육성기업 선정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441258"/>
                  </a:ext>
                </a:extLst>
              </a:tr>
              <a:tr h="105922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2020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사내벤쳐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육성 프로그램 활성화 표창 수상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7979024"/>
                  </a:ext>
                </a:extLst>
              </a:tr>
              <a:tr h="150721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2022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HCI Korea </a:t>
                      </a:r>
                      <a:r>
                        <a:rPr lang="ko-KR" altLang="en-US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온라인 학술대회 우수논문 수상 </a:t>
                      </a: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반려동물을 위한 </a:t>
                      </a: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AR</a:t>
                      </a:r>
                      <a:r>
                        <a:rPr lang="ko-KR" altLang="en-US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카메라 </a:t>
                      </a:r>
                      <a:r>
                        <a:rPr lang="en-US" altLang="ko-KR" sz="9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Owao</a:t>
                      </a: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782225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2023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한국무역협회 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백만불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10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수출의탑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수상</a:t>
                      </a:r>
                      <a:endParaRPr lang="en-US" altLang="ko-KR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IF Design Award Communication </a:t>
                      </a:r>
                      <a:r>
                        <a:rPr lang="ko-KR" altLang="en-US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부문 수상</a:t>
                      </a: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ko-KR" altLang="en-US" sz="900" b="0" kern="1200" dirty="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국립중앙박물관교육통합플랫폼</a:t>
                      </a:r>
                      <a:r>
                        <a:rPr lang="en-US" altLang="ko-KR" sz="9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MODU</a:t>
                      </a:r>
                      <a:endParaRPr lang="ko-KR" altLang="en-US" sz="9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 dirty="0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55022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ICT AWARD KOREA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디지털 인사이트 분야 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GRAND PRIZE</a:t>
                      </a:r>
                    </a:p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ICT AWARD KOREA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디지털 서비스혁신분야 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GOLD PRIZE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 dirty="0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  <a:tr h="217327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Design Award 2025 Service </a:t>
                      </a:r>
                      <a:r>
                        <a:rPr lang="ko-KR" altLang="en-US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부문 수상 </a:t>
                      </a:r>
                      <a:r>
                        <a:rPr lang="en-US" altLang="ko-KR" sz="1000" b="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&lt;Daishin Securities MTS&gt;</a:t>
                      </a:r>
                      <a:endParaRPr lang="ko-KR" altLang="en-US" sz="1000" b="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buNone/>
                      </a:pPr>
                      <a:endParaRPr lang="ko-KR" dirty="0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305448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DA34B46-781D-2F3B-B094-10EDDA9BF5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330353"/>
              </p:ext>
            </p:extLst>
          </p:nvPr>
        </p:nvGraphicFramePr>
        <p:xfrm>
          <a:off x="302559" y="8460399"/>
          <a:ext cx="6307950" cy="1111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4142108983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86563128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146020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 분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2023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2024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2025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148713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 본 금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100,100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100,100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100,100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148713">
                <a:tc row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 출 액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컨설팅부문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SW </a:t>
                      </a:r>
                      <a:r>
                        <a:rPr lang="ko-KR" altLang="en-US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매출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9,885,377</a:t>
                      </a:r>
                      <a:endParaRPr lang="ko-KR" altLang="ko-KR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9,460,127</a:t>
                      </a:r>
                      <a:endParaRPr lang="ko-KR" altLang="ko-KR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11,077,940</a:t>
                      </a:r>
                      <a:endParaRPr lang="ko-KR" altLang="ko-KR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기타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endParaRPr lang="ko-KR" altLang="ko-KR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endParaRPr lang="ko-KR" altLang="ko-KR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38,800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합 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9,885,377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9,460,127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 dirty="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11,116,740</a:t>
                      </a:r>
                      <a:endParaRPr lang="ko-KR" altLang="en-US" sz="1000" kern="1200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</a:tbl>
          </a:graphicData>
        </a:graphic>
      </p:graphicFrame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C5823A50-D316-05DE-521C-4C2B166EF2D2}"/>
              </a:ext>
            </a:extLst>
          </p:cNvPr>
          <p:cNvCxnSpPr>
            <a:cxnSpLocks/>
          </p:cNvCxnSpPr>
          <p:nvPr/>
        </p:nvCxnSpPr>
        <p:spPr>
          <a:xfrm>
            <a:off x="312925" y="818066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AF9DD290-B831-15FC-56BF-98A3B88591E2}"/>
              </a:ext>
            </a:extLst>
          </p:cNvPr>
          <p:cNvSpPr txBox="1"/>
          <p:nvPr/>
        </p:nvSpPr>
        <p:spPr>
          <a:xfrm>
            <a:off x="335012" y="815459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자본금 및 매출액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최근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8B0C50-FA6B-5041-5419-B08B9B2DAC64}"/>
              </a:ext>
            </a:extLst>
          </p:cNvPr>
          <p:cNvSpPr txBox="1"/>
          <p:nvPr/>
        </p:nvSpPr>
        <p:spPr>
          <a:xfrm>
            <a:off x="5696109" y="8192078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천원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lang="ko-KR" alt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504683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8A0CDE-163C-5C75-372F-84E18C6FAA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9CF132A1-C9DA-94D3-F45B-87052199E52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920F096-477B-F733-28A5-8B82D3000C99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89854A-143A-24D7-05E7-0F4FDD7A1DAA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와이젠정보기술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70C070-0558-FC34-A426-0059967D6E6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일반현황 및 연혁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AAA22F6-0DEF-3DE7-A8F2-6495A78A75A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DA0A33A-BC0F-04FA-1414-0825273D8A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0759005"/>
              </p:ext>
            </p:extLst>
          </p:nvPr>
        </p:nvGraphicFramePr>
        <p:xfrm>
          <a:off x="302559" y="2753085"/>
          <a:ext cx="6307952" cy="16635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6988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603079045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3173717048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931619598"/>
                    </a:ext>
                  </a:extLst>
                </a:gridCol>
              </a:tblGrid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명</a:t>
                      </a:r>
                    </a:p>
                  </a:txBody>
                  <a:tcPr marL="17606" marR="17606" marT="17606" marB="17606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대 표 자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분 야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 소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전 화 번 호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09826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설 립 년 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31023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해당부문 종사기간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503191"/>
                  </a:ext>
                </a:extLst>
              </a:tr>
            </a:tbl>
          </a:graphicData>
        </a:graphic>
      </p:graphicFrame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2D39F077-1034-6912-1FBF-F22C2282CA9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DC051604-5BE2-155E-8AB5-F90BE192F23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일반현황 및 연혁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3DC3F3E3-96AD-F939-0387-D1DDC19B3090}"/>
              </a:ext>
            </a:extLst>
          </p:cNvPr>
          <p:cNvCxnSpPr>
            <a:cxnSpLocks/>
          </p:cNvCxnSpPr>
          <p:nvPr/>
        </p:nvCxnSpPr>
        <p:spPr>
          <a:xfrm>
            <a:off x="312925" y="4554940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77193BF4-5C4A-76AB-8FB6-472249AC6D7A}"/>
              </a:ext>
            </a:extLst>
          </p:cNvPr>
          <p:cNvSpPr txBox="1"/>
          <p:nvPr/>
        </p:nvSpPr>
        <p:spPr>
          <a:xfrm>
            <a:off x="335012" y="4528863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연혁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9123E61-DC0E-27E0-735A-A36807435E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6970746"/>
              </p:ext>
            </p:extLst>
          </p:nvPr>
        </p:nvGraphicFramePr>
        <p:xfrm>
          <a:off x="302559" y="4825651"/>
          <a:ext cx="6307325" cy="30467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4216336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39664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214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연 도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내 용 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비 고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441258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7979024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782225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5502289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  <a:tr h="34866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305448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2152C5E-3040-04F9-C3EE-FA3CD31EA3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6505738"/>
              </p:ext>
            </p:extLst>
          </p:nvPr>
        </p:nvGraphicFramePr>
        <p:xfrm>
          <a:off x="302559" y="8460399"/>
          <a:ext cx="6307950" cy="1111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4142108983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86563128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146020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 분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2023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2024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2025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148713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 본 금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148713">
                <a:tc row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 출 액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합 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</a:tbl>
          </a:graphicData>
        </a:graphic>
      </p:graphicFrame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2C390F67-0C05-BE97-FFCB-CEF8F9D379F5}"/>
              </a:ext>
            </a:extLst>
          </p:cNvPr>
          <p:cNvCxnSpPr>
            <a:cxnSpLocks/>
          </p:cNvCxnSpPr>
          <p:nvPr/>
        </p:nvCxnSpPr>
        <p:spPr>
          <a:xfrm>
            <a:off x="312925" y="818066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0D2EDB3-16A9-4CFB-735A-3C757CB4B959}"/>
              </a:ext>
            </a:extLst>
          </p:cNvPr>
          <p:cNvSpPr txBox="1"/>
          <p:nvPr/>
        </p:nvSpPr>
        <p:spPr>
          <a:xfrm>
            <a:off x="335012" y="815459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자본금 및 매출액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최근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95F425C-F3C6-41C9-0E3B-C8A9244B4712}"/>
              </a:ext>
            </a:extLst>
          </p:cNvPr>
          <p:cNvSpPr txBox="1"/>
          <p:nvPr/>
        </p:nvSpPr>
        <p:spPr>
          <a:xfrm>
            <a:off x="5696109" y="8192078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천원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lang="ko-KR" alt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9E8B20-3E32-FEF3-68A6-331B18E4E909}"/>
              </a:ext>
            </a:extLst>
          </p:cNvPr>
          <p:cNvSpPr/>
          <p:nvPr/>
        </p:nvSpPr>
        <p:spPr>
          <a:xfrm>
            <a:off x="1577135" y="4070863"/>
            <a:ext cx="3703730" cy="3297323"/>
          </a:xfrm>
          <a:prstGeom prst="roundRect">
            <a:avLst>
              <a:gd name="adj" fmla="val 5153"/>
            </a:avLst>
          </a:prstGeom>
          <a:solidFill>
            <a:schemeClr val="accent6">
              <a:lumMod val="40000"/>
              <a:lumOff val="6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와이젠정보기술</a:t>
            </a:r>
            <a:endParaRPr lang="en-US" altLang="ko-KR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73310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9B89EE-053E-F450-2B33-FF69B648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FCDA55E0-F4BA-F29E-52EC-AFA4C6EBCA2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C34BB4E-D4EA-2465-6106-09A5B19A8098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B6CDBE8-0A29-B60B-16CE-5C3095159F31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보안관련업체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EC1016-7D68-C211-3DD2-7F263B3055A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일반현황 및 연혁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0AB8883-5A41-21D9-FB40-D45085657FF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7DDBB39-914F-53FC-B6BA-DF2812BF00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0759005"/>
              </p:ext>
            </p:extLst>
          </p:nvPr>
        </p:nvGraphicFramePr>
        <p:xfrm>
          <a:off x="302559" y="2753085"/>
          <a:ext cx="6307952" cy="16635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6988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603079045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3173717048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931619598"/>
                    </a:ext>
                  </a:extLst>
                </a:gridCol>
              </a:tblGrid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명</a:t>
                      </a:r>
                    </a:p>
                  </a:txBody>
                  <a:tcPr marL="17606" marR="17606" marT="17606" marB="17606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대 표 자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분 야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 소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전 화 번 호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09826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설 립 년 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31023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해당부문 종사기간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503191"/>
                  </a:ext>
                </a:extLst>
              </a:tr>
            </a:tbl>
          </a:graphicData>
        </a:graphic>
      </p:graphicFrame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51576699-B7ED-7504-FDC8-9B8CEE275CB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366F3638-E135-F12E-25FD-4B486CE8006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일반현황 및 연혁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4406E778-804C-4CA2-D063-8DF20A971A72}"/>
              </a:ext>
            </a:extLst>
          </p:cNvPr>
          <p:cNvCxnSpPr>
            <a:cxnSpLocks/>
          </p:cNvCxnSpPr>
          <p:nvPr/>
        </p:nvCxnSpPr>
        <p:spPr>
          <a:xfrm>
            <a:off x="312925" y="4554940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3A4D44DD-F047-196B-B02C-746E2CD79A02}"/>
              </a:ext>
            </a:extLst>
          </p:cNvPr>
          <p:cNvSpPr txBox="1"/>
          <p:nvPr/>
        </p:nvSpPr>
        <p:spPr>
          <a:xfrm>
            <a:off x="335012" y="4528863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연혁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AE85910-D31D-129C-E037-ED5092FCF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6970746"/>
              </p:ext>
            </p:extLst>
          </p:nvPr>
        </p:nvGraphicFramePr>
        <p:xfrm>
          <a:off x="302559" y="4825651"/>
          <a:ext cx="6307325" cy="30467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4216336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39664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214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연 도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내 용 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비 고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441258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7979024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782225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5502289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  <a:tr h="34866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305448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EC3D457E-9A6F-F4BB-01C2-C46CE68164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6505738"/>
              </p:ext>
            </p:extLst>
          </p:nvPr>
        </p:nvGraphicFramePr>
        <p:xfrm>
          <a:off x="302559" y="8460399"/>
          <a:ext cx="6307950" cy="1111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4142108983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86563128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146020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 분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2023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2024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2025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148713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 본 금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148713">
                <a:tc row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 출 액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합 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</a:tbl>
          </a:graphicData>
        </a:graphic>
      </p:graphicFrame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1AACADC6-493E-7557-8220-18A5F3F531C8}"/>
              </a:ext>
            </a:extLst>
          </p:cNvPr>
          <p:cNvCxnSpPr>
            <a:cxnSpLocks/>
          </p:cNvCxnSpPr>
          <p:nvPr/>
        </p:nvCxnSpPr>
        <p:spPr>
          <a:xfrm>
            <a:off x="312925" y="818066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879D563F-D448-DD32-8810-D4EB14DB8C3A}"/>
              </a:ext>
            </a:extLst>
          </p:cNvPr>
          <p:cNvSpPr txBox="1"/>
          <p:nvPr/>
        </p:nvSpPr>
        <p:spPr>
          <a:xfrm>
            <a:off x="335012" y="815459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자본금 및 매출액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최근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19B3EBB-EE7F-53D8-B6FC-4D52AEF2F1F9}"/>
              </a:ext>
            </a:extLst>
          </p:cNvPr>
          <p:cNvSpPr txBox="1"/>
          <p:nvPr/>
        </p:nvSpPr>
        <p:spPr>
          <a:xfrm>
            <a:off x="5696109" y="8192078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천원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lang="ko-KR" alt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A165EAC-39CA-5B5B-088A-1F3E34806993}"/>
              </a:ext>
            </a:extLst>
          </p:cNvPr>
          <p:cNvSpPr/>
          <p:nvPr/>
        </p:nvSpPr>
        <p:spPr>
          <a:xfrm>
            <a:off x="2016592" y="3292637"/>
            <a:ext cx="2813852" cy="3831930"/>
          </a:xfrm>
          <a:prstGeom prst="roundRect">
            <a:avLst>
              <a:gd name="adj" fmla="val 5153"/>
            </a:avLst>
          </a:prstGeom>
          <a:solidFill>
            <a:schemeClr val="bg2">
              <a:lumMod val="75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보완관련업체</a:t>
            </a:r>
            <a:endParaRPr lang="en-US" altLang="ko-KR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227485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0B3DA-A4AF-2BD8-0943-701304E0C5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43BF51B3-DC36-F094-65B8-92AA673B717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36920F0-0848-2B8B-9A7B-575DC5D0DFBC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D43F85E-219A-CECC-38F6-78C407BB3EB1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4.1.4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테크노베이션파트너스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BBD88B1-145B-3210-7978-6248C07463F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일반현황 및 연혁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591C9C82-EBAC-52C0-128C-65C5C91DC88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업력의 컨설팅 업체로 안정적인 전문성을 확보했으며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AI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와 데이터 분야 </a:t>
            </a:r>
            <a:r>
              <a:rPr kumimoji="1" lang="ko-KR" altLang="en-US" sz="120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신비전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선포를 통한 고성장 중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6D649F4-3B8D-59E2-837A-C65748974A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395136"/>
              </p:ext>
            </p:extLst>
          </p:nvPr>
        </p:nvGraphicFramePr>
        <p:xfrm>
          <a:off x="302559" y="2753085"/>
          <a:ext cx="6307952" cy="16635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76988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603079045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3173717048"/>
                    </a:ext>
                  </a:extLst>
                </a:gridCol>
                <a:gridCol w="1576988">
                  <a:extLst>
                    <a:ext uri="{9D8B030D-6E8A-4147-A177-3AD203B41FA5}">
                      <a16:colId xmlns:a16="http://schemas.microsoft.com/office/drawing/2014/main" val="2931619598"/>
                    </a:ext>
                  </a:extLst>
                </a:gridCol>
              </a:tblGrid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명</a:t>
                      </a:r>
                    </a:p>
                  </a:txBody>
                  <a:tcPr marL="17606" marR="17606" marT="17606" marB="17606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b="0" i="0" kern="1200" err="1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테크노베이션파트너스</a:t>
                      </a:r>
                      <a:endParaRPr lang="ko-KR" altLang="en-US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대 표 자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현재호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분 야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전략 수립 컨설팅 및 정보화 전략계획 수립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 소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서울특별시 강남구 </a:t>
                      </a:r>
                      <a:r>
                        <a:rPr lang="ko-KR" altLang="ko-KR" sz="1000" b="0" i="0" kern="1200" err="1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역삼로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212, 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동아빌딩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층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전 화 번 호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just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TEL: 02-6917-5500 FAX: 02-6917-5501 </a:t>
                      </a: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09826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회 사 설 립 년 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2006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31023"/>
                  </a:ext>
                </a:extLst>
              </a:tr>
              <a:tr h="277258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해당부문 종사기간</a:t>
                      </a:r>
                    </a:p>
                  </a:txBody>
                  <a:tcPr marL="17606" marR="17606" marT="17606" marB="17606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2006.02. ~ 2026.06. (20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</a:t>
                      </a:r>
                      <a:r>
                        <a:rPr lang="en-US" altLang="ko-KR" sz="1000" b="0" i="0" kern="1200">
                          <a:solidFill>
                            <a:schemeClr val="tx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ko-KR" sz="1000" b="0" i="0" kern="1200">
                        <a:solidFill>
                          <a:schemeClr val="tx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72000" marR="72000" marT="17606" marB="17606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503191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82DEEA2B-6704-7338-D346-FFB09276312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60DC8BA9-AB8F-D441-13A6-659FD23FD338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일반현황 및 연혁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8E4CBF81-7807-2CF6-F229-987EDC4219EE}"/>
              </a:ext>
            </a:extLst>
          </p:cNvPr>
          <p:cNvCxnSpPr>
            <a:cxnSpLocks/>
          </p:cNvCxnSpPr>
          <p:nvPr/>
        </p:nvCxnSpPr>
        <p:spPr>
          <a:xfrm>
            <a:off x="312925" y="4554940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95BBCA57-3F6F-E1CD-06B1-F0BD0B01C7DD}"/>
              </a:ext>
            </a:extLst>
          </p:cNvPr>
          <p:cNvSpPr txBox="1"/>
          <p:nvPr/>
        </p:nvSpPr>
        <p:spPr>
          <a:xfrm>
            <a:off x="335012" y="4528863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연혁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48B9E3F-21BD-D58E-0E6D-1E1CB54230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6629"/>
              </p:ext>
            </p:extLst>
          </p:nvPr>
        </p:nvGraphicFramePr>
        <p:xfrm>
          <a:off x="302559" y="4825651"/>
          <a:ext cx="6307325" cy="32305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4216336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39664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214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연 도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내 용 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sz="11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</a:rPr>
                        <a:t>비 고</a:t>
                      </a:r>
                      <a:endParaRPr lang="ko-KR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2006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  <a:r>
                        <a:rPr lang="ko-KR" altLang="en-US" sz="1000" b="0" kern="120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테크노베이션파트너스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법인 설립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2009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이노비즈기업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인증 및 벤처기업 인증 획득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2010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기술거래기관 지정</a:t>
                      </a: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지식경제부</a:t>
                      </a: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병역특례업체 지정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2011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서울시 일자리창출 우수기업 선정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441258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2017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중소벤처기업부 기술전문기업 </a:t>
                      </a: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(ESP) 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지정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7979024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2018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청년친화강소기업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선정</a:t>
                      </a:r>
                    </a:p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서울형 강소기업 선정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782225"/>
                  </a:ext>
                </a:extLst>
              </a:tr>
              <a:tr h="20972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2019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성과공유기업 선정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5502289"/>
                  </a:ext>
                </a:extLst>
              </a:tr>
              <a:tr h="403793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기술혁신형 중소기업</a:t>
                      </a:r>
                      <a:r>
                        <a:rPr 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(Inno-Biz) 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 </a:t>
                      </a:r>
                      <a:r>
                        <a:rPr lang="ko-KR" altLang="en-US" sz="1000" b="0" kern="1200" err="1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재획득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가족친화기업 인증 획득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  <a:tr h="34866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altLang="ko-KR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30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주년 비전 발표 </a:t>
                      </a:r>
                      <a:r>
                        <a:rPr lang="en-US" altLang="ko-KR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‘AI </a:t>
                      </a:r>
                      <a:r>
                        <a:rPr lang="ko-KR" altLang="en-US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기반의 데이터 통찰력으로 기술의 새로운 표준을 제시</a:t>
                      </a:r>
                      <a:r>
                        <a:rPr lang="en-US" altLang="ko-KR" sz="1000" b="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’</a:t>
                      </a: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endParaRPr lang="ko-KR">
                        <a:effectLst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305448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D0D8B98-2113-965E-59AC-DD3B36E77D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6921024"/>
              </p:ext>
            </p:extLst>
          </p:nvPr>
        </p:nvGraphicFramePr>
        <p:xfrm>
          <a:off x="302559" y="8460399"/>
          <a:ext cx="6307950" cy="1111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1325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4142108983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86563128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05132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146020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 분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2023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2024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2025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148713">
                <a:tc grid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 본 금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300,000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300,000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300,000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148713">
                <a:tc rowSpan="3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 출 액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컨설팅부문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컨설팅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2,900,186</a:t>
                      </a: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2,780,932</a:t>
                      </a: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4,510,008</a:t>
                      </a: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673344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기타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66,392</a:t>
                      </a: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49,888</a:t>
                      </a:r>
                      <a:endParaRPr lang="ko-KR" altLang="ko-KR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72633"/>
                  </a:ext>
                </a:extLst>
              </a:tr>
              <a:tr h="1487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합 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2,966,578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2,830,820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4,510,008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653" marR="17653" marT="17653" marB="17653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207605"/>
                  </a:ext>
                </a:extLst>
              </a:tr>
            </a:tbl>
          </a:graphicData>
        </a:graphic>
      </p:graphicFrame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019946B6-B4BC-5969-377C-A7AA1E1E666E}"/>
              </a:ext>
            </a:extLst>
          </p:cNvPr>
          <p:cNvCxnSpPr>
            <a:cxnSpLocks/>
          </p:cNvCxnSpPr>
          <p:nvPr/>
        </p:nvCxnSpPr>
        <p:spPr>
          <a:xfrm>
            <a:off x="312925" y="818066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6FCD59C4-FD41-5CDC-6778-8CA0AD8354DD}"/>
              </a:ext>
            </a:extLst>
          </p:cNvPr>
          <p:cNvSpPr txBox="1"/>
          <p:nvPr/>
        </p:nvSpPr>
        <p:spPr>
          <a:xfrm>
            <a:off x="335012" y="815459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자본금 및 매출액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최근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05C0566-C660-9483-C7D2-143B1ACAB349}"/>
              </a:ext>
            </a:extLst>
          </p:cNvPr>
          <p:cNvSpPr txBox="1"/>
          <p:nvPr/>
        </p:nvSpPr>
        <p:spPr>
          <a:xfrm>
            <a:off x="5696109" y="8192078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천원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lang="ko-KR" alt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6804277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DAAE7-BF72-9B44-3CF2-64CC519A2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1B36B561-52E1-8838-6BAB-816A6289C2B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FDF69C7-65E1-077E-2205-F5D44A97DFB4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BCECC71-BB60-1449-791F-3BFBB42DEFCC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4.2.1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주관기관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dirty="0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에이치나인</a:t>
            </a:r>
            <a:endParaRPr lang="ko-KR" altLang="ko-KR" sz="1400" spc="-19" dirty="0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8CDB699-DAB4-851C-BDD4-F5323B80128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조직 및 인력 구성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16AD182-1DE8-5C3A-35CF-B6BF0B26BAF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kumimoji="1" lang="ko-KR" altLang="en-US" sz="1200" dirty="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에이치나인은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2026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7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현재 총원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129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명의 임직원과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개의 실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22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개의 팀으로 구성되어 있습니다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kumimoji="1" lang="en-US" altLang="ko-KR" sz="1200" dirty="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>
              <a:lnSpc>
                <a:spcPts val="1700"/>
              </a:lnSpc>
            </a:pP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그리고 특급 기술자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22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(18.8%)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보유하고 있습니다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C91B4CC-8A57-CCD7-C633-44B53ED65860}"/>
              </a:ext>
            </a:extLst>
          </p:cNvPr>
          <p:cNvCxnSpPr>
            <a:cxnSpLocks/>
          </p:cNvCxnSpPr>
          <p:nvPr/>
        </p:nvCxnSpPr>
        <p:spPr>
          <a:xfrm rot="5400000">
            <a:off x="1783390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75698CF7-145C-88E8-B880-1BD01087A277}"/>
              </a:ext>
            </a:extLst>
          </p:cNvPr>
          <p:cNvCxnSpPr>
            <a:cxnSpLocks/>
          </p:cNvCxnSpPr>
          <p:nvPr/>
        </p:nvCxnSpPr>
        <p:spPr>
          <a:xfrm rot="5400000">
            <a:off x="2818839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42A921DD-0F7A-B4F2-4984-3E5DE99C3761}"/>
              </a:ext>
            </a:extLst>
          </p:cNvPr>
          <p:cNvCxnSpPr>
            <a:cxnSpLocks/>
          </p:cNvCxnSpPr>
          <p:nvPr/>
        </p:nvCxnSpPr>
        <p:spPr>
          <a:xfrm rot="5400000">
            <a:off x="790085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0B611062-2F60-686B-01BC-6E3E396D4301}"/>
              </a:ext>
            </a:extLst>
          </p:cNvPr>
          <p:cNvCxnSpPr>
            <a:cxnSpLocks/>
          </p:cNvCxnSpPr>
          <p:nvPr/>
        </p:nvCxnSpPr>
        <p:spPr>
          <a:xfrm rot="5400000">
            <a:off x="2552021" y="4049460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44F8A089-2B19-74BA-EED2-361A6910C1F2}"/>
              </a:ext>
            </a:extLst>
          </p:cNvPr>
          <p:cNvSpPr/>
          <p:nvPr/>
        </p:nvSpPr>
        <p:spPr>
          <a:xfrm>
            <a:off x="2192021" y="2778550"/>
            <a:ext cx="2520000" cy="540000"/>
          </a:xfrm>
          <a:prstGeom prst="roundRect">
            <a:avLst/>
          </a:prstGeom>
          <a:solidFill>
            <a:srgbClr val="245292"/>
          </a:solidFill>
          <a:ln w="38100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CEO</a:t>
            </a:r>
            <a:endParaRPr lang="en-US" altLang="ko-KR" sz="1200" dirty="0">
              <a:solidFill>
                <a:schemeClr val="bg1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5" name="사각형: 둥근 대각선 방향 모서리 14">
            <a:extLst>
              <a:ext uri="{FF2B5EF4-FFF2-40B4-BE49-F238E27FC236}">
                <a16:creationId xmlns:a16="http://schemas.microsoft.com/office/drawing/2014/main" id="{F561F4DF-564E-583B-636A-D18993E4C7AA}"/>
              </a:ext>
            </a:extLst>
          </p:cNvPr>
          <p:cNvSpPr/>
          <p:nvPr/>
        </p:nvSpPr>
        <p:spPr>
          <a:xfrm>
            <a:off x="354518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 latinLnBrk="0"/>
            <a:r>
              <a:rPr lang="en-US" altLang="ko-KR" sz="11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UX</a:t>
            </a:r>
            <a:r>
              <a:rPr lang="ko-KR" altLang="en-US" sz="11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실</a:t>
            </a:r>
            <a:endParaRPr lang="ko-KR" altLang="en-US" sz="1100" b="1" kern="1200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16" name="사각형: 둥근 대각선 방향 모서리 15">
            <a:extLst>
              <a:ext uri="{FF2B5EF4-FFF2-40B4-BE49-F238E27FC236}">
                <a16:creationId xmlns:a16="http://schemas.microsoft.com/office/drawing/2014/main" id="{A6979FCB-B73C-E7A6-3BBA-514EDF08D8B5}"/>
              </a:ext>
            </a:extLst>
          </p:cNvPr>
          <p:cNvSpPr/>
          <p:nvPr/>
        </p:nvSpPr>
        <p:spPr>
          <a:xfrm>
            <a:off x="1384266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 err="1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비주얼실</a:t>
            </a:r>
            <a:endParaRPr lang="en-US" altLang="ko-KR" sz="1100" b="1" kern="1200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2FCBAC6D-7BA0-FA80-5F0C-768275AA2015}"/>
              </a:ext>
            </a:extLst>
          </p:cNvPr>
          <p:cNvSpPr/>
          <p:nvPr/>
        </p:nvSpPr>
        <p:spPr>
          <a:xfrm>
            <a:off x="84408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46E5C861-30EC-2135-E9E2-BC614C9851F9}"/>
              </a:ext>
            </a:extLst>
          </p:cNvPr>
          <p:cNvCxnSpPr>
            <a:cxnSpLocks/>
          </p:cNvCxnSpPr>
          <p:nvPr/>
        </p:nvCxnSpPr>
        <p:spPr>
          <a:xfrm>
            <a:off x="880085" y="4946992"/>
            <a:ext cx="512066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98C994A-602C-F864-5F33-9EAB6DA51562}"/>
              </a:ext>
            </a:extLst>
          </p:cNvPr>
          <p:cNvCxnSpPr>
            <a:cxnSpLocks/>
          </p:cNvCxnSpPr>
          <p:nvPr/>
        </p:nvCxnSpPr>
        <p:spPr>
          <a:xfrm>
            <a:off x="2643977" y="3716255"/>
            <a:ext cx="151601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B8D4E7FD-753D-9C59-4B3C-B8B70C1EC9C5}"/>
              </a:ext>
            </a:extLst>
          </p:cNvPr>
          <p:cNvSpPr/>
          <p:nvPr/>
        </p:nvSpPr>
        <p:spPr>
          <a:xfrm>
            <a:off x="1929553" y="4391873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CA7C50A7-AF21-29AE-4AFD-8A510B473804}"/>
              </a:ext>
            </a:extLst>
          </p:cNvPr>
          <p:cNvCxnSpPr>
            <a:cxnSpLocks/>
          </p:cNvCxnSpPr>
          <p:nvPr/>
        </p:nvCxnSpPr>
        <p:spPr>
          <a:xfrm rot="5400000">
            <a:off x="485175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사각형: 둥근 대각선 방향 모서리 22">
            <a:extLst>
              <a:ext uri="{FF2B5EF4-FFF2-40B4-BE49-F238E27FC236}">
                <a16:creationId xmlns:a16="http://schemas.microsoft.com/office/drawing/2014/main" id="{9EC07CFE-5534-4D62-6699-CEB260E43E36}"/>
              </a:ext>
            </a:extLst>
          </p:cNvPr>
          <p:cNvSpPr/>
          <p:nvPr/>
        </p:nvSpPr>
        <p:spPr>
          <a:xfrm>
            <a:off x="2414014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 err="1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인터렉션실</a:t>
            </a:r>
            <a:endParaRPr lang="en-US" altLang="ko-KR" sz="1100" b="1" kern="1200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24" name="사각형: 둥근 대각선 방향 모서리 23">
            <a:extLst>
              <a:ext uri="{FF2B5EF4-FFF2-40B4-BE49-F238E27FC236}">
                <a16:creationId xmlns:a16="http://schemas.microsoft.com/office/drawing/2014/main" id="{80E140B4-98DA-513D-E88F-0AC1D6FA2C4C}"/>
              </a:ext>
            </a:extLst>
          </p:cNvPr>
          <p:cNvSpPr/>
          <p:nvPr/>
        </p:nvSpPr>
        <p:spPr>
          <a:xfrm>
            <a:off x="3443762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서비스개발실</a:t>
            </a:r>
            <a:endParaRPr lang="en-US" altLang="ko-KR" sz="1000" b="1" kern="1200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976F9669-36AF-45E5-5EF8-6069DF17138C}"/>
              </a:ext>
            </a:extLst>
          </p:cNvPr>
          <p:cNvCxnSpPr>
            <a:cxnSpLocks/>
          </p:cNvCxnSpPr>
          <p:nvPr/>
        </p:nvCxnSpPr>
        <p:spPr>
          <a:xfrm rot="5400000">
            <a:off x="5910752" y="5034457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사각형: 둥근 대각선 방향 모서리 25">
            <a:extLst>
              <a:ext uri="{FF2B5EF4-FFF2-40B4-BE49-F238E27FC236}">
                <a16:creationId xmlns:a16="http://schemas.microsoft.com/office/drawing/2014/main" id="{D9CC16EE-EFED-6E7D-C870-7ACC45B0905A}"/>
              </a:ext>
            </a:extLst>
          </p:cNvPr>
          <p:cNvSpPr/>
          <p:nvPr/>
        </p:nvSpPr>
        <p:spPr>
          <a:xfrm>
            <a:off x="447351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DT</a:t>
            </a:r>
            <a:r>
              <a:rPr lang="ko-KR" altLang="en-US" sz="11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개발실</a:t>
            </a:r>
            <a:endParaRPr lang="en-US" altLang="ko-KR" sz="1100" b="1" kern="1200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27" name="사각형: 둥근 대각선 방향 모서리 26">
            <a:extLst>
              <a:ext uri="{FF2B5EF4-FFF2-40B4-BE49-F238E27FC236}">
                <a16:creationId xmlns:a16="http://schemas.microsoft.com/office/drawing/2014/main" id="{B7210924-A162-3FE7-69AF-30AAB810AB55}"/>
              </a:ext>
            </a:extLst>
          </p:cNvPr>
          <p:cNvSpPr/>
          <p:nvPr/>
        </p:nvSpPr>
        <p:spPr>
          <a:xfrm>
            <a:off x="550326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PMO</a:t>
            </a:r>
            <a:r>
              <a:rPr lang="ko-KR" altLang="en-US" sz="1100" b="1" dirty="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그룹</a:t>
            </a:r>
            <a:endParaRPr lang="en-US" altLang="ko-KR" sz="1100" b="1" kern="1200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DE74C688-45D6-E169-87C0-186D4D3DA66A}"/>
              </a:ext>
            </a:extLst>
          </p:cNvPr>
          <p:cNvSpPr/>
          <p:nvPr/>
        </p:nvSpPr>
        <p:spPr>
          <a:xfrm>
            <a:off x="1837390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BF8A45C4-E52B-E3F7-6B98-CC983486E543}"/>
              </a:ext>
            </a:extLst>
          </p:cNvPr>
          <p:cNvSpPr/>
          <p:nvPr/>
        </p:nvSpPr>
        <p:spPr>
          <a:xfrm>
            <a:off x="2872839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4EFBEC15-A06B-A5F1-C85F-B9EDE9048682}"/>
              </a:ext>
            </a:extLst>
          </p:cNvPr>
          <p:cNvCxnSpPr>
            <a:cxnSpLocks/>
          </p:cNvCxnSpPr>
          <p:nvPr/>
        </p:nvCxnSpPr>
        <p:spPr>
          <a:xfrm rot="5400000">
            <a:off x="384660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1EF59933-0965-71D5-DBE7-9864B3600C00}"/>
              </a:ext>
            </a:extLst>
          </p:cNvPr>
          <p:cNvSpPr/>
          <p:nvPr/>
        </p:nvSpPr>
        <p:spPr>
          <a:xfrm>
            <a:off x="390060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3C6C4885-4971-AF2E-9203-5BFFA6583A7D}"/>
              </a:ext>
            </a:extLst>
          </p:cNvPr>
          <p:cNvSpPr/>
          <p:nvPr/>
        </p:nvSpPr>
        <p:spPr>
          <a:xfrm>
            <a:off x="490575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5B7D6E93-064A-A3D9-EE10-3AEF605C9F2F}"/>
              </a:ext>
            </a:extLst>
          </p:cNvPr>
          <p:cNvSpPr/>
          <p:nvPr/>
        </p:nvSpPr>
        <p:spPr>
          <a:xfrm>
            <a:off x="596602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F91730B-581D-D247-8FB5-AB089D19B4C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CB04FB87-A903-1586-F969-16A99EA02D8A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조직도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1C4F5DC3-5742-3599-CDA7-F5C781536CB1}"/>
              </a:ext>
            </a:extLst>
          </p:cNvPr>
          <p:cNvCxnSpPr>
            <a:cxnSpLocks/>
          </p:cNvCxnSpPr>
          <p:nvPr/>
        </p:nvCxnSpPr>
        <p:spPr>
          <a:xfrm>
            <a:off x="312925" y="576983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11DCE031-233D-0CE0-2037-A1AD20C743FA}"/>
              </a:ext>
            </a:extLst>
          </p:cNvPr>
          <p:cNvSpPr txBox="1"/>
          <p:nvPr/>
        </p:nvSpPr>
        <p:spPr>
          <a:xfrm>
            <a:off x="335012" y="574376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기술등급별 구성</a:t>
            </a:r>
          </a:p>
        </p:txBody>
      </p:sp>
      <p:sp>
        <p:nvSpPr>
          <p:cNvPr id="47" name="모서리가 둥근 직사각형 237">
            <a:extLst>
              <a:ext uri="{FF2B5EF4-FFF2-40B4-BE49-F238E27FC236}">
                <a16:creationId xmlns:a16="http://schemas.microsoft.com/office/drawing/2014/main" id="{11A8C616-D2AB-9820-69AB-5F83192CC90C}"/>
              </a:ext>
            </a:extLst>
          </p:cNvPr>
          <p:cNvSpPr/>
          <p:nvPr/>
        </p:nvSpPr>
        <p:spPr>
          <a:xfrm>
            <a:off x="297365" y="6005370"/>
            <a:ext cx="6213894" cy="1815847"/>
          </a:xfrm>
          <a:prstGeom prst="roundRect">
            <a:avLst>
              <a:gd name="adj" fmla="val 6303"/>
            </a:avLst>
          </a:prstGeom>
          <a:solidFill>
            <a:schemeClr val="bg1"/>
          </a:solidFill>
          <a:ln w="6350">
            <a:solidFill>
              <a:srgbClr val="BFBFBF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15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0AEC6F2-A997-5186-DA5A-063B5C3FFA12}"/>
              </a:ext>
            </a:extLst>
          </p:cNvPr>
          <p:cNvSpPr txBox="1"/>
          <p:nvPr/>
        </p:nvSpPr>
        <p:spPr>
          <a:xfrm>
            <a:off x="346741" y="7424381"/>
            <a:ext cx="154504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특급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22</a:t>
            </a: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(18.8%)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80246EA-C515-749E-4886-2B3EBCD77A5D}"/>
              </a:ext>
            </a:extLst>
          </p:cNvPr>
          <p:cNvSpPr txBox="1"/>
          <p:nvPr/>
        </p:nvSpPr>
        <p:spPr>
          <a:xfrm>
            <a:off x="1873715" y="7424381"/>
            <a:ext cx="15405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고급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16</a:t>
            </a: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(13.7%)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D72EF86-581F-2D51-EABD-640A4F931EFF}"/>
              </a:ext>
            </a:extLst>
          </p:cNvPr>
          <p:cNvSpPr txBox="1"/>
          <p:nvPr/>
        </p:nvSpPr>
        <p:spPr>
          <a:xfrm>
            <a:off x="3342559" y="7424381"/>
            <a:ext cx="154504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중급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19</a:t>
            </a: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(16.2%)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F0586E0-69C9-DEEE-32FB-A0C157A9608F}"/>
              </a:ext>
            </a:extLst>
          </p:cNvPr>
          <p:cNvSpPr txBox="1"/>
          <p:nvPr/>
        </p:nvSpPr>
        <p:spPr>
          <a:xfrm>
            <a:off x="4905753" y="7424381"/>
            <a:ext cx="15686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초급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60</a:t>
            </a: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(%)</a:t>
            </a:r>
          </a:p>
        </p:txBody>
      </p:sp>
      <p:pic>
        <p:nvPicPr>
          <p:cNvPr id="52" name="그림 51">
            <a:extLst>
              <a:ext uri="{FF2B5EF4-FFF2-40B4-BE49-F238E27FC236}">
                <a16:creationId xmlns:a16="http://schemas.microsoft.com/office/drawing/2014/main" id="{CB3048B5-6B99-CF3E-ACF0-2709859759B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5522" t="17867" r="16321" b="16573"/>
          <a:stretch>
            <a:fillRect/>
          </a:stretch>
        </p:blipFill>
        <p:spPr>
          <a:xfrm>
            <a:off x="5292417" y="6473209"/>
            <a:ext cx="657130" cy="632082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D9B7C1D3-2890-5482-7E4A-8EF28A2F010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6791" t="16767" r="17152" b="19389"/>
          <a:stretch>
            <a:fillRect/>
          </a:stretch>
        </p:blipFill>
        <p:spPr>
          <a:xfrm>
            <a:off x="2254461" y="6341134"/>
            <a:ext cx="784492" cy="758206"/>
          </a:xfrm>
          <a:prstGeom prst="rect">
            <a:avLst/>
          </a:prstGeom>
        </p:spPr>
      </p:pic>
      <p:pic>
        <p:nvPicPr>
          <p:cNvPr id="54" name="그림 53">
            <a:extLst>
              <a:ext uri="{FF2B5EF4-FFF2-40B4-BE49-F238E27FC236}">
                <a16:creationId xmlns:a16="http://schemas.microsoft.com/office/drawing/2014/main" id="{D470321B-06CB-B5B9-6596-978E96D7BF7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6386" y="6111282"/>
            <a:ext cx="1276342" cy="1276344"/>
          </a:xfrm>
          <a:prstGeom prst="rect">
            <a:avLst/>
          </a:prstGeom>
        </p:spPr>
      </p:pic>
      <p:pic>
        <p:nvPicPr>
          <p:cNvPr id="55" name="그림 54">
            <a:extLst>
              <a:ext uri="{FF2B5EF4-FFF2-40B4-BE49-F238E27FC236}">
                <a16:creationId xmlns:a16="http://schemas.microsoft.com/office/drawing/2014/main" id="{D6829497-E7DA-4441-DA3B-5C63B239DF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1570" y="6278245"/>
            <a:ext cx="1068230" cy="1068232"/>
          </a:xfrm>
          <a:prstGeom prst="rect">
            <a:avLst/>
          </a:prstGeom>
        </p:spPr>
      </p:pic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78EC638E-81AC-4150-971F-9D6CE7E06DBF}"/>
              </a:ext>
            </a:extLst>
          </p:cNvPr>
          <p:cNvCxnSpPr>
            <a:cxnSpLocks/>
          </p:cNvCxnSpPr>
          <p:nvPr/>
        </p:nvCxnSpPr>
        <p:spPr>
          <a:xfrm rot="5400000">
            <a:off x="1401893" y="4097943"/>
            <a:ext cx="76337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D6AA08B-0981-9EED-97D8-6FB38E370900}"/>
              </a:ext>
            </a:extLst>
          </p:cNvPr>
          <p:cNvSpPr/>
          <p:nvPr/>
        </p:nvSpPr>
        <p:spPr>
          <a:xfrm>
            <a:off x="577390" y="3482255"/>
            <a:ext cx="2520000" cy="468000"/>
          </a:xfrm>
          <a:prstGeom prst="roundRect">
            <a:avLst/>
          </a:prstGeom>
          <a:solidFill>
            <a:schemeClr val="bg1"/>
          </a:solidFill>
          <a:ln w="19050">
            <a:solidFill>
              <a:srgbClr val="24529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rgbClr val="245292"/>
                </a:solidFill>
                <a:latin typeface="나눔스퀘어_ac" panose="020B0600000101010101" pitchFamily="50" charset="-127"/>
                <a:ea typeface="나눔스퀘어_ac ExtraBold" panose="020B0600000101010101" pitchFamily="50" charset="-127"/>
              </a:rPr>
              <a:t>CFO</a:t>
            </a:r>
            <a:endParaRPr lang="en-US" altLang="ko-KR" sz="1400" dirty="0">
              <a:solidFill>
                <a:schemeClr val="tx1">
                  <a:lumMod val="65000"/>
                  <a:lumOff val="3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37" name="사각형: 둥근 대각선 방향 모서리 36">
            <a:extLst>
              <a:ext uri="{FF2B5EF4-FFF2-40B4-BE49-F238E27FC236}">
                <a16:creationId xmlns:a16="http://schemas.microsoft.com/office/drawing/2014/main" id="{3CA277E7-1587-792A-4F2E-20F019B3089C}"/>
              </a:ext>
            </a:extLst>
          </p:cNvPr>
          <p:cNvSpPr/>
          <p:nvPr/>
        </p:nvSpPr>
        <p:spPr>
          <a:xfrm>
            <a:off x="1023977" y="4226690"/>
            <a:ext cx="1620000" cy="360000"/>
          </a:xfrm>
          <a:prstGeom prst="round2Diag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경영기획팀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97729863-A595-40A7-6E3D-63F8BF521D2E}"/>
              </a:ext>
            </a:extLst>
          </p:cNvPr>
          <p:cNvCxnSpPr>
            <a:cxnSpLocks/>
          </p:cNvCxnSpPr>
          <p:nvPr/>
        </p:nvCxnSpPr>
        <p:spPr>
          <a:xfrm rot="5400000">
            <a:off x="4710661" y="4097943"/>
            <a:ext cx="76337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85D15A9E-82D8-DE1E-8D7F-BE086F757BBA}"/>
              </a:ext>
            </a:extLst>
          </p:cNvPr>
          <p:cNvSpPr/>
          <p:nvPr/>
        </p:nvSpPr>
        <p:spPr>
          <a:xfrm>
            <a:off x="3832349" y="3482255"/>
            <a:ext cx="2520000" cy="468000"/>
          </a:xfrm>
          <a:prstGeom prst="roundRect">
            <a:avLst/>
          </a:prstGeom>
          <a:solidFill>
            <a:schemeClr val="bg1"/>
          </a:solidFill>
          <a:ln w="19050">
            <a:solidFill>
              <a:srgbClr val="24529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rgbClr val="245292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CTO</a:t>
            </a:r>
            <a:endParaRPr lang="en-US" altLang="ko-KR" sz="1400" dirty="0">
              <a:solidFill>
                <a:schemeClr val="tx1">
                  <a:lumMod val="65000"/>
                  <a:lumOff val="3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39" name="사각형: 둥근 대각선 방향 모서리 38">
            <a:extLst>
              <a:ext uri="{FF2B5EF4-FFF2-40B4-BE49-F238E27FC236}">
                <a16:creationId xmlns:a16="http://schemas.microsoft.com/office/drawing/2014/main" id="{47310C30-CDE6-6126-C9C4-C7FED3939C77}"/>
              </a:ext>
            </a:extLst>
          </p:cNvPr>
          <p:cNvSpPr/>
          <p:nvPr/>
        </p:nvSpPr>
        <p:spPr>
          <a:xfrm>
            <a:off x="4282349" y="4226690"/>
            <a:ext cx="1620000" cy="360000"/>
          </a:xfrm>
          <a:prstGeom prst="round2Diag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rPr>
              <a:t>QA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rPr>
              <a:t>팀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934023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3FCA9E-941C-0E6C-27A9-47919BF6D9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BFA161FA-3D58-249A-6D41-BB0F3BF3E59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E83BCE2-222D-BA81-B4B4-B12F13A7BBE5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D2859C5-76A6-7963-2AE0-8AAEE61CE7A8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4.2.1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주관기관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dirty="0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에이치나인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PM</a:t>
            </a:r>
            <a:endParaRPr lang="ko-KR" altLang="ko-KR" sz="1400" spc="-19" dirty="0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E25E877-41BF-BF67-E29A-6D642BEE830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조직 및 인력 구성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2D345325-4EFE-4F1C-5A04-E5E6C7091F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8094470"/>
              </p:ext>
            </p:extLst>
          </p:nvPr>
        </p:nvGraphicFramePr>
        <p:xfrm>
          <a:off x="302559" y="1555717"/>
          <a:ext cx="6307950" cy="10486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8311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798311">
                  <a:extLst>
                    <a:ext uri="{9D8B030D-6E8A-4147-A177-3AD203B41FA5}">
                      <a16:colId xmlns:a16="http://schemas.microsoft.com/office/drawing/2014/main" val="4182940944"/>
                    </a:ext>
                  </a:extLst>
                </a:gridCol>
                <a:gridCol w="729719">
                  <a:extLst>
                    <a:ext uri="{9D8B030D-6E8A-4147-A177-3AD203B41FA5}">
                      <a16:colId xmlns:a16="http://schemas.microsoft.com/office/drawing/2014/main" val="3354895225"/>
                    </a:ext>
                  </a:extLst>
                </a:gridCol>
                <a:gridCol w="1323975">
                  <a:extLst>
                    <a:ext uri="{9D8B030D-6E8A-4147-A177-3AD203B41FA5}">
                      <a16:colId xmlns:a16="http://schemas.microsoft.com/office/drawing/2014/main" val="3362536120"/>
                    </a:ext>
                  </a:extLst>
                </a:gridCol>
                <a:gridCol w="590550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82867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  <a:gridCol w="590709">
                  <a:extLst>
                    <a:ext uri="{9D8B030D-6E8A-4147-A177-3AD203B41FA5}">
                      <a16:colId xmlns:a16="http://schemas.microsoft.com/office/drawing/2014/main" val="3349288715"/>
                    </a:ext>
                  </a:extLst>
                </a:gridCol>
              </a:tblGrid>
              <a:tr h="33317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성 명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소 속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직 책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endParaRPr lang="ko-KR" alt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연 령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endParaRPr lang="en-US" sz="1000" b="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참여인력 등급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196482"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자격증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39622794"/>
                  </a:ext>
                </a:extLst>
              </a:tr>
              <a:tr h="174271"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본사업참여임무</a:t>
                      </a:r>
                    </a:p>
                  </a:txBody>
                  <a:tcPr marL="17907" marR="17907" marT="17907" marB="17907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kern="1200" err="1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목표투입공수</a:t>
                      </a:r>
                      <a:endParaRPr lang="en-US" altLang="ko-KR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endParaRPr 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1544676"/>
                  </a:ext>
                </a:extLst>
              </a:tr>
            </a:tbl>
          </a:graphicData>
        </a:graphic>
      </p:graphicFrame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C1854A93-2C6E-9501-2067-D3138708DA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3045468"/>
              </p:ext>
            </p:extLst>
          </p:nvPr>
        </p:nvGraphicFramePr>
        <p:xfrm>
          <a:off x="302559" y="2836438"/>
          <a:ext cx="6340401" cy="67038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85125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110584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995696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129732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  <a:gridCol w="919264">
                  <a:extLst>
                    <a:ext uri="{9D8B030D-6E8A-4147-A177-3AD203B41FA5}">
                      <a16:colId xmlns:a16="http://schemas.microsoft.com/office/drawing/2014/main" val="3619228267"/>
                    </a:ext>
                  </a:extLst>
                </a:gridCol>
              </a:tblGrid>
              <a:tr h="253941">
                <a:tc gridSpan="5"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경 력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39905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명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참 여 기 간</a:t>
                      </a:r>
                    </a:p>
                    <a:p>
                      <a:pPr marL="0" marR="0" indent="0" algn="ctr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(</a:t>
                      </a:r>
                      <a:r>
                        <a:rPr lang="ko-KR" altLang="en-US" sz="1100" b="1" kern="1200" err="1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년월</a:t>
                      </a: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 ～ </a:t>
                      </a:r>
                      <a:r>
                        <a:rPr lang="ko-KR" altLang="en-US" sz="1100" b="1" kern="1200" err="1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년월</a:t>
                      </a:r>
                      <a:r>
                        <a:rPr 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)</a:t>
                      </a:r>
                      <a:endParaRPr lang="ko-KR" altLang="en-US" sz="1100" b="1" kern="1200">
                        <a:solidFill>
                          <a:schemeClr val="lt1"/>
                        </a:solidFill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담 당 업 무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발 주 처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비 고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129648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7650744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1544676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912816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0926263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85498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974340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7546272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4667790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8857252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7439552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9990631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009900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6529512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887742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947826"/>
                  </a:ext>
                </a:extLst>
              </a:tr>
              <a:tr h="378176"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1000" u="none" strike="noStrike" kern="1200" cap="none" dirty="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1427059"/>
                  </a:ext>
                </a:extLst>
              </a:tr>
            </a:tbl>
          </a:graphicData>
        </a:graphic>
      </p:graphicFrame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361C25BD-D2CE-630E-1C35-4D4F759890D2}"/>
              </a:ext>
            </a:extLst>
          </p:cNvPr>
          <p:cNvSpPr/>
          <p:nvPr/>
        </p:nvSpPr>
        <p:spPr>
          <a:xfrm>
            <a:off x="2205504" y="2923568"/>
            <a:ext cx="2897138" cy="4058864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HNINE</a:t>
            </a:r>
          </a:p>
        </p:txBody>
      </p:sp>
    </p:spTree>
    <p:extLst>
      <p:ext uri="{BB962C8B-B14F-4D97-AF65-F5344CB8AC3E}">
        <p14:creationId xmlns:p14="http://schemas.microsoft.com/office/powerpoint/2010/main" val="36370489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4A7CCF-2FE6-249B-5766-381D4FF1EE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6FEF6612-F1B7-EACA-D6D4-EA1661B395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999D681-1BA9-1383-FF42-B1A6BEE77897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32E103-A1CF-55DE-DE4C-70AA68EFC066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와이젠정보기술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6EF62AB-28FA-2102-B6E5-35094CEA055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조직 및 인력 구성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AF866FB-9C87-03E7-BF66-BB70109EA6F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0E079CA7-0C26-8A2D-FE35-FB8A1F35A79A}"/>
              </a:ext>
            </a:extLst>
          </p:cNvPr>
          <p:cNvCxnSpPr>
            <a:cxnSpLocks/>
          </p:cNvCxnSpPr>
          <p:nvPr/>
        </p:nvCxnSpPr>
        <p:spPr>
          <a:xfrm rot="5400000">
            <a:off x="1783390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20E0A37B-EA23-C93D-CFDA-D69E1F0F8980}"/>
              </a:ext>
            </a:extLst>
          </p:cNvPr>
          <p:cNvCxnSpPr>
            <a:cxnSpLocks/>
          </p:cNvCxnSpPr>
          <p:nvPr/>
        </p:nvCxnSpPr>
        <p:spPr>
          <a:xfrm rot="5400000">
            <a:off x="2818839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E5CCC691-547E-FFE9-3EC4-B8F50CA72F42}"/>
              </a:ext>
            </a:extLst>
          </p:cNvPr>
          <p:cNvCxnSpPr>
            <a:cxnSpLocks/>
          </p:cNvCxnSpPr>
          <p:nvPr/>
        </p:nvCxnSpPr>
        <p:spPr>
          <a:xfrm rot="5400000">
            <a:off x="790085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1032A2D2-A97C-308A-B302-B2EFF2DDEA5C}"/>
              </a:ext>
            </a:extLst>
          </p:cNvPr>
          <p:cNvCxnSpPr>
            <a:cxnSpLocks/>
          </p:cNvCxnSpPr>
          <p:nvPr/>
        </p:nvCxnSpPr>
        <p:spPr>
          <a:xfrm rot="5400000">
            <a:off x="2552021" y="4049460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0AED5BC-D55F-82C5-5ED9-6D567610688B}"/>
              </a:ext>
            </a:extLst>
          </p:cNvPr>
          <p:cNvSpPr/>
          <p:nvPr/>
        </p:nvSpPr>
        <p:spPr>
          <a:xfrm>
            <a:off x="2192021" y="2778550"/>
            <a:ext cx="2520000" cy="540000"/>
          </a:xfrm>
          <a:prstGeom prst="roundRect">
            <a:avLst/>
          </a:prstGeom>
          <a:solidFill>
            <a:srgbClr val="245292"/>
          </a:solidFill>
          <a:ln w="38100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대표이사</a:t>
            </a:r>
            <a:endParaRPr lang="en-US" altLang="ko-KR" sz="1200">
              <a:solidFill>
                <a:schemeClr val="bg1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938D61-84C0-5747-D915-E96559BF986A}"/>
              </a:ext>
            </a:extLst>
          </p:cNvPr>
          <p:cNvSpPr/>
          <p:nvPr/>
        </p:nvSpPr>
        <p:spPr>
          <a:xfrm>
            <a:off x="2192021" y="3474209"/>
            <a:ext cx="2520000" cy="468000"/>
          </a:xfrm>
          <a:prstGeom prst="roundRect">
            <a:avLst/>
          </a:prstGeom>
          <a:solidFill>
            <a:schemeClr val="bg1"/>
          </a:solidFill>
          <a:ln w="19050">
            <a:solidFill>
              <a:srgbClr val="24529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>
                <a:solidFill>
                  <a:srgbClr val="245292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1</a:t>
            </a:r>
            <a:endParaRPr lang="en-US" altLang="ko-KR" sz="1400">
              <a:solidFill>
                <a:schemeClr val="tx1">
                  <a:lumMod val="65000"/>
                  <a:lumOff val="3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4" name="사각형: 둥근 대각선 방향 모서리 13">
            <a:extLst>
              <a:ext uri="{FF2B5EF4-FFF2-40B4-BE49-F238E27FC236}">
                <a16:creationId xmlns:a16="http://schemas.microsoft.com/office/drawing/2014/main" id="{973AE82D-621F-AF70-1B0A-30082C469E52}"/>
              </a:ext>
            </a:extLst>
          </p:cNvPr>
          <p:cNvSpPr/>
          <p:nvPr/>
        </p:nvSpPr>
        <p:spPr>
          <a:xfrm>
            <a:off x="354518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 latinLnBrk="0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  <a:endParaRPr lang="ko-KR" altLang="en-US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15" name="사각형: 둥근 대각선 방향 모서리 14">
            <a:extLst>
              <a:ext uri="{FF2B5EF4-FFF2-40B4-BE49-F238E27FC236}">
                <a16:creationId xmlns:a16="http://schemas.microsoft.com/office/drawing/2014/main" id="{75F45A9C-4801-9F32-F318-BEBEF82E7EF8}"/>
              </a:ext>
            </a:extLst>
          </p:cNvPr>
          <p:cNvSpPr/>
          <p:nvPr/>
        </p:nvSpPr>
        <p:spPr>
          <a:xfrm>
            <a:off x="1384266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16" name="사각형: 둥근 대각선 방향 모서리 15">
            <a:extLst>
              <a:ext uri="{FF2B5EF4-FFF2-40B4-BE49-F238E27FC236}">
                <a16:creationId xmlns:a16="http://schemas.microsoft.com/office/drawing/2014/main" id="{99CFBF72-0B51-7CDE-039A-D02F678368B0}"/>
              </a:ext>
            </a:extLst>
          </p:cNvPr>
          <p:cNvSpPr/>
          <p:nvPr/>
        </p:nvSpPr>
        <p:spPr>
          <a:xfrm>
            <a:off x="354518" y="4272655"/>
            <a:ext cx="1620000" cy="360000"/>
          </a:xfrm>
          <a:prstGeom prst="round2Diag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1</a:t>
            </a:r>
            <a:endParaRPr lang="en-US" altLang="ko-KR" sz="1200">
              <a:solidFill>
                <a:schemeClr val="tx1">
                  <a:lumMod val="75000"/>
                  <a:lumOff val="2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8DBE525-A702-FEB2-2995-B02C82CB8158}"/>
              </a:ext>
            </a:extLst>
          </p:cNvPr>
          <p:cNvSpPr/>
          <p:nvPr/>
        </p:nvSpPr>
        <p:spPr>
          <a:xfrm>
            <a:off x="84408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0AC8A7F7-2F32-3AA7-A3BB-6184CCD9AEC2}"/>
              </a:ext>
            </a:extLst>
          </p:cNvPr>
          <p:cNvCxnSpPr>
            <a:cxnSpLocks/>
          </p:cNvCxnSpPr>
          <p:nvPr/>
        </p:nvCxnSpPr>
        <p:spPr>
          <a:xfrm>
            <a:off x="880085" y="4946992"/>
            <a:ext cx="512066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3E3ECFD2-5C49-57D7-7B51-7E05F90EF858}"/>
              </a:ext>
            </a:extLst>
          </p:cNvPr>
          <p:cNvCxnSpPr>
            <a:cxnSpLocks/>
          </p:cNvCxnSpPr>
          <p:nvPr/>
        </p:nvCxnSpPr>
        <p:spPr>
          <a:xfrm>
            <a:off x="1936005" y="4425760"/>
            <a:ext cx="151601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타원 19">
            <a:extLst>
              <a:ext uri="{FF2B5EF4-FFF2-40B4-BE49-F238E27FC236}">
                <a16:creationId xmlns:a16="http://schemas.microsoft.com/office/drawing/2014/main" id="{A0438CA5-97D9-B6E3-DDDE-A8322B11CBB5}"/>
              </a:ext>
            </a:extLst>
          </p:cNvPr>
          <p:cNvSpPr/>
          <p:nvPr/>
        </p:nvSpPr>
        <p:spPr>
          <a:xfrm>
            <a:off x="1929553" y="4391873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CD4CF039-10F5-A583-FE46-AA77DDE9EDC9}"/>
              </a:ext>
            </a:extLst>
          </p:cNvPr>
          <p:cNvCxnSpPr>
            <a:cxnSpLocks/>
          </p:cNvCxnSpPr>
          <p:nvPr/>
        </p:nvCxnSpPr>
        <p:spPr>
          <a:xfrm rot="5400000">
            <a:off x="485175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사각형: 둥근 대각선 방향 모서리 21">
            <a:extLst>
              <a:ext uri="{FF2B5EF4-FFF2-40B4-BE49-F238E27FC236}">
                <a16:creationId xmlns:a16="http://schemas.microsoft.com/office/drawing/2014/main" id="{9AA8A080-175C-510E-5726-0A980E8D27F3}"/>
              </a:ext>
            </a:extLst>
          </p:cNvPr>
          <p:cNvSpPr/>
          <p:nvPr/>
        </p:nvSpPr>
        <p:spPr>
          <a:xfrm>
            <a:off x="2414014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23" name="사각형: 둥근 대각선 방향 모서리 22">
            <a:extLst>
              <a:ext uri="{FF2B5EF4-FFF2-40B4-BE49-F238E27FC236}">
                <a16:creationId xmlns:a16="http://schemas.microsoft.com/office/drawing/2014/main" id="{7F22DE96-6E5F-3FC8-C9C7-7C1339046618}"/>
              </a:ext>
            </a:extLst>
          </p:cNvPr>
          <p:cNvSpPr/>
          <p:nvPr/>
        </p:nvSpPr>
        <p:spPr>
          <a:xfrm>
            <a:off x="3443762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C10FAF3E-92AC-9C76-B167-5B5498D534C1}"/>
              </a:ext>
            </a:extLst>
          </p:cNvPr>
          <p:cNvCxnSpPr>
            <a:cxnSpLocks/>
          </p:cNvCxnSpPr>
          <p:nvPr/>
        </p:nvCxnSpPr>
        <p:spPr>
          <a:xfrm rot="5400000">
            <a:off x="5910752" y="5034457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사각형: 둥근 대각선 방향 모서리 24">
            <a:extLst>
              <a:ext uri="{FF2B5EF4-FFF2-40B4-BE49-F238E27FC236}">
                <a16:creationId xmlns:a16="http://schemas.microsoft.com/office/drawing/2014/main" id="{813CBD5E-86FD-4EDB-F510-73580FF21921}"/>
              </a:ext>
            </a:extLst>
          </p:cNvPr>
          <p:cNvSpPr/>
          <p:nvPr/>
        </p:nvSpPr>
        <p:spPr>
          <a:xfrm>
            <a:off x="447351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26" name="사각형: 둥근 대각선 방향 모서리 25">
            <a:extLst>
              <a:ext uri="{FF2B5EF4-FFF2-40B4-BE49-F238E27FC236}">
                <a16:creationId xmlns:a16="http://schemas.microsoft.com/office/drawing/2014/main" id="{623F66F3-6B0B-0116-3561-52F667DAF7BD}"/>
              </a:ext>
            </a:extLst>
          </p:cNvPr>
          <p:cNvSpPr/>
          <p:nvPr/>
        </p:nvSpPr>
        <p:spPr>
          <a:xfrm>
            <a:off x="550326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65A2BE0D-ABB2-A6FC-9CE4-63400538D044}"/>
              </a:ext>
            </a:extLst>
          </p:cNvPr>
          <p:cNvSpPr/>
          <p:nvPr/>
        </p:nvSpPr>
        <p:spPr>
          <a:xfrm>
            <a:off x="1837390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F2D5E06-D863-5D4D-0A0E-C18E1B59CE37}"/>
              </a:ext>
            </a:extLst>
          </p:cNvPr>
          <p:cNvSpPr/>
          <p:nvPr/>
        </p:nvSpPr>
        <p:spPr>
          <a:xfrm>
            <a:off x="2872839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AE747119-7304-5B9D-0622-2CE5E8631887}"/>
              </a:ext>
            </a:extLst>
          </p:cNvPr>
          <p:cNvCxnSpPr>
            <a:cxnSpLocks/>
          </p:cNvCxnSpPr>
          <p:nvPr/>
        </p:nvCxnSpPr>
        <p:spPr>
          <a:xfrm rot="5400000">
            <a:off x="384660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타원 30">
            <a:extLst>
              <a:ext uri="{FF2B5EF4-FFF2-40B4-BE49-F238E27FC236}">
                <a16:creationId xmlns:a16="http://schemas.microsoft.com/office/drawing/2014/main" id="{812B100C-E7B0-8DD9-AAB3-30B7303E9752}"/>
              </a:ext>
            </a:extLst>
          </p:cNvPr>
          <p:cNvSpPr/>
          <p:nvPr/>
        </p:nvSpPr>
        <p:spPr>
          <a:xfrm>
            <a:off x="390060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7A821071-1414-D507-6F50-A414526E1532}"/>
              </a:ext>
            </a:extLst>
          </p:cNvPr>
          <p:cNvSpPr/>
          <p:nvPr/>
        </p:nvSpPr>
        <p:spPr>
          <a:xfrm>
            <a:off x="490575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8E5A84E8-DB50-9392-7952-78FC6629F036}"/>
              </a:ext>
            </a:extLst>
          </p:cNvPr>
          <p:cNvSpPr/>
          <p:nvPr/>
        </p:nvSpPr>
        <p:spPr>
          <a:xfrm>
            <a:off x="596602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936CE0A8-B5CD-41BD-8DCF-2697040B0E5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06A09BAB-A9BE-336D-75CC-82E1006C2914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조직도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C34DC1C-FC93-1AC0-7609-BE6D2B5C2097}"/>
              </a:ext>
            </a:extLst>
          </p:cNvPr>
          <p:cNvCxnSpPr>
            <a:cxnSpLocks/>
          </p:cNvCxnSpPr>
          <p:nvPr/>
        </p:nvCxnSpPr>
        <p:spPr>
          <a:xfrm>
            <a:off x="312925" y="576983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76484858-4E59-D572-BD4F-C25DAACD78E7}"/>
              </a:ext>
            </a:extLst>
          </p:cNvPr>
          <p:cNvSpPr txBox="1"/>
          <p:nvPr/>
        </p:nvSpPr>
        <p:spPr>
          <a:xfrm>
            <a:off x="335012" y="574376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기술등급별 구성</a:t>
            </a:r>
          </a:p>
        </p:txBody>
      </p:sp>
      <p:sp>
        <p:nvSpPr>
          <p:cNvPr id="38" name="모서리가 둥근 직사각형 237">
            <a:extLst>
              <a:ext uri="{FF2B5EF4-FFF2-40B4-BE49-F238E27FC236}">
                <a16:creationId xmlns:a16="http://schemas.microsoft.com/office/drawing/2014/main" id="{3678598E-5A2A-B2C0-6D7A-31B0C29FA3EC}"/>
              </a:ext>
            </a:extLst>
          </p:cNvPr>
          <p:cNvSpPr/>
          <p:nvPr/>
        </p:nvSpPr>
        <p:spPr>
          <a:xfrm>
            <a:off x="297365" y="6005370"/>
            <a:ext cx="6213894" cy="1815847"/>
          </a:xfrm>
          <a:prstGeom prst="roundRect">
            <a:avLst>
              <a:gd name="adj" fmla="val 6303"/>
            </a:avLst>
          </a:prstGeom>
          <a:solidFill>
            <a:schemeClr val="bg1"/>
          </a:solidFill>
          <a:ln w="6350">
            <a:solidFill>
              <a:srgbClr val="BFBFBF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15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0D678C3-30AE-740F-ED53-1EA41B55459F}"/>
              </a:ext>
            </a:extLst>
          </p:cNvPr>
          <p:cNvSpPr txBox="1"/>
          <p:nvPr/>
        </p:nvSpPr>
        <p:spPr>
          <a:xfrm>
            <a:off x="346741" y="7424381"/>
            <a:ext cx="154504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특급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12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(28%)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5377ED4-21C2-4230-6BB0-EDAC54F67F81}"/>
              </a:ext>
            </a:extLst>
          </p:cNvPr>
          <p:cNvSpPr txBox="1"/>
          <p:nvPr/>
        </p:nvSpPr>
        <p:spPr>
          <a:xfrm>
            <a:off x="1873715" y="7424381"/>
            <a:ext cx="15405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5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(11.6%)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04AD216-E790-0DE8-135A-1844183F3BE6}"/>
              </a:ext>
            </a:extLst>
          </p:cNvPr>
          <p:cNvSpPr txBox="1"/>
          <p:nvPr/>
        </p:nvSpPr>
        <p:spPr>
          <a:xfrm>
            <a:off x="3443763" y="7424381"/>
            <a:ext cx="144384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6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(14%)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187E90F-E56C-5C62-3BD7-2AC1BD0B7267}"/>
              </a:ext>
            </a:extLst>
          </p:cNvPr>
          <p:cNvSpPr txBox="1"/>
          <p:nvPr/>
        </p:nvSpPr>
        <p:spPr>
          <a:xfrm>
            <a:off x="4905753" y="7424381"/>
            <a:ext cx="15686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20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(46.4%)</a:t>
            </a:r>
          </a:p>
        </p:txBody>
      </p:sp>
      <p:pic>
        <p:nvPicPr>
          <p:cNvPr id="43" name="그림 42">
            <a:extLst>
              <a:ext uri="{FF2B5EF4-FFF2-40B4-BE49-F238E27FC236}">
                <a16:creationId xmlns:a16="http://schemas.microsoft.com/office/drawing/2014/main" id="{44B63077-A4A0-BEC1-9C2E-6486B3EA4CC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5522" t="17867" r="16321" b="16573"/>
          <a:stretch>
            <a:fillRect/>
          </a:stretch>
        </p:blipFill>
        <p:spPr>
          <a:xfrm>
            <a:off x="5292417" y="6473209"/>
            <a:ext cx="657130" cy="632082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107CCEF8-841B-E957-1AA4-7C8C6A4DF2F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6791" t="16767" r="17152" b="19389"/>
          <a:stretch>
            <a:fillRect/>
          </a:stretch>
        </p:blipFill>
        <p:spPr>
          <a:xfrm>
            <a:off x="2254461" y="6341134"/>
            <a:ext cx="784492" cy="758206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E6C81BDA-57CD-4EA7-B953-D1EC5625A1A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6386" y="6111282"/>
            <a:ext cx="1276342" cy="1276344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31E8955F-1883-1489-877A-5F5B9D293F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1570" y="6278245"/>
            <a:ext cx="1068230" cy="1068232"/>
          </a:xfrm>
          <a:prstGeom prst="rect">
            <a:avLst/>
          </a:prstGeom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A15A59F-68B6-EC2F-164B-FD360705990F}"/>
              </a:ext>
            </a:extLst>
          </p:cNvPr>
          <p:cNvSpPr/>
          <p:nvPr/>
        </p:nvSpPr>
        <p:spPr>
          <a:xfrm>
            <a:off x="1577135" y="4070863"/>
            <a:ext cx="3703730" cy="3297323"/>
          </a:xfrm>
          <a:prstGeom prst="roundRect">
            <a:avLst>
              <a:gd name="adj" fmla="val 5153"/>
            </a:avLst>
          </a:prstGeom>
          <a:solidFill>
            <a:schemeClr val="accent6">
              <a:lumMod val="40000"/>
              <a:lumOff val="6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와이젠정보기술</a:t>
            </a:r>
            <a:endParaRPr lang="en-US" altLang="ko-KR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611462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465327-CF2A-8F07-DD31-549A532D1F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EB8C083F-B0FB-4B21-FB79-015227C194B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56871A-3B93-C866-B6DF-6BBAC1D29FED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9626F92-FF86-B85A-C5B4-C6FBB6549AEA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4.2.3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보안관련업체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3B90808-CF4B-2F16-7513-1EE8A44C05F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조직 및 인력 구성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8E7F31E-7B30-8A67-712D-5DADDD1163C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83ACBB7-51C9-EC4C-BC3D-8A4053F0D004}"/>
              </a:ext>
            </a:extLst>
          </p:cNvPr>
          <p:cNvCxnSpPr>
            <a:cxnSpLocks/>
          </p:cNvCxnSpPr>
          <p:nvPr/>
        </p:nvCxnSpPr>
        <p:spPr>
          <a:xfrm rot="5400000">
            <a:off x="1783390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8EC8550B-B484-E5B7-EA92-E269CE2AAC73}"/>
              </a:ext>
            </a:extLst>
          </p:cNvPr>
          <p:cNvCxnSpPr>
            <a:cxnSpLocks/>
          </p:cNvCxnSpPr>
          <p:nvPr/>
        </p:nvCxnSpPr>
        <p:spPr>
          <a:xfrm rot="5400000">
            <a:off x="2818839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A56C79C4-B298-6217-B0CF-86BF371FD0EC}"/>
              </a:ext>
            </a:extLst>
          </p:cNvPr>
          <p:cNvCxnSpPr>
            <a:cxnSpLocks/>
          </p:cNvCxnSpPr>
          <p:nvPr/>
        </p:nvCxnSpPr>
        <p:spPr>
          <a:xfrm rot="5400000">
            <a:off x="790085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BAB38F06-A3DA-983A-4608-3A5D71AD98F1}"/>
              </a:ext>
            </a:extLst>
          </p:cNvPr>
          <p:cNvCxnSpPr>
            <a:cxnSpLocks/>
          </p:cNvCxnSpPr>
          <p:nvPr/>
        </p:nvCxnSpPr>
        <p:spPr>
          <a:xfrm rot="5400000">
            <a:off x="2552021" y="4049460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C413A0F-7D3F-46B0-64ED-3096A9252355}"/>
              </a:ext>
            </a:extLst>
          </p:cNvPr>
          <p:cNvSpPr/>
          <p:nvPr/>
        </p:nvSpPr>
        <p:spPr>
          <a:xfrm>
            <a:off x="2192021" y="2778550"/>
            <a:ext cx="2520000" cy="540000"/>
          </a:xfrm>
          <a:prstGeom prst="roundRect">
            <a:avLst/>
          </a:prstGeom>
          <a:solidFill>
            <a:srgbClr val="245292"/>
          </a:solidFill>
          <a:ln w="38100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대표이사</a:t>
            </a:r>
            <a:endParaRPr lang="en-US" altLang="ko-KR" sz="1200">
              <a:solidFill>
                <a:schemeClr val="bg1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44C36BFD-BE0A-2B19-2C87-A91DBACC277B}"/>
              </a:ext>
            </a:extLst>
          </p:cNvPr>
          <p:cNvSpPr/>
          <p:nvPr/>
        </p:nvSpPr>
        <p:spPr>
          <a:xfrm>
            <a:off x="2192021" y="3474209"/>
            <a:ext cx="2520000" cy="468000"/>
          </a:xfrm>
          <a:prstGeom prst="roundRect">
            <a:avLst/>
          </a:prstGeom>
          <a:solidFill>
            <a:schemeClr val="bg1"/>
          </a:solidFill>
          <a:ln w="19050">
            <a:solidFill>
              <a:srgbClr val="24529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>
                <a:solidFill>
                  <a:srgbClr val="245292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1</a:t>
            </a:r>
            <a:endParaRPr lang="en-US" altLang="ko-KR" sz="1400">
              <a:solidFill>
                <a:schemeClr val="tx1">
                  <a:lumMod val="65000"/>
                  <a:lumOff val="3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4" name="사각형: 둥근 대각선 방향 모서리 13">
            <a:extLst>
              <a:ext uri="{FF2B5EF4-FFF2-40B4-BE49-F238E27FC236}">
                <a16:creationId xmlns:a16="http://schemas.microsoft.com/office/drawing/2014/main" id="{3975F245-217A-7403-1AC4-AB5DEFA21450}"/>
              </a:ext>
            </a:extLst>
          </p:cNvPr>
          <p:cNvSpPr/>
          <p:nvPr/>
        </p:nvSpPr>
        <p:spPr>
          <a:xfrm>
            <a:off x="354518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 latinLnBrk="0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  <a:endParaRPr lang="ko-KR" altLang="en-US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15" name="사각형: 둥근 대각선 방향 모서리 14">
            <a:extLst>
              <a:ext uri="{FF2B5EF4-FFF2-40B4-BE49-F238E27FC236}">
                <a16:creationId xmlns:a16="http://schemas.microsoft.com/office/drawing/2014/main" id="{15ED35F9-1B3F-C21D-6F42-05DA5E33CBC2}"/>
              </a:ext>
            </a:extLst>
          </p:cNvPr>
          <p:cNvSpPr/>
          <p:nvPr/>
        </p:nvSpPr>
        <p:spPr>
          <a:xfrm>
            <a:off x="1384266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16" name="사각형: 둥근 대각선 방향 모서리 15">
            <a:extLst>
              <a:ext uri="{FF2B5EF4-FFF2-40B4-BE49-F238E27FC236}">
                <a16:creationId xmlns:a16="http://schemas.microsoft.com/office/drawing/2014/main" id="{E6C01951-3F73-8F4D-B625-1974420A4826}"/>
              </a:ext>
            </a:extLst>
          </p:cNvPr>
          <p:cNvSpPr/>
          <p:nvPr/>
        </p:nvSpPr>
        <p:spPr>
          <a:xfrm>
            <a:off x="354518" y="4272655"/>
            <a:ext cx="1620000" cy="360000"/>
          </a:xfrm>
          <a:prstGeom prst="round2Diag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1</a:t>
            </a:r>
            <a:endParaRPr lang="en-US" altLang="ko-KR" sz="1200">
              <a:solidFill>
                <a:schemeClr val="tx1">
                  <a:lumMod val="75000"/>
                  <a:lumOff val="2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4F91F5B-AB41-CA84-3388-A304B59307F9}"/>
              </a:ext>
            </a:extLst>
          </p:cNvPr>
          <p:cNvSpPr/>
          <p:nvPr/>
        </p:nvSpPr>
        <p:spPr>
          <a:xfrm>
            <a:off x="84408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8AA6C69A-C6E2-C02A-0EC8-027C85FB1D93}"/>
              </a:ext>
            </a:extLst>
          </p:cNvPr>
          <p:cNvCxnSpPr>
            <a:cxnSpLocks/>
          </p:cNvCxnSpPr>
          <p:nvPr/>
        </p:nvCxnSpPr>
        <p:spPr>
          <a:xfrm>
            <a:off x="880085" y="4946992"/>
            <a:ext cx="512066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56FEAE40-3691-4DF7-D196-416E9527F648}"/>
              </a:ext>
            </a:extLst>
          </p:cNvPr>
          <p:cNvCxnSpPr>
            <a:cxnSpLocks/>
          </p:cNvCxnSpPr>
          <p:nvPr/>
        </p:nvCxnSpPr>
        <p:spPr>
          <a:xfrm>
            <a:off x="1936005" y="4425760"/>
            <a:ext cx="151601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타원 19">
            <a:extLst>
              <a:ext uri="{FF2B5EF4-FFF2-40B4-BE49-F238E27FC236}">
                <a16:creationId xmlns:a16="http://schemas.microsoft.com/office/drawing/2014/main" id="{E168E1CD-68E3-7C98-E5F2-B804E9815F80}"/>
              </a:ext>
            </a:extLst>
          </p:cNvPr>
          <p:cNvSpPr/>
          <p:nvPr/>
        </p:nvSpPr>
        <p:spPr>
          <a:xfrm>
            <a:off x="1929553" y="4391873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6AD8C08-BAC5-621F-FBA3-362FEF9DB9AD}"/>
              </a:ext>
            </a:extLst>
          </p:cNvPr>
          <p:cNvCxnSpPr>
            <a:cxnSpLocks/>
          </p:cNvCxnSpPr>
          <p:nvPr/>
        </p:nvCxnSpPr>
        <p:spPr>
          <a:xfrm rot="5400000">
            <a:off x="485175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사각형: 둥근 대각선 방향 모서리 21">
            <a:extLst>
              <a:ext uri="{FF2B5EF4-FFF2-40B4-BE49-F238E27FC236}">
                <a16:creationId xmlns:a16="http://schemas.microsoft.com/office/drawing/2014/main" id="{86A919F6-3E8F-4639-E1E1-0BE8DCBC6F03}"/>
              </a:ext>
            </a:extLst>
          </p:cNvPr>
          <p:cNvSpPr/>
          <p:nvPr/>
        </p:nvSpPr>
        <p:spPr>
          <a:xfrm>
            <a:off x="2414014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23" name="사각형: 둥근 대각선 방향 모서리 22">
            <a:extLst>
              <a:ext uri="{FF2B5EF4-FFF2-40B4-BE49-F238E27FC236}">
                <a16:creationId xmlns:a16="http://schemas.microsoft.com/office/drawing/2014/main" id="{5BCFAD62-F58D-8B51-99B3-62D572A564F8}"/>
              </a:ext>
            </a:extLst>
          </p:cNvPr>
          <p:cNvSpPr/>
          <p:nvPr/>
        </p:nvSpPr>
        <p:spPr>
          <a:xfrm>
            <a:off x="3443762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F5F23E95-8146-3C5F-8BF8-8D44FA39B213}"/>
              </a:ext>
            </a:extLst>
          </p:cNvPr>
          <p:cNvCxnSpPr>
            <a:cxnSpLocks/>
          </p:cNvCxnSpPr>
          <p:nvPr/>
        </p:nvCxnSpPr>
        <p:spPr>
          <a:xfrm rot="5400000">
            <a:off x="5910752" y="5034457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사각형: 둥근 대각선 방향 모서리 24">
            <a:extLst>
              <a:ext uri="{FF2B5EF4-FFF2-40B4-BE49-F238E27FC236}">
                <a16:creationId xmlns:a16="http://schemas.microsoft.com/office/drawing/2014/main" id="{5E554508-6267-1B07-7845-377AE90E7AE7}"/>
              </a:ext>
            </a:extLst>
          </p:cNvPr>
          <p:cNvSpPr/>
          <p:nvPr/>
        </p:nvSpPr>
        <p:spPr>
          <a:xfrm>
            <a:off x="447351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26" name="사각형: 둥근 대각선 방향 모서리 25">
            <a:extLst>
              <a:ext uri="{FF2B5EF4-FFF2-40B4-BE49-F238E27FC236}">
                <a16:creationId xmlns:a16="http://schemas.microsoft.com/office/drawing/2014/main" id="{6C441403-6602-770E-6CF4-FA2ADD1D1CDF}"/>
              </a:ext>
            </a:extLst>
          </p:cNvPr>
          <p:cNvSpPr/>
          <p:nvPr/>
        </p:nvSpPr>
        <p:spPr>
          <a:xfrm>
            <a:off x="550326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1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F6E5E8F9-EA30-91FE-64A8-B75FA9E64C49}"/>
              </a:ext>
            </a:extLst>
          </p:cNvPr>
          <p:cNvSpPr/>
          <p:nvPr/>
        </p:nvSpPr>
        <p:spPr>
          <a:xfrm>
            <a:off x="1837390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0527CC8-31C4-046C-3595-F485B912458E}"/>
              </a:ext>
            </a:extLst>
          </p:cNvPr>
          <p:cNvSpPr/>
          <p:nvPr/>
        </p:nvSpPr>
        <p:spPr>
          <a:xfrm>
            <a:off x="2872839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DFC66C4D-AAF1-93E2-F830-5620EFECB655}"/>
              </a:ext>
            </a:extLst>
          </p:cNvPr>
          <p:cNvCxnSpPr>
            <a:cxnSpLocks/>
          </p:cNvCxnSpPr>
          <p:nvPr/>
        </p:nvCxnSpPr>
        <p:spPr>
          <a:xfrm rot="5400000">
            <a:off x="384660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타원 30">
            <a:extLst>
              <a:ext uri="{FF2B5EF4-FFF2-40B4-BE49-F238E27FC236}">
                <a16:creationId xmlns:a16="http://schemas.microsoft.com/office/drawing/2014/main" id="{61E7FECF-5074-B3E6-C47B-170C852ECC0F}"/>
              </a:ext>
            </a:extLst>
          </p:cNvPr>
          <p:cNvSpPr/>
          <p:nvPr/>
        </p:nvSpPr>
        <p:spPr>
          <a:xfrm>
            <a:off x="390060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8BAF1D29-FDAE-8BCB-4CD2-00F2E09E60AA}"/>
              </a:ext>
            </a:extLst>
          </p:cNvPr>
          <p:cNvSpPr/>
          <p:nvPr/>
        </p:nvSpPr>
        <p:spPr>
          <a:xfrm>
            <a:off x="490575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F59E3C6A-6B08-37A8-15D9-4F9904B403FD}"/>
              </a:ext>
            </a:extLst>
          </p:cNvPr>
          <p:cNvSpPr/>
          <p:nvPr/>
        </p:nvSpPr>
        <p:spPr>
          <a:xfrm>
            <a:off x="596602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C84B45F8-0B2D-D0B2-97C3-302C1E58285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48F7EB50-6DE7-F428-B56E-47BF2E1D193E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조직도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FC99B1CA-FC34-A670-8FDE-679367745214}"/>
              </a:ext>
            </a:extLst>
          </p:cNvPr>
          <p:cNvCxnSpPr>
            <a:cxnSpLocks/>
          </p:cNvCxnSpPr>
          <p:nvPr/>
        </p:nvCxnSpPr>
        <p:spPr>
          <a:xfrm>
            <a:off x="312925" y="576983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A1F81B93-EEB0-64A3-00D0-ACCD5C8DAC39}"/>
              </a:ext>
            </a:extLst>
          </p:cNvPr>
          <p:cNvSpPr txBox="1"/>
          <p:nvPr/>
        </p:nvSpPr>
        <p:spPr>
          <a:xfrm>
            <a:off x="335012" y="574376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기술등급별 구성</a:t>
            </a:r>
          </a:p>
        </p:txBody>
      </p:sp>
      <p:sp>
        <p:nvSpPr>
          <p:cNvPr id="38" name="모서리가 둥근 직사각형 237">
            <a:extLst>
              <a:ext uri="{FF2B5EF4-FFF2-40B4-BE49-F238E27FC236}">
                <a16:creationId xmlns:a16="http://schemas.microsoft.com/office/drawing/2014/main" id="{918A06CC-38D3-8972-3410-0F3DE9AAB74C}"/>
              </a:ext>
            </a:extLst>
          </p:cNvPr>
          <p:cNvSpPr/>
          <p:nvPr/>
        </p:nvSpPr>
        <p:spPr>
          <a:xfrm>
            <a:off x="297365" y="6005370"/>
            <a:ext cx="6213894" cy="1815847"/>
          </a:xfrm>
          <a:prstGeom prst="roundRect">
            <a:avLst>
              <a:gd name="adj" fmla="val 6303"/>
            </a:avLst>
          </a:prstGeom>
          <a:solidFill>
            <a:schemeClr val="bg1"/>
          </a:solidFill>
          <a:ln w="6350">
            <a:solidFill>
              <a:srgbClr val="BFBFBF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15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9C132A-0735-059C-AA4A-877B1FAB9BAF}"/>
              </a:ext>
            </a:extLst>
          </p:cNvPr>
          <p:cNvSpPr txBox="1"/>
          <p:nvPr/>
        </p:nvSpPr>
        <p:spPr>
          <a:xfrm>
            <a:off x="346741" y="7424381"/>
            <a:ext cx="154504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특급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12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(28%)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9B65E0F-82E3-57AC-F109-FAB486E1D16F}"/>
              </a:ext>
            </a:extLst>
          </p:cNvPr>
          <p:cNvSpPr txBox="1"/>
          <p:nvPr/>
        </p:nvSpPr>
        <p:spPr>
          <a:xfrm>
            <a:off x="1873715" y="7424381"/>
            <a:ext cx="15405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5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(11.6%)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D7C8B27-DE79-D886-1F16-642022292D74}"/>
              </a:ext>
            </a:extLst>
          </p:cNvPr>
          <p:cNvSpPr txBox="1"/>
          <p:nvPr/>
        </p:nvSpPr>
        <p:spPr>
          <a:xfrm>
            <a:off x="3443763" y="7424381"/>
            <a:ext cx="144384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6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(14%)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03B9283-A1ED-197D-3F56-1838418F564A}"/>
              </a:ext>
            </a:extLst>
          </p:cNvPr>
          <p:cNvSpPr txBox="1"/>
          <p:nvPr/>
        </p:nvSpPr>
        <p:spPr>
          <a:xfrm>
            <a:off x="4905753" y="7424381"/>
            <a:ext cx="15686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20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(46.4%)</a:t>
            </a:r>
          </a:p>
        </p:txBody>
      </p:sp>
      <p:pic>
        <p:nvPicPr>
          <p:cNvPr id="43" name="그림 42">
            <a:extLst>
              <a:ext uri="{FF2B5EF4-FFF2-40B4-BE49-F238E27FC236}">
                <a16:creationId xmlns:a16="http://schemas.microsoft.com/office/drawing/2014/main" id="{0DBF6862-2C35-820E-E1C7-11039AAC242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5522" t="17867" r="16321" b="16573"/>
          <a:stretch>
            <a:fillRect/>
          </a:stretch>
        </p:blipFill>
        <p:spPr>
          <a:xfrm>
            <a:off x="5292417" y="6473209"/>
            <a:ext cx="657130" cy="632082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A1235D25-9628-694C-5179-9FCADCC04D5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6791" t="16767" r="17152" b="19389"/>
          <a:stretch>
            <a:fillRect/>
          </a:stretch>
        </p:blipFill>
        <p:spPr>
          <a:xfrm>
            <a:off x="2254461" y="6341134"/>
            <a:ext cx="784492" cy="758206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16FCC132-764E-E79B-8071-7AF8E0E6F9A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6386" y="6111282"/>
            <a:ext cx="1276342" cy="1276344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613BA0E9-C478-77C3-EC83-4578F0C470E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1570" y="6278245"/>
            <a:ext cx="1068230" cy="1068232"/>
          </a:xfrm>
          <a:prstGeom prst="rect">
            <a:avLst/>
          </a:prstGeom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BDBC016F-480E-965A-4393-1CD209C1E344}"/>
              </a:ext>
            </a:extLst>
          </p:cNvPr>
          <p:cNvSpPr/>
          <p:nvPr/>
        </p:nvSpPr>
        <p:spPr>
          <a:xfrm>
            <a:off x="2016592" y="3292637"/>
            <a:ext cx="2813852" cy="3831930"/>
          </a:xfrm>
          <a:prstGeom prst="roundRect">
            <a:avLst>
              <a:gd name="adj" fmla="val 5153"/>
            </a:avLst>
          </a:prstGeom>
          <a:solidFill>
            <a:schemeClr val="bg2">
              <a:lumMod val="75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보완관련업체</a:t>
            </a:r>
            <a:endParaRPr lang="en-US" altLang="ko-KR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3553514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2669E3-1DF6-0492-38EB-8420D00C3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0B98AB94-2BFB-8907-7788-F8DA727228E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수행 조직 및 인원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F09BAB4-E382-F5E2-EF50-6C08930D71CF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76C110-2F8A-2F3E-6EA2-D46E23FDB784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4.2.4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참여기관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_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테크노베이션파트너스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038FE5-5CA0-6300-B231-EA6456B2BDD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조직 및 인력 구성</a:t>
            </a:r>
          </a:p>
        </p:txBody>
      </p:sp>
      <p:sp>
        <p:nvSpPr>
          <p:cNvPr id="7" name="모서리가 둥근 직사각형 237">
            <a:extLst>
              <a:ext uri="{FF2B5EF4-FFF2-40B4-BE49-F238E27FC236}">
                <a16:creationId xmlns:a16="http://schemas.microsoft.com/office/drawing/2014/main" id="{54408D5B-32DE-4198-BE58-7F21571435B1}"/>
              </a:ext>
            </a:extLst>
          </p:cNvPr>
          <p:cNvSpPr/>
          <p:nvPr/>
        </p:nvSpPr>
        <p:spPr>
          <a:xfrm>
            <a:off x="333471" y="5940169"/>
            <a:ext cx="6213894" cy="1454579"/>
          </a:xfrm>
          <a:prstGeom prst="roundRect">
            <a:avLst>
              <a:gd name="adj" fmla="val 6303"/>
            </a:avLst>
          </a:prstGeom>
          <a:solidFill>
            <a:schemeClr val="bg1"/>
          </a:solidFill>
          <a:ln w="6350">
            <a:solidFill>
              <a:srgbClr val="BFBFBF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515"/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E271A32-9B71-56D8-B009-9F60813B3D8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주관기관은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2026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7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현재 총원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43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명의 임직원과 자문위원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명으로 구성되어 있으며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특급 기술자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(28%)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보유</a:t>
            </a:r>
            <a:endParaRPr kumimoji="1" lang="en-US" altLang="ko-KR" sz="1200" dirty="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C5190C8D-F358-BAC0-58AB-FBE19F1A790A}"/>
              </a:ext>
            </a:extLst>
          </p:cNvPr>
          <p:cNvCxnSpPr>
            <a:cxnSpLocks/>
          </p:cNvCxnSpPr>
          <p:nvPr/>
        </p:nvCxnSpPr>
        <p:spPr>
          <a:xfrm rot="5400000">
            <a:off x="1783390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43762BF6-DFC1-869D-F63C-343B9B07730C}"/>
              </a:ext>
            </a:extLst>
          </p:cNvPr>
          <p:cNvCxnSpPr>
            <a:cxnSpLocks/>
          </p:cNvCxnSpPr>
          <p:nvPr/>
        </p:nvCxnSpPr>
        <p:spPr>
          <a:xfrm rot="5400000">
            <a:off x="2818839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F886FC2C-D1F9-C83E-9A65-2825D72DDCFE}"/>
              </a:ext>
            </a:extLst>
          </p:cNvPr>
          <p:cNvCxnSpPr>
            <a:cxnSpLocks/>
          </p:cNvCxnSpPr>
          <p:nvPr/>
        </p:nvCxnSpPr>
        <p:spPr>
          <a:xfrm rot="5400000">
            <a:off x="790085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16981388-ECEA-3E6E-1D34-94819FBD04A8}"/>
              </a:ext>
            </a:extLst>
          </p:cNvPr>
          <p:cNvCxnSpPr>
            <a:cxnSpLocks/>
          </p:cNvCxnSpPr>
          <p:nvPr/>
        </p:nvCxnSpPr>
        <p:spPr>
          <a:xfrm rot="5400000">
            <a:off x="2552021" y="4049460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B92EC93-D8FF-634A-D02A-3DEC12065AC1}"/>
              </a:ext>
            </a:extLst>
          </p:cNvPr>
          <p:cNvSpPr/>
          <p:nvPr/>
        </p:nvSpPr>
        <p:spPr>
          <a:xfrm>
            <a:off x="2192021" y="2778550"/>
            <a:ext cx="2520000" cy="540000"/>
          </a:xfrm>
          <a:prstGeom prst="roundRect">
            <a:avLst/>
          </a:prstGeom>
          <a:solidFill>
            <a:srgbClr val="245292"/>
          </a:solidFill>
          <a:ln w="38100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대표이사</a:t>
            </a:r>
            <a:endParaRPr lang="en-US" altLang="ko-KR" sz="1200">
              <a:solidFill>
                <a:schemeClr val="bg1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435FBF00-5C49-8705-1AA6-E03DE70A7E34}"/>
              </a:ext>
            </a:extLst>
          </p:cNvPr>
          <p:cNvSpPr/>
          <p:nvPr/>
        </p:nvSpPr>
        <p:spPr>
          <a:xfrm>
            <a:off x="2192021" y="3474209"/>
            <a:ext cx="2520000" cy="468000"/>
          </a:xfrm>
          <a:prstGeom prst="roundRect">
            <a:avLst/>
          </a:prstGeom>
          <a:solidFill>
            <a:schemeClr val="bg1"/>
          </a:solidFill>
          <a:ln w="19050">
            <a:solidFill>
              <a:srgbClr val="24529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solidFill>
                  <a:srgbClr val="245292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부사장</a:t>
            </a:r>
            <a:endParaRPr lang="en-US" altLang="ko-KR" sz="1400">
              <a:solidFill>
                <a:schemeClr val="tx1">
                  <a:lumMod val="65000"/>
                  <a:lumOff val="3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6" name="사각형: 둥근 대각선 방향 모서리 15">
            <a:extLst>
              <a:ext uri="{FF2B5EF4-FFF2-40B4-BE49-F238E27FC236}">
                <a16:creationId xmlns:a16="http://schemas.microsoft.com/office/drawing/2014/main" id="{6F13E335-6A9C-9370-07EC-7A4C6C01C779}"/>
              </a:ext>
            </a:extLst>
          </p:cNvPr>
          <p:cNvSpPr/>
          <p:nvPr/>
        </p:nvSpPr>
        <p:spPr>
          <a:xfrm>
            <a:off x="354518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 latinLnBrk="0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R&amp;D </a:t>
            </a:r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혁신사업 본부</a:t>
            </a:r>
          </a:p>
        </p:txBody>
      </p:sp>
      <p:sp>
        <p:nvSpPr>
          <p:cNvPr id="17" name="사각형: 둥근 대각선 방향 모서리 16">
            <a:extLst>
              <a:ext uri="{FF2B5EF4-FFF2-40B4-BE49-F238E27FC236}">
                <a16:creationId xmlns:a16="http://schemas.microsoft.com/office/drawing/2014/main" id="{B400B9E7-1BA9-33F2-B36A-00B71E3DE032}"/>
              </a:ext>
            </a:extLst>
          </p:cNvPr>
          <p:cNvSpPr/>
          <p:nvPr/>
        </p:nvSpPr>
        <p:spPr>
          <a:xfrm>
            <a:off x="1384266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kern="1200" err="1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버티컬</a:t>
            </a:r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AX</a:t>
            </a:r>
            <a:b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</a:br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본부</a:t>
            </a:r>
            <a:endParaRPr lang="en-US" altLang="ko-KR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18" name="사각형: 둥근 대각선 방향 모서리 17">
            <a:extLst>
              <a:ext uri="{FF2B5EF4-FFF2-40B4-BE49-F238E27FC236}">
                <a16:creationId xmlns:a16="http://schemas.microsoft.com/office/drawing/2014/main" id="{EBE816C4-0DBA-E6B6-B3D6-E75F83C8440B}"/>
              </a:ext>
            </a:extLst>
          </p:cNvPr>
          <p:cNvSpPr/>
          <p:nvPr/>
        </p:nvSpPr>
        <p:spPr>
          <a:xfrm>
            <a:off x="354518" y="4272655"/>
            <a:ext cx="1620000" cy="360000"/>
          </a:xfrm>
          <a:prstGeom prst="round2Diag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</a:rPr>
              <a:t>자문위원</a:t>
            </a: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rPr>
              <a:t>(2</a:t>
            </a:r>
            <a:r>
              <a:rPr lang="ko-KR" altLang="en-US" sz="9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rPr>
              <a:t>인</a:t>
            </a:r>
            <a:r>
              <a:rPr lang="en-US" altLang="ko-KR" sz="900">
                <a:solidFill>
                  <a:schemeClr val="tx1">
                    <a:lumMod val="75000"/>
                    <a:lumOff val="25000"/>
                  </a:schemeClr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rPr>
              <a:t>)</a:t>
            </a:r>
            <a:endParaRPr lang="en-US" altLang="ko-KR" sz="1200">
              <a:solidFill>
                <a:schemeClr val="tx1">
                  <a:lumMod val="75000"/>
                  <a:lumOff val="25000"/>
                </a:schemeClr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67C7210-BC77-F726-0223-ADD170A3AC23}"/>
              </a:ext>
            </a:extLst>
          </p:cNvPr>
          <p:cNvSpPr/>
          <p:nvPr/>
        </p:nvSpPr>
        <p:spPr>
          <a:xfrm>
            <a:off x="84408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F783B66-C8F1-7E22-6384-B5BE9515DE7F}"/>
              </a:ext>
            </a:extLst>
          </p:cNvPr>
          <p:cNvCxnSpPr>
            <a:cxnSpLocks/>
          </p:cNvCxnSpPr>
          <p:nvPr/>
        </p:nvCxnSpPr>
        <p:spPr>
          <a:xfrm>
            <a:off x="880085" y="4946992"/>
            <a:ext cx="512066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7331919F-C530-B42B-D63A-AA72D8EE0B76}"/>
              </a:ext>
            </a:extLst>
          </p:cNvPr>
          <p:cNvCxnSpPr>
            <a:cxnSpLocks/>
          </p:cNvCxnSpPr>
          <p:nvPr/>
        </p:nvCxnSpPr>
        <p:spPr>
          <a:xfrm>
            <a:off x="1936005" y="4425760"/>
            <a:ext cx="151601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타원 21">
            <a:extLst>
              <a:ext uri="{FF2B5EF4-FFF2-40B4-BE49-F238E27FC236}">
                <a16:creationId xmlns:a16="http://schemas.microsoft.com/office/drawing/2014/main" id="{4D9F993F-F858-C0C7-6CCF-5AD362BE376B}"/>
              </a:ext>
            </a:extLst>
          </p:cNvPr>
          <p:cNvSpPr/>
          <p:nvPr/>
        </p:nvSpPr>
        <p:spPr>
          <a:xfrm>
            <a:off x="1929553" y="4391873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85D45106-78AD-8DC2-8897-1F009655D47D}"/>
              </a:ext>
            </a:extLst>
          </p:cNvPr>
          <p:cNvCxnSpPr>
            <a:cxnSpLocks/>
          </p:cNvCxnSpPr>
          <p:nvPr/>
        </p:nvCxnSpPr>
        <p:spPr>
          <a:xfrm rot="5400000">
            <a:off x="485175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사각형: 둥근 대각선 방향 모서리 23">
            <a:extLst>
              <a:ext uri="{FF2B5EF4-FFF2-40B4-BE49-F238E27FC236}">
                <a16:creationId xmlns:a16="http://schemas.microsoft.com/office/drawing/2014/main" id="{30067F3C-D561-88B4-E31B-6EA43B02A6D3}"/>
              </a:ext>
            </a:extLst>
          </p:cNvPr>
          <p:cNvSpPr/>
          <p:nvPr/>
        </p:nvSpPr>
        <p:spPr>
          <a:xfrm>
            <a:off x="2414014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공공</a:t>
            </a:r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AX</a:t>
            </a:r>
            <a:b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</a:br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본부</a:t>
            </a:r>
            <a:endParaRPr lang="en-US" altLang="ko-KR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25" name="사각형: 둥근 대각선 방향 모서리 24">
            <a:extLst>
              <a:ext uri="{FF2B5EF4-FFF2-40B4-BE49-F238E27FC236}">
                <a16:creationId xmlns:a16="http://schemas.microsoft.com/office/drawing/2014/main" id="{C7810928-3CC0-993A-5337-4F66E320EEE2}"/>
              </a:ext>
            </a:extLst>
          </p:cNvPr>
          <p:cNvSpPr/>
          <p:nvPr/>
        </p:nvSpPr>
        <p:spPr>
          <a:xfrm>
            <a:off x="3443762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전략기술</a:t>
            </a:r>
            <a:b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</a:br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본부</a:t>
            </a:r>
            <a:endParaRPr lang="en-US" altLang="ko-KR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07C71704-5448-42E2-D321-7621C5A8652F}"/>
              </a:ext>
            </a:extLst>
          </p:cNvPr>
          <p:cNvCxnSpPr>
            <a:cxnSpLocks/>
          </p:cNvCxnSpPr>
          <p:nvPr/>
        </p:nvCxnSpPr>
        <p:spPr>
          <a:xfrm rot="5400000">
            <a:off x="5910752" y="5034457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사각형: 둥근 대각선 방향 모서리 26">
            <a:extLst>
              <a:ext uri="{FF2B5EF4-FFF2-40B4-BE49-F238E27FC236}">
                <a16:creationId xmlns:a16="http://schemas.microsoft.com/office/drawing/2014/main" id="{C1B7A815-A0EE-EDA1-E264-F9EB5018AEE4}"/>
              </a:ext>
            </a:extLst>
          </p:cNvPr>
          <p:cNvSpPr/>
          <p:nvPr/>
        </p:nvSpPr>
        <p:spPr>
          <a:xfrm>
            <a:off x="447351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AX Hub</a:t>
            </a:r>
            <a:br>
              <a:rPr lang="en-US" altLang="ko-KR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</a:br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연구소</a:t>
            </a:r>
            <a:endParaRPr lang="en-US" altLang="ko-KR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28" name="사각형: 둥근 대각선 방향 모서리 27">
            <a:extLst>
              <a:ext uri="{FF2B5EF4-FFF2-40B4-BE49-F238E27FC236}">
                <a16:creationId xmlns:a16="http://schemas.microsoft.com/office/drawing/2014/main" id="{F5615D01-6DFC-3FCC-1241-336CE626D357}"/>
              </a:ext>
            </a:extLst>
          </p:cNvPr>
          <p:cNvSpPr/>
          <p:nvPr/>
        </p:nvSpPr>
        <p:spPr>
          <a:xfrm>
            <a:off x="5503260" y="5065588"/>
            <a:ext cx="1008000" cy="360000"/>
          </a:xfrm>
          <a:prstGeom prst="round2Diag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kern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bg1"/>
                </a:solidFill>
                <a:latin typeface="나눔스퀘어_ac ExtraBold" panose="020B0600000101010101" pitchFamily="50" charset="-127"/>
                <a:ea typeface="나눔스퀘어_ac ExtraBold" panose="020B0600000101010101" pitchFamily="50" charset="-127"/>
                <a:cs typeface="+mn-cs"/>
              </a:rPr>
              <a:t>경영기획실</a:t>
            </a:r>
            <a:endParaRPr lang="en-US" altLang="ko-KR" sz="1100" b="1" kern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나눔스퀘어_ac ExtraBold" panose="020B0600000101010101" pitchFamily="50" charset="-127"/>
              <a:ea typeface="나눔스퀘어_ac ExtraBold" panose="020B0600000101010101" pitchFamily="50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35BEE5FB-35C2-0BB7-B3E7-1EAE2C46C399}"/>
              </a:ext>
            </a:extLst>
          </p:cNvPr>
          <p:cNvSpPr/>
          <p:nvPr/>
        </p:nvSpPr>
        <p:spPr>
          <a:xfrm>
            <a:off x="1837390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9A8AB1F8-A7E2-072A-5B4F-A6387B5EBF24}"/>
              </a:ext>
            </a:extLst>
          </p:cNvPr>
          <p:cNvSpPr/>
          <p:nvPr/>
        </p:nvSpPr>
        <p:spPr>
          <a:xfrm>
            <a:off x="2872839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0A5CA97B-F7A1-18CA-937C-A2E22EC2B7D8}"/>
              </a:ext>
            </a:extLst>
          </p:cNvPr>
          <p:cNvCxnSpPr>
            <a:cxnSpLocks/>
          </p:cNvCxnSpPr>
          <p:nvPr/>
        </p:nvCxnSpPr>
        <p:spPr>
          <a:xfrm rot="5400000">
            <a:off x="3846602" y="5034458"/>
            <a:ext cx="1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타원 32">
            <a:extLst>
              <a:ext uri="{FF2B5EF4-FFF2-40B4-BE49-F238E27FC236}">
                <a16:creationId xmlns:a16="http://schemas.microsoft.com/office/drawing/2014/main" id="{32CA0573-DF84-6EAD-2088-704E47B41318}"/>
              </a:ext>
            </a:extLst>
          </p:cNvPr>
          <p:cNvSpPr/>
          <p:nvPr/>
        </p:nvSpPr>
        <p:spPr>
          <a:xfrm>
            <a:off x="390060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E11061C8-7FD4-7B65-48BF-699633211E08}"/>
              </a:ext>
            </a:extLst>
          </p:cNvPr>
          <p:cNvSpPr/>
          <p:nvPr/>
        </p:nvSpPr>
        <p:spPr>
          <a:xfrm>
            <a:off x="4905752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64FBD6EC-C20C-8E76-1170-6B6B91AEEAE6}"/>
              </a:ext>
            </a:extLst>
          </p:cNvPr>
          <p:cNvSpPr/>
          <p:nvPr/>
        </p:nvSpPr>
        <p:spPr>
          <a:xfrm>
            <a:off x="5966025" y="5019425"/>
            <a:ext cx="72000" cy="720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7875CA5F-8253-900F-493B-1BE9391D92B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D5EAC46C-BEBD-1A64-F0B0-4428D96374A7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조직도</a:t>
            </a:r>
          </a:p>
        </p:txBody>
      </p:sp>
      <p:pic>
        <p:nvPicPr>
          <p:cNvPr id="38" name="그림 37">
            <a:extLst>
              <a:ext uri="{FF2B5EF4-FFF2-40B4-BE49-F238E27FC236}">
                <a16:creationId xmlns:a16="http://schemas.microsoft.com/office/drawing/2014/main" id="{664421B2-7030-C009-238E-82F680F8FC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9619" y="6114620"/>
            <a:ext cx="724954" cy="733282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DE8E71EA-A136-E769-6A7C-CF3C2952A4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34403" y="6103635"/>
            <a:ext cx="853119" cy="744267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B49E316C-B70A-CCC4-3305-0B960CA3127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5025" y="6178292"/>
            <a:ext cx="887698" cy="628528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711FB788-D13A-C4BF-CF6A-69AC96D74F9C}"/>
              </a:ext>
            </a:extLst>
          </p:cNvPr>
          <p:cNvSpPr txBox="1"/>
          <p:nvPr/>
        </p:nvSpPr>
        <p:spPr>
          <a:xfrm>
            <a:off x="709326" y="6879963"/>
            <a:ext cx="190327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박사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9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(20%)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0256BEE-27DF-EDF8-80EB-2B3B7AA59F0D}"/>
              </a:ext>
            </a:extLst>
          </p:cNvPr>
          <p:cNvSpPr txBox="1"/>
          <p:nvPr/>
        </p:nvSpPr>
        <p:spPr>
          <a:xfrm>
            <a:off x="2544417" y="6879963"/>
            <a:ext cx="201683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석사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20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(47%)</a:t>
            </a:r>
            <a:endParaRPr lang="ko-KR" altLang="en-US" sz="1000">
              <a:solidFill>
                <a:schemeClr val="tx1">
                  <a:lumMod val="75000"/>
                  <a:lumOff val="25000"/>
                </a:schemeClr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AA7D8DD-3A43-DF73-D9E6-602EC65300B2}"/>
              </a:ext>
            </a:extLst>
          </p:cNvPr>
          <p:cNvSpPr txBox="1"/>
          <p:nvPr/>
        </p:nvSpPr>
        <p:spPr>
          <a:xfrm>
            <a:off x="4138586" y="6879963"/>
            <a:ext cx="228057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학사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14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(33%)</a:t>
            </a:r>
            <a:endParaRPr lang="ko-KR" altLang="en-US" sz="1000">
              <a:solidFill>
                <a:schemeClr val="tx1">
                  <a:lumMod val="50000"/>
                  <a:lumOff val="50000"/>
                </a:schemeClr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3690D5A1-31E1-4C43-36E4-C7E5FF622CB6}"/>
              </a:ext>
            </a:extLst>
          </p:cNvPr>
          <p:cNvCxnSpPr>
            <a:cxnSpLocks/>
          </p:cNvCxnSpPr>
          <p:nvPr/>
        </p:nvCxnSpPr>
        <p:spPr>
          <a:xfrm>
            <a:off x="312925" y="5686743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EFBB7FE0-01A2-2FC4-8BF9-7BB79EE23CF9}"/>
              </a:ext>
            </a:extLst>
          </p:cNvPr>
          <p:cNvSpPr txBox="1"/>
          <p:nvPr/>
        </p:nvSpPr>
        <p:spPr>
          <a:xfrm>
            <a:off x="335012" y="5660666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학위별 구성</a:t>
            </a: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F8AFA8B3-D5F2-1D21-3B93-B62F0DB01BD8}"/>
              </a:ext>
            </a:extLst>
          </p:cNvPr>
          <p:cNvCxnSpPr>
            <a:cxnSpLocks/>
          </p:cNvCxnSpPr>
          <p:nvPr/>
        </p:nvCxnSpPr>
        <p:spPr>
          <a:xfrm>
            <a:off x="312925" y="7490060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BF2B3D1B-9857-322A-CC9D-A2A093E7E0BD}"/>
              </a:ext>
            </a:extLst>
          </p:cNvPr>
          <p:cNvSpPr txBox="1"/>
          <p:nvPr/>
        </p:nvSpPr>
        <p:spPr>
          <a:xfrm>
            <a:off x="335012" y="7463983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기술등급별 구성</a:t>
            </a:r>
          </a:p>
        </p:txBody>
      </p:sp>
      <p:sp>
        <p:nvSpPr>
          <p:cNvPr id="48" name="모서리가 둥근 직사각형 237">
            <a:extLst>
              <a:ext uri="{FF2B5EF4-FFF2-40B4-BE49-F238E27FC236}">
                <a16:creationId xmlns:a16="http://schemas.microsoft.com/office/drawing/2014/main" id="{33A57914-F33E-BE87-D499-03914E400F9C}"/>
              </a:ext>
            </a:extLst>
          </p:cNvPr>
          <p:cNvSpPr/>
          <p:nvPr/>
        </p:nvSpPr>
        <p:spPr>
          <a:xfrm>
            <a:off x="297365" y="7725593"/>
            <a:ext cx="6213894" cy="1815847"/>
          </a:xfrm>
          <a:prstGeom prst="roundRect">
            <a:avLst>
              <a:gd name="adj" fmla="val 6303"/>
            </a:avLst>
          </a:prstGeom>
          <a:solidFill>
            <a:schemeClr val="bg1"/>
          </a:solidFill>
          <a:ln w="6350">
            <a:solidFill>
              <a:srgbClr val="BFBFBF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15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2675C72-4EF3-4D53-4CCA-F6760688C547}"/>
              </a:ext>
            </a:extLst>
          </p:cNvPr>
          <p:cNvSpPr txBox="1"/>
          <p:nvPr/>
        </p:nvSpPr>
        <p:spPr>
          <a:xfrm>
            <a:off x="346741" y="9144604"/>
            <a:ext cx="154504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특급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12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(28%)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1A1FE633-DB86-7D33-E4E8-ACC0541663C7}"/>
              </a:ext>
            </a:extLst>
          </p:cNvPr>
          <p:cNvSpPr txBox="1"/>
          <p:nvPr/>
        </p:nvSpPr>
        <p:spPr>
          <a:xfrm>
            <a:off x="1873715" y="9144604"/>
            <a:ext cx="15405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5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(11.6%)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A506918-87AA-857E-D66F-53BA8E83A583}"/>
              </a:ext>
            </a:extLst>
          </p:cNvPr>
          <p:cNvSpPr txBox="1"/>
          <p:nvPr/>
        </p:nvSpPr>
        <p:spPr>
          <a:xfrm>
            <a:off x="3443763" y="9144604"/>
            <a:ext cx="144384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6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(14%)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A49220B-ED7D-A523-DEB4-049EB2B0BDE1}"/>
              </a:ext>
            </a:extLst>
          </p:cNvPr>
          <p:cNvSpPr txBox="1"/>
          <p:nvPr/>
        </p:nvSpPr>
        <p:spPr>
          <a:xfrm>
            <a:off x="4905753" y="9144604"/>
            <a:ext cx="156862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초급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20</a:t>
            </a: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명</a:t>
            </a: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(46.4%)</a:t>
            </a:r>
          </a:p>
        </p:txBody>
      </p:sp>
      <p:pic>
        <p:nvPicPr>
          <p:cNvPr id="53" name="그림 52">
            <a:extLst>
              <a:ext uri="{FF2B5EF4-FFF2-40B4-BE49-F238E27FC236}">
                <a16:creationId xmlns:a16="http://schemas.microsoft.com/office/drawing/2014/main" id="{3666B7F8-CC81-96F2-5D78-EB2B5AA12963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15522" t="17867" r="16321" b="16573"/>
          <a:stretch>
            <a:fillRect/>
          </a:stretch>
        </p:blipFill>
        <p:spPr>
          <a:xfrm>
            <a:off x="5292417" y="8193432"/>
            <a:ext cx="657130" cy="632082"/>
          </a:xfrm>
          <a:prstGeom prst="rect">
            <a:avLst/>
          </a:prstGeom>
        </p:spPr>
      </p:pic>
      <p:pic>
        <p:nvPicPr>
          <p:cNvPr id="54" name="그림 53">
            <a:extLst>
              <a:ext uri="{FF2B5EF4-FFF2-40B4-BE49-F238E27FC236}">
                <a16:creationId xmlns:a16="http://schemas.microsoft.com/office/drawing/2014/main" id="{A60BC16B-0CAC-931B-53ED-C5811DA064B8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l="16791" t="16767" r="17152" b="19389"/>
          <a:stretch>
            <a:fillRect/>
          </a:stretch>
        </p:blipFill>
        <p:spPr>
          <a:xfrm>
            <a:off x="2254461" y="8061357"/>
            <a:ext cx="784492" cy="758206"/>
          </a:xfrm>
          <a:prstGeom prst="rect">
            <a:avLst/>
          </a:prstGeom>
        </p:spPr>
      </p:pic>
      <p:pic>
        <p:nvPicPr>
          <p:cNvPr id="55" name="그림 54">
            <a:extLst>
              <a:ext uri="{FF2B5EF4-FFF2-40B4-BE49-F238E27FC236}">
                <a16:creationId xmlns:a16="http://schemas.microsoft.com/office/drawing/2014/main" id="{6AB1081E-BAC8-8767-DE8B-47DEAF5F7DC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36386" y="7831505"/>
            <a:ext cx="1276342" cy="1276344"/>
          </a:xfrm>
          <a:prstGeom prst="rect">
            <a:avLst/>
          </a:prstGeom>
        </p:spPr>
      </p:pic>
      <p:pic>
        <p:nvPicPr>
          <p:cNvPr id="56" name="그림 55">
            <a:extLst>
              <a:ext uri="{FF2B5EF4-FFF2-40B4-BE49-F238E27FC236}">
                <a16:creationId xmlns:a16="http://schemas.microsoft.com/office/drawing/2014/main" id="{6E5CBB46-82DB-DB98-3919-6345C9F31A4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631570" y="7998468"/>
            <a:ext cx="1068230" cy="1068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535334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174878-5F8F-7AA4-32FF-3E557F0417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47D4D1B4-1441-33AF-FBB5-766A4D37FA3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073AFBB-EF54-56EF-4B31-78138B5560C7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53C7640-012B-DB04-28B4-C193F160977E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5.1.1 </a:t>
            </a:r>
            <a:r>
              <a:rPr lang="ko-KR" altLang="en-US" sz="1400" spc="-19" dirty="0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에이치나인</a:t>
            </a:r>
            <a:endParaRPr lang="ko-KR" altLang="ko-KR" sz="1400" spc="-19" dirty="0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87296BB-29B3-5558-7FEB-13D8B9E8735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CAFF830-FB32-8265-B123-5BA5E728A6B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UX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컨셉 기획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데이터 시각화 및 차트 라이브러리 구축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 기획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등 관련 과제를 다수 수행한 경험을 보유하고 있어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사업의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학습용데이터 통합 제공 시스템에 대한 사용자 중심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UI/UX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및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서비스에 전문성을 보유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5C3EDA8-CC91-73E7-BC54-2ACD84F3367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290F3761-9837-F659-9592-7A5D7B4345A9}"/>
              </a:ext>
            </a:extLst>
          </p:cNvPr>
          <p:cNvSpPr txBox="1"/>
          <p:nvPr/>
        </p:nvSpPr>
        <p:spPr>
          <a:xfrm>
            <a:off x="335011" y="2371141"/>
            <a:ext cx="37702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주요사업내용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(UI/UX · S/W</a:t>
            </a:r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AI · </a:t>
            </a:r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FCB9DA6-8FF4-7A5F-5BA6-6E733F4529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1954910"/>
              </p:ext>
            </p:extLst>
          </p:nvPr>
        </p:nvGraphicFramePr>
        <p:xfrm>
          <a:off x="279082" y="2769632"/>
          <a:ext cx="6331425" cy="645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28521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380907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768912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15308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4471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 dirty="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명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기 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계 약 금 액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발 주 처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SKHy '26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표준 아키텍처 구축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Ph3'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2026.07.01 ~ 2026.12.31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1,107,180,000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에스케이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Trading AI Agent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및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ML/DL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_</a:t>
                      </a:r>
                      <a:r>
                        <a:rPr lang="ko-KR" altLang="en-US" sz="900" b="0" i="0" u="none" strike="noStrike" kern="1200" dirty="0" err="1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선투입</a:t>
                      </a:r>
                      <a:endParaRPr lang="ko-KR" altLang="en-US" sz="900" b="0" i="0" u="none" strike="noStrike" kern="1200" dirty="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EEBF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2026.04.08 ~ 2026.06.30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EEBF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129,385,380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EEB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에스케이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EEB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04903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SKHy '26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표준 아키텍처 구축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Ph3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원가선투입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2026.01.19 ~ 2026.06.30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1,170,490,000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에스케이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3552685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LG LIFE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및 그룹 홈페이지 사이트 운영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2026.01.01 – 2026.12.31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661,298,000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엘지씨엔에스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99250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26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Cello Square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플랫폼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UX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기획 및 디자인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2026.01.01 ~ 2026.12.31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928,320,000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삼성에스디에스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403439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중진공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전용 플랫폼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CX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기획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2025.10.01 ~ 2026.01.22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180,000,000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삼성에스디에스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690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경기 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컬처패스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플랫폼 운영</a:t>
                      </a:r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2025.10.01 ~ 2025.12.31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144,000,000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마이비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79317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닷컴 글로벌 표준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CX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디자인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UX/UI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가이드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2025.09.08 ~ 2025.12.31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270,000,000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삼성전자㈜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1542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SKHy '25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표준 아키텍처 구축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Ph2 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차세대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(DT)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2025.08.01 ~ 2025.12.31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1,999,758,400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에스케이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633780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25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국립중앙박물관 모두 플랫폼 개선 및 유지보수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2025.07.01. ~ 2025.12.31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86,200,000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국립중앙박물관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1544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LG LIFE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및 그룹 홈페이지 사이트 운영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2025.01.01 ~ 2025.12.31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661,298,000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엘지씨엔에스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24519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CELLO SQUARE 5.0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운영고도화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CX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외주계약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2025.01.01 ~ 2025.12.31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1,235,530,000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삼성에스디에스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91281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엘지경영개발원인화원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LG Awards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운영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2025.01.01 ~ 2025.05.31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30,000,000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엘지씨엔에스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373783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SKHy 25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차세대 표준 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아키텍쳐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구축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Ph1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2024.12.01 ~ 2025.01.31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220,104,000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에스케이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092626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S.com Prototype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제작 및 인터랙션 정의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2024.11.01 ~ 2024.12.31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392,000,000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삼성전자㈜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34664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대체거래소 대응 외주개발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(MTS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디자인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2024.09.23 ~ 2025.03.31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253,636,364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대신증권㈜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16842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 SEC SAMSUNG.COM WSC - UXE Execution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2024.09.12 ~ 2025.03.01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220,000,000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㈜제일기획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910181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엘지경영개발원인화원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LG Awards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2024.09.12 ~ 2025.02.28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126,900,000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엘지씨엔에스</a:t>
                      </a:r>
                      <a:endParaRPr lang="ko-KR" altLang="en-US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85498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국립중앙박물관 교육 플랫폼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[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모두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]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유지보수 사업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2024.07.18 ~ 2025.01.14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100,000,000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국립중앙박물관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9743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On-Offline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UX/UI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경험 개선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2024.04.22 ~ 2024.12.31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340,000,000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삼성전자㈜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466779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CELLO SQUARE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통합운영플랫폼 구축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2024.04.02 ~ 2024.12.31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1,444,700,000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삼성에스디에스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㈜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9478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144542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E66289-E106-D1F5-B999-99190790D2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7EA34037-93F4-C017-FDC7-1C63D19605C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20D359C-DFD5-FA1C-0FCF-C7CFB6D6D6E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00FDAE-1FCA-B0C5-E1C0-7686E8926312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5.1.1 </a:t>
            </a:r>
            <a:r>
              <a:rPr lang="ko-KR" altLang="en-US" sz="1400" spc="-19" dirty="0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에이치나인</a:t>
            </a:r>
            <a:endParaRPr lang="ko-KR" altLang="ko-KR" sz="1400" spc="-19" dirty="0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5C7D163-EB15-36E3-4F0E-CCAC92724C6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A9BCE26-0750-7EDD-6254-32FBA511A93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에이치나인은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데이터 거버넌스 플랫폼 구축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AI Agent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지능형 인프라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생성형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 기획 등의 실적을 보유하고 있어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사업의 데이터 표준화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품질관리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개방체계 구축에 전문성을 보유하고 있습니다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54C562A-C770-410D-61E5-752CA7CC0B1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AF66113-385F-723B-DA7C-92D483A5A16B}"/>
              </a:ext>
            </a:extLst>
          </p:cNvPr>
          <p:cNvSpPr txBox="1"/>
          <p:nvPr/>
        </p:nvSpPr>
        <p:spPr>
          <a:xfrm>
            <a:off x="335011" y="23711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Trading AI Agent </a:t>
            </a:r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(SK</a:t>
            </a:r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가스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433D0E1-8477-2AF9-336D-2C1F2E617A30}"/>
              </a:ext>
            </a:extLst>
          </p:cNvPr>
          <p:cNvSpPr txBox="1"/>
          <p:nvPr/>
        </p:nvSpPr>
        <p:spPr>
          <a:xfrm>
            <a:off x="279082" y="2701547"/>
            <a:ext cx="6331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시황 데이터</a:t>
            </a:r>
            <a:r>
              <a:rPr lang="en-US" altLang="ko-KR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(Odin)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 효율적이고 신속한 관리</a:t>
            </a:r>
            <a:r>
              <a:rPr lang="en-US" altLang="ko-KR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분석을 위한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일일 리포트 자동화 </a:t>
            </a:r>
            <a:r>
              <a:rPr lang="en-US" altLang="ko-KR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Agent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구축</a:t>
            </a:r>
            <a:endParaRPr lang="en-US" altLang="ko-KR" sz="1200"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업데이트</a:t>
            </a:r>
            <a:r>
              <a:rPr lang="en-US" altLang="ko-KR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조회</a:t>
            </a:r>
            <a:r>
              <a:rPr lang="en-US" altLang="ko-KR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엑셀 다운로드 기능을 갖춘 표준화된 데이터 처리 체계와</a:t>
            </a:r>
            <a:r>
              <a:rPr lang="en-US" altLang="ko-KR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다단계 분석 구조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마련</a:t>
            </a:r>
            <a:endParaRPr lang="en-US" altLang="ko-KR" sz="1200"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7061864-589C-C4A8-9417-BF544A191ABF}"/>
              </a:ext>
            </a:extLst>
          </p:cNvPr>
          <p:cNvSpPr txBox="1"/>
          <p:nvPr/>
        </p:nvSpPr>
        <p:spPr>
          <a:xfrm>
            <a:off x="279082" y="6341000"/>
            <a:ext cx="6331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최신 </a:t>
            </a:r>
            <a:r>
              <a:rPr lang="en-US" altLang="ko-KR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기술 적용 및 근거 기반 신뢰성 확보가 가능한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지능형 </a:t>
            </a:r>
            <a:r>
              <a:rPr lang="en-US" altLang="ko-KR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Agent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구축</a:t>
            </a:r>
            <a:endParaRPr lang="en-US" altLang="ko-KR" sz="1200"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①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자연어 질의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대해 근거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데이터의 정확한 위치를 함께 제시하는 추적 가능한</a:t>
            </a:r>
            <a:r>
              <a:rPr lang="en-US" altLang="ko-KR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Agent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 체계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구현</a:t>
            </a:r>
          </a:p>
          <a:p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② 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통계적 이상탐지 자동화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및</a:t>
            </a:r>
            <a:r>
              <a:rPr lang="ko-KR" altLang="en-US" sz="1200" dirty="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분석을 통한 의사결정 지원 체계 </a:t>
            </a:r>
            <a:r>
              <a:rPr lang="ko-KR" altLang="en-US" sz="12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확립</a:t>
            </a:r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16C436D9-0319-D9B0-3EDE-C167238959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25350" y="3416674"/>
            <a:ext cx="5113682" cy="2843250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23AB6F9B-EAC1-8866-2830-C17661842C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558" y="6987331"/>
            <a:ext cx="6149873" cy="2514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26391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F3227E-0B5E-1ABA-B23D-39FEA2F16D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38716C5-80B9-79DB-1081-6E19A51336B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041260B-B72B-1FF1-D6AE-5CCB09D64DC8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8892D3C-E65C-2043-204B-63CACC858589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5.1.2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와이젠정보기술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3BFB645-3120-14E7-0600-CAFA0462988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7E5FBBF-B284-D04C-2009-DAD4F72FFF3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1E236E25-7800-5DBB-5FD7-3CF2EA22E94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CDF0E183-2B87-B15F-0841-5D3D17F2B1A5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주요사업내용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814C897-F1AF-A736-77F6-5563227B7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787197"/>
              </p:ext>
            </p:extLst>
          </p:nvPr>
        </p:nvGraphicFramePr>
        <p:xfrm>
          <a:off x="279082" y="2769632"/>
          <a:ext cx="6331425" cy="67553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28521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380907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768912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15308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4471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명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기 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계 약 금 액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발 주 처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62958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04903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3552685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99250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403439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690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79317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1542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633780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1544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24519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91281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373783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092626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34664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16842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910181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85498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9743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466779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947826"/>
                  </a:ext>
                </a:extLst>
              </a:tr>
            </a:tbl>
          </a:graphicData>
        </a:graphic>
      </p:graphicFrame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8B91A42-F512-0B15-B549-56C8D0968B1B}"/>
              </a:ext>
            </a:extLst>
          </p:cNvPr>
          <p:cNvSpPr/>
          <p:nvPr/>
        </p:nvSpPr>
        <p:spPr>
          <a:xfrm>
            <a:off x="1577135" y="4070863"/>
            <a:ext cx="3703730" cy="3297323"/>
          </a:xfrm>
          <a:prstGeom prst="roundRect">
            <a:avLst>
              <a:gd name="adj" fmla="val 5153"/>
            </a:avLst>
          </a:prstGeom>
          <a:solidFill>
            <a:schemeClr val="accent6">
              <a:lumMod val="40000"/>
              <a:lumOff val="6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와이젠정보기술</a:t>
            </a:r>
            <a:endParaRPr lang="en-US" altLang="ko-KR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5307128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D22DA6-B42A-BD14-D254-3B6C774B3E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68A63B87-D851-AEB5-7798-49BEC5427E8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B9A20C4-8B28-D839-4CEA-C1DE493E90B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1A71FA5-A7E2-CE44-06AF-74F3CA579605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5.1.2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와이젠정보기술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AE0EB73-DE3C-E284-ECC3-ADF9DBCC14A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8DB4C93-C8B1-9342-6FDB-1D0F6393ADC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2E6A8641-1CCC-812B-1440-38942D8E24D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88B4E26-CEA0-59C8-0D05-F5F5F2E0F4C9}"/>
              </a:ext>
            </a:extLst>
          </p:cNvPr>
          <p:cNvSpPr txBox="1"/>
          <p:nvPr/>
        </p:nvSpPr>
        <p:spPr>
          <a:xfrm>
            <a:off x="335011" y="23711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초거대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과제 발굴 및 기획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(NIA)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F24F94-16D5-8DC1-8A4B-40960E7F4EB3}"/>
              </a:ext>
            </a:extLst>
          </p:cNvPr>
          <p:cNvSpPr txBox="1"/>
          <p:nvPr/>
        </p:nvSpPr>
        <p:spPr>
          <a:xfrm>
            <a:off x="279082" y="2701547"/>
            <a:ext cx="63314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부처별 분산 데이터의 전략적 통합과 품질 고도화를 통해 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학습용데이터 통합제공체계 기반 구축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품질에 따라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자동화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QC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+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 전문가 검토를 거치는 품질검증 프로세스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마련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7AC51A-1A8F-49F4-FA42-BB0DDA0E5EFD}"/>
              </a:ext>
            </a:extLst>
          </p:cNvPr>
          <p:cNvSpPr txBox="1"/>
          <p:nvPr/>
        </p:nvSpPr>
        <p:spPr>
          <a:xfrm>
            <a:off x="279082" y="6107664"/>
            <a:ext cx="63314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활용도가 높은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전략분야 선정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분야별 다양한 수요를 포괄하도록 구체화하여 양질의 데이터 구축을 위한 과제를 발굴 및 기획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23245B36-74B0-7315-01C1-81CA2F2F43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082" y="3330905"/>
            <a:ext cx="6331425" cy="2609066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675A91AC-26F8-F6B6-F84D-9875B69AF7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082" y="6669312"/>
            <a:ext cx="6331425" cy="246241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F9DC1F8-3E21-329A-CE0E-45E6EDF87CDA}"/>
              </a:ext>
            </a:extLst>
          </p:cNvPr>
          <p:cNvSpPr/>
          <p:nvPr/>
        </p:nvSpPr>
        <p:spPr>
          <a:xfrm>
            <a:off x="1577135" y="4070863"/>
            <a:ext cx="3703730" cy="3297323"/>
          </a:xfrm>
          <a:prstGeom prst="roundRect">
            <a:avLst>
              <a:gd name="adj" fmla="val 5153"/>
            </a:avLst>
          </a:prstGeom>
          <a:solidFill>
            <a:schemeClr val="accent6">
              <a:lumMod val="40000"/>
              <a:lumOff val="6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와이젠정보기술</a:t>
            </a:r>
            <a:b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사업 관련 핵심 과제 작성</a:t>
            </a: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해당 내용 참고</a:t>
            </a: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0284859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F78A62-CA83-C895-F1EF-45E8D2ACDF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5E0CD37-C41E-E9D1-8035-25DA5BE56F8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2DFA2EA-F555-404C-816E-1AC086E7A2CC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B860345-D355-FCCE-7BDE-6652E8689EBC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보안관련업체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9CB2768-2DDD-78C7-8846-19AFAC0EE0C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E036C9B-D246-CFF5-2181-DA581DEBB47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A95A70EE-63CB-2165-C0E4-0A14C8AD1A6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393C2C51-2D7D-7DF8-8EB4-E20DB91B6FB3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주요사업내용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192E320-30A5-DA01-2D26-BCD9C734C4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787197"/>
              </p:ext>
            </p:extLst>
          </p:nvPr>
        </p:nvGraphicFramePr>
        <p:xfrm>
          <a:off x="279082" y="2769632"/>
          <a:ext cx="6331425" cy="67553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28521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380907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768912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15308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4471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명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기 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계 약 금 액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발 주 처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62958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04903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3552685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99250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403439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690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79317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1542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633780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1544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24519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91281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373783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092626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34664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16842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910181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85498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9743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466779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en-US" altLang="ko-KR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947826"/>
                  </a:ext>
                </a:extLst>
              </a:tr>
            </a:tbl>
          </a:graphicData>
        </a:graphic>
      </p:graphicFrame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3FDCF7B-52D0-02F7-6EB1-01950DC58430}"/>
              </a:ext>
            </a:extLst>
          </p:cNvPr>
          <p:cNvSpPr/>
          <p:nvPr/>
        </p:nvSpPr>
        <p:spPr>
          <a:xfrm>
            <a:off x="2016592" y="3292637"/>
            <a:ext cx="2813852" cy="3831930"/>
          </a:xfrm>
          <a:prstGeom prst="roundRect">
            <a:avLst>
              <a:gd name="adj" fmla="val 5153"/>
            </a:avLst>
          </a:prstGeom>
          <a:solidFill>
            <a:schemeClr val="bg2">
              <a:lumMod val="75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보완관련업체</a:t>
            </a:r>
            <a:endParaRPr lang="en-US" altLang="ko-KR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228866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264851-9F75-EF2B-9186-02644642C8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F1944090-2F3E-D7AA-4382-B84F027C3E5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6D74E23-DEAF-5269-C7B3-296BBCDAC92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5494F14-E80E-1DC9-55C2-2C0DC9686F96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보안관련업체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10F729D-B071-CB98-3801-27A044962BE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8F4B425-8D90-FD74-3437-CED01C4D3B9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8E97D8B-2B17-B9BD-1862-2DDF2A2C064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1C90B3C-DF9A-2F9B-9BD8-B55C85E43160}"/>
              </a:ext>
            </a:extLst>
          </p:cNvPr>
          <p:cNvSpPr txBox="1"/>
          <p:nvPr/>
        </p:nvSpPr>
        <p:spPr>
          <a:xfrm>
            <a:off x="335011" y="23711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초거대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과제 발굴 및 기획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(NIA)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D67291-6B06-6685-0187-AC3558C294A9}"/>
              </a:ext>
            </a:extLst>
          </p:cNvPr>
          <p:cNvSpPr txBox="1"/>
          <p:nvPr/>
        </p:nvSpPr>
        <p:spPr>
          <a:xfrm>
            <a:off x="279082" y="2701547"/>
            <a:ext cx="63314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부처별 분산 데이터의 전략적 통합과 품질 고도화를 통해 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학습용데이터 통합제공체계 기반 구축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품질에 따라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자동화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QC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+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 전문가 검토를 거치는 품질검증 프로세스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마련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0B6B606-C02E-D4BD-326D-C9D952C93FED}"/>
              </a:ext>
            </a:extLst>
          </p:cNvPr>
          <p:cNvSpPr txBox="1"/>
          <p:nvPr/>
        </p:nvSpPr>
        <p:spPr>
          <a:xfrm>
            <a:off x="279082" y="6107664"/>
            <a:ext cx="63314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활용도가 높은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전략분야 선정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분야별 다양한 수요를 포괄하도록 구체화하여 양질의 데이터 구축을 위한 과제를 발굴 및 기획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D72CA7D8-55D5-02F6-6A10-BBAB3A9725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082" y="3330905"/>
            <a:ext cx="6331425" cy="2609066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2064DEAC-68CF-DD46-6770-FE1C328E82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082" y="6669312"/>
            <a:ext cx="6331425" cy="246241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077236C-8D89-8893-784E-75D71B989B60}"/>
              </a:ext>
            </a:extLst>
          </p:cNvPr>
          <p:cNvSpPr/>
          <p:nvPr/>
        </p:nvSpPr>
        <p:spPr>
          <a:xfrm>
            <a:off x="2016592" y="3292637"/>
            <a:ext cx="2813852" cy="3831930"/>
          </a:xfrm>
          <a:prstGeom prst="roundRect">
            <a:avLst>
              <a:gd name="adj" fmla="val 5153"/>
            </a:avLst>
          </a:prstGeom>
          <a:solidFill>
            <a:schemeClr val="bg2">
              <a:lumMod val="75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보완관련업체</a:t>
            </a:r>
            <a:b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사업 관련 핵심 과제 작성</a:t>
            </a: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해당 내용 참고</a:t>
            </a:r>
            <a:r>
              <a:rPr lang="en-US" altLang="ko-KR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01504423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4B4406-ED42-4375-9D53-716E931AF3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EA8FE0E7-3E42-D230-A2CE-6CFF7616A41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E9EF3C3-3895-E7C9-0792-DD6DAD0EC6BD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1FA4C5D-5A01-4B64-0192-2DC1F9F2448B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5.1.4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테크노베이션파트너스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CC4DB1A-1887-2953-D741-E8AB210B313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86AE6FDD-DF27-89E8-3CDC-07700FDB49E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임상데이터 표준화 및 개방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초거대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과제 기획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AI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서비스 기획 등 관련 과제를 다수 수행한 경험을 보유하고 있어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사업의 신재생에너지 및 복합발전 운전데이터에 대한 표준화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품질관리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개방체계 구축 및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기반 조성에 전문성을 보유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BF94090C-F8C7-66FB-FA46-C633740601E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579D0CC9-E106-80D3-8B07-5D584EAF6906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주요사업내용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(AI·</a:t>
            </a:r>
            <a:r>
              <a:rPr lang="ko-KR" altLang="en-US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1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·ISP)</a:t>
            </a:r>
            <a:endParaRPr lang="ko-KR" altLang="en-US" sz="11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3D94545-EF60-331A-B37C-4520459231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46908"/>
              </p:ext>
            </p:extLst>
          </p:nvPr>
        </p:nvGraphicFramePr>
        <p:xfrm>
          <a:off x="279082" y="2769632"/>
          <a:ext cx="6331425" cy="67553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28521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380907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768912">
                  <a:extLst>
                    <a:ext uri="{9D8B030D-6E8A-4147-A177-3AD203B41FA5}">
                      <a16:colId xmlns:a16="http://schemas.microsoft.com/office/drawing/2014/main" val="1291462230"/>
                    </a:ext>
                  </a:extLst>
                </a:gridCol>
                <a:gridCol w="1153085">
                  <a:extLst>
                    <a:ext uri="{9D8B030D-6E8A-4147-A177-3AD203B41FA5}">
                      <a16:colId xmlns:a16="http://schemas.microsoft.com/office/drawing/2014/main" val="667892900"/>
                    </a:ext>
                  </a:extLst>
                </a:gridCol>
              </a:tblGrid>
              <a:tr h="244471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 dirty="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명</a:t>
                      </a:r>
                    </a:p>
                  </a:txBody>
                  <a:tcPr marL="17907" marR="17907" marT="17907" marB="17907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사 업 기 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계 약 금 액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0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발 주 처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학습데이터 가치평가모델 연구 용역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2026.06.23 ~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133,000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한국데이터산업진흥원</a:t>
                      </a: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국가바이오빅데이터구축사업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임상데이터 표준화 기반마련 및 개방 데이터셋 개발 연구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2026.04.03 - 2026.11.30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한국보건의료정보원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262958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첨단 </a:t>
                      </a:r>
                      <a:r>
                        <a:rPr lang="en-US" altLang="ko-KR" sz="9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Water-Tech R&amp;D </a:t>
                      </a:r>
                      <a:r>
                        <a:rPr lang="ko-KR" altLang="en-US" sz="9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센터 구축 기본구상 용역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2026.01.23 - 2026.05.22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120,960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한국수자원공사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049037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부산항 중장기 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추진전략 및 세부실행계획수립 용역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2026.01.05 - 2026.10.04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154,000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부산항만공사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3552685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국가통합바이오빅데이터를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활용한 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기반 신규사업 기획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2025.12.18 - 2026.08.31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140,000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한국보건산업진흥원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899250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차세대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</a:t>
                      </a:r>
                      <a:r>
                        <a:rPr lang="en-US" altLang="ko-KR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무인기용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항공엔진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소재</a:t>
                      </a:r>
                      <a:r>
                        <a:rPr lang="en-US" altLang="ko-KR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부품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핵심기술 개발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2025.08.26 - 2026.08.26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200,000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우주항공청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403439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우주항공 기술경쟁력 진단모델 개발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2025.08.26 - 2026.08.26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193,000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우주항공청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690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초거대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과제 발굴 및 기획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EEBF7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2025.08.18 - 2025.12.19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299,706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err="1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한국지능정보사회진흥원</a:t>
                      </a: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79317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에이전트 기반 </a:t>
                      </a: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시티</a:t>
                      </a: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인공지능도시</a:t>
                      </a: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구축운영 기술 개발 기획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2025.08.01 - 2027.01.31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160,000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err="1">
                          <a:solidFill>
                            <a:srgbClr val="0070C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국토교통과학기술진흥원</a:t>
                      </a:r>
                      <a:endParaRPr lang="ko-KR" altLang="en-US" sz="900" b="0" i="0" u="none" strike="noStrike" kern="1200">
                        <a:solidFill>
                          <a:srgbClr val="0070C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1542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정밀의료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SW 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 성과분석 및 차세대 과제 발굴 지원 용역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2025.07.23 - 2025.12.12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100,000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정보통신산업진흥원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633780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차세대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</a:t>
                      </a:r>
                      <a:r>
                        <a:rPr lang="en-US" altLang="ko-KR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무인기용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항공엔진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소재</a:t>
                      </a:r>
                      <a:r>
                        <a:rPr lang="en-US" altLang="ko-KR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부품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핵심기술 개발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2025.08.26 - 2026.08.26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200,000</a:t>
                      </a: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우주항공청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154467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국가 통합 바이오 빅데이터 구축사업 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중증질환 연구회 운영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2025.05.19 – 2025.11.28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246,000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한국보건산업진흥원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245192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천리안위성 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호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지상국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개발 정보화전략계획 수립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2025.04.28 - 2025.09.15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213,610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기상청 국가기상위성센터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2912816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후속 정지궤도 환경위성 개발 예비타당성조사 대응 연구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(II)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2025.05.08 - 2026.01.03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196,500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국립환경과학원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373783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위성기반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극한기후</a:t>
                      </a:r>
                      <a:r>
                        <a:rPr lang="en-US" altLang="ko-KR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•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기후변화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감시 기술개발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2025.04.01 - 2025.12.31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320,000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한국기상산업기술원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092626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CCUS 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클러스터 구축 타당성조사 사업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2024.05.01 - 2025.08.31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485,000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한국산업기술진흥원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346643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극단화된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위험기상 탐지 예측 능력 향상을 위한 위성시스템 고도화 연구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2024.03.11 - 2024.12.10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419,580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기상청 국가기상위성센터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168424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K-</a:t>
                      </a:r>
                      <a:r>
                        <a:rPr lang="en-US" altLang="ko-KR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water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기술수준평가 연구 용역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2023.12.06 - 2025.06.19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251,319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한국수자원공사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910181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국가 위성 통합운용체계 로드맵 및 후속 관측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데이터중계위성 기획 연구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2023.07.16 - 2024.03.31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181,300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한국항공우주연구원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185498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수자원위성 통합운영시스템 구축 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ISP 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수립 용역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2023.03.30 - 2023.06.27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174,400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한국수자원공사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97434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영남권 인공지능 지역확산 실증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보급 사업 기획 및 예비타당성 조사 연구 용역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2022.04.06 ~ 2022.11.30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242,500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</a:t>
                      </a: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포항테크노파크</a:t>
                      </a:r>
                      <a:endParaRPr lang="ko-KR" altLang="en-US" sz="900" b="0" i="0" u="none" strike="noStrike" kern="1200">
                        <a:solidFill>
                          <a:schemeClr val="dk1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4667790"/>
                  </a:ext>
                </a:extLst>
              </a:tr>
              <a:tr h="295950">
                <a:tc>
                  <a:txBody>
                    <a:bodyPr/>
                    <a:lstStyle/>
                    <a:p>
                      <a:pPr marL="0" algn="l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후속 정지궤도기상위성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탑재체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및 </a:t>
                      </a:r>
                      <a:r>
                        <a:rPr lang="ko-KR" altLang="en-US" sz="900" b="0" i="0" u="none" strike="noStrike" kern="1200" err="1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지상국</a:t>
                      </a:r>
                      <a:r>
                        <a:rPr lang="ko-KR" altLang="en-US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시스템 기초설계 연구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2022.04.08 ~ 2022.12.10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en-US" altLang="ko-KR" sz="900" b="0" i="0" u="none" strike="noStrike" kern="120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295,256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t" latinLnBrk="0" hangingPunct="1"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기상청 국가기상위성센터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9478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695037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8C3D45-C824-4ACC-0BE9-7298948B28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F3124129-9181-71C2-379F-A0E01D13C09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9197999-F93F-A7AF-0371-3FE46618D718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0A2986F-F835-627E-63C3-4740BF9632BE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5.1.4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테크노베이션파트너스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F7413C2-F684-AD0C-DACC-BF4C6B80A83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 수행 실적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9CAC0111-6F3E-BA12-F0EA-857436760AC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endParaRPr kumimoji="1" lang="ko-KR" altLang="en-US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8FC6B867-E58A-2862-E7CE-B3F25459046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CF61B302-410A-7148-256E-3708FD7ACC70}"/>
              </a:ext>
            </a:extLst>
          </p:cNvPr>
          <p:cNvSpPr txBox="1"/>
          <p:nvPr/>
        </p:nvSpPr>
        <p:spPr>
          <a:xfrm>
            <a:off x="335011" y="23711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초거대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과제 발굴 및 기획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(NIA)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460624A-8599-E4A9-115E-35174DB1E9A5}"/>
              </a:ext>
            </a:extLst>
          </p:cNvPr>
          <p:cNvSpPr txBox="1"/>
          <p:nvPr/>
        </p:nvSpPr>
        <p:spPr>
          <a:xfrm>
            <a:off x="279082" y="2701547"/>
            <a:ext cx="63314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부처별 분산 데이터의 전략적 통합과 품질 고도화를 통해 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학습용데이터 통합제공체계 기반 구축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품질에 따라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자동화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QC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+ 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 전문가 검토를 거치는 품질검증 프로세스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마련</a:t>
            </a:r>
            <a:endParaRPr lang="en-US" altLang="ko-KR" sz="12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5BFD09-D4F6-EB3A-897B-445B80C2EDD3}"/>
              </a:ext>
            </a:extLst>
          </p:cNvPr>
          <p:cNvSpPr txBox="1"/>
          <p:nvPr/>
        </p:nvSpPr>
        <p:spPr>
          <a:xfrm>
            <a:off x="279082" y="6107664"/>
            <a:ext cx="63314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활용도가 높은 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전략분야 선정</a:t>
            </a:r>
            <a:r>
              <a:rPr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</a:t>
            </a:r>
            <a:r>
              <a:rPr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분야별 다양한 수요를 포괄하도록 구체화하여 양질의 데이터 구축을 위한 과제를 발굴 및 기획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FF7BDBCC-A348-EBE0-DB5C-52B7E735E1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2559" y="3321380"/>
            <a:ext cx="6331425" cy="2609066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98EB844A-AF30-6906-4BC0-4BF5AB4E44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082" y="6669312"/>
            <a:ext cx="6331425" cy="24624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039886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7D83B3-68FB-7860-8446-507D64BD70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94B9937-AF75-DDE5-4521-6132CE5D85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DA86C01-71AA-8A5E-B328-436BB7E80AC6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B35473D-EEBC-928C-B4F6-B08AA9F5B04D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5.2.1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기술스택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및 요소기술 보유현황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BCAFAA-7F6B-155F-B449-F5F51DEDEA4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보유 기술력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1C07E7F-977A-6363-DF45-27A92755112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69A7E7F-4001-BDC3-47AE-51CB748DCC5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161FD25-B7A2-7366-77BA-72DF96CEC48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30222917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D4CFFB-C701-6CB0-E9DA-F72B184ABC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1C6D33A-925C-0836-D6E0-4741F5D389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관련 보유 기술 및 주요 사업실적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1C15A26-A982-DA82-0F39-B0388EB4942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647555-46BA-ABBA-FFEA-4BAA5FC408BC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 적용 기술 및 활용방안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FD931E-A260-E84A-6C51-8CF90C42CCC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보유 기술력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29CAF97-EDF9-E580-EC9A-D4D4E999038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82A4A45-87EC-649E-8516-47EDE889E01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E328F3C-CBB3-7FBF-F500-292BC8592F8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75680837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CF1AB-B269-ACE2-9D53-3527C0B733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3EFBD6A9-2DFF-9C35-27A7-D01610239A0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6. </a:t>
            </a:r>
            <a:r>
              <a:rPr lang="ko-KR" altLang="en-US" sz="1600">
                <a:solidFill>
                  <a:schemeClr val="tx1"/>
                </a:solidFill>
              </a:rPr>
              <a:t>제안요청 요건 수용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20C3B7C-1B30-30AB-C1BA-2BA4861575CE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D0251B4-5435-85B0-159D-A94664D41C69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설계 요구사항 대응 조견표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25741A0-DB01-72CC-5951-B088AC90BEF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대응 조견표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CB5CBFE-9BAF-61E5-B506-ECEE8AF379C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D048AECD-38C5-B79B-676F-C924744AD67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01DE85E7-0180-4461-40B3-66DC7335C18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분석표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AB59495-6321-17E4-6820-EC24480CD0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3315528"/>
              </p:ext>
            </p:extLst>
          </p:nvPr>
        </p:nvGraphicFramePr>
        <p:xfrm>
          <a:off x="279084" y="2744233"/>
          <a:ext cx="6331425" cy="6927214"/>
        </p:xfrm>
        <a:graphic>
          <a:graphicData uri="http://schemas.openxmlformats.org/drawingml/2006/table">
            <a:tbl>
              <a:tblPr/>
              <a:tblGrid>
                <a:gridCol w="1035366">
                  <a:extLst>
                    <a:ext uri="{9D8B030D-6E8A-4147-A177-3AD203B41FA5}">
                      <a16:colId xmlns:a16="http://schemas.microsoft.com/office/drawing/2014/main" val="1041386363"/>
                    </a:ext>
                  </a:extLst>
                </a:gridCol>
                <a:gridCol w="1285875">
                  <a:extLst>
                    <a:ext uri="{9D8B030D-6E8A-4147-A177-3AD203B41FA5}">
                      <a16:colId xmlns:a16="http://schemas.microsoft.com/office/drawing/2014/main" val="848350541"/>
                    </a:ext>
                  </a:extLst>
                </a:gridCol>
                <a:gridCol w="2743200">
                  <a:extLst>
                    <a:ext uri="{9D8B030D-6E8A-4147-A177-3AD203B41FA5}">
                      <a16:colId xmlns:a16="http://schemas.microsoft.com/office/drawing/2014/main" val="4190916919"/>
                    </a:ext>
                  </a:extLst>
                </a:gridCol>
                <a:gridCol w="1266984">
                  <a:extLst>
                    <a:ext uri="{9D8B030D-6E8A-4147-A177-3AD203B41FA5}">
                      <a16:colId xmlns:a16="http://schemas.microsoft.com/office/drawing/2014/main" val="4159794351"/>
                    </a:ext>
                  </a:extLst>
                </a:gridCol>
              </a:tblGrid>
              <a:tr h="279334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분류</a:t>
                      </a: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요구사항번호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명칭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해당페이지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970752"/>
                  </a:ext>
                </a:extLst>
              </a:tr>
              <a:tr h="276995">
                <a:tc rowSpan="24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 요구사항</a:t>
                      </a:r>
                    </a:p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(Design 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23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b="1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781147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비즈니스 요구사항 분석 및 정의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506446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검증 및 확정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9756954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정책 수립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3396186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용어 정의 및 표준화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6893317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기능 상세 정의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1336082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프로세스 및 흐름도 작성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4528150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메뉴 구조 및 정보 아키텍처 설계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148649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사이트맵 및 화면 구조 정의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1525360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DR-009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화면 설계 및 스토리보드 작성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3813082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화면 설계 및 스토리보드 작성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3300395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경험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(UX)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시나리오 작성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403585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운영관리 워크플로우 설계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899547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유형별 등록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정책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1421685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통합형 메타데이터 구조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8496981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통합형 데이터베이스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7410412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모듈형 소프트웨어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319678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 및 표준 준수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4882847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확장성을 고려한 단계별 구축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217107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2299899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및 비식별화 체계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3918701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실시간정보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등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2816298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자원관리 및 운영관리 아키텍처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10050"/>
                  </a:ext>
                </a:extLst>
              </a:tr>
              <a:tr h="2769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오픈소스 활용 제한사항 설계</a:t>
                      </a: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7228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328537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4A51A7-2153-58C2-5F68-4E98CEEF14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6E4FFF37-4ADF-8949-F01D-D3DE9E7B80C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6. </a:t>
            </a:r>
            <a:r>
              <a:rPr lang="ko-KR" altLang="en-US" sz="1600">
                <a:solidFill>
                  <a:schemeClr val="tx1"/>
                </a:solidFill>
              </a:rPr>
              <a:t>제안요청 요건 수용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52C333D-7213-080C-7A3C-7BBF20A49338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87035FE-E8B5-6073-345A-B6C2E40FFD43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 요구사항 대응 조견표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3022CAF-DFB9-3DAC-2343-07B1DD0E8EE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대응 조견표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9FE15BE-D401-3E52-2D43-23494C403FE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19002D6A-4FC6-DE36-F721-EDAC48BD725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F22FB07E-8013-304D-53F8-6AC07C48BD9A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분석표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FD0BB2E-1BCE-AD60-13AC-3E16D0A58A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0196839"/>
              </p:ext>
            </p:extLst>
          </p:nvPr>
        </p:nvGraphicFramePr>
        <p:xfrm>
          <a:off x="279084" y="2900069"/>
          <a:ext cx="6331425" cy="5816061"/>
        </p:xfrm>
        <a:graphic>
          <a:graphicData uri="http://schemas.openxmlformats.org/drawingml/2006/table">
            <a:tbl>
              <a:tblPr/>
              <a:tblGrid>
                <a:gridCol w="1035366">
                  <a:extLst>
                    <a:ext uri="{9D8B030D-6E8A-4147-A177-3AD203B41FA5}">
                      <a16:colId xmlns:a16="http://schemas.microsoft.com/office/drawing/2014/main" val="1041386363"/>
                    </a:ext>
                  </a:extLst>
                </a:gridCol>
                <a:gridCol w="1285875">
                  <a:extLst>
                    <a:ext uri="{9D8B030D-6E8A-4147-A177-3AD203B41FA5}">
                      <a16:colId xmlns:a16="http://schemas.microsoft.com/office/drawing/2014/main" val="848350541"/>
                    </a:ext>
                  </a:extLst>
                </a:gridCol>
                <a:gridCol w="2743200">
                  <a:extLst>
                    <a:ext uri="{9D8B030D-6E8A-4147-A177-3AD203B41FA5}">
                      <a16:colId xmlns:a16="http://schemas.microsoft.com/office/drawing/2014/main" val="4190916919"/>
                    </a:ext>
                  </a:extLst>
                </a:gridCol>
                <a:gridCol w="1266984">
                  <a:extLst>
                    <a:ext uri="{9D8B030D-6E8A-4147-A177-3AD203B41FA5}">
                      <a16:colId xmlns:a16="http://schemas.microsoft.com/office/drawing/2014/main" val="4159794351"/>
                    </a:ext>
                  </a:extLst>
                </a:gridCol>
              </a:tblGrid>
              <a:tr h="13128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분류</a:t>
                      </a: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요구사항번호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명칭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해당페이지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970752"/>
                  </a:ext>
                </a:extLst>
              </a:tr>
              <a:tr h="130186">
                <a:tc rowSpan="21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요구사항</a:t>
                      </a:r>
                    </a:p>
                    <a:p>
                      <a:pPr marL="0" marR="0" indent="0" algn="ctr" fontAlgn="base" latinLnBrk="1">
                        <a:lnSpc>
                          <a:spcPct val="13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(Functional 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40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b="1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781147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2667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학습데이터 등록후보 관리 시스템 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506446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2667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학습데이터 등록지원 시스템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9756954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2667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대외업무 협력 시스템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3396186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2667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 관리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6893317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2667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학습데이터 현황관리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1336082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 진행관리 기능</a:t>
                      </a: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4528150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품질현황관리 기능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148649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2667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관리 기능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1525360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학습데이터 활용지원 기능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3813082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학습수행 및 통제 기능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3300395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색인관리 시스템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403585"/>
                  </a:ext>
                </a:extLst>
              </a:tr>
              <a:tr h="1301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 엔진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899547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연계 검색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1421685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제공 서비스 기능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8496981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 운영지원 기능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741041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로그수집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 시스템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531967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로그분석 및 지표 산정 시스템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74882847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대시보드 및 리포팅 시스템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217107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 정보 제공 시스템 기능 구성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2299899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 상태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 제공 시스템 기능 구성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39187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410424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22C23E-97CA-5F95-B8F3-984FF41D0E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86313CF-0352-C65C-1A50-969ED3E3733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6. </a:t>
            </a:r>
            <a:r>
              <a:rPr lang="ko-KR" altLang="en-US" sz="1600">
                <a:solidFill>
                  <a:schemeClr val="tx1"/>
                </a:solidFill>
              </a:rPr>
              <a:t>제안요청 요건 수용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2898D29-3C2D-85A0-874F-70510351166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B7EAA3-8F17-9E86-3953-BB6DC676B18B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 요구사항 대응 조견표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9722D6-9068-BA5D-DBCF-64999282780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대응 조견표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68BD0B-CF6F-7E54-797F-F9318AD92D2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3941155-69F7-2879-49D5-42C0EBD73C9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8698D18E-BEDB-071D-C5A2-B8A1DBEE98E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분석표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FEDEE96-71CE-EC98-EAB1-8FF83C658F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257021"/>
              </p:ext>
            </p:extLst>
          </p:nvPr>
        </p:nvGraphicFramePr>
        <p:xfrm>
          <a:off x="279084" y="2900069"/>
          <a:ext cx="6331425" cy="5328830"/>
        </p:xfrm>
        <a:graphic>
          <a:graphicData uri="http://schemas.openxmlformats.org/drawingml/2006/table">
            <a:tbl>
              <a:tblPr/>
              <a:tblGrid>
                <a:gridCol w="1035366">
                  <a:extLst>
                    <a:ext uri="{9D8B030D-6E8A-4147-A177-3AD203B41FA5}">
                      <a16:colId xmlns:a16="http://schemas.microsoft.com/office/drawing/2014/main" val="1041386363"/>
                    </a:ext>
                  </a:extLst>
                </a:gridCol>
                <a:gridCol w="1285875">
                  <a:extLst>
                    <a:ext uri="{9D8B030D-6E8A-4147-A177-3AD203B41FA5}">
                      <a16:colId xmlns:a16="http://schemas.microsoft.com/office/drawing/2014/main" val="848350541"/>
                    </a:ext>
                  </a:extLst>
                </a:gridCol>
                <a:gridCol w="2743200">
                  <a:extLst>
                    <a:ext uri="{9D8B030D-6E8A-4147-A177-3AD203B41FA5}">
                      <a16:colId xmlns:a16="http://schemas.microsoft.com/office/drawing/2014/main" val="4190916919"/>
                    </a:ext>
                  </a:extLst>
                </a:gridCol>
                <a:gridCol w="1266984">
                  <a:extLst>
                    <a:ext uri="{9D8B030D-6E8A-4147-A177-3AD203B41FA5}">
                      <a16:colId xmlns:a16="http://schemas.microsoft.com/office/drawing/2014/main" val="4159794351"/>
                    </a:ext>
                  </a:extLst>
                </a:gridCol>
              </a:tblGrid>
              <a:tr h="13128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분류</a:t>
                      </a: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요구사항번호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명칭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해당페이지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970752"/>
                  </a:ext>
                </a:extLst>
              </a:tr>
              <a:tr h="114841">
                <a:tc rowSpan="20">
                  <a:txBody>
                    <a:bodyPr/>
                    <a:lstStyle/>
                    <a:p>
                      <a:pPr marL="0" marR="0" lvl="0" indent="0" algn="ctr" defTabSz="6858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요구사항</a:t>
                      </a:r>
                    </a:p>
                    <a:p>
                      <a:pPr marL="0" marR="0" lvl="0" indent="0" algn="ctr" defTabSz="6858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(Functional Requirement)</a:t>
                      </a:r>
                      <a:endParaRPr kumimoji="0" lang="ko-KR" altLang="en-US" sz="9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 활용정보 제공 시스템 기능 구성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281629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온톨로지 모델링 시스템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1005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지식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722865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의미기반 탐색 지원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364571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탐색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시스템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1018166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관리 시스템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0085534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링크 연계 시스템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398084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외부저작권조회 시스템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216908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내부저작권검사 시스템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591126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메타 관리체계 기능 구성 </a:t>
                      </a:r>
                    </a:p>
                  </a:txBody>
                  <a:tcPr marL="64770" marR="64770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601394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관리 시스템 기능 구성 및 명칭 정비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63109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관리 시스템 기능 구성 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524909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기반 기능 구성 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2214154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운영관리 기능 구성 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082236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관리 기능 구성 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202083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운영정책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환경설정 관리 기능 구성 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6217137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업무처리 관리 기능 구성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70302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 관리 기능 구성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821321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just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 관리 기능 구성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996366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" latinLnBrk="0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FR-040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6000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just" fontAlgn="ctr" latinLnBrk="0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 서비스 통합 제공 및 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기능 구성</a:t>
                      </a: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78951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193887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F14762-6A36-542F-9FD8-A2BE8E8254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25257BB-D45D-FDF5-20B8-C3B8BD9DA73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6. </a:t>
            </a:r>
            <a:r>
              <a:rPr lang="ko-KR" altLang="en-US" sz="1600">
                <a:solidFill>
                  <a:schemeClr val="tx1"/>
                </a:solidFill>
              </a:rPr>
              <a:t>제안요청 요건 수용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2B4EAFF-8DBA-5745-43C9-B7EA5BDA8A74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1CDA79B-F3C2-D08C-4C6B-B1173A7E2E0F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성능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테스트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 요구사항 대응 조견표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EFCBA7B-2F39-CA0C-5CC6-B6226DBA3BF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대응 조견표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0365C08-A967-CD44-6D94-72A01ABD51B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6574CB10-6BD1-7C27-B211-F18AE6C8632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943B2ADA-4197-D4EF-BAF0-87B10C4FD5A8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분석표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72EDF48-3874-C9D8-5EE8-156AE87DF3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9238446"/>
              </p:ext>
            </p:extLst>
          </p:nvPr>
        </p:nvGraphicFramePr>
        <p:xfrm>
          <a:off x="279084" y="2900069"/>
          <a:ext cx="6331425" cy="5499100"/>
        </p:xfrm>
        <a:graphic>
          <a:graphicData uri="http://schemas.openxmlformats.org/drawingml/2006/table">
            <a:tbl>
              <a:tblPr/>
              <a:tblGrid>
                <a:gridCol w="1035366">
                  <a:extLst>
                    <a:ext uri="{9D8B030D-6E8A-4147-A177-3AD203B41FA5}">
                      <a16:colId xmlns:a16="http://schemas.microsoft.com/office/drawing/2014/main" val="1041386363"/>
                    </a:ext>
                  </a:extLst>
                </a:gridCol>
                <a:gridCol w="1285875">
                  <a:extLst>
                    <a:ext uri="{9D8B030D-6E8A-4147-A177-3AD203B41FA5}">
                      <a16:colId xmlns:a16="http://schemas.microsoft.com/office/drawing/2014/main" val="848350541"/>
                    </a:ext>
                  </a:extLst>
                </a:gridCol>
                <a:gridCol w="2743200">
                  <a:extLst>
                    <a:ext uri="{9D8B030D-6E8A-4147-A177-3AD203B41FA5}">
                      <a16:colId xmlns:a16="http://schemas.microsoft.com/office/drawing/2014/main" val="4190916919"/>
                    </a:ext>
                  </a:extLst>
                </a:gridCol>
                <a:gridCol w="1266984">
                  <a:extLst>
                    <a:ext uri="{9D8B030D-6E8A-4147-A177-3AD203B41FA5}">
                      <a16:colId xmlns:a16="http://schemas.microsoft.com/office/drawing/2014/main" val="4159794351"/>
                    </a:ext>
                  </a:extLst>
                </a:gridCol>
              </a:tblGrid>
              <a:tr h="13128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분류</a:t>
                      </a: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요구사항번호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명칭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해당페이지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970752"/>
                  </a:ext>
                </a:extLst>
              </a:tr>
              <a:tr h="114841">
                <a:tc rowSpan="6"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 요구사항</a:t>
                      </a:r>
                    </a:p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(Performance 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281629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 페이지 및 데이터 처리 응답 속도 등 성능 요구사항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1005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응답시간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722865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안정성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364571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동시접속 및 동시처리 허용범위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1018166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내외부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시스템 연계 성능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0085534"/>
                  </a:ext>
                </a:extLst>
              </a:tr>
              <a:tr h="114841">
                <a:tc rowSpan="5"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요구사항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(Data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398084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표준 준수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216908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시스템의 구성 및 요건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591126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품질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601394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이관 및 마이그레이션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631093"/>
                  </a:ext>
                </a:extLst>
              </a:tr>
              <a:tr h="114841">
                <a:tc rowSpan="3"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 요구사항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(Test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524909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 계획 및 검증 계획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2214154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 운영 및 테스트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0822368"/>
                  </a:ext>
                </a:extLst>
              </a:tr>
              <a:tr h="114841">
                <a:tc rowSpan="11"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요구사항</a:t>
                      </a:r>
                    </a:p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(Security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202083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사업수행 전반에 대한 보안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6217137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보안관리 일반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70302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누출금지 대상정보 및 보안 </a:t>
                      </a: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위규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처리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821321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참여인원 보안관리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996366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문서 및 자료 보안관리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789510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사업수행 장소 보안관리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5270974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네트워크 보안관리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0514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장비 및 매체 보안관리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6505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클라우드 컴퓨팅 보안 준수 요건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6562031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SR-010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클라우드 보안 기타사항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3579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468991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9FF43E-8061-4AB5-7F27-B6DBAF1F9D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C66A4ABA-4D0A-8CD5-C31A-808778EF77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6. </a:t>
            </a:r>
            <a:r>
              <a:rPr lang="ko-KR" altLang="en-US" sz="1600">
                <a:solidFill>
                  <a:schemeClr val="tx1"/>
                </a:solidFill>
              </a:rPr>
              <a:t>제안요청 요건 수용</a:t>
            </a:r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21D3CD4-CA65-2587-D6EF-E18B1C0A00A2}"/>
              </a:ext>
            </a:extLst>
          </p:cNvPr>
          <p:cNvSpPr txBox="1"/>
          <p:nvPr/>
        </p:nvSpPr>
        <p:spPr>
          <a:xfrm>
            <a:off x="3895725" y="298577"/>
            <a:ext cx="282381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Ⅰ.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제안개요 및 전략</a:t>
            </a: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A1232A2-FF9F-4F9D-F452-2B1052AD5CE3}"/>
              </a:ext>
            </a:extLst>
          </p:cNvPr>
          <p:cNvSpPr/>
          <p:nvPr/>
        </p:nvSpPr>
        <p:spPr bwMode="auto">
          <a:xfrm>
            <a:off x="588602" y="1003442"/>
            <a:ext cx="6130942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6.1.4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사업관리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제약사항 요구사항 대응 조견표</a:t>
            </a:r>
            <a:endParaRPr lang="ko-KR" altLang="ko-KR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B295CF7-5778-1EA8-B360-C0DB49F8BE6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대응 조견표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9BA3957-B93C-A1DE-FEB1-D45AFCA1883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01BA12EF-543F-CD01-1E5A-C85A99B340F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FDCFE730-9C1C-5640-7A86-F2AAF0827B0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분석표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0FAF48A-660E-8802-84DE-935A483604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1090326"/>
              </p:ext>
            </p:extLst>
          </p:nvPr>
        </p:nvGraphicFramePr>
        <p:xfrm>
          <a:off x="279084" y="2900069"/>
          <a:ext cx="6331425" cy="5290058"/>
        </p:xfrm>
        <a:graphic>
          <a:graphicData uri="http://schemas.openxmlformats.org/drawingml/2006/table">
            <a:tbl>
              <a:tblPr/>
              <a:tblGrid>
                <a:gridCol w="1035366">
                  <a:extLst>
                    <a:ext uri="{9D8B030D-6E8A-4147-A177-3AD203B41FA5}">
                      <a16:colId xmlns:a16="http://schemas.microsoft.com/office/drawing/2014/main" val="1041386363"/>
                    </a:ext>
                  </a:extLst>
                </a:gridCol>
                <a:gridCol w="1285875">
                  <a:extLst>
                    <a:ext uri="{9D8B030D-6E8A-4147-A177-3AD203B41FA5}">
                      <a16:colId xmlns:a16="http://schemas.microsoft.com/office/drawing/2014/main" val="848350541"/>
                    </a:ext>
                  </a:extLst>
                </a:gridCol>
                <a:gridCol w="2743200">
                  <a:extLst>
                    <a:ext uri="{9D8B030D-6E8A-4147-A177-3AD203B41FA5}">
                      <a16:colId xmlns:a16="http://schemas.microsoft.com/office/drawing/2014/main" val="4190916919"/>
                    </a:ext>
                  </a:extLst>
                </a:gridCol>
                <a:gridCol w="1266984">
                  <a:extLst>
                    <a:ext uri="{9D8B030D-6E8A-4147-A177-3AD203B41FA5}">
                      <a16:colId xmlns:a16="http://schemas.microsoft.com/office/drawing/2014/main" val="4159794351"/>
                    </a:ext>
                  </a:extLst>
                </a:gridCol>
              </a:tblGrid>
              <a:tr h="131285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분류</a:t>
                      </a: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요구사항번호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요구사항 명칭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해당페이지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4970752"/>
                  </a:ext>
                </a:extLst>
              </a:tr>
              <a:tr h="114841">
                <a:tc rowSpan="13"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사업관리 및 지원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(Project Management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281629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프로젝트 관리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1005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운영자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매뉴얼 제공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722865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교육 및 훈련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364571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형상관리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1018166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도움말 및 가이드 제공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0085534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OR-006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로그 생성 및 관리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398084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OR-007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하자보수 및 안정화 지원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216908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OR-008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 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591126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OR-009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검사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601394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OR-010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개방 및 활용을 위한 요구사항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631093"/>
                  </a:ext>
                </a:extLst>
              </a:tr>
              <a:tr h="1373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OR-011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법적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기술적 제약사항 준수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5524909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OR-012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후속 운영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 사업 지원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2214154"/>
                  </a:ext>
                </a:extLst>
              </a:tr>
              <a:tr h="114841">
                <a:tc rowSpan="6"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 요구사항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(Quality 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0822368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QUR-001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신뢰성 확보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202083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QUR-002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사용성 확보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6217137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QUR-003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유지관리성 확보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0703023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QUR-004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이식성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및 호환성 확보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821321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QUR-005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보안성 확보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9963660"/>
                  </a:ext>
                </a:extLst>
              </a:tr>
              <a:tr h="114841">
                <a:tc rowSpan="5"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제약사항</a:t>
                      </a:r>
                      <a:b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(Constraint Requirement)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소계</a:t>
                      </a: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1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7895100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COR-001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기술환경 제약사항 준수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5270974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COR-002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및 상호운용성 제약사항 준수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0514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COR-003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업무절차 제약사항 준수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65052"/>
                  </a:ext>
                </a:extLst>
              </a:tr>
              <a:tr h="1148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COR-004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5941" marR="35941" marT="35941" marB="359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법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제도 및 보안 제약사항 준수</a:t>
                      </a:r>
                    </a:p>
                  </a:txBody>
                  <a:tcPr marL="64770" marR="64770" marT="17907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" latinLnBrk="0" hangingPunct="1">
                        <a:lnSpc>
                          <a:spcPct val="100000"/>
                        </a:lnSpc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17907" marR="17907" marT="36000" marB="17907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656203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758907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B923B-036C-A670-289E-5111FBD8E4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9D9E2A3-D29A-8BDD-EA7D-9616D98C4B8E}"/>
              </a:ext>
            </a:extLst>
          </p:cNvPr>
          <p:cNvSpPr txBox="1"/>
          <p:nvPr/>
        </p:nvSpPr>
        <p:spPr>
          <a:xfrm>
            <a:off x="1416060" y="1498812"/>
            <a:ext cx="43941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설계 및 개발</a:t>
            </a:r>
          </a:p>
        </p:txBody>
      </p:sp>
      <p:sp>
        <p:nvSpPr>
          <p:cNvPr id="6" name="TextBox 17">
            <a:extLst>
              <a:ext uri="{FF2B5EF4-FFF2-40B4-BE49-F238E27FC236}">
                <a16:creationId xmlns:a16="http://schemas.microsoft.com/office/drawing/2014/main" id="{AB980DDA-251E-E818-B71D-72B5A099F180}"/>
              </a:ext>
            </a:extLst>
          </p:cNvPr>
          <p:cNvSpPr txBox="1"/>
          <p:nvPr/>
        </p:nvSpPr>
        <p:spPr>
          <a:xfrm>
            <a:off x="315018" y="1209008"/>
            <a:ext cx="1101042" cy="1142350"/>
          </a:xfrm>
          <a:prstGeom prst="rect">
            <a:avLst/>
          </a:prstGeom>
          <a:noFill/>
          <a:effectLst/>
        </p:spPr>
        <p:txBody>
          <a:bodyPr wrap="none" lIns="34022" tIns="17011" rIns="34022" bIns="17011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1" defTabSz="208696" latinLnBrk="0">
              <a:defRPr/>
            </a:pPr>
            <a:r>
              <a:rPr kumimoji="1" lang="en-US" altLang="ko-KR" sz="7200" b="1">
                <a:ln>
                  <a:solidFill>
                    <a:srgbClr val="4FD1FF">
                      <a:alpha val="0"/>
                    </a:srgbClr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ldhabi" panose="01000000000000000000" pitchFamily="2" charset="-78"/>
                <a:ea typeface="KoPubWorld바탕체 Bold" panose="00000800000000000000" pitchFamily="2" charset="-127"/>
                <a:cs typeface="Aldhabi" panose="01000000000000000000" pitchFamily="2" charset="-78"/>
              </a:rPr>
              <a:t>Ⅱ.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84D37C84-6A31-1B7A-3C5B-AFBFCAEB7F08}"/>
              </a:ext>
            </a:extLst>
          </p:cNvPr>
          <p:cNvCxnSpPr>
            <a:cxnSpLocks/>
          </p:cNvCxnSpPr>
          <p:nvPr/>
        </p:nvCxnSpPr>
        <p:spPr>
          <a:xfrm>
            <a:off x="713137" y="2472264"/>
            <a:ext cx="3528663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68DEF84C-39CC-F92A-D5EF-DD7D53A51194}"/>
              </a:ext>
            </a:extLst>
          </p:cNvPr>
          <p:cNvSpPr txBox="1"/>
          <p:nvPr/>
        </p:nvSpPr>
        <p:spPr>
          <a:xfrm>
            <a:off x="729813" y="2593171"/>
            <a:ext cx="4728011" cy="37087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1. </a:t>
            </a:r>
            <a:r>
              <a:rPr lang="ko-KR" altLang="en-US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기획 및 설계</a:t>
            </a:r>
            <a:endParaRPr lang="en-US" altLang="ko-KR" sz="2000" b="1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>
              <a:lnSpc>
                <a:spcPct val="200000"/>
              </a:lnSpc>
            </a:pPr>
            <a:r>
              <a:rPr lang="en-US" altLang="ko-KR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2. </a:t>
            </a:r>
            <a:r>
              <a:rPr lang="ko-KR" altLang="en-US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및 구축</a:t>
            </a:r>
            <a:endParaRPr lang="en-US" altLang="ko-KR" sz="2000" b="1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>
              <a:lnSpc>
                <a:spcPct val="200000"/>
              </a:lnSpc>
            </a:pPr>
            <a:r>
              <a:rPr lang="en-US" altLang="ko-KR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3. </a:t>
            </a:r>
            <a:r>
              <a:rPr lang="ko-KR" altLang="en-US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구성 및 마이그레이션</a:t>
            </a:r>
            <a:endParaRPr lang="en-US" altLang="ko-KR" sz="2000" b="1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>
              <a:lnSpc>
                <a:spcPct val="200000"/>
              </a:lnSpc>
            </a:pPr>
            <a:r>
              <a:rPr lang="en-US" altLang="ko-KR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4. </a:t>
            </a:r>
            <a:r>
              <a:rPr lang="ko-KR" altLang="en-US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설계 및 지연 대비</a:t>
            </a:r>
            <a:endParaRPr lang="en-US" altLang="ko-KR" sz="2000" b="1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>
              <a:lnSpc>
                <a:spcPct val="200000"/>
              </a:lnSpc>
            </a:pPr>
            <a:r>
              <a:rPr lang="en-US" altLang="ko-KR" sz="2000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5. </a:t>
            </a: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계획</a:t>
            </a:r>
          </a:p>
          <a:p>
            <a:pPr>
              <a:lnSpc>
                <a:spcPct val="200000"/>
              </a:lnSpc>
            </a:pPr>
            <a:endParaRPr lang="ko-KR" altLang="en-US" sz="2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299442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44BEEC-F117-9DCA-D7A7-C3C2FB80A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BA60AF1-CDE6-5D35-FB2A-DB8C85A47B8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6A2C494-50FF-D995-FAF9-7CA662EE8C0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6F62232-74A7-AFD0-EC6C-BBD151D1BACB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1.1.0 Module 1.</a:t>
            </a:r>
            <a:r>
              <a:rPr kumimoji="0" lang="ko-KR" altLang="en-US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추진 프로세스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9E90B35-F7A5-4077-9CD7-14E75283738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9340816-787B-BF33-B18A-A9D336BB56A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dirty="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Moduel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1.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에서는 요구사항 및 현황분석을 거쳐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전환 범위를 결정하고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ISP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결과를 반영하여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학습용데이터 통합제공 시스템의 개념 모델 및 목표모델을 수립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AF2CF5C-B4A2-ED2B-AB3C-05736A7567CB}"/>
              </a:ext>
            </a:extLst>
          </p:cNvPr>
          <p:cNvSpPr/>
          <p:nvPr/>
        </p:nvSpPr>
        <p:spPr>
          <a:xfrm>
            <a:off x="5589352" y="2745682"/>
            <a:ext cx="995758" cy="1242511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이슈 도출 및 </a:t>
            </a: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</a:t>
            </a:r>
            <a:r>
              <a:rPr lang="ko-KR" altLang="en-US" sz="12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추적표</a:t>
            </a:r>
            <a:endParaRPr lang="ko-KR" altLang="en-US" sz="12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C0000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7473BFBE-06C9-2398-39C1-1F973FCF43C1}"/>
              </a:ext>
            </a:extLst>
          </p:cNvPr>
          <p:cNvCxnSpPr>
            <a:cxnSpLocks/>
          </p:cNvCxnSpPr>
          <p:nvPr/>
        </p:nvCxnSpPr>
        <p:spPr>
          <a:xfrm>
            <a:off x="312925" y="23464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CE2A4AED-3006-33A6-758C-68CF81EA9E6F}"/>
              </a:ext>
            </a:extLst>
          </p:cNvPr>
          <p:cNvSpPr txBox="1"/>
          <p:nvPr/>
        </p:nvSpPr>
        <p:spPr>
          <a:xfrm>
            <a:off x="335011" y="23330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ko-KR" altLang="en-US" sz="11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추진 프로세스</a:t>
            </a:r>
            <a:endParaRPr lang="en-US" altLang="ko-KR" sz="11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C315FC0-E954-71A0-B6E9-848FBEF3BE91}"/>
              </a:ext>
            </a:extLst>
          </p:cNvPr>
          <p:cNvSpPr/>
          <p:nvPr/>
        </p:nvSpPr>
        <p:spPr>
          <a:xfrm>
            <a:off x="333477" y="2664250"/>
            <a:ext cx="5152923" cy="1378920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87F83E45-94B3-55B5-7294-C456579B06E7}"/>
              </a:ext>
            </a:extLst>
          </p:cNvPr>
          <p:cNvCxnSpPr>
            <a:cxnSpLocks/>
          </p:cNvCxnSpPr>
          <p:nvPr/>
        </p:nvCxnSpPr>
        <p:spPr>
          <a:xfrm>
            <a:off x="1178023" y="2761292"/>
            <a:ext cx="0" cy="1226901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177056E3-4310-D148-716C-9EB1CB4C25F5}"/>
              </a:ext>
            </a:extLst>
          </p:cNvPr>
          <p:cNvSpPr txBox="1"/>
          <p:nvPr/>
        </p:nvSpPr>
        <p:spPr>
          <a:xfrm flipH="1">
            <a:off x="328468" y="2998496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1.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및 현황 분석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D12D460-D2CA-C5B6-7200-CE85498E99C3}"/>
              </a:ext>
            </a:extLst>
          </p:cNvPr>
          <p:cNvSpPr/>
          <p:nvPr/>
        </p:nvSpPr>
        <p:spPr>
          <a:xfrm>
            <a:off x="1317932" y="2768966"/>
            <a:ext cx="1850716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식별 및 우선순위 설정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BA098602-9F5C-DE89-656E-02D19A31DA56}"/>
              </a:ext>
            </a:extLst>
          </p:cNvPr>
          <p:cNvSpPr/>
          <p:nvPr/>
        </p:nvSpPr>
        <p:spPr>
          <a:xfrm>
            <a:off x="3629024" y="2768966"/>
            <a:ext cx="1780381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기능 전수조사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188D81A-CA98-3D2A-D400-D520EB2F94B9}"/>
              </a:ext>
            </a:extLst>
          </p:cNvPr>
          <p:cNvSpPr/>
          <p:nvPr/>
        </p:nvSpPr>
        <p:spPr>
          <a:xfrm>
            <a:off x="2406650" y="3206952"/>
            <a:ext cx="1914036" cy="252107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문제점 분석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이등변 삼각형 20">
            <a:extLst>
              <a:ext uri="{FF2B5EF4-FFF2-40B4-BE49-F238E27FC236}">
                <a16:creationId xmlns:a16="http://schemas.microsoft.com/office/drawing/2014/main" id="{AD4F9F42-36BD-85A2-BAA0-7EECB0FA6BA1}"/>
              </a:ext>
            </a:extLst>
          </p:cNvPr>
          <p:cNvSpPr/>
          <p:nvPr/>
        </p:nvSpPr>
        <p:spPr>
          <a:xfrm rot="10800000">
            <a:off x="2342686" y="3538030"/>
            <a:ext cx="2041963" cy="125232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2BFB89B-4740-4747-D0BB-6344D036B4A0}"/>
              </a:ext>
            </a:extLst>
          </p:cNvPr>
          <p:cNvSpPr/>
          <p:nvPr/>
        </p:nvSpPr>
        <p:spPr>
          <a:xfrm>
            <a:off x="333477" y="4190380"/>
            <a:ext cx="5152923" cy="1233907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CE42EABC-0814-66CB-4B8A-405D633BF12A}"/>
              </a:ext>
            </a:extLst>
          </p:cNvPr>
          <p:cNvCxnSpPr>
            <a:cxnSpLocks/>
          </p:cNvCxnSpPr>
          <p:nvPr/>
        </p:nvCxnSpPr>
        <p:spPr>
          <a:xfrm>
            <a:off x="1178023" y="4287422"/>
            <a:ext cx="0" cy="1074202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7F927B48-3509-4652-E976-84A96BE554FD}"/>
              </a:ext>
            </a:extLst>
          </p:cNvPr>
          <p:cNvSpPr txBox="1"/>
          <p:nvPr/>
        </p:nvSpPr>
        <p:spPr>
          <a:xfrm flipH="1">
            <a:off x="328468" y="4446325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2.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전환 범위 정의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D6A2E513-EC8F-D757-C512-6E3C1E7CDB13}"/>
              </a:ext>
            </a:extLst>
          </p:cNvPr>
          <p:cNvSpPr/>
          <p:nvPr/>
        </p:nvSpPr>
        <p:spPr>
          <a:xfrm>
            <a:off x="1317932" y="4269696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기능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연결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E9267282-9AD9-1976-0E10-85E926BEC829}"/>
              </a:ext>
            </a:extLst>
          </p:cNvPr>
          <p:cNvSpPr/>
          <p:nvPr/>
        </p:nvSpPr>
        <p:spPr>
          <a:xfrm>
            <a:off x="3453641" y="4269696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 전환 유형 구분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22925F96-E746-423B-32C0-C87A7AE6B1BD}"/>
              </a:ext>
            </a:extLst>
          </p:cNvPr>
          <p:cNvSpPr/>
          <p:nvPr/>
        </p:nvSpPr>
        <p:spPr>
          <a:xfrm>
            <a:off x="2342686" y="4951496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및 체계 전환 범위 설정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363A51F-246F-9E3F-D4AA-5774AAECBBB7}"/>
              </a:ext>
            </a:extLst>
          </p:cNvPr>
          <p:cNvSpPr/>
          <p:nvPr/>
        </p:nvSpPr>
        <p:spPr>
          <a:xfrm>
            <a:off x="333477" y="7080788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9BABCDC7-A776-F1D4-F6D9-B0A2FADC916D}"/>
              </a:ext>
            </a:extLst>
          </p:cNvPr>
          <p:cNvCxnSpPr>
            <a:cxnSpLocks/>
          </p:cNvCxnSpPr>
          <p:nvPr/>
        </p:nvCxnSpPr>
        <p:spPr>
          <a:xfrm>
            <a:off x="1178023" y="7177829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FC7492A-3794-30EE-5BF2-B41DAC251D48}"/>
              </a:ext>
            </a:extLst>
          </p:cNvPr>
          <p:cNvSpPr txBox="1"/>
          <p:nvPr/>
        </p:nvSpPr>
        <p:spPr>
          <a:xfrm flipH="1">
            <a:off x="328468" y="7204298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4.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 모델 수립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7A495A67-6A24-FE08-DB76-E47904E4A0BF}"/>
              </a:ext>
            </a:extLst>
          </p:cNvPr>
          <p:cNvSpPr/>
          <p:nvPr/>
        </p:nvSpPr>
        <p:spPr>
          <a:xfrm>
            <a:off x="1317932" y="716010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통합제공 개념 모델 정의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665FC73D-CD9C-90F7-0DC4-6536789FAB24}"/>
              </a:ext>
            </a:extLst>
          </p:cNvPr>
          <p:cNvSpPr/>
          <p:nvPr/>
        </p:nvSpPr>
        <p:spPr>
          <a:xfrm>
            <a:off x="3453641" y="716010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 영역별 목표 모델 정의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8E241CB-2BD0-D692-78D2-BEB37B06B1C7}"/>
              </a:ext>
            </a:extLst>
          </p:cNvPr>
          <p:cNvSpPr/>
          <p:nvPr/>
        </p:nvSpPr>
        <p:spPr>
          <a:xfrm>
            <a:off x="1317932" y="7611461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 처리 및 승인 범위 구분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773EEEF4-3CFA-1F92-E2B6-D8B2CB4A2842}"/>
              </a:ext>
            </a:extLst>
          </p:cNvPr>
          <p:cNvSpPr/>
          <p:nvPr/>
        </p:nvSpPr>
        <p:spPr>
          <a:xfrm>
            <a:off x="3453641" y="7611461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프레임워크 적용 원칙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03EA8F2-A23D-05CF-3761-9C834472A8A6}"/>
              </a:ext>
            </a:extLst>
          </p:cNvPr>
          <p:cNvSpPr/>
          <p:nvPr/>
        </p:nvSpPr>
        <p:spPr>
          <a:xfrm>
            <a:off x="5589352" y="4237065"/>
            <a:ext cx="995758" cy="1135278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및 체계 전환 범위 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F7B139D-27B8-52BE-2E42-0F92772C1D21}"/>
              </a:ext>
            </a:extLst>
          </p:cNvPr>
          <p:cNvSpPr/>
          <p:nvPr/>
        </p:nvSpPr>
        <p:spPr>
          <a:xfrm>
            <a:off x="5589352" y="7130618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개념 모델 및 목표 모델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70CBFDC-21E7-9FDD-1F96-A866CD7952BA}"/>
              </a:ext>
            </a:extLst>
          </p:cNvPr>
          <p:cNvSpPr/>
          <p:nvPr/>
        </p:nvSpPr>
        <p:spPr>
          <a:xfrm>
            <a:off x="333477" y="5576530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F266B923-0E23-19A5-7C34-ED325A018067}"/>
              </a:ext>
            </a:extLst>
          </p:cNvPr>
          <p:cNvCxnSpPr>
            <a:cxnSpLocks/>
          </p:cNvCxnSpPr>
          <p:nvPr/>
        </p:nvCxnSpPr>
        <p:spPr>
          <a:xfrm>
            <a:off x="1178023" y="5673571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7866E3E9-399D-F22E-0400-6D3EF46D4F1B}"/>
              </a:ext>
            </a:extLst>
          </p:cNvPr>
          <p:cNvSpPr txBox="1"/>
          <p:nvPr/>
        </p:nvSpPr>
        <p:spPr>
          <a:xfrm flipH="1">
            <a:off x="328468" y="5725421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3. ISP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 반영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1CB590F-8EEE-58A0-9450-71D8318F1991}"/>
              </a:ext>
            </a:extLst>
          </p:cNvPr>
          <p:cNvSpPr/>
          <p:nvPr/>
        </p:nvSpPr>
        <p:spPr>
          <a:xfrm>
            <a:off x="1500188" y="5694463"/>
            <a:ext cx="1571625" cy="260654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타 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ISP 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207F7E6D-80BF-C2C3-DB7C-5D438DAFF0A2}"/>
              </a:ext>
            </a:extLst>
          </p:cNvPr>
          <p:cNvSpPr/>
          <p:nvPr/>
        </p:nvSpPr>
        <p:spPr>
          <a:xfrm>
            <a:off x="3453641" y="5655845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ISP 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반영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6E3355CB-AC14-84AF-26B1-B43E1DFA4498}"/>
              </a:ext>
            </a:extLst>
          </p:cNvPr>
          <p:cNvSpPr/>
          <p:nvPr/>
        </p:nvSpPr>
        <p:spPr>
          <a:xfrm>
            <a:off x="1317932" y="610720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착수 후 수령 결과 검증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E6BA8299-83D8-6249-FE82-918FAE0C3B1A}"/>
              </a:ext>
            </a:extLst>
          </p:cNvPr>
          <p:cNvSpPr/>
          <p:nvPr/>
        </p:nvSpPr>
        <p:spPr>
          <a:xfrm>
            <a:off x="3453641" y="610720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연차별 로드맵 연계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D176BD44-3C45-ED1C-BAD1-B14A4A6CDCC4}"/>
              </a:ext>
            </a:extLst>
          </p:cNvPr>
          <p:cNvSpPr/>
          <p:nvPr/>
        </p:nvSpPr>
        <p:spPr>
          <a:xfrm>
            <a:off x="5589352" y="5655845"/>
            <a:ext cx="995758" cy="823159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로드맵 기반 실행 방안</a:t>
            </a:r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457A4C5B-88EB-8450-029C-B84D3CE7B7BF}"/>
              </a:ext>
            </a:extLst>
          </p:cNvPr>
          <p:cNvCxnSpPr>
            <a:stCxn id="26" idx="3"/>
            <a:endCxn id="27" idx="1"/>
          </p:cNvCxnSpPr>
          <p:nvPr/>
        </p:nvCxnSpPr>
        <p:spPr>
          <a:xfrm>
            <a:off x="3273697" y="4446325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9E5197F1-F552-9F86-28DC-D27A0C5589DB}"/>
              </a:ext>
            </a:extLst>
          </p:cNvPr>
          <p:cNvCxnSpPr>
            <a:cxnSpLocks/>
            <a:stCxn id="56" idx="3"/>
            <a:endCxn id="57" idx="1"/>
          </p:cNvCxnSpPr>
          <p:nvPr/>
        </p:nvCxnSpPr>
        <p:spPr>
          <a:xfrm>
            <a:off x="3071813" y="5824790"/>
            <a:ext cx="38182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연결선: 꺾임 66">
            <a:extLst>
              <a:ext uri="{FF2B5EF4-FFF2-40B4-BE49-F238E27FC236}">
                <a16:creationId xmlns:a16="http://schemas.microsoft.com/office/drawing/2014/main" id="{7B0325C0-8519-949C-ACBD-BDD391A52D77}"/>
              </a:ext>
            </a:extLst>
          </p:cNvPr>
          <p:cNvCxnSpPr>
            <a:stCxn id="57" idx="2"/>
            <a:endCxn id="58" idx="0"/>
          </p:cNvCxnSpPr>
          <p:nvPr/>
        </p:nvCxnSpPr>
        <p:spPr>
          <a:xfrm rot="5400000">
            <a:off x="3314620" y="4990299"/>
            <a:ext cx="98100" cy="213570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157966E7-100B-F295-DF07-BB0D78B1FE71}"/>
              </a:ext>
            </a:extLst>
          </p:cNvPr>
          <p:cNvCxnSpPr>
            <a:cxnSpLocks/>
            <a:stCxn id="58" idx="3"/>
            <a:endCxn id="59" idx="1"/>
          </p:cNvCxnSpPr>
          <p:nvPr/>
        </p:nvCxnSpPr>
        <p:spPr>
          <a:xfrm>
            <a:off x="3273697" y="6283832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DD3FD7A3-E3D2-7E90-BA37-AF39BD57E752}"/>
              </a:ext>
            </a:extLst>
          </p:cNvPr>
          <p:cNvCxnSpPr>
            <a:stCxn id="34" idx="3"/>
            <a:endCxn id="35" idx="1"/>
          </p:cNvCxnSpPr>
          <p:nvPr/>
        </p:nvCxnSpPr>
        <p:spPr>
          <a:xfrm>
            <a:off x="3273697" y="7336732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FBDD5C-AEA7-9636-D64C-04A97ACE8884}"/>
              </a:ext>
            </a:extLst>
          </p:cNvPr>
          <p:cNvCxnSpPr>
            <a:stCxn id="36" idx="3"/>
            <a:endCxn id="37" idx="1"/>
          </p:cNvCxnSpPr>
          <p:nvPr/>
        </p:nvCxnSpPr>
        <p:spPr>
          <a:xfrm>
            <a:off x="3273697" y="7788090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0">
            <a:extLst>
              <a:ext uri="{FF2B5EF4-FFF2-40B4-BE49-F238E27FC236}">
                <a16:creationId xmlns:a16="http://schemas.microsoft.com/office/drawing/2014/main" id="{3E235EDA-FCAD-8977-0873-A8113C81947C}"/>
              </a:ext>
            </a:extLst>
          </p:cNvPr>
          <p:cNvCxnSpPr>
            <a:stCxn id="35" idx="2"/>
            <a:endCxn id="36" idx="0"/>
          </p:cNvCxnSpPr>
          <p:nvPr/>
        </p:nvCxnSpPr>
        <p:spPr>
          <a:xfrm rot="5400000">
            <a:off x="3314620" y="6494557"/>
            <a:ext cx="98100" cy="213570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C502E223-01E3-E912-0444-D5914428963A}"/>
              </a:ext>
            </a:extLst>
          </p:cNvPr>
          <p:cNvSpPr txBox="1"/>
          <p:nvPr/>
        </p:nvSpPr>
        <p:spPr>
          <a:xfrm>
            <a:off x="4850304" y="8192359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 </a:t>
            </a:r>
            <a:r>
              <a:rPr lang="ko-KR" altLang="en-US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결과물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F7FA188-A8CB-9627-A2AE-96DC30BBD782}"/>
              </a:ext>
            </a:extLst>
          </p:cNvPr>
          <p:cNvSpPr txBox="1"/>
          <p:nvPr/>
        </p:nvSpPr>
        <p:spPr>
          <a:xfrm>
            <a:off x="5614752" y="8192359"/>
            <a:ext cx="110479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전략 산출물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1FBB96C-FECE-EA5C-0D7C-51C94F499B41}"/>
              </a:ext>
            </a:extLst>
          </p:cNvPr>
          <p:cNvSpPr/>
          <p:nvPr/>
        </p:nvSpPr>
        <p:spPr>
          <a:xfrm>
            <a:off x="2406650" y="3736086"/>
            <a:ext cx="1914036" cy="252107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</a:t>
            </a:r>
            <a:r>
              <a:rPr lang="ko-KR" altLang="en-US" sz="1000" dirty="0" err="1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추적표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작성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B5B45024-A5FD-24F6-76A2-F2DA3787CF34}"/>
              </a:ext>
            </a:extLst>
          </p:cNvPr>
          <p:cNvSpPr/>
          <p:nvPr/>
        </p:nvSpPr>
        <p:spPr>
          <a:xfrm rot="10800000">
            <a:off x="2342686" y="4744717"/>
            <a:ext cx="2041963" cy="125232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" name="더하기 기호 8">
            <a:extLst>
              <a:ext uri="{FF2B5EF4-FFF2-40B4-BE49-F238E27FC236}">
                <a16:creationId xmlns:a16="http://schemas.microsoft.com/office/drawing/2014/main" id="{AB1DB4E8-0180-567E-FB24-6C593207F747}"/>
              </a:ext>
            </a:extLst>
          </p:cNvPr>
          <p:cNvSpPr/>
          <p:nvPr/>
        </p:nvSpPr>
        <p:spPr>
          <a:xfrm>
            <a:off x="3243650" y="2789758"/>
            <a:ext cx="308379" cy="308379"/>
          </a:xfrm>
          <a:prstGeom prst="mathPlus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1" name="이등변 삼각형 80">
            <a:extLst>
              <a:ext uri="{FF2B5EF4-FFF2-40B4-BE49-F238E27FC236}">
                <a16:creationId xmlns:a16="http://schemas.microsoft.com/office/drawing/2014/main" id="{EABF4378-C0FC-6AFA-0EAB-272362FF4B21}"/>
              </a:ext>
            </a:extLst>
          </p:cNvPr>
          <p:cNvSpPr/>
          <p:nvPr/>
        </p:nvSpPr>
        <p:spPr>
          <a:xfrm rot="10800000">
            <a:off x="1500188" y="6688101"/>
            <a:ext cx="3726956" cy="262839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352563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8C534D-E8FB-BA69-D299-253828E24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0A5F7692-EC62-24DD-645E-D3583F92DB3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3964776-9225-2770-DD5E-8AC20750562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5274E8F-EA2D-58D4-DFA3-4112926F493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식별 및 우선순위 설정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72AE660-AE47-3723-0B68-4564095FA2D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5AB94D2-64E9-A5FE-04CD-E9FD5A8F3AF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NIA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현행 운영 부서 인터뷰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문서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실사를 통해 목표시스템 설계를 위한 현행업무 분석을 진행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C0F5816-8FC3-57E0-4E42-C3233CE01C4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DR-001, DR-002</a:t>
            </a:r>
          </a:p>
        </p:txBody>
      </p:sp>
      <p:sp>
        <p:nvSpPr>
          <p:cNvPr id="18" name="모서리가 둥근 직사각형 222">
            <a:extLst>
              <a:ext uri="{FF2B5EF4-FFF2-40B4-BE49-F238E27FC236}">
                <a16:creationId xmlns:a16="http://schemas.microsoft.com/office/drawing/2014/main" id="{F2AD9F00-EA70-D457-97AC-3DF63549241E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0" name="Shape 6">
            <a:extLst>
              <a:ext uri="{FF2B5EF4-FFF2-40B4-BE49-F238E27FC236}">
                <a16:creationId xmlns:a16="http://schemas.microsoft.com/office/drawing/2014/main" id="{99849FE7-A1BD-FCE5-AB64-5929E84A88C1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2" name="Text 7">
            <a:extLst>
              <a:ext uri="{FF2B5EF4-FFF2-40B4-BE49-F238E27FC236}">
                <a16:creationId xmlns:a16="http://schemas.microsoft.com/office/drawing/2014/main" id="{00A5AB14-227C-29E8-A262-1C6DFEEC097F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현행업무 분석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25" name="Table 0">
            <a:extLst>
              <a:ext uri="{FF2B5EF4-FFF2-40B4-BE49-F238E27FC236}">
                <a16:creationId xmlns:a16="http://schemas.microsoft.com/office/drawing/2014/main" id="{E3E5127C-B5E2-BC9D-3D8A-1219280257E2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133168"/>
          <a:ext cx="6162548" cy="1080426"/>
        </p:xfrm>
        <a:graphic>
          <a:graphicData uri="http://schemas.openxmlformats.org/drawingml/2006/table">
            <a:tbl>
              <a:tblPr/>
              <a:tblGrid>
                <a:gridCol w="163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40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조사 방법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운영부서 인터뷰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담당자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기능별 이용 빈도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운영상 애로사항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 필요 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문서 검토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명세서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매뉴얼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이력자료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목록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 명세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구조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실사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 화면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·DB·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문서와 실제 운영 간 차이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미문서화 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3E1FC243-6A6A-C3DF-050C-3CF09259FB52}"/>
              </a:ext>
            </a:extLst>
          </p:cNvPr>
          <p:cNvSpPr/>
          <p:nvPr/>
        </p:nvSpPr>
        <p:spPr>
          <a:xfrm>
            <a:off x="316309" y="2710277"/>
            <a:ext cx="6286697" cy="9991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목적 및 근거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NIA AI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허브 운영부서를 대상으로 현행 시스템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현황을 조사하여 이관 대상과 목표시스템 설계의 기준선을 확보함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대상은 운영부서 담당자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운영 문서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실제 운영 화면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데이터베이스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 소스로 구분하여 상호 검증이 가능하도록 설계함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CDCE773-D0D2-93E1-C79E-13F9AC0134EC}"/>
              </a:ext>
            </a:extLst>
          </p:cNvPr>
          <p:cNvSpPr txBox="1"/>
          <p:nvPr/>
        </p:nvSpPr>
        <p:spPr>
          <a:xfrm>
            <a:off x="2456908" y="3861887"/>
            <a:ext cx="1905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조사 방법과 확인 대상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2C8C298D-B462-3945-8D1D-BB3EC2A55754}"/>
              </a:ext>
            </a:extLst>
          </p:cNvPr>
          <p:cNvSpPr/>
          <p:nvPr/>
        </p:nvSpPr>
        <p:spPr>
          <a:xfrm>
            <a:off x="316309" y="5336689"/>
            <a:ext cx="6286697" cy="345824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(기능 현황 조사) 현재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AI허브가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제공하는 기능 목록을 전수 조사하여 이관 대상 여부를 항목별로 판단할 수 있는 근거를 마련함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조사 항목은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기능명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이용 빈도, 최근 변경이력, 연계 시스템, 이관 필요성 5개 항목으로 구성함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운영부서 담당자 대상 인터뷰로 각 기능의 실사용 여부와 이관 시 유의사항(데이터 의존관계, 외부연계 제약 등)을 확인함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데이터·인프라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현황 조사) 현재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AI허브가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보유한 데이터, 메타데이터, 이력정보, 통계정보와 이를 운영하는 인프라 현황을 조사함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현황은 데이터셋 수, 데이터 유형, 저장 위치, 메타데이터 구조,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통계·로그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데이터 보유 형태를 확인 항목으로 구성함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현황은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서버·스토리지·네트워크·보안환경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구성과 클라우드 이용 현황을 확인 항목으로 구성함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(조사 결과 정리 및 검증) 조사 결과를 현행시스템 분석서로 정리하고 운영부서 재확인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을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거쳐 확정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문서 검토와 시스템 실사 결과가 상이한 항목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미문서화 기능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실사용 중단 기능 등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은 운영부서 확인 회의를 통해 최종 판정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5CEDC88-39A5-9DB2-7086-A169836E25BC}"/>
              </a:ext>
            </a:extLst>
          </p:cNvPr>
          <p:cNvGrpSpPr/>
          <p:nvPr/>
        </p:nvGrpSpPr>
        <p:grpSpPr>
          <a:xfrm>
            <a:off x="315896" y="8677522"/>
            <a:ext cx="6210459" cy="853701"/>
            <a:chOff x="-6675629" y="7614024"/>
            <a:chExt cx="6210459" cy="853701"/>
          </a:xfrm>
        </p:grpSpPr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4FE807B9-CFAC-2F95-FFC6-EA91FC93C9B0}"/>
                </a:ext>
              </a:extLst>
            </p:cNvPr>
            <p:cNvSpPr/>
            <p:nvPr/>
          </p:nvSpPr>
          <p:spPr>
            <a:xfrm>
              <a:off x="-667562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34" name="사각형: 둥근 위쪽 모서리 33">
              <a:extLst>
                <a:ext uri="{FF2B5EF4-FFF2-40B4-BE49-F238E27FC236}">
                  <a16:creationId xmlns:a16="http://schemas.microsoft.com/office/drawing/2014/main" id="{412425A8-3082-F00F-E3A3-F64F4398C0C6}"/>
                </a:ext>
              </a:extLst>
            </p:cNvPr>
            <p:cNvSpPr/>
            <p:nvPr/>
          </p:nvSpPr>
          <p:spPr>
            <a:xfrm>
              <a:off x="-6675628" y="7614024"/>
              <a:ext cx="1468628" cy="351485"/>
            </a:xfrm>
            <a:prstGeom prst="round2SameRect">
              <a:avLst>
                <a:gd name="adj1" fmla="val 10344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① </a:t>
              </a: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조사 계획 수립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50330E6-61BD-3476-1935-BFB7FBB21916}"/>
                </a:ext>
              </a:extLst>
            </p:cNvPr>
            <p:cNvSpPr txBox="1"/>
            <p:nvPr/>
          </p:nvSpPr>
          <p:spPr>
            <a:xfrm>
              <a:off x="-6675629" y="8072592"/>
              <a:ext cx="1468627" cy="261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조사 항목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대상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일정 확정</a:t>
              </a:r>
            </a:p>
          </p:txBody>
        </p:sp>
        <p:sp>
          <p:nvSpPr>
            <p:cNvPr id="36" name="사각형: 둥근 모서리 35">
              <a:extLst>
                <a:ext uri="{FF2B5EF4-FFF2-40B4-BE49-F238E27FC236}">
                  <a16:creationId xmlns:a16="http://schemas.microsoft.com/office/drawing/2014/main" id="{4478801B-A9CE-4820-3E13-F8A8ADA07B35}"/>
                </a:ext>
              </a:extLst>
            </p:cNvPr>
            <p:cNvSpPr/>
            <p:nvPr/>
          </p:nvSpPr>
          <p:spPr>
            <a:xfrm>
              <a:off x="-509501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37" name="사각형: 둥근 위쪽 모서리 36">
              <a:extLst>
                <a:ext uri="{FF2B5EF4-FFF2-40B4-BE49-F238E27FC236}">
                  <a16:creationId xmlns:a16="http://schemas.microsoft.com/office/drawing/2014/main" id="{369F91AB-CA8A-F5B6-10BB-8FA0020D85C4}"/>
                </a:ext>
              </a:extLst>
            </p:cNvPr>
            <p:cNvSpPr/>
            <p:nvPr/>
          </p:nvSpPr>
          <p:spPr>
            <a:xfrm>
              <a:off x="-5095018" y="7614024"/>
              <a:ext cx="1468628" cy="351485"/>
            </a:xfrm>
            <a:prstGeom prst="round2SameRect">
              <a:avLst>
                <a:gd name="adj1" fmla="val 8311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② 기능</a:t>
              </a: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데이터 조사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BCF9BF5-8CD0-1CB1-D077-30489811807A}"/>
                </a:ext>
              </a:extLst>
            </p:cNvPr>
            <p:cNvSpPr txBox="1"/>
            <p:nvPr/>
          </p:nvSpPr>
          <p:spPr>
            <a:xfrm>
              <a:off x="-509501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기능 목록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데이터 현황 전수 조사</a:t>
              </a:r>
            </a:p>
          </p:txBody>
        </p:sp>
        <p:sp>
          <p:nvSpPr>
            <p:cNvPr id="39" name="사각형: 둥근 모서리 38">
              <a:extLst>
                <a:ext uri="{FF2B5EF4-FFF2-40B4-BE49-F238E27FC236}">
                  <a16:creationId xmlns:a16="http://schemas.microsoft.com/office/drawing/2014/main" id="{FCF42AB2-35C1-2636-5D31-70BEF1B6F73F}"/>
                </a:ext>
              </a:extLst>
            </p:cNvPr>
            <p:cNvSpPr/>
            <p:nvPr/>
          </p:nvSpPr>
          <p:spPr>
            <a:xfrm>
              <a:off x="-351440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40" name="사각형: 둥근 위쪽 모서리 39">
              <a:extLst>
                <a:ext uri="{FF2B5EF4-FFF2-40B4-BE49-F238E27FC236}">
                  <a16:creationId xmlns:a16="http://schemas.microsoft.com/office/drawing/2014/main" id="{921B36D5-37A5-F36C-0322-5933FED67327}"/>
                </a:ext>
              </a:extLst>
            </p:cNvPr>
            <p:cNvSpPr/>
            <p:nvPr/>
          </p:nvSpPr>
          <p:spPr>
            <a:xfrm>
              <a:off x="-3514408" y="7614024"/>
              <a:ext cx="1468628" cy="351485"/>
            </a:xfrm>
            <a:prstGeom prst="round2SameRect">
              <a:avLst>
                <a:gd name="adj1" fmla="val 11473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③ 운영부서 인터뷰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36D4883-9CC6-2925-E355-F4E0ECA0D0C7}"/>
                </a:ext>
              </a:extLst>
            </p:cNvPr>
            <p:cNvSpPr txBox="1"/>
            <p:nvPr/>
          </p:nvSpPr>
          <p:spPr>
            <a:xfrm>
              <a:off x="-351440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운영 담당자 대상 애로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이관 유의사항 확인</a:t>
              </a:r>
            </a:p>
          </p:txBody>
        </p:sp>
        <p:sp>
          <p:nvSpPr>
            <p:cNvPr id="42" name="사각형: 둥근 모서리 41">
              <a:extLst>
                <a:ext uri="{FF2B5EF4-FFF2-40B4-BE49-F238E27FC236}">
                  <a16:creationId xmlns:a16="http://schemas.microsoft.com/office/drawing/2014/main" id="{534691EB-63FA-7F91-FAC4-5366421F5DF7}"/>
                </a:ext>
              </a:extLst>
            </p:cNvPr>
            <p:cNvSpPr/>
            <p:nvPr/>
          </p:nvSpPr>
          <p:spPr>
            <a:xfrm>
              <a:off x="-193379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43" name="사각형: 둥근 위쪽 모서리 42">
              <a:extLst>
                <a:ext uri="{FF2B5EF4-FFF2-40B4-BE49-F238E27FC236}">
                  <a16:creationId xmlns:a16="http://schemas.microsoft.com/office/drawing/2014/main" id="{1C175290-3902-3A6D-356D-39F2BE0593E6}"/>
                </a:ext>
              </a:extLst>
            </p:cNvPr>
            <p:cNvSpPr/>
            <p:nvPr/>
          </p:nvSpPr>
          <p:spPr>
            <a:xfrm>
              <a:off x="-1933798" y="7614024"/>
              <a:ext cx="1468628" cy="351485"/>
            </a:xfrm>
            <a:prstGeom prst="round2SameRect">
              <a:avLst>
                <a:gd name="adj1" fmla="val 11698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④ 결과 검증</a:t>
              </a: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확정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C488016-3477-15C7-50BC-D50353D857C6}"/>
                </a:ext>
              </a:extLst>
            </p:cNvPr>
            <p:cNvSpPr txBox="1"/>
            <p:nvPr/>
          </p:nvSpPr>
          <p:spPr>
            <a:xfrm>
              <a:off x="-193379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문서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-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실사 차이 확인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, 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운영부서 재확인</a:t>
              </a:r>
            </a:p>
          </p:txBody>
        </p:sp>
        <p:sp>
          <p:nvSpPr>
            <p:cNvPr id="45" name="이등변 삼각형 44">
              <a:extLst>
                <a:ext uri="{FF2B5EF4-FFF2-40B4-BE49-F238E27FC236}">
                  <a16:creationId xmlns:a16="http://schemas.microsoft.com/office/drawing/2014/main" id="{293359A0-BDB4-EB99-9D7A-BB2F6CFB394F}"/>
                </a:ext>
              </a:extLst>
            </p:cNvPr>
            <p:cNvSpPr/>
            <p:nvPr/>
          </p:nvSpPr>
          <p:spPr>
            <a:xfrm rot="5400000">
              <a:off x="-5190427" y="8011282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46" name="이등변 삼각형 45">
              <a:extLst>
                <a:ext uri="{FF2B5EF4-FFF2-40B4-BE49-F238E27FC236}">
                  <a16:creationId xmlns:a16="http://schemas.microsoft.com/office/drawing/2014/main" id="{3AAE4331-95B1-9856-A866-98C68745FB8C}"/>
                </a:ext>
              </a:extLst>
            </p:cNvPr>
            <p:cNvSpPr/>
            <p:nvPr/>
          </p:nvSpPr>
          <p:spPr>
            <a:xfrm rot="5400000">
              <a:off x="-3605238" y="8011283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47" name="이등변 삼각형 46">
              <a:extLst>
                <a:ext uri="{FF2B5EF4-FFF2-40B4-BE49-F238E27FC236}">
                  <a16:creationId xmlns:a16="http://schemas.microsoft.com/office/drawing/2014/main" id="{E6ED4EBF-D753-A8C4-BB85-B5D6C177C61C}"/>
                </a:ext>
              </a:extLst>
            </p:cNvPr>
            <p:cNvSpPr/>
            <p:nvPr/>
          </p:nvSpPr>
          <p:spPr>
            <a:xfrm rot="5400000">
              <a:off x="-2024812" y="8011284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940006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A5E8E-68B4-A59D-FE4B-3F2890518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6675F5B-AC54-AF12-0708-A2F6CD1D68E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0F18FF3-0E3F-C93D-A6B7-4DB9FD1922A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6464815-AB18-5BC8-32DD-E75301AF5CEE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식별 및 우선순위 설정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9D87B5-9A54-6A61-6951-5BF711B38D0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F870B99-B2A7-296F-65D3-65B9E6FD74F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DR-001, DR-002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40E2789-86F6-9698-D24D-95FC9E9667E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학습데이터 수요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공급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주체별 수요조사를 우선 진행하여 결과를 분석하고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추가 조사가 필요한 대상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심층인터뷰를 진행하여 이해관계자의 요구사항을 자세하고 체계적으로 분석</a:t>
            </a:r>
          </a:p>
        </p:txBody>
      </p:sp>
      <p:sp>
        <p:nvSpPr>
          <p:cNvPr id="17" name="모서리가 둥근 직사각형 222">
            <a:extLst>
              <a:ext uri="{FF2B5EF4-FFF2-40B4-BE49-F238E27FC236}">
                <a16:creationId xmlns:a16="http://schemas.microsoft.com/office/drawing/2014/main" id="{8B41B3C0-E936-6D27-17BA-F4C18AFD10D2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7B7EB-86AB-6820-5165-43CB76F99530}"/>
              </a:ext>
            </a:extLst>
          </p:cNvPr>
          <p:cNvSpPr/>
          <p:nvPr/>
        </p:nvSpPr>
        <p:spPr>
          <a:xfrm>
            <a:off x="316309" y="2710277"/>
            <a:ext cx="6286697" cy="122224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대상 설계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 주체를 유형별로 구분하여 수요조사 대상을 설계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대상은 데이터 실수요자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연구기관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민간기업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일반국민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제공기관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민간 학습데이터 보유기관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관리주체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운영기관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정책부서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3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 유형으로 구분함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정책부서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운영부서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등록기관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품질검수부서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제공기관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관리자를 포함하여 조사 모집단의 대표성을 확보함</a:t>
            </a:r>
          </a:p>
        </p:txBody>
      </p:sp>
      <p:sp>
        <p:nvSpPr>
          <p:cNvPr id="24" name="Shape 6">
            <a:extLst>
              <a:ext uri="{FF2B5EF4-FFF2-40B4-BE49-F238E27FC236}">
                <a16:creationId xmlns:a16="http://schemas.microsoft.com/office/drawing/2014/main" id="{0549DB78-5288-6815-301A-322968FDEC73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6" name="Text 7">
            <a:extLst>
              <a:ext uri="{FF2B5EF4-FFF2-40B4-BE49-F238E27FC236}">
                <a16:creationId xmlns:a16="http://schemas.microsoft.com/office/drawing/2014/main" id="{278C27C1-2021-EC2C-0CC8-852B227E2608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수요조사 설계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BA4AE236-7E6D-F5B2-4F59-EA5F07C18495}"/>
              </a:ext>
            </a:extLst>
          </p:cNvPr>
          <p:cNvGrpSpPr/>
          <p:nvPr/>
        </p:nvGrpSpPr>
        <p:grpSpPr>
          <a:xfrm>
            <a:off x="315896" y="8677522"/>
            <a:ext cx="6210459" cy="853701"/>
            <a:chOff x="-6675629" y="7614024"/>
            <a:chExt cx="6210459" cy="853701"/>
          </a:xfrm>
        </p:grpSpPr>
        <p:sp>
          <p:nvSpPr>
            <p:cNvPr id="80" name="사각형: 둥근 모서리 79">
              <a:extLst>
                <a:ext uri="{FF2B5EF4-FFF2-40B4-BE49-F238E27FC236}">
                  <a16:creationId xmlns:a16="http://schemas.microsoft.com/office/drawing/2014/main" id="{57A984E9-13A7-61DE-B596-242A9FF491E6}"/>
                </a:ext>
              </a:extLst>
            </p:cNvPr>
            <p:cNvSpPr/>
            <p:nvPr/>
          </p:nvSpPr>
          <p:spPr>
            <a:xfrm>
              <a:off x="-667562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83" name="사각형: 둥근 위쪽 모서리 82">
              <a:extLst>
                <a:ext uri="{FF2B5EF4-FFF2-40B4-BE49-F238E27FC236}">
                  <a16:creationId xmlns:a16="http://schemas.microsoft.com/office/drawing/2014/main" id="{D37FE70C-41E0-96EF-8696-2090FF1604CF}"/>
                </a:ext>
              </a:extLst>
            </p:cNvPr>
            <p:cNvSpPr/>
            <p:nvPr/>
          </p:nvSpPr>
          <p:spPr>
            <a:xfrm>
              <a:off x="-6675628" y="7614024"/>
              <a:ext cx="1468628" cy="351485"/>
            </a:xfrm>
            <a:prstGeom prst="round2SameRect">
              <a:avLst>
                <a:gd name="adj1" fmla="val 10344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① </a:t>
              </a:r>
              <a:r>
                <a:rPr kumimoji="0" lang="en-US" altLang="ko-KR" sz="1100" b="1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이해관계자</a:t>
              </a: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 </a:t>
              </a:r>
              <a:r>
                <a:rPr kumimoji="0" lang="en-US" altLang="ko-KR" sz="1100" b="1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식별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C3B85939-AED7-B98B-5989-F9EF38682DD7}"/>
                </a:ext>
              </a:extLst>
            </p:cNvPr>
            <p:cNvSpPr txBox="1"/>
            <p:nvPr/>
          </p:nvSpPr>
          <p:spPr>
            <a:xfrm>
              <a:off x="-667562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유형 분류 및 조사 대상 확정</a:t>
              </a:r>
            </a:p>
          </p:txBody>
        </p:sp>
        <p:sp>
          <p:nvSpPr>
            <p:cNvPr id="85" name="사각형: 둥근 모서리 84">
              <a:extLst>
                <a:ext uri="{FF2B5EF4-FFF2-40B4-BE49-F238E27FC236}">
                  <a16:creationId xmlns:a16="http://schemas.microsoft.com/office/drawing/2014/main" id="{F4FD364C-E9F0-CF13-9EE7-E7F57A04CACA}"/>
                </a:ext>
              </a:extLst>
            </p:cNvPr>
            <p:cNvSpPr/>
            <p:nvPr/>
          </p:nvSpPr>
          <p:spPr>
            <a:xfrm>
              <a:off x="-509501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86" name="사각형: 둥근 위쪽 모서리 85">
              <a:extLst>
                <a:ext uri="{FF2B5EF4-FFF2-40B4-BE49-F238E27FC236}">
                  <a16:creationId xmlns:a16="http://schemas.microsoft.com/office/drawing/2014/main" id="{BFF6BFC1-1C13-A8BC-0AE8-4B2E55F07148}"/>
                </a:ext>
              </a:extLst>
            </p:cNvPr>
            <p:cNvSpPr/>
            <p:nvPr/>
          </p:nvSpPr>
          <p:spPr>
            <a:xfrm>
              <a:off x="-5095018" y="7614024"/>
              <a:ext cx="1468628" cy="351485"/>
            </a:xfrm>
            <a:prstGeom prst="round2SameRect">
              <a:avLst>
                <a:gd name="adj1" fmla="val 8311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② 조사 문항 설계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A39B8764-8C3C-84DB-E96E-F6E1881FE9A3}"/>
                </a:ext>
              </a:extLst>
            </p:cNvPr>
            <p:cNvSpPr txBox="1"/>
            <p:nvPr/>
          </p:nvSpPr>
          <p:spPr>
            <a:xfrm>
              <a:off x="-509501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공통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이용자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제공기관 항목 차등 설계</a:t>
              </a:r>
            </a:p>
          </p:txBody>
        </p:sp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BCEA64F2-DF52-DEC0-7DA3-A5561C0EA54A}"/>
                </a:ext>
              </a:extLst>
            </p:cNvPr>
            <p:cNvSpPr/>
            <p:nvPr/>
          </p:nvSpPr>
          <p:spPr>
            <a:xfrm>
              <a:off x="-351440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89" name="사각형: 둥근 위쪽 모서리 88">
              <a:extLst>
                <a:ext uri="{FF2B5EF4-FFF2-40B4-BE49-F238E27FC236}">
                  <a16:creationId xmlns:a16="http://schemas.microsoft.com/office/drawing/2014/main" id="{0AF880D8-CDBA-AFEC-C451-C0EFDEFF523F}"/>
                </a:ext>
              </a:extLst>
            </p:cNvPr>
            <p:cNvSpPr/>
            <p:nvPr/>
          </p:nvSpPr>
          <p:spPr>
            <a:xfrm>
              <a:off x="-3514408" y="7614024"/>
              <a:ext cx="1468628" cy="351485"/>
            </a:xfrm>
            <a:prstGeom prst="round2SameRect">
              <a:avLst>
                <a:gd name="adj1" fmla="val 11473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③ 설문 시행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B3012FD-B058-8ECC-4336-82D4D422251C}"/>
                </a:ext>
              </a:extLst>
            </p:cNvPr>
            <p:cNvSpPr txBox="1"/>
            <p:nvPr/>
          </p:nvSpPr>
          <p:spPr>
            <a:xfrm>
              <a:off x="-3514409" y="7982568"/>
              <a:ext cx="1468627" cy="261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유형별 설문조사 실시</a:t>
              </a:r>
            </a:p>
          </p:txBody>
        </p:sp>
        <p:sp>
          <p:nvSpPr>
            <p:cNvPr id="91" name="사각형: 둥근 모서리 90">
              <a:extLst>
                <a:ext uri="{FF2B5EF4-FFF2-40B4-BE49-F238E27FC236}">
                  <a16:creationId xmlns:a16="http://schemas.microsoft.com/office/drawing/2014/main" id="{B7D31748-C304-31E4-79E2-D3C3F7435231}"/>
                </a:ext>
              </a:extLst>
            </p:cNvPr>
            <p:cNvSpPr/>
            <p:nvPr/>
          </p:nvSpPr>
          <p:spPr>
            <a:xfrm>
              <a:off x="-193379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92" name="사각형: 둥근 위쪽 모서리 91">
              <a:extLst>
                <a:ext uri="{FF2B5EF4-FFF2-40B4-BE49-F238E27FC236}">
                  <a16:creationId xmlns:a16="http://schemas.microsoft.com/office/drawing/2014/main" id="{4E45AF19-E216-1351-BC4B-0D4008922002}"/>
                </a:ext>
              </a:extLst>
            </p:cNvPr>
            <p:cNvSpPr/>
            <p:nvPr/>
          </p:nvSpPr>
          <p:spPr>
            <a:xfrm>
              <a:off x="-1933798" y="7614024"/>
              <a:ext cx="1468628" cy="351485"/>
            </a:xfrm>
            <a:prstGeom prst="round2SameRect">
              <a:avLst>
                <a:gd name="adj1" fmla="val 11698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④ 결과 집계</a:t>
              </a: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분석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E5675AD5-9731-B89C-3A6E-C1EA81A051D3}"/>
                </a:ext>
              </a:extLst>
            </p:cNvPr>
            <p:cNvSpPr txBox="1"/>
            <p:nvPr/>
          </p:nvSpPr>
          <p:spPr>
            <a:xfrm>
              <a:off x="-1933799" y="7982568"/>
              <a:ext cx="1468627" cy="261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응답 집계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, 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우선순위 도출</a:t>
              </a:r>
            </a:p>
          </p:txBody>
        </p:sp>
        <p:sp>
          <p:nvSpPr>
            <p:cNvPr id="94" name="이등변 삼각형 93">
              <a:extLst>
                <a:ext uri="{FF2B5EF4-FFF2-40B4-BE49-F238E27FC236}">
                  <a16:creationId xmlns:a16="http://schemas.microsoft.com/office/drawing/2014/main" id="{9B688E9B-9352-A8BF-DF4C-D49D7DBFCB2D}"/>
                </a:ext>
              </a:extLst>
            </p:cNvPr>
            <p:cNvSpPr/>
            <p:nvPr/>
          </p:nvSpPr>
          <p:spPr>
            <a:xfrm rot="5400000">
              <a:off x="-5190427" y="8011282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95" name="이등변 삼각형 94">
              <a:extLst>
                <a:ext uri="{FF2B5EF4-FFF2-40B4-BE49-F238E27FC236}">
                  <a16:creationId xmlns:a16="http://schemas.microsoft.com/office/drawing/2014/main" id="{13A24C23-918A-F8DC-C462-AA61DF6349A9}"/>
                </a:ext>
              </a:extLst>
            </p:cNvPr>
            <p:cNvSpPr/>
            <p:nvPr/>
          </p:nvSpPr>
          <p:spPr>
            <a:xfrm rot="5400000">
              <a:off x="-3605238" y="8011283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96" name="이등변 삼각형 95">
              <a:extLst>
                <a:ext uri="{FF2B5EF4-FFF2-40B4-BE49-F238E27FC236}">
                  <a16:creationId xmlns:a16="http://schemas.microsoft.com/office/drawing/2014/main" id="{15795CB4-28A9-5B8A-F431-8977C5771651}"/>
                </a:ext>
              </a:extLst>
            </p:cNvPr>
            <p:cNvSpPr/>
            <p:nvPr/>
          </p:nvSpPr>
          <p:spPr>
            <a:xfrm rot="5400000">
              <a:off x="-2024812" y="8011284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</p:grpSp>
      <p:graphicFrame>
        <p:nvGraphicFramePr>
          <p:cNvPr id="98" name="Table 0">
            <a:extLst>
              <a:ext uri="{FF2B5EF4-FFF2-40B4-BE49-F238E27FC236}">
                <a16:creationId xmlns:a16="http://schemas.microsoft.com/office/drawing/2014/main" id="{D993C2D5-4B1B-3800-2723-9FFB8BA4D6EE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133168"/>
          <a:ext cx="6162548" cy="1073959"/>
        </p:xfrm>
        <a:graphic>
          <a:graphicData uri="http://schemas.openxmlformats.org/drawingml/2006/table">
            <a:tbl>
              <a:tblPr/>
              <a:tblGrid>
                <a:gridCol w="14222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5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35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 구분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 대상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비고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실수요자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민간기업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일반국민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관점 요구사항 파악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제공기관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 학습데이터 보유기관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반입 관점 요구사항 파악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관리주체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(NIA),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정책부서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관점 요구사항 파악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9" name="TextBox 98">
            <a:extLst>
              <a:ext uri="{FF2B5EF4-FFF2-40B4-BE49-F238E27FC236}">
                <a16:creationId xmlns:a16="http://schemas.microsoft.com/office/drawing/2014/main" id="{5CEB2F19-E47B-845B-37AA-75DD57868D51}"/>
              </a:ext>
            </a:extLst>
          </p:cNvPr>
          <p:cNvSpPr txBox="1"/>
          <p:nvPr/>
        </p:nvSpPr>
        <p:spPr>
          <a:xfrm>
            <a:off x="2456908" y="3861887"/>
            <a:ext cx="1905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수요조사 대상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F3F97D0-42CF-5258-4F37-73F6EBBA3725}"/>
              </a:ext>
            </a:extLst>
          </p:cNvPr>
          <p:cNvSpPr/>
          <p:nvPr/>
        </p:nvSpPr>
        <p:spPr>
          <a:xfrm>
            <a:off x="316309" y="524287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문항 차등 설계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이해관계자 유형별로 문항을 차등 설계하여 업무영역별 요구사항을 입체적으로 파악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03" name="Table 0">
            <a:extLst>
              <a:ext uri="{FF2B5EF4-FFF2-40B4-BE49-F238E27FC236}">
                <a16:creationId xmlns:a16="http://schemas.microsoft.com/office/drawing/2014/main" id="{63929F61-D4DB-608C-306A-590D49CFBE4C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5800090"/>
          <a:ext cx="6162548" cy="1266774"/>
        </p:xfrm>
        <a:graphic>
          <a:graphicData uri="http://schemas.openxmlformats.org/drawingml/2006/table">
            <a:tbl>
              <a:tblPr/>
              <a:tblGrid>
                <a:gridCol w="13968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0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65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7438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 내용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7334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항목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현황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애로사항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추가 요구사항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334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항목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 항목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해상도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목적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제공방식 선호도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7334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항목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부담 요인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 요구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반입 절차 개선 요구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7334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관리주체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항목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애로사항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감독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우선순위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1531697"/>
                  </a:ext>
                </a:extLst>
              </a:tr>
            </a:tbl>
          </a:graphicData>
        </a:graphic>
      </p:graphicFrame>
      <p:sp>
        <p:nvSpPr>
          <p:cNvPr id="104" name="TextBox 103">
            <a:extLst>
              <a:ext uri="{FF2B5EF4-FFF2-40B4-BE49-F238E27FC236}">
                <a16:creationId xmlns:a16="http://schemas.microsoft.com/office/drawing/2014/main" id="{A2F15D43-8B83-B4C3-622E-5CC3A1CC43A3}"/>
              </a:ext>
            </a:extLst>
          </p:cNvPr>
          <p:cNvSpPr txBox="1"/>
          <p:nvPr/>
        </p:nvSpPr>
        <p:spPr>
          <a:xfrm>
            <a:off x="2117725" y="5528808"/>
            <a:ext cx="25833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이해관계자 유형별 조사 문항 구성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8555036-8EB7-1D84-CEBE-EA743DBA1800}"/>
              </a:ext>
            </a:extLst>
          </p:cNvPr>
          <p:cNvSpPr/>
          <p:nvPr/>
        </p:nvSpPr>
        <p:spPr>
          <a:xfrm>
            <a:off x="316309" y="7066865"/>
            <a:ext cx="6286697" cy="1616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설문 시행 및 집계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방법은 이해관계자 유형별 설문조사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모집단 대비 대표성 확보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시행하여 응답을 정량적으로 집계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후속 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결과 상 우선순위가 높거나 응답 편차가 큰 항목을 심층인터뷰 대상으로 선별함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조사 결과표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 비율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우선순위 순위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근거로 후속 심층인터뷰의 대상 그룹과 질문 설계 방향을 결정함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이해관계자 식별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수요조사 문항 설계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설문 시행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결과 집계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분석 순으로 진행하며 산출물은 심층인터뷰 설계 단계에 연계함</a:t>
            </a:r>
          </a:p>
        </p:txBody>
      </p:sp>
    </p:spTree>
    <p:extLst>
      <p:ext uri="{BB962C8B-B14F-4D97-AF65-F5344CB8AC3E}">
        <p14:creationId xmlns:p14="http://schemas.microsoft.com/office/powerpoint/2010/main" val="153112855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4A2E1E-8242-488D-40A9-7C162C1DA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BCAA442-76B9-D3D5-E4FB-A678374F8CE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D10C631-4AA7-8D43-D223-401DCCE445F2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66DB65B-CE0B-AD6A-D04A-99A3A588AE0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식별 및 우선순위 설정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C95D5CD-7F3F-D9A0-0CB2-CAC28E666D9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1733C6F2-347A-DB23-3C21-B0C2359BC4B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DR-001, DR-002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4787B44-6A29-4416-A987-D2F704AF326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이용자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제공기관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관리기관별 문항 설계를 통해 이해관계자별 핵심 니즈를 파악</a:t>
            </a:r>
          </a:p>
        </p:txBody>
      </p:sp>
      <p:sp>
        <p:nvSpPr>
          <p:cNvPr id="17" name="모서리가 둥근 직사각형 222">
            <a:extLst>
              <a:ext uri="{FF2B5EF4-FFF2-40B4-BE49-F238E27FC236}">
                <a16:creationId xmlns:a16="http://schemas.microsoft.com/office/drawing/2014/main" id="{5FB6C574-1781-A606-C42F-BCD4706A0BE5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4" name="Shape 6">
            <a:extLst>
              <a:ext uri="{FF2B5EF4-FFF2-40B4-BE49-F238E27FC236}">
                <a16:creationId xmlns:a16="http://schemas.microsoft.com/office/drawing/2014/main" id="{1939DD70-312F-19C9-3A57-1EAA1E1E0125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6" name="Text 7">
            <a:extLst>
              <a:ext uri="{FF2B5EF4-FFF2-40B4-BE49-F238E27FC236}">
                <a16:creationId xmlns:a16="http://schemas.microsoft.com/office/drawing/2014/main" id="{1C7A8D43-21CA-D7E3-C3B4-417F60FD3333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수요조사 질문 항목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6" name="Table 0">
            <a:extLst>
              <a:ext uri="{FF2B5EF4-FFF2-40B4-BE49-F238E27FC236}">
                <a16:creationId xmlns:a16="http://schemas.microsoft.com/office/drawing/2014/main" id="{989F8241-3549-B2C7-8755-D27C6A5A8632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000043"/>
          <a:ext cx="6124448" cy="1080426"/>
        </p:xfrm>
        <a:graphic>
          <a:graphicData uri="http://schemas.openxmlformats.org/drawingml/2006/table">
            <a:tbl>
              <a:tblPr/>
              <a:tblGrid>
                <a:gridCol w="18794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49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설문 문항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현황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귀 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귀하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은 현재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학습용데이터를 어떤 경로로 활용하고 계십니까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애로사항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데이터를 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활용하는 과정에서 가장 큰 어려움은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추가 요구사항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통합제공시스템에 반드시 포함되었으면 하는 기능이 있다면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E32EB687-C97A-C848-6B55-895394938933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577281"/>
          <a:ext cx="6124448" cy="1234440"/>
        </p:xfrm>
        <a:graphic>
          <a:graphicData uri="http://schemas.openxmlformats.org/drawingml/2006/table">
            <a:tbl>
              <a:tblPr/>
              <a:tblGrid>
                <a:gridCol w="1898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25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설문 문항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53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귀하가 주로 필요로 하는 학습용데이터 유형은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653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해상도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필요한 데이터의 품질 수준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해상도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형식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 주기는 어떻게 되십니까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76314"/>
                  </a:ext>
                </a:extLst>
              </a:tr>
              <a:tr h="12653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목적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확보한 데이터를 어떤 목적으로 활용하실 계획입니까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653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제공방식 선호도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데이터를 제공받을 때 선호하는 방식은 무엇이며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그 이유는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5" name="Table 0">
            <a:extLst>
              <a:ext uri="{FF2B5EF4-FFF2-40B4-BE49-F238E27FC236}">
                <a16:creationId xmlns:a16="http://schemas.microsoft.com/office/drawing/2014/main" id="{9177291C-3F13-EDE9-1593-61343DAD1DFC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6284614"/>
          <a:ext cx="6124448" cy="1202884"/>
        </p:xfrm>
        <a:graphic>
          <a:graphicData uri="http://schemas.openxmlformats.org/drawingml/2006/table">
            <a:tbl>
              <a:tblPr/>
              <a:tblGrid>
                <a:gridCol w="19175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06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설문 문항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부담 정도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현재 데이터 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절차 진행에 따른 업무 부담 정도는 어느 수준입니까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 요구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 시 메타데이터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코드체계 등 표준화와 관련해 개선이 필요한 부분은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반입절차 개선요구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반입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절차 중 가장 개선이 필요하다고 생각하는 부분은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8" name="Table 0">
            <a:extLst>
              <a:ext uri="{FF2B5EF4-FFF2-40B4-BE49-F238E27FC236}">
                <a16:creationId xmlns:a16="http://schemas.microsoft.com/office/drawing/2014/main" id="{571A4C5F-369D-4DA8-5730-70E270EB5820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8081659"/>
          <a:ext cx="6124448" cy="1202884"/>
        </p:xfrm>
        <a:graphic>
          <a:graphicData uri="http://schemas.openxmlformats.org/drawingml/2006/table">
            <a:tbl>
              <a:tblPr/>
              <a:tblGrid>
                <a:gridCol w="19556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68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설문 문항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현황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애로사항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 운영 과정에서 겪고 있는 가장 큰 애로사항은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3492841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감독 체계 요구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보안에 대한 관리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감독 측면에서 신규 시스템에 필요하다고 보시는 기능은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813285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운영전환 우선순위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 완료 후 운영 전환 시 가장 우선적으로 고려해야 할 사항은 무엇입니까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?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사각형: 둥근 위쪽 모서리 3">
            <a:extLst>
              <a:ext uri="{FF2B5EF4-FFF2-40B4-BE49-F238E27FC236}">
                <a16:creationId xmlns:a16="http://schemas.microsoft.com/office/drawing/2014/main" id="{1815DE40-3EC2-3FC9-7203-168B4DA29723}"/>
              </a:ext>
            </a:extLst>
          </p:cNvPr>
          <p:cNvSpPr/>
          <p:nvPr/>
        </p:nvSpPr>
        <p:spPr>
          <a:xfrm>
            <a:off x="339852" y="2738288"/>
            <a:ext cx="6124448" cy="261755"/>
          </a:xfrm>
          <a:prstGeom prst="round2Same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공통 문항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전체 응답자 공통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사각형: 둥근 위쪽 모서리 6">
            <a:extLst>
              <a:ext uri="{FF2B5EF4-FFF2-40B4-BE49-F238E27FC236}">
                <a16:creationId xmlns:a16="http://schemas.microsoft.com/office/drawing/2014/main" id="{A7DBF31F-CE95-48CF-EBC4-40C0049676B9}"/>
              </a:ext>
            </a:extLst>
          </p:cNvPr>
          <p:cNvSpPr/>
          <p:nvPr/>
        </p:nvSpPr>
        <p:spPr>
          <a:xfrm>
            <a:off x="339852" y="4317045"/>
            <a:ext cx="6124448" cy="261755"/>
          </a:xfrm>
          <a:prstGeom prst="round2Same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이용자 문항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실수요자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연구기관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민간기업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일반국민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1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FA744B07-050E-F210-A11A-1BDD74E32B04}"/>
              </a:ext>
            </a:extLst>
          </p:cNvPr>
          <p:cNvSpPr/>
          <p:nvPr/>
        </p:nvSpPr>
        <p:spPr>
          <a:xfrm>
            <a:off x="339852" y="6018096"/>
            <a:ext cx="6124448" cy="261755"/>
          </a:xfrm>
          <a:prstGeom prst="round2Same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제공기관 문항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제공기관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공공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민간 학습데이터 보유기관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endParaRPr lang="ko-KR" altLang="en-US" sz="11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위쪽 모서리 11">
            <a:extLst>
              <a:ext uri="{FF2B5EF4-FFF2-40B4-BE49-F238E27FC236}">
                <a16:creationId xmlns:a16="http://schemas.microsoft.com/office/drawing/2014/main" id="{D8C59660-E0EF-C17C-A024-C8078BF8660B}"/>
              </a:ext>
            </a:extLst>
          </p:cNvPr>
          <p:cNvSpPr/>
          <p:nvPr/>
        </p:nvSpPr>
        <p:spPr>
          <a:xfrm>
            <a:off x="339852" y="7819904"/>
            <a:ext cx="6124448" cy="261755"/>
          </a:xfrm>
          <a:prstGeom prst="round2Same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관리기관 문항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운영기관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정책부서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endParaRPr lang="ko-KR" altLang="en-US" sz="11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2373810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00ADB-B488-F0F6-09D5-A8673B392D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9C83A05-EB41-6F97-0619-DB1C518B403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A023E62-4619-D00A-7638-39C72814C55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A1518D4-71F7-8363-BAC1-35DF41BEBFC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식별 및 우선순위 설정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AD84982-7566-91FF-B2EF-2B9DC6309C7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3D08D42-B1BD-4AEC-A35A-19C788E9A5E2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DR-001, DR-002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61BE3E0B-0A26-9596-E6D3-E744A0569DC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심층인터뷰를 통해 이해관계자 유형별로 질문을 설계하여 이슈와 니즈를 파악하고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Gap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분석의 근거자료로 활용</a:t>
            </a:r>
            <a:endParaRPr kumimoji="1" lang="en-US" altLang="ko-KR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1" name="Shape 6">
            <a:extLst>
              <a:ext uri="{FF2B5EF4-FFF2-40B4-BE49-F238E27FC236}">
                <a16:creationId xmlns:a16="http://schemas.microsoft.com/office/drawing/2014/main" id="{09C44D8A-FDC0-89CA-6C1E-B100C8CDC920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43" name="Text 7">
            <a:extLst>
              <a:ext uri="{FF2B5EF4-FFF2-40B4-BE49-F238E27FC236}">
                <a16:creationId xmlns:a16="http://schemas.microsoft.com/office/drawing/2014/main" id="{CC2B09D3-CAF1-6FDB-37F7-F5137D17ED48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이해관계자 심층인터뷰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4" name="모서리가 둥근 직사각형 222">
            <a:extLst>
              <a:ext uri="{FF2B5EF4-FFF2-40B4-BE49-F238E27FC236}">
                <a16:creationId xmlns:a16="http://schemas.microsoft.com/office/drawing/2014/main" id="{3FE83B50-575E-004F-6B88-B2C380B3636C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98ADB583-E56E-38B4-5822-89FB189CCC2E}"/>
              </a:ext>
            </a:extLst>
          </p:cNvPr>
          <p:cNvSpPr/>
          <p:nvPr/>
        </p:nvSpPr>
        <p:spPr>
          <a:xfrm>
            <a:off x="316309" y="2710277"/>
            <a:ext cx="6286697" cy="124071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설계 원칙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수요조사에서 확인된 정량 응답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우선순위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편차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근거로 후속 </a:t>
            </a:r>
            <a:r>
              <a:rPr kumimoji="1"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심층인터뷰 질문을 설계하여 </a:t>
            </a:r>
            <a:r>
              <a:rPr kumimoji="1"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무엇이 문제인지</a:t>
            </a:r>
            <a:r>
              <a:rPr kumimoji="1"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에서 </a:t>
            </a:r>
            <a:r>
              <a:rPr kumimoji="1"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왜 </a:t>
            </a:r>
            <a:r>
              <a:rPr kumimoji="1" lang="ko-KR" altLang="en-US" sz="120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그러한지</a:t>
            </a:r>
            <a:r>
              <a:rPr kumimoji="1" lang="en-US" altLang="ko-KR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2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조사 초점을 심화함</a:t>
            </a:r>
            <a:endParaRPr kumimoji="1" lang="en-US" altLang="ko-KR" sz="120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수요조사 응답에서 </a:t>
            </a:r>
            <a:r>
              <a:rPr kumimoji="1" lang="ko-KR" altLang="en-US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이슈로 확인된 담당자를 대상으로 심층인터뷰 질문으로 재설계함</a:t>
            </a:r>
            <a:endParaRPr kumimoji="1" lang="en-US" altLang="ko-KR" sz="1100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심층인터뷰 질문은 수요조사 응답을 인용하는 방식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예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"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귀 기관 응답에서 등록 처리기간이 가장 큰 애로사항으로 나타났는데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으로 구성하여 응답자의 구체적 경험을 유도함</a:t>
            </a: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CDA7B4B5-6F03-E5F7-C4BB-FB0B83145A0B}"/>
              </a:ext>
            </a:extLst>
          </p:cNvPr>
          <p:cNvSpPr/>
          <p:nvPr/>
        </p:nvSpPr>
        <p:spPr>
          <a:xfrm>
            <a:off x="331137" y="8677522"/>
            <a:ext cx="1962412" cy="853701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8" name="사각형: 둥근 위쪽 모서리 147">
            <a:extLst>
              <a:ext uri="{FF2B5EF4-FFF2-40B4-BE49-F238E27FC236}">
                <a16:creationId xmlns:a16="http://schemas.microsoft.com/office/drawing/2014/main" id="{6DBE5412-ED92-28F6-8DDC-E264AB84EDA3}"/>
              </a:ext>
            </a:extLst>
          </p:cNvPr>
          <p:cNvSpPr/>
          <p:nvPr/>
        </p:nvSpPr>
        <p:spPr>
          <a:xfrm>
            <a:off x="331137" y="8677522"/>
            <a:ext cx="1962412" cy="351485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kumimoji="0" lang="ko-KR" altLang="en-US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문항 설계</a:t>
            </a:r>
            <a:endParaRPr kumimoji="0" lang="en-US" altLang="ko-KR" sz="1100" b="0" i="0" u="none" strike="noStrike" kern="1200" cap="none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D70F8FF6-50A7-14DD-1E79-9C9526E98696}"/>
              </a:ext>
            </a:extLst>
          </p:cNvPr>
          <p:cNvSpPr txBox="1"/>
          <p:nvPr/>
        </p:nvSpPr>
        <p:spPr>
          <a:xfrm>
            <a:off x="331136" y="9136090"/>
            <a:ext cx="1962411" cy="261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수요조사 이슈 항목 기준 질문 재설계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5789C9CD-D7A0-54EE-D83D-BC60FA63715B}"/>
              </a:ext>
            </a:extLst>
          </p:cNvPr>
          <p:cNvSpPr/>
          <p:nvPr/>
        </p:nvSpPr>
        <p:spPr>
          <a:xfrm>
            <a:off x="2443182" y="8677522"/>
            <a:ext cx="1962412" cy="853701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1" name="사각형: 둥근 위쪽 모서리 150">
            <a:extLst>
              <a:ext uri="{FF2B5EF4-FFF2-40B4-BE49-F238E27FC236}">
                <a16:creationId xmlns:a16="http://schemas.microsoft.com/office/drawing/2014/main" id="{54FB49FE-3ADF-730C-F400-BE4EE4A0D8B1}"/>
              </a:ext>
            </a:extLst>
          </p:cNvPr>
          <p:cNvSpPr/>
          <p:nvPr/>
        </p:nvSpPr>
        <p:spPr>
          <a:xfrm>
            <a:off x="2443182" y="8677522"/>
            <a:ext cx="1962412" cy="351485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인터뷰 시행</a:t>
            </a:r>
            <a:endParaRPr kumimoji="0" lang="en-US" altLang="ko-KR" sz="1100" b="0" i="0" u="none" strike="noStrike" kern="1200" cap="none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DD2E2164-E15E-45D4-CBCF-FC408A0C06B0}"/>
              </a:ext>
            </a:extLst>
          </p:cNvPr>
          <p:cNvSpPr txBox="1"/>
          <p:nvPr/>
        </p:nvSpPr>
        <p:spPr>
          <a:xfrm>
            <a:off x="2443181" y="9046066"/>
            <a:ext cx="1962411" cy="4420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등록기관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검수부서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운영부서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이용자 대상 실시</a:t>
            </a:r>
          </a:p>
        </p:txBody>
      </p:sp>
      <p:sp>
        <p:nvSpPr>
          <p:cNvPr id="153" name="사각형: 둥근 모서리 152">
            <a:extLst>
              <a:ext uri="{FF2B5EF4-FFF2-40B4-BE49-F238E27FC236}">
                <a16:creationId xmlns:a16="http://schemas.microsoft.com/office/drawing/2014/main" id="{FB6CAA35-2C2C-1878-FC7A-707BDFC2C772}"/>
              </a:ext>
            </a:extLst>
          </p:cNvPr>
          <p:cNvSpPr/>
          <p:nvPr/>
        </p:nvSpPr>
        <p:spPr>
          <a:xfrm>
            <a:off x="4555228" y="8677522"/>
            <a:ext cx="1962412" cy="853701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4" name="사각형: 둥근 위쪽 모서리 153">
            <a:extLst>
              <a:ext uri="{FF2B5EF4-FFF2-40B4-BE49-F238E27FC236}">
                <a16:creationId xmlns:a16="http://schemas.microsoft.com/office/drawing/2014/main" id="{69BD0D3D-42B2-EEB4-EA84-BB62C0121F26}"/>
              </a:ext>
            </a:extLst>
          </p:cNvPr>
          <p:cNvSpPr/>
          <p:nvPr/>
        </p:nvSpPr>
        <p:spPr>
          <a:xfrm>
            <a:off x="4555228" y="8677522"/>
            <a:ext cx="1962412" cy="351485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</a:t>
            </a:r>
            <a:r>
              <a:rPr kumimoji="0" lang="en-US" altLang="ko-KR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Gap </a:t>
            </a:r>
            <a:r>
              <a:rPr kumimoji="0" lang="ko-KR" altLang="en-US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</a:t>
            </a:r>
            <a:r>
              <a:rPr kumimoji="0" lang="en-US" altLang="ko-KR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정의</a:t>
            </a:r>
            <a:endParaRPr kumimoji="0" lang="en-US" altLang="ko-KR" sz="1100" b="0" i="0" u="none" strike="noStrike" kern="1200" cap="none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36835FEE-E924-F3C1-B69E-ABDB25521704}"/>
              </a:ext>
            </a:extLst>
          </p:cNvPr>
          <p:cNvSpPr txBox="1"/>
          <p:nvPr/>
        </p:nvSpPr>
        <p:spPr>
          <a:xfrm>
            <a:off x="4555226" y="9046066"/>
            <a:ext cx="1962411" cy="442044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유형별 설문조사 실시</a:t>
            </a:r>
          </a:p>
        </p:txBody>
      </p:sp>
      <p:sp>
        <p:nvSpPr>
          <p:cNvPr id="159" name="이등변 삼각형 158">
            <a:extLst>
              <a:ext uri="{FF2B5EF4-FFF2-40B4-BE49-F238E27FC236}">
                <a16:creationId xmlns:a16="http://schemas.microsoft.com/office/drawing/2014/main" id="{EB4C5C02-9158-4119-9D31-4FE86216D4E6}"/>
              </a:ext>
            </a:extLst>
          </p:cNvPr>
          <p:cNvSpPr/>
          <p:nvPr/>
        </p:nvSpPr>
        <p:spPr>
          <a:xfrm rot="5400000">
            <a:off x="2330297" y="9062192"/>
            <a:ext cx="86858" cy="10005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0" name="이등변 삼각형 159">
            <a:extLst>
              <a:ext uri="{FF2B5EF4-FFF2-40B4-BE49-F238E27FC236}">
                <a16:creationId xmlns:a16="http://schemas.microsoft.com/office/drawing/2014/main" id="{573C38D5-1AC8-6534-C731-E46009C15E5C}"/>
              </a:ext>
            </a:extLst>
          </p:cNvPr>
          <p:cNvSpPr/>
          <p:nvPr/>
        </p:nvSpPr>
        <p:spPr>
          <a:xfrm rot="5400000">
            <a:off x="4448460" y="9062193"/>
            <a:ext cx="86858" cy="10005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62" name="Table 0">
            <a:extLst>
              <a:ext uri="{FF2B5EF4-FFF2-40B4-BE49-F238E27FC236}">
                <a16:creationId xmlns:a16="http://schemas.microsoft.com/office/drawing/2014/main" id="{D07A1BE2-BC04-9D5C-ABE5-2B5D340BDE3C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431995"/>
          <a:ext cx="6162548" cy="1759813"/>
        </p:xfrm>
        <a:graphic>
          <a:graphicData uri="http://schemas.openxmlformats.org/drawingml/2006/table">
            <a:tbl>
              <a:tblPr/>
              <a:tblGrid>
                <a:gridCol w="13492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08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05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수요조사 문항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심층인터뷰 연계 문항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등록기관</a:t>
                      </a:r>
                      <a:r>
                        <a:rPr lang="en-US" altLang="ko-KR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제공기관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 시 가장 시간이 많이 소요되는 절차는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처리기간이 지연되는 구체적 단계와 반복되는 보완 요청의 주된 사유는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9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품질검수부서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 기준 중 판단이 모호하여 재검수가 발생하는 항목은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재검수가 반복되는 데이터 유형과 검수자 간 판정 기준이 상이한 구체적 사례는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89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</a:t>
                      </a:r>
                      <a:r>
                        <a:rPr lang="en-US" altLang="ko-KR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운영부서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업무 중 부서 간 책임소재가 불명확한 업무는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업무에서 실제 발생했던 처리 지연 또는 책임 소재 다툼 사례와 그 원인은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280011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0070C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이용자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활용 시 가장 불편했던 제공방식은 무엇입니까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제공방식을 이용하며 겪은 구체적 실패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중단 사례와 대안으로 필요한 제공방식은 무엇입니까 </a:t>
                      </a:r>
                    </a:p>
                  </a:txBody>
                  <a:tcPr marL="9525" marR="9525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3" name="TextBox 162">
            <a:extLst>
              <a:ext uri="{FF2B5EF4-FFF2-40B4-BE49-F238E27FC236}">
                <a16:creationId xmlns:a16="http://schemas.microsoft.com/office/drawing/2014/main" id="{0F3831C1-95EA-4E6C-CE77-3B0CE5ED948B}"/>
              </a:ext>
            </a:extLst>
          </p:cNvPr>
          <p:cNvSpPr txBox="1"/>
          <p:nvPr/>
        </p:nvSpPr>
        <p:spPr>
          <a:xfrm>
            <a:off x="1078416" y="416071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이해관계자 유형별 심층인터뷰 연계 문항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DCF5DEC9-5CDE-36E9-8DCF-955C7C93F073}"/>
              </a:ext>
            </a:extLst>
          </p:cNvPr>
          <p:cNvSpPr/>
          <p:nvPr/>
        </p:nvSpPr>
        <p:spPr>
          <a:xfrm>
            <a:off x="316310" y="6205432"/>
            <a:ext cx="6273998" cy="252414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질문 설계 방식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심층인터뷰 질문은 이해관계자 유형별로 원인규명형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사례확인형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대안탐색형 질문을 혼합하여 단답형 응답에 그치지 않도록 구성함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원인규명형 질문은 수요조사에서 나타난 병목현상의 발생 원인을 묻고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사례확인형 질문은 실제 발생 사례의 빈도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영향범위를 확인하며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대안탐색형 질문은 응답자가 생각하는 개선방향을 묻는 방식으로 구분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등록기관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제공기관 대상 질문은 등록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반입 절차상 애로사항과 표준화 미비로 인한 반복 보완 원인을 다룸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품질검수부서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대상 질문은 검수 기준의 모호성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반복 발생 원인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리드타임 지연 요인을 다룸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교차 분석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심층인터뷰에서 확인된 정성적 원인을 수요조사의 정량 지표와 병행 분석하여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Gap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근거를 이중으로 확보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업무절차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병목구간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수기업무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중복업무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분절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책임소재 등을 인터뷰 응답 기준으로 유형화</a:t>
            </a:r>
          </a:p>
        </p:txBody>
      </p:sp>
    </p:spTree>
    <p:extLst>
      <p:ext uri="{BB962C8B-B14F-4D97-AF65-F5344CB8AC3E}">
        <p14:creationId xmlns:p14="http://schemas.microsoft.com/office/powerpoint/2010/main" val="178234972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D0B424-4089-1942-C034-ADFBCB0A2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EF33ADB3-A198-EB79-A16A-99E273D0DE1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57CDEEF-E91E-F9D4-78B4-2901FE60B1AD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F29DC7-3EC8-B9A2-6324-D5AE67408D4E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AI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허브 기능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6C7F91E-A938-6440-9555-CDD5F47FE23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0F51361A-3EAF-C4E1-BA07-9671F4A18C1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OR-010, COR-003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2FCF55BD-A7AB-59B8-B293-6B23B7B89AC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국내외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허브를 대상으로 기능을 분석하고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결과를 검색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버전관리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외부연계 등 통합제공시스템 설계요건에 반영</a:t>
            </a:r>
            <a:endParaRPr kumimoji="1" lang="en-US" altLang="ko-KR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" name="모서리가 둥근 직사각형 222">
            <a:extLst>
              <a:ext uri="{FF2B5EF4-FFF2-40B4-BE49-F238E27FC236}">
                <a16:creationId xmlns:a16="http://schemas.microsoft.com/office/drawing/2014/main" id="{32819904-B278-1960-BE65-3EEE04EAA1AA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" name="Shape 6">
            <a:extLst>
              <a:ext uri="{FF2B5EF4-FFF2-40B4-BE49-F238E27FC236}">
                <a16:creationId xmlns:a16="http://schemas.microsoft.com/office/drawing/2014/main" id="{AD2FD7F0-7AC2-3332-5ED8-25163FC2AE3F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0" name="Text 7">
            <a:extLst>
              <a:ext uri="{FF2B5EF4-FFF2-40B4-BE49-F238E27FC236}">
                <a16:creationId xmlns:a16="http://schemas.microsoft.com/office/drawing/2014/main" id="{A7AD3C35-D345-DE3F-7ABC-83E2EE56AFB0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기능 분석 방법론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2FAA84D-209B-C17E-4832-7F9898CC3C8B}"/>
              </a:ext>
            </a:extLst>
          </p:cNvPr>
          <p:cNvSpPr/>
          <p:nvPr/>
        </p:nvSpPr>
        <p:spPr>
          <a:xfrm>
            <a:off x="316309" y="2710277"/>
            <a:ext cx="6286697" cy="9991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(조사 대상 및 선정 근거)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현황분석에서 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확인된 기능격차별로 이미 상용화되어 공개 문서로 실증 가능한 플랫폼을 선정하되, 해외 사례에 치우치지 않도록 국내 플랫폼을 포함함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해외 4종(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Hugging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Face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Kaggle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Papers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with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Code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Zenodo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)과 국내 2종(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공공데이터포털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K-ICT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빅데이터플랫폼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으로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구성함(해외 4종, 국내 2종)</a:t>
            </a:r>
          </a:p>
        </p:txBody>
      </p:sp>
      <p:graphicFrame>
        <p:nvGraphicFramePr>
          <p:cNvPr id="11" name="Table 0">
            <a:extLst>
              <a:ext uri="{FF2B5EF4-FFF2-40B4-BE49-F238E27FC236}">
                <a16:creationId xmlns:a16="http://schemas.microsoft.com/office/drawing/2014/main" id="{59F05DD6-E617-3AF4-6F8B-167D8C5E73A9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4041918"/>
          <a:ext cx="6165723" cy="2453640"/>
        </p:xfrm>
        <a:graphic>
          <a:graphicData uri="http://schemas.openxmlformats.org/drawingml/2006/table">
            <a:tbl>
              <a:tblPr/>
              <a:tblGrid>
                <a:gridCol w="17298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358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선정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Hugging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Face(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목록형 탐색을 넘어서는 의미기반 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 인터페이스를 이미 상용화하여 검증함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Kaggle(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시점에 라이선스를 필수 검색조건으로 노출하는 구조를 운영 중이어서 저작권 자동검사 설계의 참조모델로 적합함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62375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Papers with Code(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과제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평가지표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리더보드를 자동으로 연결하는 구조를 보유하여 의미기반탐색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 연계 설계에 참조 가능함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37026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Zenodo(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DOI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기반 버전관리 구조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(Concept DOI·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버전별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DOI)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를 표준화하여 데이터 버전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계보관리 설계에 참조 가능함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공공데이터포털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행안부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국내 최대 규모 공공데이터 개방기관으로서 파일데이터를 오픈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 자동변환하는 표준화 체계를 운영 중이어서 국내 법제도 환경에 바로 적용 가능함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280011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Hub(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NIA)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(NIA)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 직접 운영하며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2025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데이터 카탈로그 표준 가이드를 자체 발간한 기관으로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 표준과의 정합성 확보에 가장 근접한 참조모델임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892B919-4715-3193-D5E8-5B3F817E7304}"/>
              </a:ext>
            </a:extLst>
          </p:cNvPr>
          <p:cNvSpPr txBox="1"/>
          <p:nvPr/>
        </p:nvSpPr>
        <p:spPr>
          <a:xfrm>
            <a:off x="1078416" y="377063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조사 선정 근거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5" name="Table 0">
            <a:extLst>
              <a:ext uri="{FF2B5EF4-FFF2-40B4-BE49-F238E27FC236}">
                <a16:creationId xmlns:a16="http://schemas.microsoft.com/office/drawing/2014/main" id="{E21C6E6E-38F5-70FF-E6C6-9D4AAA255FBB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7290943"/>
          <a:ext cx="6165723" cy="1539240"/>
        </p:xfrm>
        <a:graphic>
          <a:graphicData uri="http://schemas.openxmlformats.org/drawingml/2006/table">
            <a:tbl>
              <a:tblPr/>
              <a:tblGrid>
                <a:gridCol w="17298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358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조사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탐색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검색 외 자연어질의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의미기반 검색 지원 여부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패싯 구성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3139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 구조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자동생성 여부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프로그램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에이전트의 직접 호출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(API)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가능 여부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 스키마 구조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623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 관리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 표기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검색조건 반영 시점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시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vs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사후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상업적 이용 가능 여부 판정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37026"/>
                  </a:ext>
                </a:extLst>
              </a:tr>
              <a:tr h="1368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스트리밍 등 제공형태별 지원 여부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처리방식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부분다운로드 등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8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이력관리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 식별체계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: DOI,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버전번호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변경분만 갱신하는지 여부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 추적 가능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28001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E13457B-EE64-8602-1F61-CB2EBF948AAB}"/>
              </a:ext>
            </a:extLst>
          </p:cNvPr>
          <p:cNvSpPr txBox="1"/>
          <p:nvPr/>
        </p:nvSpPr>
        <p:spPr>
          <a:xfrm>
            <a:off x="1078416" y="701966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조사 항목 및 확인 내용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01657DB-0A73-795C-DBA0-05E5043729C0}"/>
              </a:ext>
            </a:extLst>
          </p:cNvPr>
          <p:cNvSpPr/>
          <p:nvPr/>
        </p:nvSpPr>
        <p:spPr>
          <a:xfrm>
            <a:off x="316309" y="654187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조사 항목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대상별로 조사항목을 지정하여 플랫폼 간 비교가 가능하도록 진행하고 조사 항목 외에도 플랫폼 전 기능을 조사 수행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375229D-89C6-5A6F-51C7-7C68372867C6}"/>
              </a:ext>
            </a:extLst>
          </p:cNvPr>
          <p:cNvSpPr/>
          <p:nvPr/>
        </p:nvSpPr>
        <p:spPr>
          <a:xfrm>
            <a:off x="316309" y="890255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조사 방법 및 결과 활용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조사 결과는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SWOT,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요구사항추적표에 등록하여 요구사항정의 단계부터 반영상태를 추적</a:t>
            </a:r>
          </a:p>
        </p:txBody>
      </p:sp>
    </p:spTree>
    <p:extLst>
      <p:ext uri="{BB962C8B-B14F-4D97-AF65-F5344CB8AC3E}">
        <p14:creationId xmlns:p14="http://schemas.microsoft.com/office/powerpoint/2010/main" val="168804675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330AB4-BAAF-B05E-FC95-3E0B2BA80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6987F1E-9FF7-47BA-F85D-DF881A53650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09B9BD6-9DCC-1B27-C8DB-4518112F4B2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1709F70-D48E-AF87-05E2-FE429834B9C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AI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허브 기능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36D9D04-DF2B-6F15-2F2E-4C0D20B6446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92C23D6B-71D7-BC3A-CB51-3872202DFB6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OR-010, COR-003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B9AB6E2-EA20-A2F3-B12F-EBC5B01C3EC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Hugging Face</a:t>
            </a:r>
            <a:r>
              <a:rPr kumimoji="1" lang="ko-KR" altLang="en-US" sz="1200" dirty="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는데이터셋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내용 자체를 검색하고 기계가 직접 호출할 수 있는 인터페이스까지 갖춘 플랫폼</a:t>
            </a:r>
            <a:endParaRPr kumimoji="1" lang="en-US" altLang="ko-KR" sz="1200" dirty="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" name="Shape 6">
            <a:extLst>
              <a:ext uri="{FF2B5EF4-FFF2-40B4-BE49-F238E27FC236}">
                <a16:creationId xmlns:a16="http://schemas.microsoft.com/office/drawing/2014/main" id="{52981631-CD41-850D-0305-19773B256792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Text 7">
            <a:extLst>
              <a:ext uri="{FF2B5EF4-FFF2-40B4-BE49-F238E27FC236}">
                <a16:creationId xmlns:a16="http://schemas.microsoft.com/office/drawing/2014/main" id="{CACADBA2-427B-5F38-7314-1E5739DDC647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Hugging face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모서리가 둥근 직사각형 222">
            <a:extLst>
              <a:ext uri="{FF2B5EF4-FFF2-40B4-BE49-F238E27FC236}">
                <a16:creationId xmlns:a16="http://schemas.microsoft.com/office/drawing/2014/main" id="{C92FA525-1205-50C1-50E6-7EAE3F5562DC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9EB7C2-52BB-3107-09A6-2EC154B36D71}"/>
              </a:ext>
            </a:extLst>
          </p:cNvPr>
          <p:cNvSpPr/>
          <p:nvPr/>
        </p:nvSpPr>
        <p:spPr>
          <a:xfrm>
            <a:off x="316309" y="2710277"/>
            <a:ext cx="6286697" cy="229485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Hugging Face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는 의미 기반 검색과 기계가 직접 호출 가능한 인터페이스를 함께 구현하여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 암기 없는 탐색과 사람의 클릭 없는 활용을 동시에 지원함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Hugging Face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학습자료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(LLM Course)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 따르면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datasets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라이브러리는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FAISS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벡터 인덱스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en-US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add_faiss_index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en-US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get_nearest_examples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 지원하여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텍스트 </a:t>
            </a:r>
            <a:r>
              <a:rPr kumimoji="1" lang="ko-KR" altLang="en-US" sz="1100" b="1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임베딩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간 유사도를 기준으로 </a:t>
            </a:r>
            <a:r>
              <a:rPr kumimoji="1" lang="en-US" altLang="ko-KR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 데이터셋과 비슷한 데이터셋</a:t>
            </a:r>
            <a:r>
              <a:rPr kumimoji="1" lang="en-US" altLang="ko-KR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을 찾는 의미 기반 검색을 구현할 수 있게 함</a:t>
            </a:r>
            <a:endParaRPr kumimoji="1" lang="en-US" altLang="ko-KR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DuckDB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CLI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hf://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경로를 네이티브 지원하여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프로그램이 웹 화면 접속 없이 곧바로 데이터셋에 질의하고 결과를 받아올 수 있으며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모든 공개 데이터셋에 대해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Croissant(JSON-LD)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형식의 </a:t>
            </a: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기계판독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메타데이터를 자동 생성해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별도 화면 클릭 없이도 외부 프로그램이나 </a:t>
            </a:r>
            <a:r>
              <a:rPr kumimoji="1" lang="en-US" altLang="ko-KR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에이전트가 데이터의 구조</a:t>
            </a:r>
            <a:r>
              <a:rPr kumimoji="1" lang="en-US" altLang="ko-KR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</a:t>
            </a:r>
            <a:r>
              <a:rPr kumimoji="1" lang="en-US" altLang="ko-KR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상태를 스스로 읽어내도록 함</a:t>
            </a:r>
            <a:endParaRPr kumimoji="1" lang="en-US" altLang="ko-KR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즉 탐색은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＂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의미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＂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활용은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＂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호출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＂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 전환시켜 사람의 개입을 검색과 다운로드 양쪽에서 모두 줄인 사례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0EADE17-9239-04DB-D01A-1399373A8A37}"/>
              </a:ext>
            </a:extLst>
          </p:cNvPr>
          <p:cNvSpPr txBox="1"/>
          <p:nvPr/>
        </p:nvSpPr>
        <p:spPr>
          <a:xfrm>
            <a:off x="267692" y="9376591"/>
            <a:ext cx="158015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출처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Hugging Face(2026)</a:t>
            </a:r>
            <a:endParaRPr lang="ko-KR" altLang="en-US" sz="900">
              <a:solidFill>
                <a:schemeClr val="bg1">
                  <a:lumMod val="6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pic>
        <p:nvPicPr>
          <p:cNvPr id="21" name="그림 20">
            <a:extLst>
              <a:ext uri="{FF2B5EF4-FFF2-40B4-BE49-F238E27FC236}">
                <a16:creationId xmlns:a16="http://schemas.microsoft.com/office/drawing/2014/main" id="{0476D952-49AA-6A55-393B-C3683FCFFDF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35317"/>
          <a:stretch>
            <a:fillRect/>
          </a:stretch>
        </p:blipFill>
        <p:spPr>
          <a:xfrm>
            <a:off x="393191" y="4947040"/>
            <a:ext cx="5131309" cy="361619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35EBE903-8F83-F6B3-3060-72FBBEB06B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6953" y="6921069"/>
            <a:ext cx="3591207" cy="228685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420779652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78B4F-3959-B6B9-B80A-5B1E3E30E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C361FB1-A203-EB7F-ABAF-180BC5936F3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A37BAF9-508E-AA92-9593-69CD1B7FC92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561307-F6F1-C452-0FB4-E038C55BCBA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AI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허브 기능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A5BABA9-FF7D-1679-7223-522663AE4A4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8BDFA28-6598-788D-68E8-4704128873C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OR-010, COR-003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D8CA18D-4627-4AAB-C46C-E456DCE9D2E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Hugging face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핵심 기능을 전수 조사</a:t>
            </a:r>
            <a:endParaRPr kumimoji="1" lang="en-US" altLang="ko-KR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" name="Shape 6">
            <a:extLst>
              <a:ext uri="{FF2B5EF4-FFF2-40B4-BE49-F238E27FC236}">
                <a16:creationId xmlns:a16="http://schemas.microsoft.com/office/drawing/2014/main" id="{E378A4FC-E047-79B6-0EC8-3F098DDF92FD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Text 7">
            <a:extLst>
              <a:ext uri="{FF2B5EF4-FFF2-40B4-BE49-F238E27FC236}">
                <a16:creationId xmlns:a16="http://schemas.microsoft.com/office/drawing/2014/main" id="{67F40793-8BB2-6058-9B73-D544A4103963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Hugging face</a:t>
            </a:r>
          </a:p>
        </p:txBody>
      </p:sp>
      <p:sp>
        <p:nvSpPr>
          <p:cNvPr id="5" name="모서리가 둥근 직사각형 222">
            <a:extLst>
              <a:ext uri="{FF2B5EF4-FFF2-40B4-BE49-F238E27FC236}">
                <a16:creationId xmlns:a16="http://schemas.microsoft.com/office/drawing/2014/main" id="{2D011F44-B468-C3BC-FF1F-4FCF34F3CC0B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0" name="Table 0">
            <a:extLst>
              <a:ext uri="{FF2B5EF4-FFF2-40B4-BE49-F238E27FC236}">
                <a16:creationId xmlns:a16="http://schemas.microsoft.com/office/drawing/2014/main" id="{82D877B1-5CC9-7183-5545-5AD87926F93B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3087180"/>
          <a:ext cx="6165724" cy="6247315"/>
        </p:xfrm>
        <a:graphic>
          <a:graphicData uri="http://schemas.openxmlformats.org/drawingml/2006/table">
            <a:tbl>
              <a:tblPr/>
              <a:tblGrid>
                <a:gridCol w="135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0850">
                  <a:extLst>
                    <a:ext uri="{9D8B030D-6E8A-4147-A177-3AD203B41FA5}">
                      <a16:colId xmlns:a16="http://schemas.microsoft.com/office/drawing/2014/main" val="1867890240"/>
                    </a:ext>
                  </a:extLst>
                </a:gridCol>
                <a:gridCol w="34640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1421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대분류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 기능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내용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전문검색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태스크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언어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크기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라이브러리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+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Trending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등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100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 대상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959059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 카드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license·language·task_categories·tags·size_categories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자동렌더링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모달리티 자동감지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43218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Data Studio(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미리보기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테이블 미리보기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히스토그램 클릭 필터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SQL Console(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DuckDB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WASM),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iframe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임베드</a:t>
                      </a:r>
                      <a:endParaRPr lang="ko-KR" altLang="en-US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34570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Datasets Server API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/parquet·/first-rows·/rows·/search·/filter·/size·/statistics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REST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엔드포인트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 데이터셋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Parquet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자동변환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7986670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Croissant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JSON-LD(schema.org)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 메타데이터 자동생성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894711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Xet(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저장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파일을 청크 단위로 분할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중복제거하여 업로드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가속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660238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 구조화 표기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라이선스 식별자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커스텀 라이선스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(license_name/link/details)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638861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Gated Datasets(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접근통제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수동 승인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pending·accepted·rejected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7468654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버전관리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Git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기반 버전관리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커밋 이력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브랜치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태그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·diff,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프로그램적 조회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(list_repo_refs)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72773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Discussion·Pull Request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데이터셋별 오류신고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수정제안을 공개 이력으로 관리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03845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토큰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Log In/Sign Up, User Access Token(Bearer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Organizations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프로필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3210610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저장공간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기본 스토리지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퍼블릭 무제한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프라이빗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100GB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440608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저장공간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스토리지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프라이빗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1TB(Pro/Team/Enterprise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기본 포함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초과분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$12/TB(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퍼블릭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)·$18/TB(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프라이빗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종량제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76618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Spaces GPU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CPU Basic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GPU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티어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시간당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$0.40~$23.50(T4~8×A100),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ZeroGPU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는 일일 무료 쿼터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초과시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분당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$1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898626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Inference Endpoints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전용 추론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시간당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$0.033~$10(CPU~H100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급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GPU)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759515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Inference Providers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45,000+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모델을 통합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 라우팅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소액 크레딧 무료 제공 후 종량제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9995110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감사로그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리소스그룹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Single Sign-On, Audit log, Resource Groups,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 단위 접근제어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3532901"/>
                  </a:ext>
                </a:extLst>
              </a:tr>
              <a:tr h="32588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endParaRPr lang="en-US" altLang="ko-KR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SCIM·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위치 지정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SCIM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프로비저닝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저장 위치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지정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최고 수준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처리량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전담 지원</a:t>
                      </a:r>
                    </a:p>
                  </a:txBody>
                  <a:tcPr marL="36000" marR="36000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488543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DB87716B-9405-5770-DCC6-5118F7AFD94B}"/>
              </a:ext>
            </a:extLst>
          </p:cNvPr>
          <p:cNvSpPr txBox="1"/>
          <p:nvPr/>
        </p:nvSpPr>
        <p:spPr>
          <a:xfrm>
            <a:off x="1078416" y="273828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 목록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7E24F77-52BF-2FE7-287A-6ABA4F55AB8F}"/>
              </a:ext>
            </a:extLst>
          </p:cNvPr>
          <p:cNvSpPr txBox="1"/>
          <p:nvPr/>
        </p:nvSpPr>
        <p:spPr>
          <a:xfrm>
            <a:off x="267692" y="9376591"/>
            <a:ext cx="158015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출처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Hugging Face(2026)</a:t>
            </a:r>
            <a:endParaRPr lang="ko-KR" altLang="en-US" sz="900">
              <a:solidFill>
                <a:schemeClr val="bg1">
                  <a:lumMod val="6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145310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9FB3A8-E7FC-6D9E-C644-AF201C508C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258C0466-0CF3-92A8-2F60-069CA41EACE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141F433-9961-4279-66D7-E70128549D0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63CE84F-8046-7B98-274A-03316F56D317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AI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허브 기능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BEE1B06-9597-C46D-6B57-024A34FB662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EC8DF6B0-D529-C7AF-2836-3D4E6A05B14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OR-010, COR-003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A3B037B-74B1-4B92-569A-B1CF7F66615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Kaggle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은 라이선스와 실사용 이력을 검색 조건으로 전면에 배치해 활용 가능 여부를 먼저 판단하게 하는 플랫폼</a:t>
            </a:r>
            <a:endParaRPr kumimoji="1" lang="en-US" altLang="ko-KR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" name="Shape 6">
            <a:extLst>
              <a:ext uri="{FF2B5EF4-FFF2-40B4-BE49-F238E27FC236}">
                <a16:creationId xmlns:a16="http://schemas.microsoft.com/office/drawing/2014/main" id="{5AF44EAD-5E1A-8008-6766-DF30C2DBBEAA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Text 7">
            <a:extLst>
              <a:ext uri="{FF2B5EF4-FFF2-40B4-BE49-F238E27FC236}">
                <a16:creationId xmlns:a16="http://schemas.microsoft.com/office/drawing/2014/main" id="{AED6919E-361A-BA4D-7032-8F8252FF6F56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Kaggle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모서리가 둥근 직사각형 222">
            <a:extLst>
              <a:ext uri="{FF2B5EF4-FFF2-40B4-BE49-F238E27FC236}">
                <a16:creationId xmlns:a16="http://schemas.microsoft.com/office/drawing/2014/main" id="{665E34B4-EE62-6CB0-8C26-2C10A7DC7334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0631991-9F6F-44A6-46A3-E2EB83F9C7E4}"/>
              </a:ext>
            </a:extLst>
          </p:cNvPr>
          <p:cNvSpPr/>
          <p:nvPr/>
        </p:nvSpPr>
        <p:spPr>
          <a:xfrm>
            <a:off x="316309" y="2710277"/>
            <a:ext cx="6286697" cy="188858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Kaggle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은 라이선스를 검색 단계의 필터 조건으로 전면에 배치하여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데이터를 열어보기 전에 활용 가능 여부를 먼저 판단하게 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Kaggle API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는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en-US" altLang="ko-KR" sz="1100" b="1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license_name</a:t>
            </a:r>
            <a:r>
              <a:rPr kumimoji="1" lang="ko-KR" altLang="en-US" sz="1100" b="1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명시적 검색 파라미터로 지원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업로드 시점에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CC0·CC-BY·ODbL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 라이선스를 저작권자가 직접 선택해 등록하도록 함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이용자는 데이터셋 상세페이지에 진입하기 전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목록 단계에서부터 라이선스 조건으로 결과를 좁혀볼 수 있으며 상업적 이용 가능 여부를 매번 문의하거나 직접 조사할 부담이 줄어듦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데이터의 품질과 신뢰도를 플랫폼이 일방적으로 판정하는 대신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실사용 이력이라는 검증된 사회적 신호로 대체한 접근임</a:t>
            </a:r>
            <a:endParaRPr kumimoji="1" lang="ko-KR" altLang="en-US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857F046-06FC-152F-9CF1-40C4D8B6E479}"/>
              </a:ext>
            </a:extLst>
          </p:cNvPr>
          <p:cNvSpPr txBox="1"/>
          <p:nvPr/>
        </p:nvSpPr>
        <p:spPr>
          <a:xfrm>
            <a:off x="267693" y="9376591"/>
            <a:ext cx="151348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출처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Kaggle(2026)</a:t>
            </a:r>
            <a:endParaRPr lang="ko-KR" altLang="en-US" sz="900">
              <a:solidFill>
                <a:schemeClr val="bg1">
                  <a:lumMod val="6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BD57BD3-D85A-F4AA-B0E0-9661710643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3191" y="4721218"/>
            <a:ext cx="5977275" cy="2925939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E52B3A66-4681-CED2-A766-F0BC619269C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4434" y="6245436"/>
            <a:ext cx="2345395" cy="292593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522875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B0EDF9-B187-4537-2AA8-D40383AB9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81B89C9-2360-00B5-3264-2FE713BC8FE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4FA3374-48DE-0141-F800-63D7F0D8A5D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1643B3B-5852-A30F-7989-1BFE9746C2B4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AI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허브 기능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7F01E81-0D7C-3223-6A98-C002C07D0A8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E78F81FA-806A-8BD0-7695-9AAF78577E3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OR-010, COR-003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4CCF215-5F15-F3EF-AD60-E1304CDE0DE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Kaggle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핵심 기능을 전수 조사</a:t>
            </a:r>
          </a:p>
        </p:txBody>
      </p:sp>
      <p:sp>
        <p:nvSpPr>
          <p:cNvPr id="6" name="Shape 6">
            <a:extLst>
              <a:ext uri="{FF2B5EF4-FFF2-40B4-BE49-F238E27FC236}">
                <a16:creationId xmlns:a16="http://schemas.microsoft.com/office/drawing/2014/main" id="{36E0891A-CF7B-AC82-B09E-81BC65DBA66F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6" name="모서리가 둥근 직사각형 222">
            <a:extLst>
              <a:ext uri="{FF2B5EF4-FFF2-40B4-BE49-F238E27FC236}">
                <a16:creationId xmlns:a16="http://schemas.microsoft.com/office/drawing/2014/main" id="{CC33A4A2-952F-5CB2-A779-0821A031CC69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" name="Text 7">
            <a:extLst>
              <a:ext uri="{FF2B5EF4-FFF2-40B4-BE49-F238E27FC236}">
                <a16:creationId xmlns:a16="http://schemas.microsoft.com/office/drawing/2014/main" id="{7A2DB567-197F-9A46-05B1-5689EC2C1DB9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Kaggle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1" name="Table 0">
            <a:extLst>
              <a:ext uri="{FF2B5EF4-FFF2-40B4-BE49-F238E27FC236}">
                <a16:creationId xmlns:a16="http://schemas.microsoft.com/office/drawing/2014/main" id="{49C19275-05DC-D4A8-0000-9293DDC48180}"/>
              </a:ext>
            </a:extLst>
          </p:cNvPr>
          <p:cNvGraphicFramePr>
            <a:graphicFrameLocks noGrp="1"/>
          </p:cNvGraphicFramePr>
          <p:nvPr/>
        </p:nvGraphicFramePr>
        <p:xfrm>
          <a:off x="346138" y="3169334"/>
          <a:ext cx="6165724" cy="6141249"/>
        </p:xfrm>
        <a:graphic>
          <a:graphicData uri="http://schemas.openxmlformats.org/drawingml/2006/table">
            <a:tbl>
              <a:tblPr/>
              <a:tblGrid>
                <a:gridCol w="135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0850">
                  <a:extLst>
                    <a:ext uri="{9D8B030D-6E8A-4147-A177-3AD203B41FA5}">
                      <a16:colId xmlns:a16="http://schemas.microsoft.com/office/drawing/2014/main" val="1867890240"/>
                    </a:ext>
                  </a:extLst>
                </a:gridCol>
                <a:gridCol w="34640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3789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대분류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 기능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내용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검색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태그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파일형식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크기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투표수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조회수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최신순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Usability Rating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 완성도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문서화 수준을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1~10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점으로 자동 채점해 검색결과에 노출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7950871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Data Explorer(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미리보기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전 브라우저 내에서 파일 구조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 데이터 미리보기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50302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Kaggle API/CLI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kaggle datasets list/files/download/create/version/init/metadata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등 명령으로 프로그램적 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업로드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37854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 버전관리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kaggle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datasets version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명령으로 변경 메시지와 함께 신규 버전 게시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버전별 이력 조회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4527693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 필터링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시 라이선스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(CC0·CC-BY·CC-BY-SA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지정 필수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목록 단계에서 라이선스로 필터 가능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913805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(Notebooks)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무료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GPU/TPU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T4·P100 GPU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TPU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세션당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(TPU 9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작업디스크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20GB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1636829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경진대회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Competitions(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Public(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테스트셋 약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20~30%)·Private(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나머지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 분리 채점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일일 제출횟수 제한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통상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커스텀 평가지표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 제출 지원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070530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Kaggle Models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호스팅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(Variation)·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버전이력 관리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 목록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가능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8419196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Discussions(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포럼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경진대회별 포럼에서 질의응답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 포럼 조회 가능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509659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Notebooks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공유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 노트북을 공개 게시하고 포크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댓글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투표 가능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562375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평판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Progression System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Novice~Grandmaster 5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등급과 메달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금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을 대회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노트북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토론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부문별로 부여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37026"/>
                  </a:ext>
                </a:extLst>
              </a:tr>
              <a:tr h="44442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이메일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구글 로그인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Organizations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팀 단위 프로필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FF3C6F68-149E-6D8F-540A-940BB9800D60}"/>
              </a:ext>
            </a:extLst>
          </p:cNvPr>
          <p:cNvSpPr txBox="1"/>
          <p:nvPr/>
        </p:nvSpPr>
        <p:spPr>
          <a:xfrm>
            <a:off x="1078416" y="277936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 목록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70DD1D5-5E7B-51EA-CCFC-747740A95501}"/>
              </a:ext>
            </a:extLst>
          </p:cNvPr>
          <p:cNvSpPr txBox="1"/>
          <p:nvPr/>
        </p:nvSpPr>
        <p:spPr>
          <a:xfrm>
            <a:off x="267693" y="9376591"/>
            <a:ext cx="151348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출처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Kaggle(2026)</a:t>
            </a:r>
            <a:endParaRPr lang="ko-KR" altLang="en-US" sz="900">
              <a:solidFill>
                <a:schemeClr val="bg1">
                  <a:lumMod val="6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3459131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AF9F8A-9606-5B8C-ACFC-391A17A816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0AB87C9-5219-FAD2-826D-31A5CCEC0D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25ABC4A-9285-BE9F-5FEC-B76BC3D026A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626D3E9-AF1C-DB0E-2B24-4D66384DCBD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AI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허브 기능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2A7DE2-AAF0-7766-3F16-A2CCDCB79D7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915A0DDA-7993-CDAE-F91C-F4E7904F095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OR-010, COR-003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54A0993-06B8-2008-152E-A5C4254BF87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허브의 세부 기능을 전수조사 진행</a:t>
            </a:r>
            <a:endParaRPr kumimoji="1" lang="en-US" altLang="ko-KR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" name="Shape 6">
            <a:extLst>
              <a:ext uri="{FF2B5EF4-FFF2-40B4-BE49-F238E27FC236}">
                <a16:creationId xmlns:a16="http://schemas.microsoft.com/office/drawing/2014/main" id="{AD370FBD-5CEB-0906-075E-B360970385F1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Text 7">
            <a:extLst>
              <a:ext uri="{FF2B5EF4-FFF2-40B4-BE49-F238E27FC236}">
                <a16:creationId xmlns:a16="http://schemas.microsoft.com/office/drawing/2014/main" id="{B2659904-35F0-967F-503A-2DF901DFB835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모서리가 둥근 직사각형 222">
            <a:extLst>
              <a:ext uri="{FF2B5EF4-FFF2-40B4-BE49-F238E27FC236}">
                <a16:creationId xmlns:a16="http://schemas.microsoft.com/office/drawing/2014/main" id="{035C8F4A-6F2B-E89C-2D7B-F7AA0611B87D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198559-805C-418D-92BD-32FD8DA27370}"/>
              </a:ext>
            </a:extLst>
          </p:cNvPr>
          <p:cNvSpPr txBox="1"/>
          <p:nvPr/>
        </p:nvSpPr>
        <p:spPr>
          <a:xfrm>
            <a:off x="267693" y="9376591"/>
            <a:ext cx="151348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출처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AI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허브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(2026)</a:t>
            </a:r>
            <a:endParaRPr lang="ko-KR" altLang="en-US" sz="900">
              <a:solidFill>
                <a:schemeClr val="bg1">
                  <a:lumMod val="6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1" name="Table 0">
            <a:extLst>
              <a:ext uri="{FF2B5EF4-FFF2-40B4-BE49-F238E27FC236}">
                <a16:creationId xmlns:a16="http://schemas.microsoft.com/office/drawing/2014/main" id="{A63549FB-446C-BB50-5EDF-CEF89D244064}"/>
              </a:ext>
            </a:extLst>
          </p:cNvPr>
          <p:cNvGraphicFramePr>
            <a:graphicFrameLocks noGrp="1"/>
          </p:cNvGraphicFramePr>
          <p:nvPr/>
        </p:nvGraphicFramePr>
        <p:xfrm>
          <a:off x="346138" y="3056364"/>
          <a:ext cx="6165724" cy="6451441"/>
        </p:xfrm>
        <a:graphic>
          <a:graphicData uri="http://schemas.openxmlformats.org/drawingml/2006/table">
            <a:tbl>
              <a:tblPr/>
              <a:tblGrid>
                <a:gridCol w="135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0850">
                  <a:extLst>
                    <a:ext uri="{9D8B030D-6E8A-4147-A177-3AD203B41FA5}">
                      <a16:colId xmlns:a16="http://schemas.microsoft.com/office/drawing/2014/main" val="1867890240"/>
                    </a:ext>
                  </a:extLst>
                </a:gridCol>
                <a:gridCol w="34640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2358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대분류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 기능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내용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데이터찾기</a:t>
                      </a:r>
                      <a:endParaRPr lang="ko-KR" altLang="en-US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14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분야 분류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추천검색어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해시태그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조회수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다운수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노출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기반 검색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연도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필터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854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A. 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데이터찾기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상세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(view)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소개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블록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개요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메타구조표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교육영상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저작도구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어노테이션포맷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구축업체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성능지표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기준값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vs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측정값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7071293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A. 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데이터찾기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 제공 데이터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국내외 기관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기업 보유 데이터 별도 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(50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+), '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데이터 플랫폼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'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서브메뉴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663380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A. 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데이터찾기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 오픈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aihubshell(CLI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다운로더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datasetkey/datapckagekey/filekey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체계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list·download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1235533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B.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워크플로우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신청목적 선택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이용정책 동의→접수완료→승인완료→자동승인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반려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후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 유효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재승인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PC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전용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574531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B.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파일목록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(INNORIX)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파일트리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Shell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INNORIX EX Agent(OS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 설치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sftp.aihub.or.kr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558221"/>
                  </a:ext>
                </a:extLst>
              </a:tr>
              <a:tr h="15360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B.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제공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경량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이해용 경량본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민감정보 마스킹 처리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506438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안심구역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온라인 안심존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워터마크 포함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어디서나 접속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반출없는 분석환경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4724973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안심구역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오프라인 안심존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워터마크 없음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대구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NIA 1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층 물리공간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의료 민감데이터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음성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785525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안심구역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자원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절차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CPU(8vCPU/64GB)·GPU(V100 32GB)·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500GB·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1TB, IRB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(2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SSO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연동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모델반출 검토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6971119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K-AI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Leaderboard</a:t>
                      </a:r>
                      <a:endParaRPr lang="ko-KR" altLang="en-US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LLM 5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 평가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(KoMMLU-Pro·CliCK·HLE(Ko)·MuSR(Ko)·Com2-main(Ko)),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비공개 평가셋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업로드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SSO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연동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969452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경진대회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벤치마크셋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도메인별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경진대회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국내외 벤치마크 데이터셋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5107960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E. 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개발지원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거래소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 거래소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 연계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(RDPLINE·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플리토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크라우드웍스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셀렉트스타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이메일 등록신청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409393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E. AI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개발지원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바우처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·SW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지원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초거대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바우처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AI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W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(ETRI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092536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우수사례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품질가이드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공지사항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활용성과 우수사례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 가이드라인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(v1.0~v4.0, 2021~2026.2)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301376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고객지원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·FAQ·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민원</a:t>
                      </a:r>
                      <a:endParaRPr lang="ko-KR" altLang="en-US" sz="9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1:1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자주찾는질문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민원접수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개인정보신고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4887482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고객지원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등록신청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외부기관 데이터 등록 신청 접수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900563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고객지원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활용성과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실태 수집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720288"/>
                  </a:ext>
                </a:extLst>
              </a:tr>
              <a:tr h="2754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마이페이지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이용현황 대시보드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 카드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관심등록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데이터신청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문의내역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신규제안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맞춤 추천 연관데이터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095160"/>
                  </a:ext>
                </a:extLst>
              </a:tr>
              <a:tr h="14234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마이페이지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관심데이터 조회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북마크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번호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분야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파일유형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조회수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010259"/>
                  </a:ext>
                </a:extLst>
              </a:tr>
              <a:tr h="32050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마이페이지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조회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(6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데이터신청내역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다운로드목록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/AI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데이터등록신청내역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/1:1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개인정보신고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 내역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7950871"/>
                  </a:ext>
                </a:extLst>
              </a:tr>
              <a:tr h="32050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마이페이지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회원정보관리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회원유형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대기업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중소기업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대학교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정부공공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연구기관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간편로그인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네이버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카카오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수신동의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050302"/>
                  </a:ext>
                </a:extLst>
              </a:tr>
              <a:tr h="32050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체계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이메일 로그인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캡차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간편로그인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네이버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카카오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아이디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비번찾기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계정잠금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737854"/>
                  </a:ext>
                </a:extLst>
              </a:tr>
              <a:tr h="32050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프로그램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INNORIX EX 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Agent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(Windows/Mac/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Ubuntu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18·20·22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별도설치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4527693"/>
                  </a:ext>
                </a:extLst>
              </a:tr>
              <a:tr h="32050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J.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운영자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(Admin)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포털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운영관리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사용자조직권한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운영정책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승인검수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</a:t>
                      </a:r>
                      <a:r>
                        <a:rPr lang="en-US" altLang="ko-KR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로그모니터링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</a:t>
                      </a:r>
                      <a:r>
                        <a:rPr lang="ko-KR" altLang="en-US" sz="9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미노출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불가</a:t>
                      </a:r>
                      <a:r>
                        <a:rPr lang="en-US" altLang="ko-KR" sz="9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913805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10FB08E-CB1D-ABD9-C220-68566B9ADE16}"/>
              </a:ext>
            </a:extLst>
          </p:cNvPr>
          <p:cNvSpPr txBox="1"/>
          <p:nvPr/>
        </p:nvSpPr>
        <p:spPr>
          <a:xfrm>
            <a:off x="1078416" y="277936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 목록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4359976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F498C2-8904-66D3-CC19-0A6969E41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DC57604-770A-6F66-2489-1C752B38AEA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40B3F2E-9C5C-AACB-4FC7-5A3EC61A844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B2C237-616D-029D-2824-3D9ACF8FB86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현행 문제점 분석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B19992D-6055-ED08-DA56-3AD140A18C1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0D3C1C4-F92C-B7CC-ECEE-7C1998256235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DR-001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AA2E85C-F5B8-A0F8-6C2C-077C1E35E02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just"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spc="-2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 환경분석</a:t>
            </a:r>
            <a:r>
              <a:rPr kumimoji="1" lang="en-US" altLang="ko-KR" sz="1200" spc="-2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spc="-2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유사사례 분석 결과를 종합하여 </a:t>
            </a:r>
            <a:r>
              <a:rPr kumimoji="1" lang="en-US" altLang="ko-KR" sz="1200" spc="-2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SWOT </a:t>
            </a:r>
            <a:r>
              <a:rPr kumimoji="1" lang="ko-KR" altLang="en-US" sz="1200" spc="-2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분석을 실시하고 통합 제공 시스템 추진 방향성 도출</a:t>
            </a:r>
            <a:endParaRPr kumimoji="1" lang="en-US" altLang="ko-KR" sz="1200" spc="-2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5D571F59-41A3-228B-C598-109942896365}"/>
              </a:ext>
            </a:extLst>
          </p:cNvPr>
          <p:cNvSpPr/>
          <p:nvPr/>
        </p:nvSpPr>
        <p:spPr>
          <a:xfrm>
            <a:off x="248232" y="7982387"/>
            <a:ext cx="1572948" cy="301887"/>
          </a:xfrm>
          <a:prstGeom prst="round2SameRect">
            <a:avLst/>
          </a:prstGeom>
          <a:solidFill>
            <a:srgbClr val="0174A9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유사사례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1DFA51C-55B1-2179-61A9-3B9A1B28C6EC}"/>
              </a:ext>
            </a:extLst>
          </p:cNvPr>
          <p:cNvSpPr/>
          <p:nvPr/>
        </p:nvSpPr>
        <p:spPr>
          <a:xfrm>
            <a:off x="276769" y="2881327"/>
            <a:ext cx="1482725" cy="1023047"/>
          </a:xfrm>
          <a:prstGeom prst="rect">
            <a:avLst/>
          </a:prstGeom>
          <a:solidFill>
            <a:schemeClr val="bg1"/>
          </a:solidFill>
          <a:ln>
            <a:solidFill>
              <a:srgbClr val="FF9B9B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하이브리드 검색 기반 지능형 카탈로그 구축</a:t>
            </a:r>
            <a:endParaRPr kumimoji="0" lang="ko-KR" altLang="en-US" sz="10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171616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사각형: 둥근 위쪽 모서리 12">
            <a:extLst>
              <a:ext uri="{FF2B5EF4-FFF2-40B4-BE49-F238E27FC236}">
                <a16:creationId xmlns:a16="http://schemas.microsoft.com/office/drawing/2014/main" id="{2D7B3040-D6F7-E317-D48F-5803F9A1D017}"/>
              </a:ext>
            </a:extLst>
          </p:cNvPr>
          <p:cNvSpPr/>
          <p:nvPr/>
        </p:nvSpPr>
        <p:spPr>
          <a:xfrm>
            <a:off x="248232" y="2487400"/>
            <a:ext cx="1644772" cy="301887"/>
          </a:xfrm>
          <a:prstGeom prst="round2SameRect">
            <a:avLst/>
          </a:prstGeom>
          <a:solidFill>
            <a:srgbClr val="C0000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추진 방향성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7434C2C-F7F4-CCB9-1C96-F0BA8B08BAA2}"/>
              </a:ext>
            </a:extLst>
          </p:cNvPr>
          <p:cNvSpPr/>
          <p:nvPr/>
        </p:nvSpPr>
        <p:spPr>
          <a:xfrm>
            <a:off x="5099682" y="2881327"/>
            <a:ext cx="1482725" cy="1023047"/>
          </a:xfrm>
          <a:prstGeom prst="rect">
            <a:avLst/>
          </a:prstGeom>
          <a:solidFill>
            <a:schemeClr val="bg1"/>
          </a:solidFill>
          <a:ln>
            <a:solidFill>
              <a:srgbClr val="FF9B9B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인터페이스로 에이전트 활용기반 마련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DA64A32-7CB7-611B-9B45-7DA323B3BAED}"/>
              </a:ext>
            </a:extLst>
          </p:cNvPr>
          <p:cNvSpPr/>
          <p:nvPr/>
        </p:nvSpPr>
        <p:spPr>
          <a:xfrm>
            <a:off x="1884407" y="2881327"/>
            <a:ext cx="1482725" cy="1023047"/>
          </a:xfrm>
          <a:prstGeom prst="rect">
            <a:avLst/>
          </a:prstGeom>
          <a:solidFill>
            <a:schemeClr val="bg1"/>
          </a:solidFill>
          <a:ln>
            <a:solidFill>
              <a:srgbClr val="FF9B9B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내외부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데이터 통합 유통망으로 개방범위 확장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F359C9E-96D5-62C9-165F-E2ECA756513A}"/>
              </a:ext>
            </a:extLst>
          </p:cNvPr>
          <p:cNvSpPr/>
          <p:nvPr/>
        </p:nvSpPr>
        <p:spPr>
          <a:xfrm>
            <a:off x="3492045" y="2881327"/>
            <a:ext cx="1482725" cy="1023047"/>
          </a:xfrm>
          <a:prstGeom prst="rect">
            <a:avLst/>
          </a:prstGeom>
          <a:solidFill>
            <a:schemeClr val="bg1"/>
          </a:solidFill>
          <a:ln>
            <a:solidFill>
              <a:srgbClr val="FF9B9B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defTabSz="914400" fontAlgn="base"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자동검증 체계로 등록 전 위험 차단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7D906F-2077-D8F7-43B1-0D4872EFFE5B}"/>
              </a:ext>
            </a:extLst>
          </p:cNvPr>
          <p:cNvSpPr/>
          <p:nvPr/>
        </p:nvSpPr>
        <p:spPr>
          <a:xfrm>
            <a:off x="802589" y="4882855"/>
            <a:ext cx="2514704" cy="6210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방대한 원천 운전데이터를 표준화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DB·API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 전환하여 민간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연구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·AI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서비스 활용 생태계 선점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A6F4BA-F72D-A5C5-27AE-522FE082889E}"/>
              </a:ext>
            </a:extLst>
          </p:cNvPr>
          <p:cNvSpPr txBox="1"/>
          <p:nvPr/>
        </p:nvSpPr>
        <p:spPr>
          <a:xfrm>
            <a:off x="248231" y="4878881"/>
            <a:ext cx="463998" cy="624979"/>
          </a:xfrm>
          <a:prstGeom prst="rect">
            <a:avLst/>
          </a:prstGeom>
          <a:solidFill>
            <a:srgbClr val="00B0F0">
              <a:alpha val="20000"/>
            </a:srgbClr>
          </a:solidFill>
        </p:spPr>
        <p:txBody>
          <a:bodyPr vert="horz" wrap="square" lIns="0" rIns="0" rtlCol="0" anchor="ctr">
            <a:noAutofit/>
          </a:bodyPr>
          <a:lstStyle/>
          <a:p>
            <a:pPr algn="ctr"/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SO</a:t>
            </a:r>
            <a:endParaRPr lang="ko-KR" alt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7969B82-9DA1-D44F-5994-17E3FB8B5E7F}"/>
              </a:ext>
            </a:extLst>
          </p:cNvPr>
          <p:cNvSpPr txBox="1"/>
          <p:nvPr/>
        </p:nvSpPr>
        <p:spPr>
          <a:xfrm>
            <a:off x="248231" y="5638848"/>
            <a:ext cx="463998" cy="624979"/>
          </a:xfrm>
          <a:prstGeom prst="rect">
            <a:avLst/>
          </a:prstGeom>
          <a:solidFill>
            <a:srgbClr val="00B0F0">
              <a:alpha val="20000"/>
            </a:srgbClr>
          </a:solidFill>
        </p:spPr>
        <p:txBody>
          <a:bodyPr vert="horz" wrap="square" lIns="0" rIns="0" rtlCol="0" anchor="ctr">
            <a:noAutofit/>
          </a:bodyPr>
          <a:lstStyle>
            <a:defPPr>
              <a:defRPr lang="en-US"/>
            </a:defPPr>
            <a:lvl1pPr algn="ctr">
              <a:defRPr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defRPr>
            </a:lvl1pPr>
          </a:lstStyle>
          <a:p>
            <a:r>
              <a:rPr lang="en-US" altLang="ko-KR"/>
              <a:t>ST</a:t>
            </a:r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661C179-12AE-0FFA-CA24-DCEFA8AD7DA2}"/>
              </a:ext>
            </a:extLst>
          </p:cNvPr>
          <p:cNvSpPr/>
          <p:nvPr/>
        </p:nvSpPr>
        <p:spPr>
          <a:xfrm>
            <a:off x="802588" y="5642821"/>
            <a:ext cx="2514704" cy="6210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민감정보 </a:t>
            </a:r>
            <a:r>
              <a:rPr lang="ko-KR" altLang="en-US" sz="900" err="1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차등 개방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접근권한 관리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API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모니터링을 통해 보안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부하 리스크 최소화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855F496-3C24-7BE2-6251-98800886869B}"/>
              </a:ext>
            </a:extLst>
          </p:cNvPr>
          <p:cNvSpPr/>
          <p:nvPr/>
        </p:nvSpPr>
        <p:spPr>
          <a:xfrm>
            <a:off x="276770" y="8345557"/>
            <a:ext cx="1482724" cy="132851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데이터셋 내부 전문검색과 태스크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언어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 </a:t>
            </a:r>
            <a:r>
              <a:rPr lang="ko-KR" altLang="en-US" sz="900" err="1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패싯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필터를 결합해 </a:t>
            </a:r>
            <a:r>
              <a:rPr lang="ko-KR" altLang="en-US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자연어에 가까운 탐색을 지원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8429526-BF56-1751-2CEA-34A62DEBBCC6}"/>
              </a:ext>
            </a:extLst>
          </p:cNvPr>
          <p:cNvSpPr/>
          <p:nvPr/>
        </p:nvSpPr>
        <p:spPr>
          <a:xfrm>
            <a:off x="1893004" y="8345557"/>
            <a:ext cx="1482724" cy="132851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자동생성 메타데이터로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프로그램이 </a:t>
            </a:r>
            <a:r>
              <a:rPr lang="ko-KR" altLang="en-US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웹 화면 접속 없이 데이터셋 구조</a:t>
            </a:r>
            <a:r>
              <a:rPr lang="en-US" altLang="ko-KR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</a:t>
            </a:r>
            <a:r>
              <a:rPr lang="en-US" altLang="ko-KR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상태를 직접 호출해 </a:t>
            </a:r>
            <a:r>
              <a:rPr lang="ko-KR" altLang="en-US" sz="90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읽어감</a:t>
            </a:r>
            <a:endParaRPr lang="ko-KR" altLang="en-US" sz="90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2417ED9-07A9-D8B2-6D2D-45DFC4E5E60E}"/>
              </a:ext>
            </a:extLst>
          </p:cNvPr>
          <p:cNvSpPr/>
          <p:nvPr/>
        </p:nvSpPr>
        <p:spPr>
          <a:xfrm>
            <a:off x="3509238" y="8345557"/>
            <a:ext cx="1482724" cy="132851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하나의 통합 카탈로그에서 </a:t>
            </a:r>
            <a:r>
              <a:rPr lang="ko-KR" altLang="en-US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여러 기관의 데이터가 동시에 검색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F31AF62-5624-244C-DEB5-4CD423A9982B}"/>
              </a:ext>
            </a:extLst>
          </p:cNvPr>
          <p:cNvSpPr/>
          <p:nvPr/>
        </p:nvSpPr>
        <p:spPr>
          <a:xfrm>
            <a:off x="5125473" y="8345557"/>
            <a:ext cx="1482724" cy="132851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목록 단계에서부터 </a:t>
            </a:r>
            <a:r>
              <a:rPr lang="ko-KR" altLang="en-US" sz="90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 조건으로 결과를 필터링 가능</a:t>
            </a:r>
          </a:p>
        </p:txBody>
      </p:sp>
      <p:sp>
        <p:nvSpPr>
          <p:cNvPr id="26" name="사각형: 둥근 위쪽 모서리 25">
            <a:extLst>
              <a:ext uri="{FF2B5EF4-FFF2-40B4-BE49-F238E27FC236}">
                <a16:creationId xmlns:a16="http://schemas.microsoft.com/office/drawing/2014/main" id="{A58101BD-4400-09B2-B734-E68C3C5F6A8E}"/>
              </a:ext>
            </a:extLst>
          </p:cNvPr>
          <p:cNvSpPr/>
          <p:nvPr/>
        </p:nvSpPr>
        <p:spPr>
          <a:xfrm>
            <a:off x="248232" y="4527734"/>
            <a:ext cx="1572948" cy="301887"/>
          </a:xfrm>
          <a:prstGeom prst="round2SameRect">
            <a:avLst/>
          </a:prstGeom>
          <a:solidFill>
            <a:srgbClr val="00B0F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SWOT </a:t>
            </a: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CBBA7B7-660B-8604-6921-52AB3703E9C8}"/>
              </a:ext>
            </a:extLst>
          </p:cNvPr>
          <p:cNvSpPr txBox="1"/>
          <p:nvPr/>
        </p:nvSpPr>
        <p:spPr>
          <a:xfrm>
            <a:off x="3492045" y="4874910"/>
            <a:ext cx="463998" cy="624979"/>
          </a:xfrm>
          <a:prstGeom prst="rect">
            <a:avLst/>
          </a:prstGeom>
          <a:solidFill>
            <a:srgbClr val="00B0F0">
              <a:alpha val="20000"/>
            </a:srgbClr>
          </a:solidFill>
        </p:spPr>
        <p:txBody>
          <a:bodyPr vert="horz" wrap="square" lIns="0" rIns="0" rtlCol="0" anchor="ctr">
            <a:noAutofit/>
          </a:bodyPr>
          <a:lstStyle>
            <a:defPPr>
              <a:defRPr lang="ko-KR"/>
            </a:defPPr>
            <a:lvl1pPr algn="ctr">
              <a:defRPr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defRPr>
            </a:lvl1pPr>
          </a:lstStyle>
          <a:p>
            <a:r>
              <a:rPr lang="en-US" altLang="ko-KR"/>
              <a:t>WO</a:t>
            </a:r>
            <a:endParaRPr lang="ko-KR" altLang="en-US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2F385C8-7E44-4C35-C68F-28F08CBE3770}"/>
              </a:ext>
            </a:extLst>
          </p:cNvPr>
          <p:cNvSpPr/>
          <p:nvPr/>
        </p:nvSpPr>
        <p:spPr>
          <a:xfrm>
            <a:off x="4046403" y="4878881"/>
            <a:ext cx="2514704" cy="6210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171450" indent="-171450" fontAlgn="base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집계형 개방 한계를 해소하기 위해 표준사전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DB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모델</a:t>
            </a: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API-first </a:t>
            </a:r>
            <a:r>
              <a:rPr lang="ko-KR" altLang="en-US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구조를 우선 구축하여 활용성 제고</a:t>
            </a:r>
          </a:p>
        </p:txBody>
      </p:sp>
      <p:sp>
        <p:nvSpPr>
          <p:cNvPr id="29" name="이등변 삼각형 28">
            <a:extLst>
              <a:ext uri="{FF2B5EF4-FFF2-40B4-BE49-F238E27FC236}">
                <a16:creationId xmlns:a16="http://schemas.microsoft.com/office/drawing/2014/main" id="{44650532-2BC6-4C40-33EE-2160B9750470}"/>
              </a:ext>
            </a:extLst>
          </p:cNvPr>
          <p:cNvSpPr/>
          <p:nvPr/>
        </p:nvSpPr>
        <p:spPr>
          <a:xfrm>
            <a:off x="1699261" y="4079708"/>
            <a:ext cx="3352934" cy="301887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이등변 삼각형 30">
            <a:extLst>
              <a:ext uri="{FF2B5EF4-FFF2-40B4-BE49-F238E27FC236}">
                <a16:creationId xmlns:a16="http://schemas.microsoft.com/office/drawing/2014/main" id="{F6E69ADA-FE68-DBDB-CAC8-42837ABAB014}"/>
              </a:ext>
            </a:extLst>
          </p:cNvPr>
          <p:cNvSpPr/>
          <p:nvPr/>
        </p:nvSpPr>
        <p:spPr>
          <a:xfrm>
            <a:off x="967740" y="4177829"/>
            <a:ext cx="4815976" cy="301887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48ECE1E-9BA5-3C9A-023E-E9EE020E13D2}"/>
              </a:ext>
            </a:extLst>
          </p:cNvPr>
          <p:cNvGrpSpPr/>
          <p:nvPr/>
        </p:nvGrpSpPr>
        <p:grpSpPr>
          <a:xfrm>
            <a:off x="276770" y="6463326"/>
            <a:ext cx="6331427" cy="1349250"/>
            <a:chOff x="276770" y="8032714"/>
            <a:chExt cx="6331427" cy="1349250"/>
          </a:xfrm>
        </p:grpSpPr>
        <p:sp>
          <p:nvSpPr>
            <p:cNvPr id="33" name="사각형: 둥근 위쪽 모서리 32">
              <a:extLst>
                <a:ext uri="{FF2B5EF4-FFF2-40B4-BE49-F238E27FC236}">
                  <a16:creationId xmlns:a16="http://schemas.microsoft.com/office/drawing/2014/main" id="{73221AEF-625F-5AE8-07E8-48C63AC3ACC7}"/>
                </a:ext>
              </a:extLst>
            </p:cNvPr>
            <p:cNvSpPr/>
            <p:nvPr/>
          </p:nvSpPr>
          <p:spPr>
            <a:xfrm>
              <a:off x="276771" y="8032714"/>
              <a:ext cx="1482723" cy="301887"/>
            </a:xfrm>
            <a:prstGeom prst="round2SameRect">
              <a:avLst/>
            </a:prstGeom>
            <a:solidFill>
              <a:srgbClr val="0174A9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600"/>
                </a:spcBef>
              </a:pPr>
              <a:r>
                <a:rPr lang="ko-KR" altLang="en-US" sz="140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내부 환경분석</a:t>
              </a:r>
            </a:p>
          </p:txBody>
        </p:sp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745FB920-486C-1B09-F5CA-D8DAB1E342DD}"/>
                </a:ext>
              </a:extLst>
            </p:cNvPr>
            <p:cNvGrpSpPr/>
            <p:nvPr/>
          </p:nvGrpSpPr>
          <p:grpSpPr>
            <a:xfrm>
              <a:off x="276770" y="8382619"/>
              <a:ext cx="6331427" cy="999345"/>
              <a:chOff x="792202" y="2740495"/>
              <a:chExt cx="5818307" cy="999345"/>
            </a:xfrm>
          </p:grpSpPr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36EE5232-A700-1D2D-1841-4F3F0B0CEB0B}"/>
                  </a:ext>
                </a:extLst>
              </p:cNvPr>
              <p:cNvSpPr/>
              <p:nvPr/>
            </p:nvSpPr>
            <p:spPr>
              <a:xfrm>
                <a:off x="792202" y="2740495"/>
                <a:ext cx="1362559" cy="99934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anchor="ctr"/>
              <a:lstStyle/>
              <a:p>
                <a:pPr marL="171450" indent="-171450" fontAlgn="base">
                  <a:buFont typeface="Arial" panose="020B0604020202020204" pitchFamily="34" charset="0"/>
                  <a:buChar char="•"/>
                </a:pP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데이터셋 목록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·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태그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·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조회수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·</a:t>
                </a:r>
                <a:r>
                  <a:rPr lang="ko-KR" altLang="en-US" sz="900" err="1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다운로드수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 기반의 </a:t>
                </a:r>
                <a:r>
                  <a:rPr lang="ko-KR" altLang="en-US" sz="900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목록형 탐색만 제공</a:t>
                </a:r>
              </a:p>
            </p:txBody>
          </p:sp>
          <p:sp>
            <p:nvSpPr>
              <p:cNvPr id="36" name="직사각형 35">
                <a:extLst>
                  <a:ext uri="{FF2B5EF4-FFF2-40B4-BE49-F238E27FC236}">
                    <a16:creationId xmlns:a16="http://schemas.microsoft.com/office/drawing/2014/main" id="{5300845F-F956-ABEF-CB53-2639ED4B4248}"/>
                  </a:ext>
                </a:extLst>
              </p:cNvPr>
              <p:cNvSpPr/>
              <p:nvPr/>
            </p:nvSpPr>
            <p:spPr>
              <a:xfrm>
                <a:off x="2277451" y="2740495"/>
                <a:ext cx="1362559" cy="99934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anchor="ctr"/>
              <a:lstStyle/>
              <a:p>
                <a:pPr marL="171450" lvl="0" indent="-171450" fontAlgn="base">
                  <a:buFont typeface="Arial" panose="020B0604020202020204" pitchFamily="34" charset="0"/>
                  <a:buChar char="•"/>
                </a:pP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AI 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에이전트나 외부 프로그램이 직접 호출해 상태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·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라이선스를 판별할 수 있는 </a:t>
                </a:r>
                <a:r>
                  <a:rPr lang="ko-KR" altLang="en-US" sz="900" err="1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기계판독</a:t>
                </a:r>
                <a:r>
                  <a:rPr lang="ko-KR" altLang="en-US" sz="900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 인터페이스 부재</a:t>
                </a:r>
              </a:p>
            </p:txBody>
          </p:sp>
          <p:sp>
            <p:nvSpPr>
              <p:cNvPr id="37" name="직사각형 36">
                <a:extLst>
                  <a:ext uri="{FF2B5EF4-FFF2-40B4-BE49-F238E27FC236}">
                    <a16:creationId xmlns:a16="http://schemas.microsoft.com/office/drawing/2014/main" id="{2B4F4E5F-F36E-A25C-27CE-C342AE03B7CF}"/>
                  </a:ext>
                </a:extLst>
              </p:cNvPr>
              <p:cNvSpPr/>
              <p:nvPr/>
            </p:nvSpPr>
            <p:spPr>
              <a:xfrm>
                <a:off x="3762700" y="2740495"/>
                <a:ext cx="1362559" cy="99934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anchor="ctr"/>
              <a:lstStyle/>
              <a:p>
                <a:pPr marL="171450" lvl="0" indent="-171450" fontAlgn="base">
                  <a:buFont typeface="Arial" panose="020B0604020202020204" pitchFamily="34" charset="0"/>
                  <a:buChar char="•"/>
                </a:pP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현재 카탈로그는 내부 등록 데이터만을 대상으로 하며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, </a:t>
                </a:r>
                <a:r>
                  <a:rPr lang="ko-KR" altLang="en-US" sz="900" err="1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원윈도우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(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국가데이터처</a:t>
                </a:r>
                <a:r>
                  <a:rPr lang="en-US" altLang="ko-KR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)·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민간 </a:t>
                </a:r>
                <a:r>
                  <a:rPr lang="ko-KR" altLang="en-US" sz="900" err="1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마켓플레이스와의</a:t>
                </a:r>
                <a:r>
                  <a:rPr lang="ko-KR" altLang="en-US" sz="900"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 </a:t>
                </a:r>
                <a:r>
                  <a:rPr lang="ko-KR" altLang="en-US" sz="900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통합검색 기능 부재</a:t>
                </a:r>
              </a:p>
            </p:txBody>
          </p:sp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4FD59012-22C5-7E60-785B-35D0BD27D304}"/>
                  </a:ext>
                </a:extLst>
              </p:cNvPr>
              <p:cNvSpPr/>
              <p:nvPr/>
            </p:nvSpPr>
            <p:spPr>
              <a:xfrm>
                <a:off x="5247950" y="2740495"/>
                <a:ext cx="1362559" cy="99934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anchor="ctr"/>
              <a:lstStyle/>
              <a:p>
                <a:pPr marL="171450" indent="-171450" fontAlgn="base">
                  <a:buFont typeface="Arial" panose="020B0604020202020204" pitchFamily="34" charset="0"/>
                  <a:buChar char="•"/>
                </a:pPr>
                <a:r>
                  <a:rPr lang="ko-KR" altLang="en-US" sz="900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외부저작권조회</a:t>
                </a:r>
                <a:r>
                  <a:rPr lang="en-US" altLang="ko-KR" sz="900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·</a:t>
                </a:r>
                <a:r>
                  <a:rPr lang="ko-KR" altLang="en-US" sz="900">
                    <a:solidFill>
                      <a:srgbClr val="C00000"/>
                    </a:solidFill>
                    <a:latin typeface="KoPubWorld돋움체 Medium" panose="00000600000000000000" pitchFamily="2" charset="-127"/>
                    <a:ea typeface="KoPubWorld돋움체 Medium" panose="00000600000000000000" pitchFamily="2" charset="-127"/>
                    <a:cs typeface="KoPubWorld돋움체 Medium" panose="00000600000000000000" pitchFamily="2" charset="-127"/>
                  </a:rPr>
                  <a:t>내부검사 자동화 체계가 부재</a:t>
                </a:r>
              </a:p>
            </p:txBody>
          </p: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3070AA5-3DB7-ECB5-86B6-8FB85512518A}"/>
              </a:ext>
            </a:extLst>
          </p:cNvPr>
          <p:cNvSpPr txBox="1"/>
          <p:nvPr/>
        </p:nvSpPr>
        <p:spPr>
          <a:xfrm>
            <a:off x="3492045" y="5640929"/>
            <a:ext cx="463998" cy="624979"/>
          </a:xfrm>
          <a:prstGeom prst="rect">
            <a:avLst/>
          </a:prstGeom>
          <a:solidFill>
            <a:srgbClr val="00B0F0">
              <a:alpha val="20000"/>
            </a:srgbClr>
          </a:solidFill>
        </p:spPr>
        <p:txBody>
          <a:bodyPr vert="horz" wrap="square" lIns="0" rIns="0" rtlCol="0" anchor="ctr">
            <a:noAutofit/>
          </a:bodyPr>
          <a:lstStyle>
            <a:defPPr>
              <a:defRPr lang="ko-KR"/>
            </a:defPPr>
            <a:lvl1pPr algn="ctr">
              <a:defRPr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defRPr>
            </a:lvl1pPr>
          </a:lstStyle>
          <a:p>
            <a:r>
              <a:rPr lang="en-US" altLang="ko-KR"/>
              <a:t>WT</a:t>
            </a:r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F398F9E-01E1-D790-20F9-5A988775DA63}"/>
              </a:ext>
            </a:extLst>
          </p:cNvPr>
          <p:cNvSpPr/>
          <p:nvPr/>
        </p:nvSpPr>
        <p:spPr>
          <a:xfrm>
            <a:off x="4046403" y="5644900"/>
            <a:ext cx="2514704" cy="6210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lnSpc>
                <a:spcPct val="120000"/>
              </a:lnSpc>
            </a:pPr>
            <a:r>
              <a:rPr lang="en-US" altLang="ko-KR" sz="9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-</a:t>
            </a:r>
            <a:endParaRPr lang="ko-KR" altLang="en-US" sz="900">
              <a:solidFill>
                <a:prstClr val="black">
                  <a:lumMod val="75000"/>
                  <a:lumOff val="25000"/>
                </a:prst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6430731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8C3482-7FDD-6DAD-B266-0382EDBD1B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241A8E84-3B8A-F78C-4315-E3DFA4B2824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638E8F0-0E4F-EC91-49B1-BD4C11117EB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471605-1CB0-B84F-34B5-FF9A273BA2F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추적표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작성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8697A80-CB0D-D3D1-4D15-8C387E0217F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9A00DED-83BB-E113-D188-C7F95C8076D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이해관계자 요구사항을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개의 표로 만들어 요구사항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ID,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 내용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반영 결과 등을 한번에 관리할 수 있는 요구사항 추적표를 작성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D7AF4916-51C9-9383-E636-36B378928D0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DR-002</a:t>
            </a:r>
          </a:p>
        </p:txBody>
      </p:sp>
      <p:sp>
        <p:nvSpPr>
          <p:cNvPr id="10" name="Shape 6">
            <a:extLst>
              <a:ext uri="{FF2B5EF4-FFF2-40B4-BE49-F238E27FC236}">
                <a16:creationId xmlns:a16="http://schemas.microsoft.com/office/drawing/2014/main" id="{DDDF47BB-8D19-0FA1-290B-6E2CE6C80755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25BD2A10-148A-028C-E48D-04BF15EAE5AF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추적표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구성 및 관리 방법론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모서리가 둥근 직사각형 222">
            <a:extLst>
              <a:ext uri="{FF2B5EF4-FFF2-40B4-BE49-F238E27FC236}">
                <a16:creationId xmlns:a16="http://schemas.microsoft.com/office/drawing/2014/main" id="{92996AF5-0512-0953-C1BD-022E6DBF701A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DAA1E89-DA4B-168A-1ACB-3751EFECC4A3}"/>
              </a:ext>
            </a:extLst>
          </p:cNvPr>
          <p:cNvSpPr/>
          <p:nvPr/>
        </p:nvSpPr>
        <p:spPr>
          <a:xfrm>
            <a:off x="316309" y="2710277"/>
            <a:ext cx="6286697" cy="166544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추적표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조사에서 도출된 요구사항이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요구사항과 연계되어 기능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성능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 구현항목으로 빠짐없이 반영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검증되었는지 관리하기 위해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건을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행으로 하는 단일 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(RTM, Requirements Traceability Matrix)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 통합 관리함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추적표는 열이 고정되고 행이 요구사항 건수만큼 누적되는 구조로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요구사항이 추가될 때마다 동일한 열 체계 아래 새로운 행으로 등록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됨열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구성은 요구사항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ID,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출처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RFP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연계번호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유형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내용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하위 구현항목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관련 화면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테스트 항목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반영상태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9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개로 고정함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42" name="Table 0">
            <a:extLst>
              <a:ext uri="{FF2B5EF4-FFF2-40B4-BE49-F238E27FC236}">
                <a16:creationId xmlns:a16="http://schemas.microsoft.com/office/drawing/2014/main" id="{918D0345-A45E-1472-6CDA-ED27B502ECDD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597095"/>
          <a:ext cx="6162548" cy="1447800"/>
        </p:xfrm>
        <a:graphic>
          <a:graphicData uri="http://schemas.openxmlformats.org/drawingml/2006/table">
            <a:tbl>
              <a:tblPr/>
              <a:tblGrid>
                <a:gridCol w="17023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48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1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2613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기재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작성 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78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ID·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·RFP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연계번호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고유 식별번호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조사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수요조사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대응되는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번호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정의 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9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하위 구현항목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구분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요약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 구현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 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89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관련 화면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 항목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반영상태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ID,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항목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테스트케이스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ID,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 상태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반영완료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 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280011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EC0CAF48-0433-4E82-59AA-FE17FF41ABC8}"/>
              </a:ext>
            </a:extLst>
          </p:cNvPr>
          <p:cNvSpPr txBox="1"/>
          <p:nvPr/>
        </p:nvSpPr>
        <p:spPr>
          <a:xfrm>
            <a:off x="1078416" y="432581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추적표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항목 구성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E882474-534D-DD41-89DD-6075A4515D8C}"/>
              </a:ext>
            </a:extLst>
          </p:cNvPr>
          <p:cNvSpPr/>
          <p:nvPr/>
        </p:nvSpPr>
        <p:spPr>
          <a:xfrm>
            <a:off x="393192" y="6106144"/>
            <a:ext cx="6286697" cy="253029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유형 분류 원칙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건이 여러 유형으로 분화될 경우 별도 행으로 분리하여 각각 추적함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예를 들어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처리가 느리다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는 조사 결과가 기능 개선과 성능 기준을 동시에 요구하는 경우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ID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기능형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성능형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으로 나누어 각각 하위 구현항목과 테스트 항목을 독립적으로 관리함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(반영상태 관리) 각 요구사항 행에 반영상태 열을 두어 요구사항정의 →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설계중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→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개발중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→ 반영완료 → 테스트완료 5단계로 진행 현황을 추적함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(변경관리 절차) 요구사항 변경 요청 발생 시 해당 행의 하위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구현항목·관련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화면·데이터·테스트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항목을 함께 갱신하고, 변경 이력은 별도 변경관리대장에 기록함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(검증 및 협의체 운영) 이해관계자 협의체가 정기적으로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추적표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전체를 검토하여 완전성을 확인함</a:t>
            </a: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A70C3C74-4113-0543-D2D9-2C63723113D2}"/>
              </a:ext>
            </a:extLst>
          </p:cNvPr>
          <p:cNvGrpSpPr/>
          <p:nvPr/>
        </p:nvGrpSpPr>
        <p:grpSpPr>
          <a:xfrm>
            <a:off x="315896" y="8677522"/>
            <a:ext cx="6210459" cy="853701"/>
            <a:chOff x="-6675629" y="7614024"/>
            <a:chExt cx="6210459" cy="853701"/>
          </a:xfrm>
        </p:grpSpPr>
        <p:sp>
          <p:nvSpPr>
            <p:cNvPr id="52" name="사각형: 둥근 모서리 51">
              <a:extLst>
                <a:ext uri="{FF2B5EF4-FFF2-40B4-BE49-F238E27FC236}">
                  <a16:creationId xmlns:a16="http://schemas.microsoft.com/office/drawing/2014/main" id="{B7E2D9E8-E218-FA60-2735-12F6D8D68CD2}"/>
                </a:ext>
              </a:extLst>
            </p:cNvPr>
            <p:cNvSpPr/>
            <p:nvPr/>
          </p:nvSpPr>
          <p:spPr>
            <a:xfrm>
              <a:off x="-667562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53" name="사각형: 둥근 위쪽 모서리 52">
              <a:extLst>
                <a:ext uri="{FF2B5EF4-FFF2-40B4-BE49-F238E27FC236}">
                  <a16:creationId xmlns:a16="http://schemas.microsoft.com/office/drawing/2014/main" id="{323BE42A-0378-8184-445E-7EDB600072D7}"/>
                </a:ext>
              </a:extLst>
            </p:cNvPr>
            <p:cNvSpPr/>
            <p:nvPr/>
          </p:nvSpPr>
          <p:spPr>
            <a:xfrm>
              <a:off x="-6675628" y="7614024"/>
              <a:ext cx="1468628" cy="351485"/>
            </a:xfrm>
            <a:prstGeom prst="round2SameRect">
              <a:avLst>
                <a:gd name="adj1" fmla="val 10344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① </a:t>
              </a: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요구사항 등록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719F4F94-34DA-505C-5F2D-3FD22EB2A7A1}"/>
                </a:ext>
              </a:extLst>
            </p:cNvPr>
            <p:cNvSpPr txBox="1"/>
            <p:nvPr/>
          </p:nvSpPr>
          <p:spPr>
            <a:xfrm>
              <a:off x="-667562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조사 결과를 요구사항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ID·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유형으로 등록</a:t>
              </a:r>
            </a:p>
          </p:txBody>
        </p:sp>
        <p:sp>
          <p:nvSpPr>
            <p:cNvPr id="55" name="사각형: 둥근 모서리 54">
              <a:extLst>
                <a:ext uri="{FF2B5EF4-FFF2-40B4-BE49-F238E27FC236}">
                  <a16:creationId xmlns:a16="http://schemas.microsoft.com/office/drawing/2014/main" id="{750217C3-EE2B-A083-4FC0-1EEB0740DAA2}"/>
                </a:ext>
              </a:extLst>
            </p:cNvPr>
            <p:cNvSpPr/>
            <p:nvPr/>
          </p:nvSpPr>
          <p:spPr>
            <a:xfrm>
              <a:off x="-509501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56" name="사각형: 둥근 위쪽 모서리 55">
              <a:extLst>
                <a:ext uri="{FF2B5EF4-FFF2-40B4-BE49-F238E27FC236}">
                  <a16:creationId xmlns:a16="http://schemas.microsoft.com/office/drawing/2014/main" id="{38480B7D-D2B5-1405-AE1B-4000C8170C62}"/>
                </a:ext>
              </a:extLst>
            </p:cNvPr>
            <p:cNvSpPr/>
            <p:nvPr/>
          </p:nvSpPr>
          <p:spPr>
            <a:xfrm>
              <a:off x="-5095018" y="7614024"/>
              <a:ext cx="1468628" cy="351485"/>
            </a:xfrm>
            <a:prstGeom prst="round2SameRect">
              <a:avLst>
                <a:gd name="adj1" fmla="val 8311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② 설계 연계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4DA06BA1-68F0-3328-AA5A-3D39B025DA61}"/>
                </a:ext>
              </a:extLst>
            </p:cNvPr>
            <p:cNvSpPr txBox="1"/>
            <p:nvPr/>
          </p:nvSpPr>
          <p:spPr>
            <a:xfrm>
              <a:off x="-509501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하위 구현항목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화면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 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데이터 열 작성</a:t>
              </a:r>
            </a:p>
          </p:txBody>
        </p:sp>
        <p:sp>
          <p:nvSpPr>
            <p:cNvPr id="58" name="사각형: 둥근 모서리 57">
              <a:extLst>
                <a:ext uri="{FF2B5EF4-FFF2-40B4-BE49-F238E27FC236}">
                  <a16:creationId xmlns:a16="http://schemas.microsoft.com/office/drawing/2014/main" id="{5B0CECB2-89BA-A333-8AB7-4AC5CE7D5308}"/>
                </a:ext>
              </a:extLst>
            </p:cNvPr>
            <p:cNvSpPr/>
            <p:nvPr/>
          </p:nvSpPr>
          <p:spPr>
            <a:xfrm>
              <a:off x="-351440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59" name="사각형: 둥근 위쪽 모서리 58">
              <a:extLst>
                <a:ext uri="{FF2B5EF4-FFF2-40B4-BE49-F238E27FC236}">
                  <a16:creationId xmlns:a16="http://schemas.microsoft.com/office/drawing/2014/main" id="{B95C3E9A-E6D9-59D0-484E-6FF44FA575FC}"/>
                </a:ext>
              </a:extLst>
            </p:cNvPr>
            <p:cNvSpPr/>
            <p:nvPr/>
          </p:nvSpPr>
          <p:spPr>
            <a:xfrm>
              <a:off x="-3514408" y="7614024"/>
              <a:ext cx="1468628" cy="351485"/>
            </a:xfrm>
            <a:prstGeom prst="round2SameRect">
              <a:avLst>
                <a:gd name="adj1" fmla="val 11473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③ 반영상태 갱신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F0BE697-DAFE-4CA4-F77A-8851EFBCE8BF}"/>
                </a:ext>
              </a:extLst>
            </p:cNvPr>
            <p:cNvSpPr txBox="1"/>
            <p:nvPr/>
          </p:nvSpPr>
          <p:spPr>
            <a:xfrm>
              <a:off x="-3514409" y="7982568"/>
              <a:ext cx="1468627" cy="442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주 단위 진행 현황 업데이트</a:t>
              </a:r>
            </a:p>
          </p:txBody>
        </p:sp>
        <p:sp>
          <p:nvSpPr>
            <p:cNvPr id="61" name="사각형: 둥근 모서리 60">
              <a:extLst>
                <a:ext uri="{FF2B5EF4-FFF2-40B4-BE49-F238E27FC236}">
                  <a16:creationId xmlns:a16="http://schemas.microsoft.com/office/drawing/2014/main" id="{3F2A2912-570A-CBE1-E039-20DFF5C5B9C4}"/>
                </a:ext>
              </a:extLst>
            </p:cNvPr>
            <p:cNvSpPr/>
            <p:nvPr/>
          </p:nvSpPr>
          <p:spPr>
            <a:xfrm>
              <a:off x="-1933798" y="7614024"/>
              <a:ext cx="1468628" cy="853701"/>
            </a:xfrm>
            <a:prstGeom prst="roundRect">
              <a:avLst>
                <a:gd name="adj" fmla="val 3612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62" name="사각형: 둥근 위쪽 모서리 61">
              <a:extLst>
                <a:ext uri="{FF2B5EF4-FFF2-40B4-BE49-F238E27FC236}">
                  <a16:creationId xmlns:a16="http://schemas.microsoft.com/office/drawing/2014/main" id="{4E5106AE-FDAC-61FE-D5B5-3745EA1D3BD5}"/>
                </a:ext>
              </a:extLst>
            </p:cNvPr>
            <p:cNvSpPr/>
            <p:nvPr/>
          </p:nvSpPr>
          <p:spPr>
            <a:xfrm>
              <a:off x="-1933798" y="7614024"/>
              <a:ext cx="1468628" cy="351485"/>
            </a:xfrm>
            <a:prstGeom prst="round2SameRect">
              <a:avLst>
                <a:gd name="adj1" fmla="val 11698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④ 협의체 검증</a:t>
              </a:r>
              <a:endPara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06FFC86C-6BFC-E094-E844-AD95AB192E4C}"/>
                </a:ext>
              </a:extLst>
            </p:cNvPr>
            <p:cNvSpPr txBox="1"/>
            <p:nvPr/>
          </p:nvSpPr>
          <p:spPr>
            <a:xfrm>
              <a:off x="-1933799" y="7982568"/>
              <a:ext cx="1468627" cy="261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8900" indent="-88900" algn="l">
                <a:lnSpc>
                  <a:spcPct val="130000"/>
                </a:lnSpc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격주 완전성</a:t>
              </a:r>
              <a:r>
                <a:rPr lang="en-US" altLang="ko-KR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·</a:t>
              </a:r>
              <a:r>
                <a:rPr lang="ko-KR" altLang="en-US" sz="900"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</a:rPr>
                <a:t>정합성 검토</a:t>
              </a:r>
            </a:p>
          </p:txBody>
        </p:sp>
        <p:sp>
          <p:nvSpPr>
            <p:cNvPr id="64" name="이등변 삼각형 63">
              <a:extLst>
                <a:ext uri="{FF2B5EF4-FFF2-40B4-BE49-F238E27FC236}">
                  <a16:creationId xmlns:a16="http://schemas.microsoft.com/office/drawing/2014/main" id="{190BACF2-DB81-58D5-308B-4EA34DE4000C}"/>
                </a:ext>
              </a:extLst>
            </p:cNvPr>
            <p:cNvSpPr/>
            <p:nvPr/>
          </p:nvSpPr>
          <p:spPr>
            <a:xfrm rot="5400000">
              <a:off x="-5190427" y="8011282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65" name="이등변 삼각형 64">
              <a:extLst>
                <a:ext uri="{FF2B5EF4-FFF2-40B4-BE49-F238E27FC236}">
                  <a16:creationId xmlns:a16="http://schemas.microsoft.com/office/drawing/2014/main" id="{E6B64B06-B5F5-89E1-10C4-1182F13C669C}"/>
                </a:ext>
              </a:extLst>
            </p:cNvPr>
            <p:cNvSpPr/>
            <p:nvPr/>
          </p:nvSpPr>
          <p:spPr>
            <a:xfrm rot="5400000">
              <a:off x="-3605238" y="8011283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66" name="이등변 삼각형 65">
              <a:extLst>
                <a:ext uri="{FF2B5EF4-FFF2-40B4-BE49-F238E27FC236}">
                  <a16:creationId xmlns:a16="http://schemas.microsoft.com/office/drawing/2014/main" id="{9E5D4B60-C7D1-B32E-D790-88EF5D34669C}"/>
                </a:ext>
              </a:extLst>
            </p:cNvPr>
            <p:cNvSpPr/>
            <p:nvPr/>
          </p:nvSpPr>
          <p:spPr>
            <a:xfrm rot="5400000">
              <a:off x="-2024812" y="8011284"/>
              <a:ext cx="86858" cy="74877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839239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A604F0-98B9-5BE8-7937-F085053E36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32568B0-E91D-9F20-F452-980417D8830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FAED527-D1F5-6441-1C29-1CCE1D71A773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D4ECD2-D09A-5A4A-24FB-148AF11C56A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추적표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작성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028F375-4593-76B6-19A8-0D53C274F9A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요구사항 및 현황 분석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A724868-9CAB-D832-C741-038D9A958AE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추적표를 작성하고 반영상태를 관리하여 이해관계자 요구사항을 빠짐없이 반영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0CA2BA81-7995-DB8B-DC3D-36353C77E7B9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DR-002</a:t>
            </a:r>
          </a:p>
        </p:txBody>
      </p:sp>
      <p:sp>
        <p:nvSpPr>
          <p:cNvPr id="10" name="Shape 6">
            <a:extLst>
              <a:ext uri="{FF2B5EF4-FFF2-40B4-BE49-F238E27FC236}">
                <a16:creationId xmlns:a16="http://schemas.microsoft.com/office/drawing/2014/main" id="{DAAE7811-B493-1288-D5ED-38274C0A1C33}"/>
              </a:ext>
            </a:extLst>
          </p:cNvPr>
          <p:cNvSpPr/>
          <p:nvPr/>
        </p:nvSpPr>
        <p:spPr>
          <a:xfrm>
            <a:off x="301752" y="2362639"/>
            <a:ext cx="45720" cy="237744"/>
          </a:xfrm>
          <a:prstGeom prst="rect">
            <a:avLst/>
          </a:prstGeom>
          <a:solidFill>
            <a:srgbClr val="0462DA"/>
          </a:solidFill>
          <a:ln w="1270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E0C83EBC-EDEB-C2CD-7370-5F779C570155}"/>
              </a:ext>
            </a:extLst>
          </p:cNvPr>
          <p:cNvSpPr/>
          <p:nvPr/>
        </p:nvSpPr>
        <p:spPr>
          <a:xfrm>
            <a:off x="393192" y="2367402"/>
            <a:ext cx="6163056" cy="2377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모서리가 둥근 직사각형 222">
            <a:extLst>
              <a:ext uri="{FF2B5EF4-FFF2-40B4-BE49-F238E27FC236}">
                <a16:creationId xmlns:a16="http://schemas.microsoft.com/office/drawing/2014/main" id="{4A59CDD7-82CA-8577-4173-34F7392E07A8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A74B5A6-8BEB-D8B7-6DEC-3C2BB93F8733}"/>
              </a:ext>
            </a:extLst>
          </p:cNvPr>
          <p:cNvSpPr/>
          <p:nvPr/>
        </p:nvSpPr>
        <p:spPr>
          <a:xfrm>
            <a:off x="316309" y="271027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추적표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관리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실제 관리 대상이 되는 요구사항 추적표를 축약 형태로 제시하여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조사 결과가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요구사항과 어떻게 연계되고 진행 현황이 어떻게 관리되는지 실물로 보여줌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42" name="Table 0">
            <a:extLst>
              <a:ext uri="{FF2B5EF4-FFF2-40B4-BE49-F238E27FC236}">
                <a16:creationId xmlns:a16="http://schemas.microsoft.com/office/drawing/2014/main" id="{056D3EA9-77B9-28B7-F8CD-F48BA8DD631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658313"/>
          <a:ext cx="6130304" cy="2866320"/>
        </p:xfrm>
        <a:graphic>
          <a:graphicData uri="http://schemas.openxmlformats.org/drawingml/2006/table">
            <a:tbl>
              <a:tblPr/>
              <a:tblGrid>
                <a:gridCol w="5897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484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518160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1823355222"/>
                    </a:ext>
                  </a:extLst>
                </a:gridCol>
                <a:gridCol w="746760">
                  <a:extLst>
                    <a:ext uri="{9D8B030D-6E8A-4147-A177-3AD203B41FA5}">
                      <a16:colId xmlns:a16="http://schemas.microsoft.com/office/drawing/2014/main" val="3337417630"/>
                    </a:ext>
                  </a:extLst>
                </a:gridCol>
                <a:gridCol w="922020">
                  <a:extLst>
                    <a:ext uri="{9D8B030D-6E8A-4147-A177-3AD203B41FA5}">
                      <a16:colId xmlns:a16="http://schemas.microsoft.com/office/drawing/2014/main" val="1017631731"/>
                    </a:ext>
                  </a:extLst>
                </a:gridCol>
                <a:gridCol w="1021080">
                  <a:extLst>
                    <a:ext uri="{9D8B030D-6E8A-4147-A177-3AD203B41FA5}">
                      <a16:colId xmlns:a16="http://schemas.microsoft.com/office/drawing/2014/main" val="2275024153"/>
                    </a:ext>
                  </a:extLst>
                </a:gridCol>
                <a:gridCol w="617220">
                  <a:extLst>
                    <a:ext uri="{9D8B030D-6E8A-4147-A177-3AD203B41FA5}">
                      <a16:colId xmlns:a16="http://schemas.microsoft.com/office/drawing/2014/main" val="3532769820"/>
                    </a:ext>
                  </a:extLst>
                </a:gridCol>
                <a:gridCol w="5951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290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ID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출처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연계번호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유형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내용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하위 구현항목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관련 화면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 항목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반영상태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REQ-001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등록기관 담당자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FR-002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시 반복 입력 부담 해소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자동생성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필수항목 자동검증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등록신청 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표준항목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TC-014, TC-015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반영완료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REQ-002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수요조사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다운로드 응답지연 개선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재시도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압축 패키징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전송상태 로그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TC-021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설계중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REQ-003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품질검수부서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FR-035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외 민감데이터 조회 통제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등급별 조회권한 차등 적용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권한관리 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접근이력 로그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TC-030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반영완료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REQ-004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업무현황조사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운영부서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FR-039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이상행위 실시간 확인 필요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이상탐지 알림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운영대시보드 연계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 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 데이터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TC-042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개발중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REQ-005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수요조사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DTR-001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기관마다 다른 용어로 등록되어 검색 누락 발생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표준용어 적용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매핑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입력 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표준용어사전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TC-018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반영완료</a:t>
                      </a:r>
                    </a:p>
                  </a:txBody>
                  <a:tcPr marL="36000" marR="36000"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760229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7B2BBED0-E89B-5106-8A5C-59FBF0BD9690}"/>
              </a:ext>
            </a:extLst>
          </p:cNvPr>
          <p:cNvSpPr txBox="1"/>
          <p:nvPr/>
        </p:nvSpPr>
        <p:spPr>
          <a:xfrm>
            <a:off x="1078416" y="337433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(RTM)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C4AFB26-B8B7-95B6-9346-29235E5C7ADD}"/>
              </a:ext>
            </a:extLst>
          </p:cNvPr>
          <p:cNvSpPr/>
          <p:nvPr/>
        </p:nvSpPr>
        <p:spPr>
          <a:xfrm>
            <a:off x="316309" y="6679823"/>
            <a:ext cx="6286697" cy="166544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 결과 해석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다섯 건 모두 조사 결과의 출처를 실제 발언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응답으로 명시하고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RFP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 이미 정의한 요구사항 번호와 연계하여 발주기관 요구범위 내에서 조사 결과가 우선순위와 구현기준을 구체화하는 근거로 작용했음을 보여줌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유형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성능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별로 하위 구현항목과 테스트 항목이 분리 관리되어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 여부를 항목 단위로 확인할 수 있음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반영상태 열을 통해 진행 중인 항목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(REQ-002 </a:t>
            </a: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설계중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REQ-004 </a:t>
            </a: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개발중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 완료된 항목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(REQ-001, REQ-003, REQ-005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반영완료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을 한눈에 구분할 수 있음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2400820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F6BD37-8ACE-12BA-5A5A-DC2CEEAD29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A24FE95-73C8-C2BD-3C3F-C39D6D6BABF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9E3712E-25A2-5A4F-20C1-38462B2957F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4D18EF-DE90-8A80-94BD-482DAEDD5AC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현행 기능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-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연계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(1/3)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9FD76CC-9101-5B59-91F0-4653F719E72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A41211D-EB94-F438-0F0F-B5FA7D1B82F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진단 및 전수조사 프레임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10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·25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세부기능을 전수조사한 결과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대부분 계승 가능하나 상용 전송솔루션 종속 등 구조적 제약이 확인되어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전환 범위의 체계적 정의가 요구됨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7AAD4DF-503B-7217-079E-9C15F3FBA14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D6B218C-136C-AAE9-A946-2CB65190252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전수조사 개요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– 3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 조사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9C8CF5DD-0667-C56C-5CC9-15CBBD0813E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OR-010</a:t>
            </a:r>
          </a:p>
        </p:txBody>
      </p:sp>
      <p:sp>
        <p:nvSpPr>
          <p:cNvPr id="26" name="모서리가 둥근 직사각형 222">
            <a:extLst>
              <a:ext uri="{FF2B5EF4-FFF2-40B4-BE49-F238E27FC236}">
                <a16:creationId xmlns:a16="http://schemas.microsoft.com/office/drawing/2014/main" id="{CE727F9C-F526-8D56-43F4-A783F925FB70}"/>
              </a:ext>
            </a:extLst>
          </p:cNvPr>
          <p:cNvSpPr/>
          <p:nvPr/>
        </p:nvSpPr>
        <p:spPr bwMode="gray">
          <a:xfrm>
            <a:off x="259553" y="2648140"/>
            <a:ext cx="6330754" cy="1371410"/>
          </a:xfrm>
          <a:prstGeom prst="roundRect">
            <a:avLst>
              <a:gd name="adj" fmla="val 0"/>
            </a:avLst>
          </a:prstGeom>
          <a:solidFill>
            <a:sysClr val="window" lastClr="FFFFFF"/>
          </a:solidFill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43" name="Shape 18">
            <a:extLst>
              <a:ext uri="{FF2B5EF4-FFF2-40B4-BE49-F238E27FC236}">
                <a16:creationId xmlns:a16="http://schemas.microsoft.com/office/drawing/2014/main" id="{A44B08EC-6B01-04B2-4E72-586CD01E0B3B}"/>
              </a:ext>
            </a:extLst>
          </p:cNvPr>
          <p:cNvSpPr/>
          <p:nvPr/>
        </p:nvSpPr>
        <p:spPr>
          <a:xfrm>
            <a:off x="314452" y="2717000"/>
            <a:ext cx="2008586" cy="715548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55" name="Text 22">
            <a:extLst>
              <a:ext uri="{FF2B5EF4-FFF2-40B4-BE49-F238E27FC236}">
                <a16:creationId xmlns:a16="http://schemas.microsoft.com/office/drawing/2014/main" id="{9C3B7F59-2770-B82C-45F2-15F6A23BCB3E}"/>
              </a:ext>
            </a:extLst>
          </p:cNvPr>
          <p:cNvSpPr/>
          <p:nvPr/>
        </p:nvSpPr>
        <p:spPr>
          <a:xfrm>
            <a:off x="612184" y="2760045"/>
            <a:ext cx="1730756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공개서비스 전수 열람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79FEA97-BAB9-334A-08D9-F1810BCEE721}"/>
              </a:ext>
            </a:extLst>
          </p:cNvPr>
          <p:cNvSpPr/>
          <p:nvPr/>
        </p:nvSpPr>
        <p:spPr>
          <a:xfrm>
            <a:off x="393432" y="2953146"/>
            <a:ext cx="1874567" cy="47896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데이터찾기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상세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오픈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API·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품질가이드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거래소 등</a:t>
            </a:r>
          </a:p>
        </p:txBody>
      </p:sp>
      <p:sp>
        <p:nvSpPr>
          <p:cNvPr id="62" name="Shape 18">
            <a:extLst>
              <a:ext uri="{FF2B5EF4-FFF2-40B4-BE49-F238E27FC236}">
                <a16:creationId xmlns:a16="http://schemas.microsoft.com/office/drawing/2014/main" id="{7BCAFCD3-6361-882B-4048-44843C7B8D74}"/>
              </a:ext>
            </a:extLst>
          </p:cNvPr>
          <p:cNvSpPr/>
          <p:nvPr/>
        </p:nvSpPr>
        <p:spPr>
          <a:xfrm>
            <a:off x="2401878" y="2714452"/>
            <a:ext cx="2008586" cy="715548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63" name="Text 22">
            <a:extLst>
              <a:ext uri="{FF2B5EF4-FFF2-40B4-BE49-F238E27FC236}">
                <a16:creationId xmlns:a16="http://schemas.microsoft.com/office/drawing/2014/main" id="{C8D2557B-BD75-4D93-044E-1B71209ECEE7}"/>
              </a:ext>
            </a:extLst>
          </p:cNvPr>
          <p:cNvSpPr/>
          <p:nvPr/>
        </p:nvSpPr>
        <p:spPr>
          <a:xfrm>
            <a:off x="2699610" y="2757497"/>
            <a:ext cx="1730756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회원서비스 실증 확인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570DED1-7368-0906-63FB-6A2D6358D1C6}"/>
              </a:ext>
            </a:extLst>
          </p:cNvPr>
          <p:cNvSpPr/>
          <p:nvPr/>
        </p:nvSpPr>
        <p:spPr>
          <a:xfrm>
            <a:off x="2480858" y="2950598"/>
            <a:ext cx="1874567" cy="47896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</a:t>
            </a:r>
            <a:r>
              <a:rPr kumimoji="1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신청→승인→다운로드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전 과정 직접 수행</a:t>
            </a:r>
          </a:p>
        </p:txBody>
      </p:sp>
      <p:sp>
        <p:nvSpPr>
          <p:cNvPr id="67" name="Shape 18">
            <a:extLst>
              <a:ext uri="{FF2B5EF4-FFF2-40B4-BE49-F238E27FC236}">
                <a16:creationId xmlns:a16="http://schemas.microsoft.com/office/drawing/2014/main" id="{BEFC1080-75EA-816D-A005-87DA7E21857A}"/>
              </a:ext>
            </a:extLst>
          </p:cNvPr>
          <p:cNvSpPr/>
          <p:nvPr/>
        </p:nvSpPr>
        <p:spPr>
          <a:xfrm>
            <a:off x="4485265" y="2714452"/>
            <a:ext cx="2008586" cy="715548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68" name="Text 22">
            <a:extLst>
              <a:ext uri="{FF2B5EF4-FFF2-40B4-BE49-F238E27FC236}">
                <a16:creationId xmlns:a16="http://schemas.microsoft.com/office/drawing/2014/main" id="{9AA8646F-3C24-A277-E178-7B04BDE34B7B}"/>
              </a:ext>
            </a:extLst>
          </p:cNvPr>
          <p:cNvSpPr/>
          <p:nvPr/>
        </p:nvSpPr>
        <p:spPr>
          <a:xfrm>
            <a:off x="4782997" y="2757497"/>
            <a:ext cx="1730756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산출물 구조 분석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CE2EC86-892D-8C23-2ABB-19AE65D51977}"/>
              </a:ext>
            </a:extLst>
          </p:cNvPr>
          <p:cNvSpPr/>
          <p:nvPr/>
        </p:nvSpPr>
        <p:spPr>
          <a:xfrm>
            <a:off x="4564245" y="2950598"/>
            <a:ext cx="1874567" cy="47896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실제 다운로드 </a:t>
            </a:r>
            <a:r>
              <a:rPr kumimoji="1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라벨링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데이터</a:t>
            </a:r>
            <a:r>
              <a:rPr kumimoji="1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(JSON) </a:t>
            </a:r>
            <a:r>
              <a:rPr kumimoji="1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스키마 해부</a:t>
            </a:r>
          </a:p>
        </p:txBody>
      </p:sp>
      <p:sp>
        <p:nvSpPr>
          <p:cNvPr id="102" name="사각형: 둥근 위쪽 모서리 101">
            <a:extLst>
              <a:ext uri="{FF2B5EF4-FFF2-40B4-BE49-F238E27FC236}">
                <a16:creationId xmlns:a16="http://schemas.microsoft.com/office/drawing/2014/main" id="{B3C33400-2F49-C7F7-3C8B-DE80B76FAC19}"/>
              </a:ext>
            </a:extLst>
          </p:cNvPr>
          <p:cNvSpPr/>
          <p:nvPr/>
        </p:nvSpPr>
        <p:spPr>
          <a:xfrm>
            <a:off x="359695" y="2771480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9415D14-489F-8D5D-73C6-1D83713ECAAC}"/>
              </a:ext>
            </a:extLst>
          </p:cNvPr>
          <p:cNvSpPr txBox="1"/>
          <p:nvPr/>
        </p:nvSpPr>
        <p:spPr>
          <a:xfrm flipH="1">
            <a:off x="340864" y="2724400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</a:p>
        </p:txBody>
      </p:sp>
      <p:sp>
        <p:nvSpPr>
          <p:cNvPr id="105" name="사각형: 둥근 위쪽 모서리 104">
            <a:extLst>
              <a:ext uri="{FF2B5EF4-FFF2-40B4-BE49-F238E27FC236}">
                <a16:creationId xmlns:a16="http://schemas.microsoft.com/office/drawing/2014/main" id="{392D0F3B-4B70-D0DE-7B1A-9BCC44CE151E}"/>
              </a:ext>
            </a:extLst>
          </p:cNvPr>
          <p:cNvSpPr/>
          <p:nvPr/>
        </p:nvSpPr>
        <p:spPr>
          <a:xfrm>
            <a:off x="2444822" y="2771480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552CA6A-65AC-EB9A-7A63-D673C58C1D9E}"/>
              </a:ext>
            </a:extLst>
          </p:cNvPr>
          <p:cNvSpPr txBox="1"/>
          <p:nvPr/>
        </p:nvSpPr>
        <p:spPr>
          <a:xfrm flipH="1">
            <a:off x="2425991" y="2724400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</a:p>
        </p:txBody>
      </p:sp>
      <p:sp>
        <p:nvSpPr>
          <p:cNvPr id="107" name="사각형: 둥근 위쪽 모서리 106">
            <a:extLst>
              <a:ext uri="{FF2B5EF4-FFF2-40B4-BE49-F238E27FC236}">
                <a16:creationId xmlns:a16="http://schemas.microsoft.com/office/drawing/2014/main" id="{30DAE0C4-0060-4015-7EAA-F643DA108FB4}"/>
              </a:ext>
            </a:extLst>
          </p:cNvPr>
          <p:cNvSpPr/>
          <p:nvPr/>
        </p:nvSpPr>
        <p:spPr>
          <a:xfrm>
            <a:off x="4529710" y="2771480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B2E3CBF5-9327-F04A-F4FC-4F0625E352CD}"/>
              </a:ext>
            </a:extLst>
          </p:cNvPr>
          <p:cNvSpPr txBox="1"/>
          <p:nvPr/>
        </p:nvSpPr>
        <p:spPr>
          <a:xfrm flipH="1">
            <a:off x="4510879" y="2724400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7EA5D7B5-44A0-BD10-CA95-2C7F2F4F9F02}"/>
              </a:ext>
            </a:extLst>
          </p:cNvPr>
          <p:cNvCxnSpPr>
            <a:cxnSpLocks/>
          </p:cNvCxnSpPr>
          <p:nvPr/>
        </p:nvCxnSpPr>
        <p:spPr>
          <a:xfrm>
            <a:off x="312925" y="41384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28CF22C5-B75E-48E6-5EA7-5F45B59BBF98}"/>
              </a:ext>
            </a:extLst>
          </p:cNvPr>
          <p:cNvSpPr txBox="1"/>
          <p:nvPr/>
        </p:nvSpPr>
        <p:spPr>
          <a:xfrm>
            <a:off x="335012" y="41123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조사규모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– 10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·25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세부기능</a:t>
            </a:r>
          </a:p>
        </p:txBody>
      </p:sp>
      <p:sp>
        <p:nvSpPr>
          <p:cNvPr id="113" name="모서리가 둥근 직사각형 222">
            <a:extLst>
              <a:ext uri="{FF2B5EF4-FFF2-40B4-BE49-F238E27FC236}">
                <a16:creationId xmlns:a16="http://schemas.microsoft.com/office/drawing/2014/main" id="{55688ED5-D143-C1F5-165A-392F169151F8}"/>
              </a:ext>
            </a:extLst>
          </p:cNvPr>
          <p:cNvSpPr/>
          <p:nvPr/>
        </p:nvSpPr>
        <p:spPr bwMode="gray">
          <a:xfrm>
            <a:off x="259553" y="4389340"/>
            <a:ext cx="6330754" cy="3281820"/>
          </a:xfrm>
          <a:prstGeom prst="roundRect">
            <a:avLst>
              <a:gd name="adj" fmla="val 0"/>
            </a:avLst>
          </a:prstGeom>
          <a:solidFill>
            <a:sysClr val="window" lastClr="FFFFFF"/>
          </a:solidFill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F62D4652-AAE4-DE54-63E9-2A551EE38524}"/>
              </a:ext>
            </a:extLst>
          </p:cNvPr>
          <p:cNvSpPr/>
          <p:nvPr/>
        </p:nvSpPr>
        <p:spPr>
          <a:xfrm>
            <a:off x="312925" y="3476450"/>
            <a:ext cx="6180926" cy="481951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RFP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기능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데이터는 모두 이관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 규정하나 현행 기능목록을 별도 제공하지 않음에 따라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제안사는 공개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회원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계층을 직접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전수조사하여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이관 대상 기능을 자체 도출함</a:t>
            </a:r>
          </a:p>
        </p:txBody>
      </p:sp>
      <p:sp>
        <p:nvSpPr>
          <p:cNvPr id="162" name="Shape 36">
            <a:extLst>
              <a:ext uri="{FF2B5EF4-FFF2-40B4-BE49-F238E27FC236}">
                <a16:creationId xmlns:a16="http://schemas.microsoft.com/office/drawing/2014/main" id="{8DA25A9C-E297-042B-2163-3CAC5D4145FF}"/>
              </a:ext>
            </a:extLst>
          </p:cNvPr>
          <p:cNvSpPr/>
          <p:nvPr/>
        </p:nvSpPr>
        <p:spPr>
          <a:xfrm>
            <a:off x="312924" y="4430805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77" name="Shape 36">
            <a:extLst>
              <a:ext uri="{FF2B5EF4-FFF2-40B4-BE49-F238E27FC236}">
                <a16:creationId xmlns:a16="http://schemas.microsoft.com/office/drawing/2014/main" id="{FD80EF16-643C-C621-D486-EB0904780A04}"/>
              </a:ext>
            </a:extLst>
          </p:cNvPr>
          <p:cNvSpPr/>
          <p:nvPr/>
        </p:nvSpPr>
        <p:spPr>
          <a:xfrm>
            <a:off x="3428576" y="4430805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78" name="Shape 36">
            <a:extLst>
              <a:ext uri="{FF2B5EF4-FFF2-40B4-BE49-F238E27FC236}">
                <a16:creationId xmlns:a16="http://schemas.microsoft.com/office/drawing/2014/main" id="{B5284991-6161-396D-C62B-E9FAD78B1180}"/>
              </a:ext>
            </a:extLst>
          </p:cNvPr>
          <p:cNvSpPr/>
          <p:nvPr/>
        </p:nvSpPr>
        <p:spPr>
          <a:xfrm>
            <a:off x="312924" y="496349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79" name="Shape 36">
            <a:extLst>
              <a:ext uri="{FF2B5EF4-FFF2-40B4-BE49-F238E27FC236}">
                <a16:creationId xmlns:a16="http://schemas.microsoft.com/office/drawing/2014/main" id="{3300B343-2CD5-EC97-0A56-7BA3E511C719}"/>
              </a:ext>
            </a:extLst>
          </p:cNvPr>
          <p:cNvSpPr/>
          <p:nvPr/>
        </p:nvSpPr>
        <p:spPr>
          <a:xfrm>
            <a:off x="3428576" y="496349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84" name="Shape 36">
            <a:extLst>
              <a:ext uri="{FF2B5EF4-FFF2-40B4-BE49-F238E27FC236}">
                <a16:creationId xmlns:a16="http://schemas.microsoft.com/office/drawing/2014/main" id="{57A4846A-3189-BA30-A505-29E0BCBD455F}"/>
              </a:ext>
            </a:extLst>
          </p:cNvPr>
          <p:cNvSpPr/>
          <p:nvPr/>
        </p:nvSpPr>
        <p:spPr>
          <a:xfrm>
            <a:off x="312924" y="550576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85" name="Shape 36">
            <a:extLst>
              <a:ext uri="{FF2B5EF4-FFF2-40B4-BE49-F238E27FC236}">
                <a16:creationId xmlns:a16="http://schemas.microsoft.com/office/drawing/2014/main" id="{56276829-A8F2-F95D-E1EC-19E9374C6F54}"/>
              </a:ext>
            </a:extLst>
          </p:cNvPr>
          <p:cNvSpPr/>
          <p:nvPr/>
        </p:nvSpPr>
        <p:spPr>
          <a:xfrm>
            <a:off x="3428576" y="550576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86" name="Shape 36">
            <a:extLst>
              <a:ext uri="{FF2B5EF4-FFF2-40B4-BE49-F238E27FC236}">
                <a16:creationId xmlns:a16="http://schemas.microsoft.com/office/drawing/2014/main" id="{A6C3672C-A88D-49DA-2A5A-680396B854BD}"/>
              </a:ext>
            </a:extLst>
          </p:cNvPr>
          <p:cNvSpPr/>
          <p:nvPr/>
        </p:nvSpPr>
        <p:spPr>
          <a:xfrm>
            <a:off x="312924" y="604803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87" name="Shape 36">
            <a:extLst>
              <a:ext uri="{FF2B5EF4-FFF2-40B4-BE49-F238E27FC236}">
                <a16:creationId xmlns:a16="http://schemas.microsoft.com/office/drawing/2014/main" id="{715F9924-00F6-38B7-5DC6-20D641A9EC58}"/>
              </a:ext>
            </a:extLst>
          </p:cNvPr>
          <p:cNvSpPr/>
          <p:nvPr/>
        </p:nvSpPr>
        <p:spPr>
          <a:xfrm>
            <a:off x="3428576" y="604803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88" name="Shape 36">
            <a:extLst>
              <a:ext uri="{FF2B5EF4-FFF2-40B4-BE49-F238E27FC236}">
                <a16:creationId xmlns:a16="http://schemas.microsoft.com/office/drawing/2014/main" id="{47C0BB74-2371-BDFF-7B68-ED4CBF9AD3EB}"/>
              </a:ext>
            </a:extLst>
          </p:cNvPr>
          <p:cNvSpPr/>
          <p:nvPr/>
        </p:nvSpPr>
        <p:spPr>
          <a:xfrm>
            <a:off x="312924" y="659030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89" name="Shape 36">
            <a:extLst>
              <a:ext uri="{FF2B5EF4-FFF2-40B4-BE49-F238E27FC236}">
                <a16:creationId xmlns:a16="http://schemas.microsoft.com/office/drawing/2014/main" id="{3F55A272-79E6-89D5-9F5F-436B562FEA90}"/>
              </a:ext>
            </a:extLst>
          </p:cNvPr>
          <p:cNvSpPr/>
          <p:nvPr/>
        </p:nvSpPr>
        <p:spPr>
          <a:xfrm>
            <a:off x="3428576" y="6590308"/>
            <a:ext cx="3065275" cy="497155"/>
          </a:xfrm>
          <a:prstGeom prst="roundRect">
            <a:avLst>
              <a:gd name="adj" fmla="val 2695"/>
            </a:avLst>
          </a:prstGeom>
          <a:solidFill>
            <a:schemeClr val="bg1">
              <a:lumMod val="95000"/>
            </a:schemeClr>
          </a:solidFill>
          <a:ln w="10160">
            <a:noFill/>
            <a:prstDash val="sysDash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6ACC36B-0395-E192-0232-72A00E382FF2}"/>
              </a:ext>
            </a:extLst>
          </p:cNvPr>
          <p:cNvSpPr/>
          <p:nvPr/>
        </p:nvSpPr>
        <p:spPr>
          <a:xfrm>
            <a:off x="312925" y="7139074"/>
            <a:ext cx="6180926" cy="481951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공개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회원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전 계층 조사를 통해 누락 없이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10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·25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세부기능을 식별하였으며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 중 운영자 </a:t>
            </a:r>
            <a:r>
              <a:rPr lang="ko-KR" altLang="en-US" sz="11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항목은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외부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미노출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영역으로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RFP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(FR-034~039)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 식별 후 착수 시 상세 확정함</a:t>
            </a:r>
          </a:p>
        </p:txBody>
      </p:sp>
      <p:sp>
        <p:nvSpPr>
          <p:cNvPr id="191" name="사각형: 둥근 위쪽 모서리 190">
            <a:extLst>
              <a:ext uri="{FF2B5EF4-FFF2-40B4-BE49-F238E27FC236}">
                <a16:creationId xmlns:a16="http://schemas.microsoft.com/office/drawing/2014/main" id="{FFE041FC-A655-7895-CEBD-2974C7172266}"/>
              </a:ext>
            </a:extLst>
          </p:cNvPr>
          <p:cNvSpPr/>
          <p:nvPr/>
        </p:nvSpPr>
        <p:spPr>
          <a:xfrm>
            <a:off x="340865" y="4507222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찾기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3" name="사각형: 둥근 위쪽 모서리 192">
            <a:extLst>
              <a:ext uri="{FF2B5EF4-FFF2-40B4-BE49-F238E27FC236}">
                <a16:creationId xmlns:a16="http://schemas.microsoft.com/office/drawing/2014/main" id="{6E27515B-FECF-9996-CBA5-AC9BA5FA4DBF}"/>
              </a:ext>
            </a:extLst>
          </p:cNvPr>
          <p:cNvSpPr/>
          <p:nvPr/>
        </p:nvSpPr>
        <p:spPr>
          <a:xfrm>
            <a:off x="340865" y="5052739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제공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4" name="사각형: 둥근 위쪽 모서리 193">
            <a:extLst>
              <a:ext uri="{FF2B5EF4-FFF2-40B4-BE49-F238E27FC236}">
                <a16:creationId xmlns:a16="http://schemas.microsoft.com/office/drawing/2014/main" id="{D625DEDF-486E-EC62-214D-DA6653C7687C}"/>
              </a:ext>
            </a:extLst>
          </p:cNvPr>
          <p:cNvSpPr/>
          <p:nvPr/>
        </p:nvSpPr>
        <p:spPr>
          <a:xfrm>
            <a:off x="340865" y="5587040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안심존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5" name="사각형: 둥근 위쪽 모서리 194">
            <a:extLst>
              <a:ext uri="{FF2B5EF4-FFF2-40B4-BE49-F238E27FC236}">
                <a16:creationId xmlns:a16="http://schemas.microsoft.com/office/drawing/2014/main" id="{BEAA1F4C-E22B-EA10-620C-ADCBB78FBA9D}"/>
              </a:ext>
            </a:extLst>
          </p:cNvPr>
          <p:cNvSpPr/>
          <p:nvPr/>
        </p:nvSpPr>
        <p:spPr>
          <a:xfrm>
            <a:off x="340865" y="6133137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리더보드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6" name="사각형: 둥근 위쪽 모서리 195">
            <a:extLst>
              <a:ext uri="{FF2B5EF4-FFF2-40B4-BE49-F238E27FC236}">
                <a16:creationId xmlns:a16="http://schemas.microsoft.com/office/drawing/2014/main" id="{2AD93DDA-95E7-2374-0284-54F9AB258FA7}"/>
              </a:ext>
            </a:extLst>
          </p:cNvPr>
          <p:cNvSpPr/>
          <p:nvPr/>
        </p:nvSpPr>
        <p:spPr>
          <a:xfrm>
            <a:off x="340865" y="6677705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개발지원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7" name="사각형: 둥근 위쪽 모서리 196">
            <a:extLst>
              <a:ext uri="{FF2B5EF4-FFF2-40B4-BE49-F238E27FC236}">
                <a16:creationId xmlns:a16="http://schemas.microsoft.com/office/drawing/2014/main" id="{DCEB02AE-AC93-E5BF-0646-8C890FAECC96}"/>
              </a:ext>
            </a:extLst>
          </p:cNvPr>
          <p:cNvSpPr/>
          <p:nvPr/>
        </p:nvSpPr>
        <p:spPr>
          <a:xfrm>
            <a:off x="3459039" y="4507222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커뮤니티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8" name="사각형: 둥근 위쪽 모서리 197">
            <a:extLst>
              <a:ext uri="{FF2B5EF4-FFF2-40B4-BE49-F238E27FC236}">
                <a16:creationId xmlns:a16="http://schemas.microsoft.com/office/drawing/2014/main" id="{F5AFF07B-ACCC-8866-37D3-13BFB66DFF95}"/>
              </a:ext>
            </a:extLst>
          </p:cNvPr>
          <p:cNvSpPr/>
          <p:nvPr/>
        </p:nvSpPr>
        <p:spPr>
          <a:xfrm>
            <a:off x="3459039" y="5052739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고객지원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9" name="사각형: 둥근 위쪽 모서리 198">
            <a:extLst>
              <a:ext uri="{FF2B5EF4-FFF2-40B4-BE49-F238E27FC236}">
                <a16:creationId xmlns:a16="http://schemas.microsoft.com/office/drawing/2014/main" id="{EA832471-0ACE-B23C-5A79-594327C9DC80}"/>
              </a:ext>
            </a:extLst>
          </p:cNvPr>
          <p:cNvSpPr/>
          <p:nvPr/>
        </p:nvSpPr>
        <p:spPr>
          <a:xfrm>
            <a:off x="3459039" y="5587040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마이페이지</a:t>
            </a:r>
          </a:p>
        </p:txBody>
      </p:sp>
      <p:sp>
        <p:nvSpPr>
          <p:cNvPr id="200" name="사각형: 둥근 위쪽 모서리 199">
            <a:extLst>
              <a:ext uri="{FF2B5EF4-FFF2-40B4-BE49-F238E27FC236}">
                <a16:creationId xmlns:a16="http://schemas.microsoft.com/office/drawing/2014/main" id="{34332C17-C537-ACAF-372B-552A91897CF4}"/>
              </a:ext>
            </a:extLst>
          </p:cNvPr>
          <p:cNvSpPr/>
          <p:nvPr/>
        </p:nvSpPr>
        <p:spPr>
          <a:xfrm>
            <a:off x="3459039" y="6133137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1" name="사각형: 둥근 위쪽 모서리 200">
            <a:extLst>
              <a:ext uri="{FF2B5EF4-FFF2-40B4-BE49-F238E27FC236}">
                <a16:creationId xmlns:a16="http://schemas.microsoft.com/office/drawing/2014/main" id="{B587A770-039C-AA38-4516-ED525056804E}"/>
              </a:ext>
            </a:extLst>
          </p:cNvPr>
          <p:cNvSpPr/>
          <p:nvPr/>
        </p:nvSpPr>
        <p:spPr>
          <a:xfrm>
            <a:off x="3459039" y="6677705"/>
            <a:ext cx="1049785" cy="3186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운영자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5" name="사각형: 둥근 위쪽 모서리 204">
            <a:extLst>
              <a:ext uri="{FF2B5EF4-FFF2-40B4-BE49-F238E27FC236}">
                <a16:creationId xmlns:a16="http://schemas.microsoft.com/office/drawing/2014/main" id="{27B511CA-603E-0F62-2158-622F276CB796}"/>
              </a:ext>
            </a:extLst>
          </p:cNvPr>
          <p:cNvSpPr/>
          <p:nvPr/>
        </p:nvSpPr>
        <p:spPr>
          <a:xfrm>
            <a:off x="1491812" y="4456205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찾기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06" name="사각형: 둥근 위쪽 모서리 205">
            <a:extLst>
              <a:ext uri="{FF2B5EF4-FFF2-40B4-BE49-F238E27FC236}">
                <a16:creationId xmlns:a16="http://schemas.microsoft.com/office/drawing/2014/main" id="{F2387C15-8665-B02A-0783-5660E5D92CC5}"/>
              </a:ext>
            </a:extLst>
          </p:cNvPr>
          <p:cNvSpPr/>
          <p:nvPr/>
        </p:nvSpPr>
        <p:spPr>
          <a:xfrm>
            <a:off x="1491812" y="4611473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상세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카탈로그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07" name="사각형: 둥근 위쪽 모서리 206">
            <a:extLst>
              <a:ext uri="{FF2B5EF4-FFF2-40B4-BE49-F238E27FC236}">
                <a16:creationId xmlns:a16="http://schemas.microsoft.com/office/drawing/2014/main" id="{6B69C8E0-1B10-2DF8-AFB0-E4854C09EBAE}"/>
              </a:ext>
            </a:extLst>
          </p:cNvPr>
          <p:cNvSpPr/>
          <p:nvPr/>
        </p:nvSpPr>
        <p:spPr>
          <a:xfrm>
            <a:off x="1491812" y="4766741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기관제공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오픈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API</a:t>
            </a:r>
          </a:p>
        </p:txBody>
      </p:sp>
      <p:sp>
        <p:nvSpPr>
          <p:cNvPr id="208" name="사각형: 둥근 위쪽 모서리 207">
            <a:extLst>
              <a:ext uri="{FF2B5EF4-FFF2-40B4-BE49-F238E27FC236}">
                <a16:creationId xmlns:a16="http://schemas.microsoft.com/office/drawing/2014/main" id="{3A76FD3A-251C-978D-DF9B-33B869A55470}"/>
              </a:ext>
            </a:extLst>
          </p:cNvPr>
          <p:cNvSpPr/>
          <p:nvPr/>
        </p:nvSpPr>
        <p:spPr>
          <a:xfrm>
            <a:off x="1491812" y="4984239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신청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워크플로우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09" name="사각형: 둥근 위쪽 모서리 208">
            <a:extLst>
              <a:ext uri="{FF2B5EF4-FFF2-40B4-BE49-F238E27FC236}">
                <a16:creationId xmlns:a16="http://schemas.microsoft.com/office/drawing/2014/main" id="{92EBEAA1-956B-B01E-CC06-D2F952A94429}"/>
              </a:ext>
            </a:extLst>
          </p:cNvPr>
          <p:cNvSpPr/>
          <p:nvPr/>
        </p:nvSpPr>
        <p:spPr>
          <a:xfrm>
            <a:off x="1491812" y="5139507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 전송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다운로드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0" name="사각형: 둥근 위쪽 모서리 209">
            <a:extLst>
              <a:ext uri="{FF2B5EF4-FFF2-40B4-BE49-F238E27FC236}">
                <a16:creationId xmlns:a16="http://schemas.microsoft.com/office/drawing/2014/main" id="{A6547B2E-E661-5E25-62A4-7D04BDD10124}"/>
              </a:ext>
            </a:extLst>
          </p:cNvPr>
          <p:cNvSpPr/>
          <p:nvPr/>
        </p:nvSpPr>
        <p:spPr>
          <a:xfrm>
            <a:off x="1491812" y="5294775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샘플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미리보기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4" name="사각형: 둥근 위쪽 모서리 213">
            <a:extLst>
              <a:ext uri="{FF2B5EF4-FFF2-40B4-BE49-F238E27FC236}">
                <a16:creationId xmlns:a16="http://schemas.microsoft.com/office/drawing/2014/main" id="{AC2CAD96-5956-D727-B3CF-F8FCF769A247}"/>
              </a:ext>
            </a:extLst>
          </p:cNvPr>
          <p:cNvSpPr/>
          <p:nvPr/>
        </p:nvSpPr>
        <p:spPr>
          <a:xfrm>
            <a:off x="4598504" y="4984239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문의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·FAQ·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민원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5" name="사각형: 둥근 위쪽 모서리 214">
            <a:extLst>
              <a:ext uri="{FF2B5EF4-FFF2-40B4-BE49-F238E27FC236}">
                <a16:creationId xmlns:a16="http://schemas.microsoft.com/office/drawing/2014/main" id="{06A9B540-00CE-EC7A-43AC-2455BA0CC9DF}"/>
              </a:ext>
            </a:extLst>
          </p:cNvPr>
          <p:cNvSpPr/>
          <p:nvPr/>
        </p:nvSpPr>
        <p:spPr>
          <a:xfrm>
            <a:off x="4598504" y="5139507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등록신청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6" name="사각형: 둥근 위쪽 모서리 215">
            <a:extLst>
              <a:ext uri="{FF2B5EF4-FFF2-40B4-BE49-F238E27FC236}">
                <a16:creationId xmlns:a16="http://schemas.microsoft.com/office/drawing/2014/main" id="{98030A6F-ECAD-EE26-6DE8-8330045C42A4}"/>
              </a:ext>
            </a:extLst>
          </p:cNvPr>
          <p:cNvSpPr/>
          <p:nvPr/>
        </p:nvSpPr>
        <p:spPr>
          <a:xfrm>
            <a:off x="4598504" y="5294775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성과조사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7" name="사각형: 둥근 위쪽 모서리 216">
            <a:extLst>
              <a:ext uri="{FF2B5EF4-FFF2-40B4-BE49-F238E27FC236}">
                <a16:creationId xmlns:a16="http://schemas.microsoft.com/office/drawing/2014/main" id="{CA5B6847-F2E9-2F3F-D229-96EF66693ABF}"/>
              </a:ext>
            </a:extLst>
          </p:cNvPr>
          <p:cNvSpPr/>
          <p:nvPr/>
        </p:nvSpPr>
        <p:spPr>
          <a:xfrm>
            <a:off x="4598504" y="6606381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Admin 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운영관리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8" name="사각형: 둥근 위쪽 모서리 217">
            <a:extLst>
              <a:ext uri="{FF2B5EF4-FFF2-40B4-BE49-F238E27FC236}">
                <a16:creationId xmlns:a16="http://schemas.microsoft.com/office/drawing/2014/main" id="{40876DA2-1C0C-8B21-1DCC-44F7478A1237}"/>
              </a:ext>
            </a:extLst>
          </p:cNvPr>
          <p:cNvSpPr/>
          <p:nvPr/>
        </p:nvSpPr>
        <p:spPr>
          <a:xfrm>
            <a:off x="4598504" y="6761649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검수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19" name="사각형: 둥근 위쪽 모서리 218">
            <a:extLst>
              <a:ext uri="{FF2B5EF4-FFF2-40B4-BE49-F238E27FC236}">
                <a16:creationId xmlns:a16="http://schemas.microsoft.com/office/drawing/2014/main" id="{4853E4EB-819F-8027-7777-64ECC44A9DD4}"/>
              </a:ext>
            </a:extLst>
          </p:cNvPr>
          <p:cNvSpPr/>
          <p:nvPr/>
        </p:nvSpPr>
        <p:spPr>
          <a:xfrm>
            <a:off x="4598504" y="6916917"/>
            <a:ext cx="1840308" cy="138723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로그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모니터링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0" name="사각형: 둥근 위쪽 모서리 219">
            <a:extLst>
              <a:ext uri="{FF2B5EF4-FFF2-40B4-BE49-F238E27FC236}">
                <a16:creationId xmlns:a16="http://schemas.microsoft.com/office/drawing/2014/main" id="{19D7E24D-3AD6-AF18-07BE-E4CE34C0A3C1}"/>
              </a:ext>
            </a:extLst>
          </p:cNvPr>
          <p:cNvSpPr/>
          <p:nvPr/>
        </p:nvSpPr>
        <p:spPr>
          <a:xfrm>
            <a:off x="1491812" y="5561956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온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오프라인 </a:t>
            </a:r>
            <a:r>
              <a:rPr lang="ko-KR" altLang="en-US" sz="90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안심존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1" name="사각형: 둥근 위쪽 모서리 220">
            <a:extLst>
              <a:ext uri="{FF2B5EF4-FFF2-40B4-BE49-F238E27FC236}">
                <a16:creationId xmlns:a16="http://schemas.microsoft.com/office/drawing/2014/main" id="{EA5E7E77-0055-824C-1B40-AD159F3A91B3}"/>
              </a:ext>
            </a:extLst>
          </p:cNvPr>
          <p:cNvSpPr/>
          <p:nvPr/>
        </p:nvSpPr>
        <p:spPr>
          <a:xfrm>
            <a:off x="1491812" y="5783902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SSO·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심의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모델반출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2" name="사각형: 둥근 위쪽 모서리 221">
            <a:extLst>
              <a:ext uri="{FF2B5EF4-FFF2-40B4-BE49-F238E27FC236}">
                <a16:creationId xmlns:a16="http://schemas.microsoft.com/office/drawing/2014/main" id="{AA0C0C2E-C71C-8AB1-F8AA-7ECE206AC3C8}"/>
              </a:ext>
            </a:extLst>
          </p:cNvPr>
          <p:cNvSpPr/>
          <p:nvPr/>
        </p:nvSpPr>
        <p:spPr>
          <a:xfrm>
            <a:off x="1491812" y="6644361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거래소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3" name="사각형: 둥근 위쪽 모서리 222">
            <a:extLst>
              <a:ext uri="{FF2B5EF4-FFF2-40B4-BE49-F238E27FC236}">
                <a16:creationId xmlns:a16="http://schemas.microsoft.com/office/drawing/2014/main" id="{ED207DFC-111A-8AAD-D398-9E3A3290BF1E}"/>
              </a:ext>
            </a:extLst>
          </p:cNvPr>
          <p:cNvSpPr/>
          <p:nvPr/>
        </p:nvSpPr>
        <p:spPr>
          <a:xfrm>
            <a:off x="1491812" y="6866307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컴퓨팅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·API·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바우처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·SW 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지원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4" name="사각형: 둥근 위쪽 모서리 223">
            <a:extLst>
              <a:ext uri="{FF2B5EF4-FFF2-40B4-BE49-F238E27FC236}">
                <a16:creationId xmlns:a16="http://schemas.microsoft.com/office/drawing/2014/main" id="{CBAD564A-A582-72F1-EC76-21E5FEC7F891}"/>
              </a:ext>
            </a:extLst>
          </p:cNvPr>
          <p:cNvSpPr/>
          <p:nvPr/>
        </p:nvSpPr>
        <p:spPr>
          <a:xfrm>
            <a:off x="4598504" y="6108678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회원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로그인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(SSO)</a:t>
            </a:r>
          </a:p>
        </p:txBody>
      </p:sp>
      <p:sp>
        <p:nvSpPr>
          <p:cNvPr id="225" name="사각형: 둥근 위쪽 모서리 224">
            <a:extLst>
              <a:ext uri="{FF2B5EF4-FFF2-40B4-BE49-F238E27FC236}">
                <a16:creationId xmlns:a16="http://schemas.microsoft.com/office/drawing/2014/main" id="{49C102A6-14C4-3331-8A20-11602A8C56E9}"/>
              </a:ext>
            </a:extLst>
          </p:cNvPr>
          <p:cNvSpPr/>
          <p:nvPr/>
        </p:nvSpPr>
        <p:spPr>
          <a:xfrm>
            <a:off x="4598504" y="6330624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다운로드 프로그램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6" name="사각형: 둥근 위쪽 모서리 225">
            <a:extLst>
              <a:ext uri="{FF2B5EF4-FFF2-40B4-BE49-F238E27FC236}">
                <a16:creationId xmlns:a16="http://schemas.microsoft.com/office/drawing/2014/main" id="{5F5DFDB7-8935-4B6E-3C75-9A0967799D40}"/>
              </a:ext>
            </a:extLst>
          </p:cNvPr>
          <p:cNvSpPr/>
          <p:nvPr/>
        </p:nvSpPr>
        <p:spPr>
          <a:xfrm>
            <a:off x="4598504" y="4480512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공지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우수사례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7" name="사각형: 둥근 위쪽 모서리 226">
            <a:extLst>
              <a:ext uri="{FF2B5EF4-FFF2-40B4-BE49-F238E27FC236}">
                <a16:creationId xmlns:a16="http://schemas.microsoft.com/office/drawing/2014/main" id="{EDA70E27-FC77-CB82-3333-7C0029FBCE7D}"/>
              </a:ext>
            </a:extLst>
          </p:cNvPr>
          <p:cNvSpPr/>
          <p:nvPr/>
        </p:nvSpPr>
        <p:spPr>
          <a:xfrm>
            <a:off x="4598504" y="4702458"/>
            <a:ext cx="1840308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품질가이드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8" name="사각형: 둥근 위쪽 모서리 227">
            <a:extLst>
              <a:ext uri="{FF2B5EF4-FFF2-40B4-BE49-F238E27FC236}">
                <a16:creationId xmlns:a16="http://schemas.microsoft.com/office/drawing/2014/main" id="{8558DAF4-1113-272D-0DD2-8636A40AAABC}"/>
              </a:ext>
            </a:extLst>
          </p:cNvPr>
          <p:cNvSpPr/>
          <p:nvPr/>
        </p:nvSpPr>
        <p:spPr>
          <a:xfrm>
            <a:off x="4598504" y="5561956"/>
            <a:ext cx="883134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 spc="-1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이용현황 대시보드</a:t>
            </a:r>
            <a:endParaRPr lang="en-US" altLang="ko-KR" sz="900" spc="-15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9" name="사각형: 둥근 위쪽 모서리 228">
            <a:extLst>
              <a:ext uri="{FF2B5EF4-FFF2-40B4-BE49-F238E27FC236}">
                <a16:creationId xmlns:a16="http://schemas.microsoft.com/office/drawing/2014/main" id="{F10096E0-373C-EDEE-07FF-B1A79E736753}"/>
              </a:ext>
            </a:extLst>
          </p:cNvPr>
          <p:cNvSpPr/>
          <p:nvPr/>
        </p:nvSpPr>
        <p:spPr>
          <a:xfrm>
            <a:off x="4598504" y="5783902"/>
            <a:ext cx="883134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 spc="-1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신청</a:t>
            </a:r>
            <a:r>
              <a:rPr lang="en-US" altLang="ko-KR" sz="900" spc="-1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spc="-1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문의  조회</a:t>
            </a:r>
            <a:endParaRPr lang="en-US" altLang="ko-KR" sz="900" spc="-15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30" name="사각형: 둥근 위쪽 모서리 229">
            <a:extLst>
              <a:ext uri="{FF2B5EF4-FFF2-40B4-BE49-F238E27FC236}">
                <a16:creationId xmlns:a16="http://schemas.microsoft.com/office/drawing/2014/main" id="{571CB3E1-F72B-26B1-A9E2-457A117EFC59}"/>
              </a:ext>
            </a:extLst>
          </p:cNvPr>
          <p:cNvSpPr/>
          <p:nvPr/>
        </p:nvSpPr>
        <p:spPr>
          <a:xfrm>
            <a:off x="5546177" y="5561956"/>
            <a:ext cx="883134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관심데이터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31" name="사각형: 둥근 위쪽 모서리 230">
            <a:extLst>
              <a:ext uri="{FF2B5EF4-FFF2-40B4-BE49-F238E27FC236}">
                <a16:creationId xmlns:a16="http://schemas.microsoft.com/office/drawing/2014/main" id="{5FAB6736-E273-BA17-294D-1A99DE8367F9}"/>
              </a:ext>
            </a:extLst>
          </p:cNvPr>
          <p:cNvSpPr/>
          <p:nvPr/>
        </p:nvSpPr>
        <p:spPr>
          <a:xfrm>
            <a:off x="5546177" y="5783902"/>
            <a:ext cx="883134" cy="16337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회원정보관리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32" name="사각형: 둥근 위쪽 모서리 231">
            <a:extLst>
              <a:ext uri="{FF2B5EF4-FFF2-40B4-BE49-F238E27FC236}">
                <a16:creationId xmlns:a16="http://schemas.microsoft.com/office/drawing/2014/main" id="{E4752E88-4E26-8501-BACC-A365F1F9859B}"/>
              </a:ext>
            </a:extLst>
          </p:cNvPr>
          <p:cNvSpPr/>
          <p:nvPr/>
        </p:nvSpPr>
        <p:spPr>
          <a:xfrm>
            <a:off x="1491812" y="6133291"/>
            <a:ext cx="1840308" cy="318365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K-AI Leaderboard</a:t>
            </a:r>
          </a:p>
        </p:txBody>
      </p:sp>
      <p:cxnSp>
        <p:nvCxnSpPr>
          <p:cNvPr id="233" name="직선 연결선 232">
            <a:extLst>
              <a:ext uri="{FF2B5EF4-FFF2-40B4-BE49-F238E27FC236}">
                <a16:creationId xmlns:a16="http://schemas.microsoft.com/office/drawing/2014/main" id="{D664124E-7456-2215-A5B4-6AD448B3E39F}"/>
              </a:ext>
            </a:extLst>
          </p:cNvPr>
          <p:cNvCxnSpPr>
            <a:cxnSpLocks/>
          </p:cNvCxnSpPr>
          <p:nvPr/>
        </p:nvCxnSpPr>
        <p:spPr>
          <a:xfrm>
            <a:off x="312925" y="779002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TextBox 233">
            <a:extLst>
              <a:ext uri="{FF2B5EF4-FFF2-40B4-BE49-F238E27FC236}">
                <a16:creationId xmlns:a16="http://schemas.microsoft.com/office/drawing/2014/main" id="{4186EEF8-7A40-B42B-365C-CB71B5D6017E}"/>
              </a:ext>
            </a:extLst>
          </p:cNvPr>
          <p:cNvSpPr txBox="1"/>
          <p:nvPr/>
        </p:nvSpPr>
        <p:spPr>
          <a:xfrm>
            <a:off x="335012" y="776395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시스템 구조적 진단 및 전환유형</a:t>
            </a:r>
          </a:p>
        </p:txBody>
      </p:sp>
      <p:sp>
        <p:nvSpPr>
          <p:cNvPr id="235" name="모서리가 둥근 직사각형 222">
            <a:extLst>
              <a:ext uri="{FF2B5EF4-FFF2-40B4-BE49-F238E27FC236}">
                <a16:creationId xmlns:a16="http://schemas.microsoft.com/office/drawing/2014/main" id="{803FD6F1-6A2C-F3D7-1D9A-CCF8209C8628}"/>
              </a:ext>
            </a:extLst>
          </p:cNvPr>
          <p:cNvSpPr/>
          <p:nvPr/>
        </p:nvSpPr>
        <p:spPr bwMode="gray">
          <a:xfrm>
            <a:off x="259553" y="8026279"/>
            <a:ext cx="6330754" cy="1681601"/>
          </a:xfrm>
          <a:prstGeom prst="roundRect">
            <a:avLst>
              <a:gd name="adj" fmla="val 0"/>
            </a:avLst>
          </a:prstGeom>
          <a:solidFill>
            <a:sysClr val="window" lastClr="FFFFFF"/>
          </a:solidFill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36" name="Shape 18">
            <a:extLst>
              <a:ext uri="{FF2B5EF4-FFF2-40B4-BE49-F238E27FC236}">
                <a16:creationId xmlns:a16="http://schemas.microsoft.com/office/drawing/2014/main" id="{A15B8E56-379E-4D23-1D47-3AD46025C8DC}"/>
              </a:ext>
            </a:extLst>
          </p:cNvPr>
          <p:cNvSpPr/>
          <p:nvPr/>
        </p:nvSpPr>
        <p:spPr>
          <a:xfrm>
            <a:off x="306831" y="8043327"/>
            <a:ext cx="3071367" cy="797381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37" name="Text 22">
            <a:extLst>
              <a:ext uri="{FF2B5EF4-FFF2-40B4-BE49-F238E27FC236}">
                <a16:creationId xmlns:a16="http://schemas.microsoft.com/office/drawing/2014/main" id="{94A7306F-A116-9AC1-34E0-03C96773025C}"/>
              </a:ext>
            </a:extLst>
          </p:cNvPr>
          <p:cNvSpPr/>
          <p:nvPr/>
        </p:nvSpPr>
        <p:spPr>
          <a:xfrm>
            <a:off x="604564" y="8086373"/>
            <a:ext cx="1730756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상용 솔루션 종속</a:t>
            </a:r>
          </a:p>
        </p:txBody>
      </p:sp>
      <p:sp>
        <p:nvSpPr>
          <p:cNvPr id="239" name="사각형: 둥근 위쪽 모서리 238">
            <a:extLst>
              <a:ext uri="{FF2B5EF4-FFF2-40B4-BE49-F238E27FC236}">
                <a16:creationId xmlns:a16="http://schemas.microsoft.com/office/drawing/2014/main" id="{B228E411-063D-7D68-315C-093D998D5BAF}"/>
              </a:ext>
            </a:extLst>
          </p:cNvPr>
          <p:cNvSpPr/>
          <p:nvPr/>
        </p:nvSpPr>
        <p:spPr>
          <a:xfrm>
            <a:off x="352075" y="8097808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EF1191E-514C-C52C-4B35-C1018825BAB1}"/>
              </a:ext>
            </a:extLst>
          </p:cNvPr>
          <p:cNvSpPr txBox="1"/>
          <p:nvPr/>
        </p:nvSpPr>
        <p:spPr>
          <a:xfrm flipH="1">
            <a:off x="333244" y="8050728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</a:p>
        </p:txBody>
      </p:sp>
      <p:sp>
        <p:nvSpPr>
          <p:cNvPr id="241" name="Shape 18">
            <a:extLst>
              <a:ext uri="{FF2B5EF4-FFF2-40B4-BE49-F238E27FC236}">
                <a16:creationId xmlns:a16="http://schemas.microsoft.com/office/drawing/2014/main" id="{B6936903-9ED4-EF4B-CB23-39BC74975A19}"/>
              </a:ext>
            </a:extLst>
          </p:cNvPr>
          <p:cNvSpPr/>
          <p:nvPr/>
        </p:nvSpPr>
        <p:spPr>
          <a:xfrm>
            <a:off x="3428576" y="8043327"/>
            <a:ext cx="3071367" cy="797381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42" name="Text 22">
            <a:extLst>
              <a:ext uri="{FF2B5EF4-FFF2-40B4-BE49-F238E27FC236}">
                <a16:creationId xmlns:a16="http://schemas.microsoft.com/office/drawing/2014/main" id="{E6D9D3AB-664E-CEC4-FCE0-82A6A5ADA88D}"/>
              </a:ext>
            </a:extLst>
          </p:cNvPr>
          <p:cNvSpPr/>
          <p:nvPr/>
        </p:nvSpPr>
        <p:spPr>
          <a:xfrm>
            <a:off x="3726309" y="8086373"/>
            <a:ext cx="1730756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탐색</a:t>
            </a:r>
            <a:r>
              <a:rPr lang="en-US" altLang="ko-KR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 한계</a:t>
            </a:r>
          </a:p>
        </p:txBody>
      </p:sp>
      <p:sp>
        <p:nvSpPr>
          <p:cNvPr id="244" name="사각형: 둥근 위쪽 모서리 243">
            <a:extLst>
              <a:ext uri="{FF2B5EF4-FFF2-40B4-BE49-F238E27FC236}">
                <a16:creationId xmlns:a16="http://schemas.microsoft.com/office/drawing/2014/main" id="{9981FF09-D324-CC63-DBBF-558B08939225}"/>
              </a:ext>
            </a:extLst>
          </p:cNvPr>
          <p:cNvSpPr/>
          <p:nvPr/>
        </p:nvSpPr>
        <p:spPr>
          <a:xfrm>
            <a:off x="3473820" y="8097808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9816D3D7-C5BD-D089-5527-21B7960DF854}"/>
              </a:ext>
            </a:extLst>
          </p:cNvPr>
          <p:cNvSpPr txBox="1"/>
          <p:nvPr/>
        </p:nvSpPr>
        <p:spPr>
          <a:xfrm flipH="1">
            <a:off x="3454989" y="8050728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</a:p>
        </p:txBody>
      </p:sp>
      <p:sp>
        <p:nvSpPr>
          <p:cNvPr id="246" name="Shape 18">
            <a:extLst>
              <a:ext uri="{FF2B5EF4-FFF2-40B4-BE49-F238E27FC236}">
                <a16:creationId xmlns:a16="http://schemas.microsoft.com/office/drawing/2014/main" id="{7A139B31-218C-3DCC-67DE-76399CD66F48}"/>
              </a:ext>
            </a:extLst>
          </p:cNvPr>
          <p:cNvSpPr/>
          <p:nvPr/>
        </p:nvSpPr>
        <p:spPr>
          <a:xfrm>
            <a:off x="306831" y="8872398"/>
            <a:ext cx="3071367" cy="797381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47" name="Text 22">
            <a:extLst>
              <a:ext uri="{FF2B5EF4-FFF2-40B4-BE49-F238E27FC236}">
                <a16:creationId xmlns:a16="http://schemas.microsoft.com/office/drawing/2014/main" id="{65FD5123-AA33-252E-0010-7F96EB5DF821}"/>
              </a:ext>
            </a:extLst>
          </p:cNvPr>
          <p:cNvSpPr/>
          <p:nvPr/>
        </p:nvSpPr>
        <p:spPr>
          <a:xfrm>
            <a:off x="604564" y="8915444"/>
            <a:ext cx="1876294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분산된 다단계 개방체계</a:t>
            </a:r>
          </a:p>
        </p:txBody>
      </p:sp>
      <p:sp>
        <p:nvSpPr>
          <p:cNvPr id="249" name="사각형: 둥근 위쪽 모서리 248">
            <a:extLst>
              <a:ext uri="{FF2B5EF4-FFF2-40B4-BE49-F238E27FC236}">
                <a16:creationId xmlns:a16="http://schemas.microsoft.com/office/drawing/2014/main" id="{7DCE3A69-0812-B85B-FEE9-268EFC843830}"/>
              </a:ext>
            </a:extLst>
          </p:cNvPr>
          <p:cNvSpPr/>
          <p:nvPr/>
        </p:nvSpPr>
        <p:spPr>
          <a:xfrm>
            <a:off x="352075" y="8926879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887459FA-DE76-3294-0832-271D94F859C4}"/>
              </a:ext>
            </a:extLst>
          </p:cNvPr>
          <p:cNvSpPr txBox="1"/>
          <p:nvPr/>
        </p:nvSpPr>
        <p:spPr>
          <a:xfrm flipH="1">
            <a:off x="333244" y="8879799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</a:p>
        </p:txBody>
      </p:sp>
      <p:sp>
        <p:nvSpPr>
          <p:cNvPr id="251" name="Shape 18">
            <a:extLst>
              <a:ext uri="{FF2B5EF4-FFF2-40B4-BE49-F238E27FC236}">
                <a16:creationId xmlns:a16="http://schemas.microsoft.com/office/drawing/2014/main" id="{6AA40E6D-8759-5093-8BCB-1381AC7F3D2E}"/>
              </a:ext>
            </a:extLst>
          </p:cNvPr>
          <p:cNvSpPr/>
          <p:nvPr/>
        </p:nvSpPr>
        <p:spPr>
          <a:xfrm>
            <a:off x="3428576" y="8872398"/>
            <a:ext cx="3071367" cy="797381"/>
          </a:xfrm>
          <a:prstGeom prst="roundRect">
            <a:avLst>
              <a:gd name="adj" fmla="val 2695"/>
            </a:avLst>
          </a:prstGeom>
          <a:solidFill>
            <a:srgbClr val="E8F1FB"/>
          </a:solidFill>
          <a:ln w="10160">
            <a:solidFill>
              <a:srgbClr val="4472C4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252" name="Text 22">
            <a:extLst>
              <a:ext uri="{FF2B5EF4-FFF2-40B4-BE49-F238E27FC236}">
                <a16:creationId xmlns:a16="http://schemas.microsoft.com/office/drawing/2014/main" id="{EC9B92CB-38AB-98A9-F374-A8F297C95D08}"/>
              </a:ext>
            </a:extLst>
          </p:cNvPr>
          <p:cNvSpPr/>
          <p:nvPr/>
        </p:nvSpPr>
        <p:spPr>
          <a:xfrm>
            <a:off x="3726309" y="8915444"/>
            <a:ext cx="1730756" cy="24400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다층 저작권</a:t>
            </a:r>
            <a:r>
              <a:rPr lang="en-US" altLang="ko-KR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200" b="1">
                <a:solidFill>
                  <a:srgbClr val="1F3864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권리 구조</a:t>
            </a:r>
          </a:p>
        </p:txBody>
      </p:sp>
      <p:sp>
        <p:nvSpPr>
          <p:cNvPr id="254" name="사각형: 둥근 위쪽 모서리 253">
            <a:extLst>
              <a:ext uri="{FF2B5EF4-FFF2-40B4-BE49-F238E27FC236}">
                <a16:creationId xmlns:a16="http://schemas.microsoft.com/office/drawing/2014/main" id="{343AE229-C5F2-0C42-D834-69D8B73013CB}"/>
              </a:ext>
            </a:extLst>
          </p:cNvPr>
          <p:cNvSpPr/>
          <p:nvPr/>
        </p:nvSpPr>
        <p:spPr>
          <a:xfrm>
            <a:off x="3473820" y="8926879"/>
            <a:ext cx="193551" cy="20553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B7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US" altLang="ko-KR" sz="1100" spc="-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A9675C96-2E18-14EC-6B6D-D3EF3A7D381C}"/>
              </a:ext>
            </a:extLst>
          </p:cNvPr>
          <p:cNvSpPr txBox="1"/>
          <p:nvPr/>
        </p:nvSpPr>
        <p:spPr>
          <a:xfrm flipH="1">
            <a:off x="3454989" y="8879799"/>
            <a:ext cx="231212" cy="29969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 latinLnBrk="0">
              <a:lnSpc>
                <a:spcPct val="130000"/>
              </a:lnSpc>
              <a:spcBef>
                <a:spcPts val="600"/>
              </a:spcBef>
            </a:pPr>
            <a:r>
              <a:rPr lang="en-US" altLang="ko-KR" sz="11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</a:p>
        </p:txBody>
      </p:sp>
      <p:sp>
        <p:nvSpPr>
          <p:cNvPr id="256" name="사각형: 둥근 위쪽 모서리 255">
            <a:extLst>
              <a:ext uri="{FF2B5EF4-FFF2-40B4-BE49-F238E27FC236}">
                <a16:creationId xmlns:a16="http://schemas.microsoft.com/office/drawing/2014/main" id="{CD2333DD-7FAC-9F1F-1831-E2B1C31D32B8}"/>
              </a:ext>
            </a:extLst>
          </p:cNvPr>
          <p:cNvSpPr/>
          <p:nvPr/>
        </p:nvSpPr>
        <p:spPr>
          <a:xfrm>
            <a:off x="2541597" y="8907563"/>
            <a:ext cx="790523" cy="221197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B05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7" name="사각형: 둥근 위쪽 모서리 256">
            <a:extLst>
              <a:ext uri="{FF2B5EF4-FFF2-40B4-BE49-F238E27FC236}">
                <a16:creationId xmlns:a16="http://schemas.microsoft.com/office/drawing/2014/main" id="{455455EC-B539-0F45-3461-983E754A152E}"/>
              </a:ext>
            </a:extLst>
          </p:cNvPr>
          <p:cNvSpPr/>
          <p:nvPr/>
        </p:nvSpPr>
        <p:spPr>
          <a:xfrm>
            <a:off x="5665797" y="8907563"/>
            <a:ext cx="790523" cy="221197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B0F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8" name="사각형: 둥근 위쪽 모서리 257">
            <a:extLst>
              <a:ext uri="{FF2B5EF4-FFF2-40B4-BE49-F238E27FC236}">
                <a16:creationId xmlns:a16="http://schemas.microsoft.com/office/drawing/2014/main" id="{28D33EED-46D3-B286-4E68-61F15F0C404E}"/>
              </a:ext>
            </a:extLst>
          </p:cNvPr>
          <p:cNvSpPr/>
          <p:nvPr/>
        </p:nvSpPr>
        <p:spPr>
          <a:xfrm>
            <a:off x="2541597" y="8077904"/>
            <a:ext cx="790523" cy="221197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FF000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9" name="사각형: 둥근 위쪽 모서리 258">
            <a:extLst>
              <a:ext uri="{FF2B5EF4-FFF2-40B4-BE49-F238E27FC236}">
                <a16:creationId xmlns:a16="http://schemas.microsoft.com/office/drawing/2014/main" id="{68872C78-4B25-E721-DEDD-C0B2AFBC3732}"/>
              </a:ext>
            </a:extLst>
          </p:cNvPr>
          <p:cNvSpPr/>
          <p:nvPr/>
        </p:nvSpPr>
        <p:spPr>
          <a:xfrm>
            <a:off x="5665797" y="8077904"/>
            <a:ext cx="790523" cy="221197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B0F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0DEFF482-A9F0-3894-C74A-41DF4DA4F550}"/>
              </a:ext>
            </a:extLst>
          </p:cNvPr>
          <p:cNvSpPr/>
          <p:nvPr/>
        </p:nvSpPr>
        <p:spPr>
          <a:xfrm>
            <a:off x="393432" y="8303278"/>
            <a:ext cx="3006196" cy="3497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실태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·CLI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 모두 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INNORIX EX Agent(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OS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 직접 설치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분할병합</a:t>
            </a: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F92C3A73-8FC1-3EA6-E5D6-A2121FC1BE02}"/>
              </a:ext>
            </a:extLst>
          </p:cNvPr>
          <p:cNvSpPr/>
          <p:nvPr/>
        </p:nvSpPr>
        <p:spPr>
          <a:xfrm>
            <a:off x="1513985" y="8625358"/>
            <a:ext cx="1015855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→ 오픈소스 대체</a:t>
            </a:r>
          </a:p>
        </p:txBody>
      </p:sp>
      <p:sp>
        <p:nvSpPr>
          <p:cNvPr id="267" name="사각형: 둥근 위쪽 모서리 266">
            <a:extLst>
              <a:ext uri="{FF2B5EF4-FFF2-40B4-BE49-F238E27FC236}">
                <a16:creationId xmlns:a16="http://schemas.microsoft.com/office/drawing/2014/main" id="{E3B0BD9F-BC73-10B5-CB0F-9F7C4CD06F43}"/>
              </a:ext>
            </a:extLst>
          </p:cNvPr>
          <p:cNvSpPr/>
          <p:nvPr/>
        </p:nvSpPr>
        <p:spPr>
          <a:xfrm>
            <a:off x="703093" y="8630913"/>
            <a:ext cx="788719" cy="18251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1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FR-027</a:t>
            </a: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32BC300-D44B-D32D-2678-76CD2CD32C84}"/>
              </a:ext>
            </a:extLst>
          </p:cNvPr>
          <p:cNvSpPr/>
          <p:nvPr/>
        </p:nvSpPr>
        <p:spPr>
          <a:xfrm>
            <a:off x="393432" y="8632460"/>
            <a:ext cx="3006196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B2BAD9E3-B63C-FAF9-3EAD-85560A003907}"/>
              </a:ext>
            </a:extLst>
          </p:cNvPr>
          <p:cNvSpPr/>
          <p:nvPr/>
        </p:nvSpPr>
        <p:spPr>
          <a:xfrm>
            <a:off x="3536973" y="8303278"/>
            <a:ext cx="3006196" cy="3497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실태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14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분야 분류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필터 제공하나 키워드 매칭 기반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</a:t>
            </a:r>
            <a:b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 탐색 부재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E9E2448D-C711-0B0F-FBA7-6FEA15C064AC}"/>
              </a:ext>
            </a:extLst>
          </p:cNvPr>
          <p:cNvSpPr/>
          <p:nvPr/>
        </p:nvSpPr>
        <p:spPr>
          <a:xfrm>
            <a:off x="4666210" y="8625358"/>
            <a:ext cx="1399310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→ 지능형 검색으로 보완</a:t>
            </a:r>
          </a:p>
        </p:txBody>
      </p:sp>
      <p:sp>
        <p:nvSpPr>
          <p:cNvPr id="271" name="사각형: 둥근 위쪽 모서리 270">
            <a:extLst>
              <a:ext uri="{FF2B5EF4-FFF2-40B4-BE49-F238E27FC236}">
                <a16:creationId xmlns:a16="http://schemas.microsoft.com/office/drawing/2014/main" id="{A4CF453C-CFC6-8406-8AC2-B29898668ACD}"/>
              </a:ext>
            </a:extLst>
          </p:cNvPr>
          <p:cNvSpPr/>
          <p:nvPr/>
        </p:nvSpPr>
        <p:spPr>
          <a:xfrm>
            <a:off x="3855318" y="8630913"/>
            <a:ext cx="788719" cy="18251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1000" spc="-8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FR-011·012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D95DF5D9-D702-EA92-ACDC-21FD013DB576}"/>
              </a:ext>
            </a:extLst>
          </p:cNvPr>
          <p:cNvSpPr/>
          <p:nvPr/>
        </p:nvSpPr>
        <p:spPr>
          <a:xfrm>
            <a:off x="3545657" y="8632460"/>
            <a:ext cx="3006196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91C80A0D-C3C7-16EC-183C-5C535BF7B0B7}"/>
              </a:ext>
            </a:extLst>
          </p:cNvPr>
          <p:cNvSpPr/>
          <p:nvPr/>
        </p:nvSpPr>
        <p:spPr>
          <a:xfrm>
            <a:off x="393432" y="9120076"/>
            <a:ext cx="3006196" cy="3497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실태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3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개방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국방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방송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리더보드 별도 도메인 분산</a:t>
            </a: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B8A771D7-6FFB-3AF0-A868-D47B6ABD31EC}"/>
              </a:ext>
            </a:extLst>
          </p:cNvPr>
          <p:cNvSpPr/>
          <p:nvPr/>
        </p:nvSpPr>
        <p:spPr>
          <a:xfrm>
            <a:off x="2161965" y="9442156"/>
            <a:ext cx="1612670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→ 통합 제공체계로 수렴</a:t>
            </a:r>
          </a:p>
        </p:txBody>
      </p:sp>
      <p:sp>
        <p:nvSpPr>
          <p:cNvPr id="275" name="사각형: 둥근 위쪽 모서리 274">
            <a:extLst>
              <a:ext uri="{FF2B5EF4-FFF2-40B4-BE49-F238E27FC236}">
                <a16:creationId xmlns:a16="http://schemas.microsoft.com/office/drawing/2014/main" id="{D5E6550A-582F-326F-8275-C051B078E0FB}"/>
              </a:ext>
            </a:extLst>
          </p:cNvPr>
          <p:cNvSpPr/>
          <p:nvPr/>
        </p:nvSpPr>
        <p:spPr>
          <a:xfrm>
            <a:off x="703092" y="9447711"/>
            <a:ext cx="1449558" cy="18251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1000" spc="-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DR-020·DTR-006·FR-040</a:t>
            </a:r>
          </a:p>
        </p:txBody>
      </p:sp>
      <p:sp>
        <p:nvSpPr>
          <p:cNvPr id="276" name="직사각형 275">
            <a:extLst>
              <a:ext uri="{FF2B5EF4-FFF2-40B4-BE49-F238E27FC236}">
                <a16:creationId xmlns:a16="http://schemas.microsoft.com/office/drawing/2014/main" id="{524FD230-FE37-3BF9-68CF-685CFC8F3CA6}"/>
              </a:ext>
            </a:extLst>
          </p:cNvPr>
          <p:cNvSpPr/>
          <p:nvPr/>
        </p:nvSpPr>
        <p:spPr>
          <a:xfrm>
            <a:off x="393432" y="9449258"/>
            <a:ext cx="3006196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88C1EE1D-6F12-F305-132D-F07E2F7AE383}"/>
              </a:ext>
            </a:extLst>
          </p:cNvPr>
          <p:cNvSpPr/>
          <p:nvPr/>
        </p:nvSpPr>
        <p:spPr>
          <a:xfrm>
            <a:off x="3536973" y="9120076"/>
            <a:ext cx="3006196" cy="3497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실태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 메타에 출처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제공사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(CC BY-NC)</a:t>
            </a:r>
            <a:b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이용제한 다층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제공자별 정책 상이</a:t>
            </a: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80DF1B74-92AD-9421-F5FA-973BD505630C}"/>
              </a:ext>
            </a:extLst>
          </p:cNvPr>
          <p:cNvSpPr/>
          <p:nvPr/>
        </p:nvSpPr>
        <p:spPr>
          <a:xfrm>
            <a:off x="4901083" y="9442156"/>
            <a:ext cx="1612670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→ 통합 저작권 메타관리로 보완</a:t>
            </a:r>
          </a:p>
        </p:txBody>
      </p:sp>
      <p:sp>
        <p:nvSpPr>
          <p:cNvPr id="279" name="사각형: 둥근 위쪽 모서리 278">
            <a:extLst>
              <a:ext uri="{FF2B5EF4-FFF2-40B4-BE49-F238E27FC236}">
                <a16:creationId xmlns:a16="http://schemas.microsoft.com/office/drawing/2014/main" id="{BB2AA1A5-6BEF-D370-5CA0-27B34CB842F7}"/>
              </a:ext>
            </a:extLst>
          </p:cNvPr>
          <p:cNvSpPr/>
          <p:nvPr/>
        </p:nvSpPr>
        <p:spPr>
          <a:xfrm>
            <a:off x="3855318" y="9447711"/>
            <a:ext cx="1050057" cy="18251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en-US" altLang="ko-KR" sz="1000" spc="-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FR-028·029·030</a:t>
            </a: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33F23187-9EC7-9058-16ED-7F0944DAA119}"/>
              </a:ext>
            </a:extLst>
          </p:cNvPr>
          <p:cNvSpPr/>
          <p:nvPr/>
        </p:nvSpPr>
        <p:spPr>
          <a:xfrm>
            <a:off x="3545657" y="9449258"/>
            <a:ext cx="3006196" cy="21120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marR="0" lvl="1" algn="l" defTabSz="914400" rtl="0" eaLnBrk="0" fontAlgn="base" latinLnBrk="0" hangingPunct="0">
              <a:spcBef>
                <a:spcPct val="0"/>
              </a:spcBef>
              <a:spcAft>
                <a:spcPts val="300"/>
              </a:spcAft>
              <a:buClrTx/>
              <a:buSzPct val="100000"/>
              <a:tabLst>
                <a:tab pos="5648325" algn="l"/>
              </a:tabLst>
              <a:defRPr/>
            </a:pPr>
            <a:r>
              <a:rPr kumimoji="1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endParaRPr kumimoji="1" lang="ko-KR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35476360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55D89-021D-CC0F-7F66-8372E1CE69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AA448AC-46F7-9026-BEAB-D9C58E93660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4CD8367-9706-A448-A901-C8546534132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ABEF62C-D7D9-B940-ECE3-57C94E46836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현행 기능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-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연계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(2/3)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72FE32-2218-415C-7F9F-0FAF812C904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CF4A3CC-3A30-7706-15A4-3EB4A527D1C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서비스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탐색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평가를 담당하는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서비스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은 검증 자산 계승이 견고하며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 전송솔루션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(INNORIX)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오픈소스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 최우선 전환 과제로 도출됨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6AC5DCD-1144-CBF2-A094-D06B1304BC6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D666599-AD02-F603-E90D-F18F10538C3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현행기능 및 요구사항 연계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3940DFCA-FC03-E097-0AD4-5AEA189ADCD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OR-010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0EFC2AE0-C2DA-44FC-A4AD-79400D4EE454}"/>
              </a:ext>
            </a:extLst>
          </p:cNvPr>
          <p:cNvSpPr/>
          <p:nvPr/>
        </p:nvSpPr>
        <p:spPr bwMode="gray">
          <a:xfrm>
            <a:off x="279755" y="2648141"/>
            <a:ext cx="6330754" cy="7067360"/>
          </a:xfrm>
          <a:prstGeom prst="roundRect">
            <a:avLst>
              <a:gd name="adj" fmla="val 0"/>
            </a:avLst>
          </a:prstGeom>
          <a:solidFill>
            <a:sysClr val="window" lastClr="FFFFFF"/>
          </a:solidFill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18000" tIns="18000" rIns="18000" bIns="1800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A4A9253-637F-E246-8418-91AB086AE867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3135266"/>
          <a:ext cx="5424039" cy="1514049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8541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52991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찾기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- 14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분야 분류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추천검색어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해시태그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조회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다운수 노출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 필터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매칭 기반 검색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1.1.2 Hugging Face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수준의 의미기반 검색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추천으로 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FR-011·012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52991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상세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상세화면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블록</a:t>
                      </a:r>
                      <a:b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개요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메타구조표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교육영상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저작도구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b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어노테이션 포맷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구축업체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변경이력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성능지표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기준값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vs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측정값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-7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메타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품질정보 카탈로그로 계승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DR-014·FR-025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2688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기관제공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 제공 데이터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데이터 플랫폼 서브메뉴</a:t>
                      </a:r>
                      <a:r>
                        <a:rPr lang="en-US" altLang="ko-KR" sz="800" kern="1200" spc="-7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aihubshell(CLI) datasetkey/filekey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체계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확대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FR-013·015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260123"/>
                  </a:ext>
                </a:extLst>
              </a:tr>
            </a:tbl>
          </a:graphicData>
        </a:graphic>
      </p:graphicFrame>
      <p:sp>
        <p:nvSpPr>
          <p:cNvPr id="12" name="사각형: 둥근 위쪽 모서리 11">
            <a:extLst>
              <a:ext uri="{FF2B5EF4-FFF2-40B4-BE49-F238E27FC236}">
                <a16:creationId xmlns:a16="http://schemas.microsoft.com/office/drawing/2014/main" id="{1C62BEC2-C73E-AB18-509B-3042C0F6018A}"/>
              </a:ext>
            </a:extLst>
          </p:cNvPr>
          <p:cNvSpPr/>
          <p:nvPr/>
        </p:nvSpPr>
        <p:spPr>
          <a:xfrm>
            <a:off x="335012" y="3135266"/>
            <a:ext cx="769004" cy="151404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찾기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689E1E7-986C-D3A3-5C2E-C9B4703DE2DD}"/>
              </a:ext>
            </a:extLst>
          </p:cNvPr>
          <p:cNvSpPr/>
          <p:nvPr/>
        </p:nvSpPr>
        <p:spPr>
          <a:xfrm>
            <a:off x="335011" y="4672763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탐색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 화면은 메타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성능정보를 이미 상당 보유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(→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계승 근거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하나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검색이 키워드 매칭에 머물러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1.1.3 '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지능형 카탈로그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방향성에 따라 의미검색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(FR-012)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 고도화가 필요함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223CFA6-7A15-CBEA-5A6F-2C14A071733A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5098513"/>
          <a:ext cx="5424039" cy="1600938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8541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52991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워크플로우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신청목적 선택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이용정책 필수동의 →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접수완료→승인완료→자동승인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반려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후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 유효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재승인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PC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내국인만 이용 가능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승인체계 계승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절차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기간 정책 개선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FR-001·002,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OR-010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52991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전송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·aihubshell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모두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INNORIX EX Agent(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sftp.aihub.or.kr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경유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OS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(Win/Mac/Ubuntu 18·20·22)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직접 설치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b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 실패 시 삭제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재설치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분할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병합</a:t>
                      </a:r>
                      <a:endParaRPr lang="ko-KR" altLang="en-US" sz="800" kern="1200" spc="-7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오픈소스 기반 대용량 전송으로 대체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전송상태 자체 구현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 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2688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미리보기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별도 제공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마스킹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 없이 설명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저작도구 이용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미리보기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경량본 제공 계승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260123"/>
                  </a:ext>
                </a:extLst>
              </a:tr>
            </a:tbl>
          </a:graphicData>
        </a:graphic>
      </p:graphicFrame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D4FC6B59-A7D1-9156-3CC8-D4A38F84B8A1}"/>
              </a:ext>
            </a:extLst>
          </p:cNvPr>
          <p:cNvSpPr/>
          <p:nvPr/>
        </p:nvSpPr>
        <p:spPr>
          <a:xfrm>
            <a:off x="335012" y="5098513"/>
            <a:ext cx="769004" cy="1600938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제공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C20980D-00D7-29E8-73FE-8ECAE5FBC3D6}"/>
              </a:ext>
            </a:extLst>
          </p:cNvPr>
          <p:cNvSpPr/>
          <p:nvPr/>
        </p:nvSpPr>
        <p:spPr>
          <a:xfrm>
            <a:off x="335011" y="6735475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 전송은 상용 솔루션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(INNORIX)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전면 종속되어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COR-001(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상용솔루션 종속 배제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실물 대상이자 본 사업 최우선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과제임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 FR-027(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링크 연계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 주 요구사항이며 외부제공 관점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(FR-014)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 연계됨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9DE07292-992B-9B09-F433-A29A946B63E6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7180275"/>
          <a:ext cx="5424039" cy="1041000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4752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42160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온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오프라인 안심존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반출없는 분석환경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온라인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워터마크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오프라인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대구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NIA,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의료 민감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GPU(V100 32GB)·CPU(8vCPU/64GB)·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로컬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500GB·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1TB,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주피터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환경제공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통합시스템 내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안심구역으로 이관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DR-020,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31773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모델반출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AI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허브↔안심존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연동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IRB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보안서약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연구계획서 → 심사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최대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b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→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반출 신청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·NIA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검토</a:t>
                      </a:r>
                      <a:endParaRPr lang="ko-KR" altLang="en-US" sz="800" kern="1200" spc="-7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인증연동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 절차 계승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</a:tbl>
          </a:graphicData>
        </a:graphic>
      </p:graphicFrame>
      <p:sp>
        <p:nvSpPr>
          <p:cNvPr id="26" name="사각형: 둥근 위쪽 모서리 25">
            <a:extLst>
              <a:ext uri="{FF2B5EF4-FFF2-40B4-BE49-F238E27FC236}">
                <a16:creationId xmlns:a16="http://schemas.microsoft.com/office/drawing/2014/main" id="{2DD8878D-D315-30C4-7984-0C0147CA0AC3}"/>
              </a:ext>
            </a:extLst>
          </p:cNvPr>
          <p:cNvSpPr/>
          <p:nvPr/>
        </p:nvSpPr>
        <p:spPr>
          <a:xfrm>
            <a:off x="335012" y="7180275"/>
            <a:ext cx="769004" cy="1041000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안심존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분석환경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1151C1E6-2857-EDD4-45F6-11730EB0ED27}"/>
              </a:ext>
            </a:extLst>
          </p:cNvPr>
          <p:cNvSpPr/>
          <p:nvPr/>
        </p:nvSpPr>
        <p:spPr>
          <a:xfrm>
            <a:off x="335011" y="8257299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3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안심존은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민감데이터 보호를 위한 검증된 물리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논리 분리 환경으로 그대로 이관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계승함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별도 포털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en-US" altLang="ko-KR" sz="1100" spc="-3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safezone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중이므로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1.1.3 '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유통망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방향성에 따라 통합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UX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설계가 후속 과제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F5ED4D1B-0737-DDFA-EEF2-B6C86EF1D4EB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8695047"/>
          <a:ext cx="5424039" cy="546120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3049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810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K-AI Leaderboard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NIA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 비공개 평가셋으로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LLM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성능평가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업로드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·SSO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및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도메인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하위 경진대회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벤치마크셋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통합제공시스템 내 서비스로 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FR-040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</a:tbl>
          </a:graphicData>
        </a:graphic>
      </p:graphicFrame>
      <p:sp>
        <p:nvSpPr>
          <p:cNvPr id="29" name="사각형: 둥근 위쪽 모서리 28">
            <a:extLst>
              <a:ext uri="{FF2B5EF4-FFF2-40B4-BE49-F238E27FC236}">
                <a16:creationId xmlns:a16="http://schemas.microsoft.com/office/drawing/2014/main" id="{A36AF426-4037-6860-0C04-0C321F4BF409}"/>
              </a:ext>
            </a:extLst>
          </p:cNvPr>
          <p:cNvSpPr/>
          <p:nvPr/>
        </p:nvSpPr>
        <p:spPr>
          <a:xfrm>
            <a:off x="335012" y="8695047"/>
            <a:ext cx="769004" cy="546120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리더보드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spcBef>
                <a:spcPts val="600"/>
              </a:spcBef>
            </a:pP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 평가</a:t>
            </a:r>
            <a:r>
              <a:rPr lang="en-US" altLang="ko-KR" sz="9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8005262-4EC0-D2FA-4F93-C07AF2E6F36B}"/>
              </a:ext>
            </a:extLst>
          </p:cNvPr>
          <p:cNvSpPr/>
          <p:nvPr/>
        </p:nvSpPr>
        <p:spPr>
          <a:xfrm>
            <a:off x="335011" y="9265322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리더보드는 신규 구축이 아닌 현행 시범운영 서비스의 통합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과업 중복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과대 산정 방지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).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비공개 평가셋은 벤치마크 오염 방지 설계로 계승 가치 높음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09F1268-5640-628C-0243-833D7A4E3712}"/>
              </a:ext>
            </a:extLst>
          </p:cNvPr>
          <p:cNvSpPr/>
          <p:nvPr/>
        </p:nvSpPr>
        <p:spPr>
          <a:xfrm>
            <a:off x="316309" y="263027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전방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기능군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데이터찾기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리더보드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세부기능 단위 진단 →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사상 → 이관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교체 범위 확정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42227305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C5C78B-8BE0-EF12-2D0C-D0DD63F8F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7712F49-9CFD-DDE4-66C1-525C28B0288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462270F-8017-6E7C-F431-6AC3A0173F1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1EEF710-C321-4FF3-8AAC-5E76116275A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현행 기능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-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요구사항 연계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(3/3)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F2229BF-9C3D-D8D9-88EC-AE25101F417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48E800E-204F-0074-17CB-DE30778F14B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계정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개발지원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고객지원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마이페이지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인증으로 구성된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은 개인 작업공간의 워크스페이스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 회원유형의 인증활용계정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체계화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 핵심이며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(Admin)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영역은 착수 후 협의로 확정함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3FA0DA7-BD33-BA4C-7290-685B1E4F8FD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47D3279-B129-6888-59F4-BCD8130B3D1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현행기능 및 요구사항 연계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8868D1F8-386D-38FB-83D8-7D523C3EBD52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OR-010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F3E7AA97-F19C-3C68-2EC4-2C30530E6F71}"/>
              </a:ext>
            </a:extLst>
          </p:cNvPr>
          <p:cNvSpPr/>
          <p:nvPr/>
        </p:nvSpPr>
        <p:spPr bwMode="gray">
          <a:xfrm>
            <a:off x="279755" y="2648140"/>
            <a:ext cx="6330754" cy="7088711"/>
          </a:xfrm>
          <a:prstGeom prst="roundRect">
            <a:avLst>
              <a:gd name="adj" fmla="val 0"/>
            </a:avLst>
          </a:prstGeom>
          <a:solidFill>
            <a:sysClr val="window" lastClr="FFFFFF"/>
          </a:solidFill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18000" tIns="18000" rIns="18000" bIns="1800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spc="0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546CB0-923B-4AFC-2797-8210804279F7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3135266"/>
          <a:ext cx="5424039" cy="869354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6104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346869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거래소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 데이터 거래소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(RDPLINE·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플리토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크라우드웍스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셀렉트스타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이메일 등록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제공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통합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내외부 유통망으로 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FR-025·026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32323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·API·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바우처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·SW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AI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컴퓨팅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초거대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API·AI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바우처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·AI S/W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(ETRI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</a:t>
                      </a:r>
                      <a:endParaRPr lang="ko-KR" altLang="en-US" sz="800" kern="1200" spc="-7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자원지원 체계 연계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FR-032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</a:tbl>
          </a:graphicData>
        </a:graphic>
      </p:graphicFrame>
      <p:sp>
        <p:nvSpPr>
          <p:cNvPr id="12" name="사각형: 둥근 위쪽 모서리 11">
            <a:extLst>
              <a:ext uri="{FF2B5EF4-FFF2-40B4-BE49-F238E27FC236}">
                <a16:creationId xmlns:a16="http://schemas.microsoft.com/office/drawing/2014/main" id="{B91139BD-8F16-C9FF-F43B-9EB609A9D124}"/>
              </a:ext>
            </a:extLst>
          </p:cNvPr>
          <p:cNvSpPr/>
          <p:nvPr/>
        </p:nvSpPr>
        <p:spPr>
          <a:xfrm>
            <a:off x="335012" y="3135267"/>
            <a:ext cx="769004" cy="869354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개발지원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E49DBE5-7D7E-FC34-969B-82CE9623550D}"/>
              </a:ext>
            </a:extLst>
          </p:cNvPr>
          <p:cNvSpPr/>
          <p:nvPr/>
        </p:nvSpPr>
        <p:spPr>
          <a:xfrm>
            <a:off x="335011" y="4026159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거래소는 현재 민간 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종을 개별 연계하는 수준으로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1.1.3 '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내외부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데이터 통합 유통망</a:t>
            </a:r>
            <a:r>
              <a:rPr kumimoji="0" lang="en-US" altLang="ko-KR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 </a:t>
            </a:r>
            <a:r>
              <a:rPr kumimoji="0" lang="ko-KR" altLang="en-US" sz="11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방향성에 따라 통합 카탈로그로 수렴함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E574169-183A-296B-65A2-019BBED6CEF4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4476818"/>
          <a:ext cx="5424039" cy="584739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5455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60539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우수사례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공지사항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활용성과 우수사례 게시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 채널 계승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OR-005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22406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품질가이드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 가이드라인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v1.0~v4.0(2021~2026.2) </a:t>
                      </a:r>
                      <a:b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 제공</a:t>
                      </a:r>
                      <a:endParaRPr lang="ko-KR" altLang="en-US" sz="800" kern="1200" spc="-7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현황관리 체계로 계승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FR-006·007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</a:tbl>
          </a:graphicData>
        </a:graphic>
      </p:graphicFrame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F645012B-F1C5-860E-FCE7-8D1CA656CDBC}"/>
              </a:ext>
            </a:extLst>
          </p:cNvPr>
          <p:cNvSpPr/>
          <p:nvPr/>
        </p:nvSpPr>
        <p:spPr>
          <a:xfrm>
            <a:off x="335012" y="4476817"/>
            <a:ext cx="769004" cy="584740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커뮤니티</a:t>
            </a:r>
            <a:endParaRPr lang="en-US" altLang="ko-KR" sz="11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61BAC14-D81E-151B-10A9-D9D3F4EB5209}"/>
              </a:ext>
            </a:extLst>
          </p:cNvPr>
          <p:cNvSpPr/>
          <p:nvPr/>
        </p:nvSpPr>
        <p:spPr>
          <a:xfrm>
            <a:off x="335011" y="5085712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품질가이드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(v4.0)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는 검증된 품질기준 자산으로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</a:t>
            </a:r>
            <a:r>
              <a:rPr lang="ko-KR" altLang="en-US" sz="1100" spc="-3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(FR-006)·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품질현황관리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(FR-007)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기능의 기준 문서로 계승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9174AFF0-9681-11FA-5DE0-21068E84D5C6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5532779"/>
          <a:ext cx="5424039" cy="675240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3362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72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·FAQ·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민원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1:1 문의·자주찾는질문·민원접수(개인정보신고)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고객지원 채널 계승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DR-020,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9372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등록신청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AI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등록신청 접수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실태 수집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등록후보관리 고도화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대시보드화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</a:tbl>
          </a:graphicData>
        </a:graphic>
      </p:graphicFrame>
      <p:sp>
        <p:nvSpPr>
          <p:cNvPr id="26" name="사각형: 둥근 위쪽 모서리 25">
            <a:extLst>
              <a:ext uri="{FF2B5EF4-FFF2-40B4-BE49-F238E27FC236}">
                <a16:creationId xmlns:a16="http://schemas.microsoft.com/office/drawing/2014/main" id="{AD2ED080-71F5-2F84-716E-0049270F0BAC}"/>
              </a:ext>
            </a:extLst>
          </p:cNvPr>
          <p:cNvSpPr/>
          <p:nvPr/>
        </p:nvSpPr>
        <p:spPr>
          <a:xfrm>
            <a:off x="335012" y="5532779"/>
            <a:ext cx="769004" cy="672437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고객지원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1FD1D8AF-3B45-E0FB-91CD-744A2C47C79A}"/>
              </a:ext>
            </a:extLst>
          </p:cNvPr>
          <p:cNvSpPr/>
          <p:nvPr/>
        </p:nvSpPr>
        <p:spPr>
          <a:xfrm>
            <a:off x="335011" y="6229371"/>
            <a:ext cx="6224166" cy="209529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성과조사 결과는 현재 수집에 머물러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로그분석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 대시보드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(FR-018)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자동 집계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9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시각화하여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활용성과를 상시 관리함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2D86F783-DF9A-ABB9-6174-5F48E340D22C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8125438"/>
          <a:ext cx="5424039" cy="454215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3049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810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(SSO)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이메일 로그인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캡차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계정잠금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네이버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카카오 간편로그인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(SSO)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통합제공시스템 내 서비스로 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FR-040·DR-024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</a:tbl>
          </a:graphicData>
        </a:graphic>
      </p:graphicFrame>
      <p:sp>
        <p:nvSpPr>
          <p:cNvPr id="29" name="사각형: 둥근 위쪽 모서리 28">
            <a:extLst>
              <a:ext uri="{FF2B5EF4-FFF2-40B4-BE49-F238E27FC236}">
                <a16:creationId xmlns:a16="http://schemas.microsoft.com/office/drawing/2014/main" id="{D8AFD2D8-3758-B93F-0C62-98CF787CF284}"/>
              </a:ext>
            </a:extLst>
          </p:cNvPr>
          <p:cNvSpPr/>
          <p:nvPr/>
        </p:nvSpPr>
        <p:spPr>
          <a:xfrm>
            <a:off x="335012" y="8125438"/>
            <a:ext cx="769004" cy="454215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4C29F4A-C886-048C-C37D-0A1625A1AF85}"/>
              </a:ext>
            </a:extLst>
          </p:cNvPr>
          <p:cNvSpPr/>
          <p:nvPr/>
        </p:nvSpPr>
        <p:spPr>
          <a:xfrm>
            <a:off x="316309" y="263027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후방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기능군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개발지원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커뮤니티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고객지원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마이페이지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세부기능 단위를 진단하고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 확인하여 확장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체계화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협의확정 범위 도출함</a:t>
            </a:r>
            <a:endParaRPr kumimoji="1" lang="ko-KR" altLang="en-US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7E24E54-D733-39CD-9D5A-38B30D66527F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6494790"/>
          <a:ext cx="5424039" cy="1170120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5889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34223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이용현황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관심데이터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이용현황 대시보드 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</a:t>
                      </a:r>
                      <a:b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관심등록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데이터신청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신규제안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맞춤추천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관심데이터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북마크</a:t>
                      </a:r>
                      <a:r>
                        <a:rPr lang="en-US" altLang="ko-KR" sz="800"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 대시보드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활용지원 계승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FR-009·016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34223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 관리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 조회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데이터신청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다운로드목록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b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등록신청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/1:1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개인정보신고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 내역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   </a:t>
                      </a:r>
                    </a:p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=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 작업이력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 작업공간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→ 워크스페이스로 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FR-008·009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230359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회원정보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회원유형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대기업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중소기업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대학교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b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정부공공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연구기관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인증활용계정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활용추적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체계로 체계화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161662"/>
                  </a:ext>
                </a:extLst>
              </a:tr>
            </a:tbl>
          </a:graphicData>
        </a:graphic>
      </p:graphicFrame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7794072F-FE5D-19E0-1BCC-B6BAD516498A}"/>
              </a:ext>
            </a:extLst>
          </p:cNvPr>
          <p:cNvSpPr/>
          <p:nvPr/>
        </p:nvSpPr>
        <p:spPr>
          <a:xfrm>
            <a:off x="335012" y="6494790"/>
            <a:ext cx="769004" cy="1170120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마이페이지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60C4D12-8CCE-9120-0E96-447B9F0AAD80}"/>
              </a:ext>
            </a:extLst>
          </p:cNvPr>
          <p:cNvSpPr/>
          <p:nvPr/>
        </p:nvSpPr>
        <p:spPr>
          <a:xfrm>
            <a:off x="335011" y="7689065"/>
            <a:ext cx="6224166" cy="389726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마이페이지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이용현황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신청이력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종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는 사실상 워크스페이스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(FR-008·009)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원형으로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완전 신규가 아닌 확장 과제이며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회원유형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7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종은 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DR-024(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인증활용 계정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추적</a:t>
            </a:r>
            <a:r>
              <a:rPr lang="en-US" altLang="ko-KR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100" spc="-3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현행 기반으로 수행함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4A51766-A63F-5505-6750-D6CEB697E80A}"/>
              </a:ext>
            </a:extLst>
          </p:cNvPr>
          <p:cNvSpPr/>
          <p:nvPr/>
        </p:nvSpPr>
        <p:spPr>
          <a:xfrm>
            <a:off x="335011" y="8593462"/>
            <a:ext cx="6224166" cy="209529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간편로그인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네이버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카카오 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SSO)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은 이미 운영 중으로 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FR-040(SSO 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현행 기반이며 유지 및 보완으로 진행함</a:t>
            </a: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68EACFDB-1CE5-3B05-1BB8-17922204D269}"/>
              </a:ext>
            </a:extLst>
          </p:cNvPr>
          <p:cNvGraphicFramePr>
            <a:graphicFrameLocks noGrp="1"/>
          </p:cNvGraphicFramePr>
          <p:nvPr/>
        </p:nvGraphicFramePr>
        <p:xfrm>
          <a:off x="1135138" y="8850807"/>
          <a:ext cx="5424039" cy="454215"/>
        </p:xfrm>
        <a:graphic>
          <a:graphicData uri="http://schemas.openxmlformats.org/drawingml/2006/table">
            <a:tbl>
              <a:tblPr/>
              <a:tblGrid>
                <a:gridCol w="69011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3237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444253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794122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463177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3049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실태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근거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방향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810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운영자 기능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게시물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관리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운영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 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기능 자세한 사항은 범위 협의 필요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협의 후 확정 진행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OR-010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</a:tbl>
          </a:graphicData>
        </a:graphic>
      </p:graphicFrame>
      <p:sp>
        <p:nvSpPr>
          <p:cNvPr id="35" name="사각형: 둥근 위쪽 모서리 34">
            <a:extLst>
              <a:ext uri="{FF2B5EF4-FFF2-40B4-BE49-F238E27FC236}">
                <a16:creationId xmlns:a16="http://schemas.microsoft.com/office/drawing/2014/main" id="{EB433E16-2452-C51D-1D2A-B5BE071C564D}"/>
              </a:ext>
            </a:extLst>
          </p:cNvPr>
          <p:cNvSpPr/>
          <p:nvPr/>
        </p:nvSpPr>
        <p:spPr>
          <a:xfrm>
            <a:off x="335012" y="8850807"/>
            <a:ext cx="769004" cy="454215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206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운영자 </a:t>
            </a:r>
            <a:r>
              <a:rPr lang="en-US" altLang="ko-KR" sz="11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(Admin)</a:t>
            </a:r>
            <a:endParaRPr lang="en-US" altLang="ko-KR" sz="9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B5C5DB5-8261-1141-DE79-A0FC7CBF4A87}"/>
              </a:ext>
            </a:extLst>
          </p:cNvPr>
          <p:cNvSpPr/>
          <p:nvPr/>
        </p:nvSpPr>
        <p:spPr>
          <a:xfrm>
            <a:off x="335011" y="9318831"/>
            <a:ext cx="6224166" cy="379920"/>
          </a:xfrm>
          <a:prstGeom prst="rect">
            <a:avLst/>
          </a:prstGeom>
          <a:solidFill>
            <a:schemeClr val="bg1"/>
          </a:solidFill>
          <a:ln>
            <a:solidFill>
              <a:schemeClr val="accent5">
                <a:lumMod val="75000"/>
              </a:schemeClr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defTabSz="914400">
              <a:lnSpc>
                <a:spcPct val="120000"/>
              </a:lnSpc>
              <a:spcBef>
                <a:spcPts val="400"/>
              </a:spcBef>
              <a:defRPr/>
            </a:pP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운영자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(Admin) 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영역은 외부 미노출로 입찰단계 직접 확인 불가하나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1.1.4 REQ-003(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 통제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)·REQ-004(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실시간 모니터링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이미 </a:t>
            </a:r>
            <a:r>
              <a:rPr lang="ko-KR" altLang="en-US" sz="1100" spc="-9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요구사항화됨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. RFP(FR-034~039) 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 식별 후 착수 시 인수인계</a:t>
            </a:r>
            <a:r>
              <a:rPr lang="en-US" altLang="ko-KR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spc="-9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발주처 협의로 상세 확정</a:t>
            </a:r>
          </a:p>
        </p:txBody>
      </p:sp>
    </p:spTree>
    <p:extLst>
      <p:ext uri="{BB962C8B-B14F-4D97-AF65-F5344CB8AC3E}">
        <p14:creationId xmlns:p14="http://schemas.microsoft.com/office/powerpoint/2010/main" val="386715624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8FAAAE-3D9F-5CDC-AA3F-DA90526DA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CFDD3A3-E4A1-C31F-142C-5D02929EB22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8AAA0FA-E4D0-485A-A81D-17957D2327E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372BEA7-4FC1-4244-E622-6FD4B7AC119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전환 유형 구분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5E7AFCD-62D0-D8BF-6A4D-6D6635FBE0A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B981A94-7216-20F3-07C6-00451147337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전환 유형 판정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1.2.1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‘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 연계 결과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’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판정 지표로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재검증하여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건의 유지 항목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9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건의 보완 항목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건의 대체 항목으로 전환 유형으로 확정하고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전환 원칙과 판정 근거를 정립함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DFBEE7C-B1E3-EEC5-6557-B9ED70B68D9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68D6A69-13A5-91A4-3B6C-0F15103EAB2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 판정 및 판정결과 활용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2D3A3D6-237E-B177-8467-69E5C0431EA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DR-018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5572E530-C9E9-4D8F-C0EA-42A3384EAB2A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FCD5511-F7F2-F958-9BA6-3602F946F453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1.2.1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에서 도출한 현행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 세부기능의 전환 방향을 담당자 주관이 아닌 객관적 판정 지표로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전환 유형을 확정하고 후속 단계별 구축전략의 입력자료로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정합함</a:t>
            </a:r>
            <a:endParaRPr kumimoji="1" lang="en-US" altLang="ko-KR" sz="12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 판정 결과는 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1.1.4 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요구사항 추적표의 반영상태 열과 연동하여 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25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 세부기능이 누락 없이 관리되도록 함</a:t>
            </a:r>
            <a:endParaRPr kumimoji="1" lang="en-US" altLang="ko-KR" sz="11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판정의 일관성 확보를 위해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지표를 조합한 판정 규칙을 사전 정의하고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경계 사례는 이해관계자 협의체가 조정함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FB815DD-35BA-49BC-9615-9629C6DBE2BB}"/>
              </a:ext>
            </a:extLst>
          </p:cNvPr>
          <p:cNvSpPr/>
          <p:nvPr/>
        </p:nvSpPr>
        <p:spPr>
          <a:xfrm>
            <a:off x="316309" y="3690142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판정 지표 정의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기능과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요구수준의 격차를 다면 평가하기 위해 기능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존속성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 충족도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 종속성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구현 난이도의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지표를 적용함</a:t>
            </a:r>
            <a:endParaRPr kumimoji="1" lang="ko-KR" altLang="en-US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8AD8A3A1-9D7E-29DA-C26F-39F2B7630D5B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430176"/>
          <a:ext cx="6162548" cy="1112520"/>
        </p:xfrm>
        <a:graphic>
          <a:graphicData uri="http://schemas.openxmlformats.org/drawingml/2006/table">
            <a:tbl>
              <a:tblPr/>
              <a:tblGrid>
                <a:gridCol w="10793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48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5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4755"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지표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1" hangingPunct="1">
                        <a:buNone/>
                      </a:pPr>
                      <a:r>
                        <a:rPr lang="ko-KR" altLang="en-US" sz="11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평가 관점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21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존속석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기능이 신규 통합시스템에서도 필요한지에 대한 정도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존속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1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 충족도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기능이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요구수준을 만족하는 정도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부분충족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1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 종속성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상용솔루션 등 기술 제약을 유발하는지에 대한 정도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280011"/>
                  </a:ext>
                </a:extLst>
              </a:tr>
              <a:tr h="1521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구현 난이도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전환에 소요되는 기술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공수 부담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628919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2267BC2C-D5B6-31C6-8FA2-4E9E7D40B359}"/>
              </a:ext>
            </a:extLst>
          </p:cNvPr>
          <p:cNvSpPr txBox="1"/>
          <p:nvPr/>
        </p:nvSpPr>
        <p:spPr>
          <a:xfrm>
            <a:off x="1078416" y="415889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전환 유형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판정 지표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EDB4BB-C875-DF54-A5B5-174156FFE664}"/>
              </a:ext>
            </a:extLst>
          </p:cNvPr>
          <p:cNvSpPr/>
          <p:nvPr/>
        </p:nvSpPr>
        <p:spPr>
          <a:xfrm>
            <a:off x="316309" y="5509691"/>
            <a:ext cx="6286697" cy="2204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※ 4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지표는 독립 평가 후 조합하여 유형을 판정하며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③ 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 종속성이 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)'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 경우 요구 충족도와 무관하게 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우선 검토함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종속 해소 원칙</a:t>
            </a:r>
            <a:r>
              <a:rPr kumimoji="1" lang="en-US" altLang="ko-KR" sz="8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endParaRPr kumimoji="1" lang="ko-KR" altLang="en-US" sz="8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C77452A-8801-D35D-B97D-5DC7860ECED7}"/>
              </a:ext>
            </a:extLst>
          </p:cNvPr>
          <p:cNvSpPr/>
          <p:nvPr/>
        </p:nvSpPr>
        <p:spPr>
          <a:xfrm>
            <a:off x="316309" y="575743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전환 유형 및 판정 규칙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지표의 조합에 따라 유지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유형으로 구분하여 세부기능 항목을 분류함</a:t>
            </a:r>
            <a:endParaRPr kumimoji="1" lang="ko-KR" altLang="en-US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3630F395-3F45-B7D1-3C2A-C5D5F22FBF63}"/>
              </a:ext>
            </a:extLst>
          </p:cNvPr>
          <p:cNvGraphicFramePr>
            <a:graphicFrameLocks noGrp="1"/>
          </p:cNvGraphicFramePr>
          <p:nvPr/>
        </p:nvGraphicFramePr>
        <p:xfrm>
          <a:off x="339775" y="6473117"/>
          <a:ext cx="6162626" cy="889435"/>
        </p:xfrm>
        <a:graphic>
          <a:graphicData uri="http://schemas.openxmlformats.org/drawingml/2006/table">
            <a:tbl>
              <a:tblPr/>
              <a:tblGrid>
                <a:gridCol w="857294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598644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219325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487363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</a:tblGrid>
              <a:tr h="27477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규칙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 조합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원칙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건수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048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존속성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있음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충족도 충족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종속성 없음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자산을 원형 계승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설정 이관 중심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2048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존속성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있음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충족도 부분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미달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난이도 중간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기반 위에 요구기능 고도화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2048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종속성 있음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또는 충족도 미달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난이도 높음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방식 폐기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방식으로 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재구현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161662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EA879040-2931-8EE0-36C6-FBDC41B380E7}"/>
              </a:ext>
            </a:extLst>
          </p:cNvPr>
          <p:cNvSpPr txBox="1"/>
          <p:nvPr/>
        </p:nvSpPr>
        <p:spPr>
          <a:xfrm>
            <a:off x="1078416" y="621001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3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전환 유형 판정 규칙 및 전환 원칙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52A8E07-2114-F061-1E4F-E33C6687F1ED}"/>
              </a:ext>
            </a:extLst>
          </p:cNvPr>
          <p:cNvSpPr/>
          <p:nvPr/>
        </p:nvSpPr>
        <p:spPr>
          <a:xfrm>
            <a:off x="316309" y="743838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대상 기능 판정 결과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세부기능의 유형별 판정 결과를 정리하면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유지는 검증된 인프라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평가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 자산에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보완은 탐색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 고도화 영역에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대체는 상용 종속 전송 영역에 집중됨</a:t>
            </a:r>
            <a:endParaRPr kumimoji="1" lang="ko-KR" altLang="en-US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F0D5AA88-6B68-5E1E-2705-25C3E03FC179}"/>
              </a:ext>
            </a:extLst>
          </p:cNvPr>
          <p:cNvGraphicFramePr>
            <a:graphicFrameLocks noGrp="1"/>
          </p:cNvGraphicFramePr>
          <p:nvPr/>
        </p:nvGraphicFramePr>
        <p:xfrm>
          <a:off x="339775" y="8151514"/>
          <a:ext cx="6162625" cy="1027891"/>
        </p:xfrm>
        <a:graphic>
          <a:graphicData uri="http://schemas.openxmlformats.org/drawingml/2006/table">
            <a:tbl>
              <a:tblPr/>
              <a:tblGrid>
                <a:gridCol w="930914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3644211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587500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7477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규칙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 조합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원칙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048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(14)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(V100 GPU)·SSO·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모델반출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 평가체계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14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분야 분류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미리보기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품질가이드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·FAQ·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민원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요구수준 충족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 종속 無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완료 자산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2048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(9)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상세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기관제공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워크플로우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거래소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등록신청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이용현황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관심데이터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회원정보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인증활용계정</a:t>
                      </a:r>
                      <a:r>
                        <a:rPr lang="en-US" altLang="ko-KR" sz="800" kern="1200" spc="-2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-2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존재하나 요구수준 부분충족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미달 → 고도화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2048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(2)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전송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(INNORIX),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프로그램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(INNORIX)</a:t>
                      </a:r>
                      <a:endParaRPr lang="ko-KR" altLang="en-US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상용솔루션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(INNORIX EX Agent)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전면 종속 → 오픈소스 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재구현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9161662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E74B9644-2364-DAB0-5AA0-C5A187C218A2}"/>
              </a:ext>
            </a:extLst>
          </p:cNvPr>
          <p:cNvSpPr txBox="1"/>
          <p:nvPr/>
        </p:nvSpPr>
        <p:spPr>
          <a:xfrm>
            <a:off x="1078416" y="788841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대상 기능 판정 결과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DE92560A-55F9-D0D7-2C99-939A64881B2C}"/>
              </a:ext>
            </a:extLst>
          </p:cNvPr>
          <p:cNvSpPr/>
          <p:nvPr/>
        </p:nvSpPr>
        <p:spPr>
          <a:xfrm>
            <a:off x="316309" y="919941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유형 판정의 중점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건은 모두 상용 전송솔루션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(INNORIX EX Agent)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기인하며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 종속성 지표가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)'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판정되어 요구 충족도와 무관하게 최우선 전환 대상으로 확정됨</a:t>
            </a:r>
            <a:endParaRPr kumimoji="1" lang="ko-KR" altLang="en-US" sz="1100" b="1" spc="-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13570411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28CC8B-7325-0ED0-F9DE-C3E4367AC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CF24E9C-7F08-4591-3586-5E4118B6DB7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30A9B1A-FF10-4DA5-B37B-E8734433D06D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FCC1660-CDA8-7884-B02B-AF3606BBB1F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전환 유형 구분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E8E6C01-0088-8305-71EA-C80F535B603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018A735-8AF5-1689-7517-863AAB4AE33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구축전략 배치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확정된 전환 유형을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필수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·2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고도화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장기 확장의 단계별 구축전략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(DR-018)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배치하고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증가에 대응하는 확장 포인트를 유형별로 명시하여 예산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리스크 대응형 전환 로드맵을 확정함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6316757B-3F5F-C35A-7787-AF78218A0C4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FC7A901-1550-5F5D-83F6-207363B22918}"/>
              </a:ext>
            </a:extLst>
          </p:cNvPr>
          <p:cNvSpPr txBox="1"/>
          <p:nvPr/>
        </p:nvSpPr>
        <p:spPr>
          <a:xfrm>
            <a:off x="335011" y="2371141"/>
            <a:ext cx="40464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구축전략 배치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- 1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필수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·2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고도화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장기 확장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D26C835-7D27-20B1-A779-6A7AB7857FE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DR-018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C3710664-D550-1300-2A54-4608EB1E6745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6052821-4915-5681-CED4-4E1D83BBE1EF}"/>
              </a:ext>
            </a:extLst>
          </p:cNvPr>
          <p:cNvSpPr/>
          <p:nvPr/>
        </p:nvSpPr>
        <p:spPr>
          <a:xfrm>
            <a:off x="316309" y="2735677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 원칙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DR-018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단계별 구축 요구에 따라 전환 유형을 필수업무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선택업무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고도화업무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확장업무로 구분하고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서비스 연속성과 리스크를 기준으로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장기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단계에 배치함</a:t>
            </a:r>
            <a:endParaRPr kumimoji="1" lang="en-US" altLang="ko-KR" sz="12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서비스 연속성 우선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시 중단 불가한 핵심 기능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제공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상용 종속 해소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필수로 배치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리스크 분산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고도화 성격의 보완 기능은 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차로 배치하여 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구축 부담과 일정 리스크를 완화함</a:t>
            </a:r>
            <a:endParaRPr kumimoji="1" lang="en-US" altLang="ko-KR" sz="11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대비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외부연계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성격의 기능은 장기 확장으로 배치하여 단계적 확대가 가능하도록 설계함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82C04A0-DE08-86AA-96AB-E121B9281B31}"/>
              </a:ext>
            </a:extLst>
          </p:cNvPr>
          <p:cNvSpPr/>
          <p:nvPr/>
        </p:nvSpPr>
        <p:spPr>
          <a:xfrm>
            <a:off x="316309" y="4033118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전환 유형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×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배치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유형과 업무 성격을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구축전략에 매핑한 결과는 아래와 같으며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유형과 핵심 유지 기능이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차에 집중됨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038961B8-6CC5-E72C-378B-67B99D6DD9F9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4695851"/>
          <a:ext cx="6164286" cy="926280"/>
        </p:xfrm>
        <a:graphic>
          <a:graphicData uri="http://schemas.openxmlformats.org/drawingml/2006/table">
            <a:tbl>
              <a:tblPr/>
              <a:tblGrid>
                <a:gridCol w="66772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73914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922020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2590800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  <a:gridCol w="1244601">
                  <a:extLst>
                    <a:ext uri="{9D8B030D-6E8A-4147-A177-3AD203B41FA5}">
                      <a16:colId xmlns:a16="http://schemas.microsoft.com/office/drawing/2014/main" val="3462882251"/>
                    </a:ext>
                  </a:extLst>
                </a:gridCol>
              </a:tblGrid>
              <a:tr h="13362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구축단계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성격</a:t>
                      </a:r>
                      <a:endParaRPr lang="ko-KR" altLang="en-US" sz="900" b="1" kern="1200" dirty="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배치 전 전환유형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주요기능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2413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 유지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오픈소스 대용량 전송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검색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 이관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(SSO)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de-DE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FR-027, FR-011, FR-001, DR-020, DR-024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9372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선택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 업무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카탈로그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대시보드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메타관리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등록관리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FR-012, FR-025, FR-008, FR-018, FR-030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9372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장기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연계확장 업무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 통합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내외부 통합 유통망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 검색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거래소 확대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FR-040, FR-013, FR-026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EE0EC0E7-F9EA-1D8D-712D-52DA73C90A37}"/>
              </a:ext>
            </a:extLst>
          </p:cNvPr>
          <p:cNvSpPr txBox="1"/>
          <p:nvPr/>
        </p:nvSpPr>
        <p:spPr>
          <a:xfrm>
            <a:off x="1078416" y="446760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전환유형 배치 결과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C9DD9DD-0852-C7D9-3748-55CEC0999DDE}"/>
              </a:ext>
            </a:extLst>
          </p:cNvPr>
          <p:cNvSpPr/>
          <p:nvPr/>
        </p:nvSpPr>
        <p:spPr>
          <a:xfrm>
            <a:off x="316309" y="5589800"/>
            <a:ext cx="6286697" cy="2204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※ 1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필수에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전송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)'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배치하는 근거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라이선스 종속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서비스 연속성 리스크가 직결되어 후순위 불가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. </a:t>
            </a:r>
            <a:r>
              <a:rPr kumimoji="1" lang="ko-KR" altLang="en-US" sz="8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인증은 데이터 이관 전제 기능으로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</a:t>
            </a:r>
            <a:endParaRPr kumimoji="1" lang="ko-KR" altLang="en-US" sz="800" b="1" spc="-5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949F997-5735-2AEF-82EF-2CE79D38E8C2}"/>
              </a:ext>
            </a:extLst>
          </p:cNvPr>
          <p:cNvSpPr/>
          <p:nvPr/>
        </p:nvSpPr>
        <p:spPr>
          <a:xfrm>
            <a:off x="316309" y="5878884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구축 목표</a:t>
            </a: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단계는 완료 목표와 산출물을 가지며</a:t>
            </a: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간 종속관계를 고려하여 순차</a:t>
            </a: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병행 구축함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0E2DC190-F8F8-2F14-2E46-2781540520D6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6350800"/>
          <a:ext cx="6164285" cy="926280"/>
        </p:xfrm>
        <a:graphic>
          <a:graphicData uri="http://schemas.openxmlformats.org/drawingml/2006/table">
            <a:tbl>
              <a:tblPr/>
              <a:tblGrid>
                <a:gridCol w="66010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166116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943100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1899920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</a:tblGrid>
              <a:tr h="13362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구축단계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 목표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 산출물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기준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22413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서비스 무중단 이관 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 종속 해소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오픈소스 전송 모듈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데이터 제공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 이관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인증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이관 완결성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정상 동작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INNORIX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완전 대체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9372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요구수준 미달 기능의 지능형 고도화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검색엔진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b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대시보드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메타관리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정확도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활용지원 기능 충족도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9372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장기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유통망 확대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 통합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데이터 플랫폼 연계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기관 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데이터 확대율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</a:tbl>
          </a:graphicData>
        </a:graphic>
      </p:graphicFrame>
      <p:sp>
        <p:nvSpPr>
          <p:cNvPr id="32" name="TextBox 31">
            <a:extLst>
              <a:ext uri="{FF2B5EF4-FFF2-40B4-BE49-F238E27FC236}">
                <a16:creationId xmlns:a16="http://schemas.microsoft.com/office/drawing/2014/main" id="{C64AEF41-6BBF-DDF4-6F32-DABC8A195747}"/>
              </a:ext>
            </a:extLst>
          </p:cNvPr>
          <p:cNvSpPr txBox="1"/>
          <p:nvPr/>
        </p:nvSpPr>
        <p:spPr>
          <a:xfrm>
            <a:off x="1078416" y="612255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구축 목표 및 산출물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9AEE92B-A46A-D849-D004-AFD716FAAC56}"/>
              </a:ext>
            </a:extLst>
          </p:cNvPr>
          <p:cNvSpPr/>
          <p:nvPr/>
        </p:nvSpPr>
        <p:spPr>
          <a:xfrm>
            <a:off x="316309" y="736621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포인트 명시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DR-018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요구에 따라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데이터량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증가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 증가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외부연계 확대에 대응하는 확장 포인트를 유형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영역별로 사전 정의하여 단계적 확장이 가능하도록 설계함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C769C0A2-FA42-A72B-2573-CB9777E18C4F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8028944"/>
          <a:ext cx="6164285" cy="700305"/>
        </p:xfrm>
        <a:graphic>
          <a:graphicData uri="http://schemas.openxmlformats.org/drawingml/2006/table">
            <a:tbl>
              <a:tblPr/>
              <a:tblGrid>
                <a:gridCol w="66010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75438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849880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  <a:gridCol w="1899920">
                  <a:extLst>
                    <a:ext uri="{9D8B030D-6E8A-4147-A177-3AD203B41FA5}">
                      <a16:colId xmlns:a16="http://schemas.microsoft.com/office/drawing/2014/main" val="2265935554"/>
                    </a:ext>
                  </a:extLst>
                </a:gridCol>
              </a:tblGrid>
              <a:tr h="2033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 영역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포인트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요구사항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6566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데이터량 증가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저장공간 수평 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스트리밍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 전송 확장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FR-027, DR-018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6566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이용자 증가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 분산 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자원 동적 할당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FR-011·012, FR-008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6566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 확대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데이터 플랫폼 연계 표준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수용 확대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FR-013, FR-025·026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9E096EAC-B032-593B-7F3F-FAB3D55BDB9F}"/>
              </a:ext>
            </a:extLst>
          </p:cNvPr>
          <p:cNvSpPr txBox="1"/>
          <p:nvPr/>
        </p:nvSpPr>
        <p:spPr>
          <a:xfrm>
            <a:off x="1078416" y="780069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영역별 확장 포인트 설계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5D11646-80D3-15C7-23BF-63557C175D7A}"/>
              </a:ext>
            </a:extLst>
          </p:cNvPr>
          <p:cNvSpPr/>
          <p:nvPr/>
        </p:nvSpPr>
        <p:spPr>
          <a:xfrm>
            <a:off x="316309" y="8789924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리스크 대응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구축은 예산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리스크를 고려하여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필수기능 우선 확보로 사업 목표 달성 리스크를 최소화하고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장기는 성과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환경 변화에 따라 유연 조정함</a:t>
            </a:r>
            <a:endParaRPr kumimoji="1" lang="en-US" altLang="ko-KR" sz="12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지연이 전체 사업에 미치는 영향을 차단하기 위해 대체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전송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제공을 최우선 마일스톤으로 관리함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44257763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BBB2F3-C30E-9807-6EFB-46CCF8B28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00629150-0656-E58D-3AE0-E96ACC2802B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22C7C64-F68E-AC19-83AB-BE311F998193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5A5ADC1-722E-CF32-2AD2-959BEC5FC6D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전환 유형 구분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FBCECFE-C515-226B-9B48-133E82F4BCE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58E3776-2287-78E2-9D8C-DADB06234D6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 유형 핵심 사양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구현 부담이 집중된 대체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 유형을 직접제공형 다운로드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링크 중개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(FR-027)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와 지능형 검색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워크스페이스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(FR-012·008·018)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RFP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 요구에 근거한 구체 사양으로 정의하여 구축 실행력을 확보함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F8D89D3-6420-13CA-9582-611B57540DA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37CCD64-D953-C814-0BC0-89B6B7F60E60}"/>
              </a:ext>
            </a:extLst>
          </p:cNvPr>
          <p:cNvSpPr txBox="1"/>
          <p:nvPr/>
        </p:nvSpPr>
        <p:spPr>
          <a:xfrm>
            <a:off x="335011" y="2371141"/>
            <a:ext cx="40464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구축 스펙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CEBC9AA-3CDB-AD7D-E845-B3015C88727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DR-018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9FE8CB1E-A8C5-E0BA-CA57-1A19DD19CEAC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53F68B1-4B2E-600C-8342-CD507EE1F7CC}"/>
              </a:ext>
            </a:extLst>
          </p:cNvPr>
          <p:cNvSpPr/>
          <p:nvPr/>
        </p:nvSpPr>
        <p:spPr>
          <a:xfrm>
            <a:off x="316309" y="268805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스펙 정의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전환 유형 판정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배치에 이어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신규 구현 비중이 큰 대체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유형의 핵심 구현 사양을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 요구 근거로 정의하여 설계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개발로 이관 가능한 실행력을 확보함</a:t>
            </a:r>
            <a:endParaRPr kumimoji="1" lang="en-US" altLang="ko-KR" sz="12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상세 설계는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Module 2(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 및 구축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)·1.4(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목표모델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에서 확정하되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본 장은 전환 판단을 뒷받침하는 대표 스펙을 제시함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모든 스펙은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FR-027(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링크 연계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FR-012(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지능형 검색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RFP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 근거를 명시함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9AEE975-785A-D49E-E5B0-BB6F8946673D}"/>
              </a:ext>
            </a:extLst>
          </p:cNvPr>
          <p:cNvSpPr/>
          <p:nvPr/>
        </p:nvSpPr>
        <p:spPr>
          <a:xfrm>
            <a:off x="316309" y="374583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유형 구축 스펙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최우선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전송솔루션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(INNORIX)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대체는 본 사업 최우선 과제로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직접 제공형 다운로드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링크 중개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유효성 운영관리의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기능을 오픈소스 기반으로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재구현함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27)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3D5CCA01-28C1-8FCE-CD42-0199F8C44F24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4485608"/>
          <a:ext cx="6164286" cy="1280223"/>
        </p:xfrm>
        <a:graphic>
          <a:graphicData uri="http://schemas.openxmlformats.org/drawingml/2006/table">
            <a:tbl>
              <a:tblPr/>
              <a:tblGrid>
                <a:gridCol w="738210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4410075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016001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 스펙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요구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 방식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 표준 기반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(HTTP/S)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전송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 다운로드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전송상태 확인 자체 구현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 에이전트 미설치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FR-027, COR-001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경로 관리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패키지 단위 제공경로 관리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 기반 접근제어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 관리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성공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실패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재시도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중복요청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부분전송 이력 기록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링크 중개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원윈도우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 상세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문서 페이지 중개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이동 전 이용조건 안내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FR-027, FR-014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링크 운영관리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링크 유효성 점검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탐지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 링크 관리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제공중단 반영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이동률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전환율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실패율 통계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스트리밍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 전송의 수평 확장 구조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PR-004, DR-018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69677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6D813FDB-6285-3109-D627-9B4ECC4A2394}"/>
              </a:ext>
            </a:extLst>
          </p:cNvPr>
          <p:cNvSpPr txBox="1"/>
          <p:nvPr/>
        </p:nvSpPr>
        <p:spPr>
          <a:xfrm>
            <a:off x="1078416" y="425736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 유형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전송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 스펙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CC3FA05-FC33-7899-26C8-7EC29C9EC864}"/>
              </a:ext>
            </a:extLst>
          </p:cNvPr>
          <p:cNvSpPr/>
          <p:nvPr/>
        </p:nvSpPr>
        <p:spPr>
          <a:xfrm>
            <a:off x="316309" y="5750184"/>
            <a:ext cx="6286697" cy="36816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※</a:t>
            </a:r>
            <a:r>
              <a:rPr kumimoji="1" lang="en-US" altLang="ko-KR" sz="800" b="1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800" b="1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오픈소스 구현 방향</a:t>
            </a:r>
            <a:r>
              <a:rPr kumimoji="1" lang="en-US" altLang="ko-KR" sz="800" b="1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 표준 프로토콜 기반 전송 라이브러리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객체스토리지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연계를 활용하여 상용 에이전트 설치 없이 브라우저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·CLI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다운로드를 지원</a:t>
            </a:r>
            <a:b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   (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구체 오픈소스 컴포넌트는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Module 2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상세설계에서 확정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).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핵심은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 단말 상용 에이전트 설치 제거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+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분할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상태확인 자체 확보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".</a:t>
            </a:r>
            <a:endParaRPr kumimoji="1" lang="ko-KR" altLang="en-US" sz="800" b="1" spc="-5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08CDE3A-F339-3F44-3A4C-26FB77076F42}"/>
              </a:ext>
            </a:extLst>
          </p:cNvPr>
          <p:cNvSpPr/>
          <p:nvPr/>
        </p:nvSpPr>
        <p:spPr>
          <a:xfrm>
            <a:off x="316309" y="6145656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전환 효과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에이전트 종속 제거로 이용자 설치 부담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 리스크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·OS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 호환 문제를 근본 해소하며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전송 이력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통계의 자체 확보로 운영 가시성을 확보함</a:t>
            </a:r>
            <a:endParaRPr kumimoji="1" lang="en-US" altLang="ko-KR" sz="12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INNORIX EX Agent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방식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(OS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 설치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 실패 시 재설치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이용자 불편을 브라우저 표준 다운로드로 전환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C439885-A3C4-AD9A-8ACD-586C363D6AEB}"/>
              </a:ext>
            </a:extLst>
          </p:cNvPr>
          <p:cNvSpPr/>
          <p:nvPr/>
        </p:nvSpPr>
        <p:spPr>
          <a:xfrm>
            <a:off x="316309" y="6959888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유형 구축 스펙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기능을 요구수준으로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고도화하는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보완 유형은 지능형 검색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워크스페이스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대시보드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 메타관리를 중심으로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 요구를 충족하도록 구현함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56B7DD9-39AE-B70B-EBBB-0630C2959474}"/>
              </a:ext>
            </a:extLst>
          </p:cNvPr>
          <p:cNvSpPr txBox="1"/>
          <p:nvPr/>
        </p:nvSpPr>
        <p:spPr>
          <a:xfrm>
            <a:off x="1078416" y="745772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 유형 주요 구축 스펙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5FE76340-37C1-E995-130F-589A6FB9259F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7700848"/>
          <a:ext cx="6164286" cy="1062153"/>
        </p:xfrm>
        <a:graphic>
          <a:graphicData uri="http://schemas.openxmlformats.org/drawingml/2006/table">
            <a:tbl>
              <a:tblPr/>
              <a:tblGrid>
                <a:gridCol w="738210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4410075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016001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027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 스펙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요구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8487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색인 기반 의미검색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임베딩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벡터 색인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+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하이브리드 검색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</a:t>
                      </a:r>
                      <a:r>
                        <a:rPr lang="en-US" altLang="ko-KR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연관 데이터 제시</a:t>
                      </a:r>
                      <a:endParaRPr lang="en-US" altLang="ko-KR" sz="8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FR-011·012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6425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 작업공간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관심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신청이력 계승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+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동적 할당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학습데이터 활용지원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FR-008·009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6425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대시보드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로그수집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 → 지표 산정 → 대시보드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리포팅 자동화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FR-016·017·018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6425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메타관리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이용제한 다층 메타 통합관리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저작권 조회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FR-028·030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6425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등록후보 관리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탐색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고도화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FR-001·025·026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2FD973E-B8D3-97AE-CE28-E41F5BAEF6F0}"/>
              </a:ext>
            </a:extLst>
          </p:cNvPr>
          <p:cNvSpPr/>
          <p:nvPr/>
        </p:nvSpPr>
        <p:spPr>
          <a:xfrm>
            <a:off x="316309" y="8838835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전환의 기준선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보완은 현행 자산을 폐기하지 않고 기반으로 활용하되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요구수준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선진사례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·RFP)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미달한 부분만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고도화하여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투자 효율과 서비스 연속성을 동시에 확보함</a:t>
            </a:r>
            <a:endParaRPr kumimoji="1" lang="en-US" altLang="ko-KR" sz="1200" spc="-3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INNORIX EX Agent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방식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(OS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 설치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 실패 시 재설치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이용자 불편을 브라우저 표준 다운로드로 전환</a:t>
            </a:r>
          </a:p>
        </p:txBody>
      </p:sp>
    </p:spTree>
    <p:extLst>
      <p:ext uri="{BB962C8B-B14F-4D97-AF65-F5344CB8AC3E}">
        <p14:creationId xmlns:p14="http://schemas.microsoft.com/office/powerpoint/2010/main" val="402250449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65C4C5-9442-4BC2-953A-4AC5EC2A88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0D189C9-8FA2-E01A-F0D1-1D0226B0B65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4F9678D-041A-7F9E-6FC8-8FBD4E58182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247EFE-5833-7D4F-6A9F-543ABBACB11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전환 유형 구분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805CA05-0A20-3DCF-F72F-34A8FC49CE6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B919589-E2ED-F3EC-459F-EAAE90F5FA0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 기준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 자산인 유지 유형은 무손실 이관 사양으로 계승하고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 유형 공통으로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 이내 응답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(PR-001)·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동시처리 스케일아웃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(PR-004)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기준을 적용하여 공공 서비스 수준의 성능과 확장성을 확보함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0B33AC3-FFEE-A6C3-00E6-231AC43471F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C450C4B-D5AE-0553-C1CD-9EEA83097E4A}"/>
              </a:ext>
            </a:extLst>
          </p:cNvPr>
          <p:cNvSpPr txBox="1"/>
          <p:nvPr/>
        </p:nvSpPr>
        <p:spPr>
          <a:xfrm>
            <a:off x="335011" y="2371141"/>
            <a:ext cx="40464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 이관 사양 및 공통 성능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비기능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기준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09D374A9-FA4A-38C8-0F7E-85D9E63B611A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DR-018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1E3D01AA-5E53-DB39-B8BB-339712A9BEB1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6D8074D-CB67-BE75-5D36-AAC86752D88A}"/>
              </a:ext>
            </a:extLst>
          </p:cNvPr>
          <p:cNvSpPr/>
          <p:nvPr/>
        </p:nvSpPr>
        <p:spPr>
          <a:xfrm>
            <a:off x="316309" y="268805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유지 이관 원칙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자산인 유지 유형은 신규 구현보다 데이터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환경의 무손실 이관에 초점을 두며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평가체계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분류기준의 현행 사양을 계승함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대상은 데이터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환경설정을 포함하며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완결성 검증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건수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체크섬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 재현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전제로 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등 물리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논리 분리 환경은 자원 사양을 계승하되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통합시스템과의 연계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(SSO·UX)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부가함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81E956A-3A6E-2B02-0EDE-F3D2B0203AE9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3943870"/>
          <a:ext cx="6164286" cy="1108811"/>
        </p:xfrm>
        <a:graphic>
          <a:graphicData uri="http://schemas.openxmlformats.org/drawingml/2006/table">
            <a:tbl>
              <a:tblPr/>
              <a:tblGrid>
                <a:gridCol w="78583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436245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016001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 스펙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요구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반출없는 분석환경 계승 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GPU(V100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급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)·CPU·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로컬스토리지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모델반출 자원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컨테이너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도커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주피터 환경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온</a:t>
                      </a:r>
                      <a:r>
                        <a:rPr lang="en-US" altLang="ko-KR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-9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오프라인 분리 운영</a:t>
                      </a:r>
                      <a:endParaRPr lang="en-US" altLang="ko-KR" sz="800" kern="1200" spc="-9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DR-020, DTR-006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·SSO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회원체계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간편로그인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네이버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카카오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인증활용계정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활용추적 체계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FR-040, DR-024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비공개 평가셋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·5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지표 평가체계 계승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통합시스템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SSO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FR-040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품질기준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분야 분류체계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품질가이드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(v4.0)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 계승 및 신규 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FR-006·007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고객지원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우수사례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·FAQ·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민원 채널 계승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OR-005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3E5ADFD6-CA5E-CA31-38FF-670A25C0EBE4}"/>
              </a:ext>
            </a:extLst>
          </p:cNvPr>
          <p:cNvSpPr txBox="1"/>
          <p:nvPr/>
        </p:nvSpPr>
        <p:spPr>
          <a:xfrm>
            <a:off x="1078416" y="371562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 유형 이관 스펙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13EEC32-C71B-8C37-FBF5-5A4BFCCDC591}"/>
              </a:ext>
            </a:extLst>
          </p:cNvPr>
          <p:cNvSpPr/>
          <p:nvPr/>
        </p:nvSpPr>
        <p:spPr>
          <a:xfrm>
            <a:off x="316309" y="5115118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리스크 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과정의 데이터 손실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 누락을 방지하기 위해 이관 완결성 검증 기준을 사전 정의하고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병행 운영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롤백 방안을 마련함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건수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용량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체크섬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대조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기능 재현 테스트를 이관 완료 기준으로 적용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B104C89-AC70-5D72-BDCC-4A0791F7F400}"/>
              </a:ext>
            </a:extLst>
          </p:cNvPr>
          <p:cNvSpPr/>
          <p:nvPr/>
        </p:nvSpPr>
        <p:spPr>
          <a:xfrm>
            <a:off x="316309" y="5938399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성능 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 유형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공통으로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PR-001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응답속도와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PR-004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동시처리 기준을 적용하여 공공 서비스 수준의 응답성을 확보함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일반 조회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상세 페이지 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초 이내 응답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비동기 작업은 진행상태 표기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완료 알림 제공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·DB·API·</a:t>
            </a: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메시지큐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캐시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구조 최적화를 수행하고 기준 미달 시 튜닝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비동기화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캐시 적용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(PR-001)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2F7D95E-BDFA-1854-9D65-7B282881CB99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6977036"/>
          <a:ext cx="6164286" cy="720284"/>
        </p:xfrm>
        <a:graphic>
          <a:graphicData uri="http://schemas.openxmlformats.org/drawingml/2006/table">
            <a:tbl>
              <a:tblPr/>
              <a:tblGrid>
                <a:gridCol w="78583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386715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511301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251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 항목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방식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산출물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6592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응답속도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조회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이내 응답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성능검증기준서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성능시험결과서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6592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비동기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진행상태 표기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완료 알림 제공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성능시험결과서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6592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최적화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·DB·API·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메시지큐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캐시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 최적화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미달 시 튜닝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비동기화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성능개선보고서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10FA0F69-F631-D91F-7706-C2D9218D4AA0}"/>
              </a:ext>
            </a:extLst>
          </p:cNvPr>
          <p:cNvSpPr/>
          <p:nvPr/>
        </p:nvSpPr>
        <p:spPr>
          <a:xfrm>
            <a:off x="316309" y="7724623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동시처리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다수 이용자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 동시 발생 상황에서도 서비스 품질을 유지하기 위해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PR-004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동시처리 허용범위와 확장 방안을 적용함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</a:t>
            </a:r>
            <a:r>
              <a:rPr kumimoji="1" lang="ko-KR" altLang="en-US" sz="1100" spc="-1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접속자</a:t>
            </a:r>
            <a:r>
              <a:rPr kumimoji="1" lang="en-US" altLang="ko-KR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</a:t>
            </a:r>
            <a:r>
              <a:rPr kumimoji="1" lang="en-US" altLang="ko-KR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처리의 허용범위를 정의하고 피크</a:t>
            </a:r>
            <a:r>
              <a:rPr kumimoji="1" lang="en-US" altLang="ko-KR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이벤트성 부하를 고려한 목표를 산정</a:t>
            </a:r>
            <a:r>
              <a:rPr kumimoji="1" lang="en-US" altLang="ko-KR" sz="11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메시지큐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작업큐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스케일아웃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 분산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캐시 구조로 부하 집중 시 서비스 저하를 최소화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(PR-004)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8EC0CC9-1292-A538-75C6-8F37D572A4D1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8749900"/>
          <a:ext cx="6164286" cy="922575"/>
        </p:xfrm>
        <a:graphic>
          <a:graphicData uri="http://schemas.openxmlformats.org/drawingml/2006/table">
            <a:tbl>
              <a:tblPr/>
              <a:tblGrid>
                <a:gridCol w="78583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919163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3319462">
                  <a:extLst>
                    <a:ext uri="{9D8B030D-6E8A-4147-A177-3AD203B41FA5}">
                      <a16:colId xmlns:a16="http://schemas.microsoft.com/office/drawing/2014/main" val="1724537579"/>
                    </a:ext>
                  </a:extLst>
                </a:gridCol>
                <a:gridCol w="1139826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3164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축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 영역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포인트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요구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7273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데이터량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증가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저장공간 수평 확장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스트리밍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 전송 확장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PR-004, DR-018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273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이용자 증가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 분산 확장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자원 동적 할당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 분산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PR-004, FR-008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273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 확대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데이터 플랫폼 연계 표준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수용 확대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FR-013, FR-025·026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273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 대응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메시지큐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작업큐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스케일아웃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캐시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임계치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증설 기준 정립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63605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182541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A5FD0A-72CD-89B8-B2F1-BF53307016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D5A8257-B529-D08A-C6DB-C39F10FDB2D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1E6432F-A3A7-653A-803D-E825BE997C4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C7E043B-E45D-074A-01CD-35493D1EC3F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화면 및 체계 전환 범위 설정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A9A3113-6F6D-0D76-D733-0E557690BA2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A89913F-D5D5-9C0C-B8F8-84065197093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메뉴 체계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정보 아키텍처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허브의 분산된 메뉴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별도 도메인 체계를 사용자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개발자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포털의 계층형 정보 아키텍처로 수렴하고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역할 기반 메뉴 권한을 연계하여 진입 깊이를 최소화한 통합 체계로 전환함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1EA6F91-EEFE-BEFE-FC9C-5C9F26E933D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71226A9-7D22-85EB-B40C-CD919491FBAD}"/>
              </a:ext>
            </a:extLst>
          </p:cNvPr>
          <p:cNvSpPr txBox="1"/>
          <p:nvPr/>
        </p:nvSpPr>
        <p:spPr>
          <a:xfrm>
            <a:off x="335011" y="2371141"/>
            <a:ext cx="46275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메뉴 체계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정보 아키텍처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(IA)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전환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분산 메뉴 →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포털 수렴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11719B92-DE24-6757-EC2C-72D94B44BF82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DR-007, DR-008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65E9EB61-E20E-D321-34B7-4FEC40FFC592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0B7CDF9-4286-E666-F753-E9B754DAFCEA}"/>
              </a:ext>
            </a:extLst>
          </p:cNvPr>
          <p:cNvSpPr/>
          <p:nvPr/>
        </p:nvSpPr>
        <p:spPr>
          <a:xfrm>
            <a:off x="316309" y="268805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전환 목적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확정한 기능 전환 결과를 화면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체계 관점으로 재배치하기 위해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분산 메뉴 체계를 업무 목적별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 정보 아키텍처로 수렴하고 메뉴 권한을 역할 기반으로 통제함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(DR-007)</a:t>
            </a:r>
            <a:endParaRPr kumimoji="1" lang="en-US" altLang="ko-KR" sz="1100" spc="-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현행은 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7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공개 메뉴 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+ 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마이페이지 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+ </a:t>
            </a:r>
            <a:r>
              <a:rPr kumimoji="1" lang="ko-KR" altLang="en-US" sz="1100" spc="-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안심존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리더보드 별도 도메인으로 분산되어 통합 탐색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관리가 어려운 구조임</a:t>
            </a:r>
            <a:endParaRPr kumimoji="1" lang="en-US" altLang="ko-KR" sz="1100" spc="-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 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IA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수렴하여 이용자</a:t>
            </a:r>
            <a:r>
              <a:rPr kumimoji="1" lang="en-US" altLang="ko-KR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운영자 각각의 업무 시나리오에 맞는 일관된 진입 경로를 제공함</a:t>
            </a:r>
            <a:endParaRPr kumimoji="1" lang="ko-KR" altLang="en-US" sz="1100" b="1" spc="-70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59E1FE0-676E-9C53-EB08-23A3CEF7FC3F}"/>
              </a:ext>
            </a:extLst>
          </p:cNvPr>
          <p:cNvSpPr/>
          <p:nvPr/>
        </p:nvSpPr>
        <p:spPr>
          <a:xfrm>
            <a:off x="316309" y="374388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메뉴 체계 진단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전수조사 결과 현행 메뉴는 서비스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마이페이지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별도 도메인으로 분산되어 있으며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개발자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협업 영역이 명시적 포털로 분리되어 있지 않음</a:t>
            </a:r>
            <a:endParaRPr kumimoji="1" lang="ko-KR" altLang="en-US" sz="1100" b="1" spc="-70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9336EBF-8EC2-A5A3-0DFA-BAD7A04A5C46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4278044"/>
          <a:ext cx="6164286" cy="1108811"/>
        </p:xfrm>
        <a:graphic>
          <a:graphicData uri="http://schemas.openxmlformats.org/drawingml/2006/table">
            <a:tbl>
              <a:tblPr/>
              <a:tblGrid>
                <a:gridCol w="78583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93370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444751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영역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메뉴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구조적 한계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 서비스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데이터찾기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허브소개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커뮤니티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개발지원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고객지원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(7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메뉴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중심 평면 구조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목적별 분리 미흡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개인화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마이페이지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이용현황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신청이력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회원정보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메뉴와 분리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개념 부재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 환경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(safezone.aihub.or.kr)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도메인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진입 불가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로그인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평가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(leaderboard.aihub.or.kr)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도메인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진입 불가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SSO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만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미노출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운영정책 포털 미정의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63845F-8610-6F9F-38FA-4C527E2773C1}"/>
              </a:ext>
            </a:extLst>
          </p:cNvPr>
          <p:cNvSpPr/>
          <p:nvPr/>
        </p:nvSpPr>
        <p:spPr>
          <a:xfrm>
            <a:off x="316309" y="543523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 정보 아키텍처 설계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DR-007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따라 사용자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협업공간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개발자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포털로 정보구조를 계층화하고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포털의 업무 목적과 핵심 메뉴를 정의함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A58305D-EEC2-1F94-2E7E-19FAEF617624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5969389"/>
          <a:ext cx="6164286" cy="1108811"/>
        </p:xfrm>
        <a:graphic>
          <a:graphicData uri="http://schemas.openxmlformats.org/drawingml/2006/table">
            <a:tbl>
              <a:tblPr/>
              <a:tblGrid>
                <a:gridCol w="78583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1333500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724150">
                  <a:extLst>
                    <a:ext uri="{9D8B030D-6E8A-4147-A177-3AD203B41FA5}">
                      <a16:colId xmlns:a16="http://schemas.microsoft.com/office/drawing/2014/main" val="2289134277"/>
                    </a:ext>
                  </a:extLst>
                </a:gridCol>
                <a:gridCol w="1320801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목적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 메뉴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이용자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탐색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통합검색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카탈로그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마이워크스페이스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 이용자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연구자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운영정책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관리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운영정책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환경설정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운영관리자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승인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등록승인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이상탐지 모니터링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운영담당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협업공간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반출없는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분석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개발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분석환경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모델반출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연구자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개발자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개방연계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개발문서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개발자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57DDE7DD-35AF-9FD8-7DF1-1C360B2C53A4}"/>
              </a:ext>
            </a:extLst>
          </p:cNvPr>
          <p:cNvSpPr/>
          <p:nvPr/>
        </p:nvSpPr>
        <p:spPr>
          <a:xfrm>
            <a:off x="316309" y="7059150"/>
            <a:ext cx="6286697" cy="2204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※ 5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포털은 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DR-007 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정의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협업공간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개발자 포털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정확히 대응하며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분산 메뉴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별도 도메인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협업공간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개발자 포털로 흡수</a:t>
            </a:r>
            <a:r>
              <a:rPr kumimoji="1" lang="en-US" altLang="ko-KR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통합함</a:t>
            </a:r>
            <a:endParaRPr kumimoji="1" lang="ko-KR" altLang="en-US" sz="800" spc="-50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ABCCD4E-748D-9FAA-FDF0-EDFB40488598}"/>
              </a:ext>
            </a:extLst>
          </p:cNvPr>
          <p:cNvSpPr/>
          <p:nvPr/>
        </p:nvSpPr>
        <p:spPr>
          <a:xfrm>
            <a:off x="316309" y="7294594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→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 전환 매핑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메뉴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포털로 재배치하여 기능 누락 없이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IA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수렴함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8CFBDF15-62C7-A302-F4E4-0A517BE61A88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7588896"/>
          <a:ext cx="6164286" cy="1451635"/>
        </p:xfrm>
        <a:graphic>
          <a:graphicData uri="http://schemas.openxmlformats.org/drawingml/2006/table">
            <a:tbl>
              <a:tblPr/>
              <a:tblGrid>
                <a:gridCol w="2054762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054762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054762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메뉴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대상 포털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유형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(1.2.2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데이터찾기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데이터상세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포털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고도화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 대체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마이페이지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신청이력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포털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마이워크스페이스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도메인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협업공간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리더보드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도메인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개발자 포털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등록신청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성과조사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포털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회원정보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포털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포털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576621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Admin(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운영관리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포털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포털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4365066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E5A219A3-B75A-CEF9-9347-931CDB0DC703}"/>
              </a:ext>
            </a:extLst>
          </p:cNvPr>
          <p:cNvSpPr/>
          <p:nvPr/>
        </p:nvSpPr>
        <p:spPr>
          <a:xfrm>
            <a:off x="316309" y="905878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메뉴 권한 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DR-007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따라 메뉴별 접근권한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노출여부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읽기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쓰기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권한을 역할 기반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(RBAC)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으로 통제하고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 시나리오 기반으로 진입 깊이를 최소화함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65406863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33DCB8-9EFE-61E9-E60D-717C8E2B62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056819F-23D0-CBAA-081A-6CDD2073BF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572BDBF-42D6-019B-8706-9C76210E41C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77457-1E2C-3E19-A3D3-456242EC4797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1.2.3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화면 및 체계 전환 범위 설정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78E202-93F5-0AEA-4C58-63B4B4F30C8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전환 범위 정의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1B4BF7A-D25B-B06D-CAE2-C9687164586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사이트맵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구조 표준화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포털 정보 아키텍처를 전체 화면목록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간 이동경로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진입조건으로 구체화하고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 등 공통 화면구조를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표준화하여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기능 누락 없는 일관된 화면 체계로 전환함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70DFA98-051B-F61B-B95F-47151FB3E1C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2C0CD91-3B31-D56F-0FF0-7634A95E37F1}"/>
              </a:ext>
            </a:extLst>
          </p:cNvPr>
          <p:cNvSpPr txBox="1"/>
          <p:nvPr/>
        </p:nvSpPr>
        <p:spPr>
          <a:xfrm>
            <a:off x="335011" y="2371141"/>
            <a:ext cx="46275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사이트맵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구조 표준화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화면목록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화면관계도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패턴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D9D6A677-92DB-D2F5-204B-46F4606D101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DR-007, DR-008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16D40927-64AC-ECF3-66B0-4987FB30E7D6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659A0D-F73D-71CF-0DD9-49A5A6033EC9}"/>
              </a:ext>
            </a:extLst>
          </p:cNvPr>
          <p:cNvSpPr/>
          <p:nvPr/>
        </p:nvSpPr>
        <p:spPr>
          <a:xfrm>
            <a:off x="316309" y="268805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IA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화면 단위로 전개하여 전체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사이트맵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 간 연결관계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진입조건을 정의하고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화면구조를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표준화하여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기능 누락 없는 일관된 화면 체계를 확정함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(DR-008)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 서비스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 서비스의 전체 화면목록과 이동경로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진입조건을 정의하여 화면 누락</a:t>
            </a:r>
            <a:r>
              <a:rPr kumimoji="1" lang="en-US" altLang="ko-KR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중복을 방지함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화면 패턴을 </a:t>
            </a:r>
            <a:r>
              <a:rPr kumimoji="1" lang="ko-KR" altLang="en-US" sz="11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표준화하여</a:t>
            </a:r>
            <a:r>
              <a:rPr kumimoji="1" lang="ko-KR" altLang="en-US" sz="11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개발 생산성과 사용자 경험의 일관성을 동시에 확보함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28B01D5-94A8-949D-19B9-EBF0AF09B7E6}"/>
              </a:ext>
            </a:extLst>
          </p:cNvPr>
          <p:cNvSpPr/>
          <p:nvPr/>
        </p:nvSpPr>
        <p:spPr>
          <a:xfrm>
            <a:off x="316309" y="368941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사이트맵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전환 범위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포털별 화면 계층을 정의하고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분산 화면을 통합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사이트맵으로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수렴함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D63C23B-F8D1-708D-DB8B-925854B48E87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3965458"/>
          <a:ext cx="6164286" cy="1108811"/>
        </p:xfrm>
        <a:graphic>
          <a:graphicData uri="http://schemas.openxmlformats.org/drawingml/2006/table">
            <a:tbl>
              <a:tblPr/>
              <a:tblGrid>
                <a:gridCol w="785835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3648075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1730376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포털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화면 계층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진입조건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통합검색 → 카탈로그 목록 → 데이터 상세 → 신청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→ 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마이워크스페이스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비로그인 탐색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 후 신청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협업공간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안심존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신청 → 심의 → 분석환경 → 모델반출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자격심의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개발자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개발문서 → 리더보드 → 외부연계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등록승인 → 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→ 로그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이상탐지 모니터링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권한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포털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조직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→ 운영정책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환경설정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권한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9F8A52BD-A5D5-4522-68F0-28D6608431CF}"/>
              </a:ext>
            </a:extLst>
          </p:cNvPr>
          <p:cNvSpPr/>
          <p:nvPr/>
        </p:nvSpPr>
        <p:spPr>
          <a:xfrm>
            <a:off x="316309" y="511062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상세화면 통합조회 구조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DR-008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요구인 데이터 상세화면의 통합조회를 설계하여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블록 상세화면을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통합 정보영역으로 재구성함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BC55085-9D10-C0C2-9062-1EC81FBE49F1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5644775"/>
          <a:ext cx="6164287" cy="1623047"/>
        </p:xfrm>
        <a:graphic>
          <a:graphicData uri="http://schemas.openxmlformats.org/drawingml/2006/table">
            <a:tbl>
              <a:tblPr/>
              <a:tblGrid>
                <a:gridCol w="1000129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582079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582079">
                  <a:extLst>
                    <a:ext uri="{9D8B030D-6E8A-4147-A177-3AD203B41FA5}">
                      <a16:colId xmlns:a16="http://schemas.microsoft.com/office/drawing/2014/main" val="2289134277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통합조회 영역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전수조사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전환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구조표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제공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메타 스키마 기반 통합 표기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품질이력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품질지표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기준값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vs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측정값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부분 제공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이력 연계 표기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제공이력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다운로드수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노출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이력 통합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활용이력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 소개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활용사례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버전이력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변경이력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히스토리 제공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 관리 체계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저작권정보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(CC BY-NC) 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저작권 메타관리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41938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유사데이터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연관 데이터 추천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추천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유사도 기반 연계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1405866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어노테이션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구조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어노테이션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포맷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구조 제공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스키마 기반 통합 표기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772278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ABF879-80FB-D653-10E5-AB284458FAFA}"/>
              </a:ext>
            </a:extLst>
          </p:cNvPr>
          <p:cNvSpPr/>
          <p:nvPr/>
        </p:nvSpPr>
        <p:spPr>
          <a:xfrm>
            <a:off x="316309" y="7242751"/>
            <a:ext cx="6286697" cy="2204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※ DR-008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원문의 통합조회 요구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유사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현행 상세화면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블록과 </a:t>
            </a:r>
            <a:r>
              <a:rPr kumimoji="1" lang="ko-KR" altLang="en-US" sz="8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정합하여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재구성</a:t>
            </a:r>
            <a:endParaRPr kumimoji="1" lang="ko-KR" altLang="en-US" sz="800" spc="-5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B3429B7-88FE-D034-A651-F2F1527AB56A}"/>
              </a:ext>
            </a:extLst>
          </p:cNvPr>
          <p:cNvSpPr/>
          <p:nvPr/>
        </p:nvSpPr>
        <p:spPr>
          <a:xfrm>
            <a:off x="316309" y="746318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화면구조 표준화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패턴을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표준화하여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화면 일관성과 재사용성을 확보함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01772057-D3C1-34E0-F620-961A51FE4E72}"/>
              </a:ext>
            </a:extLst>
          </p:cNvPr>
          <p:cNvGraphicFramePr>
            <a:graphicFrameLocks noGrp="1"/>
          </p:cNvGraphicFramePr>
          <p:nvPr/>
        </p:nvGraphicFramePr>
        <p:xfrm>
          <a:off x="338115" y="7757489"/>
          <a:ext cx="6164285" cy="1451635"/>
        </p:xfrm>
        <a:graphic>
          <a:graphicData uri="http://schemas.openxmlformats.org/drawingml/2006/table">
            <a:tbl>
              <a:tblPr/>
              <a:tblGrid>
                <a:gridCol w="1015447">
                  <a:extLst>
                    <a:ext uri="{9D8B030D-6E8A-4147-A177-3AD203B41FA5}">
                      <a16:colId xmlns:a16="http://schemas.microsoft.com/office/drawing/2014/main" val="2592225293"/>
                    </a:ext>
                  </a:extLst>
                </a:gridCol>
                <a:gridCol w="2574419">
                  <a:extLst>
                    <a:ext uri="{9D8B030D-6E8A-4147-A177-3AD203B41FA5}">
                      <a16:colId xmlns:a16="http://schemas.microsoft.com/office/drawing/2014/main" val="4252962547"/>
                    </a:ext>
                  </a:extLst>
                </a:gridCol>
                <a:gridCol w="2574419">
                  <a:extLst>
                    <a:ext uri="{9D8B030D-6E8A-4147-A177-3AD203B41FA5}">
                      <a16:colId xmlns:a16="http://schemas.microsoft.com/office/drawing/2014/main" val="2929568008"/>
                    </a:ext>
                  </a:extLst>
                </a:gridCol>
              </a:tblGrid>
              <a:tr h="22987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영역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구성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화면</a:t>
                      </a:r>
                    </a:p>
                  </a:txBody>
                  <a:tcPr marL="3600" marR="3600" marT="18000" marB="18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212223"/>
                  </a:ext>
                </a:extLst>
              </a:tr>
              <a:tr h="193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통합검색창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분야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의미검색</a:t>
                      </a:r>
                      <a:endParaRPr lang="en-US" altLang="ko-KR" sz="800" kern="1200" spc="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 포털 목록 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진입부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824432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리스트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페이징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비교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목록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897902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통합조회 영역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상세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1208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 이력 타임라인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572737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첨부영역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파일트리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링크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931634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워크플로우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포털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5766215"/>
                  </a:ext>
                </a:extLst>
              </a:tr>
              <a:tr h="1714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통계영역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 카드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차트</a:t>
                      </a:r>
                      <a:r>
                        <a:rPr lang="en-US" altLang="ko-KR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spc="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리포팅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마이워크스페이스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</a:p>
                  </a:txBody>
                  <a:tcPr marL="3600" marR="3600" marT="3600" marB="36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4365066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327330BF-515B-7E8E-EFF7-8D76EA4E4B84}"/>
              </a:ext>
            </a:extLst>
          </p:cNvPr>
          <p:cNvSpPr/>
          <p:nvPr/>
        </p:nvSpPr>
        <p:spPr>
          <a:xfrm>
            <a:off x="316309" y="9227378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프로토타입 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화면 패턴은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IR-003(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기능 프로토타입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및 사용자 페르소나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(IR-001)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연계하여 검증하며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화면목록정의서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화면관계도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(DR-008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구체화함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63017510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2BC9D4-E06E-F459-C388-FF790B2EF7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9679427-82D8-EEA1-66C1-B84B454BFAD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 dirty="0">
                <a:solidFill>
                  <a:schemeClr val="tx1"/>
                </a:solidFill>
              </a:rPr>
              <a:t>Module 1. </a:t>
            </a:r>
            <a:r>
              <a:rPr lang="ko-KR" altLang="en-US" b="1" dirty="0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E4A0564-B547-7E32-DEAB-E931DA1EFB1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8D6BB2-DB1B-A328-9B1B-7AB15983FB8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1.3.1 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ISP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산출물 반영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1555A9B-2D63-8E76-DEAC-3DCA0AEB578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1.3 </a:t>
            </a:r>
            <a:r>
              <a:rPr lang="en-US" altLang="ko-KR" sz="1500" spc="-19" dirty="0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ISP </a:t>
            </a:r>
            <a:r>
              <a:rPr lang="ko-KR" altLang="en-US" sz="1500" spc="-19" dirty="0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결과 반영</a:t>
            </a:r>
            <a:endParaRPr kumimoji="0" lang="ko-KR" altLang="en-US" sz="1500" b="0" i="0" u="none" strike="noStrike" kern="1200" cap="none" spc="-19" normalizeH="0" baseline="0" noProof="0" dirty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BE3B574-0D05-7A05-263F-F889EEADB01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ISP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에서 도출된 목표모델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아키텍처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로드맵을 본 사업 조사 결과와 실제 구현 조건으로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구체화하여 실행 가능한 설계로 완성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041B54B-A3E9-7B99-C575-65E4E7CD2DF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8E40D48-FC50-1E87-E836-AB9E16B1731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ISP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반영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01C10F91-90E7-F97B-C722-067B3BBBCC9A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DR-001, DR-003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2C7EBF3-8A46-BDD9-808F-DA40CE6F0E72}"/>
              </a:ext>
            </a:extLst>
          </p:cNvPr>
          <p:cNvSpPr/>
          <p:nvPr/>
        </p:nvSpPr>
        <p:spPr>
          <a:xfrm>
            <a:off x="316309" y="2710277"/>
            <a:ext cx="6286697" cy="164698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 원칙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현재 수행 중인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 산출물을 본 사업의 요구사항분석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설계 단계의 출발점으로 활용하고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ISP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단계에서 개략 수준으로 정의된 내용을 본 사업에서 상세설계 수준으로 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고도화함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는 사업 정보시스템구축 방향성을 설정하는 단계로 목표모델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아키텍처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이행계획을 개략 수준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(As-Is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요약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To-Be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개념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상위 시스템 구성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으로 산출하며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사업은 이를 실제 구현 가능한 수준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상세 기능명세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물리 아키텍처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화면설계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으로 구체화함</a:t>
            </a:r>
            <a:endParaRPr kumimoji="1" lang="en-US" altLang="ko-KR" sz="1100" spc="-2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산출물과 본 사업 산출물 간 대응관계를 명시하여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ISP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에서 제시된 방향성이 본 사업에서 임의로 변경되지 않고 일관되게 이어지도록 관리함</a:t>
            </a:r>
            <a:endParaRPr kumimoji="1" lang="ko-KR" altLang="en-US" sz="1100" spc="-2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1" name="Table 0">
            <a:extLst>
              <a:ext uri="{FF2B5EF4-FFF2-40B4-BE49-F238E27FC236}">
                <a16:creationId xmlns:a16="http://schemas.microsoft.com/office/drawing/2014/main" id="{43837731-C6EE-FD5B-AD52-12D7105343B5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34859"/>
          <a:ext cx="6165723" cy="1980220"/>
        </p:xfrm>
        <a:graphic>
          <a:graphicData uri="http://schemas.openxmlformats.org/drawingml/2006/table">
            <a:tbl>
              <a:tblPr/>
              <a:tblGrid>
                <a:gridCol w="12942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5736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2435736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0029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ISP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사업 활용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 방향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algn="ctr"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현황분석서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(As-Is)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현행업무조사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·GAP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분석의 기초 자료로 활용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운영부서 인터뷰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실사로 세부 검증 및 보완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algn="ctr"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목표모델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(To-Be)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목표서비스 모델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프로세스 정의의 기준선으로 활용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기능별 상세 프로세스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흐름까지 구체화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algn="ctr"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정보시스템 아키텍처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 설계의 상위 골격으로 활용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네트워크 물리 구성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자원산정까지 상세화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algn="ctr"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아키텍처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 데이터베이스 설계의 기준 모델로 활용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논리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물리 데이터모델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코드체계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구조로 확정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algn="ctr"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이행계획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로드맵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단계별 구축범위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필수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·2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확장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설정의 기준으로 활용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atinLnBrk="0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사업기간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(120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 실행 가능한 세부 일정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마일스톤으로 전환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760229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3520CE70-066D-3F0A-1FDA-28A6218D1FB8}"/>
              </a:ext>
            </a:extLst>
          </p:cNvPr>
          <p:cNvSpPr txBox="1"/>
          <p:nvPr/>
        </p:nvSpPr>
        <p:spPr>
          <a:xfrm>
            <a:off x="1078416" y="725087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ISP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산출물별 활용 방식 및 고도화 방향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모서리가 둥근 직사각형 222">
            <a:extLst>
              <a:ext uri="{FF2B5EF4-FFF2-40B4-BE49-F238E27FC236}">
                <a16:creationId xmlns:a16="http://schemas.microsoft.com/office/drawing/2014/main" id="{58828B22-75C2-5262-4C46-6AA6CD310CE7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0536161-E567-8743-CA74-D44F4A086119}"/>
              </a:ext>
            </a:extLst>
          </p:cNvPr>
          <p:cNvSpPr/>
          <p:nvPr/>
        </p:nvSpPr>
        <p:spPr>
          <a:xfrm>
            <a:off x="316309" y="4442377"/>
            <a:ext cx="6286697" cy="270880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(목표모델 고도화 절차) ISP 목표모델을 본 사업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수요조사·심층인터뷰·업무현황조사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결과와 교차 검증하여 실행 가능한 수준으로 구체화함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 목표모델은 통상 개략적 기능 블록과 서비스 개념 수준으로 제시되므로, 본 사업에서는 각 기능 블록을 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등록·품질관리·라이프사이클·카탈로그·검색·외부제공·워크스페이스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 실제 업무단위로 분해함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 수립 시점과 본 사업 착수 시점 사이 발생한 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정책·환경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변화(예: 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AI허브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이관 범위 확정 등)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반영하여 목표모델의 최신성을 검증함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(아키텍처 고도화 절차)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ISP가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제시한 상위 아키텍처 개념을 실제 구현 가능한 물리 아키텍처로 전환함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 단계 아키텍처가 논리적 구성요소(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업무계·저장계·분석계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등) 수준이라면, 본 사업은 이를 실제 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서버·스토리지·GPU·네트워크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구성과 자원 할당 기준으로 구체화함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대용량 데이터 처리, 기존 </a:t>
            </a:r>
            <a:r>
              <a:rPr kumimoji="1" lang="ko-KR" altLang="ko-KR" sz="1100" spc="-2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AI허브</a:t>
            </a:r>
            <a:r>
              <a:rPr kumimoji="1" lang="ko-KR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인프라 연계, 클라우드 환경 제약사항 등 본 사업 착수 시점에 확인된 기술 제약을 아키텍처에 반영하여 ISP 단계보다 정밀도를 높임</a:t>
            </a:r>
          </a:p>
        </p:txBody>
      </p:sp>
    </p:spTree>
    <p:extLst>
      <p:ext uri="{BB962C8B-B14F-4D97-AF65-F5344CB8AC3E}">
        <p14:creationId xmlns:p14="http://schemas.microsoft.com/office/powerpoint/2010/main" val="331063155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AFD67-CD66-D057-34E6-01DE308546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813;p27">
            <a:extLst>
              <a:ext uri="{FF2B5EF4-FFF2-40B4-BE49-F238E27FC236}">
                <a16:creationId xmlns:a16="http://schemas.microsoft.com/office/drawing/2014/main" id="{7253E272-52EA-6DE2-9D4F-0372A023B59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Ⅱ. 설계 및 개발</a:t>
            </a:r>
            <a:endParaRPr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Google Shape;1814;p27">
            <a:extLst>
              <a:ext uri="{FF2B5EF4-FFF2-40B4-BE49-F238E27FC236}">
                <a16:creationId xmlns:a16="http://schemas.microsoft.com/office/drawing/2014/main" id="{1E3BF744-AEE2-5141-0B6F-975EA10D6F13}"/>
              </a:ext>
            </a:extLst>
          </p:cNvPr>
          <p:cNvSpPr/>
          <p:nvPr/>
        </p:nvSpPr>
        <p:spPr>
          <a:xfrm>
            <a:off x="588602" y="1003444"/>
            <a:ext cx="3305218" cy="2154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/>
          <a:p>
            <a:pPr marL="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0" i="0" u="none" strike="noStrike" cap="none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1.3.2 착수 후 수령 결과 검증</a:t>
            </a:r>
            <a:endParaRPr sz="1400" b="0" i="0" u="none" strike="noStrike" cap="none" dirty="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17" name="Google Shape;1815;p27">
            <a:extLst>
              <a:ext uri="{FF2B5EF4-FFF2-40B4-BE49-F238E27FC236}">
                <a16:creationId xmlns:a16="http://schemas.microsoft.com/office/drawing/2014/main" id="{35A0E568-FF0D-522D-7394-A653FCCC07AB}"/>
              </a:ext>
            </a:extLst>
          </p:cNvPr>
          <p:cNvSpPr/>
          <p:nvPr/>
        </p:nvSpPr>
        <p:spPr>
          <a:xfrm>
            <a:off x="509839" y="698078"/>
            <a:ext cx="5838321" cy="230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/>
          <a:p>
            <a:pPr marL="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0" i="0" u="none" strike="noStrike" cap="none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1.3 ISP 결과 반영</a:t>
            </a:r>
            <a:endParaRPr sz="1500" b="0" i="0" u="none" strike="noStrike" cap="none" dirty="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19" name="Google Shape;1816;p27">
            <a:extLst>
              <a:ext uri="{FF2B5EF4-FFF2-40B4-BE49-F238E27FC236}">
                <a16:creationId xmlns:a16="http://schemas.microsoft.com/office/drawing/2014/main" id="{D1F300C1-19D9-C66C-8BD3-AD7C3A485D8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rgbClr val="DDEAF6">
              <a:alpha val="70196"/>
            </a:srgbClr>
          </a:solidFill>
          <a:ln>
            <a:noFill/>
          </a:ln>
        </p:spPr>
        <p:txBody>
          <a:bodyPr spcFirstLastPara="1" wrap="square" lIns="72000" tIns="72000" rIns="72000" bIns="72000" anchor="ctr" anchorCtr="0">
            <a:noAutofit/>
          </a:bodyPr>
          <a:lstStyle/>
          <a:p>
            <a:pPr marL="0" marR="0" lvl="0" indent="0" algn="l" rtl="0">
              <a:lnSpc>
                <a:spcPct val="141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ISP 산출물과 실제 설계 간 불일치를 4단계 절차로 검증·협의해서 착수 후 설계 정합성을 확보 </a:t>
            </a:r>
            <a:endParaRPr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20" name="Google Shape;1817;p27">
            <a:extLst>
              <a:ext uri="{FF2B5EF4-FFF2-40B4-BE49-F238E27FC236}">
                <a16:creationId xmlns:a16="http://schemas.microsoft.com/office/drawing/2014/main" id="{C69DE0F1-CFC1-9C46-ADB0-8F2F67A37694}"/>
              </a:ext>
            </a:extLst>
          </p:cNvPr>
          <p:cNvCxnSpPr/>
          <p:nvPr/>
        </p:nvCxnSpPr>
        <p:spPr>
          <a:xfrm>
            <a:off x="312925" y="2397218"/>
            <a:ext cx="0" cy="184057"/>
          </a:xfrm>
          <a:prstGeom prst="straightConnector1">
            <a:avLst/>
          </a:prstGeom>
          <a:noFill/>
          <a:ln w="38100" cap="flat" cmpd="sng">
            <a:solidFill>
              <a:srgbClr val="002060"/>
            </a:solidFill>
            <a:prstDash val="solid"/>
            <a:miter lim="8000"/>
            <a:headEnd type="none" w="sm" len="sm"/>
            <a:tailEnd type="none" w="sm" len="sm"/>
          </a:ln>
        </p:spPr>
      </p:cxnSp>
      <p:sp>
        <p:nvSpPr>
          <p:cNvPr id="21" name="Google Shape;1818;p27">
            <a:extLst>
              <a:ext uri="{FF2B5EF4-FFF2-40B4-BE49-F238E27FC236}">
                <a16:creationId xmlns:a16="http://schemas.microsoft.com/office/drawing/2014/main" id="{5F67C168-ADAE-9F0C-00C0-A7BDF1D45F6F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ISP 결과 검증</a:t>
            </a:r>
            <a:endParaRPr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Google Shape;1819;p27">
            <a:extLst>
              <a:ext uri="{FF2B5EF4-FFF2-40B4-BE49-F238E27FC236}">
                <a16:creationId xmlns:a16="http://schemas.microsoft.com/office/drawing/2014/main" id="{6B6A11E8-484A-8E96-9CAD-781866BA392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rgbClr val="DDEAF6">
              <a:alpha val="70196"/>
            </a:srgbClr>
          </a:solidFill>
          <a:ln>
            <a:noFill/>
          </a:ln>
        </p:spPr>
        <p:txBody>
          <a:bodyPr spcFirstLastPara="1" wrap="square" lIns="72000" tIns="72000" rIns="72000" bIns="72000" anchor="ctr" anchorCtr="0">
            <a:noAutofit/>
          </a:bodyPr>
          <a:lstStyle/>
          <a:p>
            <a:pPr marL="0" marR="0" lvl="0" indent="0" algn="ctr" rtl="0">
              <a:lnSpc>
                <a:spcPct val="141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DR-002</a:t>
            </a:r>
            <a:endParaRPr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Google Shape;1820;p27">
            <a:extLst>
              <a:ext uri="{FF2B5EF4-FFF2-40B4-BE49-F238E27FC236}">
                <a16:creationId xmlns:a16="http://schemas.microsoft.com/office/drawing/2014/main" id="{09F854F5-37E2-32E5-B3EA-BED862FAF2C8}"/>
              </a:ext>
            </a:extLst>
          </p:cNvPr>
          <p:cNvSpPr/>
          <p:nvPr/>
        </p:nvSpPr>
        <p:spPr>
          <a:xfrm>
            <a:off x="316309" y="2710277"/>
            <a:ext cx="6286697" cy="31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36000" tIns="36000" rIns="36000" bIns="36000" anchor="t" anchorCtr="0">
            <a:spAutoFit/>
          </a:bodyPr>
          <a:lstStyle/>
          <a:p>
            <a:pPr marL="108000" marR="0" lvl="1" indent="-10800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(검증 대상 및 기준) ISP 최종 산출물인 </a:t>
            </a:r>
            <a:r>
              <a:rPr lang="ko-KR" sz="12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현황분석서·목표모델·정보시스템</a:t>
            </a: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</a:t>
            </a:r>
            <a:r>
              <a:rPr lang="ko-KR" sz="12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아키텍처·데이터</a:t>
            </a: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</a:t>
            </a:r>
            <a:r>
              <a:rPr lang="ko-KR" sz="12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아키텍처·이행계획</a:t>
            </a: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5종을 제안 단계에서 가정한 </a:t>
            </a:r>
            <a:r>
              <a:rPr lang="ko-KR" sz="12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요구사항정의서·목표서비스모델·아키텍처</a:t>
            </a: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초안과 항목별로 1:1 대응 비교</a:t>
            </a:r>
            <a:endParaRPr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marR="0" lvl="1" indent="-180975" algn="l" rtl="0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–"/>
            </a:pP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DR-002가 정의한 </a:t>
            </a:r>
            <a:r>
              <a:rPr lang="ko-KR" sz="11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타당성·완전성·일관성·구현</a:t>
            </a: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가능성 4개 기준을 그대로 적용하여 비교 결과를 그대로 </a:t>
            </a:r>
            <a:r>
              <a:rPr lang="ko-KR" sz="11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반영·일부</a:t>
            </a: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</a:t>
            </a:r>
            <a:r>
              <a:rPr lang="ko-KR" sz="11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조정·재작업</a:t>
            </a: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3개 등급으로 분류</a:t>
            </a:r>
            <a:endParaRPr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marR="0" lvl="1" indent="-180975" algn="l" rtl="0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–"/>
            </a:pP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제안 단계 설계는 ISP 수행 완료 이전 가정에 기반하므로, 시스템 설계팀이 착수 직후(8월 1주차) 실물 대조를 완료하지 않을 경우 9월 개발 착수 이후 설계 변경에 따른 재작업 위험 존재</a:t>
            </a:r>
            <a:endParaRPr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marR="0" lvl="1" indent="-108000" algn="l" rtl="0">
              <a:lnSpc>
                <a:spcPct val="120000"/>
              </a:lnSpc>
              <a:spcBef>
                <a:spcPts val="9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(4단계 절차 구성) 수령 직후 비교표를 작성하고, 불일치 항목을 </a:t>
            </a:r>
            <a:r>
              <a:rPr lang="ko-KR" sz="12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등급화한</a:t>
            </a: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뒤, </a:t>
            </a:r>
            <a:r>
              <a:rPr lang="ko-KR" sz="12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발주기관·ISP</a:t>
            </a:r>
            <a:r>
              <a:rPr lang="ko-KR" sz="12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수행기관 합동 협의체 검토를 거쳐, 설계서와 변경관리대장에 반영하는 4단계로 절차 구성</a:t>
            </a:r>
            <a:endParaRPr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marR="0" lvl="1" indent="-180975" algn="l" rtl="0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–"/>
            </a:pP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각 단계별 완료 기한을 착수일 기준 경과일수(D+3, D+5, D+10, D+14)로 지정하여 8월 </a:t>
            </a:r>
            <a:r>
              <a:rPr lang="ko-KR" sz="1100" b="0" i="0" u="none" strike="noStrike" cap="none" dirty="0" err="1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요구사항분석·설계</a:t>
            </a: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 단계 내 검증을 완료하고 9월 개발 착수 전까지 설계 확정 완료</a:t>
            </a:r>
            <a:endParaRPr dirty="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marR="0" lvl="1" indent="-180975" algn="l" rtl="0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–"/>
            </a:pPr>
            <a:r>
              <a:rPr lang="ko-KR" sz="1100" b="0" i="0" u="none" strike="noStrike" cap="none" dirty="0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협의체는 발주기관 사업관리 담당자, 사업 PM, ISP 수행기관 실무자로 구성하여 ISP 원안 취지가 임의로 변경되지 않도록 담당 주체와 책임소재 명확화</a:t>
            </a:r>
            <a:endParaRPr sz="110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Arial"/>
            </a:endParaRPr>
          </a:p>
        </p:txBody>
      </p:sp>
      <p:sp>
        <p:nvSpPr>
          <p:cNvPr id="25" name="Google Shape;1821;p27">
            <a:extLst>
              <a:ext uri="{FF2B5EF4-FFF2-40B4-BE49-F238E27FC236}">
                <a16:creationId xmlns:a16="http://schemas.microsoft.com/office/drawing/2014/main" id="{6B8E71BD-07E7-0F76-BFA1-0D29859ACFD9}"/>
              </a:ext>
            </a:extLst>
          </p:cNvPr>
          <p:cNvSpPr/>
          <p:nvPr/>
        </p:nvSpPr>
        <p:spPr>
          <a:xfrm>
            <a:off x="258881" y="2666395"/>
            <a:ext cx="6331500" cy="6941100"/>
          </a:xfrm>
          <a:prstGeom prst="roundRect">
            <a:avLst>
              <a:gd name="adj" fmla="val 0"/>
            </a:avLst>
          </a:prstGeom>
          <a:noFill/>
          <a:ln w="12700" cap="flat" cmpd="sng">
            <a:solidFill>
              <a:srgbClr val="1D4E89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285750" marR="0" lvl="0" indent="-2222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</a:pPr>
            <a:endParaRPr sz="1000" b="0" i="0" u="none" strike="noStrike" cap="none">
              <a:solidFill>
                <a:srgbClr val="44546A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graphicFrame>
        <p:nvGraphicFramePr>
          <p:cNvPr id="26" name="Google Shape;1822;p27">
            <a:extLst>
              <a:ext uri="{FF2B5EF4-FFF2-40B4-BE49-F238E27FC236}">
                <a16:creationId xmlns:a16="http://schemas.microsoft.com/office/drawing/2014/main" id="{EB5FEAD9-7A6E-D91E-26A8-77A8AC82313D}"/>
              </a:ext>
            </a:extLst>
          </p:cNvPr>
          <p:cNvGraphicFramePr/>
          <p:nvPr/>
        </p:nvGraphicFramePr>
        <p:xfrm>
          <a:off x="339852" y="6477000"/>
          <a:ext cx="6165700" cy="2964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69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9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131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131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575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b="1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단계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b="1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기간(착수일 기준)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b="1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주요 활동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b="1" u="none" strike="noStrike" cap="none">
                          <a:solidFill>
                            <a:srgbClr val="FFFFFF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산출물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71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① 대응 비교표 작성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D+3일 이내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ISP 5대 산출물과 제안 단계 설계 가정을 항목별로 대조하여 비교표 작성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ISP-설계 대응비교표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371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② 불일치 항목 등급화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D+5일 이내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비교 결과를 그대로 반영·일부 조정·재작업 3개 등급으로 분류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불일치항목 분류표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71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③ 합동 협의체 검토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D+10일 이내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발주기관·ISP 수행기관 합동 협의체에서 등급별 조정 방향 확정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요구사항검토서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71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④ 설계 반영·형상관리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D+14일 이내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확정 사항을 요구사항정의서·설계서에 반영하고 변경이력 기록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22222"/>
                        </a:buClr>
                        <a:buSzPts val="900"/>
                        <a:buFont typeface="Arial"/>
                        <a:buNone/>
                      </a:pPr>
                      <a:r>
                        <a:rPr lang="ko-KR" sz="900" u="none" strike="noStrike" cap="none">
                          <a:solidFill>
                            <a:srgbClr val="222222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변경관리대장, 확정요구사항목록</a:t>
                      </a:r>
                      <a:endParaRPr/>
                    </a:p>
                  </a:txBody>
                  <a:tcPr marL="91450" marR="91450" marT="45725" marB="45725" anchor="ctr">
                    <a:lnL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0150" cap="flat" cmpd="sng">
                      <a:solidFill>
                        <a:srgbClr val="C8D3E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7" name="Google Shape;1823;p27">
            <a:extLst>
              <a:ext uri="{FF2B5EF4-FFF2-40B4-BE49-F238E27FC236}">
                <a16:creationId xmlns:a16="http://schemas.microsoft.com/office/drawing/2014/main" id="{C0E54BD2-E678-35C1-5188-5D7BB4CCACF2}"/>
              </a:ext>
            </a:extLst>
          </p:cNvPr>
          <p:cNvSpPr txBox="1"/>
          <p:nvPr/>
        </p:nvSpPr>
        <p:spPr>
          <a:xfrm>
            <a:off x="1078416" y="6061303"/>
            <a:ext cx="466198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&lt; 착수 후 ISP-설계 정합성 검증 절차 &gt;</a:t>
            </a:r>
            <a:endParaRPr sz="12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28" name="Google Shape;1824;p27">
            <a:extLst>
              <a:ext uri="{FF2B5EF4-FFF2-40B4-BE49-F238E27FC236}">
                <a16:creationId xmlns:a16="http://schemas.microsoft.com/office/drawing/2014/main" id="{B2780A11-B478-79C3-2C86-EBCE521E3735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Calibri"/>
              </a:rPr>
              <a:t>HNINE</a:t>
            </a:r>
            <a:endParaRPr b="1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Calibri"/>
            </a:endParaRPr>
          </a:p>
        </p:txBody>
      </p:sp>
      <p:sp>
        <p:nvSpPr>
          <p:cNvPr id="29" name="Google Shape;1825;p27">
            <a:extLst>
              <a:ext uri="{FF2B5EF4-FFF2-40B4-BE49-F238E27FC236}">
                <a16:creationId xmlns:a16="http://schemas.microsoft.com/office/drawing/2014/main" id="{11DBA321-4198-DB74-890F-FF2F84D15271}"/>
              </a:ext>
            </a:extLst>
          </p:cNvPr>
          <p:cNvSpPr/>
          <p:nvPr/>
        </p:nvSpPr>
        <p:spPr>
          <a:xfrm>
            <a:off x="-310725" y="1316850"/>
            <a:ext cx="480900" cy="9174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Calibri"/>
              </a:rPr>
              <a:t>수정</a:t>
            </a:r>
            <a:endParaRPr b="1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Calibri"/>
            </a:endParaRPr>
          </a:p>
        </p:txBody>
      </p:sp>
      <p:sp>
        <p:nvSpPr>
          <p:cNvPr id="31" name="텍스트 개체 틀 9">
            <a:extLst>
              <a:ext uri="{FF2B5EF4-FFF2-40B4-BE49-F238E27FC236}">
                <a16:creationId xmlns:a16="http://schemas.microsoft.com/office/drawing/2014/main" id="{090438CF-0FA2-7F83-A2C6-2E2EA109481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 dirty="0">
                <a:solidFill>
                  <a:schemeClr val="tx1"/>
                </a:solidFill>
              </a:rPr>
              <a:t>Module 1. </a:t>
            </a:r>
            <a:r>
              <a:rPr lang="ko-KR" altLang="en-US" b="1" dirty="0"/>
              <a:t>기획 및 설계</a:t>
            </a:r>
          </a:p>
        </p:txBody>
      </p:sp>
    </p:spTree>
    <p:extLst>
      <p:ext uri="{BB962C8B-B14F-4D97-AF65-F5344CB8AC3E}">
        <p14:creationId xmlns:p14="http://schemas.microsoft.com/office/powerpoint/2010/main" val="362716927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6C6D05-BB80-49A6-7914-BFD1507210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B4E2C26-7211-F6ED-C7ED-B58FBD6B3D9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C9B7EFD-C4D3-E2AC-4176-7D11F73542B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A871829-6013-B9C6-B76F-2FE616AC408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1.3.3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연차별 로드맵 연계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E5441D0-C56F-E1CD-6EAB-B6DA5899AEE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1.3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ISP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결과 반영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4532115-8CF0-8905-1698-D59969FA690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ISP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로드맵을 본 사업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26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~11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단위 실행계획으로 구체화하고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사전개방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(12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본개방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(27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이라는 실제 마일스톤에 맞춰 단계별 산출물로 연계하겠음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BB5FAD1-71E4-F9D2-26EB-95146AA629E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2D848B7-8E1D-DD4D-1FDC-2680E956FF53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로드맵 구축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A7F2900-DBD5-3B0A-A376-C07C8CAD444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DR-018</a:t>
            </a:r>
          </a:p>
        </p:txBody>
      </p:sp>
      <p:sp>
        <p:nvSpPr>
          <p:cNvPr id="8" name="모서리가 둥근 직사각형 222">
            <a:extLst>
              <a:ext uri="{FF2B5EF4-FFF2-40B4-BE49-F238E27FC236}">
                <a16:creationId xmlns:a16="http://schemas.microsoft.com/office/drawing/2014/main" id="{E26B3DCC-1BBC-E9CA-6EDD-4DBB5483BBFE}"/>
              </a:ext>
            </a:extLst>
          </p:cNvPr>
          <p:cNvSpPr/>
          <p:nvPr/>
        </p:nvSpPr>
        <p:spPr bwMode="gray">
          <a:xfrm>
            <a:off x="279082" y="2666395"/>
            <a:ext cx="6331425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9" name="화살표: 오각형 8">
            <a:extLst>
              <a:ext uri="{FF2B5EF4-FFF2-40B4-BE49-F238E27FC236}">
                <a16:creationId xmlns:a16="http://schemas.microsoft.com/office/drawing/2014/main" id="{2288B755-183D-B999-2B9A-1B20DC0C743B}"/>
              </a:ext>
            </a:extLst>
          </p:cNvPr>
          <p:cNvSpPr/>
          <p:nvPr/>
        </p:nvSpPr>
        <p:spPr>
          <a:xfrm>
            <a:off x="335013" y="2968655"/>
            <a:ext cx="1541237" cy="589610"/>
          </a:xfrm>
          <a:prstGeom prst="homePlate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구축</a:t>
            </a:r>
            <a:b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’26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11" name="화살표: 갈매기형 수장 10">
            <a:extLst>
              <a:ext uri="{FF2B5EF4-FFF2-40B4-BE49-F238E27FC236}">
                <a16:creationId xmlns:a16="http://schemas.microsoft.com/office/drawing/2014/main" id="{E8045423-2382-5EEC-104D-E3D1CA5ACA5A}"/>
              </a:ext>
            </a:extLst>
          </p:cNvPr>
          <p:cNvSpPr/>
          <p:nvPr/>
        </p:nvSpPr>
        <p:spPr>
          <a:xfrm>
            <a:off x="1685451" y="2968655"/>
            <a:ext cx="1366393" cy="589611"/>
          </a:xfrm>
          <a:prstGeom prst="chevron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 개방</a:t>
            </a:r>
            <a:b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‘26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12" name="화살표: 갈매기형 수장 11">
            <a:extLst>
              <a:ext uri="{FF2B5EF4-FFF2-40B4-BE49-F238E27FC236}">
                <a16:creationId xmlns:a16="http://schemas.microsoft.com/office/drawing/2014/main" id="{81B32925-393E-2062-96CA-347246709849}"/>
              </a:ext>
            </a:extLst>
          </p:cNvPr>
          <p:cNvSpPr/>
          <p:nvPr/>
        </p:nvSpPr>
        <p:spPr>
          <a:xfrm>
            <a:off x="2861191" y="2968655"/>
            <a:ext cx="1366393" cy="589611"/>
          </a:xfrm>
          <a:prstGeom prst="chevron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개방</a:t>
            </a:r>
            <a:endParaRPr lang="en-US" altLang="ko-KR" sz="1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’27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13" name="화살표: 갈매기형 수장 12">
            <a:extLst>
              <a:ext uri="{FF2B5EF4-FFF2-40B4-BE49-F238E27FC236}">
                <a16:creationId xmlns:a16="http://schemas.microsoft.com/office/drawing/2014/main" id="{A51CDDEB-1B9A-56BD-66AA-F8E6A9F7AABF}"/>
              </a:ext>
            </a:extLst>
          </p:cNvPr>
          <p:cNvSpPr/>
          <p:nvPr/>
        </p:nvSpPr>
        <p:spPr>
          <a:xfrm>
            <a:off x="4036786" y="2968655"/>
            <a:ext cx="1366393" cy="589611"/>
          </a:xfrm>
          <a:prstGeom prst="chevron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고도화</a:t>
            </a:r>
            <a:endParaRPr lang="en-US" altLang="ko-KR" sz="1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`27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~12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14" name="화살표: 갈매기형 수장 13">
            <a:extLst>
              <a:ext uri="{FF2B5EF4-FFF2-40B4-BE49-F238E27FC236}">
                <a16:creationId xmlns:a16="http://schemas.microsoft.com/office/drawing/2014/main" id="{3C55AB29-0FEE-D7B8-8341-5E73E11FDF83}"/>
              </a:ext>
            </a:extLst>
          </p:cNvPr>
          <p:cNvSpPr/>
          <p:nvPr/>
        </p:nvSpPr>
        <p:spPr>
          <a:xfrm>
            <a:off x="5212526" y="2968655"/>
            <a:ext cx="1366393" cy="589611"/>
          </a:xfrm>
          <a:prstGeom prst="chevro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</a:t>
            </a:r>
            <a:endParaRPr lang="en-US" altLang="ko-KR" sz="1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`28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106B5A2-4AEA-1595-74C1-EE0B1BE840F2}"/>
              </a:ext>
            </a:extLst>
          </p:cNvPr>
          <p:cNvSpPr txBox="1"/>
          <p:nvPr/>
        </p:nvSpPr>
        <p:spPr>
          <a:xfrm>
            <a:off x="335011" y="3575411"/>
            <a:ext cx="1260427" cy="8309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요구사항분석 및 설계</a:t>
            </a:r>
            <a:endParaRPr lang="en-US" altLang="ko-KR" sz="8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개발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마이그레이션</a:t>
            </a:r>
            <a:endParaRPr lang="en-US" altLang="ko-KR" sz="8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성능시험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 개선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6EE3EC-BF8A-42E7-B611-F7E9B5057BF6}"/>
              </a:ext>
            </a:extLst>
          </p:cNvPr>
          <p:cNvSpPr txBox="1"/>
          <p:nvPr/>
        </p:nvSpPr>
        <p:spPr>
          <a:xfrm>
            <a:off x="1685449" y="3575411"/>
            <a:ext cx="1085729" cy="83099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 경로 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품질관리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카탈로그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제한 공개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19C452A-9AAC-37D1-58CB-ED54BE18CE6A}"/>
              </a:ext>
            </a:extLst>
          </p:cNvPr>
          <p:cNvSpPr txBox="1"/>
          <p:nvPr/>
        </p:nvSpPr>
        <p:spPr>
          <a:xfrm>
            <a:off x="2861189" y="3575411"/>
            <a:ext cx="1085729" cy="83099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전체 기능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데이터셋 정식 공개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8588D68-DC56-2C08-D53F-BD4BAAD135E9}"/>
              </a:ext>
            </a:extLst>
          </p:cNvPr>
          <p:cNvSpPr txBox="1"/>
          <p:nvPr/>
        </p:nvSpPr>
        <p:spPr>
          <a:xfrm>
            <a:off x="4036785" y="3575411"/>
            <a:ext cx="1085729" cy="83099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 데이터 기반 플랫폼 고도화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EFDA0C1-EC17-EA2D-BB0F-587311560CDC}"/>
              </a:ext>
            </a:extLst>
          </p:cNvPr>
          <p:cNvSpPr txBox="1"/>
          <p:nvPr/>
        </p:nvSpPr>
        <p:spPr>
          <a:xfrm>
            <a:off x="5212381" y="3575411"/>
            <a:ext cx="1085729" cy="83099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85725" indent="-8572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이용자 증가 대응 확장</a:t>
            </a:r>
            <a:r>
              <a:rPr lang="en-US" altLang="ko-KR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8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외부연계 확대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4600C7A-29E2-7C2F-3D75-4733527D4FA6}"/>
              </a:ext>
            </a:extLst>
          </p:cNvPr>
          <p:cNvSpPr txBox="1"/>
          <p:nvPr/>
        </p:nvSpPr>
        <p:spPr>
          <a:xfrm>
            <a:off x="335011" y="2722609"/>
            <a:ext cx="126042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사업 단계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2001DD7-B68A-4F54-F810-B91B1ECC89C9}"/>
              </a:ext>
            </a:extLst>
          </p:cNvPr>
          <p:cNvSpPr/>
          <p:nvPr/>
        </p:nvSpPr>
        <p:spPr>
          <a:xfrm>
            <a:off x="316309" y="4489226"/>
            <a:ext cx="6286697" cy="142384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(연계 원칙) ISP 단계에서 제시된 중장기 이행계획(로드맵)을 </a:t>
            </a:r>
            <a:r>
              <a:rPr kumimoji="1" lang="ko-KR" altLang="ko-KR" sz="1200" b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2026년 8월~11월 4개월간의 1차 구축, 12월 사전개방, 이듬해 1월 본개방이라는 마일스톤에 맞춰 재정렬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하고, 그 이후 연차별 고도화계획으로 분리하여 연결함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ISP 로드맵은 통상 3~5개년 단위의 개략적 방향으로 제시되므로, 본 사업은 그중 1차 구축 범위를 2026년 8월~11월(4개월) 사업기간에 맞는 상세 실행계획으로 전환하고, 2차 이후 범위는 향후 연차별 사업의 근거자료로 구체화함</a:t>
            </a:r>
          </a:p>
        </p:txBody>
      </p:sp>
      <p:graphicFrame>
        <p:nvGraphicFramePr>
          <p:cNvPr id="26" name="Table 0">
            <a:extLst>
              <a:ext uri="{FF2B5EF4-FFF2-40B4-BE49-F238E27FC236}">
                <a16:creationId xmlns:a16="http://schemas.microsoft.com/office/drawing/2014/main" id="{FEF21160-A8CC-52ED-7103-41917B9CEB5D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34859"/>
          <a:ext cx="6165724" cy="1980220"/>
        </p:xfrm>
        <a:graphic>
          <a:graphicData uri="http://schemas.openxmlformats.org/drawingml/2006/table">
            <a:tbl>
              <a:tblPr/>
              <a:tblGrid>
                <a:gridCol w="10697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279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200072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2013154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0029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완료 산출물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① 요구사항분석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수요조사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심층인터뷰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업무현황조사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GAP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목표모델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아키텍처 상세화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설계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요구사항정의서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목표서비스모델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화면설계서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데이터모델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② 개발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~10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 기능 구현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단위시험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프로그램 소스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단위시험결과서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② 데이터 이관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~10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 기능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이관 대상 확정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계획 수립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 이관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데이터이관계획서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마이그레이션결과서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③ 통합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11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상순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결과와 이관 데이터 간 정합성 검증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성능시험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시험계획서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시험결과서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보안점검결과서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3503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④ 오류개선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11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하순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시험 중 발견된 오류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미비점 조치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사전개방 준비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개선조치결과서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사전개방 준비완료 보고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760229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6F9705E7-D7B6-35F6-6735-0F5C0A4E45C0}"/>
              </a:ext>
            </a:extLst>
          </p:cNvPr>
          <p:cNvSpPr txBox="1"/>
          <p:nvPr/>
        </p:nvSpPr>
        <p:spPr>
          <a:xfrm>
            <a:off x="1078416" y="723715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1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구축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단계별 추진 과정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A3EABDE-63E3-3B40-8049-DBFFB475BC36}"/>
              </a:ext>
            </a:extLst>
          </p:cNvPr>
          <p:cNvSpPr/>
          <p:nvPr/>
        </p:nvSpPr>
        <p:spPr>
          <a:xfrm>
            <a:off x="316309" y="5931323"/>
            <a:ext cx="6286697" cy="122071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(구축 단계 구성 원칙) 4개월 구축 기간을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요구사항분석·설계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→ 개발 → 데이터 이관 →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시험·안정화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4단계로 구성하고, 단계별 산출물이 다음 단계의 입력이 되는 순차 연계 구조로 설계함(RFP "사업 수행내용" 4단계 구조와 연결)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각 단계는 착수 조건과 완료 기준(산출물)을 명확히 하여, 앞 단계 산출물 승인 없이 다음 단계로 넘어가지 않도록 관리함</a:t>
            </a:r>
          </a:p>
        </p:txBody>
      </p:sp>
    </p:spTree>
    <p:extLst>
      <p:ext uri="{BB962C8B-B14F-4D97-AF65-F5344CB8AC3E}">
        <p14:creationId xmlns:p14="http://schemas.microsoft.com/office/powerpoint/2010/main" val="301103063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0AA570-4FB6-D59D-D463-890B60D25E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0AEDB1A1-E694-6D19-8642-618D4660984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0911327-A6EB-C2FC-027B-F18579CEAF33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D6A532-2899-3E6E-7D06-A8BA5D262B9B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통합제공 개념 모델 정의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D58A554-A682-E17C-BCCB-9888D6E4202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18DBB09-A5DD-6BBE-B299-4D015A0991B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전 심사부터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활용까지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단계를 하나의 데이터 여정으로 연결하고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이를 지지하는 교차 기능을 결합하여 통합제공 개념 모델을 구성함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AEAA072-658A-0267-2F81-9C91DFFBD7F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BD31455-31A3-0296-7337-C6EAB677E09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통합제공 개념 모델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98B87D46-3828-6BF9-95A9-369A936A8975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DR-003, DR-005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D9149E3B-B307-0D0C-DD1F-74AB2F769785}"/>
              </a:ext>
            </a:extLst>
          </p:cNvPr>
          <p:cNvSpPr/>
          <p:nvPr/>
        </p:nvSpPr>
        <p:spPr bwMode="gray">
          <a:xfrm>
            <a:off x="279082" y="2666395"/>
            <a:ext cx="6331425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A0CF2D9-6BB4-2AD0-18CD-03FA9EC8F8FF}"/>
              </a:ext>
            </a:extLst>
          </p:cNvPr>
          <p:cNvSpPr/>
          <p:nvPr/>
        </p:nvSpPr>
        <p:spPr>
          <a:xfrm>
            <a:off x="316309" y="2744233"/>
            <a:ext cx="6286697" cy="166544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(메인 흐름 정의)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등록후보관리·등록지원·라이프사이클·품질로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이어지는 내부 처리 계열과,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카탈로그·검색·제공·머신리더블로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이어지는 외부 노출 계열 2단으로 8단계를 구분함(RFP 사업목적 ①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발굴·등록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②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품질관리·비식별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③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개방·제공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④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검색·연계·활용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4개 항목과 1:1 대응)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내부 처리 계열은 등록후보 적합도 심사, 등록 실행,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생성~폐기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관리, 품질판정 4단계로 구성하고, 외부 노출 계열은 카탈로그 게시, 의미기반 검색,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개방·활용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에이전트 판독 4단계로 구성함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품질판정을 통과한 데이터만 카탈로그에 게시되어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검색·제공·머신리더블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단계로 노출되도록 승인 게이트를 설정함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84FE840-3B4B-5236-7EEA-66618AEC4D35}"/>
              </a:ext>
            </a:extLst>
          </p:cNvPr>
          <p:cNvSpPr/>
          <p:nvPr/>
        </p:nvSpPr>
        <p:spPr>
          <a:xfrm>
            <a:off x="424114" y="4793911"/>
            <a:ext cx="1230061" cy="57785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등록후보관리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적합도 심사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(FR-001)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83BC661-C9E7-F565-7D19-A77C8684ABEF}"/>
              </a:ext>
            </a:extLst>
          </p:cNvPr>
          <p:cNvSpPr/>
          <p:nvPr/>
        </p:nvSpPr>
        <p:spPr>
          <a:xfrm>
            <a:off x="2002089" y="4793911"/>
            <a:ext cx="1230061" cy="57785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등록지원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실행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(FR-002)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532A904D-CF1C-55C9-EF17-7DFBCF20D808}"/>
              </a:ext>
            </a:extLst>
          </p:cNvPr>
          <p:cNvCxnSpPr>
            <a:stCxn id="14" idx="3"/>
            <a:endCxn id="15" idx="1"/>
          </p:cNvCxnSpPr>
          <p:nvPr/>
        </p:nvCxnSpPr>
        <p:spPr>
          <a:xfrm>
            <a:off x="1654175" y="5082836"/>
            <a:ext cx="347914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54636334-0929-5138-93BF-2C1FF2CBFF10}"/>
              </a:ext>
            </a:extLst>
          </p:cNvPr>
          <p:cNvSpPr txBox="1"/>
          <p:nvPr/>
        </p:nvSpPr>
        <p:spPr>
          <a:xfrm>
            <a:off x="1078416" y="443362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통합제공 개념 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A619A10-D2FE-040A-D749-92D6B5731E52}"/>
              </a:ext>
            </a:extLst>
          </p:cNvPr>
          <p:cNvSpPr txBox="1"/>
          <p:nvPr/>
        </p:nvSpPr>
        <p:spPr>
          <a:xfrm>
            <a:off x="375152" y="6576634"/>
            <a:ext cx="4222406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행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파랑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): 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내부 처리 계열 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— 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등록후보관리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등록지원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라이프사이클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</a:t>
            </a:r>
          </a:p>
          <a:p>
            <a:pPr algn="l"/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행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녹색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): 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노출 계열 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— 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카탈로그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머신리더블</a:t>
            </a:r>
            <a:endParaRPr lang="ko-KR" altLang="en-US" sz="900">
              <a:solidFill>
                <a:schemeClr val="bg1">
                  <a:lumMod val="6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 판정을 통과한 데이터만 카탈로그에 게시되어 검색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머신리더블로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노출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9AA2C799-1841-4622-DA4A-D9CB2DBCB549}"/>
              </a:ext>
            </a:extLst>
          </p:cNvPr>
          <p:cNvSpPr/>
          <p:nvPr/>
        </p:nvSpPr>
        <p:spPr>
          <a:xfrm>
            <a:off x="3571538" y="4793911"/>
            <a:ext cx="1230061" cy="57785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(FR-004)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DDFB5DF4-9062-8B08-3A90-758A1A09CD1E}"/>
              </a:ext>
            </a:extLst>
          </p:cNvPr>
          <p:cNvSpPr/>
          <p:nvPr/>
        </p:nvSpPr>
        <p:spPr>
          <a:xfrm>
            <a:off x="5140987" y="4793911"/>
            <a:ext cx="1230061" cy="57785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품질판정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(FR-007)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AA12F29-6D1D-3991-58E5-F23234648DD5}"/>
              </a:ext>
            </a:extLst>
          </p:cNvPr>
          <p:cNvCxnSpPr/>
          <p:nvPr/>
        </p:nvCxnSpPr>
        <p:spPr>
          <a:xfrm>
            <a:off x="3223624" y="5082836"/>
            <a:ext cx="347914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357CEE3B-C01C-3C83-2E5B-864EA72ED287}"/>
              </a:ext>
            </a:extLst>
          </p:cNvPr>
          <p:cNvCxnSpPr/>
          <p:nvPr/>
        </p:nvCxnSpPr>
        <p:spPr>
          <a:xfrm>
            <a:off x="4793073" y="5082836"/>
            <a:ext cx="347914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A868B2E-858A-5116-7408-7D5709B19BFC}"/>
              </a:ext>
            </a:extLst>
          </p:cNvPr>
          <p:cNvSpPr/>
          <p:nvPr/>
        </p:nvSpPr>
        <p:spPr>
          <a:xfrm>
            <a:off x="424114" y="5805198"/>
            <a:ext cx="1230061" cy="57785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게시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(FR-025)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7636DD4-6A37-42F4-731D-2E9799886D5C}"/>
              </a:ext>
            </a:extLst>
          </p:cNvPr>
          <p:cNvSpPr/>
          <p:nvPr/>
        </p:nvSpPr>
        <p:spPr>
          <a:xfrm>
            <a:off x="2002089" y="5805198"/>
            <a:ext cx="1230061" cy="57785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의미기반 탐색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(FR-012)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D7E009AB-24B0-CFBC-CDDB-0832454197B7}"/>
              </a:ext>
            </a:extLst>
          </p:cNvPr>
          <p:cNvCxnSpPr>
            <a:stCxn id="49" idx="3"/>
            <a:endCxn id="50" idx="1"/>
          </p:cNvCxnSpPr>
          <p:nvPr/>
        </p:nvCxnSpPr>
        <p:spPr>
          <a:xfrm>
            <a:off x="1654175" y="6094123"/>
            <a:ext cx="347914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6E8289A0-CCF5-BE5B-602E-65144841F6B6}"/>
              </a:ext>
            </a:extLst>
          </p:cNvPr>
          <p:cNvSpPr/>
          <p:nvPr/>
        </p:nvSpPr>
        <p:spPr>
          <a:xfrm>
            <a:off x="3571538" y="5805198"/>
            <a:ext cx="1230061" cy="57785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(FR-014)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1CBFE41B-85B9-8B02-30D8-D3A0F0F81B85}"/>
              </a:ext>
            </a:extLst>
          </p:cNvPr>
          <p:cNvSpPr/>
          <p:nvPr/>
        </p:nvSpPr>
        <p:spPr>
          <a:xfrm>
            <a:off x="5140987" y="5805198"/>
            <a:ext cx="1230061" cy="57785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에이전트 판독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(FR-021)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58D76C2B-332D-013A-48D8-A727D38B6F6B}"/>
              </a:ext>
            </a:extLst>
          </p:cNvPr>
          <p:cNvCxnSpPr/>
          <p:nvPr/>
        </p:nvCxnSpPr>
        <p:spPr>
          <a:xfrm>
            <a:off x="3223624" y="6094123"/>
            <a:ext cx="347914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D3A83B5-4FE4-1926-9EF2-D4652844F94A}"/>
              </a:ext>
            </a:extLst>
          </p:cNvPr>
          <p:cNvCxnSpPr/>
          <p:nvPr/>
        </p:nvCxnSpPr>
        <p:spPr>
          <a:xfrm>
            <a:off x="4793073" y="6094123"/>
            <a:ext cx="347914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56">
            <a:extLst>
              <a:ext uri="{FF2B5EF4-FFF2-40B4-BE49-F238E27FC236}">
                <a16:creationId xmlns:a16="http://schemas.microsoft.com/office/drawing/2014/main" id="{D0962F80-B4B2-9751-57D4-E9F6068905C5}"/>
              </a:ext>
            </a:extLst>
          </p:cNvPr>
          <p:cNvCxnSpPr>
            <a:stCxn id="46" idx="2"/>
            <a:endCxn id="49" idx="0"/>
          </p:cNvCxnSpPr>
          <p:nvPr/>
        </p:nvCxnSpPr>
        <p:spPr>
          <a:xfrm rot="5400000">
            <a:off x="3180864" y="3230043"/>
            <a:ext cx="433437" cy="4716873"/>
          </a:xfrm>
          <a:prstGeom prst="bentConnector3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49D9E359-3243-C2F8-D91D-21288E3F69F3}"/>
              </a:ext>
            </a:extLst>
          </p:cNvPr>
          <p:cNvSpPr txBox="1"/>
          <p:nvPr/>
        </p:nvSpPr>
        <p:spPr>
          <a:xfrm>
            <a:off x="2377309" y="5390016"/>
            <a:ext cx="195098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승인게이트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판정 통과 데이터만 개시</a:t>
            </a:r>
          </a:p>
        </p:txBody>
      </p:sp>
      <p:graphicFrame>
        <p:nvGraphicFramePr>
          <p:cNvPr id="63" name="Table 0">
            <a:extLst>
              <a:ext uri="{FF2B5EF4-FFF2-40B4-BE49-F238E27FC236}">
                <a16:creationId xmlns:a16="http://schemas.microsoft.com/office/drawing/2014/main" id="{ED151BDC-4EA8-9550-CAE0-B970055008EC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7513528"/>
          <a:ext cx="6127622" cy="2011471"/>
        </p:xfrm>
        <a:graphic>
          <a:graphicData uri="http://schemas.openxmlformats.org/drawingml/2006/table">
            <a:tbl>
              <a:tblPr/>
              <a:tblGrid>
                <a:gridCol w="7892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9242">
                  <a:extLst>
                    <a:ext uri="{9D8B030D-6E8A-4147-A177-3AD203B41FA5}">
                      <a16:colId xmlns:a16="http://schemas.microsoft.com/office/drawing/2014/main" val="1011379322"/>
                    </a:ext>
                  </a:extLst>
                </a:gridCol>
                <a:gridCol w="186309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68604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37575">
                <a:tc gridSpan="2"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737">
                <a:tc rowSpan="4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등록후보관리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접수→적합도심사→승인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등록승인 후보목록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737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계획수립→평가→메타생성→심의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등록완료 데이터셋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21737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생성→스테이징→레이블링→배포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배포가능 패키지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21737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사전진단→검수→판정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판정등급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합격만 통과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21737">
                <a:tc rowSpan="4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분류적용→게시→현행화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게시된 카탈로그 목록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9102401"/>
                  </a:ext>
                </a:extLst>
              </a:tr>
              <a:tr h="221737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색인조회→의미확장→관계탐색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검색결과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442561"/>
                  </a:ext>
                </a:extLst>
              </a:tr>
              <a:tr h="221737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신청→심사→승인→제공→반출통제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제공완료 이력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064022"/>
                  </a:ext>
                </a:extLst>
              </a:tr>
              <a:tr h="221737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요청수신→권한확인→판독→응답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기계판독 상태정보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3861686"/>
                  </a:ext>
                </a:extLst>
              </a:tr>
            </a:tbl>
          </a:graphicData>
        </a:graphic>
      </p:graphicFrame>
      <p:sp>
        <p:nvSpPr>
          <p:cNvPr id="65" name="TextBox 64">
            <a:extLst>
              <a:ext uri="{FF2B5EF4-FFF2-40B4-BE49-F238E27FC236}">
                <a16:creationId xmlns:a16="http://schemas.microsoft.com/office/drawing/2014/main" id="{617E504E-9F7D-8F59-29D5-75FDF15A9E51}"/>
              </a:ext>
            </a:extLst>
          </p:cNvPr>
          <p:cNvSpPr txBox="1"/>
          <p:nvPr/>
        </p:nvSpPr>
        <p:spPr>
          <a:xfrm>
            <a:off x="1078416" y="723652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처리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출력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8805173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C7FDF8-1465-69E8-C9BC-C8AD62340E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6579F4F-3C75-2779-78AB-16F5BC18FCD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D5A34A8-D9DE-D775-477D-E43FE35908A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D069570-28C4-9E4B-D5D4-60BA6548BA3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통합제공 개념 모델 정의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DEB2EA3-6A73-9C48-A67D-6789B96AB76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5592341-68A8-AC0D-E51D-7909052777F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작업지원 계열이 메인 흐름을 실행할 물리적 공간과 배경정보를 제공한다면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교차 통제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 계열은 그 흐름이 올바르게 통과되고 있는지 게이트로 검증하고 로그로 감시하는 역할을 수행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27A085E-01E7-33B3-836A-00EB283D194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23A6468-57FF-C417-4738-A8030BEF39A3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작업지원 계열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개념 모델의 세부 관계도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DBA1F0BF-743E-B780-A134-F66696A5DB2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DR-003, DR-005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A104B861-3C0D-48CE-D55E-847597F04948}"/>
              </a:ext>
            </a:extLst>
          </p:cNvPr>
          <p:cNvSpPr/>
          <p:nvPr/>
        </p:nvSpPr>
        <p:spPr bwMode="gray">
          <a:xfrm>
            <a:off x="279082" y="2666396"/>
            <a:ext cx="6331425" cy="34277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E232CCA-EA2B-3C34-974E-47CCDDCAAC53}"/>
              </a:ext>
            </a:extLst>
          </p:cNvPr>
          <p:cNvSpPr/>
          <p:nvPr/>
        </p:nvSpPr>
        <p:spPr>
          <a:xfrm>
            <a:off x="316309" y="2744233"/>
            <a:ext cx="6286697" cy="166544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(모델 정의) 워크스페이스는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라이프사이클·품질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작업이 실제 수행되는 공간이며, 협력관리는 그 작업의 상대방인 외부 제공기관과의 커뮤니케이션을 관리함(RFP FR-008~010 워크스페이스, FR-003 협력관리 요건과 연결)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워크스페이스는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라이프사이클·품질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영역과 양방향으로 연결되어, </a:t>
            </a:r>
            <a:r>
              <a:rPr kumimoji="1" lang="ko-KR" altLang="ko-KR" sz="1100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등록·검토·보완·품질확인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등의 실제 작업이 이 공간 안에서 이루어지고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진행현황이 다시 워크스페이스로 집계됨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협력관리는 등록후보관리 단계의 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제공기관과의 </a:t>
            </a:r>
            <a:r>
              <a:rPr kumimoji="1" lang="ko-KR" altLang="ko-KR" sz="1100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의향서·협약·커뮤니케이션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이력을 관리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하여, 등록 여부 판단의 배경 정보를 제공함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1D26B59-34F2-4566-7384-12C13A9C764F}"/>
              </a:ext>
            </a:extLst>
          </p:cNvPr>
          <p:cNvSpPr txBox="1"/>
          <p:nvPr/>
        </p:nvSpPr>
        <p:spPr>
          <a:xfrm>
            <a:off x="1267332" y="443362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작업지원 계열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워크스페이스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협력관리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개념 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84C8F61-2356-973E-1BCF-FCBC8EA9E43C}"/>
              </a:ext>
            </a:extLst>
          </p:cNvPr>
          <p:cNvSpPr/>
          <p:nvPr/>
        </p:nvSpPr>
        <p:spPr>
          <a:xfrm>
            <a:off x="999890" y="4728883"/>
            <a:ext cx="1460305" cy="498221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등록후보관리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 흐름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FF0A20D-3941-DDAE-5EFD-7F761E828586}"/>
              </a:ext>
            </a:extLst>
          </p:cNvPr>
          <p:cNvSpPr/>
          <p:nvPr/>
        </p:nvSpPr>
        <p:spPr>
          <a:xfrm>
            <a:off x="2873232" y="4728883"/>
            <a:ext cx="1460305" cy="498221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 흐름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2D3CD4B0-004C-9D3D-65A9-1C75F60CBCAA}"/>
              </a:ext>
            </a:extLst>
          </p:cNvPr>
          <p:cNvCxnSpPr>
            <a:cxnSpLocks/>
            <a:stCxn id="10" idx="3"/>
            <a:endCxn id="12" idx="1"/>
          </p:cNvCxnSpPr>
          <p:nvPr/>
        </p:nvCxnSpPr>
        <p:spPr>
          <a:xfrm>
            <a:off x="2460195" y="4977994"/>
            <a:ext cx="413037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12218C17-0715-498A-34C5-E27B18FE61B0}"/>
              </a:ext>
            </a:extLst>
          </p:cNvPr>
          <p:cNvSpPr/>
          <p:nvPr/>
        </p:nvSpPr>
        <p:spPr>
          <a:xfrm>
            <a:off x="4736453" y="4728883"/>
            <a:ext cx="1460305" cy="498221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 흐름</a:t>
            </a: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8B1A8B8F-20F0-B5B6-7097-F50F280F1571}"/>
              </a:ext>
            </a:extLst>
          </p:cNvPr>
          <p:cNvCxnSpPr>
            <a:cxnSpLocks/>
          </p:cNvCxnSpPr>
          <p:nvPr/>
        </p:nvCxnSpPr>
        <p:spPr>
          <a:xfrm>
            <a:off x="4323416" y="5017808"/>
            <a:ext cx="413037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81D584B-4D84-3CFB-494D-588ECAF6B49B}"/>
              </a:ext>
            </a:extLst>
          </p:cNvPr>
          <p:cNvSpPr/>
          <p:nvPr/>
        </p:nvSpPr>
        <p:spPr>
          <a:xfrm>
            <a:off x="999890" y="5528051"/>
            <a:ext cx="1460305" cy="451837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협력관리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의향서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협약 이력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DBEDD85-F1EC-2286-F96F-2DBAE8938AF0}"/>
              </a:ext>
            </a:extLst>
          </p:cNvPr>
          <p:cNvSpPr/>
          <p:nvPr/>
        </p:nvSpPr>
        <p:spPr>
          <a:xfrm>
            <a:off x="2873232" y="5528051"/>
            <a:ext cx="3259015" cy="451837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워크스페이스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실제 작업 수행공간</a:t>
            </a:r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E17C8D9D-50D7-2C39-3243-D52799CCC194}"/>
              </a:ext>
            </a:extLst>
          </p:cNvPr>
          <p:cNvCxnSpPr>
            <a:stCxn id="24" idx="0"/>
            <a:endCxn id="10" idx="2"/>
          </p:cNvCxnSpPr>
          <p:nvPr/>
        </p:nvCxnSpPr>
        <p:spPr>
          <a:xfrm flipV="1">
            <a:off x="1730043" y="5227104"/>
            <a:ext cx="0" cy="300947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4009E15C-AD12-7A1A-E466-8E9ADB5F1E43}"/>
              </a:ext>
            </a:extLst>
          </p:cNvPr>
          <p:cNvCxnSpPr>
            <a:stCxn id="12" idx="2"/>
          </p:cNvCxnSpPr>
          <p:nvPr/>
        </p:nvCxnSpPr>
        <p:spPr>
          <a:xfrm>
            <a:off x="3603385" y="5227104"/>
            <a:ext cx="0" cy="300947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4BB16DDC-A297-78CC-AF52-377E4F3F7F13}"/>
              </a:ext>
            </a:extLst>
          </p:cNvPr>
          <p:cNvCxnSpPr>
            <a:stCxn id="18" idx="2"/>
          </p:cNvCxnSpPr>
          <p:nvPr/>
        </p:nvCxnSpPr>
        <p:spPr>
          <a:xfrm>
            <a:off x="5466606" y="5227104"/>
            <a:ext cx="0" cy="300947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BD7EB72-FE44-7956-729E-8D567D009700}"/>
              </a:ext>
            </a:extLst>
          </p:cNvPr>
          <p:cNvCxnSpPr>
            <a:cxnSpLocks/>
          </p:cNvCxnSpPr>
          <p:nvPr/>
        </p:nvCxnSpPr>
        <p:spPr>
          <a:xfrm>
            <a:off x="312925" y="619803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3FADF045-508E-5F23-0245-E3A78CC8AAE4}"/>
              </a:ext>
            </a:extLst>
          </p:cNvPr>
          <p:cNvSpPr txBox="1"/>
          <p:nvPr/>
        </p:nvSpPr>
        <p:spPr>
          <a:xfrm>
            <a:off x="335012" y="6171961"/>
            <a:ext cx="39884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교차 통제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 계열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개념 모델의 세부 관계도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모서리가 둥근 직사각형 222">
            <a:extLst>
              <a:ext uri="{FF2B5EF4-FFF2-40B4-BE49-F238E27FC236}">
                <a16:creationId xmlns:a16="http://schemas.microsoft.com/office/drawing/2014/main" id="{E75D3FED-7C68-F3CF-7F9F-064EB1F8AA12}"/>
              </a:ext>
            </a:extLst>
          </p:cNvPr>
          <p:cNvSpPr/>
          <p:nvPr/>
        </p:nvSpPr>
        <p:spPr bwMode="gray">
          <a:xfrm>
            <a:off x="279082" y="6467216"/>
            <a:ext cx="6331425" cy="320937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FF185CB-5254-A474-104B-501974C34F06}"/>
              </a:ext>
            </a:extLst>
          </p:cNvPr>
          <p:cNvSpPr/>
          <p:nvPr/>
        </p:nvSpPr>
        <p:spPr>
          <a:xfrm>
            <a:off x="316309" y="6545053"/>
            <a:ext cx="6286697" cy="144384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(모델 정의) 저작권연계는 등록지원과 외부제공 두 지점에서 통과 여부를 판정하는 게이트 역할을 하고, 통계활용은 등록부터 제공까지 전 단계에서 발생하는 로그를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수집·분석함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저작권연계는 흐름의 일부가 아니라 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흐름을 통과시킬지 막을지 판정하는 </a:t>
            </a:r>
            <a:r>
              <a:rPr kumimoji="1" lang="ko-KR" altLang="ko-KR" sz="1100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통제점이며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등록지원 단계(신규 데이터의 권리 확인)와 외부제공 단계(반출 전 최종 확인) 2곳에 걸림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통계활용은 흐름에 개입하지 않고 각 단계의 로그만 수집하여, 등록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건수·검수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리드타임·제공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이력 등을 운영지표로 산출함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2F29D81-E70B-91FC-7D35-3A29EA16F986}"/>
              </a:ext>
            </a:extLst>
          </p:cNvPr>
          <p:cNvSpPr txBox="1"/>
          <p:nvPr/>
        </p:nvSpPr>
        <p:spPr>
          <a:xfrm>
            <a:off x="1254632" y="803029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교차 통제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 계열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저작권연계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통계활용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개념 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D913456-E5D5-5CB1-91A3-F9D7C84A2F70}"/>
              </a:ext>
            </a:extLst>
          </p:cNvPr>
          <p:cNvSpPr/>
          <p:nvPr/>
        </p:nvSpPr>
        <p:spPr>
          <a:xfrm>
            <a:off x="987190" y="8325547"/>
            <a:ext cx="1460305" cy="498221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등록지원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 흐름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0A244D89-15BE-CFD9-435F-790903380FC8}"/>
              </a:ext>
            </a:extLst>
          </p:cNvPr>
          <p:cNvSpPr/>
          <p:nvPr/>
        </p:nvSpPr>
        <p:spPr>
          <a:xfrm>
            <a:off x="4659242" y="8325547"/>
            <a:ext cx="1460305" cy="498221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외부제공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 흐름</a:t>
            </a:r>
          </a:p>
        </p:txBody>
      </p: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E3506299-D841-8482-88AB-22DC6673716B}"/>
              </a:ext>
            </a:extLst>
          </p:cNvPr>
          <p:cNvCxnSpPr>
            <a:cxnSpLocks/>
            <a:stCxn id="67" idx="3"/>
            <a:endCxn id="68" idx="1"/>
          </p:cNvCxnSpPr>
          <p:nvPr/>
        </p:nvCxnSpPr>
        <p:spPr>
          <a:xfrm>
            <a:off x="2447495" y="8574658"/>
            <a:ext cx="2211747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F2FC2BEB-79AB-879B-58C7-A9316B9AF878}"/>
              </a:ext>
            </a:extLst>
          </p:cNvPr>
          <p:cNvSpPr/>
          <p:nvPr/>
        </p:nvSpPr>
        <p:spPr>
          <a:xfrm>
            <a:off x="2006365" y="9124715"/>
            <a:ext cx="3259015" cy="451837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저작권연계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권리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위험 판정 게이트</a:t>
            </a:r>
          </a:p>
        </p:txBody>
      </p:sp>
      <p:cxnSp>
        <p:nvCxnSpPr>
          <p:cNvPr id="79" name="연결선: 꺾임 78">
            <a:extLst>
              <a:ext uri="{FF2B5EF4-FFF2-40B4-BE49-F238E27FC236}">
                <a16:creationId xmlns:a16="http://schemas.microsoft.com/office/drawing/2014/main" id="{42B876F2-5EEC-A593-FAFB-4A912D6C84D4}"/>
              </a:ext>
            </a:extLst>
          </p:cNvPr>
          <p:cNvCxnSpPr>
            <a:stCxn id="67" idx="2"/>
            <a:endCxn id="73" idx="0"/>
          </p:cNvCxnSpPr>
          <p:nvPr/>
        </p:nvCxnSpPr>
        <p:spPr>
          <a:xfrm rot="16200000" flipH="1">
            <a:off x="2526135" y="8014976"/>
            <a:ext cx="300947" cy="1918530"/>
          </a:xfrm>
          <a:prstGeom prst="bentConnector3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80">
            <a:extLst>
              <a:ext uri="{FF2B5EF4-FFF2-40B4-BE49-F238E27FC236}">
                <a16:creationId xmlns:a16="http://schemas.microsoft.com/office/drawing/2014/main" id="{1D5B6316-2A29-ABC2-14B2-892051376990}"/>
              </a:ext>
            </a:extLst>
          </p:cNvPr>
          <p:cNvCxnSpPr>
            <a:stCxn id="68" idx="2"/>
            <a:endCxn id="73" idx="0"/>
          </p:cNvCxnSpPr>
          <p:nvPr/>
        </p:nvCxnSpPr>
        <p:spPr>
          <a:xfrm rot="5400000">
            <a:off x="4362161" y="8097480"/>
            <a:ext cx="300947" cy="1753522"/>
          </a:xfrm>
          <a:prstGeom prst="bentConnector3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10EAA685-2EC9-3CFB-E5CF-BD28A7075C17}"/>
              </a:ext>
            </a:extLst>
          </p:cNvPr>
          <p:cNvSpPr txBox="1"/>
          <p:nvPr/>
        </p:nvSpPr>
        <p:spPr>
          <a:xfrm>
            <a:off x="220302" y="4765439"/>
            <a:ext cx="914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</a:t>
            </a:r>
            <a:b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프로세스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046076AB-B66B-649D-0447-5F0C4D6823D8}"/>
              </a:ext>
            </a:extLst>
          </p:cNvPr>
          <p:cNvSpPr txBox="1"/>
          <p:nvPr/>
        </p:nvSpPr>
        <p:spPr>
          <a:xfrm>
            <a:off x="207602" y="8343824"/>
            <a:ext cx="914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</a:t>
            </a:r>
            <a:b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프로세스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6B9743B-BA39-E7C1-7C3C-8BE882FF91EC}"/>
              </a:ext>
            </a:extLst>
          </p:cNvPr>
          <p:cNvSpPr txBox="1"/>
          <p:nvPr/>
        </p:nvSpPr>
        <p:spPr>
          <a:xfrm>
            <a:off x="220302" y="5546307"/>
            <a:ext cx="914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별도 </a:t>
            </a:r>
            <a:b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34FFAFB-6256-903A-EA28-D7079E3C3B28}"/>
              </a:ext>
            </a:extLst>
          </p:cNvPr>
          <p:cNvSpPr txBox="1"/>
          <p:nvPr/>
        </p:nvSpPr>
        <p:spPr>
          <a:xfrm>
            <a:off x="207602" y="9114887"/>
            <a:ext cx="914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별도 </a:t>
            </a:r>
            <a:b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</a:t>
            </a:r>
          </a:p>
        </p:txBody>
      </p:sp>
    </p:spTree>
    <p:extLst>
      <p:ext uri="{BB962C8B-B14F-4D97-AF65-F5344CB8AC3E}">
        <p14:creationId xmlns:p14="http://schemas.microsoft.com/office/powerpoint/2010/main" val="129777549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2C10BF-D6D3-A84B-70BE-464B56D7D6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1846112-B841-7937-6B75-8D0AC4DD0E4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A970F62-967F-2E01-0573-6BB3BF266B14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6B34061-4AD9-A590-0E2E-EA476E8E5D62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통합제공 개념 모델 정의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7C11DEF-4131-BF94-4E31-5001C9E3563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491E917-8199-80E0-9847-059726DF75E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계열은 공통기반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·Admin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운영지원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자원관리가 식별체계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물리자원을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표준화하여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메인 흐름과 교차 기능 전체가 동일한 규칙 위에서 작동하도록 떠받치는 개념 모델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9746F60-6458-A193-ABDD-4B7B27E00BF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9D4EEDB-DA5C-A151-BC94-2C6E4F344FCB}"/>
              </a:ext>
            </a:extLst>
          </p:cNvPr>
          <p:cNvSpPr txBox="1"/>
          <p:nvPr/>
        </p:nvSpPr>
        <p:spPr>
          <a:xfrm>
            <a:off x="335011" y="2371141"/>
            <a:ext cx="36369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계열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개념 모델의 세부 관계도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1598B39-67A4-1EE3-F261-B3C42FACB54B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DR-003, DR-005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0AFAF6AE-0EE9-006C-6AD3-DE9970CE3966}"/>
              </a:ext>
            </a:extLst>
          </p:cNvPr>
          <p:cNvSpPr/>
          <p:nvPr/>
        </p:nvSpPr>
        <p:spPr bwMode="gray">
          <a:xfrm>
            <a:off x="279082" y="2666396"/>
            <a:ext cx="6331425" cy="3848704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8C395A6-12CF-058B-BFAF-D5670CC2C3BF}"/>
              </a:ext>
            </a:extLst>
          </p:cNvPr>
          <p:cNvSpPr/>
          <p:nvPr/>
        </p:nvSpPr>
        <p:spPr>
          <a:xfrm>
            <a:off x="316309" y="2744233"/>
            <a:ext cx="6286697" cy="166544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(모델 정의)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운영지원·공통기반은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앞서 그린 모든 영역(메인 흐름 8단계+워크스페이스·협력관리+저작권연계·통계활용) 아래에서 이를 가능하게 하는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인프라·관리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기능임(RFP FR-031~040 요건과 연결)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공통기반(FR-031, 033)은 </a:t>
            </a:r>
            <a:r>
              <a:rPr kumimoji="1" lang="ko-KR" altLang="ko-KR" sz="1100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식별체계·코드·데이터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자산 버전관리를 </a:t>
            </a:r>
            <a:r>
              <a:rPr kumimoji="1" lang="ko-KR" altLang="ko-KR" sz="1100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표준화하여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모든 상위 영역이 동일한 규칙으로 데이터를 참조하도록 지원함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Admin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기능(FR-034~039)은 </a:t>
            </a:r>
            <a:r>
              <a:rPr kumimoji="1" lang="ko-KR" altLang="ko-KR" sz="1100" spc="-20" err="1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운영관리·사용자권한·정책설정·승인검수·외부연계·로그모니터링을</a:t>
            </a:r>
            <a:r>
              <a:rPr kumimoji="1" lang="ko-KR" altLang="ko-KR" sz="1100" spc="-20">
                <a:solidFill>
                  <a:srgbClr val="0070C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통합하여 관리자가 전 영역을 통제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할 수 있게 하며, 자원관리(FR-032)는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서버·스토리지·GPU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 물리 자원을 배분함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7A0F99F-BB04-1006-E620-50BBF90650D8}"/>
              </a:ext>
            </a:extLst>
          </p:cNvPr>
          <p:cNvSpPr txBox="1"/>
          <p:nvPr/>
        </p:nvSpPr>
        <p:spPr>
          <a:xfrm>
            <a:off x="1178432" y="452561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계열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운영지원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공통기반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개념 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938FE90-5693-B7CF-C1F4-3936715E841D}"/>
              </a:ext>
            </a:extLst>
          </p:cNvPr>
          <p:cNvSpPr/>
          <p:nvPr/>
        </p:nvSpPr>
        <p:spPr>
          <a:xfrm>
            <a:off x="1082147" y="4887737"/>
            <a:ext cx="5337410" cy="578643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상위 전 영역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워크스페이스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협력관리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저작권연계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통계활용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AE63FC60-5A29-FFB1-1F5D-2368D983894E}"/>
              </a:ext>
            </a:extLst>
          </p:cNvPr>
          <p:cNvSpPr/>
          <p:nvPr/>
        </p:nvSpPr>
        <p:spPr>
          <a:xfrm>
            <a:off x="1082147" y="5815905"/>
            <a:ext cx="1460305" cy="524772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공통기반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식별체계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자산관리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490C48DC-01C9-755B-7AD5-4DEC532DF413}"/>
              </a:ext>
            </a:extLst>
          </p:cNvPr>
          <p:cNvSpPr/>
          <p:nvPr/>
        </p:nvSpPr>
        <p:spPr>
          <a:xfrm>
            <a:off x="2779626" y="5815905"/>
            <a:ext cx="1702375" cy="524772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Admin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운영지원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모니터링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1FB507EC-B94E-0812-2237-8721AAC5AA0F}"/>
              </a:ext>
            </a:extLst>
          </p:cNvPr>
          <p:cNvSpPr txBox="1"/>
          <p:nvPr/>
        </p:nvSpPr>
        <p:spPr>
          <a:xfrm>
            <a:off x="302559" y="4930194"/>
            <a:ext cx="914400" cy="5361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</a:t>
            </a:r>
            <a:b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프로세스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94ED58B-7D05-24E5-C88D-7B20787F3BC7}"/>
              </a:ext>
            </a:extLst>
          </p:cNvPr>
          <p:cNvSpPr txBox="1"/>
          <p:nvPr/>
        </p:nvSpPr>
        <p:spPr>
          <a:xfrm>
            <a:off x="302559" y="5837108"/>
            <a:ext cx="914400" cy="5361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별도 </a:t>
            </a:r>
            <a:b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9D1A641-34F5-B41F-3C17-46B7CDAAD6AF}"/>
              </a:ext>
            </a:extLst>
          </p:cNvPr>
          <p:cNvSpPr/>
          <p:nvPr/>
        </p:nvSpPr>
        <p:spPr>
          <a:xfrm>
            <a:off x="4717182" y="5815905"/>
            <a:ext cx="1702375" cy="524772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자원관리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서버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·GPU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배분</a:t>
            </a: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84131D33-9520-7823-C834-F41EF252A4CB}"/>
              </a:ext>
            </a:extLst>
          </p:cNvPr>
          <p:cNvCxnSpPr>
            <a:endCxn id="24" idx="0"/>
          </p:cNvCxnSpPr>
          <p:nvPr/>
        </p:nvCxnSpPr>
        <p:spPr>
          <a:xfrm>
            <a:off x="1812299" y="5466380"/>
            <a:ext cx="1" cy="349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3003F214-A9C7-195E-5E97-5E728440716B}"/>
              </a:ext>
            </a:extLst>
          </p:cNvPr>
          <p:cNvCxnSpPr>
            <a:endCxn id="25" idx="0"/>
          </p:cNvCxnSpPr>
          <p:nvPr/>
        </p:nvCxnSpPr>
        <p:spPr>
          <a:xfrm>
            <a:off x="3630813" y="5466380"/>
            <a:ext cx="1" cy="349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F5DDE471-4CB7-C754-B04A-1A1F2741DC39}"/>
              </a:ext>
            </a:extLst>
          </p:cNvPr>
          <p:cNvCxnSpPr>
            <a:cxnSpLocks/>
            <a:endCxn id="9" idx="0"/>
          </p:cNvCxnSpPr>
          <p:nvPr/>
        </p:nvCxnSpPr>
        <p:spPr>
          <a:xfrm>
            <a:off x="5568369" y="5466380"/>
            <a:ext cx="1" cy="349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564560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ED0B45-1FEA-E788-5156-C3393E1876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1023B7B-67D3-72D5-2016-095DD753079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A7CF2AC-6CA9-13F6-C762-25D5052AF3F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E741708-7967-956A-DF9E-42C2448D2A5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영역별 목표 모델 정의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7A61035-6400-A06C-4F07-A13D6144CE5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0018A20-4F4A-FED0-50E8-2C81A9A52CE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전체를 조감하는 개념모델과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메인흐름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지원기능을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목표모델로 개별 구체화하여 실제 구현 지점과 범위를 규정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677D57C2-3927-4746-F51B-32AE88D16DE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28E45C2-764F-6E08-87A6-ABBF2554AE0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개념모델과 목표모델의 관계 및 구성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86915CE9-675B-11BD-482B-A4C1F4779FE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DR-006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CD12B7AD-9180-9657-B340-BD05E4C1AD0A}"/>
              </a:ext>
            </a:extLst>
          </p:cNvPr>
          <p:cNvSpPr/>
          <p:nvPr/>
        </p:nvSpPr>
        <p:spPr bwMode="gray">
          <a:xfrm>
            <a:off x="279082" y="2666395"/>
            <a:ext cx="6331425" cy="694102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127FD38-F862-00D6-3940-399AD417AC9C}"/>
              </a:ext>
            </a:extLst>
          </p:cNvPr>
          <p:cNvSpPr/>
          <p:nvPr/>
        </p:nvSpPr>
        <p:spPr>
          <a:xfrm>
            <a:off x="316309" y="2744233"/>
            <a:ext cx="6286697" cy="144384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(관계 정의) 통합제공 개념모델은 전체 데이터 여정을 하나로 조망하는 조감도이며, 영역별 목표모델은 그 여정을 구성하는 각 기능을 개별적으로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상세화한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설계도임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개념모델은 1개이며, 등록후보관리부터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머신리더블까지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8단계로 이어지는 메인 흐름과, 그 흐름을 지지하는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협력관리·워크스페이스·저작권연계·통계활용·운영지원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5개 기능의 위치관계를 보여줌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목표모델은 RFP DR-005가 정의한 12개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기능군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+ </a:t>
            </a: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머신리더블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각각에 대해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입력·처리·출력을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구체화한 것으로, 개념모델 안의 한 지점이 실제로 무엇을 하는지를 설명함</a:t>
            </a: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CC5A7661-ECD1-4ACC-335B-4D55F61F8C3C}"/>
              </a:ext>
            </a:extLst>
          </p:cNvPr>
          <p:cNvGraphicFramePr>
            <a:graphicFrameLocks noGrp="1"/>
          </p:cNvGraphicFramePr>
          <p:nvPr/>
        </p:nvGraphicFramePr>
        <p:xfrm>
          <a:off x="358901" y="4483335"/>
          <a:ext cx="6165724" cy="902786"/>
        </p:xfrm>
        <a:graphic>
          <a:graphicData uri="http://schemas.openxmlformats.org/drawingml/2006/table">
            <a:tbl>
              <a:tblPr/>
              <a:tblGrid>
                <a:gridCol w="9115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1832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310233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3757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개념모델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목표모델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7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질문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전체가 어떻게 하나로 이어지는가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 기능이 구체적으로 무엇을 하는가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7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조감도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13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(DR-005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기능군과 머신리더블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217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메인 흐름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+ 5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지원기능 위치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각 기능의 입력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2F9D9BA8-2E91-A201-B41A-7A6EC54E29B5}"/>
              </a:ext>
            </a:extLst>
          </p:cNvPr>
          <p:cNvSpPr txBox="1"/>
          <p:nvPr/>
        </p:nvSpPr>
        <p:spPr>
          <a:xfrm>
            <a:off x="1097466" y="420633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개념모델과 목표모델의 관계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7" name="Table 0">
            <a:extLst>
              <a:ext uri="{FF2B5EF4-FFF2-40B4-BE49-F238E27FC236}">
                <a16:creationId xmlns:a16="http://schemas.microsoft.com/office/drawing/2014/main" id="{A7DEC1B1-58F2-C48D-2515-207BA1E524EC}"/>
              </a:ext>
            </a:extLst>
          </p:cNvPr>
          <p:cNvGraphicFramePr>
            <a:graphicFrameLocks noGrp="1"/>
          </p:cNvGraphicFramePr>
          <p:nvPr/>
        </p:nvGraphicFramePr>
        <p:xfrm>
          <a:off x="358901" y="6942768"/>
          <a:ext cx="6165724" cy="2592432"/>
        </p:xfrm>
        <a:graphic>
          <a:graphicData uri="http://schemas.openxmlformats.org/drawingml/2006/table">
            <a:tbl>
              <a:tblPr/>
              <a:tblGrid>
                <a:gridCol w="9115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51832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310233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3757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No</a:t>
                      </a:r>
                      <a:endParaRPr lang="ko-KR" altLang="en-US" sz="90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목표모델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대표 </a:t>
                      </a: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 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7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등록관리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FR-001, FR-002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협력관리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9320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7120964"/>
                  </a:ext>
                </a:extLst>
              </a:tr>
              <a:tr h="17304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FR-006, FR-007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771167"/>
                  </a:ext>
                </a:extLst>
              </a:tr>
              <a:tr h="15288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FR-008~010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0992026"/>
                  </a:ext>
                </a:extLst>
              </a:tr>
              <a:tr h="13272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FR-014, FR-015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36781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운영지원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FR-034~039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1324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통합카탈로그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FR-025, FR-026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9267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지능형검색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FR-011~013, FR-022~024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24665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저작권연계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FR-028~030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9863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11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통계활용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FR-016~018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4253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FR-019~021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101494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97261BC2-B7ED-1574-16A9-28BEE16C646F}"/>
              </a:ext>
            </a:extLst>
          </p:cNvPr>
          <p:cNvSpPr txBox="1"/>
          <p:nvPr/>
        </p:nvSpPr>
        <p:spPr>
          <a:xfrm>
            <a:off x="1097466" y="666576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영역별 목표모델 전체 목록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CDE469C-CA75-D3D8-4C28-19458AFC1B4C}"/>
              </a:ext>
            </a:extLst>
          </p:cNvPr>
          <p:cNvSpPr/>
          <p:nvPr/>
        </p:nvSpPr>
        <p:spPr>
          <a:xfrm>
            <a:off x="316309" y="5422666"/>
            <a:ext cx="6286697" cy="125918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구성 원칙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RFP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에서 나열한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기능군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중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메인 흐름에 속하는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7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등록후보관리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등록지원은 등록관리로 통합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라이프사이클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통합카탈로그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지능형검색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외부제공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 메인 흐름 밖에서 지원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유지 역할을 하는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협력관리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워크스페이스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저작권연계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통계활용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운영지원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 구분함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전 등록후보관리와 승인 후 등록지원을 하나의 등록 생애주기로 연계하기 위해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</a:t>
            </a:r>
            <a:endParaRPr kumimoji="1" lang="en-US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사람과 </a:t>
            </a:r>
            <a:r>
              <a:rPr kumimoji="1" lang="en-US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에이전트 중심 이용주체 전환을 위한 </a:t>
            </a:r>
            <a:r>
              <a:rPr kumimoji="1" lang="ko-KR" altLang="en-US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모신리더블</a:t>
            </a:r>
            <a:r>
              <a:rPr kumimoji="1" lang="ko-KR" altLang="en-US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영역 목표모델 편입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7632221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5C329D-C092-8E6E-E012-29010B8512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51DD496-4CA1-CC0E-2652-B85BA498EB5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F7E862-53B8-2965-DA91-DEC6AABB224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B8CC6F-2E66-4C7A-4E2F-D00A92A37A9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영역별 목표 모델 정의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00EBC85-4B57-C2B3-D043-009EC049BAD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7C0F43A-B698-A715-1DF2-A03259101C7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lvl="0">
              <a:lnSpc>
                <a:spcPct val="141666"/>
              </a:lnSpc>
            </a:pPr>
            <a:r>
              <a:rPr lang="ko-KR" altLang="en-US" sz="1200" dirty="0">
                <a:solidFill>
                  <a:schemeClr val="dk1"/>
                </a:solidFill>
                <a:latin typeface="Arial"/>
                <a:ea typeface="KoPub돋움체_Pro Bold" panose="00000800000000000000" pitchFamily="50" charset="-127"/>
                <a:cs typeface="Arial"/>
                <a:sym typeface="Arial"/>
              </a:rPr>
              <a:t>후보 심사와 등록 실행의 권한을 분리하여</a:t>
            </a:r>
            <a:r>
              <a:rPr lang="en-US" altLang="ko-KR" sz="1200" dirty="0">
                <a:solidFill>
                  <a:schemeClr val="dk1"/>
                </a:solidFill>
                <a:latin typeface="Arial"/>
                <a:ea typeface="KoPub돋움체_Pro Bold" panose="00000800000000000000" pitchFamily="50" charset="-127"/>
                <a:cs typeface="Arial"/>
                <a:sym typeface="Arial"/>
              </a:rPr>
              <a:t>, </a:t>
            </a:r>
            <a:r>
              <a:rPr lang="ko-KR" altLang="en-US" sz="1200" dirty="0">
                <a:solidFill>
                  <a:schemeClr val="dk1"/>
                </a:solidFill>
                <a:latin typeface="Arial"/>
                <a:ea typeface="KoPub돋움체_Pro Bold" panose="00000800000000000000" pitchFamily="50" charset="-127"/>
                <a:cs typeface="Arial"/>
                <a:sym typeface="Arial"/>
              </a:rPr>
              <a:t>부적합 데이터가 등록 이후 단계에서 뒤늦게 걸러지던 문제를 사전에 차단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FD8CDC9-6FB9-8102-380C-B56EF7C8A15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09429F8-3CBD-A20C-866B-5906AF50A42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등록관리 목표 모델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27ECD30-6546-7E85-A75D-0A79886CE17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DR-006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7424CF72-B14E-E45D-F84F-57EEDFC1A2E8}"/>
              </a:ext>
            </a:extLst>
          </p:cNvPr>
          <p:cNvSpPr/>
          <p:nvPr/>
        </p:nvSpPr>
        <p:spPr bwMode="gray">
          <a:xfrm>
            <a:off x="279082" y="2666395"/>
            <a:ext cx="6331425" cy="694102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7354381-447F-4031-054E-299215354939}"/>
              </a:ext>
            </a:extLst>
          </p:cNvPr>
          <p:cNvSpPr/>
          <p:nvPr/>
        </p:nvSpPr>
        <p:spPr>
          <a:xfrm>
            <a:off x="316309" y="2744233"/>
            <a:ext cx="6286697" cy="209171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(모델 정의) 등록 후보의 적합도 심사부터 최종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등록완료까지를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하나의 영역으로 통합하여 정의함(RFP FR-001 등록후보관리, FR-002 등록지원 요건과 연결)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입력은 등록 신청 원천데이터, 소개자료, 라이선스 문서이며, 처리는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후보접수→적합도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심사→후보승인→등록지원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진행(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계획수립·평가·메타생성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)→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비식별·저작권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검토→심의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순으로 구성되고, 출력은 등록완료 데이터셋과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표준메타데이터임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후보 심사를 통과하지 못한 데이터는 등록지원 절차로 넘어가지 않도록 하여, 부적합 데이터가 등록 이후 단계에서 뒤늦게 걸러지던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As-Is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문제를 사전에 차단함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 출력(등록완료 데이터셋)은 통합제공 개념모델의 다음 단계인 라이프사이클 영역의 입력으로 그대로 연계됨</a:t>
            </a:r>
          </a:p>
        </p:txBody>
      </p:sp>
      <p:graphicFrame>
        <p:nvGraphicFramePr>
          <p:cNvPr id="18" name="Table 0">
            <a:extLst>
              <a:ext uri="{FF2B5EF4-FFF2-40B4-BE49-F238E27FC236}">
                <a16:creationId xmlns:a16="http://schemas.microsoft.com/office/drawing/2014/main" id="{AF9835E6-4BC4-4F32-2CBF-AA6FA8551134}"/>
              </a:ext>
            </a:extLst>
          </p:cNvPr>
          <p:cNvGraphicFramePr>
            <a:graphicFrameLocks noGrp="1"/>
          </p:cNvGraphicFramePr>
          <p:nvPr/>
        </p:nvGraphicFramePr>
        <p:xfrm>
          <a:off x="355091" y="5229998"/>
          <a:ext cx="6160009" cy="1062528"/>
        </p:xfrm>
        <a:graphic>
          <a:graphicData uri="http://schemas.openxmlformats.org/drawingml/2006/table">
            <a:tbl>
              <a:tblPr/>
              <a:tblGrid>
                <a:gridCol w="1833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004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7961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09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입력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신청 원천데이터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소개자료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 문서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09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후보접수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적합도 심사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후보승인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등록지원 진행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비식별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검토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09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등록완료 데이터셋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표준메타데이터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등록이력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88F7D690-9FEC-045A-20D6-833EEDC4064D}"/>
              </a:ext>
            </a:extLst>
          </p:cNvPr>
          <p:cNvSpPr txBox="1"/>
          <p:nvPr/>
        </p:nvSpPr>
        <p:spPr>
          <a:xfrm>
            <a:off x="1093656" y="495300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등록관리 목표모델 입력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출력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0EFB65B-0CA0-F965-CB56-965BAB06EE71}"/>
              </a:ext>
            </a:extLst>
          </p:cNvPr>
          <p:cNvSpPr txBox="1"/>
          <p:nvPr/>
        </p:nvSpPr>
        <p:spPr>
          <a:xfrm>
            <a:off x="1098008" y="648898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등록관리 목표모델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C15A015-4CC4-90DF-DB1E-F3A57784191D}"/>
              </a:ext>
            </a:extLst>
          </p:cNvPr>
          <p:cNvSpPr/>
          <p:nvPr/>
        </p:nvSpPr>
        <p:spPr>
          <a:xfrm>
            <a:off x="880334" y="6851105"/>
            <a:ext cx="1578867" cy="578643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후보접수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기본정보 등록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등록기관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35A4BD51-54A9-B07A-F1C1-8143A31F5429}"/>
              </a:ext>
            </a:extLst>
          </p:cNvPr>
          <p:cNvGrpSpPr/>
          <p:nvPr/>
        </p:nvGrpSpPr>
        <p:grpSpPr>
          <a:xfrm>
            <a:off x="880333" y="7779272"/>
            <a:ext cx="5097331" cy="694167"/>
            <a:chOff x="790952" y="7779273"/>
            <a:chExt cx="3399854" cy="524772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B10B4142-6880-B231-A6DA-976099703F03}"/>
                </a:ext>
              </a:extLst>
            </p:cNvPr>
            <p:cNvSpPr/>
            <p:nvPr/>
          </p:nvSpPr>
          <p:spPr>
            <a:xfrm>
              <a:off x="790952" y="7779273"/>
              <a:ext cx="1460305" cy="524772"/>
            </a:xfrm>
            <a:prstGeom prst="roundRect">
              <a:avLst>
                <a:gd name="adj" fmla="val 6990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등록지원 진행</a:t>
              </a:r>
            </a:p>
            <a:p>
              <a:pPr algn="ctr"/>
              <a:r>
                <a:rPr lang="ko-KR" altLang="en-US" sz="900" err="1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계획→평가→메타생성</a:t>
              </a:r>
              <a:endPara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  <a:p>
              <a:pPr algn="ctr"/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데이터 등록기관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운영부서</a:t>
              </a:r>
            </a:p>
          </p:txBody>
        </p:sp>
        <p:sp>
          <p:nvSpPr>
            <p:cNvPr id="25" name="사각형: 둥근 모서리 24">
              <a:extLst>
                <a:ext uri="{FF2B5EF4-FFF2-40B4-BE49-F238E27FC236}">
                  <a16:creationId xmlns:a16="http://schemas.microsoft.com/office/drawing/2014/main" id="{BA08D0B0-5941-FDD7-8417-4A7BC8C9E803}"/>
                </a:ext>
              </a:extLst>
            </p:cNvPr>
            <p:cNvSpPr/>
            <p:nvPr/>
          </p:nvSpPr>
          <p:spPr>
            <a:xfrm>
              <a:off x="2488431" y="7779273"/>
              <a:ext cx="1702375" cy="524772"/>
            </a:xfrm>
            <a:prstGeom prst="roundRect">
              <a:avLst>
                <a:gd name="adj" fmla="val 6990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err="1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비식별</a:t>
              </a:r>
              <a:r>
                <a:rPr lang="en-US" altLang="ko-KR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저작권 검토</a:t>
              </a:r>
            </a:p>
            <a:p>
              <a:pPr algn="ctr"/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심의 후 등록완료</a:t>
              </a:r>
            </a:p>
            <a:p>
              <a:pPr algn="ctr"/>
              <a:r>
                <a:rPr lang="ko-KR" altLang="en-US" sz="900" err="1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품질검수부서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저작권 검토담당자</a:t>
              </a:r>
            </a:p>
          </p:txBody>
        </p:sp>
      </p:grp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CDDF8F04-A269-6659-F46A-BDDD06F6461B}"/>
              </a:ext>
            </a:extLst>
          </p:cNvPr>
          <p:cNvSpPr/>
          <p:nvPr/>
        </p:nvSpPr>
        <p:spPr>
          <a:xfrm>
            <a:off x="2639566" y="6851105"/>
            <a:ext cx="1578867" cy="578643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적합도 심사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체크리스트 판정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운영부서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4C5805A8-EDAD-2CF9-DDB7-802505D6B068}"/>
              </a:ext>
            </a:extLst>
          </p:cNvPr>
          <p:cNvSpPr/>
          <p:nvPr/>
        </p:nvSpPr>
        <p:spPr>
          <a:xfrm>
            <a:off x="4398798" y="6851105"/>
            <a:ext cx="1578867" cy="578643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후보승인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확정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정책부서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283EEAB-BBD2-C516-6BAE-87E05BB9DCC9}"/>
              </a:ext>
            </a:extLst>
          </p:cNvPr>
          <p:cNvCxnSpPr>
            <a:stCxn id="22" idx="3"/>
            <a:endCxn id="33" idx="1"/>
          </p:cNvCxnSpPr>
          <p:nvPr/>
        </p:nvCxnSpPr>
        <p:spPr>
          <a:xfrm>
            <a:off x="2459201" y="7140427"/>
            <a:ext cx="180365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BF407E17-2FF1-C3BD-1BB8-7AD17C4CD341}"/>
              </a:ext>
            </a:extLst>
          </p:cNvPr>
          <p:cNvCxnSpPr>
            <a:stCxn id="33" idx="3"/>
            <a:endCxn id="34" idx="1"/>
          </p:cNvCxnSpPr>
          <p:nvPr/>
        </p:nvCxnSpPr>
        <p:spPr>
          <a:xfrm>
            <a:off x="4218433" y="7140427"/>
            <a:ext cx="180365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E8CBF82-61C2-3A6C-4C26-6B9A1AE3D512}"/>
              </a:ext>
            </a:extLst>
          </p:cNvPr>
          <p:cNvCxnSpPr>
            <a:stCxn id="24" idx="3"/>
            <a:endCxn id="25" idx="1"/>
          </p:cNvCxnSpPr>
          <p:nvPr/>
        </p:nvCxnSpPr>
        <p:spPr>
          <a:xfrm>
            <a:off x="3069738" y="8126356"/>
            <a:ext cx="355590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A23EE07C-A69D-A65A-F121-B574DECF07E2}"/>
              </a:ext>
            </a:extLst>
          </p:cNvPr>
          <p:cNvCxnSpPr>
            <a:stCxn id="34" idx="2"/>
            <a:endCxn id="24" idx="0"/>
          </p:cNvCxnSpPr>
          <p:nvPr/>
        </p:nvCxnSpPr>
        <p:spPr>
          <a:xfrm rot="5400000">
            <a:off x="3406872" y="5997912"/>
            <a:ext cx="349524" cy="3213196"/>
          </a:xfrm>
          <a:prstGeom prst="bentConnector3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C3969030-EA81-B320-88D9-28B9B8C7C4EC}"/>
              </a:ext>
            </a:extLst>
          </p:cNvPr>
          <p:cNvSpPr txBox="1"/>
          <p:nvPr/>
        </p:nvSpPr>
        <p:spPr>
          <a:xfrm>
            <a:off x="796788" y="8534401"/>
            <a:ext cx="35118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판단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심사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 실행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계획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메타생성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권한을 분리하여 셀프 승인 방지</a:t>
            </a:r>
          </a:p>
          <a:p>
            <a:pPr algn="l"/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출력</a:t>
            </a:r>
            <a:r>
              <a:rPr lang="en-US" altLang="ko-KR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: </a:t>
            </a:r>
            <a:r>
              <a:rPr lang="ko-KR" altLang="en-US" sz="900">
                <a:solidFill>
                  <a:schemeClr val="bg1">
                    <a:lumMod val="6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등록완료 데이터셋 → 라이프사이클 영역 입력으로 연계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5746E748-3E6E-26E7-FA04-A94B78ED8CE8}"/>
              </a:ext>
            </a:extLst>
          </p:cNvPr>
          <p:cNvSpPr/>
          <p:nvPr/>
        </p:nvSpPr>
        <p:spPr>
          <a:xfrm>
            <a:off x="380375" y="9301502"/>
            <a:ext cx="258927" cy="203947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0AF3CB0-3052-DD0B-96B9-4AEB6421AFFD}"/>
              </a:ext>
            </a:extLst>
          </p:cNvPr>
          <p:cNvSpPr txBox="1"/>
          <p:nvPr/>
        </p:nvSpPr>
        <p:spPr>
          <a:xfrm>
            <a:off x="639302" y="9280651"/>
            <a:ext cx="1087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판단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심사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5228EB66-6815-BB29-D293-A4D4BD640597}"/>
              </a:ext>
            </a:extLst>
          </p:cNvPr>
          <p:cNvSpPr/>
          <p:nvPr/>
        </p:nvSpPr>
        <p:spPr>
          <a:xfrm>
            <a:off x="1628150" y="9301502"/>
            <a:ext cx="258927" cy="203947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6EAFD1C-C450-080C-2266-80746F40C5A0}"/>
              </a:ext>
            </a:extLst>
          </p:cNvPr>
          <p:cNvSpPr txBox="1"/>
          <p:nvPr/>
        </p:nvSpPr>
        <p:spPr>
          <a:xfrm>
            <a:off x="1887077" y="9280651"/>
            <a:ext cx="1087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실행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557B811-8046-4788-7F2A-398814A76C4D}"/>
              </a:ext>
            </a:extLst>
          </p:cNvPr>
          <p:cNvSpPr/>
          <p:nvPr/>
        </p:nvSpPr>
        <p:spPr>
          <a:xfrm>
            <a:off x="2612626" y="9301502"/>
            <a:ext cx="258927" cy="203947"/>
          </a:xfrm>
          <a:prstGeom prst="roundRect">
            <a:avLst>
              <a:gd name="adj" fmla="val 699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17E4547-0AC5-373C-FB36-2FE3882195CA}"/>
              </a:ext>
            </a:extLst>
          </p:cNvPr>
          <p:cNvSpPr txBox="1"/>
          <p:nvPr/>
        </p:nvSpPr>
        <p:spPr>
          <a:xfrm>
            <a:off x="2871553" y="9280651"/>
            <a:ext cx="1087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종료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완료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</a:t>
            </a:r>
          </a:p>
        </p:txBody>
      </p:sp>
    </p:spTree>
    <p:extLst>
      <p:ext uri="{BB962C8B-B14F-4D97-AF65-F5344CB8AC3E}">
        <p14:creationId xmlns:p14="http://schemas.microsoft.com/office/powerpoint/2010/main" val="170552653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E89D27-20A7-1592-77E8-A79F0DD42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5F9569E-A84D-7884-ABD6-8D99CBA59E4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099E5C4-E45F-84FA-7B3A-9AC39C57694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협력관리 목표 모델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1FAA3879-41BE-B7D1-F58D-CEB50AA45605}"/>
              </a:ext>
            </a:extLst>
          </p:cNvPr>
          <p:cNvSpPr/>
          <p:nvPr/>
        </p:nvSpPr>
        <p:spPr bwMode="gray">
          <a:xfrm>
            <a:off x="279082" y="2666396"/>
            <a:ext cx="6331425" cy="309586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026B6B7-F961-B5B7-56EC-036A9F834596}"/>
              </a:ext>
            </a:extLst>
          </p:cNvPr>
          <p:cNvSpPr/>
          <p:nvPr/>
        </p:nvSpPr>
        <p:spPr>
          <a:xfrm>
            <a:off x="316309" y="2744233"/>
            <a:ext cx="6286697" cy="9991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모델 정의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제공기관과의 의향서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협약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커뮤니케이션 이력을 관리하여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등록관리 단계의 판단 근거를 제공하는 흐름을 정의함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(RFP FR-003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대외업무 협력 시스템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DR-005 "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항목과 연결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kumimoji="1" lang="ko-KR" altLang="ko-KR" sz="1100" spc="-2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신청 주체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제공기관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와 검토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체결 주체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운영부서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정책부서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 분리하여</a:t>
            </a:r>
            <a:r>
              <a:rPr kumimoji="1" lang="en-US" altLang="ko-KR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spc="-2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협약 체결 권한이 실무 접수 담당자에게 있지 않도록 함</a:t>
            </a:r>
            <a:endParaRPr kumimoji="1" lang="ko-KR" altLang="ko-KR" sz="1100" spc="-2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8" name="Table 0">
            <a:extLst>
              <a:ext uri="{FF2B5EF4-FFF2-40B4-BE49-F238E27FC236}">
                <a16:creationId xmlns:a16="http://schemas.microsoft.com/office/drawing/2014/main" id="{21A8248A-17AF-71EE-0690-2D6AD9AB236A}"/>
              </a:ext>
            </a:extLst>
          </p:cNvPr>
          <p:cNvGraphicFramePr>
            <a:graphicFrameLocks noGrp="1"/>
          </p:cNvGraphicFramePr>
          <p:nvPr/>
        </p:nvGraphicFramePr>
        <p:xfrm>
          <a:off x="355091" y="4016724"/>
          <a:ext cx="6160009" cy="810360"/>
        </p:xfrm>
        <a:graphic>
          <a:graphicData uri="http://schemas.openxmlformats.org/drawingml/2006/table">
            <a:tbl>
              <a:tblPr/>
              <a:tblGrid>
                <a:gridCol w="1833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004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입력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 의향서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협약 문서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상담 이력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협약검토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협약체결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이력관리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협약현황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기관별 커뮤니케이션 이력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221F3812-0049-272B-0CE2-1B83C8A09216}"/>
              </a:ext>
            </a:extLst>
          </p:cNvPr>
          <p:cNvSpPr txBox="1"/>
          <p:nvPr/>
        </p:nvSpPr>
        <p:spPr>
          <a:xfrm>
            <a:off x="1093656" y="373972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협력관리 목표모델 입력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출력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087185A-30D0-1CAE-B940-F7D7BEFBB564}"/>
              </a:ext>
            </a:extLst>
          </p:cNvPr>
          <p:cNvSpPr txBox="1"/>
          <p:nvPr/>
        </p:nvSpPr>
        <p:spPr>
          <a:xfrm>
            <a:off x="1098008" y="491242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협력관리 목표 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A4D34A88-CD2E-9601-F062-81AD1B7B3972}"/>
              </a:ext>
            </a:extLst>
          </p:cNvPr>
          <p:cNvGrpSpPr/>
          <p:nvPr/>
        </p:nvGrpSpPr>
        <p:grpSpPr>
          <a:xfrm>
            <a:off x="355091" y="5209574"/>
            <a:ext cx="6160010" cy="510071"/>
            <a:chOff x="355091" y="6887413"/>
            <a:chExt cx="6270967" cy="761162"/>
          </a:xfrm>
        </p:grpSpPr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48DAA045-5B05-97E1-BE31-2D90520BBFFA}"/>
                </a:ext>
              </a:extLst>
            </p:cNvPr>
            <p:cNvSpPr/>
            <p:nvPr/>
          </p:nvSpPr>
          <p:spPr>
            <a:xfrm>
              <a:off x="355091" y="6887413"/>
              <a:ext cx="1444021" cy="761162"/>
            </a:xfrm>
            <a:prstGeom prst="roundRect">
              <a:avLst>
                <a:gd name="adj" fmla="val 699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접수</a:t>
              </a:r>
            </a:p>
            <a:p>
              <a:pPr algn="ctr"/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의향서 접수</a:t>
              </a:r>
            </a:p>
            <a:p>
              <a:pPr algn="ctr"/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제공기관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운영부서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8A48A8A8-E712-0D80-BA6B-D32A02F25811}"/>
                </a:ext>
              </a:extLst>
            </p:cNvPr>
            <p:cNvSpPr/>
            <p:nvPr/>
          </p:nvSpPr>
          <p:spPr>
            <a:xfrm>
              <a:off x="1964073" y="6887413"/>
              <a:ext cx="1444021" cy="761162"/>
            </a:xfrm>
            <a:prstGeom prst="roundRect">
              <a:avLst>
                <a:gd name="adj" fmla="val 699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접수</a:t>
              </a:r>
            </a:p>
            <a:p>
              <a:pPr algn="ctr"/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의향서 접수</a:t>
              </a:r>
            </a:p>
            <a:p>
              <a:pPr algn="ctr"/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제공기관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운영부서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sp>
          <p:nvSpPr>
            <p:cNvPr id="34" name="사각형: 둥근 모서리 33">
              <a:extLst>
                <a:ext uri="{FF2B5EF4-FFF2-40B4-BE49-F238E27FC236}">
                  <a16:creationId xmlns:a16="http://schemas.microsoft.com/office/drawing/2014/main" id="{761D6046-FCCB-A668-FB87-63697C60B4D0}"/>
                </a:ext>
              </a:extLst>
            </p:cNvPr>
            <p:cNvSpPr/>
            <p:nvPr/>
          </p:nvSpPr>
          <p:spPr>
            <a:xfrm>
              <a:off x="3573055" y="6887413"/>
              <a:ext cx="1444021" cy="761162"/>
            </a:xfrm>
            <a:prstGeom prst="roundRect">
              <a:avLst>
                <a:gd name="adj" fmla="val 699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협약체결</a:t>
              </a:r>
            </a:p>
            <a:p>
              <a:pPr algn="ctr"/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공식 협약완료</a:t>
              </a:r>
            </a:p>
            <a:p>
              <a:pPr algn="ctr"/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정책부서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cxnSp>
          <p:nvCxnSpPr>
            <p:cNvPr id="37" name="직선 화살표 연결선 36">
              <a:extLst>
                <a:ext uri="{FF2B5EF4-FFF2-40B4-BE49-F238E27FC236}">
                  <a16:creationId xmlns:a16="http://schemas.microsoft.com/office/drawing/2014/main" id="{C972B237-28AF-F3CC-2D6C-841FAFE7C69D}"/>
                </a:ext>
              </a:extLst>
            </p:cNvPr>
            <p:cNvCxnSpPr>
              <a:cxnSpLocks/>
              <a:stCxn id="22" idx="3"/>
              <a:endCxn id="33" idx="1"/>
            </p:cNvCxnSpPr>
            <p:nvPr/>
          </p:nvCxnSpPr>
          <p:spPr>
            <a:xfrm>
              <a:off x="1799112" y="7267995"/>
              <a:ext cx="164961" cy="0"/>
            </a:xfrm>
            <a:prstGeom prst="straightConnector1">
              <a:avLst/>
            </a:prstGeom>
            <a:ln w="19050">
              <a:solidFill>
                <a:schemeClr val="bg1">
                  <a:lumMod val="6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화살표 연결선 38">
              <a:extLst>
                <a:ext uri="{FF2B5EF4-FFF2-40B4-BE49-F238E27FC236}">
                  <a16:creationId xmlns:a16="http://schemas.microsoft.com/office/drawing/2014/main" id="{F187403C-01A7-753B-9323-F373CE0AB227}"/>
                </a:ext>
              </a:extLst>
            </p:cNvPr>
            <p:cNvCxnSpPr>
              <a:cxnSpLocks/>
              <a:stCxn id="33" idx="3"/>
              <a:endCxn id="34" idx="1"/>
            </p:cNvCxnSpPr>
            <p:nvPr/>
          </p:nvCxnSpPr>
          <p:spPr>
            <a:xfrm>
              <a:off x="3408094" y="7267995"/>
              <a:ext cx="164961" cy="0"/>
            </a:xfrm>
            <a:prstGeom prst="straightConnector1">
              <a:avLst/>
            </a:prstGeom>
            <a:ln w="19050">
              <a:solidFill>
                <a:schemeClr val="bg1">
                  <a:lumMod val="6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사각형: 둥근 모서리 9">
              <a:extLst>
                <a:ext uri="{FF2B5EF4-FFF2-40B4-BE49-F238E27FC236}">
                  <a16:creationId xmlns:a16="http://schemas.microsoft.com/office/drawing/2014/main" id="{43818357-1F42-B2DE-BB1B-2E4D3ADE03A5}"/>
                </a:ext>
              </a:extLst>
            </p:cNvPr>
            <p:cNvSpPr/>
            <p:nvPr/>
          </p:nvSpPr>
          <p:spPr>
            <a:xfrm>
              <a:off x="5182037" y="6887413"/>
              <a:ext cx="1444021" cy="761162"/>
            </a:xfrm>
            <a:prstGeom prst="roundRect">
              <a:avLst>
                <a:gd name="adj" fmla="val 6990"/>
              </a:avLst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이력관리</a:t>
              </a:r>
            </a:p>
            <a:p>
              <a:pPr algn="ctr"/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소통이력 축적</a:t>
              </a:r>
            </a:p>
            <a:p>
              <a:pPr algn="ctr"/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운영부서</a:t>
              </a:r>
              <a:r>
                <a:rPr lang="en-US" altLang="ko-KR" sz="900"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cxnSp>
          <p:nvCxnSpPr>
            <p:cNvPr id="11" name="직선 화살표 연결선 10">
              <a:extLst>
                <a:ext uri="{FF2B5EF4-FFF2-40B4-BE49-F238E27FC236}">
                  <a16:creationId xmlns:a16="http://schemas.microsoft.com/office/drawing/2014/main" id="{AEDB1794-02B7-4A80-3190-3B7CA7C0B413}"/>
                </a:ext>
              </a:extLst>
            </p:cNvPr>
            <p:cNvCxnSpPr>
              <a:cxnSpLocks/>
              <a:endCxn id="10" idx="1"/>
            </p:cNvCxnSpPr>
            <p:nvPr/>
          </p:nvCxnSpPr>
          <p:spPr>
            <a:xfrm>
              <a:off x="5017076" y="7267995"/>
              <a:ext cx="164961" cy="0"/>
            </a:xfrm>
            <a:prstGeom prst="straightConnector1">
              <a:avLst/>
            </a:prstGeom>
            <a:ln w="19050">
              <a:solidFill>
                <a:schemeClr val="bg1">
                  <a:lumMod val="6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0D1F84B9-F422-337E-EF76-04190BCE8318}"/>
              </a:ext>
            </a:extLst>
          </p:cNvPr>
          <p:cNvCxnSpPr>
            <a:cxnSpLocks/>
          </p:cNvCxnSpPr>
          <p:nvPr/>
        </p:nvCxnSpPr>
        <p:spPr>
          <a:xfrm>
            <a:off x="312925" y="5835510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D02C9119-3FFB-13CF-6DD4-49660349618C}"/>
              </a:ext>
            </a:extLst>
          </p:cNvPr>
          <p:cNvSpPr txBox="1"/>
          <p:nvPr/>
        </p:nvSpPr>
        <p:spPr>
          <a:xfrm>
            <a:off x="335012" y="5809433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목표 모델</a:t>
            </a:r>
          </a:p>
        </p:txBody>
      </p:sp>
      <p:sp>
        <p:nvSpPr>
          <p:cNvPr id="15" name="모서리가 둥근 직사각형 222">
            <a:extLst>
              <a:ext uri="{FF2B5EF4-FFF2-40B4-BE49-F238E27FC236}">
                <a16:creationId xmlns:a16="http://schemas.microsoft.com/office/drawing/2014/main" id="{A64C68A4-9FC7-732C-9064-83244A53A4D2}"/>
              </a:ext>
            </a:extLst>
          </p:cNvPr>
          <p:cNvSpPr/>
          <p:nvPr/>
        </p:nvSpPr>
        <p:spPr bwMode="gray">
          <a:xfrm>
            <a:off x="279082" y="6092815"/>
            <a:ext cx="6331425" cy="358377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B778F5B-6ED1-B524-F09E-1EE89501F3CA}"/>
              </a:ext>
            </a:extLst>
          </p:cNvPr>
          <p:cNvSpPr/>
          <p:nvPr/>
        </p:nvSpPr>
        <p:spPr>
          <a:xfrm>
            <a:off x="316309" y="6170653"/>
            <a:ext cx="6286697" cy="9991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(모델 정의)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등록완료된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데이터가 생성부터 폐기까지 거치는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전주기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상태 흐름에 각 단계의 책임주체를 명확히 하여, 담당자 불명확으로 인한 처리 지연을 방지함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생성·레이블링·갱신처럼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데이터를 직접 다루는 단계는 데이터 등록기관이, 민감정보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점검·배포승인·추적처럼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통제가 필요한 단계는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보안담당자·운영부서가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최종 폐기 결정은 관리자가 수행하도록 역할을 분리함</a:t>
            </a: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B023D27B-46EC-C1A9-0DB6-E2CE46483EA4}"/>
              </a:ext>
            </a:extLst>
          </p:cNvPr>
          <p:cNvGraphicFramePr>
            <a:graphicFrameLocks noGrp="1"/>
          </p:cNvGraphicFramePr>
          <p:nvPr/>
        </p:nvGraphicFramePr>
        <p:xfrm>
          <a:off x="355091" y="7443144"/>
          <a:ext cx="6160009" cy="810360"/>
        </p:xfrm>
        <a:graphic>
          <a:graphicData uri="http://schemas.openxmlformats.org/drawingml/2006/table">
            <a:tbl>
              <a:tblPr/>
              <a:tblGrid>
                <a:gridCol w="1833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004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입력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등록완료 데이터셋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원천데이터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작업계획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생성관리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스테이징관리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레이블링관리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패키징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배포관리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추적관리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갱신관리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폐기관리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 가능 패키지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버전별 이력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</a:t>
                      </a:r>
                      <a:r>
                        <a:rPr lang="en-US" altLang="ko-KR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(Lineage) </a:t>
                      </a:r>
                      <a:r>
                        <a:rPr lang="ko-KR" altLang="en-US" sz="8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정보</a:t>
                      </a:r>
                    </a:p>
                  </a:txBody>
                  <a:tcPr marT="36000" marB="3600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87267D07-C23D-468A-FF3D-9F4A4ACA2F28}"/>
              </a:ext>
            </a:extLst>
          </p:cNvPr>
          <p:cNvSpPr txBox="1"/>
          <p:nvPr/>
        </p:nvSpPr>
        <p:spPr>
          <a:xfrm>
            <a:off x="1093656" y="716614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목표모델 입력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출력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28E9AFD-782A-0092-C2A3-573F7E7D0DCB}"/>
              </a:ext>
            </a:extLst>
          </p:cNvPr>
          <p:cNvSpPr txBox="1"/>
          <p:nvPr/>
        </p:nvSpPr>
        <p:spPr>
          <a:xfrm>
            <a:off x="1098008" y="825350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목표 모델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6BC1F928-7199-4190-51CF-E751B654D1B7}"/>
              </a:ext>
            </a:extLst>
          </p:cNvPr>
          <p:cNvSpPr/>
          <p:nvPr/>
        </p:nvSpPr>
        <p:spPr>
          <a:xfrm>
            <a:off x="355091" y="8530503"/>
            <a:ext cx="1418471" cy="543547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생성관리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원천데이터 등록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등록기관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BF847382-CFB4-F283-D90F-B379E25EFBBB}"/>
              </a:ext>
            </a:extLst>
          </p:cNvPr>
          <p:cNvSpPr/>
          <p:nvPr/>
        </p:nvSpPr>
        <p:spPr>
          <a:xfrm>
            <a:off x="1935604" y="8530503"/>
            <a:ext cx="1418471" cy="543547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스테이징관리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민감정보 점검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보안담당자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941D0772-19BF-7499-29CC-52D3C697B050}"/>
              </a:ext>
            </a:extLst>
          </p:cNvPr>
          <p:cNvSpPr/>
          <p:nvPr/>
        </p:nvSpPr>
        <p:spPr>
          <a:xfrm>
            <a:off x="3516117" y="8530503"/>
            <a:ext cx="1418471" cy="543547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레이블링관리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 이력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등록기관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검수부서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982EB80C-A587-58F4-1B4B-68C1BD0FE428}"/>
              </a:ext>
            </a:extLst>
          </p:cNvPr>
          <p:cNvCxnSpPr>
            <a:cxnSpLocks/>
            <a:stCxn id="29" idx="3"/>
            <a:endCxn id="31" idx="1"/>
          </p:cNvCxnSpPr>
          <p:nvPr/>
        </p:nvCxnSpPr>
        <p:spPr>
          <a:xfrm>
            <a:off x="1773562" y="8802277"/>
            <a:ext cx="162042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26C094AB-EFD3-B2E3-2DC5-A93B80BA9E4A}"/>
              </a:ext>
            </a:extLst>
          </p:cNvPr>
          <p:cNvCxnSpPr>
            <a:cxnSpLocks/>
            <a:stCxn id="31" idx="3"/>
            <a:endCxn id="32" idx="1"/>
          </p:cNvCxnSpPr>
          <p:nvPr/>
        </p:nvCxnSpPr>
        <p:spPr>
          <a:xfrm>
            <a:off x="3354074" y="8802277"/>
            <a:ext cx="162042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B7604EE-3597-56CE-F8EC-05771267D8DA}"/>
              </a:ext>
            </a:extLst>
          </p:cNvPr>
          <p:cNvSpPr/>
          <p:nvPr/>
        </p:nvSpPr>
        <p:spPr>
          <a:xfrm>
            <a:off x="5096629" y="8530503"/>
            <a:ext cx="1418471" cy="543547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패키징배포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 승인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운영부서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7142B83F-9F76-6E46-C1EB-CBEEA0C47BAE}"/>
              </a:ext>
            </a:extLst>
          </p:cNvPr>
          <p:cNvCxnSpPr>
            <a:cxnSpLocks/>
            <a:endCxn id="40" idx="1"/>
          </p:cNvCxnSpPr>
          <p:nvPr/>
        </p:nvCxnSpPr>
        <p:spPr>
          <a:xfrm>
            <a:off x="4934587" y="8802277"/>
            <a:ext cx="162042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7A0D2528-E495-0AB2-C873-3CF2DC654F64}"/>
              </a:ext>
            </a:extLst>
          </p:cNvPr>
          <p:cNvSpPr/>
          <p:nvPr/>
        </p:nvSpPr>
        <p:spPr>
          <a:xfrm>
            <a:off x="5096629" y="9145945"/>
            <a:ext cx="1418471" cy="467955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추적관리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추적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운영부서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6E5FA5C-BE8C-484F-C000-02CB71583342}"/>
              </a:ext>
            </a:extLst>
          </p:cNvPr>
          <p:cNvSpPr/>
          <p:nvPr/>
        </p:nvSpPr>
        <p:spPr>
          <a:xfrm>
            <a:off x="3045579" y="9145945"/>
            <a:ext cx="1418471" cy="467955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갱신관리</a:t>
            </a:r>
          </a:p>
          <a:p>
            <a:pPr algn="ctr"/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재배포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순환</a:t>
            </a: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등록기관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B138954A-20FB-8BD1-85E6-1F0AB953FEA6}"/>
              </a:ext>
            </a:extLst>
          </p:cNvPr>
          <p:cNvCxnSpPr>
            <a:cxnSpLocks/>
            <a:stCxn id="40" idx="2"/>
            <a:endCxn id="44" idx="0"/>
          </p:cNvCxnSpPr>
          <p:nvPr/>
        </p:nvCxnSpPr>
        <p:spPr>
          <a:xfrm>
            <a:off x="5805865" y="9074050"/>
            <a:ext cx="0" cy="7189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0B782266-0649-76D1-D0E6-D0D203E1CDE0}"/>
              </a:ext>
            </a:extLst>
          </p:cNvPr>
          <p:cNvCxnSpPr>
            <a:cxnSpLocks/>
            <a:stCxn id="44" idx="1"/>
            <a:endCxn id="46" idx="3"/>
          </p:cNvCxnSpPr>
          <p:nvPr/>
        </p:nvCxnSpPr>
        <p:spPr>
          <a:xfrm flipH="1">
            <a:off x="4464050" y="9379923"/>
            <a:ext cx="632579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51">
            <a:extLst>
              <a:ext uri="{FF2B5EF4-FFF2-40B4-BE49-F238E27FC236}">
                <a16:creationId xmlns:a16="http://schemas.microsoft.com/office/drawing/2014/main" id="{28D9B15E-C59D-D696-7217-138FE360085D}"/>
              </a:ext>
            </a:extLst>
          </p:cNvPr>
          <p:cNvCxnSpPr>
            <a:cxnSpLocks/>
            <a:stCxn id="46" idx="1"/>
            <a:endCxn id="31" idx="2"/>
          </p:cNvCxnSpPr>
          <p:nvPr/>
        </p:nvCxnSpPr>
        <p:spPr>
          <a:xfrm rot="10800000">
            <a:off x="2644841" y="9074051"/>
            <a:ext cx="400739" cy="305873"/>
          </a:xfrm>
          <a:prstGeom prst="bentConnector2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3D8A454-2F46-BD3C-715F-8D5320A13DE7}"/>
              </a:ext>
            </a:extLst>
          </p:cNvPr>
          <p:cNvSpPr/>
          <p:nvPr/>
        </p:nvSpPr>
        <p:spPr>
          <a:xfrm>
            <a:off x="994529" y="9145945"/>
            <a:ext cx="1418471" cy="467955"/>
          </a:xfrm>
          <a:prstGeom prst="roundRect">
            <a:avLst>
              <a:gd name="adj" fmla="val 6990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폐기관리</a:t>
            </a:r>
            <a:endParaRPr lang="en-US" altLang="ko-KR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AFCFE692-1B48-ABC6-E137-1107A54D44F4}"/>
              </a:ext>
            </a:extLst>
          </p:cNvPr>
          <p:cNvCxnSpPr/>
          <p:nvPr/>
        </p:nvCxnSpPr>
        <p:spPr>
          <a:xfrm flipH="1">
            <a:off x="2413000" y="9496425"/>
            <a:ext cx="632579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Google Shape;2016;p34">
            <a:extLst>
              <a:ext uri="{FF2B5EF4-FFF2-40B4-BE49-F238E27FC236}">
                <a16:creationId xmlns:a16="http://schemas.microsoft.com/office/drawing/2014/main" id="{07FACA29-AE1E-6F22-ACF1-A361ED1CB81F}"/>
              </a:ext>
            </a:extLst>
          </p:cNvPr>
          <p:cNvSpPr txBox="1">
            <a:spLocks/>
          </p:cNvSpPr>
          <p:nvPr/>
        </p:nvSpPr>
        <p:spPr>
          <a:xfrm>
            <a:off x="302559" y="229408"/>
            <a:ext cx="5318423" cy="3200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171450" indent="-171450" algn="l" defTabSz="685800" rtl="0" eaLnBrk="1" latinLnBrk="1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1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Clr>
                <a:schemeClr val="dk1"/>
              </a:buClr>
              <a:buSzPts val="1600"/>
              <a:buFont typeface="Arial" panose="020B0604020202020204" pitchFamily="34" charset="0"/>
              <a:buNone/>
            </a:pPr>
            <a:r>
              <a:rPr lang="en-US" altLang="ko-KR" sz="1600">
                <a:solidFill>
                  <a:schemeClr val="dk1"/>
                </a:solidFill>
              </a:rPr>
              <a:t>Module 1. </a:t>
            </a:r>
            <a:r>
              <a:rPr lang="ko-KR" altLang="en-US" b="1"/>
              <a:t>기획 및 설계</a:t>
            </a:r>
            <a:endParaRPr lang="ko-KR" altLang="en-US"/>
          </a:p>
        </p:txBody>
      </p:sp>
      <p:sp>
        <p:nvSpPr>
          <p:cNvPr id="43" name="Google Shape;2017;p34">
            <a:extLst>
              <a:ext uri="{FF2B5EF4-FFF2-40B4-BE49-F238E27FC236}">
                <a16:creationId xmlns:a16="http://schemas.microsoft.com/office/drawing/2014/main" id="{A84F476D-EB3E-1C00-8E82-033DA57D9F2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Arial"/>
                <a:ea typeface="KoPubWorld돋움체 Bold" panose="00000800000000000000" pitchFamily="2" charset="-127"/>
                <a:cs typeface="Arial"/>
                <a:sym typeface="Arial"/>
              </a:rPr>
              <a:t>Ⅱ. 설계 및 개발</a:t>
            </a:r>
            <a:endParaRPr/>
          </a:p>
        </p:txBody>
      </p:sp>
      <p:sp>
        <p:nvSpPr>
          <p:cNvPr id="45" name="Google Shape;2018;p34">
            <a:extLst>
              <a:ext uri="{FF2B5EF4-FFF2-40B4-BE49-F238E27FC236}">
                <a16:creationId xmlns:a16="http://schemas.microsoft.com/office/drawing/2014/main" id="{167DE329-C965-1C74-FAA1-BEDEF516BE9B}"/>
              </a:ext>
            </a:extLst>
          </p:cNvPr>
          <p:cNvSpPr/>
          <p:nvPr/>
        </p:nvSpPr>
        <p:spPr>
          <a:xfrm>
            <a:off x="588602" y="1003444"/>
            <a:ext cx="3305218" cy="2154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/>
          <a:p>
            <a:pPr marL="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400" b="0" i="0" u="none" strike="noStrike" cap="none">
                <a:solidFill>
                  <a:schemeClr val="dk1"/>
                </a:solidFill>
                <a:latin typeface="Arial"/>
                <a:ea typeface="KoPubWorld돋움체 Bold" panose="00000800000000000000" pitchFamily="2" charset="-127"/>
                <a:cs typeface="Arial"/>
                <a:sym typeface="Arial"/>
              </a:rPr>
              <a:t>1.4.2 기능 영역별 목표 모델 정의</a:t>
            </a:r>
            <a:endParaRPr sz="1400" b="0" i="0" u="none" strike="noStrike" cap="none">
              <a:solidFill>
                <a:schemeClr val="dk1"/>
              </a:solidFill>
              <a:latin typeface="Arial"/>
              <a:ea typeface="KoPubWorld돋움체 Bold" panose="00000800000000000000" pitchFamily="2" charset="-127"/>
              <a:cs typeface="Arial"/>
              <a:sym typeface="Arial"/>
            </a:endParaRPr>
          </a:p>
        </p:txBody>
      </p:sp>
      <p:sp>
        <p:nvSpPr>
          <p:cNvPr id="47" name="Google Shape;2019;p34">
            <a:extLst>
              <a:ext uri="{FF2B5EF4-FFF2-40B4-BE49-F238E27FC236}">
                <a16:creationId xmlns:a16="http://schemas.microsoft.com/office/drawing/2014/main" id="{6D3327AF-4DD9-20A4-2724-5CCA4044F84B}"/>
              </a:ext>
            </a:extLst>
          </p:cNvPr>
          <p:cNvSpPr/>
          <p:nvPr/>
        </p:nvSpPr>
        <p:spPr>
          <a:xfrm>
            <a:off x="509839" y="698078"/>
            <a:ext cx="5838321" cy="230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/>
          <a:p>
            <a:pPr marL="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500" b="0" i="0" u="none" strike="noStrike" cap="none">
                <a:solidFill>
                  <a:schemeClr val="dk1"/>
                </a:solidFill>
                <a:latin typeface="Arial"/>
                <a:ea typeface="KoPubWorld돋움체 Bold" panose="00000800000000000000" pitchFamily="2" charset="-127"/>
                <a:cs typeface="Arial"/>
                <a:sym typeface="Arial"/>
              </a:rPr>
              <a:t>1.4 목표 모델 수립</a:t>
            </a:r>
            <a:endParaRPr sz="1500" b="0" i="0" u="none" strike="noStrike" cap="none">
              <a:solidFill>
                <a:schemeClr val="dk1"/>
              </a:solidFill>
              <a:latin typeface="Arial"/>
              <a:ea typeface="KoPubWorld돋움체 Bold" panose="00000800000000000000" pitchFamily="2" charset="-127"/>
              <a:cs typeface="Arial"/>
              <a:sym typeface="Arial"/>
            </a:endParaRPr>
          </a:p>
        </p:txBody>
      </p:sp>
      <p:sp>
        <p:nvSpPr>
          <p:cNvPr id="49" name="Google Shape;2020;p34">
            <a:extLst>
              <a:ext uri="{FF2B5EF4-FFF2-40B4-BE49-F238E27FC236}">
                <a16:creationId xmlns:a16="http://schemas.microsoft.com/office/drawing/2014/main" id="{4430E154-3DAF-2DC4-D8FD-B6E4E9C02A4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rgbClr val="DDEAF6">
              <a:alpha val="70196"/>
            </a:srgbClr>
          </a:solidFill>
          <a:ln>
            <a:noFill/>
          </a:ln>
        </p:spPr>
        <p:txBody>
          <a:bodyPr spcFirstLastPara="1" wrap="square" lIns="72000" tIns="72000" rIns="72000" bIns="72000" anchor="ctr" anchorCtr="0">
            <a:noAutofit/>
          </a:bodyPr>
          <a:lstStyle/>
          <a:p>
            <a:pPr lvl="0">
              <a:lnSpc>
                <a:spcPct val="141666"/>
              </a:lnSpc>
            </a:pPr>
            <a:r>
              <a:rPr lang="ko-KR" altLang="en-US" sz="1200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협력관리가 등록관리 </a:t>
            </a:r>
            <a:r>
              <a:rPr lang="ko-KR" altLang="en-US" sz="1200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단계의</a:t>
            </a:r>
            <a:r>
              <a:rPr lang="ko-KR" altLang="en-US" sz="1200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 판단 근거를 축적</a:t>
            </a:r>
            <a:r>
              <a:rPr lang="ko-KR" altLang="en-US" sz="1200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하며</a:t>
            </a:r>
            <a:r>
              <a:rPr lang="en-US" altLang="ko-KR" sz="1200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라이프사이클은 그 이후 데이터를 다루는 단계와 통제하는 단계의 책임주체를 분리하여 처리 지연을 방지</a:t>
            </a:r>
          </a:p>
        </p:txBody>
      </p:sp>
      <p:sp>
        <p:nvSpPr>
          <p:cNvPr id="51" name="Google Shape;2023;p34">
            <a:extLst>
              <a:ext uri="{FF2B5EF4-FFF2-40B4-BE49-F238E27FC236}">
                <a16:creationId xmlns:a16="http://schemas.microsoft.com/office/drawing/2014/main" id="{721D4384-AD14-A37D-EF97-A4B821E29E4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rgbClr val="DDEAF6">
              <a:alpha val="70196"/>
            </a:srgbClr>
          </a:solidFill>
          <a:ln>
            <a:noFill/>
          </a:ln>
        </p:spPr>
        <p:txBody>
          <a:bodyPr spcFirstLastPara="1" wrap="square" lIns="72000" tIns="72000" rIns="72000" bIns="72000" anchor="ctr" anchorCtr="0">
            <a:noAutofit/>
          </a:bodyPr>
          <a:lstStyle/>
          <a:p>
            <a:pPr marL="0" marR="0" lvl="0" indent="0" algn="ctr" rtl="0">
              <a:lnSpc>
                <a:spcPct val="141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>
                <a:solidFill>
                  <a:schemeClr val="dk1"/>
                </a:solidFill>
                <a:latin typeface="Arial"/>
                <a:ea typeface="KoPubWorld돋움체 Bold" panose="00000800000000000000" pitchFamily="2" charset="-127"/>
                <a:cs typeface="Arial"/>
                <a:sym typeface="Arial"/>
              </a:rPr>
              <a:t>DR-005, DR-006</a:t>
            </a:r>
            <a:endParaRPr/>
          </a:p>
        </p:txBody>
      </p:sp>
      <p:sp>
        <p:nvSpPr>
          <p:cNvPr id="53" name="Google Shape;2058;p34">
            <a:extLst>
              <a:ext uri="{FF2B5EF4-FFF2-40B4-BE49-F238E27FC236}">
                <a16:creationId xmlns:a16="http://schemas.microsoft.com/office/drawing/2014/main" id="{5AA29EB9-1728-B351-027C-576456F63904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KoPubWorld돋움체 Bold" panose="00000800000000000000" pitchFamily="2" charset="-127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" name="Google Shape;2059;p34">
            <a:extLst>
              <a:ext uri="{FF2B5EF4-FFF2-40B4-BE49-F238E27FC236}">
                <a16:creationId xmlns:a16="http://schemas.microsoft.com/office/drawing/2014/main" id="{580116E6-60AF-25E1-B3EB-DB694BADD622}"/>
              </a:ext>
            </a:extLst>
          </p:cNvPr>
          <p:cNvSpPr/>
          <p:nvPr/>
        </p:nvSpPr>
        <p:spPr>
          <a:xfrm>
            <a:off x="-901025" y="1397787"/>
            <a:ext cx="1170900" cy="8103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KoPubWorld돋움체 Bold" panose="00000800000000000000" pitchFamily="2" charset="-127"/>
                <a:cs typeface="Calibri"/>
                <a:sym typeface="Calibri"/>
              </a:rPr>
              <a:t>문장수정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1717153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83A4B-8145-0A81-EA2E-FC7B4102A3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1DD9483-5496-4BAA-9CF8-A8ECD0E94A4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7B368EE-D1FE-A5B4-E4C4-57C134DEBE6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CA67E3-E740-1BAE-45B8-A15D679893D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기능 영역별 목표 모델 정의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B1AF045-EFF5-8C3A-3FBF-E7F96FB35D8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B08B5DA-0B2D-606F-2A04-13AA33374C3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목표모델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(To-Be)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앞서 확보한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As-Is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조사 결과와 대조하여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Gap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도출하고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이를 구축범위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·KPI 4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경로로 분기하여 반영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253BAA46-96F2-A2FB-2C3B-914BAD3F0A1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8063D4D-2459-C0F8-419C-050245AF7CC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 모델과 현황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Gap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3D983F87-6AAF-B0D6-E952-35D634D09BDB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DR-005, DR-006</a:t>
            </a:r>
          </a:p>
        </p:txBody>
      </p:sp>
      <p:sp>
        <p:nvSpPr>
          <p:cNvPr id="10" name="모서리가 둥근 직사각형 222">
            <a:extLst>
              <a:ext uri="{FF2B5EF4-FFF2-40B4-BE49-F238E27FC236}">
                <a16:creationId xmlns:a16="http://schemas.microsoft.com/office/drawing/2014/main" id="{8F644F9A-A584-D6F7-4CA7-C44BF9BAC71B}"/>
              </a:ext>
            </a:extLst>
          </p:cNvPr>
          <p:cNvSpPr/>
          <p:nvPr/>
        </p:nvSpPr>
        <p:spPr bwMode="gray">
          <a:xfrm>
            <a:off x="279082" y="2666395"/>
            <a:ext cx="6331425" cy="694102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4B23A9B-4413-CE58-8574-25BB69A1A135}"/>
              </a:ext>
            </a:extLst>
          </p:cNvPr>
          <p:cNvSpPr/>
          <p:nvPr/>
        </p:nvSpPr>
        <p:spPr>
          <a:xfrm>
            <a:off x="316309" y="274423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(As-Is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확보 경로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Gap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분석은 별도의 신규 조사를 수행하지 않고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앞서 설계한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조사체계의 산출물을 활용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4" name="Table 0">
            <a:extLst>
              <a:ext uri="{FF2B5EF4-FFF2-40B4-BE49-F238E27FC236}">
                <a16:creationId xmlns:a16="http://schemas.microsoft.com/office/drawing/2014/main" id="{F9432F54-344D-E348-AD0E-BA1CE26BC77D}"/>
              </a:ext>
            </a:extLst>
          </p:cNvPr>
          <p:cNvGraphicFramePr>
            <a:graphicFrameLocks noGrp="1"/>
          </p:cNvGraphicFramePr>
          <p:nvPr/>
        </p:nvGraphicFramePr>
        <p:xfrm>
          <a:off x="355091" y="3558873"/>
          <a:ext cx="6160009" cy="868680"/>
        </p:xfrm>
        <a:graphic>
          <a:graphicData uri="http://schemas.openxmlformats.org/drawingml/2006/table">
            <a:tbl>
              <a:tblPr/>
              <a:tblGrid>
                <a:gridCol w="1833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3502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163502">
                  <a:extLst>
                    <a:ext uri="{9D8B030D-6E8A-4147-A177-3AD203B41FA5}">
                      <a16:colId xmlns:a16="http://schemas.microsoft.com/office/drawing/2014/main" val="72092319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en-US" altLang="ko-KR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As-Is</a:t>
                      </a: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 산출물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대응하는 목표모델 요소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 체감도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우선순위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수요조사결과보고서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소요시간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병목 발생원인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책임소재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인터뷰결과록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수행주체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기능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현행시스템 분석서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입력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40A8E694-4429-8E56-AECB-E43EE7C0D5A6}"/>
              </a:ext>
            </a:extLst>
          </p:cNvPr>
          <p:cNvSpPr txBox="1"/>
          <p:nvPr/>
        </p:nvSpPr>
        <p:spPr>
          <a:xfrm>
            <a:off x="1093656" y="328187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Gap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분석의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As-Is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출처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4C5238A-63D5-6F60-4F54-30113733CE3C}"/>
              </a:ext>
            </a:extLst>
          </p:cNvPr>
          <p:cNvSpPr/>
          <p:nvPr/>
        </p:nvSpPr>
        <p:spPr>
          <a:xfrm>
            <a:off x="316309" y="4489182"/>
            <a:ext cx="6286697" cy="367984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(활용경로 ① 구축범위 확정)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유형화된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Gap을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심각도·시급성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매트릭스로 평가하여 1단계 필수기능과 2단계 확장기능으로 구분하고, 그 결과를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사업범위정의서·구축범위표에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반영함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심각도는 Gap이 메인 흐름(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등록~머신리더블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영향을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미치는지로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시급성은 12월 사전개방·1월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본개방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이전 해소가 필요한지로 판단함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(활용경로 ② 요구사항 도출) 각 Gap 항목을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기능·데이터·운영·보안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요구사항으로 전환하여 요구사항정의서에 등재하고, 요구사항추적표(RTM)의 요구사항 출처 필드에 해당 Gap의 근거(수요조사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응답번호·인터뷰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발언·현행시스템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분석서 항목)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기록함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(활용경로 ③ 시스템 설계 입력) Gap 유형에 따라 설계 산출물을 분기하여 반영함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 차이는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화면설계서·프로세스설계서의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입력으로, 수행주체 차이는 권한체계 설계서의 입력으로,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시스템분절·외부연계한계</a:t>
            </a: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유형은 인터페이스 설계서의 입력으로 각각 전달함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(활용경로 ④ KPI 목표치 설정) 수요조사에서 확인된 병목 체감도(정량 지표)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목표모델 적용 이후의 개선목표치로 전환하여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KPI정의서에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반영함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spc="-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예를 들어 체감도가 높게 나타난 항목은 목표모델 적용 후 감소목표를 수치로 설정하고, 시범운영 단계에서 실측 결과로 </a:t>
            </a:r>
            <a:r>
              <a:rPr kumimoji="1" lang="ko-KR" altLang="ko-KR" sz="1100" spc="-2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재검증함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8" name="Table 0">
            <a:extLst>
              <a:ext uri="{FF2B5EF4-FFF2-40B4-BE49-F238E27FC236}">
                <a16:creationId xmlns:a16="http://schemas.microsoft.com/office/drawing/2014/main" id="{833B1253-582F-F2B0-7E74-86F7B22FD703}"/>
              </a:ext>
            </a:extLst>
          </p:cNvPr>
          <p:cNvGraphicFramePr>
            <a:graphicFrameLocks noGrp="1"/>
          </p:cNvGraphicFramePr>
          <p:nvPr/>
        </p:nvGraphicFramePr>
        <p:xfrm>
          <a:off x="355091" y="8446025"/>
          <a:ext cx="6160009" cy="1082040"/>
        </p:xfrm>
        <a:graphic>
          <a:graphicData uri="http://schemas.openxmlformats.org/drawingml/2006/table">
            <a:tbl>
              <a:tblPr/>
              <a:tblGrid>
                <a:gridCol w="20769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830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활용경로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 산출물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구축범위 확정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사업범위정의서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구축범위표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도출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요구사항정의서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요구사항추적표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(RTM)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설계 입력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화면설계서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권한체계 설계서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 설계서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125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KPI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목표치 설정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KPI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EDA686D2-6C0E-9464-99E8-937132366F4A}"/>
              </a:ext>
            </a:extLst>
          </p:cNvPr>
          <p:cNvSpPr txBox="1"/>
          <p:nvPr/>
        </p:nvSpPr>
        <p:spPr>
          <a:xfrm>
            <a:off x="1093656" y="816902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Gap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활용경로별 산출물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Google Shape;2080;p35">
            <a:extLst>
              <a:ext uri="{FF2B5EF4-FFF2-40B4-BE49-F238E27FC236}">
                <a16:creationId xmlns:a16="http://schemas.microsoft.com/office/drawing/2014/main" id="{1238C9B7-D726-D9BA-ABC9-C552AD62FD46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2081;p35">
            <a:extLst>
              <a:ext uri="{FF2B5EF4-FFF2-40B4-BE49-F238E27FC236}">
                <a16:creationId xmlns:a16="http://schemas.microsoft.com/office/drawing/2014/main" id="{D81D3CFB-6D8E-8A65-F929-CB21B48E3B26}"/>
              </a:ext>
            </a:extLst>
          </p:cNvPr>
          <p:cNvSpPr/>
          <p:nvPr/>
        </p:nvSpPr>
        <p:spPr>
          <a:xfrm>
            <a:off x="-909500" y="1371607"/>
            <a:ext cx="1100100" cy="1018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문장수정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2791825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8F0BE7-6A50-4CDB-9A36-9650C12DF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14E36A4-4736-00F7-22E6-D970B926F45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5C1F4B3-6898-3820-1654-2F2B9DBC15C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7C95C97-E07A-64ED-1FD8-C5DE30DC7C9B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자동 처리 및 승인 범위 구분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3B8C550-6EB7-30EC-CB6B-CFB779AF802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B15470F-3E07-53D2-DC22-DE83E5FE1B2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분기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통합제공체계의 반복 운영 업무를 시스템 자동처리 구간과 담당자 승인 구간으로 명확히 분기하고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접수→검토→보완→승인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반려의 전자 워크플로우와 기한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관리를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표준화하여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내 안정 운영이 가능한 업무처리 체계를 확립함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AF80AB8-8CF1-A84E-776B-72E73A58B20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8E700D5-4E12-357B-AA77-8358E97C71E8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분기 기준 및 실행 연계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DE30FDB-1058-6F2C-A490-C7438219942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DR-012, FR-037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98289CF3-42AE-C6A6-947B-5F18B73DB423}"/>
              </a:ext>
            </a:extLst>
          </p:cNvPr>
          <p:cNvSpPr/>
          <p:nvPr/>
        </p:nvSpPr>
        <p:spPr bwMode="gray">
          <a:xfrm>
            <a:off x="258881" y="2666394"/>
            <a:ext cx="6331426" cy="70586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FCB91FF-3496-A063-E815-5F6896D2EB36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구분 목적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운영자가 반복 수행하는 검토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반출심사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장애조치 업무를 전자 워크플로우로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시스템화하되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위험도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정형성 기준으로 자동처리와 승인처리를 분기하여 운영 효율과 통제 신뢰성을 동시에 확보함</a:t>
            </a:r>
            <a:endParaRPr kumimoji="1" lang="en-US" altLang="ko-KR" sz="12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정형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저위험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업무는 자동처리로 처리속도를 높이고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비정형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고위험 업무는 담당자 승인으로 통제 책임을 명확히 함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개월의 짧은 사업기간</a:t>
            </a:r>
            <a:r>
              <a:rPr kumimoji="1" lang="en-US" altLang="ko-KR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3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서비스 개시 일정을 고려하여 자동화 범위를 우선 확정해 운영 인력 부하를 최소화함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8814B7E-9FB3-553C-8F09-6E6733D4D3B2}"/>
              </a:ext>
            </a:extLst>
          </p:cNvPr>
          <p:cNvSpPr/>
          <p:nvPr/>
        </p:nvSpPr>
        <p:spPr>
          <a:xfrm>
            <a:off x="316309" y="3726443"/>
            <a:ext cx="6286697" cy="57437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분기 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업무를 판정 축으로 평가하여 자동처리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조건부자동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승인처리로 분기함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위험도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정형성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가역성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법적책임을 조합하여 판정하며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어느 하나라도 고위험이면 승인처리를 우선 적용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8" name="Table 0">
            <a:extLst>
              <a:ext uri="{FF2B5EF4-FFF2-40B4-BE49-F238E27FC236}">
                <a16:creationId xmlns:a16="http://schemas.microsoft.com/office/drawing/2014/main" id="{DFA776BF-63F8-8205-02B6-789BEABEFD3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560634"/>
          <a:ext cx="6165724" cy="777124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4800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1705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성향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성향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163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위험도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등 영향 크기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 작음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 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163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 판정 가능 여부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규칙화 가능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판단 필요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5163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가역성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되돌리기 가능 여부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비가역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15163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법적책임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 책임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책임 없음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책임 수반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D7AC9EFC-24F2-6107-C1A4-A53AEF771AA9}"/>
              </a:ext>
            </a:extLst>
          </p:cNvPr>
          <p:cNvSpPr txBox="1"/>
          <p:nvPr/>
        </p:nvSpPr>
        <p:spPr>
          <a:xfrm>
            <a:off x="1093656" y="430082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분기 판정 기준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517D24D-1912-D1F1-3DE8-424E2F4F1842}"/>
              </a:ext>
            </a:extLst>
          </p:cNvPr>
          <p:cNvSpPr/>
          <p:nvPr/>
        </p:nvSpPr>
        <p:spPr>
          <a:xfrm>
            <a:off x="316309" y="533409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전자 워크플로우 표준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접수→검토→보완요청→재검토→승인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반려 기본 흐름을 시스템화하고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지정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기한 설정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에스컬레이션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증빙첨부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의견기록을 표준 요소로 반영함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(DR-012)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A6C4086-76BC-28A7-8128-558F5B5F873A}"/>
              </a:ext>
            </a:extLst>
          </p:cNvPr>
          <p:cNvSpPr/>
          <p:nvPr/>
        </p:nvSpPr>
        <p:spPr>
          <a:xfrm>
            <a:off x="316309" y="5865668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 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기한 초과 자동 알림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누락 방지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책임자 지정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처리이력 영구 보존을 적용하여 병목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누락을 방지함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(FR-037)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대기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필요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재검토 필요 업무를 통합 조회하고 자동 알림 제공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업무처리 통계로 운영 병목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 오류를 분석하여 지속 개선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6D6EA5B-45C6-C905-0F01-033A7E4D951B}"/>
              </a:ext>
            </a:extLst>
          </p:cNvPr>
          <p:cNvSpPr/>
          <p:nvPr/>
        </p:nvSpPr>
        <p:spPr>
          <a:xfrm>
            <a:off x="316309" y="6923379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실행 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자동처리 우선 확정으로 서비스 개시 직후 운영 부하를 최소화하며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워크플로우는 핵심 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우선 적용 후 단계적 확장함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서비스 개시 시점에는 등록 승인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승인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 승인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핵심 워크플로우를 우선 가동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잔여 업무 유형은 시범운영 기간 중 자동화 비율을 점진 확대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11544C3-1CB7-59F1-BCE7-55AAEBD7C284}"/>
              </a:ext>
            </a:extLst>
          </p:cNvPr>
          <p:cNvSpPr/>
          <p:nvPr/>
        </p:nvSpPr>
        <p:spPr>
          <a:xfrm>
            <a:off x="316309" y="795391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워크플로우정의서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결재흐름도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알림정의서로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구체화하며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(DR-012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범위는 운영 포털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(1.2.3)·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목표모델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(1.4.1·1.4.2)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및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Module 2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기능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(FR-037)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en-US" altLang="ko-KR" sz="1100" spc="-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FD29CD25-C74B-F62F-86B9-1FA3DFFBC9B3}"/>
              </a:ext>
            </a:extLst>
          </p:cNvPr>
          <p:cNvSpPr/>
          <p:nvPr/>
        </p:nvSpPr>
        <p:spPr>
          <a:xfrm>
            <a:off x="315897" y="8545805"/>
            <a:ext cx="1468628" cy="106161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위쪽 모서리 30">
            <a:extLst>
              <a:ext uri="{FF2B5EF4-FFF2-40B4-BE49-F238E27FC236}">
                <a16:creationId xmlns:a16="http://schemas.microsoft.com/office/drawing/2014/main" id="{F899EEBA-9138-8D60-F155-40414B8256F5}"/>
              </a:ext>
            </a:extLst>
          </p:cNvPr>
          <p:cNvSpPr/>
          <p:nvPr/>
        </p:nvSpPr>
        <p:spPr>
          <a:xfrm>
            <a:off x="315897" y="8545806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 식별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C3802F3-6776-4175-51DE-DCBF05526FDE}"/>
              </a:ext>
            </a:extLst>
          </p:cNvPr>
          <p:cNvSpPr txBox="1"/>
          <p:nvPr/>
        </p:nvSpPr>
        <p:spPr>
          <a:xfrm>
            <a:off x="315896" y="8814619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반복 운영 업무 전수 식별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226954CE-2EF6-A595-93EA-DA918E0DF5CE}"/>
              </a:ext>
            </a:extLst>
          </p:cNvPr>
          <p:cNvSpPr/>
          <p:nvPr/>
        </p:nvSpPr>
        <p:spPr>
          <a:xfrm>
            <a:off x="1896507" y="8545805"/>
            <a:ext cx="1468628" cy="106161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사각형: 둥근 위쪽 모서리 33">
            <a:extLst>
              <a:ext uri="{FF2B5EF4-FFF2-40B4-BE49-F238E27FC236}">
                <a16:creationId xmlns:a16="http://schemas.microsoft.com/office/drawing/2014/main" id="{61F2056D-2A65-4D36-C8A3-59AA1706AD32}"/>
              </a:ext>
            </a:extLst>
          </p:cNvPr>
          <p:cNvSpPr/>
          <p:nvPr/>
        </p:nvSpPr>
        <p:spPr>
          <a:xfrm>
            <a:off x="1896507" y="8545806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분기 판정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4DAE032-6698-9127-06FF-38E129CC70B3}"/>
              </a:ext>
            </a:extLst>
          </p:cNvPr>
          <p:cNvSpPr txBox="1"/>
          <p:nvPr/>
        </p:nvSpPr>
        <p:spPr>
          <a:xfrm>
            <a:off x="1896506" y="881461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위험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가역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책임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으로 자동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분기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C719131-2D39-E673-733F-72EF596C2A1D}"/>
              </a:ext>
            </a:extLst>
          </p:cNvPr>
          <p:cNvSpPr/>
          <p:nvPr/>
        </p:nvSpPr>
        <p:spPr>
          <a:xfrm>
            <a:off x="3477117" y="8545805"/>
            <a:ext cx="1468628" cy="106161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위쪽 모서리 36">
            <a:extLst>
              <a:ext uri="{FF2B5EF4-FFF2-40B4-BE49-F238E27FC236}">
                <a16:creationId xmlns:a16="http://schemas.microsoft.com/office/drawing/2014/main" id="{9018ED62-6B9E-43CA-D52C-29E5A72952B1}"/>
              </a:ext>
            </a:extLst>
          </p:cNvPr>
          <p:cNvSpPr/>
          <p:nvPr/>
        </p:nvSpPr>
        <p:spPr>
          <a:xfrm>
            <a:off x="3477117" y="8545806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워크 플로우 설계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90294DA-B84D-E817-083F-9455E3699619}"/>
              </a:ext>
            </a:extLst>
          </p:cNvPr>
          <p:cNvSpPr txBox="1"/>
          <p:nvPr/>
        </p:nvSpPr>
        <p:spPr>
          <a:xfrm>
            <a:off x="3477116" y="881461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접수→검토→보완→승인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자동화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ACB2F495-BEB2-6156-DA00-0403747DDA45}"/>
              </a:ext>
            </a:extLst>
          </p:cNvPr>
          <p:cNvSpPr/>
          <p:nvPr/>
        </p:nvSpPr>
        <p:spPr>
          <a:xfrm>
            <a:off x="5057727" y="8545805"/>
            <a:ext cx="1468628" cy="106161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사각형: 둥근 위쪽 모서리 39">
            <a:extLst>
              <a:ext uri="{FF2B5EF4-FFF2-40B4-BE49-F238E27FC236}">
                <a16:creationId xmlns:a16="http://schemas.microsoft.com/office/drawing/2014/main" id="{8C2A820D-4C1B-9F9A-4DE5-DB8D634E09D7}"/>
              </a:ext>
            </a:extLst>
          </p:cNvPr>
          <p:cNvSpPr/>
          <p:nvPr/>
        </p:nvSpPr>
        <p:spPr>
          <a:xfrm>
            <a:off x="5057727" y="8545806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기한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8EDE48B-6555-7591-BFBE-C4E74F14BC86}"/>
              </a:ext>
            </a:extLst>
          </p:cNvPr>
          <p:cNvSpPr txBox="1"/>
          <p:nvPr/>
        </p:nvSpPr>
        <p:spPr>
          <a:xfrm>
            <a:off x="5057726" y="881461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기한 알림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누락 방지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이력 영구 보존</a:t>
            </a: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30C23790-4E31-4759-C563-63E0D0C23E25}"/>
              </a:ext>
            </a:extLst>
          </p:cNvPr>
          <p:cNvSpPr/>
          <p:nvPr/>
        </p:nvSpPr>
        <p:spPr>
          <a:xfrm rot="5400000">
            <a:off x="1801098" y="909547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이등변 삼각형 42">
            <a:extLst>
              <a:ext uri="{FF2B5EF4-FFF2-40B4-BE49-F238E27FC236}">
                <a16:creationId xmlns:a16="http://schemas.microsoft.com/office/drawing/2014/main" id="{010B5DC7-9929-F382-2350-69525E7ED89C}"/>
              </a:ext>
            </a:extLst>
          </p:cNvPr>
          <p:cNvSpPr/>
          <p:nvPr/>
        </p:nvSpPr>
        <p:spPr>
          <a:xfrm rot="5400000">
            <a:off x="3386287" y="909547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731BE5F4-9730-5246-5F29-748AB6BBCB2F}"/>
              </a:ext>
            </a:extLst>
          </p:cNvPr>
          <p:cNvSpPr/>
          <p:nvPr/>
        </p:nvSpPr>
        <p:spPr>
          <a:xfrm rot="5400000">
            <a:off x="4966713" y="909547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50601986-8D63-78CB-75C6-67F742F4957E}"/>
              </a:ext>
            </a:extLst>
          </p:cNvPr>
          <p:cNvSpPr/>
          <p:nvPr/>
        </p:nvSpPr>
        <p:spPr>
          <a:xfrm rot="5400000">
            <a:off x="1801098" y="909547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3F1C9999-9B0E-3196-23D3-C93937BE5C09}"/>
              </a:ext>
            </a:extLst>
          </p:cNvPr>
          <p:cNvSpPr/>
          <p:nvPr/>
        </p:nvSpPr>
        <p:spPr>
          <a:xfrm rot="5400000">
            <a:off x="3386287" y="909547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A63AAF54-5CF3-34A7-B53F-7661F44CBAF2}"/>
              </a:ext>
            </a:extLst>
          </p:cNvPr>
          <p:cNvSpPr/>
          <p:nvPr/>
        </p:nvSpPr>
        <p:spPr>
          <a:xfrm rot="5400000">
            <a:off x="4966713" y="909547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53" name="그림 52">
            <a:extLst>
              <a:ext uri="{FF2B5EF4-FFF2-40B4-BE49-F238E27FC236}">
                <a16:creationId xmlns:a16="http://schemas.microsoft.com/office/drawing/2014/main" id="{0F5DD4BC-9ED3-8149-E352-B058771025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7202" y="9098807"/>
            <a:ext cx="526014" cy="504578"/>
          </a:xfrm>
          <a:prstGeom prst="rect">
            <a:avLst/>
          </a:prstGeom>
        </p:spPr>
      </p:pic>
      <p:pic>
        <p:nvPicPr>
          <p:cNvPr id="55" name="그림 54">
            <a:extLst>
              <a:ext uri="{FF2B5EF4-FFF2-40B4-BE49-F238E27FC236}">
                <a16:creationId xmlns:a16="http://schemas.microsoft.com/office/drawing/2014/main" id="{7F4F8324-1399-7A0C-D7F7-B034687827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37228" y="9199787"/>
            <a:ext cx="635985" cy="401675"/>
          </a:xfrm>
          <a:prstGeom prst="rect">
            <a:avLst/>
          </a:prstGeom>
        </p:spPr>
      </p:pic>
      <p:pic>
        <p:nvPicPr>
          <p:cNvPr id="57" name="그림 56">
            <a:extLst>
              <a:ext uri="{FF2B5EF4-FFF2-40B4-BE49-F238E27FC236}">
                <a16:creationId xmlns:a16="http://schemas.microsoft.com/office/drawing/2014/main" id="{81C6AE6C-033C-EA74-88E1-368FD0769B8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05854" y="9199787"/>
            <a:ext cx="802363" cy="404272"/>
          </a:xfrm>
          <a:prstGeom prst="rect">
            <a:avLst/>
          </a:prstGeom>
        </p:spPr>
      </p:pic>
      <p:pic>
        <p:nvPicPr>
          <p:cNvPr id="59" name="그림 58">
            <a:extLst>
              <a:ext uri="{FF2B5EF4-FFF2-40B4-BE49-F238E27FC236}">
                <a16:creationId xmlns:a16="http://schemas.microsoft.com/office/drawing/2014/main" id="{40F4E92E-9ED6-7401-87E0-C7B844B15B1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76765" y="9220015"/>
            <a:ext cx="659303" cy="358015"/>
          </a:xfrm>
          <a:prstGeom prst="rect">
            <a:avLst/>
          </a:prstGeom>
        </p:spPr>
      </p:pic>
      <p:sp>
        <p:nvSpPr>
          <p:cNvPr id="9" name="Google Shape;2126;p36">
            <a:extLst>
              <a:ext uri="{FF2B5EF4-FFF2-40B4-BE49-F238E27FC236}">
                <a16:creationId xmlns:a16="http://schemas.microsoft.com/office/drawing/2014/main" id="{115E6DDC-9C4A-092F-6490-07E814ED9E08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2050515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16AE44-20D0-4589-1D55-9205D58F1D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B31B71B-EB5A-3F14-E650-BB160120BC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844121B-047C-5FFC-4709-D39C3970ADA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FB9D73-F632-EC64-F570-10D0CB830EA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자동 처리 및 승인 범위 구분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77A1F08-822C-9F55-5FCF-0D9A08A219C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DF93C26-519A-3FAD-06FA-EC9036EEBE6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업무별 자동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분기 결과와 대표 승인 워크플로우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개방 승인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제시하여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자동처리와 담당자 통제가 결합된 업무처리 체계의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4B6EDEF-D93A-7B7E-F40C-4D311551F0C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A31C22F-712E-BCFD-2C09-F47AB57C444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업무 자동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분기 결과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58FA236-9E84-8152-3AAA-5A1A9608AB6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DR-012, FR-037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DCC3921F-A67A-F978-FDAE-AB7998602FA7}"/>
              </a:ext>
            </a:extLst>
          </p:cNvPr>
          <p:cNvSpPr/>
          <p:nvPr/>
        </p:nvSpPr>
        <p:spPr bwMode="gray">
          <a:xfrm>
            <a:off x="258881" y="2666395"/>
            <a:ext cx="6331426" cy="259140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8" name="Table 0">
            <a:extLst>
              <a:ext uri="{FF2B5EF4-FFF2-40B4-BE49-F238E27FC236}">
                <a16:creationId xmlns:a16="http://schemas.microsoft.com/office/drawing/2014/main" id="{9D4992B3-97FE-4672-70B0-73E66A20E510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2724671"/>
          <a:ext cx="6165724" cy="2491818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7170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666750">
                  <a:extLst>
                    <a:ext uri="{9D8B030D-6E8A-4147-A177-3AD203B41FA5}">
                      <a16:colId xmlns:a16="http://schemas.microsoft.com/office/drawing/2014/main" val="1596441195"/>
                    </a:ext>
                  </a:extLst>
                </a:gridCol>
                <a:gridCol w="113823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138238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138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세부 업무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위험도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방식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5669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자동처리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정형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저위험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5669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승인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영향 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05669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 검수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무결성 자동검사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자동처리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 판정 가능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05669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품질 판정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조건부 자동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임계치 미달 시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05669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제공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이력 기록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자동처리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7597247"/>
                  </a:ext>
                </a:extLst>
              </a:tr>
              <a:tr h="205669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비가역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고위험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8778439"/>
                  </a:ext>
                </a:extLst>
              </a:tr>
              <a:tr h="205669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 자동 대조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조건부 자동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법적책임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39237"/>
                  </a:ext>
                </a:extLst>
              </a:tr>
              <a:tr h="205669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최종 검토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법적책임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8044"/>
                  </a:ext>
                </a:extLst>
              </a:tr>
              <a:tr h="203748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토큰 발급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자동처리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2730299"/>
                  </a:ext>
                </a:extLst>
              </a:tr>
              <a:tr h="205669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회수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 보류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통제 책임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598664"/>
                  </a:ext>
                </a:extLst>
              </a:tr>
              <a:tr h="20566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실행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비가역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5989448"/>
                  </a:ext>
                </a:extLst>
              </a:tr>
            </a:tbl>
          </a:graphicData>
        </a:graphic>
      </p:graphicFrame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B3259655-5BD6-2A86-82C8-10549B9A4C17}"/>
              </a:ext>
            </a:extLst>
          </p:cNvPr>
          <p:cNvCxnSpPr>
            <a:cxnSpLocks/>
          </p:cNvCxnSpPr>
          <p:nvPr/>
        </p:nvCxnSpPr>
        <p:spPr>
          <a:xfrm>
            <a:off x="312925" y="538169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EB9155A4-0D9C-F46C-16EF-3671F3FBCD6F}"/>
              </a:ext>
            </a:extLst>
          </p:cNvPr>
          <p:cNvSpPr txBox="1"/>
          <p:nvPr/>
        </p:nvSpPr>
        <p:spPr>
          <a:xfrm>
            <a:off x="335012" y="5355621"/>
            <a:ext cx="33543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대표 승인 워크플로우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개방 승인</a:t>
            </a:r>
          </a:p>
        </p:txBody>
      </p:sp>
      <p:sp>
        <p:nvSpPr>
          <p:cNvPr id="46" name="모서리가 둥근 직사각형 222">
            <a:extLst>
              <a:ext uri="{FF2B5EF4-FFF2-40B4-BE49-F238E27FC236}">
                <a16:creationId xmlns:a16="http://schemas.microsoft.com/office/drawing/2014/main" id="{ADA1FD00-73FF-EDD0-2801-D9D244DB0BC7}"/>
              </a:ext>
            </a:extLst>
          </p:cNvPr>
          <p:cNvSpPr/>
          <p:nvPr/>
        </p:nvSpPr>
        <p:spPr bwMode="gray">
          <a:xfrm>
            <a:off x="258881" y="5650873"/>
            <a:ext cx="6331426" cy="4036052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70613AF6-38A9-0C06-E556-212F3733370A}"/>
              </a:ext>
            </a:extLst>
          </p:cNvPr>
          <p:cNvSpPr/>
          <p:nvPr/>
        </p:nvSpPr>
        <p:spPr>
          <a:xfrm>
            <a:off x="1610413" y="6183860"/>
            <a:ext cx="1043000" cy="139426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 형식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중복 검증</a:t>
            </a:r>
            <a:endParaRPr lang="en-US" altLang="ko-KR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   -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적합성</a:t>
            </a:r>
            <a:endParaRPr lang="en-US" altLang="ko-KR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   -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필수항목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   -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중복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여부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3C5AA9F7-F2FE-E9F8-C587-4842E5BD2D5B}"/>
              </a:ext>
            </a:extLst>
          </p:cNvPr>
          <p:cNvCxnSpPr>
            <a:cxnSpLocks/>
            <a:stCxn id="52" idx="3"/>
            <a:endCxn id="48" idx="1"/>
          </p:cNvCxnSpPr>
          <p:nvPr/>
        </p:nvCxnSpPr>
        <p:spPr>
          <a:xfrm>
            <a:off x="1378012" y="6880990"/>
            <a:ext cx="2324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74ACEAB-85C4-32F3-04A6-FBE6D5AB0A25}"/>
              </a:ext>
            </a:extLst>
          </p:cNvPr>
          <p:cNvSpPr/>
          <p:nvPr/>
        </p:nvSpPr>
        <p:spPr>
          <a:xfrm>
            <a:off x="2901214" y="6183860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</a:t>
            </a:r>
          </a:p>
          <a:p>
            <a:pPr algn="ctr"/>
            <a:endParaRPr lang="ko-KR" altLang="en-US" sz="3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   -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적정성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   -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권리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   -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범위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B1F34332-D467-145F-FE43-BDDF2A5C575F}"/>
              </a:ext>
            </a:extLst>
          </p:cNvPr>
          <p:cNvSpPr/>
          <p:nvPr/>
        </p:nvSpPr>
        <p:spPr>
          <a:xfrm>
            <a:off x="335012" y="6183860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접수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41C2C67A-7FF9-CED2-9E63-C3B22982386E}"/>
              </a:ext>
            </a:extLst>
          </p:cNvPr>
          <p:cNvSpPr/>
          <p:nvPr/>
        </p:nvSpPr>
        <p:spPr>
          <a:xfrm>
            <a:off x="4174195" y="6183860"/>
            <a:ext cx="1043000" cy="139426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공개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30A03DE-DCCB-B30A-BFDD-569D9EA4296A}"/>
              </a:ext>
            </a:extLst>
          </p:cNvPr>
          <p:cNvSpPr/>
          <p:nvPr/>
        </p:nvSpPr>
        <p:spPr>
          <a:xfrm>
            <a:off x="5462576" y="6183860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기록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통지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증빙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 저장</a:t>
            </a: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0E9ACA53-1113-7C1B-981A-69DAD1924802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2653413" y="6880990"/>
            <a:ext cx="2478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EDE1EB10-21A1-AE05-CDA3-F696342FB41A}"/>
              </a:ext>
            </a:extLst>
          </p:cNvPr>
          <p:cNvCxnSpPr>
            <a:cxnSpLocks/>
            <a:stCxn id="50" idx="3"/>
            <a:endCxn id="53" idx="1"/>
          </p:cNvCxnSpPr>
          <p:nvPr/>
        </p:nvCxnSpPr>
        <p:spPr>
          <a:xfrm>
            <a:off x="3944214" y="6880990"/>
            <a:ext cx="22998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3256F631-7307-3E19-F933-E50AFE7D8067}"/>
              </a:ext>
            </a:extLst>
          </p:cNvPr>
          <p:cNvCxnSpPr>
            <a:cxnSpLocks/>
            <a:stCxn id="53" idx="3"/>
            <a:endCxn id="54" idx="1"/>
          </p:cNvCxnSpPr>
          <p:nvPr/>
        </p:nvCxnSpPr>
        <p:spPr>
          <a:xfrm>
            <a:off x="5217195" y="6880990"/>
            <a:ext cx="24538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5772A5D-0672-EDEC-C71A-5FDA62AAAB69}"/>
              </a:ext>
            </a:extLst>
          </p:cNvPr>
          <p:cNvSpPr/>
          <p:nvPr/>
        </p:nvSpPr>
        <p:spPr>
          <a:xfrm>
            <a:off x="1757922" y="7322406"/>
            <a:ext cx="783622" cy="194752"/>
          </a:xfrm>
          <a:prstGeom prst="roundRect">
            <a:avLst>
              <a:gd name="adj" fmla="val 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 처리</a:t>
            </a: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27355A53-CBBC-F2E4-F3E6-B7BFF2F89E72}"/>
              </a:ext>
            </a:extLst>
          </p:cNvPr>
          <p:cNvSpPr/>
          <p:nvPr/>
        </p:nvSpPr>
        <p:spPr>
          <a:xfrm>
            <a:off x="3052985" y="7322406"/>
            <a:ext cx="783622" cy="194752"/>
          </a:xfrm>
          <a:prstGeom prst="roundRect">
            <a:avLst>
              <a:gd name="adj" fmla="val 0"/>
            </a:avLst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승인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1DCF0778-9EDA-BC42-9DF8-168766C12648}"/>
              </a:ext>
            </a:extLst>
          </p:cNvPr>
          <p:cNvSpPr/>
          <p:nvPr/>
        </p:nvSpPr>
        <p:spPr>
          <a:xfrm>
            <a:off x="335012" y="9066902"/>
            <a:ext cx="1043000" cy="24941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0B457947-2D92-CEB2-EAA7-6D4C17C90967}"/>
              </a:ext>
            </a:extLst>
          </p:cNvPr>
          <p:cNvSpPr/>
          <p:nvPr/>
        </p:nvSpPr>
        <p:spPr>
          <a:xfrm>
            <a:off x="2632380" y="9066902"/>
            <a:ext cx="1043000" cy="249408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2298FC6F-A712-3666-E49E-8C707105B725}"/>
              </a:ext>
            </a:extLst>
          </p:cNvPr>
          <p:cNvSpPr/>
          <p:nvPr/>
        </p:nvSpPr>
        <p:spPr>
          <a:xfrm>
            <a:off x="1218222" y="9062648"/>
            <a:ext cx="1130718" cy="2758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 처리 구간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9077C2CF-265E-ED8B-BBAF-D9EB2E875ADC}"/>
              </a:ext>
            </a:extLst>
          </p:cNvPr>
          <p:cNvSpPr/>
          <p:nvPr/>
        </p:nvSpPr>
        <p:spPr>
          <a:xfrm>
            <a:off x="3519308" y="9062648"/>
            <a:ext cx="1631811" cy="2758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승인 구간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D8C3ED8F-E541-DE57-349D-33B3B122E974}"/>
              </a:ext>
            </a:extLst>
          </p:cNvPr>
          <p:cNvSpPr/>
          <p:nvPr/>
        </p:nvSpPr>
        <p:spPr>
          <a:xfrm>
            <a:off x="1610413" y="7988278"/>
            <a:ext cx="1043000" cy="786181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반려 사유 통지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 실패 사유 기록 및 신청자 통지</a:t>
            </a:r>
          </a:p>
        </p:txBody>
      </p: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F032F6B2-44A3-2146-B99B-773F42697985}"/>
              </a:ext>
            </a:extLst>
          </p:cNvPr>
          <p:cNvCxnSpPr>
            <a:cxnSpLocks/>
          </p:cNvCxnSpPr>
          <p:nvPr/>
        </p:nvCxnSpPr>
        <p:spPr>
          <a:xfrm>
            <a:off x="2274779" y="7578120"/>
            <a:ext cx="0" cy="410158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D2F824E-9284-668A-A721-356D99C07786}"/>
              </a:ext>
            </a:extLst>
          </p:cNvPr>
          <p:cNvSpPr/>
          <p:nvPr/>
        </p:nvSpPr>
        <p:spPr>
          <a:xfrm>
            <a:off x="1613006" y="7650069"/>
            <a:ext cx="863491" cy="2389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rgbClr val="C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실패</a:t>
            </a:r>
          </a:p>
        </p:txBody>
      </p: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CA1A42BF-532A-2A3E-5958-5A2707011FC0}"/>
              </a:ext>
            </a:extLst>
          </p:cNvPr>
          <p:cNvCxnSpPr>
            <a:cxnSpLocks/>
          </p:cNvCxnSpPr>
          <p:nvPr/>
        </p:nvCxnSpPr>
        <p:spPr>
          <a:xfrm flipV="1">
            <a:off x="1775961" y="7578120"/>
            <a:ext cx="0" cy="410158"/>
          </a:xfrm>
          <a:prstGeom prst="straightConnector1">
            <a:avLst/>
          </a:prstGeom>
          <a:ln w="190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6DC22AB8-8EE5-9B30-E55A-192FA3AB7CA5}"/>
              </a:ext>
            </a:extLst>
          </p:cNvPr>
          <p:cNvSpPr/>
          <p:nvPr/>
        </p:nvSpPr>
        <p:spPr>
          <a:xfrm>
            <a:off x="3338500" y="7815027"/>
            <a:ext cx="1043000" cy="312332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 요청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C3A1D0C7-9D9C-4A04-FB54-69F349A661C3}"/>
              </a:ext>
            </a:extLst>
          </p:cNvPr>
          <p:cNvSpPr/>
          <p:nvPr/>
        </p:nvSpPr>
        <p:spPr>
          <a:xfrm>
            <a:off x="3338500" y="8462127"/>
            <a:ext cx="1043000" cy="312332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신청자 보완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13" name="연결선: 꺾임 112">
            <a:extLst>
              <a:ext uri="{FF2B5EF4-FFF2-40B4-BE49-F238E27FC236}">
                <a16:creationId xmlns:a16="http://schemas.microsoft.com/office/drawing/2014/main" id="{75C3F06E-9C65-AFDA-ACA9-0C4BFD09B93A}"/>
              </a:ext>
            </a:extLst>
          </p:cNvPr>
          <p:cNvCxnSpPr>
            <a:cxnSpLocks/>
          </p:cNvCxnSpPr>
          <p:nvPr/>
        </p:nvCxnSpPr>
        <p:spPr>
          <a:xfrm>
            <a:off x="2470758" y="7582374"/>
            <a:ext cx="867742" cy="306440"/>
          </a:xfrm>
          <a:prstGeom prst="bentConnector3">
            <a:avLst>
              <a:gd name="adj1" fmla="val 970"/>
            </a:avLst>
          </a:prstGeom>
          <a:ln w="19050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123">
            <a:extLst>
              <a:ext uri="{FF2B5EF4-FFF2-40B4-BE49-F238E27FC236}">
                <a16:creationId xmlns:a16="http://schemas.microsoft.com/office/drawing/2014/main" id="{67C67C78-7EA3-CE4B-4CBA-22600F57EEA0}"/>
              </a:ext>
            </a:extLst>
          </p:cNvPr>
          <p:cNvCxnSpPr>
            <a:endCxn id="101" idx="3"/>
          </p:cNvCxnSpPr>
          <p:nvPr/>
        </p:nvCxnSpPr>
        <p:spPr>
          <a:xfrm rot="5400000">
            <a:off x="2451575" y="7779958"/>
            <a:ext cx="803249" cy="399572"/>
          </a:xfrm>
          <a:prstGeom prst="bentConnector2">
            <a:avLst/>
          </a:prstGeom>
          <a:ln w="1905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62EB932F-6584-BCA2-E24C-B3B5822EF675}"/>
              </a:ext>
            </a:extLst>
          </p:cNvPr>
          <p:cNvSpPr/>
          <p:nvPr/>
        </p:nvSpPr>
        <p:spPr>
          <a:xfrm>
            <a:off x="2891809" y="7599004"/>
            <a:ext cx="863491" cy="2389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rgbClr val="C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반려</a:t>
            </a: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162992BE-A45D-10D3-FB6E-EE822655160C}"/>
              </a:ext>
            </a:extLst>
          </p:cNvPr>
          <p:cNvCxnSpPr>
            <a:cxnSpLocks/>
          </p:cNvCxnSpPr>
          <p:nvPr/>
        </p:nvCxnSpPr>
        <p:spPr>
          <a:xfrm>
            <a:off x="3755300" y="7578120"/>
            <a:ext cx="0" cy="244096"/>
          </a:xfrm>
          <a:prstGeom prst="straightConnector1">
            <a:avLst/>
          </a:prstGeom>
          <a:ln w="1905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1AEDB0A-1050-EE3A-27D4-F2193CCAFF04}"/>
              </a:ext>
            </a:extLst>
          </p:cNvPr>
          <p:cNvSpPr/>
          <p:nvPr/>
        </p:nvSpPr>
        <p:spPr>
          <a:xfrm>
            <a:off x="3609068" y="7583314"/>
            <a:ext cx="863491" cy="2389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chemeClr val="tx1">
                    <a:lumMod val="65000"/>
                    <a:lumOff val="3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필요 요청</a:t>
            </a: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E918BA2-297B-BE6B-3B5E-98D976B23C4F}"/>
              </a:ext>
            </a:extLst>
          </p:cNvPr>
          <p:cNvCxnSpPr>
            <a:cxnSpLocks/>
            <a:stCxn id="111" idx="1"/>
          </p:cNvCxnSpPr>
          <p:nvPr/>
        </p:nvCxnSpPr>
        <p:spPr>
          <a:xfrm flipH="1">
            <a:off x="2664834" y="8618293"/>
            <a:ext cx="673666" cy="6049"/>
          </a:xfrm>
          <a:prstGeom prst="straightConnector1">
            <a:avLst/>
          </a:prstGeom>
          <a:ln w="19050">
            <a:solidFill>
              <a:schemeClr val="bg1">
                <a:lumMod val="5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412BEDC-3DB5-9794-F4B5-D06EDCD2844F}"/>
              </a:ext>
            </a:extLst>
          </p:cNvPr>
          <p:cNvSpPr/>
          <p:nvPr/>
        </p:nvSpPr>
        <p:spPr>
          <a:xfrm>
            <a:off x="2469468" y="8639525"/>
            <a:ext cx="1231004" cy="44357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chemeClr val="tx1">
                    <a:lumMod val="65000"/>
                    <a:lumOff val="3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 </a:t>
            </a:r>
            <a:r>
              <a:rPr kumimoji="1" lang="ko-KR" altLang="en-US" sz="900" spc="-70" err="1">
                <a:solidFill>
                  <a:schemeClr val="tx1">
                    <a:lumMod val="65000"/>
                    <a:lumOff val="3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</a:t>
            </a:r>
            <a:endParaRPr kumimoji="1" lang="en-US" altLang="ko-KR" sz="900" spc="-70">
              <a:solidFill>
                <a:schemeClr val="tx1">
                  <a:lumMod val="65000"/>
                  <a:lumOff val="35000"/>
                </a:schemeClr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chemeClr val="tx1">
                    <a:lumMod val="65000"/>
                    <a:lumOff val="3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또는 담당자 재검토 </a:t>
            </a:r>
          </a:p>
        </p:txBody>
      </p: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1EB5E61D-0880-613C-26CC-35E4A06EFEFC}"/>
              </a:ext>
            </a:extLst>
          </p:cNvPr>
          <p:cNvCxnSpPr>
            <a:cxnSpLocks/>
            <a:stCxn id="110" idx="2"/>
            <a:endCxn id="111" idx="0"/>
          </p:cNvCxnSpPr>
          <p:nvPr/>
        </p:nvCxnSpPr>
        <p:spPr>
          <a:xfrm>
            <a:off x="3860000" y="8127359"/>
            <a:ext cx="0" cy="334768"/>
          </a:xfrm>
          <a:prstGeom prst="straightConnector1">
            <a:avLst/>
          </a:prstGeom>
          <a:ln w="19050">
            <a:solidFill>
              <a:schemeClr val="bg1">
                <a:lumMod val="5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141">
            <a:extLst>
              <a:ext uri="{FF2B5EF4-FFF2-40B4-BE49-F238E27FC236}">
                <a16:creationId xmlns:a16="http://schemas.microsoft.com/office/drawing/2014/main" id="{2E54E570-007A-F4F1-154E-A1C42B78FB52}"/>
              </a:ext>
            </a:extLst>
          </p:cNvPr>
          <p:cNvCxnSpPr>
            <a:stCxn id="111" idx="3"/>
            <a:endCxn id="110" idx="3"/>
          </p:cNvCxnSpPr>
          <p:nvPr/>
        </p:nvCxnSpPr>
        <p:spPr>
          <a:xfrm flipV="1">
            <a:off x="4381500" y="7971193"/>
            <a:ext cx="12700" cy="647100"/>
          </a:xfrm>
          <a:prstGeom prst="bentConnector3">
            <a:avLst>
              <a:gd name="adj1" fmla="val 1800000"/>
            </a:avLst>
          </a:prstGeom>
          <a:ln w="19050">
            <a:solidFill>
              <a:schemeClr val="bg1">
                <a:lumMod val="5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BE79AB58-AE79-6637-E4F2-91D2AC655600}"/>
              </a:ext>
            </a:extLst>
          </p:cNvPr>
          <p:cNvSpPr/>
          <p:nvPr/>
        </p:nvSpPr>
        <p:spPr>
          <a:xfrm>
            <a:off x="4444763" y="7830400"/>
            <a:ext cx="863491" cy="2389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chemeClr val="tx1">
                    <a:lumMod val="65000"/>
                    <a:lumOff val="3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재검토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279DBC35-A305-5D3D-2341-91874ECD528D}"/>
              </a:ext>
            </a:extLst>
          </p:cNvPr>
          <p:cNvSpPr/>
          <p:nvPr/>
        </p:nvSpPr>
        <p:spPr>
          <a:xfrm>
            <a:off x="4444763" y="8484259"/>
            <a:ext cx="863491" cy="2389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ko-KR" altLang="en-US" sz="900" spc="-70">
                <a:solidFill>
                  <a:schemeClr val="tx1">
                    <a:lumMod val="65000"/>
                    <a:lumOff val="35000"/>
                  </a:schemeClr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재검토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1F759DE9-579F-28FE-D759-0E72F903AA8C}"/>
              </a:ext>
            </a:extLst>
          </p:cNvPr>
          <p:cNvSpPr/>
          <p:nvPr/>
        </p:nvSpPr>
        <p:spPr>
          <a:xfrm>
            <a:off x="316309" y="566795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처리속도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신뢰성 확보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개방 승인은 자동 검증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형식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으로 담당자 부담을 줄이고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여부라는 고위험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비가역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판단만 담당자 승인으로 통제하여 처리 속도와 통제 신뢰성을 동시에 확보함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8B92FF5D-7E2E-C2D0-69CA-E21E3FD62749}"/>
              </a:ext>
            </a:extLst>
          </p:cNvPr>
          <p:cNvSpPr/>
          <p:nvPr/>
        </p:nvSpPr>
        <p:spPr>
          <a:xfrm>
            <a:off x="316309" y="936385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공통관리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각 단계 담당자 지정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처리기한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알림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증빙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의견기록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+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기한초과 자동 상위 보고 </a:t>
            </a:r>
            <a:endParaRPr kumimoji="1" lang="ko-KR" altLang="ko-KR" sz="1100" spc="-2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" name="Google Shape;2126;p36">
            <a:extLst>
              <a:ext uri="{FF2B5EF4-FFF2-40B4-BE49-F238E27FC236}">
                <a16:creationId xmlns:a16="http://schemas.microsoft.com/office/drawing/2014/main" id="{B929098D-09B6-06A7-F31E-781BDC16EE8A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7479949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8A489D-7565-75A8-7BE3-11AF32FA7E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BEF0154-E27B-AEB4-468E-0E3F71DA81E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0E9FB2C-52A1-CBC7-786E-3BF4D6125219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FF20A25-1AEF-C4CC-6523-7167EFF1557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표준 프레임워크 적용 원칙 수립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5B1A714-7397-2909-6E7E-EA3860EF262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25B47AC-E03A-B7A4-6902-B45AD414C5C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기반 구축 원칙 확립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 계층에 전자정부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표준프레임워크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웹표준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en-US" altLang="ko-KR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OpenAPI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표준을 적용하고 특정 상용 솔루션 종속을 배제하여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클라우드와 상호운용 가능한 개방형 표준 기반 구축 원칙을 확립함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24241A76-7F6C-6218-64C2-6831993BD5D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3B52F01-71C8-6B7D-C274-E4934B399D3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기반 구축 및 원칙 확립 과정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0182A67-1DC5-0981-7F4F-C7EA7462B31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DR-017, COR-001, COR-002</a:t>
            </a:r>
          </a:p>
        </p:txBody>
      </p:sp>
      <p:sp>
        <p:nvSpPr>
          <p:cNvPr id="14" name="모서리가 둥근 직사각형 222">
            <a:extLst>
              <a:ext uri="{FF2B5EF4-FFF2-40B4-BE49-F238E27FC236}">
                <a16:creationId xmlns:a16="http://schemas.microsoft.com/office/drawing/2014/main" id="{EE89095E-5942-6908-DAB4-CE6DB53F173E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186826-5CB3-4028-3562-19F8DC39AB55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원칙 수립 목적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목표시스템을 공공 정보화 표준과 개방형 기술 기반으로 구축하기 위해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계층별 표준 적용 대상과 상용 종속 배제 원칙을 사전 정의하여 상호운용성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확장성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유지보수성을 확보함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(DR-017·COR-001·COR-002)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준수는 산출물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기술적용계획표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'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관리하며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미적용 항목은 사유와 대체방안을 명시함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(COR-002)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특정 상용 솔루션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 종속을 최소화하여 라이선스 리스크와 유지보수 종속을 근본 차단함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CC62BF3-429F-6E89-7FAA-10FE2E57D2C8}"/>
              </a:ext>
            </a:extLst>
          </p:cNvPr>
          <p:cNvSpPr/>
          <p:nvPr/>
        </p:nvSpPr>
        <p:spPr>
          <a:xfrm>
            <a:off x="316309" y="3794879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 정보화 표준 준수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전자정부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표준프레임워크를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기반으로 웹 표준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 접근성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 호환성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표준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표준을 준수함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(COR-002)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표현 계층은 웹 표준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접근성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크로스브라우징을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적용하고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응용 계층은 전자정부 </a:t>
            </a:r>
            <a:r>
              <a:rPr kumimoji="1" lang="ko-KR" altLang="en-US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표준프레임워크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기반으로 개발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기술적용계획표에 적용 대상 기술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지침과 적용계획을 누락 없이 작성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6FEB43A-4BCB-406A-29AA-64F67DA110B3}"/>
              </a:ext>
            </a:extLst>
          </p:cNvPr>
          <p:cNvSpPr/>
          <p:nvPr/>
        </p:nvSpPr>
        <p:spPr>
          <a:xfrm>
            <a:off x="316309" y="491758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 표준화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상호운용성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간 데이터 송수신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 연계를 </a:t>
            </a:r>
            <a:r>
              <a:rPr kumimoji="1" lang="en-US" altLang="ko-KR" sz="1200" spc="-11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REST·OpenAPI·JSON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/XML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방식으로 정의하고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 구조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오류코드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버전관리 정책을 </a:t>
            </a:r>
            <a:r>
              <a:rPr kumimoji="1" lang="ko-KR" altLang="en-US" sz="1200" spc="-11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카탈로그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외부제공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</a:t>
            </a:r>
            <a:r>
              <a:rPr kumimoji="1" lang="en-US" altLang="ko-KR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OpenAPI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 명세로 제공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에이전트 연계를 위해 시스템 기능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정보를 </a:t>
            </a:r>
            <a:r>
              <a:rPr kumimoji="1" lang="ko-KR" altLang="en-US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기계판독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가능 구조로 제공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CF07EE0-2CA0-6D0D-CCCA-0FFCC86490F9}"/>
              </a:ext>
            </a:extLst>
          </p:cNvPr>
          <p:cNvSpPr/>
          <p:nvPr/>
        </p:nvSpPr>
        <p:spPr>
          <a:xfrm>
            <a:off x="316309" y="6040283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기술환경 제약 준수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기존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AI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허브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클라우드 인프라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스토리지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네트워크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보안환경과의 연계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이관을 고려하고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데이터 처리 제약을 반영함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(COR-001)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제공은 </a:t>
            </a:r>
            <a:r>
              <a:rPr kumimoji="1" lang="ko-KR" altLang="en-US" sz="1100" spc="-11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샤딩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·Parquet·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 다운로드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무결성 검증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스트리밍을 데이터 유형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비용</a:t>
            </a:r>
            <a:r>
              <a:rPr kumimoji="1" lang="en-US" altLang="ko-KR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보안성 기준으로 적용</a:t>
            </a:r>
            <a:endParaRPr kumimoji="1" lang="en-US" altLang="ko-KR" sz="1100" spc="-11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생성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 수집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집계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이관 등 대량 처리 작업의 서비스 성능 영향을 최소화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07777B3-E848-3EAC-9246-166CA78CE8A9}"/>
              </a:ext>
            </a:extLst>
          </p:cNvPr>
          <p:cNvSpPr/>
          <p:nvPr/>
        </p:nvSpPr>
        <p:spPr>
          <a:xfrm>
            <a:off x="316309" y="716298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종속 배제 원칙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개방형 포맷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인터페이스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상호운용성 확보 원칙을 적용하여 특정 기술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솔루션 종속을 배제함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(DR-017·COR-001)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대표 사례로 현행 상용 전송솔루션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(INNORIX)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오픈소스 기반 전송으로 대체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(1.2.2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외부연계는 표준 </a:t>
            </a:r>
            <a:r>
              <a:rPr kumimoji="1" lang="en-US" altLang="ko-KR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API·OpenAPI·JSON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/XML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 상호운용 가능한 방식을 우선 적용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3904B99-EC9F-FCEB-0444-80A244D21345}"/>
              </a:ext>
            </a:extLst>
          </p:cNvPr>
          <p:cNvSpPr/>
          <p:nvPr/>
        </p:nvSpPr>
        <p:spPr>
          <a:xfrm>
            <a:off x="316309" y="828568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기술적용계획표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준수 검토서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표준 정의서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 정의서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명세서로 구체화하며</a:t>
            </a:r>
            <a:b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(COR-002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 시스템 구조 설계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2)·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인프라 설계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4)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42313EE-167E-FA91-BADB-B87CDD8611CE}"/>
              </a:ext>
            </a:extLst>
          </p:cNvPr>
          <p:cNvSpPr/>
          <p:nvPr/>
        </p:nvSpPr>
        <p:spPr>
          <a:xfrm>
            <a:off x="31589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위쪽 모서리 25">
            <a:extLst>
              <a:ext uri="{FF2B5EF4-FFF2-40B4-BE49-F238E27FC236}">
                <a16:creationId xmlns:a16="http://schemas.microsoft.com/office/drawing/2014/main" id="{B707552C-AC3F-FE26-813B-B3605B46EF3B}"/>
              </a:ext>
            </a:extLst>
          </p:cNvPr>
          <p:cNvSpPr/>
          <p:nvPr/>
        </p:nvSpPr>
        <p:spPr>
          <a:xfrm>
            <a:off x="315897" y="8902556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식별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BECE478-7857-3980-0EF0-A9D2FE03C22C}"/>
              </a:ext>
            </a:extLst>
          </p:cNvPr>
          <p:cNvSpPr txBox="1"/>
          <p:nvPr/>
        </p:nvSpPr>
        <p:spPr>
          <a:xfrm>
            <a:off x="31589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 표준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기술환경 제약 식별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2191BF0A-76D7-9D71-F1A4-28C3F5FC1038}"/>
              </a:ext>
            </a:extLst>
          </p:cNvPr>
          <p:cNvSpPr/>
          <p:nvPr/>
        </p:nvSpPr>
        <p:spPr>
          <a:xfrm>
            <a:off x="189650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A5FAFDE5-7070-D131-E1D1-46320D3891F8}"/>
              </a:ext>
            </a:extLst>
          </p:cNvPr>
          <p:cNvSpPr/>
          <p:nvPr/>
        </p:nvSpPr>
        <p:spPr>
          <a:xfrm>
            <a:off x="1896507" y="8902556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계층별 적용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80E3231-D0B3-2871-B046-E534AE09FE58}"/>
              </a:ext>
            </a:extLst>
          </p:cNvPr>
          <p:cNvSpPr txBox="1"/>
          <p:nvPr/>
        </p:nvSpPr>
        <p:spPr>
          <a:xfrm>
            <a:off x="189650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응용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계층별 표준 적용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6FB056A-DF4D-0BC9-9360-AE65777D2276}"/>
              </a:ext>
            </a:extLst>
          </p:cNvPr>
          <p:cNvSpPr/>
          <p:nvPr/>
        </p:nvSpPr>
        <p:spPr>
          <a:xfrm>
            <a:off x="347711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위쪽 모서리 38">
            <a:extLst>
              <a:ext uri="{FF2B5EF4-FFF2-40B4-BE49-F238E27FC236}">
                <a16:creationId xmlns:a16="http://schemas.microsoft.com/office/drawing/2014/main" id="{A1AF31E1-E927-09CF-1380-BD1B438B19F1}"/>
              </a:ext>
            </a:extLst>
          </p:cNvPr>
          <p:cNvSpPr/>
          <p:nvPr/>
        </p:nvSpPr>
        <p:spPr>
          <a:xfrm>
            <a:off x="3477117" y="8902556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종속 배제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D77FF47-056D-6707-2B04-E50B093D6656}"/>
              </a:ext>
            </a:extLst>
          </p:cNvPr>
          <p:cNvSpPr txBox="1"/>
          <p:nvPr/>
        </p:nvSpPr>
        <p:spPr>
          <a:xfrm>
            <a:off x="347711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상용 종속 배제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개방형 우선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7A9B606-2AEC-25C8-35FE-7B4CDB8ACBF2}"/>
              </a:ext>
            </a:extLst>
          </p:cNvPr>
          <p:cNvSpPr/>
          <p:nvPr/>
        </p:nvSpPr>
        <p:spPr>
          <a:xfrm>
            <a:off x="505772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사각형: 둥근 위쪽 모서리 44">
            <a:extLst>
              <a:ext uri="{FF2B5EF4-FFF2-40B4-BE49-F238E27FC236}">
                <a16:creationId xmlns:a16="http://schemas.microsoft.com/office/drawing/2014/main" id="{AEAFD1C5-0732-47A5-8A4E-58A268016D8E}"/>
              </a:ext>
            </a:extLst>
          </p:cNvPr>
          <p:cNvSpPr/>
          <p:nvPr/>
        </p:nvSpPr>
        <p:spPr>
          <a:xfrm>
            <a:off x="5057727" y="8902556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계획표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6EDB4EB-BA5F-E237-DB50-F8CE8DC512D8}"/>
              </a:ext>
            </a:extLst>
          </p:cNvPr>
          <p:cNvSpPr txBox="1"/>
          <p:nvPr/>
        </p:nvSpPr>
        <p:spPr>
          <a:xfrm>
            <a:off x="505772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기술적용계획표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미적용 사유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대체방안</a:t>
            </a: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57B5AA2B-3F37-373C-8B38-EF68AF9C3FB0}"/>
              </a:ext>
            </a:extLst>
          </p:cNvPr>
          <p:cNvSpPr/>
          <p:nvPr/>
        </p:nvSpPr>
        <p:spPr>
          <a:xfrm rot="5400000">
            <a:off x="1801098" y="9232963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C5C06858-98BA-35F5-4024-8D5D9D9AC946}"/>
              </a:ext>
            </a:extLst>
          </p:cNvPr>
          <p:cNvSpPr/>
          <p:nvPr/>
        </p:nvSpPr>
        <p:spPr>
          <a:xfrm rot="5400000">
            <a:off x="3386287" y="923296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이등변 삼각형 52">
            <a:extLst>
              <a:ext uri="{FF2B5EF4-FFF2-40B4-BE49-F238E27FC236}">
                <a16:creationId xmlns:a16="http://schemas.microsoft.com/office/drawing/2014/main" id="{47165F19-160F-2AEF-655D-90375F556F8C}"/>
              </a:ext>
            </a:extLst>
          </p:cNvPr>
          <p:cNvSpPr/>
          <p:nvPr/>
        </p:nvSpPr>
        <p:spPr>
          <a:xfrm rot="5400000">
            <a:off x="4966713" y="9232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이등변 삼각형 54">
            <a:extLst>
              <a:ext uri="{FF2B5EF4-FFF2-40B4-BE49-F238E27FC236}">
                <a16:creationId xmlns:a16="http://schemas.microsoft.com/office/drawing/2014/main" id="{C052C60D-6576-8EC3-9BCA-6D7BEAA7306D}"/>
              </a:ext>
            </a:extLst>
          </p:cNvPr>
          <p:cNvSpPr/>
          <p:nvPr/>
        </p:nvSpPr>
        <p:spPr>
          <a:xfrm rot="5400000">
            <a:off x="1801098" y="9232963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이등변 삼각형 56">
            <a:extLst>
              <a:ext uri="{FF2B5EF4-FFF2-40B4-BE49-F238E27FC236}">
                <a16:creationId xmlns:a16="http://schemas.microsoft.com/office/drawing/2014/main" id="{1DD5E14B-E22A-B958-A407-D36DFF6FEF24}"/>
              </a:ext>
            </a:extLst>
          </p:cNvPr>
          <p:cNvSpPr/>
          <p:nvPr/>
        </p:nvSpPr>
        <p:spPr>
          <a:xfrm rot="5400000">
            <a:off x="3386287" y="923296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이등변 삼각형 58">
            <a:extLst>
              <a:ext uri="{FF2B5EF4-FFF2-40B4-BE49-F238E27FC236}">
                <a16:creationId xmlns:a16="http://schemas.microsoft.com/office/drawing/2014/main" id="{B6757D39-ACF1-08C1-A0E7-79BE19245534}"/>
              </a:ext>
            </a:extLst>
          </p:cNvPr>
          <p:cNvSpPr/>
          <p:nvPr/>
        </p:nvSpPr>
        <p:spPr>
          <a:xfrm rot="5400000">
            <a:off x="4966713" y="9232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Google Shape;2219;p38">
            <a:extLst>
              <a:ext uri="{FF2B5EF4-FFF2-40B4-BE49-F238E27FC236}">
                <a16:creationId xmlns:a16="http://schemas.microsoft.com/office/drawing/2014/main" id="{DC81CD7D-431C-86E1-3A91-32D132480DCA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" name="Google Shape;2185;p38">
            <a:extLst>
              <a:ext uri="{FF2B5EF4-FFF2-40B4-BE49-F238E27FC236}">
                <a16:creationId xmlns:a16="http://schemas.microsoft.com/office/drawing/2014/main" id="{1D7BDCE8-9689-5F4A-C302-E3AC483F54E5}"/>
              </a:ext>
            </a:extLst>
          </p:cNvPr>
          <p:cNvSpPr/>
          <p:nvPr/>
        </p:nvSpPr>
        <p:spPr>
          <a:xfrm>
            <a:off x="6977800" y="2019775"/>
            <a:ext cx="8980200" cy="57117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2220;p38">
            <a:extLst>
              <a:ext uri="{FF2B5EF4-FFF2-40B4-BE49-F238E27FC236}">
                <a16:creationId xmlns:a16="http://schemas.microsoft.com/office/drawing/2014/main" id="{BDEC306A-1B04-26FE-0BB5-4FD3B4286C91}"/>
              </a:ext>
            </a:extLst>
          </p:cNvPr>
          <p:cNvSpPr/>
          <p:nvPr/>
        </p:nvSpPr>
        <p:spPr>
          <a:xfrm>
            <a:off x="7100625" y="2237225"/>
            <a:ext cx="6814800" cy="40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2600"/>
              <a:buFont typeface="Malgun Gothic"/>
              <a:buNone/>
            </a:pPr>
            <a:r>
              <a:rPr lang="ko-KR" sz="26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대용량 데이터 처리 아키텍처</a:t>
            </a:r>
            <a:endParaRPr sz="26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" name="Google Shape;2221;p38">
            <a:extLst>
              <a:ext uri="{FF2B5EF4-FFF2-40B4-BE49-F238E27FC236}">
                <a16:creationId xmlns:a16="http://schemas.microsoft.com/office/drawing/2014/main" id="{13B4612A-5BBC-4C9B-F85A-40FF260F54D8}"/>
              </a:ext>
            </a:extLst>
          </p:cNvPr>
          <p:cNvSpPr/>
          <p:nvPr/>
        </p:nvSpPr>
        <p:spPr>
          <a:xfrm>
            <a:off x="7100625" y="2659578"/>
            <a:ext cx="7155300" cy="23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6B7280"/>
              </a:buClr>
              <a:buSzPts val="1300"/>
              <a:buFont typeface="Malgun Gothic"/>
              <a:buNone/>
            </a:pPr>
            <a:r>
              <a:rPr lang="ko-KR" sz="1300" b="0" i="0" u="none" strike="noStrike" cap="none">
                <a:solidFill>
                  <a:srgbClr val="6B7280"/>
                </a:solidFill>
                <a:latin typeface="Malgun Gothic"/>
                <a:ea typeface="Malgun Gothic"/>
                <a:cs typeface="Malgun Gothic"/>
                <a:sym typeface="Malgun Gothic"/>
              </a:rPr>
              <a:t>기존 인프라 연계 · 이관 및 대용량 데이터 처리 제약 반영  (COR-001)</a:t>
            </a:r>
            <a:endParaRPr sz="13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" name="Google Shape;2222;p38">
            <a:extLst>
              <a:ext uri="{FF2B5EF4-FFF2-40B4-BE49-F238E27FC236}">
                <a16:creationId xmlns:a16="http://schemas.microsoft.com/office/drawing/2014/main" id="{4B7B1680-A4BE-3F6F-E749-C209EC972B2C}"/>
              </a:ext>
            </a:extLst>
          </p:cNvPr>
          <p:cNvSpPr/>
          <p:nvPr/>
        </p:nvSpPr>
        <p:spPr>
          <a:xfrm>
            <a:off x="7100625" y="2994548"/>
            <a:ext cx="3407400" cy="20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300"/>
              <a:buFont typeface="Malgun Gothic"/>
              <a:buNone/>
            </a:pPr>
            <a:r>
              <a:rPr lang="ko-KR" sz="13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기존 인프라  (연계 · 이관 대상)</a:t>
            </a:r>
            <a:endParaRPr sz="13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" name="Google Shape;2223;p38">
            <a:extLst>
              <a:ext uri="{FF2B5EF4-FFF2-40B4-BE49-F238E27FC236}">
                <a16:creationId xmlns:a16="http://schemas.microsoft.com/office/drawing/2014/main" id="{C4F471E4-8210-F402-88BE-ECBBC34259AF}"/>
              </a:ext>
            </a:extLst>
          </p:cNvPr>
          <p:cNvSpPr/>
          <p:nvPr/>
        </p:nvSpPr>
        <p:spPr>
          <a:xfrm>
            <a:off x="7100625" y="3242135"/>
            <a:ext cx="1566000" cy="618900"/>
          </a:xfrm>
          <a:prstGeom prst="roundRect">
            <a:avLst>
              <a:gd name="adj" fmla="val 9412"/>
            </a:avLst>
          </a:prstGeom>
          <a:solidFill>
            <a:srgbClr val="FFFFFF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8" name="Google Shape;2224;p38" descr="/home/claude/pptx_work/icon_ai_hub.png">
            <a:extLst>
              <a:ext uri="{FF2B5EF4-FFF2-40B4-BE49-F238E27FC236}">
                <a16:creationId xmlns:a16="http://schemas.microsoft.com/office/drawing/2014/main" id="{80B6A939-79C4-DCDD-4F9C-95676AD6DE05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774583" y="3314954"/>
            <a:ext cx="218065" cy="233022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Google Shape;2225;p38">
            <a:extLst>
              <a:ext uri="{FF2B5EF4-FFF2-40B4-BE49-F238E27FC236}">
                <a16:creationId xmlns:a16="http://schemas.microsoft.com/office/drawing/2014/main" id="{880DC64E-7ECB-93F5-66CA-9F15F3F10AC3}"/>
              </a:ext>
            </a:extLst>
          </p:cNvPr>
          <p:cNvSpPr/>
          <p:nvPr/>
        </p:nvSpPr>
        <p:spPr>
          <a:xfrm>
            <a:off x="7100625" y="3577105"/>
            <a:ext cx="1566000" cy="23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50"/>
              <a:buFont typeface="Malgun Gothic"/>
              <a:buNone/>
            </a:pPr>
            <a:r>
              <a:rPr lang="ko-KR" sz="115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AI 허브</a:t>
            </a:r>
            <a:endParaRPr sz="115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" name="Google Shape;2226;p38">
            <a:extLst>
              <a:ext uri="{FF2B5EF4-FFF2-40B4-BE49-F238E27FC236}">
                <a16:creationId xmlns:a16="http://schemas.microsoft.com/office/drawing/2014/main" id="{BCEEFD58-F973-89A6-9A6E-29AA73EB5371}"/>
              </a:ext>
            </a:extLst>
          </p:cNvPr>
          <p:cNvSpPr/>
          <p:nvPr/>
        </p:nvSpPr>
        <p:spPr>
          <a:xfrm>
            <a:off x="8775639" y="3242135"/>
            <a:ext cx="1566000" cy="618900"/>
          </a:xfrm>
          <a:prstGeom prst="roundRect">
            <a:avLst>
              <a:gd name="adj" fmla="val 9412"/>
            </a:avLst>
          </a:prstGeom>
          <a:solidFill>
            <a:srgbClr val="FFFFFF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0" name="Google Shape;2227;p38" descr="/home/claude/pptx_work/icon_cloud_infra.png">
            <a:extLst>
              <a:ext uri="{FF2B5EF4-FFF2-40B4-BE49-F238E27FC236}">
                <a16:creationId xmlns:a16="http://schemas.microsoft.com/office/drawing/2014/main" id="{36327940-8C1E-5405-5F9C-4EAACD6906D1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449597" y="3314954"/>
            <a:ext cx="218065" cy="233022"/>
          </a:xfrm>
          <a:prstGeom prst="rect">
            <a:avLst/>
          </a:prstGeom>
          <a:noFill/>
          <a:ln>
            <a:noFill/>
          </a:ln>
        </p:spPr>
      </p:pic>
      <p:sp>
        <p:nvSpPr>
          <p:cNvPr id="54" name="Google Shape;2228;p38">
            <a:extLst>
              <a:ext uri="{FF2B5EF4-FFF2-40B4-BE49-F238E27FC236}">
                <a16:creationId xmlns:a16="http://schemas.microsoft.com/office/drawing/2014/main" id="{B21E9927-3CF7-D12D-3CF6-610D2E4DE349}"/>
              </a:ext>
            </a:extLst>
          </p:cNvPr>
          <p:cNvSpPr/>
          <p:nvPr/>
        </p:nvSpPr>
        <p:spPr>
          <a:xfrm>
            <a:off x="8775639" y="3577105"/>
            <a:ext cx="1566000" cy="23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50"/>
              <a:buFont typeface="Malgun Gothic"/>
              <a:buNone/>
            </a:pPr>
            <a:r>
              <a:rPr lang="ko-KR" sz="115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클라우드 인프라</a:t>
            </a:r>
            <a:endParaRPr sz="115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" name="Google Shape;2229;p38">
            <a:extLst>
              <a:ext uri="{FF2B5EF4-FFF2-40B4-BE49-F238E27FC236}">
                <a16:creationId xmlns:a16="http://schemas.microsoft.com/office/drawing/2014/main" id="{D89D36F8-D9FB-BD83-FE7B-A3E2D9AA0677}"/>
              </a:ext>
            </a:extLst>
          </p:cNvPr>
          <p:cNvSpPr/>
          <p:nvPr/>
        </p:nvSpPr>
        <p:spPr>
          <a:xfrm>
            <a:off x="10450653" y="3242135"/>
            <a:ext cx="1566000" cy="618900"/>
          </a:xfrm>
          <a:prstGeom prst="roundRect">
            <a:avLst>
              <a:gd name="adj" fmla="val 9412"/>
            </a:avLst>
          </a:prstGeom>
          <a:solidFill>
            <a:srgbClr val="FFFFFF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1" name="Google Shape;2230;p38" descr="/home/claude/pptx_work/icon_storage.png">
            <a:extLst>
              <a:ext uri="{FF2B5EF4-FFF2-40B4-BE49-F238E27FC236}">
                <a16:creationId xmlns:a16="http://schemas.microsoft.com/office/drawing/2014/main" id="{3740695D-45CA-3A63-E21B-D4641F291AC3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1124611" y="3314954"/>
            <a:ext cx="218065" cy="233022"/>
          </a:xfrm>
          <a:prstGeom prst="rect">
            <a:avLst/>
          </a:prstGeom>
          <a:noFill/>
          <a:ln>
            <a:noFill/>
          </a:ln>
        </p:spPr>
      </p:pic>
      <p:sp>
        <p:nvSpPr>
          <p:cNvPr id="63" name="Google Shape;2231;p38">
            <a:extLst>
              <a:ext uri="{FF2B5EF4-FFF2-40B4-BE49-F238E27FC236}">
                <a16:creationId xmlns:a16="http://schemas.microsoft.com/office/drawing/2014/main" id="{1A1606F5-7DF4-C403-3A6C-D08E1C162064}"/>
              </a:ext>
            </a:extLst>
          </p:cNvPr>
          <p:cNvSpPr/>
          <p:nvPr/>
        </p:nvSpPr>
        <p:spPr>
          <a:xfrm>
            <a:off x="10450653" y="3577105"/>
            <a:ext cx="1566000" cy="23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50"/>
              <a:buFont typeface="Malgun Gothic"/>
              <a:buNone/>
            </a:pPr>
            <a:r>
              <a:rPr lang="ko-KR" sz="115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스토리지</a:t>
            </a:r>
            <a:endParaRPr sz="115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" name="Google Shape;2232;p38">
            <a:extLst>
              <a:ext uri="{FF2B5EF4-FFF2-40B4-BE49-F238E27FC236}">
                <a16:creationId xmlns:a16="http://schemas.microsoft.com/office/drawing/2014/main" id="{477569A2-0708-88C3-933C-3318E5E391D1}"/>
              </a:ext>
            </a:extLst>
          </p:cNvPr>
          <p:cNvSpPr/>
          <p:nvPr/>
        </p:nvSpPr>
        <p:spPr>
          <a:xfrm>
            <a:off x="12125667" y="3242135"/>
            <a:ext cx="1566000" cy="618900"/>
          </a:xfrm>
          <a:prstGeom prst="roundRect">
            <a:avLst>
              <a:gd name="adj" fmla="val 9412"/>
            </a:avLst>
          </a:prstGeom>
          <a:solidFill>
            <a:srgbClr val="FFFFFF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7" name="Google Shape;2233;p38" descr="/home/claude/pptx_work/icon_network.png">
            <a:extLst>
              <a:ext uri="{FF2B5EF4-FFF2-40B4-BE49-F238E27FC236}">
                <a16:creationId xmlns:a16="http://schemas.microsoft.com/office/drawing/2014/main" id="{89453200-047F-73A4-7265-A6610E2F377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2799625" y="3314954"/>
            <a:ext cx="218065" cy="233022"/>
          </a:xfrm>
          <a:prstGeom prst="rect">
            <a:avLst/>
          </a:prstGeom>
          <a:noFill/>
          <a:ln>
            <a:noFill/>
          </a:ln>
        </p:spPr>
      </p:pic>
      <p:sp>
        <p:nvSpPr>
          <p:cNvPr id="69" name="Google Shape;2234;p38">
            <a:extLst>
              <a:ext uri="{FF2B5EF4-FFF2-40B4-BE49-F238E27FC236}">
                <a16:creationId xmlns:a16="http://schemas.microsoft.com/office/drawing/2014/main" id="{7C08D11F-5393-FC1C-6BF2-91E13BE41E49}"/>
              </a:ext>
            </a:extLst>
          </p:cNvPr>
          <p:cNvSpPr/>
          <p:nvPr/>
        </p:nvSpPr>
        <p:spPr>
          <a:xfrm>
            <a:off x="12125667" y="3577105"/>
            <a:ext cx="1566000" cy="23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50"/>
              <a:buFont typeface="Malgun Gothic"/>
              <a:buNone/>
            </a:pPr>
            <a:r>
              <a:rPr lang="ko-KR" sz="115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네트워크</a:t>
            </a:r>
            <a:endParaRPr sz="115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" name="Google Shape;2235;p38">
            <a:extLst>
              <a:ext uri="{FF2B5EF4-FFF2-40B4-BE49-F238E27FC236}">
                <a16:creationId xmlns:a16="http://schemas.microsoft.com/office/drawing/2014/main" id="{56ADF53A-4492-7294-30BC-3E516750A6B6}"/>
              </a:ext>
            </a:extLst>
          </p:cNvPr>
          <p:cNvSpPr/>
          <p:nvPr/>
        </p:nvSpPr>
        <p:spPr>
          <a:xfrm>
            <a:off x="13800681" y="3242135"/>
            <a:ext cx="1566000" cy="618900"/>
          </a:xfrm>
          <a:prstGeom prst="roundRect">
            <a:avLst>
              <a:gd name="adj" fmla="val 9412"/>
            </a:avLst>
          </a:prstGeom>
          <a:solidFill>
            <a:srgbClr val="FFFFFF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73" name="Google Shape;2236;p38" descr="/home/claude/pptx_work/icon_security.png">
            <a:extLst>
              <a:ext uri="{FF2B5EF4-FFF2-40B4-BE49-F238E27FC236}">
                <a16:creationId xmlns:a16="http://schemas.microsoft.com/office/drawing/2014/main" id="{9124DAFC-0E7E-300D-E162-67B971FA6502}"/>
              </a:ext>
            </a:extLst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14474639" y="3314954"/>
            <a:ext cx="218065" cy="233022"/>
          </a:xfrm>
          <a:prstGeom prst="rect">
            <a:avLst/>
          </a:prstGeom>
          <a:noFill/>
          <a:ln>
            <a:noFill/>
          </a:ln>
        </p:spPr>
      </p:pic>
      <p:sp>
        <p:nvSpPr>
          <p:cNvPr id="75" name="Google Shape;2237;p38">
            <a:extLst>
              <a:ext uri="{FF2B5EF4-FFF2-40B4-BE49-F238E27FC236}">
                <a16:creationId xmlns:a16="http://schemas.microsoft.com/office/drawing/2014/main" id="{7A049E48-6ACE-104C-1550-28FD2AC24B19}"/>
              </a:ext>
            </a:extLst>
          </p:cNvPr>
          <p:cNvSpPr/>
          <p:nvPr/>
        </p:nvSpPr>
        <p:spPr>
          <a:xfrm>
            <a:off x="13800681" y="3577105"/>
            <a:ext cx="1566000" cy="23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50"/>
              <a:buFont typeface="Malgun Gothic"/>
              <a:buNone/>
            </a:pPr>
            <a:r>
              <a:rPr lang="ko-KR" sz="115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보안 환경</a:t>
            </a:r>
            <a:endParaRPr sz="115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" name="Google Shape;2238;p38">
            <a:extLst>
              <a:ext uri="{FF2B5EF4-FFF2-40B4-BE49-F238E27FC236}">
                <a16:creationId xmlns:a16="http://schemas.microsoft.com/office/drawing/2014/main" id="{52323353-EF29-F809-BF71-5BC3186D3A5A}"/>
              </a:ext>
            </a:extLst>
          </p:cNvPr>
          <p:cNvSpPr/>
          <p:nvPr/>
        </p:nvSpPr>
        <p:spPr>
          <a:xfrm>
            <a:off x="11110982" y="3897511"/>
            <a:ext cx="245400" cy="218400"/>
          </a:xfrm>
          <a:prstGeom prst="downArrow">
            <a:avLst>
              <a:gd name="adj1" fmla="val 50000"/>
              <a:gd name="adj2" fmla="val 50000"/>
            </a:avLst>
          </a:prstGeom>
          <a:solidFill>
            <a:srgbClr val="1B2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2239;p38">
            <a:extLst>
              <a:ext uri="{FF2B5EF4-FFF2-40B4-BE49-F238E27FC236}">
                <a16:creationId xmlns:a16="http://schemas.microsoft.com/office/drawing/2014/main" id="{E9742D70-226D-6FFB-45BC-2FC0474F00EE}"/>
              </a:ext>
            </a:extLst>
          </p:cNvPr>
          <p:cNvSpPr/>
          <p:nvPr/>
        </p:nvSpPr>
        <p:spPr>
          <a:xfrm>
            <a:off x="7100625" y="4159661"/>
            <a:ext cx="8265900" cy="400500"/>
          </a:xfrm>
          <a:prstGeom prst="roundRect">
            <a:avLst>
              <a:gd name="adj" fmla="val 10909"/>
            </a:avLst>
          </a:prstGeom>
          <a:solidFill>
            <a:srgbClr val="1B2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2240;p38">
            <a:extLst>
              <a:ext uri="{FF2B5EF4-FFF2-40B4-BE49-F238E27FC236}">
                <a16:creationId xmlns:a16="http://schemas.microsoft.com/office/drawing/2014/main" id="{503A1969-8549-47BA-CD08-0680B2A28342}"/>
              </a:ext>
            </a:extLst>
          </p:cNvPr>
          <p:cNvSpPr/>
          <p:nvPr/>
        </p:nvSpPr>
        <p:spPr>
          <a:xfrm>
            <a:off x="7100625" y="4159661"/>
            <a:ext cx="8265900" cy="40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500"/>
              <a:buFont typeface="Malgun Gothic"/>
              <a:buNone/>
            </a:pPr>
            <a:r>
              <a:rPr lang="ko-KR" sz="15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대용량 데이터 처리 제약 반영 (COR-001)</a:t>
            </a:r>
            <a:endParaRPr sz="15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" name="Google Shape;2241;p38">
            <a:extLst>
              <a:ext uri="{FF2B5EF4-FFF2-40B4-BE49-F238E27FC236}">
                <a16:creationId xmlns:a16="http://schemas.microsoft.com/office/drawing/2014/main" id="{32B207AF-8B11-2E93-8D79-0C98ADB7FBA2}"/>
              </a:ext>
            </a:extLst>
          </p:cNvPr>
          <p:cNvSpPr/>
          <p:nvPr/>
        </p:nvSpPr>
        <p:spPr>
          <a:xfrm>
            <a:off x="9581118" y="4596578"/>
            <a:ext cx="217800" cy="203700"/>
          </a:xfrm>
          <a:prstGeom prst="downArrow">
            <a:avLst>
              <a:gd name="adj1" fmla="val 50000"/>
              <a:gd name="adj2" fmla="val 50000"/>
            </a:avLst>
          </a:prstGeom>
          <a:solidFill>
            <a:srgbClr val="1B2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2242;p38">
            <a:extLst>
              <a:ext uri="{FF2B5EF4-FFF2-40B4-BE49-F238E27FC236}">
                <a16:creationId xmlns:a16="http://schemas.microsoft.com/office/drawing/2014/main" id="{600A3166-96FA-B607-D07E-946A2DF6398D}"/>
              </a:ext>
            </a:extLst>
          </p:cNvPr>
          <p:cNvSpPr/>
          <p:nvPr/>
        </p:nvSpPr>
        <p:spPr>
          <a:xfrm>
            <a:off x="13782282" y="4596578"/>
            <a:ext cx="217800" cy="203700"/>
          </a:xfrm>
          <a:prstGeom prst="downArrow">
            <a:avLst>
              <a:gd name="adj1" fmla="val 50000"/>
              <a:gd name="adj2" fmla="val 50000"/>
            </a:avLst>
          </a:prstGeom>
          <a:solidFill>
            <a:srgbClr val="1B2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2243;p38">
            <a:extLst>
              <a:ext uri="{FF2B5EF4-FFF2-40B4-BE49-F238E27FC236}">
                <a16:creationId xmlns:a16="http://schemas.microsoft.com/office/drawing/2014/main" id="{F461DD63-4FAA-FF9C-3A70-51227D94BE7B}"/>
              </a:ext>
            </a:extLst>
          </p:cNvPr>
          <p:cNvSpPr/>
          <p:nvPr/>
        </p:nvSpPr>
        <p:spPr>
          <a:xfrm>
            <a:off x="7100625" y="4858729"/>
            <a:ext cx="5179200" cy="2359500"/>
          </a:xfrm>
          <a:prstGeom prst="roundRect">
            <a:avLst>
              <a:gd name="adj" fmla="val 1852"/>
            </a:avLst>
          </a:prstGeom>
          <a:solidFill>
            <a:srgbClr val="F4F6F8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2244;p38">
            <a:extLst>
              <a:ext uri="{FF2B5EF4-FFF2-40B4-BE49-F238E27FC236}">
                <a16:creationId xmlns:a16="http://schemas.microsoft.com/office/drawing/2014/main" id="{518F2697-5D4B-376A-CBB1-87C7684143FF}"/>
              </a:ext>
            </a:extLst>
          </p:cNvPr>
          <p:cNvSpPr/>
          <p:nvPr/>
        </p:nvSpPr>
        <p:spPr>
          <a:xfrm>
            <a:off x="7236916" y="4916984"/>
            <a:ext cx="4906500" cy="21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500"/>
              <a:buFont typeface="Malgun Gothic"/>
              <a:buNone/>
            </a:pPr>
            <a:r>
              <a:rPr lang="ko-KR" sz="15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대용량 데이터 제공</a:t>
            </a:r>
            <a:endParaRPr sz="15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" name="Google Shape;2245;p38">
            <a:extLst>
              <a:ext uri="{FF2B5EF4-FFF2-40B4-BE49-F238E27FC236}">
                <a16:creationId xmlns:a16="http://schemas.microsoft.com/office/drawing/2014/main" id="{9229720C-C848-024F-B9B1-665F12AAE33C}"/>
              </a:ext>
            </a:extLst>
          </p:cNvPr>
          <p:cNvSpPr/>
          <p:nvPr/>
        </p:nvSpPr>
        <p:spPr>
          <a:xfrm>
            <a:off x="7236916" y="5150007"/>
            <a:ext cx="4906500" cy="18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6B7280"/>
              </a:buClr>
              <a:buSzPts val="1100"/>
              <a:buFont typeface="Malgun Gothic"/>
              <a:buNone/>
            </a:pPr>
            <a:r>
              <a:rPr lang="ko-KR" sz="1100" b="0" i="0" u="none" strike="noStrike" cap="none">
                <a:solidFill>
                  <a:srgbClr val="6B7280"/>
                </a:solidFill>
                <a:latin typeface="Malgun Gothic"/>
                <a:ea typeface="Malgun Gothic"/>
                <a:cs typeface="Malgun Gothic"/>
                <a:sym typeface="Malgun Gothic"/>
              </a:rPr>
              <a:t>적용 기준 :  데이터 유형 · 성능 · 비용 · 보안성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" name="Google Shape;2246;p38">
            <a:extLst>
              <a:ext uri="{FF2B5EF4-FFF2-40B4-BE49-F238E27FC236}">
                <a16:creationId xmlns:a16="http://schemas.microsoft.com/office/drawing/2014/main" id="{805BA166-12B4-E5B2-0FA2-75F093BCE160}"/>
              </a:ext>
            </a:extLst>
          </p:cNvPr>
          <p:cNvSpPr/>
          <p:nvPr/>
        </p:nvSpPr>
        <p:spPr>
          <a:xfrm>
            <a:off x="7236916" y="5426721"/>
            <a:ext cx="1567200" cy="768300"/>
          </a:xfrm>
          <a:prstGeom prst="roundRect">
            <a:avLst>
              <a:gd name="adj" fmla="val 5687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5" name="Google Shape;2247;p38" descr="/home/claude/pptx_work/icon_sharding.png">
            <a:extLst>
              <a:ext uri="{FF2B5EF4-FFF2-40B4-BE49-F238E27FC236}">
                <a16:creationId xmlns:a16="http://schemas.microsoft.com/office/drawing/2014/main" id="{A7385241-05FF-A902-EDE1-5191C653D47F}"/>
              </a:ext>
            </a:extLst>
          </p:cNvPr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918370" y="5514104"/>
            <a:ext cx="204436" cy="218458"/>
          </a:xfrm>
          <a:prstGeom prst="rect">
            <a:avLst/>
          </a:prstGeom>
          <a:noFill/>
          <a:ln>
            <a:noFill/>
          </a:ln>
        </p:spPr>
      </p:pic>
      <p:sp>
        <p:nvSpPr>
          <p:cNvPr id="97" name="Google Shape;2248;p38">
            <a:extLst>
              <a:ext uri="{FF2B5EF4-FFF2-40B4-BE49-F238E27FC236}">
                <a16:creationId xmlns:a16="http://schemas.microsoft.com/office/drawing/2014/main" id="{373A4DAC-E2B5-AB74-3F71-866CE950ED2D}"/>
              </a:ext>
            </a:extLst>
          </p:cNvPr>
          <p:cNvSpPr/>
          <p:nvPr/>
        </p:nvSpPr>
        <p:spPr>
          <a:xfrm>
            <a:off x="7236916" y="5761691"/>
            <a:ext cx="1567200" cy="4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샤딩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(Sharding)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" name="Google Shape;2249;p38">
            <a:extLst>
              <a:ext uri="{FF2B5EF4-FFF2-40B4-BE49-F238E27FC236}">
                <a16:creationId xmlns:a16="http://schemas.microsoft.com/office/drawing/2014/main" id="{C936BF69-130F-0A1E-5099-EF7278E27312}"/>
              </a:ext>
            </a:extLst>
          </p:cNvPr>
          <p:cNvSpPr/>
          <p:nvPr/>
        </p:nvSpPr>
        <p:spPr>
          <a:xfrm>
            <a:off x="8906478" y="5426721"/>
            <a:ext cx="1567200" cy="768300"/>
          </a:xfrm>
          <a:prstGeom prst="roundRect">
            <a:avLst>
              <a:gd name="adj" fmla="val 5687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1" name="Google Shape;2250;p38" descr="/home/claude/pptx_work/icon_parquet.png">
            <a:extLst>
              <a:ext uri="{FF2B5EF4-FFF2-40B4-BE49-F238E27FC236}">
                <a16:creationId xmlns:a16="http://schemas.microsoft.com/office/drawing/2014/main" id="{33D3156C-76E2-2677-EBA5-A3C80165352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9587932" y="5514104"/>
            <a:ext cx="204436" cy="218458"/>
          </a:xfrm>
          <a:prstGeom prst="rect">
            <a:avLst/>
          </a:prstGeom>
          <a:noFill/>
          <a:ln>
            <a:noFill/>
          </a:ln>
        </p:spPr>
      </p:pic>
      <p:sp>
        <p:nvSpPr>
          <p:cNvPr id="103" name="Google Shape;2251;p38">
            <a:extLst>
              <a:ext uri="{FF2B5EF4-FFF2-40B4-BE49-F238E27FC236}">
                <a16:creationId xmlns:a16="http://schemas.microsoft.com/office/drawing/2014/main" id="{76E9BB98-6EC2-383A-C94D-AC8A984709DF}"/>
              </a:ext>
            </a:extLst>
          </p:cNvPr>
          <p:cNvSpPr/>
          <p:nvPr/>
        </p:nvSpPr>
        <p:spPr>
          <a:xfrm>
            <a:off x="8906478" y="5761691"/>
            <a:ext cx="1567200" cy="4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Parquet 변환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" name="Google Shape;2252;p38">
            <a:extLst>
              <a:ext uri="{FF2B5EF4-FFF2-40B4-BE49-F238E27FC236}">
                <a16:creationId xmlns:a16="http://schemas.microsoft.com/office/drawing/2014/main" id="{4E1B7009-776C-9CE6-AB59-898B90381BD5}"/>
              </a:ext>
            </a:extLst>
          </p:cNvPr>
          <p:cNvSpPr/>
          <p:nvPr/>
        </p:nvSpPr>
        <p:spPr>
          <a:xfrm>
            <a:off x="10576040" y="5426721"/>
            <a:ext cx="1567200" cy="768300"/>
          </a:xfrm>
          <a:prstGeom prst="roundRect">
            <a:avLst>
              <a:gd name="adj" fmla="val 5687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7" name="Google Shape;2253;p38" descr="/home/claude/pptx_work/icon_partial_download.png">
            <a:extLst>
              <a:ext uri="{FF2B5EF4-FFF2-40B4-BE49-F238E27FC236}">
                <a16:creationId xmlns:a16="http://schemas.microsoft.com/office/drawing/2014/main" id="{E13476C6-305F-0AF0-E99A-E320CF4E1098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11257494" y="5514104"/>
            <a:ext cx="204436" cy="218458"/>
          </a:xfrm>
          <a:prstGeom prst="rect">
            <a:avLst/>
          </a:prstGeom>
          <a:noFill/>
          <a:ln>
            <a:noFill/>
          </a:ln>
        </p:spPr>
      </p:pic>
      <p:sp>
        <p:nvSpPr>
          <p:cNvPr id="109" name="Google Shape;2254;p38">
            <a:extLst>
              <a:ext uri="{FF2B5EF4-FFF2-40B4-BE49-F238E27FC236}">
                <a16:creationId xmlns:a16="http://schemas.microsoft.com/office/drawing/2014/main" id="{B51F42FC-2D56-9309-E0FC-A0CCCB21DE53}"/>
              </a:ext>
            </a:extLst>
          </p:cNvPr>
          <p:cNvSpPr/>
          <p:nvPr/>
        </p:nvSpPr>
        <p:spPr>
          <a:xfrm>
            <a:off x="10576040" y="5761691"/>
            <a:ext cx="1567200" cy="4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부분 다운로드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" name="Google Shape;2255;p38">
            <a:extLst>
              <a:ext uri="{FF2B5EF4-FFF2-40B4-BE49-F238E27FC236}">
                <a16:creationId xmlns:a16="http://schemas.microsoft.com/office/drawing/2014/main" id="{B3425239-CD48-E499-F8BA-3884DA3EFB88}"/>
              </a:ext>
            </a:extLst>
          </p:cNvPr>
          <p:cNvSpPr/>
          <p:nvPr/>
        </p:nvSpPr>
        <p:spPr>
          <a:xfrm>
            <a:off x="7236916" y="6304196"/>
            <a:ext cx="1567200" cy="768300"/>
          </a:xfrm>
          <a:prstGeom prst="roundRect">
            <a:avLst>
              <a:gd name="adj" fmla="val 5687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3" name="Google Shape;2256;p38" descr="/home/claude/pptx_work/icon_resume.png">
            <a:extLst>
              <a:ext uri="{FF2B5EF4-FFF2-40B4-BE49-F238E27FC236}">
                <a16:creationId xmlns:a16="http://schemas.microsoft.com/office/drawing/2014/main" id="{7AF09048-5CEB-73F8-F87E-D9E6603C1D66}"/>
              </a:ext>
            </a:extLst>
          </p:cNvPr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7918370" y="6391580"/>
            <a:ext cx="204436" cy="218458"/>
          </a:xfrm>
          <a:prstGeom prst="rect">
            <a:avLst/>
          </a:prstGeom>
          <a:noFill/>
          <a:ln>
            <a:noFill/>
          </a:ln>
        </p:spPr>
      </p:pic>
      <p:sp>
        <p:nvSpPr>
          <p:cNvPr id="115" name="Google Shape;2257;p38">
            <a:extLst>
              <a:ext uri="{FF2B5EF4-FFF2-40B4-BE49-F238E27FC236}">
                <a16:creationId xmlns:a16="http://schemas.microsoft.com/office/drawing/2014/main" id="{8E640BEA-A987-CED6-2B91-EB40F1D5D7E3}"/>
              </a:ext>
            </a:extLst>
          </p:cNvPr>
          <p:cNvSpPr/>
          <p:nvPr/>
        </p:nvSpPr>
        <p:spPr>
          <a:xfrm>
            <a:off x="7236916" y="6639166"/>
            <a:ext cx="1567200" cy="4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이어받기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(Resume)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" name="Google Shape;2258;p38">
            <a:extLst>
              <a:ext uri="{FF2B5EF4-FFF2-40B4-BE49-F238E27FC236}">
                <a16:creationId xmlns:a16="http://schemas.microsoft.com/office/drawing/2014/main" id="{4000E91B-69F3-E0D6-3987-632C0C3B64B3}"/>
              </a:ext>
            </a:extLst>
          </p:cNvPr>
          <p:cNvSpPr/>
          <p:nvPr/>
        </p:nvSpPr>
        <p:spPr>
          <a:xfrm>
            <a:off x="8906478" y="6304196"/>
            <a:ext cx="1567200" cy="768300"/>
          </a:xfrm>
          <a:prstGeom prst="roundRect">
            <a:avLst>
              <a:gd name="adj" fmla="val 5687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" name="Google Shape;2259;p38" descr="/home/claude/pptx_work/icon_integrity.png">
            <a:extLst>
              <a:ext uri="{FF2B5EF4-FFF2-40B4-BE49-F238E27FC236}">
                <a16:creationId xmlns:a16="http://schemas.microsoft.com/office/drawing/2014/main" id="{F45E1AEA-6039-4A48-85AA-080AC2E79CC3}"/>
              </a:ext>
            </a:extLst>
          </p:cNvPr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9587932" y="6391580"/>
            <a:ext cx="204436" cy="218458"/>
          </a:xfrm>
          <a:prstGeom prst="rect">
            <a:avLst/>
          </a:prstGeom>
          <a:noFill/>
          <a:ln>
            <a:noFill/>
          </a:ln>
        </p:spPr>
      </p:pic>
      <p:sp>
        <p:nvSpPr>
          <p:cNvPr id="121" name="Google Shape;2260;p38">
            <a:extLst>
              <a:ext uri="{FF2B5EF4-FFF2-40B4-BE49-F238E27FC236}">
                <a16:creationId xmlns:a16="http://schemas.microsoft.com/office/drawing/2014/main" id="{4429E73A-A8CE-596F-652A-CECB10BFA910}"/>
              </a:ext>
            </a:extLst>
          </p:cNvPr>
          <p:cNvSpPr/>
          <p:nvPr/>
        </p:nvSpPr>
        <p:spPr>
          <a:xfrm>
            <a:off x="8906478" y="6639166"/>
            <a:ext cx="1567200" cy="4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무결성 검증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" name="Google Shape;2261;p38">
            <a:extLst>
              <a:ext uri="{FF2B5EF4-FFF2-40B4-BE49-F238E27FC236}">
                <a16:creationId xmlns:a16="http://schemas.microsoft.com/office/drawing/2014/main" id="{16D40229-EC81-F1E9-5C20-CD0C1075CCF5}"/>
              </a:ext>
            </a:extLst>
          </p:cNvPr>
          <p:cNvSpPr/>
          <p:nvPr/>
        </p:nvSpPr>
        <p:spPr>
          <a:xfrm>
            <a:off x="10576040" y="6304196"/>
            <a:ext cx="1567200" cy="768300"/>
          </a:xfrm>
          <a:prstGeom prst="roundRect">
            <a:avLst>
              <a:gd name="adj" fmla="val 5687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5" name="Google Shape;2262;p38" descr="/home/claude/pptx_work/icon_streaming.png">
            <a:extLst>
              <a:ext uri="{FF2B5EF4-FFF2-40B4-BE49-F238E27FC236}">
                <a16:creationId xmlns:a16="http://schemas.microsoft.com/office/drawing/2014/main" id="{2CAB632A-F96E-0331-9C48-78E265195B51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11257494" y="6391580"/>
            <a:ext cx="204436" cy="218458"/>
          </a:xfrm>
          <a:prstGeom prst="rect">
            <a:avLst/>
          </a:prstGeom>
          <a:noFill/>
          <a:ln>
            <a:noFill/>
          </a:ln>
        </p:spPr>
      </p:pic>
      <p:sp>
        <p:nvSpPr>
          <p:cNvPr id="127" name="Google Shape;2263;p38">
            <a:extLst>
              <a:ext uri="{FF2B5EF4-FFF2-40B4-BE49-F238E27FC236}">
                <a16:creationId xmlns:a16="http://schemas.microsoft.com/office/drawing/2014/main" id="{EC0ECD27-2A20-5C39-A78C-1A6D80EE0938}"/>
              </a:ext>
            </a:extLst>
          </p:cNvPr>
          <p:cNvSpPr/>
          <p:nvPr/>
        </p:nvSpPr>
        <p:spPr>
          <a:xfrm>
            <a:off x="10576040" y="6639166"/>
            <a:ext cx="1567200" cy="4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스트리밍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100"/>
              <a:buFont typeface="Malgun Gothic"/>
              <a:buNone/>
            </a:pPr>
            <a:r>
              <a:rPr lang="ko-KR" sz="11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(Streaming)</a:t>
            </a:r>
            <a:endParaRPr sz="11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" name="Google Shape;2264;p38">
            <a:extLst>
              <a:ext uri="{FF2B5EF4-FFF2-40B4-BE49-F238E27FC236}">
                <a16:creationId xmlns:a16="http://schemas.microsoft.com/office/drawing/2014/main" id="{1ADD444F-5D27-4347-75DE-EEEF0FF2B544}"/>
              </a:ext>
            </a:extLst>
          </p:cNvPr>
          <p:cNvSpPr/>
          <p:nvPr/>
        </p:nvSpPr>
        <p:spPr>
          <a:xfrm>
            <a:off x="12415966" y="4858729"/>
            <a:ext cx="2950800" cy="2359500"/>
          </a:xfrm>
          <a:prstGeom prst="roundRect">
            <a:avLst>
              <a:gd name="adj" fmla="val 1852"/>
            </a:avLst>
          </a:prstGeom>
          <a:solidFill>
            <a:srgbClr val="F4F6F8"/>
          </a:solidFill>
          <a:ln w="12700" cap="flat" cmpd="sng">
            <a:solidFill>
              <a:srgbClr val="1B2A4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2265;p38">
            <a:extLst>
              <a:ext uri="{FF2B5EF4-FFF2-40B4-BE49-F238E27FC236}">
                <a16:creationId xmlns:a16="http://schemas.microsoft.com/office/drawing/2014/main" id="{4DEA4394-7572-428A-557A-A477ADEA1E0E}"/>
              </a:ext>
            </a:extLst>
          </p:cNvPr>
          <p:cNvSpPr/>
          <p:nvPr/>
        </p:nvSpPr>
        <p:spPr>
          <a:xfrm>
            <a:off x="12552257" y="4916984"/>
            <a:ext cx="2678400" cy="21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500"/>
              <a:buFont typeface="Malgun Gothic"/>
              <a:buNone/>
            </a:pPr>
            <a:r>
              <a:rPr lang="ko-KR" sz="15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대량 처리 작업</a:t>
            </a:r>
            <a:endParaRPr sz="15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" name="Google Shape;2266;p38">
            <a:extLst>
              <a:ext uri="{FF2B5EF4-FFF2-40B4-BE49-F238E27FC236}">
                <a16:creationId xmlns:a16="http://schemas.microsoft.com/office/drawing/2014/main" id="{7CF6A287-0B2F-C435-26E9-788E32D6EF92}"/>
              </a:ext>
            </a:extLst>
          </p:cNvPr>
          <p:cNvSpPr/>
          <p:nvPr/>
        </p:nvSpPr>
        <p:spPr>
          <a:xfrm>
            <a:off x="12552257" y="5222826"/>
            <a:ext cx="2678400" cy="325800"/>
          </a:xfrm>
          <a:prstGeom prst="roundRect">
            <a:avLst>
              <a:gd name="adj" fmla="val 11173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35" name="Google Shape;2267;p38" descr="/home/claude/pptx_work/icon_index_gen.png">
            <a:extLst>
              <a:ext uri="{FF2B5EF4-FFF2-40B4-BE49-F238E27FC236}">
                <a16:creationId xmlns:a16="http://schemas.microsoft.com/office/drawing/2014/main" id="{0B92D270-5D3A-1302-E0F6-B6CD886CE452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12647661" y="5283813"/>
            <a:ext cx="190807" cy="203895"/>
          </a:xfrm>
          <a:prstGeom prst="rect">
            <a:avLst/>
          </a:prstGeom>
          <a:noFill/>
          <a:ln>
            <a:noFill/>
          </a:ln>
        </p:spPr>
      </p:pic>
      <p:sp>
        <p:nvSpPr>
          <p:cNvPr id="137" name="Google Shape;2268;p38">
            <a:extLst>
              <a:ext uri="{FF2B5EF4-FFF2-40B4-BE49-F238E27FC236}">
                <a16:creationId xmlns:a16="http://schemas.microsoft.com/office/drawing/2014/main" id="{A4878A3D-6BCE-ABFA-9D38-74E469AA348B}"/>
              </a:ext>
            </a:extLst>
          </p:cNvPr>
          <p:cNvSpPr/>
          <p:nvPr/>
        </p:nvSpPr>
        <p:spPr>
          <a:xfrm>
            <a:off x="12927057" y="5222826"/>
            <a:ext cx="2235000" cy="32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200"/>
              <a:buFont typeface="Malgun Gothic"/>
              <a:buNone/>
            </a:pPr>
            <a:r>
              <a:rPr lang="ko-KR" sz="12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색인 생성</a:t>
            </a: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" name="Google Shape;2269;p38">
            <a:extLst>
              <a:ext uri="{FF2B5EF4-FFF2-40B4-BE49-F238E27FC236}">
                <a16:creationId xmlns:a16="http://schemas.microsoft.com/office/drawing/2014/main" id="{340B945C-0425-FEF3-162F-DDB55582659C}"/>
              </a:ext>
            </a:extLst>
          </p:cNvPr>
          <p:cNvSpPr/>
          <p:nvPr/>
        </p:nvSpPr>
        <p:spPr>
          <a:xfrm>
            <a:off x="12552257" y="5621513"/>
            <a:ext cx="2678400" cy="325800"/>
          </a:xfrm>
          <a:prstGeom prst="roundRect">
            <a:avLst>
              <a:gd name="adj" fmla="val 11173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41" name="Google Shape;2270;p38" descr="/home/claude/pptx_work/icon_log_collect.png">
            <a:extLst>
              <a:ext uri="{FF2B5EF4-FFF2-40B4-BE49-F238E27FC236}">
                <a16:creationId xmlns:a16="http://schemas.microsoft.com/office/drawing/2014/main" id="{DCA3F344-7E7F-3799-5A04-2DB716B119BD}"/>
              </a:ext>
            </a:extLst>
          </p:cNvPr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2647661" y="5682500"/>
            <a:ext cx="190807" cy="203895"/>
          </a:xfrm>
          <a:prstGeom prst="rect">
            <a:avLst/>
          </a:prstGeom>
          <a:noFill/>
          <a:ln>
            <a:noFill/>
          </a:ln>
        </p:spPr>
      </p:pic>
      <p:sp>
        <p:nvSpPr>
          <p:cNvPr id="143" name="Google Shape;2271;p38">
            <a:extLst>
              <a:ext uri="{FF2B5EF4-FFF2-40B4-BE49-F238E27FC236}">
                <a16:creationId xmlns:a16="http://schemas.microsoft.com/office/drawing/2014/main" id="{695C3395-9EE1-52BA-B4CE-81135A4DF5AA}"/>
              </a:ext>
            </a:extLst>
          </p:cNvPr>
          <p:cNvSpPr/>
          <p:nvPr/>
        </p:nvSpPr>
        <p:spPr>
          <a:xfrm>
            <a:off x="12927057" y="5621513"/>
            <a:ext cx="2235000" cy="32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200"/>
              <a:buFont typeface="Malgun Gothic"/>
              <a:buNone/>
            </a:pPr>
            <a:r>
              <a:rPr lang="ko-KR" sz="12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로그 수집</a:t>
            </a: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" name="Google Shape;2272;p38">
            <a:extLst>
              <a:ext uri="{FF2B5EF4-FFF2-40B4-BE49-F238E27FC236}">
                <a16:creationId xmlns:a16="http://schemas.microsoft.com/office/drawing/2014/main" id="{E74EDC81-0251-AA42-8720-39B6D567C31D}"/>
              </a:ext>
            </a:extLst>
          </p:cNvPr>
          <p:cNvSpPr/>
          <p:nvPr/>
        </p:nvSpPr>
        <p:spPr>
          <a:xfrm>
            <a:off x="12552257" y="6020200"/>
            <a:ext cx="2678400" cy="325800"/>
          </a:xfrm>
          <a:prstGeom prst="roundRect">
            <a:avLst>
              <a:gd name="adj" fmla="val 11173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47" name="Google Shape;2273;p38" descr="/home/claude/pptx_work/icon_stat_agg.png">
            <a:extLst>
              <a:ext uri="{FF2B5EF4-FFF2-40B4-BE49-F238E27FC236}">
                <a16:creationId xmlns:a16="http://schemas.microsoft.com/office/drawing/2014/main" id="{20173ACC-F7A3-2C7B-0B78-D8107BF794C8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12647661" y="6081187"/>
            <a:ext cx="190807" cy="203895"/>
          </a:xfrm>
          <a:prstGeom prst="rect">
            <a:avLst/>
          </a:prstGeom>
          <a:noFill/>
          <a:ln>
            <a:noFill/>
          </a:ln>
        </p:spPr>
      </p:pic>
      <p:sp>
        <p:nvSpPr>
          <p:cNvPr id="149" name="Google Shape;2274;p38">
            <a:extLst>
              <a:ext uri="{FF2B5EF4-FFF2-40B4-BE49-F238E27FC236}">
                <a16:creationId xmlns:a16="http://schemas.microsoft.com/office/drawing/2014/main" id="{38A2C71E-9570-16B5-E53D-F953BB89AE3B}"/>
              </a:ext>
            </a:extLst>
          </p:cNvPr>
          <p:cNvSpPr/>
          <p:nvPr/>
        </p:nvSpPr>
        <p:spPr>
          <a:xfrm>
            <a:off x="12927057" y="6020200"/>
            <a:ext cx="2235000" cy="32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200"/>
              <a:buFont typeface="Malgun Gothic"/>
              <a:buNone/>
            </a:pPr>
            <a:r>
              <a:rPr lang="ko-KR" sz="12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통계 집계</a:t>
            </a: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" name="Google Shape;2275;p38">
            <a:extLst>
              <a:ext uri="{FF2B5EF4-FFF2-40B4-BE49-F238E27FC236}">
                <a16:creationId xmlns:a16="http://schemas.microsoft.com/office/drawing/2014/main" id="{337C744B-EDA7-658A-4A97-EAFD9CCC73ED}"/>
              </a:ext>
            </a:extLst>
          </p:cNvPr>
          <p:cNvSpPr/>
          <p:nvPr/>
        </p:nvSpPr>
        <p:spPr>
          <a:xfrm>
            <a:off x="12552257" y="6418887"/>
            <a:ext cx="2678400" cy="325800"/>
          </a:xfrm>
          <a:prstGeom prst="roundRect">
            <a:avLst>
              <a:gd name="adj" fmla="val 11173"/>
            </a:avLst>
          </a:prstGeom>
          <a:solidFill>
            <a:srgbClr val="FFFFFF"/>
          </a:solidFill>
          <a:ln w="12700" cap="flat" cmpd="sng">
            <a:solidFill>
              <a:srgbClr val="2D6E7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53" name="Google Shape;2276;p38" descr="/home/claude/pptx_work/icon_data_migrate.png">
            <a:extLst>
              <a:ext uri="{FF2B5EF4-FFF2-40B4-BE49-F238E27FC236}">
                <a16:creationId xmlns:a16="http://schemas.microsoft.com/office/drawing/2014/main" id="{FAED927E-C1CC-4C2A-16CE-B21932576FA9}"/>
              </a:ext>
            </a:extLst>
          </p:cNvPr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12647661" y="6479874"/>
            <a:ext cx="190807" cy="203895"/>
          </a:xfrm>
          <a:prstGeom prst="rect">
            <a:avLst/>
          </a:prstGeom>
          <a:noFill/>
          <a:ln>
            <a:noFill/>
          </a:ln>
        </p:spPr>
      </p:pic>
      <p:sp>
        <p:nvSpPr>
          <p:cNvPr id="155" name="Google Shape;2277;p38">
            <a:extLst>
              <a:ext uri="{FF2B5EF4-FFF2-40B4-BE49-F238E27FC236}">
                <a16:creationId xmlns:a16="http://schemas.microsoft.com/office/drawing/2014/main" id="{B2AAF0E4-2EE6-AD01-6ED3-FBFD9498E60A}"/>
              </a:ext>
            </a:extLst>
          </p:cNvPr>
          <p:cNvSpPr/>
          <p:nvPr/>
        </p:nvSpPr>
        <p:spPr>
          <a:xfrm>
            <a:off x="12927057" y="6418887"/>
            <a:ext cx="2235000" cy="32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1B2A4A"/>
              </a:buClr>
              <a:buSzPts val="1200"/>
              <a:buFont typeface="Malgun Gothic"/>
              <a:buNone/>
            </a:pPr>
            <a:r>
              <a:rPr lang="ko-KR" sz="1200" b="1" i="0" u="none" strike="noStrike" cap="none">
                <a:solidFill>
                  <a:srgbClr val="1B2A4A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이관</a:t>
            </a: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" name="Google Shape;2278;p38">
            <a:extLst>
              <a:ext uri="{FF2B5EF4-FFF2-40B4-BE49-F238E27FC236}">
                <a16:creationId xmlns:a16="http://schemas.microsoft.com/office/drawing/2014/main" id="{C0BFC1A4-3C3D-79D1-50D1-120A32B3C8BD}"/>
              </a:ext>
            </a:extLst>
          </p:cNvPr>
          <p:cNvSpPr/>
          <p:nvPr/>
        </p:nvSpPr>
        <p:spPr>
          <a:xfrm>
            <a:off x="12552257" y="6817574"/>
            <a:ext cx="2678400" cy="327900"/>
          </a:xfrm>
          <a:prstGeom prst="roundRect">
            <a:avLst>
              <a:gd name="adj" fmla="val 11111"/>
            </a:avLst>
          </a:prstGeom>
          <a:solidFill>
            <a:srgbClr val="C97A2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2279;p38">
            <a:extLst>
              <a:ext uri="{FF2B5EF4-FFF2-40B4-BE49-F238E27FC236}">
                <a16:creationId xmlns:a16="http://schemas.microsoft.com/office/drawing/2014/main" id="{59D4CDFC-786D-11DE-A82F-654F4EC38AE5}"/>
              </a:ext>
            </a:extLst>
          </p:cNvPr>
          <p:cNvSpPr/>
          <p:nvPr/>
        </p:nvSpPr>
        <p:spPr>
          <a:xfrm>
            <a:off x="12552257" y="6817574"/>
            <a:ext cx="2678400" cy="32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algun Gothic"/>
              <a:buNone/>
            </a:pPr>
            <a:r>
              <a:rPr lang="ko-KR" sz="12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→  서비스 성능 영향 최소화</a:t>
            </a: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3461812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6DD16-F180-8F14-C3B7-73C6EDB488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2F8CFF16-06DA-3D78-61B9-D958DF9BEBE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1. </a:t>
            </a:r>
            <a:r>
              <a:rPr lang="ko-KR" altLang="en-US" b="1"/>
              <a:t>기획 및 설계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F3D5BDF-587F-DBBC-50D3-523AC8ACDF8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C9088D5-39CC-C545-BBE5-EAD2E96E491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1.4.4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표준 프레임워크 적용 원칙 수립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DF3B808-BA72-5F1B-C4DD-5967A884EDF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목표 모델 수립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0614ED5-C16D-C5E7-10C6-3F7ACF29D70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시스템을 표현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응용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계층으로 나누고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각 계층에서 개방형 표준을 적용한 실제 사례를 함께 제시하여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개방형 표준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 원칙의 구체적 실행 형태를 예시함 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B351869-468E-F37B-61D7-A7827BD387A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CC075F9-2B23-CB0B-2FAD-7522851E6B6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표준 적용 아키텍처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D97DBA7-24CA-95BD-2850-B3F2AE95FB2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DR-017, COR-001, COR-002</a:t>
            </a:r>
          </a:p>
        </p:txBody>
      </p:sp>
      <p:sp>
        <p:nvSpPr>
          <p:cNvPr id="14" name="모서리가 둥근 직사각형 222">
            <a:extLst>
              <a:ext uri="{FF2B5EF4-FFF2-40B4-BE49-F238E27FC236}">
                <a16:creationId xmlns:a16="http://schemas.microsoft.com/office/drawing/2014/main" id="{1A9164C7-CFAB-3ABC-9132-FA49E4B38DFB}"/>
              </a:ext>
            </a:extLst>
          </p:cNvPr>
          <p:cNvSpPr/>
          <p:nvPr/>
        </p:nvSpPr>
        <p:spPr bwMode="gray">
          <a:xfrm>
            <a:off x="258881" y="2666395"/>
            <a:ext cx="6331426" cy="285638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AADF6B8-C1BD-AACB-2B33-EF9814CC2A3A}"/>
              </a:ext>
            </a:extLst>
          </p:cNvPr>
          <p:cNvSpPr/>
          <p:nvPr/>
        </p:nvSpPr>
        <p:spPr>
          <a:xfrm>
            <a:off x="335012" y="3200592"/>
            <a:ext cx="3195588" cy="838010"/>
          </a:xfrm>
          <a:prstGeom prst="roundRect">
            <a:avLst>
              <a:gd name="adj" fmla="val 699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36000" rIns="108000" bIns="108000" rtlCol="0" anchor="t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응용 계층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모듈형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전자정부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표준프레임워크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A26A72CE-C6F1-EA7B-345E-7E751F3BBA1E}"/>
              </a:ext>
            </a:extLst>
          </p:cNvPr>
          <p:cNvSpPr/>
          <p:nvPr/>
        </p:nvSpPr>
        <p:spPr>
          <a:xfrm>
            <a:off x="335012" y="2733260"/>
            <a:ext cx="3195588" cy="419516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</a:t>
            </a:r>
          </a:p>
          <a:p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개발자 포털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표준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F59A989-4FF4-816F-3636-EE09192E5B4C}"/>
              </a:ext>
            </a:extLst>
          </p:cNvPr>
          <p:cNvSpPr/>
          <p:nvPr/>
        </p:nvSpPr>
        <p:spPr>
          <a:xfrm>
            <a:off x="4038600" y="2738646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표준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접근성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크로스브라우징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B3D61AC2-226B-2979-FD55-9BECAC81A482}"/>
              </a:ext>
            </a:extLst>
          </p:cNvPr>
          <p:cNvSpPr/>
          <p:nvPr/>
        </p:nvSpPr>
        <p:spPr>
          <a:xfrm>
            <a:off x="335012" y="4086418"/>
            <a:ext cx="3195588" cy="419516"/>
          </a:xfrm>
          <a:prstGeom prst="roundRect">
            <a:avLst>
              <a:gd name="adj" fmla="val 699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계층</a:t>
            </a: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게이트웨이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en-US" altLang="ko-KR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REST·OpenAPI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비동기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배치 연계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D00CB3A1-7762-6194-C0F9-1EBD3BDF8712}"/>
              </a:ext>
            </a:extLst>
          </p:cNvPr>
          <p:cNvSpPr/>
          <p:nvPr/>
        </p:nvSpPr>
        <p:spPr>
          <a:xfrm>
            <a:off x="335012" y="4553750"/>
            <a:ext cx="3195588" cy="419516"/>
          </a:xfrm>
          <a:prstGeom prst="roundRect">
            <a:avLst>
              <a:gd name="adj" fmla="val 699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계층</a:t>
            </a:r>
          </a:p>
          <a:p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저장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(Parquet·</a:t>
            </a:r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샤딩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F7C5C652-BFCB-D477-A0E8-5A8813B36125}"/>
              </a:ext>
            </a:extLst>
          </p:cNvPr>
          <p:cNvSpPr/>
          <p:nvPr/>
        </p:nvSpPr>
        <p:spPr>
          <a:xfrm>
            <a:off x="335012" y="5021082"/>
            <a:ext cx="3195588" cy="419516"/>
          </a:xfrm>
          <a:prstGeom prst="roundRect">
            <a:avLst>
              <a:gd name="adj" fmla="val 699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계층</a:t>
            </a:r>
          </a:p>
          <a:p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스토리지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네트워크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망분리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안심구역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035B3975-EED7-ED74-9C4F-2264C6ED75A6}"/>
              </a:ext>
            </a:extLst>
          </p:cNvPr>
          <p:cNvSpPr/>
          <p:nvPr/>
        </p:nvSpPr>
        <p:spPr>
          <a:xfrm>
            <a:off x="453324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1C760A3-2B30-B972-2BCD-05BC6A0D06B8}"/>
              </a:ext>
            </a:extLst>
          </p:cNvPr>
          <p:cNvSpPr/>
          <p:nvPr/>
        </p:nvSpPr>
        <p:spPr>
          <a:xfrm>
            <a:off x="453324" y="373921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모듈</a:t>
            </a: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권리정보 조회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F479775-4BFA-B075-217A-CD07679056EC}"/>
              </a:ext>
            </a:extLst>
          </p:cNvPr>
          <p:cNvSpPr/>
          <p:nvPr/>
        </p:nvSpPr>
        <p:spPr>
          <a:xfrm>
            <a:off x="2670342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</a:t>
            </a:r>
          </a:p>
          <a:p>
            <a:pPr algn="ctr"/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MCP·OpenAPI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E4FA85E0-4D80-065B-1FA5-6FCCFC722593}"/>
              </a:ext>
            </a:extLst>
          </p:cNvPr>
          <p:cNvSpPr/>
          <p:nvPr/>
        </p:nvSpPr>
        <p:spPr>
          <a:xfrm>
            <a:off x="1192330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854466D0-9D4B-C8D4-6B4F-43A16E4818D9}"/>
              </a:ext>
            </a:extLst>
          </p:cNvPr>
          <p:cNvSpPr/>
          <p:nvPr/>
        </p:nvSpPr>
        <p:spPr>
          <a:xfrm>
            <a:off x="1931336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벡터검색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899E1E48-1A3B-20C2-46CC-4903C64DE9F4}"/>
              </a:ext>
            </a:extLst>
          </p:cNvPr>
          <p:cNvSpPr/>
          <p:nvPr/>
        </p:nvSpPr>
        <p:spPr>
          <a:xfrm>
            <a:off x="2670342" y="3740247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운영지원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워크플로우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EEAFBF26-D775-B50E-73F9-E6F3055D051E}"/>
              </a:ext>
            </a:extLst>
          </p:cNvPr>
          <p:cNvSpPr/>
          <p:nvPr/>
        </p:nvSpPr>
        <p:spPr>
          <a:xfrm>
            <a:off x="1192330" y="3740247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추천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유사 추천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996A584-6680-DEA2-8020-77831B7AD794}"/>
              </a:ext>
            </a:extLst>
          </p:cNvPr>
          <p:cNvSpPr/>
          <p:nvPr/>
        </p:nvSpPr>
        <p:spPr>
          <a:xfrm>
            <a:off x="1931336" y="3740247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로그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집계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리포팅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A2AE3D7E-7EB8-2E7B-425D-88A22A3417EB}"/>
              </a:ext>
            </a:extLst>
          </p:cNvPr>
          <p:cNvSpPr/>
          <p:nvPr/>
        </p:nvSpPr>
        <p:spPr>
          <a:xfrm>
            <a:off x="5782512" y="2969660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COR-002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2043EDA-CD4D-F0AC-DB20-14FC4EC44ECA}"/>
              </a:ext>
            </a:extLst>
          </p:cNvPr>
          <p:cNvSpPr/>
          <p:nvPr/>
        </p:nvSpPr>
        <p:spPr>
          <a:xfrm>
            <a:off x="4038600" y="3415225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전자정부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표준프레임워크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CD9DA148-B3CE-7539-27CB-2AE980E17D41}"/>
              </a:ext>
            </a:extLst>
          </p:cNvPr>
          <p:cNvSpPr/>
          <p:nvPr/>
        </p:nvSpPr>
        <p:spPr>
          <a:xfrm>
            <a:off x="5782512" y="3611215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COR-002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363852C-DE54-CBF1-2D38-03DD34988610}"/>
              </a:ext>
            </a:extLst>
          </p:cNvPr>
          <p:cNvSpPr/>
          <p:nvPr/>
        </p:nvSpPr>
        <p:spPr>
          <a:xfrm>
            <a:off x="4038600" y="4091804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REST·OpenAPI·JSON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/XML·MCP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446300E-33D1-5023-53E7-9745C5666FA8}"/>
              </a:ext>
            </a:extLst>
          </p:cNvPr>
          <p:cNvSpPr/>
          <p:nvPr/>
        </p:nvSpPr>
        <p:spPr>
          <a:xfrm>
            <a:off x="5782512" y="4312048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DR-017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2DA1B44-FBAD-63E3-6BA2-49DFAEF7D66C}"/>
              </a:ext>
            </a:extLst>
          </p:cNvPr>
          <p:cNvSpPr/>
          <p:nvPr/>
        </p:nvSpPr>
        <p:spPr>
          <a:xfrm>
            <a:off x="4038600" y="4559136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 표준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Parquet·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샤딩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CB69068-E938-93B3-73D6-F5B44E7B1B62}"/>
              </a:ext>
            </a:extLst>
          </p:cNvPr>
          <p:cNvSpPr/>
          <p:nvPr/>
        </p:nvSpPr>
        <p:spPr>
          <a:xfrm>
            <a:off x="5782512" y="4779380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COR-001·002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C143209-70DF-0354-4AF4-24B50AACFB2C}"/>
              </a:ext>
            </a:extLst>
          </p:cNvPr>
          <p:cNvSpPr/>
          <p:nvPr/>
        </p:nvSpPr>
        <p:spPr>
          <a:xfrm>
            <a:off x="4038600" y="5026468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 표준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인증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C0E731AA-EC0E-8D72-AA5E-B37C9340090B}"/>
              </a:ext>
            </a:extLst>
          </p:cNvPr>
          <p:cNvSpPr/>
          <p:nvPr/>
        </p:nvSpPr>
        <p:spPr>
          <a:xfrm>
            <a:off x="5782512" y="5246712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COR-001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22DEE9CF-2ED9-C851-0490-80860D126B56}"/>
              </a:ext>
            </a:extLst>
          </p:cNvPr>
          <p:cNvCxnSpPr>
            <a:cxnSpLocks/>
            <a:stCxn id="13" idx="3"/>
            <a:endCxn id="22" idx="1"/>
          </p:cNvCxnSpPr>
          <p:nvPr/>
        </p:nvCxnSpPr>
        <p:spPr>
          <a:xfrm>
            <a:off x="3530600" y="2943018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92E17621-67BE-7D67-4BB7-44527DA6DF6F}"/>
              </a:ext>
            </a:extLst>
          </p:cNvPr>
          <p:cNvCxnSpPr>
            <a:cxnSpLocks/>
            <a:stCxn id="8" idx="3"/>
            <a:endCxn id="65" idx="1"/>
          </p:cNvCxnSpPr>
          <p:nvPr/>
        </p:nvCxnSpPr>
        <p:spPr>
          <a:xfrm>
            <a:off x="3530600" y="3619597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4DEF3A4D-D1ED-838E-5448-BF5D3D12761E}"/>
              </a:ext>
            </a:extLst>
          </p:cNvPr>
          <p:cNvCxnSpPr>
            <a:cxnSpLocks/>
            <a:stCxn id="25" idx="3"/>
            <a:endCxn id="67" idx="1"/>
          </p:cNvCxnSpPr>
          <p:nvPr/>
        </p:nvCxnSpPr>
        <p:spPr>
          <a:xfrm>
            <a:off x="3530600" y="4296176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23FBF6DB-8558-94B8-18E9-1E6BF1604046}"/>
              </a:ext>
            </a:extLst>
          </p:cNvPr>
          <p:cNvCxnSpPr>
            <a:cxnSpLocks/>
            <a:stCxn id="27" idx="3"/>
            <a:endCxn id="69" idx="1"/>
          </p:cNvCxnSpPr>
          <p:nvPr/>
        </p:nvCxnSpPr>
        <p:spPr>
          <a:xfrm>
            <a:off x="3530600" y="4763508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535FAF1C-E14E-3443-837D-865754194C6B}"/>
              </a:ext>
            </a:extLst>
          </p:cNvPr>
          <p:cNvCxnSpPr>
            <a:cxnSpLocks/>
            <a:stCxn id="29" idx="3"/>
            <a:endCxn id="71" idx="1"/>
          </p:cNvCxnSpPr>
          <p:nvPr/>
        </p:nvCxnSpPr>
        <p:spPr>
          <a:xfrm>
            <a:off x="3530600" y="5230840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FEF2151-92D6-64D3-94E0-B0B6DCB75404}"/>
              </a:ext>
            </a:extLst>
          </p:cNvPr>
          <p:cNvSpPr/>
          <p:nvPr/>
        </p:nvSpPr>
        <p:spPr>
          <a:xfrm>
            <a:off x="316309" y="905132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 전반에 공공 표준을 적용하고 상용 종속을 배제함으로써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기존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AI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허브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클라우드와의 상호운용성과 장기 유지보수성을 확보하며 라이선스 리스크를 근본 차단함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44C15AD7-1C32-6370-9C03-BFB0C708C780}"/>
              </a:ext>
            </a:extLst>
          </p:cNvPr>
          <p:cNvCxnSpPr>
            <a:cxnSpLocks/>
          </p:cNvCxnSpPr>
          <p:nvPr/>
        </p:nvCxnSpPr>
        <p:spPr>
          <a:xfrm>
            <a:off x="312925" y="56339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90">
            <a:extLst>
              <a:ext uri="{FF2B5EF4-FFF2-40B4-BE49-F238E27FC236}">
                <a16:creationId xmlns:a16="http://schemas.microsoft.com/office/drawing/2014/main" id="{87F2119E-B45D-5613-7F6D-6DBDF89E70A4}"/>
              </a:ext>
            </a:extLst>
          </p:cNvPr>
          <p:cNvSpPr txBox="1"/>
          <p:nvPr/>
        </p:nvSpPr>
        <p:spPr>
          <a:xfrm>
            <a:off x="335012" y="5607896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표준 적용 아키텍처</a:t>
            </a:r>
          </a:p>
        </p:txBody>
      </p:sp>
      <p:sp>
        <p:nvSpPr>
          <p:cNvPr id="92" name="모서리가 둥근 직사각형 222">
            <a:extLst>
              <a:ext uri="{FF2B5EF4-FFF2-40B4-BE49-F238E27FC236}">
                <a16:creationId xmlns:a16="http://schemas.microsoft.com/office/drawing/2014/main" id="{AE582693-663B-DA54-0FB0-BA2917392E29}"/>
              </a:ext>
            </a:extLst>
          </p:cNvPr>
          <p:cNvSpPr/>
          <p:nvPr/>
        </p:nvSpPr>
        <p:spPr bwMode="gray">
          <a:xfrm>
            <a:off x="258881" y="5903150"/>
            <a:ext cx="6331426" cy="3773442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94" name="Table 0">
            <a:extLst>
              <a:ext uri="{FF2B5EF4-FFF2-40B4-BE49-F238E27FC236}">
                <a16:creationId xmlns:a16="http://schemas.microsoft.com/office/drawing/2014/main" id="{8D8C6F76-DF57-523D-78D8-9402A281F2E5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6236970"/>
          <a:ext cx="6165724" cy="2729231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336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54781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50128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표준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종속 배제 원칙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558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 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 접근성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크로스브라우징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특정 브라우저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b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플러그인 비종속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558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전자정부 표준프레임워크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 프레임워크 비종속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44558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REST·OpenAPI·JSON/XML·MCP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인터페이스 우선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DR-017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44558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코드체계 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Parquet·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샤딩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개방형 포맷 우선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COR-001·002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44558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클라우드 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인증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 전송솔루션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(INNORIX) →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오픈소스 대체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COR-001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</a:tbl>
          </a:graphicData>
        </a:graphic>
      </p:graphicFrame>
      <p:sp>
        <p:nvSpPr>
          <p:cNvPr id="96" name="TextBox 95">
            <a:extLst>
              <a:ext uri="{FF2B5EF4-FFF2-40B4-BE49-F238E27FC236}">
                <a16:creationId xmlns:a16="http://schemas.microsoft.com/office/drawing/2014/main" id="{17B88AAA-D072-F85A-4C7E-7CCAC518BAF5}"/>
              </a:ext>
            </a:extLst>
          </p:cNvPr>
          <p:cNvSpPr txBox="1"/>
          <p:nvPr/>
        </p:nvSpPr>
        <p:spPr>
          <a:xfrm>
            <a:off x="1093656" y="598830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적용 표준 및 근거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F758388E-F62E-E985-D411-67F965397404}"/>
              </a:ext>
            </a:extLst>
          </p:cNvPr>
          <p:cNvSpPr/>
          <p:nvPr/>
        </p:nvSpPr>
        <p:spPr>
          <a:xfrm>
            <a:off x="3444796" y="2854437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B51A1632-0DE1-D581-394B-CB44076AA06B}"/>
              </a:ext>
            </a:extLst>
          </p:cNvPr>
          <p:cNvSpPr/>
          <p:nvPr/>
        </p:nvSpPr>
        <p:spPr>
          <a:xfrm>
            <a:off x="3444796" y="3527765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97661CCA-A1A4-4F43-7978-D0C837E1B9A9}"/>
              </a:ext>
            </a:extLst>
          </p:cNvPr>
          <p:cNvSpPr/>
          <p:nvPr/>
        </p:nvSpPr>
        <p:spPr>
          <a:xfrm>
            <a:off x="3444796" y="4213040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8A0612A9-B3B7-9895-31C3-9B0519C20F82}"/>
              </a:ext>
            </a:extLst>
          </p:cNvPr>
          <p:cNvSpPr/>
          <p:nvPr/>
        </p:nvSpPr>
        <p:spPr>
          <a:xfrm>
            <a:off x="3444796" y="4675752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49CCE80D-E117-6F3E-EC9C-EC4C00F6CBEE}"/>
              </a:ext>
            </a:extLst>
          </p:cNvPr>
          <p:cNvSpPr/>
          <p:nvPr/>
        </p:nvSpPr>
        <p:spPr>
          <a:xfrm>
            <a:off x="3444796" y="5148469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10" name="Google Shape;2333;p39">
            <a:extLst>
              <a:ext uri="{FF2B5EF4-FFF2-40B4-BE49-F238E27FC236}">
                <a16:creationId xmlns:a16="http://schemas.microsoft.com/office/drawing/2014/main" id="{9DF9E4C6-3511-1440-3EE2-CF87F226403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2334;p39">
            <a:extLst>
              <a:ext uri="{FF2B5EF4-FFF2-40B4-BE49-F238E27FC236}">
                <a16:creationId xmlns:a16="http://schemas.microsoft.com/office/drawing/2014/main" id="{872C261C-58E1-30EC-2083-33EF5F0378E2}"/>
              </a:ext>
            </a:extLst>
          </p:cNvPr>
          <p:cNvSpPr/>
          <p:nvPr/>
        </p:nvSpPr>
        <p:spPr>
          <a:xfrm>
            <a:off x="-909500" y="1371607"/>
            <a:ext cx="1100100" cy="1018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문장수정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8788922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623554-9D29-69AE-FB7B-3CB239BEEB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06693A1-8AB7-BA24-5CB3-A6A737BE804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169F5EE-A8CD-E212-0642-89DDDEB83979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E7E29D9-B24E-F147-1C55-2FF41931D13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2.1.0 Module 2.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추진 프로세스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201700-0B6B-8D34-63E3-4F4C4F7F22E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DE06B215-0EA5-B649-A062-243F4291F82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2.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는 계층별 시스템 구조와 공통 기반을 설계해서 전체 뼈대를 잡고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위에 등록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품질검증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데이터제공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기능 영역을 순차 구현해서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마지막에 통합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시험과 안정성 우선 확보로 검증까지 진행하는 단계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3A128E07-F14F-49B0-730C-94BED712199F}"/>
              </a:ext>
            </a:extLst>
          </p:cNvPr>
          <p:cNvCxnSpPr>
            <a:cxnSpLocks/>
          </p:cNvCxnSpPr>
          <p:nvPr/>
        </p:nvCxnSpPr>
        <p:spPr>
          <a:xfrm>
            <a:off x="312925" y="23464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3B5C83B8-5AB7-9023-D5D6-9DDF655E9369}"/>
              </a:ext>
            </a:extLst>
          </p:cNvPr>
          <p:cNvSpPr txBox="1"/>
          <p:nvPr/>
        </p:nvSpPr>
        <p:spPr>
          <a:xfrm>
            <a:off x="335011" y="23330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ko-KR" altLang="en-US" sz="11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추진 프로세스</a:t>
            </a:r>
            <a:endParaRPr lang="en-US" altLang="ko-KR" sz="11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grpSp>
        <p:nvGrpSpPr>
          <p:cNvPr id="204" name="그룹 203">
            <a:extLst>
              <a:ext uri="{FF2B5EF4-FFF2-40B4-BE49-F238E27FC236}">
                <a16:creationId xmlns:a16="http://schemas.microsoft.com/office/drawing/2014/main" id="{32ACB9C0-A1E3-139E-E92A-CD09F6EEFBB2}"/>
              </a:ext>
            </a:extLst>
          </p:cNvPr>
          <p:cNvGrpSpPr/>
          <p:nvPr/>
        </p:nvGrpSpPr>
        <p:grpSpPr>
          <a:xfrm>
            <a:off x="328468" y="2594651"/>
            <a:ext cx="6256642" cy="859777"/>
            <a:chOff x="328468" y="2594651"/>
            <a:chExt cx="6256642" cy="981724"/>
          </a:xfrm>
        </p:grpSpPr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7E74B87C-B79B-7B7C-9CE7-A71C9FB0B78C}"/>
                </a:ext>
              </a:extLst>
            </p:cNvPr>
            <p:cNvSpPr/>
            <p:nvPr/>
          </p:nvSpPr>
          <p:spPr>
            <a:xfrm>
              <a:off x="333477" y="2594651"/>
              <a:ext cx="5152923" cy="981724"/>
            </a:xfrm>
            <a:prstGeom prst="rect">
              <a:avLst/>
            </a:prstGeom>
            <a:noFill/>
            <a:ln>
              <a:solidFill>
                <a:srgbClr val="BADBE8"/>
              </a:solidFill>
            </a:ln>
            <a:effectLst>
              <a:outerShdw blurRad="241300" dist="38100" dir="5400000" algn="t" rotWithShape="0">
                <a:srgbClr val="9DCCDF">
                  <a:alpha val="16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39424BBD-E796-1238-44EA-5D7FCB1D46CF}"/>
                </a:ext>
              </a:extLst>
            </p:cNvPr>
            <p:cNvCxnSpPr>
              <a:cxnSpLocks/>
            </p:cNvCxnSpPr>
            <p:nvPr/>
          </p:nvCxnSpPr>
          <p:spPr>
            <a:xfrm>
              <a:off x="1178023" y="2691692"/>
              <a:ext cx="0" cy="805433"/>
            </a:xfrm>
            <a:prstGeom prst="line">
              <a:avLst/>
            </a:prstGeom>
            <a:ln w="12700">
              <a:solidFill>
                <a:srgbClr val="9DCCD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54663E4-4243-A51B-4402-268CE9C4D260}"/>
                </a:ext>
              </a:extLst>
            </p:cNvPr>
            <p:cNvSpPr txBox="1"/>
            <p:nvPr/>
          </p:nvSpPr>
          <p:spPr>
            <a:xfrm flipH="1">
              <a:off x="328468" y="2718161"/>
              <a:ext cx="853140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20000"/>
                </a:lnSpc>
                <a:spcBef>
                  <a:spcPts val="400"/>
                </a:spcBef>
              </a:pPr>
              <a:r>
                <a:rPr lang="en-US" altLang="ko-KR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Step 1. </a:t>
              </a:r>
              <a:br>
                <a:rPr lang="en-US" altLang="ko-KR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</a:br>
              <a:r>
                <a:rPr lang="ko-KR" altLang="en-US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전체 시스템 구조 설계</a:t>
              </a:r>
            </a:p>
          </p:txBody>
        </p:sp>
        <p:sp>
          <p:nvSpPr>
            <p:cNvPr id="105" name="사각형: 둥근 모서리 104">
              <a:extLst>
                <a:ext uri="{FF2B5EF4-FFF2-40B4-BE49-F238E27FC236}">
                  <a16:creationId xmlns:a16="http://schemas.microsoft.com/office/drawing/2014/main" id="{0D6A1C59-B6BB-CCD1-5FB9-6EC520A22792}"/>
                </a:ext>
              </a:extLst>
            </p:cNvPr>
            <p:cNvSpPr/>
            <p:nvPr/>
          </p:nvSpPr>
          <p:spPr>
            <a:xfrm>
              <a:off x="1317932" y="2673966"/>
              <a:ext cx="1955765" cy="357092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계층별 시스템 구조 설계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06" name="사각형: 둥근 모서리 105">
              <a:extLst>
                <a:ext uri="{FF2B5EF4-FFF2-40B4-BE49-F238E27FC236}">
                  <a16:creationId xmlns:a16="http://schemas.microsoft.com/office/drawing/2014/main" id="{F54079FE-C810-B28F-020E-6E838AB3D1CB}"/>
                </a:ext>
              </a:extLst>
            </p:cNvPr>
            <p:cNvSpPr/>
            <p:nvPr/>
          </p:nvSpPr>
          <p:spPr>
            <a:xfrm>
              <a:off x="3453641" y="2673966"/>
              <a:ext cx="1955765" cy="357092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공통 기반 기능 설계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07" name="사각형: 둥근 모서리 106">
              <a:extLst>
                <a:ext uri="{FF2B5EF4-FFF2-40B4-BE49-F238E27FC236}">
                  <a16:creationId xmlns:a16="http://schemas.microsoft.com/office/drawing/2014/main" id="{8E520867-F714-5DD5-8C03-78229281B1F8}"/>
                </a:ext>
              </a:extLst>
            </p:cNvPr>
            <p:cNvSpPr/>
            <p:nvPr/>
          </p:nvSpPr>
          <p:spPr>
            <a:xfrm>
              <a:off x="1317931" y="3134513"/>
              <a:ext cx="4091475" cy="357092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시스템 최적화 방안 수립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10" name="사각형: 둥근 모서리 109">
              <a:extLst>
                <a:ext uri="{FF2B5EF4-FFF2-40B4-BE49-F238E27FC236}">
                  <a16:creationId xmlns:a16="http://schemas.microsoft.com/office/drawing/2014/main" id="{C66C4CC0-4397-7AAB-AD1F-5F1BBEDBF4D9}"/>
                </a:ext>
              </a:extLst>
            </p:cNvPr>
            <p:cNvSpPr/>
            <p:nvPr/>
          </p:nvSpPr>
          <p:spPr>
            <a:xfrm>
              <a:off x="5589352" y="2644481"/>
              <a:ext cx="995758" cy="879747"/>
            </a:xfrm>
            <a:prstGeom prst="roundRect">
              <a:avLst>
                <a:gd name="adj" fmla="val 0"/>
              </a:avLst>
            </a:prstGeom>
            <a:solidFill>
              <a:srgbClr val="D7EAF2"/>
            </a:solidFill>
            <a:ln>
              <a:solidFill>
                <a:srgbClr val="BADBE8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600"/>
                </a:spcBef>
              </a:pPr>
              <a:r>
                <a:rPr lang="ko-KR" altLang="en-US" sz="12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시스템 구조 및 최적화 방안</a:t>
              </a:r>
            </a:p>
          </p:txBody>
        </p:sp>
        <p:cxnSp>
          <p:nvCxnSpPr>
            <p:cNvPr id="123" name="직선 화살표 연결선 122">
              <a:extLst>
                <a:ext uri="{FF2B5EF4-FFF2-40B4-BE49-F238E27FC236}">
                  <a16:creationId xmlns:a16="http://schemas.microsoft.com/office/drawing/2014/main" id="{E891C8F3-609D-89E3-BA2C-9F84DD2FB33B}"/>
                </a:ext>
              </a:extLst>
            </p:cNvPr>
            <p:cNvCxnSpPr>
              <a:cxnSpLocks/>
              <a:stCxn id="105" idx="3"/>
              <a:endCxn id="106" idx="1"/>
            </p:cNvCxnSpPr>
            <p:nvPr/>
          </p:nvCxnSpPr>
          <p:spPr>
            <a:xfrm>
              <a:off x="3273697" y="2852512"/>
              <a:ext cx="179944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연결선: 꺾임 124">
              <a:extLst>
                <a:ext uri="{FF2B5EF4-FFF2-40B4-BE49-F238E27FC236}">
                  <a16:creationId xmlns:a16="http://schemas.microsoft.com/office/drawing/2014/main" id="{8504F06F-9906-C111-FA51-9E6E81274B97}"/>
                </a:ext>
              </a:extLst>
            </p:cNvPr>
            <p:cNvCxnSpPr>
              <a:cxnSpLocks/>
              <a:stCxn id="106" idx="2"/>
              <a:endCxn id="107" idx="0"/>
            </p:cNvCxnSpPr>
            <p:nvPr/>
          </p:nvCxnSpPr>
          <p:spPr>
            <a:xfrm rot="5400000">
              <a:off x="3845870" y="2548858"/>
              <a:ext cx="103455" cy="1067855"/>
            </a:xfrm>
            <a:prstGeom prst="bentConnector3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63F14B00-8EB1-B392-5737-55187672AB9B}"/>
              </a:ext>
            </a:extLst>
          </p:cNvPr>
          <p:cNvSpPr txBox="1"/>
          <p:nvPr/>
        </p:nvSpPr>
        <p:spPr>
          <a:xfrm>
            <a:off x="4771749" y="9676592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 </a:t>
            </a:r>
            <a:r>
              <a:rPr lang="ko-KR" altLang="en-US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결과물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BD23CD29-106B-3BB6-4E1B-69694318280E}"/>
              </a:ext>
            </a:extLst>
          </p:cNvPr>
          <p:cNvSpPr txBox="1"/>
          <p:nvPr/>
        </p:nvSpPr>
        <p:spPr>
          <a:xfrm>
            <a:off x="5536197" y="9676592"/>
            <a:ext cx="110479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전략 산출물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84A6177D-3B95-A204-72C5-608EFD643185}"/>
              </a:ext>
            </a:extLst>
          </p:cNvPr>
          <p:cNvSpPr/>
          <p:nvPr/>
        </p:nvSpPr>
        <p:spPr>
          <a:xfrm>
            <a:off x="333477" y="3526643"/>
            <a:ext cx="5152923" cy="915560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3612D889-B2D5-87B5-E191-C57DA63AB6B8}"/>
              </a:ext>
            </a:extLst>
          </p:cNvPr>
          <p:cNvCxnSpPr>
            <a:cxnSpLocks/>
          </p:cNvCxnSpPr>
          <p:nvPr/>
        </p:nvCxnSpPr>
        <p:spPr>
          <a:xfrm>
            <a:off x="1178023" y="3623684"/>
            <a:ext cx="0" cy="747766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8BC2CB3D-B28F-9AFB-5331-E9FF04486644}"/>
              </a:ext>
            </a:extLst>
          </p:cNvPr>
          <p:cNvSpPr txBox="1"/>
          <p:nvPr/>
        </p:nvSpPr>
        <p:spPr>
          <a:xfrm flipH="1">
            <a:off x="328468" y="3531991"/>
            <a:ext cx="853140" cy="9048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2.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등록</a:t>
            </a: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기능 구현</a:t>
            </a: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F710773C-943B-F679-BB49-991501C7DC53}"/>
              </a:ext>
            </a:extLst>
          </p:cNvPr>
          <p:cNvSpPr/>
          <p:nvPr/>
        </p:nvSpPr>
        <p:spPr>
          <a:xfrm>
            <a:off x="1317932" y="3605958"/>
            <a:ext cx="1796539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단계별 관리 기능 구현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C50B8761-8AF7-2628-A880-F018C0FB94D0}"/>
              </a:ext>
            </a:extLst>
          </p:cNvPr>
          <p:cNvSpPr/>
          <p:nvPr/>
        </p:nvSpPr>
        <p:spPr>
          <a:xfrm>
            <a:off x="3612867" y="3605958"/>
            <a:ext cx="1796539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및 문서 이력 관리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3D42C15B-924B-2373-450A-67473C9BEC39}"/>
              </a:ext>
            </a:extLst>
          </p:cNvPr>
          <p:cNvSpPr/>
          <p:nvPr/>
        </p:nvSpPr>
        <p:spPr>
          <a:xfrm>
            <a:off x="1317932" y="3873076"/>
            <a:ext cx="1796539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유형별 검수 기준 적용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07730414-D4F0-268D-5DC9-18FB14F36407}"/>
              </a:ext>
            </a:extLst>
          </p:cNvPr>
          <p:cNvSpPr/>
          <p:nvPr/>
        </p:nvSpPr>
        <p:spPr>
          <a:xfrm>
            <a:off x="3612867" y="3873076"/>
            <a:ext cx="1796539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 연계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FC3A998E-0C5F-2431-244E-84D21F5DEEF4}"/>
              </a:ext>
            </a:extLst>
          </p:cNvPr>
          <p:cNvSpPr/>
          <p:nvPr/>
        </p:nvSpPr>
        <p:spPr>
          <a:xfrm>
            <a:off x="5589352" y="3576473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등록</a:t>
            </a:r>
            <a:r>
              <a:rPr lang="en-US" altLang="ko-KR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기능</a:t>
            </a: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01096E35-578D-D604-9EFA-D4208902355A}"/>
              </a:ext>
            </a:extLst>
          </p:cNvPr>
          <p:cNvSpPr/>
          <p:nvPr/>
        </p:nvSpPr>
        <p:spPr>
          <a:xfrm>
            <a:off x="333477" y="4527116"/>
            <a:ext cx="5152923" cy="823586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F5B9FFA6-4FAC-5ED6-CAA0-D0D3A63247F6}"/>
              </a:ext>
            </a:extLst>
          </p:cNvPr>
          <p:cNvCxnSpPr>
            <a:cxnSpLocks/>
          </p:cNvCxnSpPr>
          <p:nvPr/>
        </p:nvCxnSpPr>
        <p:spPr>
          <a:xfrm>
            <a:off x="1178023" y="4624157"/>
            <a:ext cx="0" cy="648506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B697581E-D52E-75D3-4E35-C08CAF18C733}"/>
              </a:ext>
            </a:extLst>
          </p:cNvPr>
          <p:cNvSpPr txBox="1"/>
          <p:nvPr/>
        </p:nvSpPr>
        <p:spPr>
          <a:xfrm flipH="1">
            <a:off x="328468" y="4517063"/>
            <a:ext cx="853140" cy="849463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3.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0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라이프사이클 관리 기능 구현</a:t>
            </a:r>
            <a:endParaRPr lang="ko-KR" altLang="en-US" sz="11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194EA7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6329881C-7C5F-0E1F-E52C-02BCD6339B5B}"/>
              </a:ext>
            </a:extLst>
          </p:cNvPr>
          <p:cNvGrpSpPr/>
          <p:nvPr/>
        </p:nvGrpSpPr>
        <p:grpSpPr>
          <a:xfrm>
            <a:off x="1317932" y="4606431"/>
            <a:ext cx="4091474" cy="660004"/>
            <a:chOff x="1317932" y="4606431"/>
            <a:chExt cx="4091474" cy="499528"/>
          </a:xfrm>
        </p:grpSpPr>
        <p:sp>
          <p:nvSpPr>
            <p:cNvPr id="146" name="사각형: 둥근 모서리 145">
              <a:extLst>
                <a:ext uri="{FF2B5EF4-FFF2-40B4-BE49-F238E27FC236}">
                  <a16:creationId xmlns:a16="http://schemas.microsoft.com/office/drawing/2014/main" id="{7CE0EB4D-53E0-185A-301D-9CBF7136656C}"/>
                </a:ext>
              </a:extLst>
            </p:cNvPr>
            <p:cNvSpPr/>
            <p:nvPr/>
          </p:nvSpPr>
          <p:spPr>
            <a:xfrm>
              <a:off x="1317932" y="4606431"/>
              <a:ext cx="1780347" cy="223954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단계별 상태 관리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2B46CC4B-946D-D9A7-3A0E-E24F041BF4A3}"/>
                </a:ext>
              </a:extLst>
            </p:cNvPr>
            <p:cNvSpPr/>
            <p:nvPr/>
          </p:nvSpPr>
          <p:spPr>
            <a:xfrm>
              <a:off x="3629059" y="4606431"/>
              <a:ext cx="1780347" cy="223954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처리 현황 표시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84CE2AE6-3E7D-F1BE-A681-3AD938B8FF7E}"/>
                </a:ext>
              </a:extLst>
            </p:cNvPr>
            <p:cNvSpPr/>
            <p:nvPr/>
          </p:nvSpPr>
          <p:spPr>
            <a:xfrm>
              <a:off x="1317932" y="4882005"/>
              <a:ext cx="1780347" cy="223954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변경 이력 및 참조 관계 추적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49" name="사각형: 둥근 모서리 148">
              <a:extLst>
                <a:ext uri="{FF2B5EF4-FFF2-40B4-BE49-F238E27FC236}">
                  <a16:creationId xmlns:a16="http://schemas.microsoft.com/office/drawing/2014/main" id="{30B7436A-7121-2622-DF23-927A2F9C90FE}"/>
                </a:ext>
              </a:extLst>
            </p:cNvPr>
            <p:cNvSpPr/>
            <p:nvPr/>
          </p:nvSpPr>
          <p:spPr>
            <a:xfrm>
              <a:off x="3629059" y="4882005"/>
              <a:ext cx="1780347" cy="223954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갱신</a:t>
              </a:r>
              <a:r>
                <a:rPr lang="en-US" altLang="ko-KR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개방</a:t>
              </a:r>
              <a:r>
                <a:rPr lang="en-US" altLang="ko-KR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·</a:t>
              </a: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폐기 처리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</p:grp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E70D450D-AAAA-8255-F6FB-B087A71A4D8F}"/>
              </a:ext>
            </a:extLst>
          </p:cNvPr>
          <p:cNvSpPr/>
          <p:nvPr/>
        </p:nvSpPr>
        <p:spPr>
          <a:xfrm>
            <a:off x="5589352" y="4576946"/>
            <a:ext cx="995758" cy="69571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라이프사이클 관리 기능</a:t>
            </a:r>
          </a:p>
        </p:txBody>
      </p: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291F7760-7126-26D8-C480-08BD890BFACF}"/>
              </a:ext>
            </a:extLst>
          </p:cNvPr>
          <p:cNvGrpSpPr/>
          <p:nvPr/>
        </p:nvGrpSpPr>
        <p:grpSpPr>
          <a:xfrm>
            <a:off x="328468" y="5406221"/>
            <a:ext cx="5157932" cy="768481"/>
            <a:chOff x="328468" y="5681795"/>
            <a:chExt cx="5157932" cy="981724"/>
          </a:xfrm>
        </p:grpSpPr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E33C3BF0-6205-C11E-B40D-7811852B3F21}"/>
                </a:ext>
              </a:extLst>
            </p:cNvPr>
            <p:cNvSpPr/>
            <p:nvPr/>
          </p:nvSpPr>
          <p:spPr>
            <a:xfrm>
              <a:off x="333477" y="5681795"/>
              <a:ext cx="5152923" cy="981724"/>
            </a:xfrm>
            <a:prstGeom prst="rect">
              <a:avLst/>
            </a:prstGeom>
            <a:noFill/>
            <a:ln>
              <a:solidFill>
                <a:srgbClr val="BADBE8"/>
              </a:solidFill>
            </a:ln>
            <a:effectLst>
              <a:outerShdw blurRad="241300" dist="38100" dir="5400000" algn="t" rotWithShape="0">
                <a:srgbClr val="9DCCDF">
                  <a:alpha val="16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662867A9-BB49-F99D-1D62-B5B6B93F5879}"/>
                </a:ext>
              </a:extLst>
            </p:cNvPr>
            <p:cNvGrpSpPr/>
            <p:nvPr/>
          </p:nvGrpSpPr>
          <p:grpSpPr>
            <a:xfrm>
              <a:off x="328468" y="5778836"/>
              <a:ext cx="853140" cy="805433"/>
              <a:chOff x="328468" y="5778836"/>
              <a:chExt cx="853140" cy="805433"/>
            </a:xfrm>
          </p:grpSpPr>
          <p:cxnSp>
            <p:nvCxnSpPr>
              <p:cNvPr id="155" name="직선 연결선 154">
                <a:extLst>
                  <a:ext uri="{FF2B5EF4-FFF2-40B4-BE49-F238E27FC236}">
                    <a16:creationId xmlns:a16="http://schemas.microsoft.com/office/drawing/2014/main" id="{B7C47647-A426-0A3D-EF21-7242A61C16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8023" y="5778836"/>
                <a:ext cx="0" cy="805433"/>
              </a:xfrm>
              <a:prstGeom prst="line">
                <a:avLst/>
              </a:prstGeom>
              <a:ln w="12700">
                <a:solidFill>
                  <a:srgbClr val="9DCCD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D6D6C04C-5F2C-480B-401C-D85A021E2140}"/>
                  </a:ext>
                </a:extLst>
              </p:cNvPr>
              <p:cNvSpPr txBox="1"/>
              <p:nvPr/>
            </p:nvSpPr>
            <p:spPr>
              <a:xfrm flipH="1">
                <a:off x="328468" y="5805305"/>
                <a:ext cx="853140" cy="7017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20000"/>
                  </a:lnSpc>
                  <a:spcBef>
                    <a:spcPts val="400"/>
                  </a:spcBef>
                </a:pPr>
                <a:r>
                  <a:rPr lang="en-US" altLang="ko-KR" sz="1100" dirty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rgbClr val="194EA7"/>
                    </a:solidFill>
                    <a:latin typeface="KoPubWorld돋움체 Bold" panose="00000800000000000000" pitchFamily="2" charset="-127"/>
                    <a:ea typeface="KoPubWorld돋움체 Bold" panose="00000800000000000000" pitchFamily="2" charset="-127"/>
                    <a:cs typeface="KoPubWorld돋움체 Bold" panose="00000800000000000000" pitchFamily="2" charset="-127"/>
                  </a:rPr>
                  <a:t>Step 4. </a:t>
                </a:r>
                <a:br>
                  <a:rPr lang="en-US" altLang="ko-KR" sz="1100" dirty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rgbClr val="194EA7"/>
                    </a:solidFill>
                    <a:latin typeface="KoPubWorld돋움체 Bold" panose="00000800000000000000" pitchFamily="2" charset="-127"/>
                    <a:ea typeface="KoPubWorld돋움체 Bold" panose="00000800000000000000" pitchFamily="2" charset="-127"/>
                    <a:cs typeface="KoPubWorld돋움체 Bold" panose="00000800000000000000" pitchFamily="2" charset="-127"/>
                  </a:rPr>
                </a:br>
                <a:r>
                  <a:rPr lang="ko-KR" altLang="en-US" sz="1100" dirty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rgbClr val="194EA7"/>
                    </a:solidFill>
                    <a:latin typeface="KoPubWorld돋움체 Bold" panose="00000800000000000000" pitchFamily="2" charset="-127"/>
                    <a:ea typeface="KoPubWorld돋움체 Bold" panose="00000800000000000000" pitchFamily="2" charset="-127"/>
                    <a:cs typeface="KoPubWorld돋움체 Bold" panose="00000800000000000000" pitchFamily="2" charset="-127"/>
                  </a:rPr>
                  <a:t>품질 및 정합성 검증</a:t>
                </a:r>
              </a:p>
            </p:txBody>
          </p:sp>
        </p:grpSp>
      </p:grp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E5B1CC00-DB38-1506-3689-67A9077174D3}"/>
              </a:ext>
            </a:extLst>
          </p:cNvPr>
          <p:cNvSpPr/>
          <p:nvPr/>
        </p:nvSpPr>
        <p:spPr>
          <a:xfrm>
            <a:off x="1317932" y="5485536"/>
            <a:ext cx="1955765" cy="253869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품질 검수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59BADF30-D53E-FCF0-1049-94F4D3CD9CA3}"/>
              </a:ext>
            </a:extLst>
          </p:cNvPr>
          <p:cNvSpPr/>
          <p:nvPr/>
        </p:nvSpPr>
        <p:spPr>
          <a:xfrm>
            <a:off x="3453641" y="5485536"/>
            <a:ext cx="1955765" cy="253869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 결과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 연계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15EA86F2-65A7-DCA3-3E8C-132A53EFBCE5}"/>
              </a:ext>
            </a:extLst>
          </p:cNvPr>
          <p:cNvSpPr/>
          <p:nvPr/>
        </p:nvSpPr>
        <p:spPr>
          <a:xfrm>
            <a:off x="1317932" y="5831573"/>
            <a:ext cx="4091473" cy="253869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정확성 검증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1" name="사각형: 둥근 모서리 160">
            <a:extLst>
              <a:ext uri="{FF2B5EF4-FFF2-40B4-BE49-F238E27FC236}">
                <a16:creationId xmlns:a16="http://schemas.microsoft.com/office/drawing/2014/main" id="{245308D9-AD68-5741-DA6B-C3863B80E32A}"/>
              </a:ext>
            </a:extLst>
          </p:cNvPr>
          <p:cNvSpPr/>
          <p:nvPr/>
        </p:nvSpPr>
        <p:spPr>
          <a:xfrm>
            <a:off x="5589352" y="5456051"/>
            <a:ext cx="995758" cy="69571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검증 결과</a:t>
            </a:r>
          </a:p>
        </p:txBody>
      </p:sp>
      <p:cxnSp>
        <p:nvCxnSpPr>
          <p:cNvPr id="162" name="직선 화살표 연결선 161">
            <a:extLst>
              <a:ext uri="{FF2B5EF4-FFF2-40B4-BE49-F238E27FC236}">
                <a16:creationId xmlns:a16="http://schemas.microsoft.com/office/drawing/2014/main" id="{3B62D29A-CFDE-BAE1-4DAF-61F8F42E0125}"/>
              </a:ext>
            </a:extLst>
          </p:cNvPr>
          <p:cNvCxnSpPr>
            <a:cxnSpLocks/>
            <a:stCxn id="157" idx="3"/>
            <a:endCxn id="158" idx="1"/>
          </p:cNvCxnSpPr>
          <p:nvPr/>
        </p:nvCxnSpPr>
        <p:spPr>
          <a:xfrm>
            <a:off x="3273697" y="5612471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163">
            <a:extLst>
              <a:ext uri="{FF2B5EF4-FFF2-40B4-BE49-F238E27FC236}">
                <a16:creationId xmlns:a16="http://schemas.microsoft.com/office/drawing/2014/main" id="{339E300B-F374-5D10-3312-511EC0E27DA3}"/>
              </a:ext>
            </a:extLst>
          </p:cNvPr>
          <p:cNvCxnSpPr>
            <a:cxnSpLocks/>
            <a:stCxn id="158" idx="2"/>
            <a:endCxn id="159" idx="0"/>
          </p:cNvCxnSpPr>
          <p:nvPr/>
        </p:nvCxnSpPr>
        <p:spPr>
          <a:xfrm rot="5400000">
            <a:off x="3851513" y="5251562"/>
            <a:ext cx="92168" cy="1067855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63D6CB12-2050-5184-616F-40D2C03EFA34}"/>
              </a:ext>
            </a:extLst>
          </p:cNvPr>
          <p:cNvGrpSpPr/>
          <p:nvPr/>
        </p:nvGrpSpPr>
        <p:grpSpPr>
          <a:xfrm>
            <a:off x="328468" y="6208122"/>
            <a:ext cx="6256642" cy="783166"/>
            <a:chOff x="328468" y="6208122"/>
            <a:chExt cx="6256642" cy="981724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A7F15BC-E45A-50C4-B916-1990514ED181}"/>
                </a:ext>
              </a:extLst>
            </p:cNvPr>
            <p:cNvSpPr/>
            <p:nvPr/>
          </p:nvSpPr>
          <p:spPr>
            <a:xfrm>
              <a:off x="333477" y="6208122"/>
              <a:ext cx="5152923" cy="981724"/>
            </a:xfrm>
            <a:prstGeom prst="rect">
              <a:avLst/>
            </a:prstGeom>
            <a:noFill/>
            <a:ln>
              <a:solidFill>
                <a:srgbClr val="BADBE8"/>
              </a:solidFill>
            </a:ln>
            <a:effectLst>
              <a:outerShdw blurRad="241300" dist="38100" dir="5400000" algn="t" rotWithShape="0">
                <a:srgbClr val="9DCCDF">
                  <a:alpha val="16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35B574B8-F28F-74FC-6348-0E3173382412}"/>
                </a:ext>
              </a:extLst>
            </p:cNvPr>
            <p:cNvCxnSpPr>
              <a:cxnSpLocks/>
            </p:cNvCxnSpPr>
            <p:nvPr/>
          </p:nvCxnSpPr>
          <p:spPr>
            <a:xfrm>
              <a:off x="1178023" y="6305163"/>
              <a:ext cx="0" cy="805433"/>
            </a:xfrm>
            <a:prstGeom prst="line">
              <a:avLst/>
            </a:prstGeom>
            <a:ln w="12700">
              <a:solidFill>
                <a:srgbClr val="9DCCD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76FD83B3-61D9-F147-5F12-076B1BC4788B}"/>
                </a:ext>
              </a:extLst>
            </p:cNvPr>
            <p:cNvSpPr txBox="1"/>
            <p:nvPr/>
          </p:nvSpPr>
          <p:spPr>
            <a:xfrm flipH="1">
              <a:off x="328468" y="6331632"/>
              <a:ext cx="853140" cy="7017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20000"/>
                </a:lnSpc>
                <a:spcBef>
                  <a:spcPts val="400"/>
                </a:spcBef>
              </a:pPr>
              <a:r>
                <a:rPr lang="en-US" altLang="ko-KR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Step 5. </a:t>
              </a:r>
              <a:br>
                <a:rPr lang="en-US" altLang="ko-KR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</a:br>
              <a:r>
                <a:rPr lang="ko-KR" altLang="en-US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지능형 검색 기반 구축</a:t>
              </a:r>
            </a:p>
          </p:txBody>
        </p:sp>
        <p:sp>
          <p:nvSpPr>
            <p:cNvPr id="168" name="사각형: 둥근 모서리 167">
              <a:extLst>
                <a:ext uri="{FF2B5EF4-FFF2-40B4-BE49-F238E27FC236}">
                  <a16:creationId xmlns:a16="http://schemas.microsoft.com/office/drawing/2014/main" id="{48DE3797-A0E2-D9D1-39D7-D5A20AE91E86}"/>
                </a:ext>
              </a:extLst>
            </p:cNvPr>
            <p:cNvSpPr/>
            <p:nvPr/>
          </p:nvSpPr>
          <p:spPr>
            <a:xfrm>
              <a:off x="1317932" y="6287437"/>
              <a:ext cx="195576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검색 대상 데이터 정비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69" name="사각형: 둥근 모서리 168">
              <a:extLst>
                <a:ext uri="{FF2B5EF4-FFF2-40B4-BE49-F238E27FC236}">
                  <a16:creationId xmlns:a16="http://schemas.microsoft.com/office/drawing/2014/main" id="{4D4C4B3D-DC53-A0CD-D12C-3D8C8EC9E734}"/>
                </a:ext>
              </a:extLst>
            </p:cNvPr>
            <p:cNvSpPr/>
            <p:nvPr/>
          </p:nvSpPr>
          <p:spPr>
            <a:xfrm>
              <a:off x="3453641" y="6287437"/>
              <a:ext cx="195576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검색 필요 정보 선별 및 벡터화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70" name="사각형: 둥근 모서리 169">
              <a:extLst>
                <a:ext uri="{FF2B5EF4-FFF2-40B4-BE49-F238E27FC236}">
                  <a16:creationId xmlns:a16="http://schemas.microsoft.com/office/drawing/2014/main" id="{6449A4D5-1EE6-E5D6-E513-69238E98C70F}"/>
                </a:ext>
              </a:extLst>
            </p:cNvPr>
            <p:cNvSpPr/>
            <p:nvPr/>
          </p:nvSpPr>
          <p:spPr>
            <a:xfrm>
              <a:off x="1317932" y="6738795"/>
              <a:ext cx="195576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온톨로지 및 지식 </a:t>
              </a:r>
              <a:r>
                <a:rPr lang="en-US" altLang="ko-KR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DB</a:t>
              </a: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 구축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71" name="사각형: 둥근 모서리 170">
              <a:extLst>
                <a:ext uri="{FF2B5EF4-FFF2-40B4-BE49-F238E27FC236}">
                  <a16:creationId xmlns:a16="http://schemas.microsoft.com/office/drawing/2014/main" id="{58535A85-1891-C912-258A-B885EB8DDABB}"/>
                </a:ext>
              </a:extLst>
            </p:cNvPr>
            <p:cNvSpPr/>
            <p:nvPr/>
          </p:nvSpPr>
          <p:spPr>
            <a:xfrm>
              <a:off x="3453641" y="6738795"/>
              <a:ext cx="195576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검색 정확도 검증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0C916345-D14F-D71C-252C-9348DBFBCCFB}"/>
                </a:ext>
              </a:extLst>
            </p:cNvPr>
            <p:cNvSpPr/>
            <p:nvPr/>
          </p:nvSpPr>
          <p:spPr>
            <a:xfrm>
              <a:off x="5589352" y="6257952"/>
              <a:ext cx="995758" cy="879747"/>
            </a:xfrm>
            <a:prstGeom prst="roundRect">
              <a:avLst>
                <a:gd name="adj" fmla="val 0"/>
              </a:avLst>
            </a:prstGeom>
            <a:solidFill>
              <a:srgbClr val="D7EAF2"/>
            </a:solidFill>
            <a:ln>
              <a:solidFill>
                <a:srgbClr val="BADBE8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600"/>
                </a:spcBef>
              </a:pPr>
              <a:r>
                <a:rPr lang="ko-KR" altLang="en-US" sz="12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온톨로지 및 지식 </a:t>
              </a:r>
              <a:r>
                <a:rPr lang="en-US" altLang="ko-KR" sz="12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DB</a:t>
              </a:r>
              <a:endPara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cxnSp>
          <p:nvCxnSpPr>
            <p:cNvPr id="173" name="직선 화살표 연결선 172">
              <a:extLst>
                <a:ext uri="{FF2B5EF4-FFF2-40B4-BE49-F238E27FC236}">
                  <a16:creationId xmlns:a16="http://schemas.microsoft.com/office/drawing/2014/main" id="{B670E7C3-31E5-9B63-8B0B-40C599D535B6}"/>
                </a:ext>
              </a:extLst>
            </p:cNvPr>
            <p:cNvCxnSpPr>
              <a:stCxn id="168" idx="3"/>
              <a:endCxn id="169" idx="1"/>
            </p:cNvCxnSpPr>
            <p:nvPr/>
          </p:nvCxnSpPr>
          <p:spPr>
            <a:xfrm>
              <a:off x="3273697" y="6464066"/>
              <a:ext cx="179944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직선 화살표 연결선 173">
              <a:extLst>
                <a:ext uri="{FF2B5EF4-FFF2-40B4-BE49-F238E27FC236}">
                  <a16:creationId xmlns:a16="http://schemas.microsoft.com/office/drawing/2014/main" id="{E4D2FC59-04FF-A731-BA4E-A787686442BF}"/>
                </a:ext>
              </a:extLst>
            </p:cNvPr>
            <p:cNvCxnSpPr>
              <a:stCxn id="170" idx="3"/>
              <a:endCxn id="171" idx="1"/>
            </p:cNvCxnSpPr>
            <p:nvPr/>
          </p:nvCxnSpPr>
          <p:spPr>
            <a:xfrm>
              <a:off x="3273697" y="6915424"/>
              <a:ext cx="179944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연결선: 꺾임 174">
              <a:extLst>
                <a:ext uri="{FF2B5EF4-FFF2-40B4-BE49-F238E27FC236}">
                  <a16:creationId xmlns:a16="http://schemas.microsoft.com/office/drawing/2014/main" id="{D1414A39-2D5B-7F93-9CD4-4C0A0619566D}"/>
                </a:ext>
              </a:extLst>
            </p:cNvPr>
            <p:cNvCxnSpPr>
              <a:stCxn id="169" idx="2"/>
              <a:endCxn id="170" idx="0"/>
            </p:cNvCxnSpPr>
            <p:nvPr/>
          </p:nvCxnSpPr>
          <p:spPr>
            <a:xfrm rot="5400000">
              <a:off x="3314620" y="5621891"/>
              <a:ext cx="98100" cy="2135709"/>
            </a:xfrm>
            <a:prstGeom prst="bentConnector3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A4733561-DA11-243A-6F53-A9D487294136}"/>
              </a:ext>
            </a:extLst>
          </p:cNvPr>
          <p:cNvSpPr/>
          <p:nvPr/>
        </p:nvSpPr>
        <p:spPr>
          <a:xfrm>
            <a:off x="333477" y="7024568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B7590858-D4DF-1CF3-E557-3EC240EF84CB}"/>
              </a:ext>
            </a:extLst>
          </p:cNvPr>
          <p:cNvCxnSpPr>
            <a:cxnSpLocks/>
          </p:cNvCxnSpPr>
          <p:nvPr/>
        </p:nvCxnSpPr>
        <p:spPr>
          <a:xfrm>
            <a:off x="1178023" y="7121609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TextBox 177">
            <a:extLst>
              <a:ext uri="{FF2B5EF4-FFF2-40B4-BE49-F238E27FC236}">
                <a16:creationId xmlns:a16="http://schemas.microsoft.com/office/drawing/2014/main" id="{030A4FE4-93A7-EB77-56BE-5E8F23F4B595}"/>
              </a:ext>
            </a:extLst>
          </p:cNvPr>
          <p:cNvSpPr txBox="1"/>
          <p:nvPr/>
        </p:nvSpPr>
        <p:spPr>
          <a:xfrm flipH="1">
            <a:off x="328468" y="7079950"/>
            <a:ext cx="853140" cy="9048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6.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제공 및 대용량 전송 구현</a:t>
            </a:r>
          </a:p>
        </p:txBody>
      </p:sp>
      <p:sp>
        <p:nvSpPr>
          <p:cNvPr id="179" name="사각형: 둥근 모서리 178">
            <a:extLst>
              <a:ext uri="{FF2B5EF4-FFF2-40B4-BE49-F238E27FC236}">
                <a16:creationId xmlns:a16="http://schemas.microsoft.com/office/drawing/2014/main" id="{E2BF2B35-3C95-ED5B-34F7-60AC92F1A52C}"/>
              </a:ext>
            </a:extLst>
          </p:cNvPr>
          <p:cNvSpPr/>
          <p:nvPr/>
        </p:nvSpPr>
        <p:spPr>
          <a:xfrm>
            <a:off x="1317932" y="7103883"/>
            <a:ext cx="1955765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 확인 기능 제공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0" name="사각형: 둥근 모서리 179">
            <a:extLst>
              <a:ext uri="{FF2B5EF4-FFF2-40B4-BE49-F238E27FC236}">
                <a16:creationId xmlns:a16="http://schemas.microsoft.com/office/drawing/2014/main" id="{1187B19A-76D5-9ACA-2A53-D1098E26269E}"/>
              </a:ext>
            </a:extLst>
          </p:cNvPr>
          <p:cNvSpPr/>
          <p:nvPr/>
        </p:nvSpPr>
        <p:spPr>
          <a:xfrm>
            <a:off x="3453641" y="7103883"/>
            <a:ext cx="1955765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미리보기 및 부분 제공 구현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7EFED967-5C0F-5022-BBDB-BB050A21C8E9}"/>
              </a:ext>
            </a:extLst>
          </p:cNvPr>
          <p:cNvSpPr/>
          <p:nvPr/>
        </p:nvSpPr>
        <p:spPr>
          <a:xfrm>
            <a:off x="1317932" y="7425937"/>
            <a:ext cx="1955765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다운로드 구현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B98271CF-FDEC-9707-9B60-A66AE2606F4E}"/>
              </a:ext>
            </a:extLst>
          </p:cNvPr>
          <p:cNvSpPr/>
          <p:nvPr/>
        </p:nvSpPr>
        <p:spPr>
          <a:xfrm>
            <a:off x="3453641" y="7425937"/>
            <a:ext cx="1955765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기능 구현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2D62E593-A7E9-E161-1F33-99787344BB80}"/>
              </a:ext>
            </a:extLst>
          </p:cNvPr>
          <p:cNvSpPr/>
          <p:nvPr/>
        </p:nvSpPr>
        <p:spPr>
          <a:xfrm>
            <a:off x="5589352" y="7074398"/>
            <a:ext cx="995758" cy="87974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제공 및 대용량 전송 기능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C2287245-88FD-2E9D-30A1-17615A2D22B1}"/>
              </a:ext>
            </a:extLst>
          </p:cNvPr>
          <p:cNvCxnSpPr>
            <a:cxnSpLocks/>
            <a:stCxn id="179" idx="3"/>
            <a:endCxn id="180" idx="1"/>
          </p:cNvCxnSpPr>
          <p:nvPr/>
        </p:nvCxnSpPr>
        <p:spPr>
          <a:xfrm>
            <a:off x="3273697" y="7215860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직선 화살표 연결선 184">
            <a:extLst>
              <a:ext uri="{FF2B5EF4-FFF2-40B4-BE49-F238E27FC236}">
                <a16:creationId xmlns:a16="http://schemas.microsoft.com/office/drawing/2014/main" id="{AD6A259A-77B5-7E4F-733B-9C11262D2F07}"/>
              </a:ext>
            </a:extLst>
          </p:cNvPr>
          <p:cNvCxnSpPr>
            <a:cxnSpLocks/>
            <a:stCxn id="181" idx="3"/>
            <a:endCxn id="182" idx="1"/>
          </p:cNvCxnSpPr>
          <p:nvPr/>
        </p:nvCxnSpPr>
        <p:spPr>
          <a:xfrm>
            <a:off x="3273697" y="7537914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연결선: 꺾임 185">
            <a:extLst>
              <a:ext uri="{FF2B5EF4-FFF2-40B4-BE49-F238E27FC236}">
                <a16:creationId xmlns:a16="http://schemas.microsoft.com/office/drawing/2014/main" id="{21C1D29C-B62D-90E0-C03B-BA55E94F7271}"/>
              </a:ext>
            </a:extLst>
          </p:cNvPr>
          <p:cNvCxnSpPr>
            <a:cxnSpLocks/>
            <a:stCxn id="180" idx="2"/>
            <a:endCxn id="181" idx="0"/>
          </p:cNvCxnSpPr>
          <p:nvPr/>
        </p:nvCxnSpPr>
        <p:spPr>
          <a:xfrm rot="5400000">
            <a:off x="3314620" y="6309033"/>
            <a:ext cx="98100" cy="213570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2B551C4F-110E-C34C-5765-6B4B1449F5D0}"/>
              </a:ext>
            </a:extLst>
          </p:cNvPr>
          <p:cNvGrpSpPr/>
          <p:nvPr/>
        </p:nvGrpSpPr>
        <p:grpSpPr>
          <a:xfrm>
            <a:off x="328468" y="8039018"/>
            <a:ext cx="6256642" cy="768481"/>
            <a:chOff x="328468" y="8039018"/>
            <a:chExt cx="6256642" cy="981724"/>
          </a:xfrm>
        </p:grpSpPr>
        <p:sp>
          <p:nvSpPr>
            <p:cNvPr id="187" name="직사각형 186">
              <a:extLst>
                <a:ext uri="{FF2B5EF4-FFF2-40B4-BE49-F238E27FC236}">
                  <a16:creationId xmlns:a16="http://schemas.microsoft.com/office/drawing/2014/main" id="{0A2683B6-0B2E-9CDD-0437-52CDCB3370AB}"/>
                </a:ext>
              </a:extLst>
            </p:cNvPr>
            <p:cNvSpPr/>
            <p:nvPr/>
          </p:nvSpPr>
          <p:spPr>
            <a:xfrm>
              <a:off x="333477" y="8039018"/>
              <a:ext cx="5152923" cy="981724"/>
            </a:xfrm>
            <a:prstGeom prst="rect">
              <a:avLst/>
            </a:prstGeom>
            <a:noFill/>
            <a:ln>
              <a:solidFill>
                <a:srgbClr val="BADBE8"/>
              </a:solidFill>
            </a:ln>
            <a:effectLst>
              <a:outerShdw blurRad="241300" dist="38100" dir="5400000" algn="t" rotWithShape="0">
                <a:srgbClr val="9DCCDF">
                  <a:alpha val="16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BECF0B57-7D56-C4B0-83DD-A278D6403C43}"/>
                </a:ext>
              </a:extLst>
            </p:cNvPr>
            <p:cNvCxnSpPr>
              <a:cxnSpLocks/>
            </p:cNvCxnSpPr>
            <p:nvPr/>
          </p:nvCxnSpPr>
          <p:spPr>
            <a:xfrm>
              <a:off x="1178023" y="8136059"/>
              <a:ext cx="0" cy="805433"/>
            </a:xfrm>
            <a:prstGeom prst="line">
              <a:avLst/>
            </a:prstGeom>
            <a:ln w="12700">
              <a:solidFill>
                <a:srgbClr val="9DCCD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4972E5FE-FD40-E5C6-9AC3-EFBFD6D8F61C}"/>
                </a:ext>
              </a:extLst>
            </p:cNvPr>
            <p:cNvSpPr txBox="1"/>
            <p:nvPr/>
          </p:nvSpPr>
          <p:spPr>
            <a:xfrm flipH="1">
              <a:off x="328468" y="8086343"/>
              <a:ext cx="853140" cy="90486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20000"/>
                </a:lnSpc>
                <a:spcBef>
                  <a:spcPts val="400"/>
                </a:spcBef>
              </a:pPr>
              <a:r>
                <a:rPr lang="en-US" altLang="ko-KR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Step 7. </a:t>
              </a:r>
              <a:br>
                <a:rPr lang="en-US" altLang="ko-KR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</a:br>
              <a:r>
                <a:rPr lang="ko-KR" altLang="en-US" sz="11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머신리더블</a:t>
              </a:r>
              <a:r>
                <a:rPr lang="ko-KR" altLang="en-US" sz="11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194EA7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 정보 서비스 구현</a:t>
              </a: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6EF77A1E-AF07-5A75-17A0-84212A83CBD7}"/>
                </a:ext>
              </a:extLst>
            </p:cNvPr>
            <p:cNvSpPr/>
            <p:nvPr/>
          </p:nvSpPr>
          <p:spPr>
            <a:xfrm>
              <a:off x="1317932" y="8118333"/>
              <a:ext cx="195576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정보 표준화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91" name="사각형: 둥근 모서리 190">
              <a:extLst>
                <a:ext uri="{FF2B5EF4-FFF2-40B4-BE49-F238E27FC236}">
                  <a16:creationId xmlns:a16="http://schemas.microsoft.com/office/drawing/2014/main" id="{950DFCCF-0B66-2269-AF67-BF7F6C27745E}"/>
                </a:ext>
              </a:extLst>
            </p:cNvPr>
            <p:cNvSpPr/>
            <p:nvPr/>
          </p:nvSpPr>
          <p:spPr>
            <a:xfrm>
              <a:off x="3453641" y="8118333"/>
              <a:ext cx="1955765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기계 판독 인터페이스 제공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92" name="사각형: 둥근 모서리 191">
              <a:extLst>
                <a:ext uri="{FF2B5EF4-FFF2-40B4-BE49-F238E27FC236}">
                  <a16:creationId xmlns:a16="http://schemas.microsoft.com/office/drawing/2014/main" id="{B9548241-D6D5-C16B-24EC-8222B6521FE7}"/>
                </a:ext>
              </a:extLst>
            </p:cNvPr>
            <p:cNvSpPr/>
            <p:nvPr/>
          </p:nvSpPr>
          <p:spPr>
            <a:xfrm>
              <a:off x="1317932" y="8569691"/>
              <a:ext cx="4091473" cy="353258"/>
            </a:xfrm>
            <a:prstGeom prst="roundRect">
              <a:avLst>
                <a:gd name="adj" fmla="val 2315"/>
              </a:avLst>
            </a:prstGeom>
            <a:solidFill>
              <a:srgbClr val="D7EAF2"/>
            </a:solidFill>
            <a:ln w="12700">
              <a:solidFill>
                <a:srgbClr val="215F9A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ko-KR" altLang="en-US" sz="10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접근 권한 관리</a:t>
              </a:r>
              <a:endPara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94" name="사각형: 둥근 모서리 193">
              <a:extLst>
                <a:ext uri="{FF2B5EF4-FFF2-40B4-BE49-F238E27FC236}">
                  <a16:creationId xmlns:a16="http://schemas.microsoft.com/office/drawing/2014/main" id="{D9F66624-1D97-3D9B-D010-E586E716E560}"/>
                </a:ext>
              </a:extLst>
            </p:cNvPr>
            <p:cNvSpPr/>
            <p:nvPr/>
          </p:nvSpPr>
          <p:spPr>
            <a:xfrm>
              <a:off x="5589352" y="8088848"/>
              <a:ext cx="995758" cy="879747"/>
            </a:xfrm>
            <a:prstGeom prst="roundRect">
              <a:avLst>
                <a:gd name="adj" fmla="val 0"/>
              </a:avLst>
            </a:prstGeom>
            <a:solidFill>
              <a:srgbClr val="D7EAF2"/>
            </a:solidFill>
            <a:ln>
              <a:solidFill>
                <a:srgbClr val="BADBE8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600"/>
                </a:spcBef>
              </a:pPr>
              <a:r>
                <a:rPr lang="ko-KR" altLang="en-US" sz="12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머신리더블</a:t>
              </a:r>
              <a:r>
                <a:rPr lang="ko-KR" altLang="en-US" sz="12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 정보 서비스</a:t>
              </a:r>
            </a:p>
          </p:txBody>
        </p:sp>
        <p:cxnSp>
          <p:nvCxnSpPr>
            <p:cNvPr id="195" name="직선 화살표 연결선 194">
              <a:extLst>
                <a:ext uri="{FF2B5EF4-FFF2-40B4-BE49-F238E27FC236}">
                  <a16:creationId xmlns:a16="http://schemas.microsoft.com/office/drawing/2014/main" id="{3DC6A4E2-82F7-71DC-C0E1-CEBCD4723446}"/>
                </a:ext>
              </a:extLst>
            </p:cNvPr>
            <p:cNvCxnSpPr>
              <a:stCxn id="190" idx="3"/>
              <a:endCxn id="191" idx="1"/>
            </p:cNvCxnSpPr>
            <p:nvPr/>
          </p:nvCxnSpPr>
          <p:spPr>
            <a:xfrm>
              <a:off x="3273697" y="8294962"/>
              <a:ext cx="179944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연결선: 꺾임 196">
              <a:extLst>
                <a:ext uri="{FF2B5EF4-FFF2-40B4-BE49-F238E27FC236}">
                  <a16:creationId xmlns:a16="http://schemas.microsoft.com/office/drawing/2014/main" id="{9C98B7F4-D40A-7B48-2087-3C4120ABB92B}"/>
                </a:ext>
              </a:extLst>
            </p:cNvPr>
            <p:cNvCxnSpPr>
              <a:cxnSpLocks/>
              <a:stCxn id="191" idx="2"/>
              <a:endCxn id="192" idx="0"/>
            </p:cNvCxnSpPr>
            <p:nvPr/>
          </p:nvCxnSpPr>
          <p:spPr>
            <a:xfrm rot="5400000">
              <a:off x="3848547" y="7986714"/>
              <a:ext cx="98100" cy="1067855"/>
            </a:xfrm>
            <a:prstGeom prst="bentConnector3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더하기 기호 204">
            <a:extLst>
              <a:ext uri="{FF2B5EF4-FFF2-40B4-BE49-F238E27FC236}">
                <a16:creationId xmlns:a16="http://schemas.microsoft.com/office/drawing/2014/main" id="{BFA9714B-90A4-30AA-B3A6-E77C913D02B4}"/>
              </a:ext>
            </a:extLst>
          </p:cNvPr>
          <p:cNvSpPr/>
          <p:nvPr/>
        </p:nvSpPr>
        <p:spPr>
          <a:xfrm>
            <a:off x="3221936" y="4775629"/>
            <a:ext cx="321512" cy="321512"/>
          </a:xfrm>
          <a:prstGeom prst="mathPlus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6" name="사각형: 둥근 모서리 205">
            <a:extLst>
              <a:ext uri="{FF2B5EF4-FFF2-40B4-BE49-F238E27FC236}">
                <a16:creationId xmlns:a16="http://schemas.microsoft.com/office/drawing/2014/main" id="{204984C5-A7E2-48A8-254C-1F464A5F47BA}"/>
              </a:ext>
            </a:extLst>
          </p:cNvPr>
          <p:cNvSpPr/>
          <p:nvPr/>
        </p:nvSpPr>
        <p:spPr>
          <a:xfrm>
            <a:off x="1317932" y="4147496"/>
            <a:ext cx="4091474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거버넌스 사업 연계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2" name="더하기 기호 211">
            <a:extLst>
              <a:ext uri="{FF2B5EF4-FFF2-40B4-BE49-F238E27FC236}">
                <a16:creationId xmlns:a16="http://schemas.microsoft.com/office/drawing/2014/main" id="{6E943F55-03AE-5626-2C67-94A741064936}"/>
              </a:ext>
            </a:extLst>
          </p:cNvPr>
          <p:cNvSpPr/>
          <p:nvPr/>
        </p:nvSpPr>
        <p:spPr>
          <a:xfrm>
            <a:off x="3190186" y="3682028"/>
            <a:ext cx="321512" cy="321512"/>
          </a:xfrm>
          <a:prstGeom prst="mathPlus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3" name="사각형: 둥근 모서리 222">
            <a:extLst>
              <a:ext uri="{FF2B5EF4-FFF2-40B4-BE49-F238E27FC236}">
                <a16:creationId xmlns:a16="http://schemas.microsoft.com/office/drawing/2014/main" id="{2526BAB6-15B5-09ED-0936-78F29885E038}"/>
              </a:ext>
            </a:extLst>
          </p:cNvPr>
          <p:cNvSpPr/>
          <p:nvPr/>
        </p:nvSpPr>
        <p:spPr>
          <a:xfrm>
            <a:off x="1317933" y="7726349"/>
            <a:ext cx="4091474" cy="2239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동시 접속 및 장애 복구 대비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96DAB3E-8FB4-4D46-F1AD-38FB9CA0C7AD}"/>
              </a:ext>
            </a:extLst>
          </p:cNvPr>
          <p:cNvSpPr/>
          <p:nvPr/>
        </p:nvSpPr>
        <p:spPr>
          <a:xfrm>
            <a:off x="333477" y="8847034"/>
            <a:ext cx="5152923" cy="768481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D3E0D336-1464-B739-E1CA-26323337462D}"/>
              </a:ext>
            </a:extLst>
          </p:cNvPr>
          <p:cNvCxnSpPr>
            <a:cxnSpLocks/>
          </p:cNvCxnSpPr>
          <p:nvPr/>
        </p:nvCxnSpPr>
        <p:spPr>
          <a:xfrm>
            <a:off x="1178023" y="8922996"/>
            <a:ext cx="0" cy="63048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TextBox 234">
            <a:extLst>
              <a:ext uri="{FF2B5EF4-FFF2-40B4-BE49-F238E27FC236}">
                <a16:creationId xmlns:a16="http://schemas.microsoft.com/office/drawing/2014/main" id="{48E2B369-39A5-02B3-4B58-DF969A0A4F3C}"/>
              </a:ext>
            </a:extLst>
          </p:cNvPr>
          <p:cNvSpPr txBox="1"/>
          <p:nvPr/>
        </p:nvSpPr>
        <p:spPr>
          <a:xfrm flipH="1">
            <a:off x="324883" y="8785805"/>
            <a:ext cx="860310" cy="9048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8.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방법론 적용 및 시험</a:t>
            </a: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4DF1D10A-1659-7A00-9DE5-4317C8C6F0EE}"/>
              </a:ext>
            </a:extLst>
          </p:cNvPr>
          <p:cNvSpPr/>
          <p:nvPr/>
        </p:nvSpPr>
        <p:spPr>
          <a:xfrm>
            <a:off x="1317932" y="8909121"/>
            <a:ext cx="1955765" cy="276526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방법론 적용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37" name="사각형: 둥근 모서리 236">
            <a:extLst>
              <a:ext uri="{FF2B5EF4-FFF2-40B4-BE49-F238E27FC236}">
                <a16:creationId xmlns:a16="http://schemas.microsoft.com/office/drawing/2014/main" id="{C733E5A5-7C63-5EA3-8653-631C000F6512}"/>
              </a:ext>
            </a:extLst>
          </p:cNvPr>
          <p:cNvSpPr/>
          <p:nvPr/>
        </p:nvSpPr>
        <p:spPr>
          <a:xfrm>
            <a:off x="3453641" y="8909121"/>
            <a:ext cx="1955765" cy="276526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프로토타입 확인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38" name="사각형: 둥근 모서리 237">
            <a:extLst>
              <a:ext uri="{FF2B5EF4-FFF2-40B4-BE49-F238E27FC236}">
                <a16:creationId xmlns:a16="http://schemas.microsoft.com/office/drawing/2014/main" id="{8D099629-467B-F516-6473-204CABE19808}"/>
              </a:ext>
            </a:extLst>
          </p:cNvPr>
          <p:cNvSpPr/>
          <p:nvPr/>
        </p:nvSpPr>
        <p:spPr>
          <a:xfrm>
            <a:off x="1317932" y="9349502"/>
            <a:ext cx="1955765" cy="2150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시험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39" name="사각형: 둥근 모서리 238">
            <a:extLst>
              <a:ext uri="{FF2B5EF4-FFF2-40B4-BE49-F238E27FC236}">
                <a16:creationId xmlns:a16="http://schemas.microsoft.com/office/drawing/2014/main" id="{5907828D-02EC-ACB7-6F54-2949DEE6E8F3}"/>
              </a:ext>
            </a:extLst>
          </p:cNvPr>
          <p:cNvSpPr/>
          <p:nvPr/>
        </p:nvSpPr>
        <p:spPr>
          <a:xfrm>
            <a:off x="5589352" y="8886040"/>
            <a:ext cx="995758" cy="688655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정보 서비스</a:t>
            </a:r>
          </a:p>
        </p:txBody>
      </p:sp>
      <p:cxnSp>
        <p:nvCxnSpPr>
          <p:cNvPr id="240" name="직선 화살표 연결선 239">
            <a:extLst>
              <a:ext uri="{FF2B5EF4-FFF2-40B4-BE49-F238E27FC236}">
                <a16:creationId xmlns:a16="http://schemas.microsoft.com/office/drawing/2014/main" id="{49FE7099-58AC-2E60-B9DB-4ABCE4B2B8AE}"/>
              </a:ext>
            </a:extLst>
          </p:cNvPr>
          <p:cNvCxnSpPr>
            <a:stCxn id="236" idx="3"/>
            <a:endCxn id="237" idx="1"/>
          </p:cNvCxnSpPr>
          <p:nvPr/>
        </p:nvCxnSpPr>
        <p:spPr>
          <a:xfrm>
            <a:off x="3273697" y="9047384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사각형: 둥근 모서리 243">
            <a:extLst>
              <a:ext uri="{FF2B5EF4-FFF2-40B4-BE49-F238E27FC236}">
                <a16:creationId xmlns:a16="http://schemas.microsoft.com/office/drawing/2014/main" id="{B350E032-5E0C-3391-3C55-960CD0B7B956}"/>
              </a:ext>
            </a:extLst>
          </p:cNvPr>
          <p:cNvSpPr/>
          <p:nvPr/>
        </p:nvSpPr>
        <p:spPr>
          <a:xfrm>
            <a:off x="3453640" y="9349502"/>
            <a:ext cx="1955765" cy="215054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안정성 우선 확보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6" name="이등변 삼각형 245">
            <a:extLst>
              <a:ext uri="{FF2B5EF4-FFF2-40B4-BE49-F238E27FC236}">
                <a16:creationId xmlns:a16="http://schemas.microsoft.com/office/drawing/2014/main" id="{870310E1-6931-FE27-4195-DE2DC0909C57}"/>
              </a:ext>
            </a:extLst>
          </p:cNvPr>
          <p:cNvSpPr/>
          <p:nvPr/>
        </p:nvSpPr>
        <p:spPr>
          <a:xfrm>
            <a:off x="2361209" y="9236514"/>
            <a:ext cx="2041963" cy="75669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287764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6806A-9A8B-9570-3DAC-10029FFD13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F934D9D-8CA6-B4D2-2368-63509EB1EDD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B0D5576-9299-9341-EDDF-4D6BFC964FD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B769CD-6FE7-7F2D-1B72-26B2110169E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계층별 시스템 구조 설계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5A10260-1FEC-0E09-001C-BEC67C1BABE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1FDA71-5C1E-5E6F-3233-38F629B7AC9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시스템을 표현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계층으로 구조화하고 응용 계층을 결합도 낮은 모듈형으로 분리하여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확장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독립 배포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 격리가 가능한 확장형 아키텍처를 설계함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6E51C8B-666B-B9CB-6311-321759969E5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F7100CF-26AE-A5EE-22CD-BC76806B0A3B}"/>
              </a:ext>
            </a:extLst>
          </p:cNvPr>
          <p:cNvSpPr txBox="1"/>
          <p:nvPr/>
        </p:nvSpPr>
        <p:spPr>
          <a:xfrm>
            <a:off x="335012" y="2371141"/>
            <a:ext cx="37188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시스템의 계층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모듈화를 통한 확장형 아키텍처 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4DF0EC5-9EC2-DE98-7A2D-90449DD90E2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DR-016, DR-017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55A0A200-BF55-5823-08A2-2770A0D2612D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C9742EF-F115-3E87-7BA7-1CBC8AD6A39A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 설계 목적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기능별 독립성과 확장성을 확보하기 위해 시스템을 계층으로 분리하고 응용 계층을 모듈형으로 설계하여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유지보수성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 격리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확장을 확보함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(DR-016·DR-017)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 간에는 인터페이스 기반 연계를 적용하고 계층 내부 변경이 타 계층에 파급되지 않도록 설계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사업기간을 고려하여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 모듈 우선 구축 후 확장 모듈을 단계 추가하는 구조로 설계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406CC4-A271-D640-D838-3A1B83D8A327}"/>
              </a:ext>
            </a:extLst>
          </p:cNvPr>
          <p:cNvSpPr/>
          <p:nvPr/>
        </p:nvSpPr>
        <p:spPr>
          <a:xfrm>
            <a:off x="316309" y="3735879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 구조 정의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응용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인프라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계층으로 역할을 분리하고 계층 간 호출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관계를 정의함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7" name="Table 0">
            <a:extLst>
              <a:ext uri="{FF2B5EF4-FFF2-40B4-BE49-F238E27FC236}">
                <a16:creationId xmlns:a16="http://schemas.microsoft.com/office/drawing/2014/main" id="{995C8B34-76A4-90D1-78DD-8A6421C885B4}"/>
              </a:ext>
            </a:extLst>
          </p:cNvPr>
          <p:cNvGraphicFramePr>
            <a:graphicFrameLocks noGrp="1"/>
          </p:cNvGraphicFramePr>
          <p:nvPr/>
        </p:nvGraphicFramePr>
        <p:xfrm>
          <a:off x="355091" y="4025320"/>
          <a:ext cx="6160009" cy="1120141"/>
        </p:xfrm>
        <a:graphic>
          <a:graphicData uri="http://schemas.openxmlformats.org/drawingml/2006/table">
            <a:tbl>
              <a:tblPr/>
              <a:tblGrid>
                <a:gridCol w="12984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408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697480">
                  <a:extLst>
                    <a:ext uri="{9D8B030D-6E8A-4147-A177-3AD203B41FA5}">
                      <a16:colId xmlns:a16="http://schemas.microsoft.com/office/drawing/2014/main" val="720923193"/>
                    </a:ext>
                  </a:extLst>
                </a:gridCol>
              </a:tblGrid>
              <a:tr h="19767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90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구성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49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접점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포털 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UI,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 표준</a:t>
                      </a:r>
                      <a:endParaRPr lang="en-US" altLang="ko-KR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49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처리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모듈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모듈형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8449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내외부 연동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게이트웨이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REST·OpenAPI</a:t>
                      </a:r>
                      <a:endParaRPr lang="ko-KR" altLang="en-US" sz="8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18449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코드체계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저장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411873"/>
                  </a:ext>
                </a:extLst>
              </a:tr>
              <a:tr h="18449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기반 자원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클라우드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네트워크</a:t>
                      </a:r>
                      <a:r>
                        <a:rPr lang="en-US" altLang="ko-KR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8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92034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F77C898C-813E-807F-A4EE-32AD1BB21262}"/>
              </a:ext>
            </a:extLst>
          </p:cNvPr>
          <p:cNvSpPr/>
          <p:nvPr/>
        </p:nvSpPr>
        <p:spPr>
          <a:xfrm>
            <a:off x="316309" y="5168713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분리 원칙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응용 계층을 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모듈로 분리하고 모듈 간 결합도를 낮춰 인터페이스 기반으로 연계함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 모듈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워크스페이스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외부제공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운영지원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모듈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파일처리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 등 여러 계층 공용 기능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모듈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카탈로그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 연계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 분석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D486A8E-B12A-4B59-E3CE-EB230E05EFD8}"/>
              </a:ext>
            </a:extLst>
          </p:cNvPr>
          <p:cNvSpPr/>
          <p:nvPr/>
        </p:nvSpPr>
        <p:spPr>
          <a:xfrm>
            <a:off x="316309" y="6482021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간 연계를 </a:t>
            </a:r>
            <a:r>
              <a:rPr kumimoji="1" lang="en-US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REST·OpenAPI·JSON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/XML·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메시지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 표준으로 정의하고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API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게이트웨이를 통해 인증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라우팅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버전관리를 일원화함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오류코드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버전관리 정책을 인터페이스별 표준으로 규정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D540CC5-A651-693F-17A9-3B5D8F65D4C3}"/>
              </a:ext>
            </a:extLst>
          </p:cNvPr>
          <p:cNvSpPr/>
          <p:nvPr/>
        </p:nvSpPr>
        <p:spPr>
          <a:xfrm>
            <a:off x="316309" y="7312144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 격리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기능 추가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연계 확대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일부 모듈 독립 배포가 가능하도록 구조를 설계하고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비동기 처리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 처리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게이트웨이로 장애를 격리함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대량 처리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는 비동기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배치로 분리하여 서비스 성능 영향을 최소화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(COR-001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특정 모듈 장애가 전체 서비스로 확산되지 않도록 격리 경계 설정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E103B388-612D-6A96-18D3-F9E75FDD7101}"/>
              </a:ext>
            </a:extLst>
          </p:cNvPr>
          <p:cNvSpPr/>
          <p:nvPr/>
        </p:nvSpPr>
        <p:spPr>
          <a:xfrm>
            <a:off x="31589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위쪽 모서리 24">
            <a:extLst>
              <a:ext uri="{FF2B5EF4-FFF2-40B4-BE49-F238E27FC236}">
                <a16:creationId xmlns:a16="http://schemas.microsoft.com/office/drawing/2014/main" id="{D76F5E24-9FCB-5917-2403-946B61B7817F}"/>
              </a:ext>
            </a:extLst>
          </p:cNvPr>
          <p:cNvSpPr/>
          <p:nvPr/>
        </p:nvSpPr>
        <p:spPr>
          <a:xfrm>
            <a:off x="315897" y="8902556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 분리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B4004D4-3160-48AB-255E-CF849DB9C357}"/>
              </a:ext>
            </a:extLst>
          </p:cNvPr>
          <p:cNvSpPr txBox="1"/>
          <p:nvPr/>
        </p:nvSpPr>
        <p:spPr>
          <a:xfrm>
            <a:off x="31589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응용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계층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47E9098F-9812-CF4F-FFE3-D299189BD0D5}"/>
              </a:ext>
            </a:extLst>
          </p:cNvPr>
          <p:cNvSpPr/>
          <p:nvPr/>
        </p:nvSpPr>
        <p:spPr>
          <a:xfrm>
            <a:off x="189650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154853FD-8523-9C4A-F662-5C3B5BBB57B2}"/>
              </a:ext>
            </a:extLst>
          </p:cNvPr>
          <p:cNvSpPr/>
          <p:nvPr/>
        </p:nvSpPr>
        <p:spPr>
          <a:xfrm>
            <a:off x="1896507" y="8902556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모듈 분리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CF137AA-1B94-53D8-B872-2E4FDCA4DA09}"/>
              </a:ext>
            </a:extLst>
          </p:cNvPr>
          <p:cNvSpPr txBox="1"/>
          <p:nvPr/>
        </p:nvSpPr>
        <p:spPr>
          <a:xfrm>
            <a:off x="189650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공통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 모듈 결합도 최소화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D3EFB157-A32E-2E6E-DD90-653406602D87}"/>
              </a:ext>
            </a:extLst>
          </p:cNvPr>
          <p:cNvSpPr/>
          <p:nvPr/>
        </p:nvSpPr>
        <p:spPr>
          <a:xfrm>
            <a:off x="347711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사각형: 둥근 위쪽 모서리 37">
            <a:extLst>
              <a:ext uri="{FF2B5EF4-FFF2-40B4-BE49-F238E27FC236}">
                <a16:creationId xmlns:a16="http://schemas.microsoft.com/office/drawing/2014/main" id="{2959D951-E1CF-E46B-AD72-7DF692158B86}"/>
              </a:ext>
            </a:extLst>
          </p:cNvPr>
          <p:cNvSpPr/>
          <p:nvPr/>
        </p:nvSpPr>
        <p:spPr>
          <a:xfrm>
            <a:off x="3477117" y="8902556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인터페이스 표준화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89BE81F-CBAC-119B-AE5F-E17D0A1A78ED}"/>
              </a:ext>
            </a:extLst>
          </p:cNvPr>
          <p:cNvSpPr txBox="1"/>
          <p:nvPr/>
        </p:nvSpPr>
        <p:spPr>
          <a:xfrm>
            <a:off x="347711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REST·OpenAPI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게이트웨이 일원화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7CBC692E-A36B-AB2B-7AEE-4E8CA42F29C6}"/>
              </a:ext>
            </a:extLst>
          </p:cNvPr>
          <p:cNvSpPr/>
          <p:nvPr/>
        </p:nvSpPr>
        <p:spPr>
          <a:xfrm>
            <a:off x="505772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사각형: 둥근 위쪽 모서리 43">
            <a:extLst>
              <a:ext uri="{FF2B5EF4-FFF2-40B4-BE49-F238E27FC236}">
                <a16:creationId xmlns:a16="http://schemas.microsoft.com/office/drawing/2014/main" id="{1451B2D5-B559-A27B-3350-19700B3F86FD}"/>
              </a:ext>
            </a:extLst>
          </p:cNvPr>
          <p:cNvSpPr/>
          <p:nvPr/>
        </p:nvSpPr>
        <p:spPr>
          <a:xfrm>
            <a:off x="5057727" y="8902556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배포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설계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1EF4069-C133-176B-86A2-F67486032537}"/>
              </a:ext>
            </a:extLst>
          </p:cNvPr>
          <p:cNvSpPr txBox="1"/>
          <p:nvPr/>
        </p:nvSpPr>
        <p:spPr>
          <a:xfrm>
            <a:off x="505772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독립 배포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비동기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 격리</a:t>
            </a:r>
          </a:p>
        </p:txBody>
      </p:sp>
      <p:sp>
        <p:nvSpPr>
          <p:cNvPr id="48" name="이등변 삼각형 47">
            <a:extLst>
              <a:ext uri="{FF2B5EF4-FFF2-40B4-BE49-F238E27FC236}">
                <a16:creationId xmlns:a16="http://schemas.microsoft.com/office/drawing/2014/main" id="{E940D589-898F-52A4-16CF-0836FA679042}"/>
              </a:ext>
            </a:extLst>
          </p:cNvPr>
          <p:cNvSpPr/>
          <p:nvPr/>
        </p:nvSpPr>
        <p:spPr>
          <a:xfrm rot="5400000">
            <a:off x="1801098" y="9232963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0" name="이등변 삼각형 49">
            <a:extLst>
              <a:ext uri="{FF2B5EF4-FFF2-40B4-BE49-F238E27FC236}">
                <a16:creationId xmlns:a16="http://schemas.microsoft.com/office/drawing/2014/main" id="{9032394A-376B-9773-069E-A606D7BA0F60}"/>
              </a:ext>
            </a:extLst>
          </p:cNvPr>
          <p:cNvSpPr/>
          <p:nvPr/>
        </p:nvSpPr>
        <p:spPr>
          <a:xfrm rot="5400000">
            <a:off x="3386287" y="923296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2" name="이등변 삼각형 51">
            <a:extLst>
              <a:ext uri="{FF2B5EF4-FFF2-40B4-BE49-F238E27FC236}">
                <a16:creationId xmlns:a16="http://schemas.microsoft.com/office/drawing/2014/main" id="{DF013797-FA39-737C-2FC2-3F94894B660B}"/>
              </a:ext>
            </a:extLst>
          </p:cNvPr>
          <p:cNvSpPr/>
          <p:nvPr/>
        </p:nvSpPr>
        <p:spPr>
          <a:xfrm rot="5400000">
            <a:off x="4966713" y="9232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이등변 삼각형 53">
            <a:extLst>
              <a:ext uri="{FF2B5EF4-FFF2-40B4-BE49-F238E27FC236}">
                <a16:creationId xmlns:a16="http://schemas.microsoft.com/office/drawing/2014/main" id="{6F76D9B7-E2CF-5438-CC48-8260B4E14CAC}"/>
              </a:ext>
            </a:extLst>
          </p:cNvPr>
          <p:cNvSpPr/>
          <p:nvPr/>
        </p:nvSpPr>
        <p:spPr>
          <a:xfrm rot="5400000">
            <a:off x="1801098" y="9232963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6" name="이등변 삼각형 55">
            <a:extLst>
              <a:ext uri="{FF2B5EF4-FFF2-40B4-BE49-F238E27FC236}">
                <a16:creationId xmlns:a16="http://schemas.microsoft.com/office/drawing/2014/main" id="{15262595-812A-BE1D-BBC8-043C073DC1F8}"/>
              </a:ext>
            </a:extLst>
          </p:cNvPr>
          <p:cNvSpPr/>
          <p:nvPr/>
        </p:nvSpPr>
        <p:spPr>
          <a:xfrm rot="5400000">
            <a:off x="3386287" y="923296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8" name="이등변 삼각형 57">
            <a:extLst>
              <a:ext uri="{FF2B5EF4-FFF2-40B4-BE49-F238E27FC236}">
                <a16:creationId xmlns:a16="http://schemas.microsoft.com/office/drawing/2014/main" id="{B2C30AB3-36D9-602B-9A57-F3A969FE3B11}"/>
              </a:ext>
            </a:extLst>
          </p:cNvPr>
          <p:cNvSpPr/>
          <p:nvPr/>
        </p:nvSpPr>
        <p:spPr>
          <a:xfrm rot="5400000">
            <a:off x="4966713" y="9232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C3BCC6B-FF3D-3EB5-DA31-AE7525F7292B}"/>
              </a:ext>
            </a:extLst>
          </p:cNvPr>
          <p:cNvSpPr/>
          <p:nvPr/>
        </p:nvSpPr>
        <p:spPr>
          <a:xfrm>
            <a:off x="316309" y="834972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애플리케이션아키텍처서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모듈구성도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컴포넌트설계서로 구체화하며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목표모델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기반 기능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(2.1.2)·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인프라 설계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4)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2473;p41">
            <a:extLst>
              <a:ext uri="{FF2B5EF4-FFF2-40B4-BE49-F238E27FC236}">
                <a16:creationId xmlns:a16="http://schemas.microsoft.com/office/drawing/2014/main" id="{7E4FC36A-06B1-70E6-9728-5780136AB29B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1210660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10C25-A73B-E66B-FB4D-2A3F930F01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4853A61-BB9E-CD5A-6FD0-15FC555BA44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7195367-4AEC-D1EB-CE41-8CED7DF2BE1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4434B08-ABC3-6DEC-099F-B190C30AD04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계층별 시스템 구조 설계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9CCDADD-7E41-C153-54E6-FD391DFA8F6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339108C-E0FD-3E1B-F710-EED73BFAA55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시스템을 표현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계층으로 구조화하고 응용 계층을 결합도 낮은 모듈형으로 분리하여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확장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독립 배포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 격리가 가능한 확장형 아키텍처를 설계함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BD2177E-CFE6-5552-88CA-90950CE9B52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BCD4670-E2D9-980A-2016-687650508460}"/>
              </a:ext>
            </a:extLst>
          </p:cNvPr>
          <p:cNvSpPr txBox="1"/>
          <p:nvPr/>
        </p:nvSpPr>
        <p:spPr>
          <a:xfrm>
            <a:off x="335012" y="2371141"/>
            <a:ext cx="37188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표준 적용 아키텍처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(1.4.4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내용과 동일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EF5DBD-B585-8A9C-3189-E494E8C2C62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DR-016, DR-017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45C3163F-4E6C-A307-88AE-4196594E9F69}"/>
              </a:ext>
            </a:extLst>
          </p:cNvPr>
          <p:cNvSpPr/>
          <p:nvPr/>
        </p:nvSpPr>
        <p:spPr bwMode="gray">
          <a:xfrm>
            <a:off x="258881" y="2666394"/>
            <a:ext cx="6331426" cy="285810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9D701B3A-12DE-740A-D4CD-72B9B084BE91}"/>
              </a:ext>
            </a:extLst>
          </p:cNvPr>
          <p:cNvSpPr/>
          <p:nvPr/>
        </p:nvSpPr>
        <p:spPr>
          <a:xfrm>
            <a:off x="335012" y="3200592"/>
            <a:ext cx="3195588" cy="838010"/>
          </a:xfrm>
          <a:prstGeom prst="roundRect">
            <a:avLst>
              <a:gd name="adj" fmla="val 699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36000" rIns="108000" bIns="108000" rtlCol="0" anchor="t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응용 계층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모듈형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전자정부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표준프레임워크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EDA94452-4EFC-891D-5F91-D5874F16A586}"/>
              </a:ext>
            </a:extLst>
          </p:cNvPr>
          <p:cNvSpPr/>
          <p:nvPr/>
        </p:nvSpPr>
        <p:spPr>
          <a:xfrm>
            <a:off x="335012" y="2733260"/>
            <a:ext cx="3195588" cy="419516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</a:t>
            </a:r>
          </a:p>
          <a:p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개발자 포털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표준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58035A9-9ECA-9831-43B0-1D2D232F8CC0}"/>
              </a:ext>
            </a:extLst>
          </p:cNvPr>
          <p:cNvSpPr/>
          <p:nvPr/>
        </p:nvSpPr>
        <p:spPr>
          <a:xfrm>
            <a:off x="4038600" y="2738646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표준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접근성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크로스브라우징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53237A7-DE01-E287-7747-7476A643A66B}"/>
              </a:ext>
            </a:extLst>
          </p:cNvPr>
          <p:cNvSpPr/>
          <p:nvPr/>
        </p:nvSpPr>
        <p:spPr>
          <a:xfrm>
            <a:off x="335012" y="4086418"/>
            <a:ext cx="3195588" cy="419516"/>
          </a:xfrm>
          <a:prstGeom prst="roundRect">
            <a:avLst>
              <a:gd name="adj" fmla="val 699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계층</a:t>
            </a:r>
          </a:p>
          <a:p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게이트웨이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en-US" altLang="ko-KR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REST·OpenAPI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비동기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배치 연계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0AAF4DF-363D-C367-E229-AA91D6E51839}"/>
              </a:ext>
            </a:extLst>
          </p:cNvPr>
          <p:cNvSpPr/>
          <p:nvPr/>
        </p:nvSpPr>
        <p:spPr>
          <a:xfrm>
            <a:off x="335012" y="4553750"/>
            <a:ext cx="3195588" cy="419516"/>
          </a:xfrm>
          <a:prstGeom prst="roundRect">
            <a:avLst>
              <a:gd name="adj" fmla="val 699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계층</a:t>
            </a:r>
          </a:p>
          <a:p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저장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(Parquet·</a:t>
            </a:r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샤딩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D19A7D-0F77-702D-237F-FDB1B1B5371D}"/>
              </a:ext>
            </a:extLst>
          </p:cNvPr>
          <p:cNvSpPr/>
          <p:nvPr/>
        </p:nvSpPr>
        <p:spPr>
          <a:xfrm>
            <a:off x="335012" y="5021082"/>
            <a:ext cx="3195588" cy="419516"/>
          </a:xfrm>
          <a:prstGeom prst="roundRect">
            <a:avLst>
              <a:gd name="adj" fmla="val 699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계층</a:t>
            </a:r>
          </a:p>
          <a:p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스토리지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네트워크 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망분리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안심구역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DFE8E3F-9D3A-548E-63CA-DEB822C809EB}"/>
              </a:ext>
            </a:extLst>
          </p:cNvPr>
          <p:cNvSpPr/>
          <p:nvPr/>
        </p:nvSpPr>
        <p:spPr>
          <a:xfrm>
            <a:off x="453324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59A13A30-B6F6-A935-306A-760B32151917}"/>
              </a:ext>
            </a:extLst>
          </p:cNvPr>
          <p:cNvSpPr/>
          <p:nvPr/>
        </p:nvSpPr>
        <p:spPr>
          <a:xfrm>
            <a:off x="453324" y="373921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모듈</a:t>
            </a: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권리정보 조회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BC1B5A46-6656-77D9-91C0-E7EAA1E58E89}"/>
              </a:ext>
            </a:extLst>
          </p:cNvPr>
          <p:cNvSpPr/>
          <p:nvPr/>
        </p:nvSpPr>
        <p:spPr>
          <a:xfrm>
            <a:off x="2670342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</a:t>
            </a:r>
          </a:p>
          <a:p>
            <a:pPr algn="ctr"/>
            <a:r>
              <a:rPr kumimoji="0" lang="en-US" altLang="ko-KR" sz="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MCP·OpenAPI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6BB22ACB-55FE-45F0-B0AB-15D520C210AC}"/>
              </a:ext>
            </a:extLst>
          </p:cNvPr>
          <p:cNvSpPr/>
          <p:nvPr/>
        </p:nvSpPr>
        <p:spPr>
          <a:xfrm>
            <a:off x="1192330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601E0FFC-6C49-97AB-BAF8-807A43FFD273}"/>
              </a:ext>
            </a:extLst>
          </p:cNvPr>
          <p:cNvSpPr/>
          <p:nvPr/>
        </p:nvSpPr>
        <p:spPr>
          <a:xfrm>
            <a:off x="1931336" y="3443632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벡터검색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4B6DF750-C420-5E3F-CAA4-232F2958B1FF}"/>
              </a:ext>
            </a:extLst>
          </p:cNvPr>
          <p:cNvSpPr/>
          <p:nvPr/>
        </p:nvSpPr>
        <p:spPr>
          <a:xfrm>
            <a:off x="2670342" y="3740247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운영지원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워크플로우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4C730E24-272C-7206-A0D6-43F0C9D12FFA}"/>
              </a:ext>
            </a:extLst>
          </p:cNvPr>
          <p:cNvSpPr/>
          <p:nvPr/>
        </p:nvSpPr>
        <p:spPr>
          <a:xfrm>
            <a:off x="1192330" y="3740247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추천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연관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유사 추천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7FF4513-7682-DEDB-B9E2-CB543186EA0D}"/>
              </a:ext>
            </a:extLst>
          </p:cNvPr>
          <p:cNvSpPr/>
          <p:nvPr/>
        </p:nvSpPr>
        <p:spPr>
          <a:xfrm>
            <a:off x="1931336" y="3740247"/>
            <a:ext cx="702376" cy="259052"/>
          </a:xfrm>
          <a:prstGeom prst="roundRect">
            <a:avLst>
              <a:gd name="adj" fmla="val 991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로그 모듈</a:t>
            </a:r>
          </a:p>
          <a:p>
            <a:pPr algn="ctr"/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집계</a:t>
            </a: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리포팅</a:t>
            </a:r>
            <a:endParaRPr lang="ko-KR" altLang="en-US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DB46AE23-200B-FB57-B4E0-F62D0D558FF4}"/>
              </a:ext>
            </a:extLst>
          </p:cNvPr>
          <p:cNvSpPr/>
          <p:nvPr/>
        </p:nvSpPr>
        <p:spPr>
          <a:xfrm>
            <a:off x="5782512" y="2969660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COR-002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9B90217-E13D-0DE5-D2C0-501FE3C858A6}"/>
              </a:ext>
            </a:extLst>
          </p:cNvPr>
          <p:cNvSpPr/>
          <p:nvPr/>
        </p:nvSpPr>
        <p:spPr>
          <a:xfrm>
            <a:off x="4038600" y="3415225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전자정부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표준프레임워크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1A4F60F-11A1-82AC-3BE1-BCD966E7E6A0}"/>
              </a:ext>
            </a:extLst>
          </p:cNvPr>
          <p:cNvSpPr/>
          <p:nvPr/>
        </p:nvSpPr>
        <p:spPr>
          <a:xfrm>
            <a:off x="5782512" y="3611215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COR-002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11CB4BD-AC69-F8FB-22D7-F9AF532B5AFC}"/>
              </a:ext>
            </a:extLst>
          </p:cNvPr>
          <p:cNvSpPr/>
          <p:nvPr/>
        </p:nvSpPr>
        <p:spPr>
          <a:xfrm>
            <a:off x="4038600" y="4091804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REST·OpenAPI·JSON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/XML·MCP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87B09A1E-BFCB-6C6A-71D7-B76C03AFE42B}"/>
              </a:ext>
            </a:extLst>
          </p:cNvPr>
          <p:cNvSpPr/>
          <p:nvPr/>
        </p:nvSpPr>
        <p:spPr>
          <a:xfrm>
            <a:off x="5782512" y="4312048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DR-017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E32CD9A-6709-C00C-13EB-CE02A585A115}"/>
              </a:ext>
            </a:extLst>
          </p:cNvPr>
          <p:cNvSpPr/>
          <p:nvPr/>
        </p:nvSpPr>
        <p:spPr>
          <a:xfrm>
            <a:off x="4038600" y="4559136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 표준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Parquet·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샤딩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E5F522C-72B4-7E63-3F56-06974F6C4D3F}"/>
              </a:ext>
            </a:extLst>
          </p:cNvPr>
          <p:cNvSpPr/>
          <p:nvPr/>
        </p:nvSpPr>
        <p:spPr>
          <a:xfrm>
            <a:off x="5782512" y="4779380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COR-001·002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1517E07-6F10-963D-618F-4B29298452B6}"/>
              </a:ext>
            </a:extLst>
          </p:cNvPr>
          <p:cNvSpPr/>
          <p:nvPr/>
        </p:nvSpPr>
        <p:spPr>
          <a:xfrm>
            <a:off x="4038600" y="5026468"/>
            <a:ext cx="2484388" cy="408745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 표준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인증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44A07A6-88A5-B024-A38E-48BF51F766C7}"/>
              </a:ext>
            </a:extLst>
          </p:cNvPr>
          <p:cNvSpPr/>
          <p:nvPr/>
        </p:nvSpPr>
        <p:spPr>
          <a:xfrm>
            <a:off x="5782512" y="5246712"/>
            <a:ext cx="702376" cy="160851"/>
          </a:xfrm>
          <a:prstGeom prst="roundRect">
            <a:avLst>
              <a:gd name="adj" fmla="val 991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COR-001</a:t>
            </a:r>
            <a:endParaRPr lang="ko-KR" altLang="en-US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427F6A5D-B1E0-6790-A201-F37A4E9F0A68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3530600" y="2943018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F9C77BAB-31A4-9591-DDBD-2419AE06A667}"/>
              </a:ext>
            </a:extLst>
          </p:cNvPr>
          <p:cNvCxnSpPr>
            <a:cxnSpLocks/>
            <a:stCxn id="7" idx="3"/>
            <a:endCxn id="41" idx="1"/>
          </p:cNvCxnSpPr>
          <p:nvPr/>
        </p:nvCxnSpPr>
        <p:spPr>
          <a:xfrm>
            <a:off x="3530600" y="3619597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53A5DCE-61ED-5588-396E-FCC32BA74F7F}"/>
              </a:ext>
            </a:extLst>
          </p:cNvPr>
          <p:cNvCxnSpPr>
            <a:cxnSpLocks/>
            <a:stCxn id="10" idx="3"/>
            <a:endCxn id="45" idx="1"/>
          </p:cNvCxnSpPr>
          <p:nvPr/>
        </p:nvCxnSpPr>
        <p:spPr>
          <a:xfrm>
            <a:off x="3530600" y="4296176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11073FA6-C2DD-B377-DB61-403D912342C3}"/>
              </a:ext>
            </a:extLst>
          </p:cNvPr>
          <p:cNvCxnSpPr>
            <a:cxnSpLocks/>
            <a:stCxn id="13" idx="3"/>
            <a:endCxn id="49" idx="1"/>
          </p:cNvCxnSpPr>
          <p:nvPr/>
        </p:nvCxnSpPr>
        <p:spPr>
          <a:xfrm>
            <a:off x="3530600" y="4763508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30094530-CE8C-91A6-8370-A9CE597B872F}"/>
              </a:ext>
            </a:extLst>
          </p:cNvPr>
          <p:cNvCxnSpPr>
            <a:cxnSpLocks/>
            <a:stCxn id="16" idx="3"/>
            <a:endCxn id="53" idx="1"/>
          </p:cNvCxnSpPr>
          <p:nvPr/>
        </p:nvCxnSpPr>
        <p:spPr>
          <a:xfrm>
            <a:off x="3530600" y="5230840"/>
            <a:ext cx="508000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A9207E4-6B9F-E53B-E738-672F5CE899BD}"/>
              </a:ext>
            </a:extLst>
          </p:cNvPr>
          <p:cNvSpPr/>
          <p:nvPr/>
        </p:nvSpPr>
        <p:spPr>
          <a:xfrm>
            <a:off x="3444796" y="2854437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25E2D749-0F89-5B4D-9999-4171B27BA193}"/>
              </a:ext>
            </a:extLst>
          </p:cNvPr>
          <p:cNvSpPr/>
          <p:nvPr/>
        </p:nvSpPr>
        <p:spPr>
          <a:xfrm>
            <a:off x="3444796" y="3527765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7E04B93E-07A6-CA18-7B70-EC45D766C6BF}"/>
              </a:ext>
            </a:extLst>
          </p:cNvPr>
          <p:cNvSpPr/>
          <p:nvPr/>
        </p:nvSpPr>
        <p:spPr>
          <a:xfrm>
            <a:off x="3444796" y="4213040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8B0C0D4D-D5D7-3B77-7693-5A7253EA9E3B}"/>
              </a:ext>
            </a:extLst>
          </p:cNvPr>
          <p:cNvSpPr/>
          <p:nvPr/>
        </p:nvSpPr>
        <p:spPr>
          <a:xfrm>
            <a:off x="3444796" y="4675752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0B0C8299-0044-0A46-FC6A-48B599A53A6D}"/>
              </a:ext>
            </a:extLst>
          </p:cNvPr>
          <p:cNvSpPr/>
          <p:nvPr/>
        </p:nvSpPr>
        <p:spPr>
          <a:xfrm>
            <a:off x="3444796" y="5148469"/>
            <a:ext cx="702376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기술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30FAF573-3511-C7C7-E6D8-A37B95F721BE}"/>
              </a:ext>
            </a:extLst>
          </p:cNvPr>
          <p:cNvCxnSpPr>
            <a:cxnSpLocks/>
          </p:cNvCxnSpPr>
          <p:nvPr/>
        </p:nvCxnSpPr>
        <p:spPr>
          <a:xfrm>
            <a:off x="312925" y="56339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id="{81B51D00-D5E8-3547-8D74-290BB52C463D}"/>
              </a:ext>
            </a:extLst>
          </p:cNvPr>
          <p:cNvSpPr txBox="1"/>
          <p:nvPr/>
        </p:nvSpPr>
        <p:spPr>
          <a:xfrm>
            <a:off x="335012" y="5607896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표준 적용 아키텍처</a:t>
            </a:r>
          </a:p>
        </p:txBody>
      </p:sp>
      <p:sp>
        <p:nvSpPr>
          <p:cNvPr id="72" name="모서리가 둥근 직사각형 222">
            <a:extLst>
              <a:ext uri="{FF2B5EF4-FFF2-40B4-BE49-F238E27FC236}">
                <a16:creationId xmlns:a16="http://schemas.microsoft.com/office/drawing/2014/main" id="{0458C129-E04E-A0CA-8D61-0D90F5676CB7}"/>
              </a:ext>
            </a:extLst>
          </p:cNvPr>
          <p:cNvSpPr/>
          <p:nvPr/>
        </p:nvSpPr>
        <p:spPr bwMode="gray">
          <a:xfrm>
            <a:off x="258881" y="5903150"/>
            <a:ext cx="6331426" cy="3773442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73" name="Table 0">
            <a:extLst>
              <a:ext uri="{FF2B5EF4-FFF2-40B4-BE49-F238E27FC236}">
                <a16:creationId xmlns:a16="http://schemas.microsoft.com/office/drawing/2014/main" id="{02AB7F27-1A2C-4932-F9AB-404BCFD9D8EC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6160771"/>
          <a:ext cx="6165724" cy="2796098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336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54781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44148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 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 단계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243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모듈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운영지원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필수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연속성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243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모듈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파일처리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알림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필수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 모듈 공용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9243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모듈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벡터검색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고도화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9243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머신리더블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MCP·OpenAPI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고도화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에이전트 연계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39243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추천 모듈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 조회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연관 추천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고도화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부가 기능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39243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 분석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집계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리포팅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고도화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분석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sp>
        <p:nvSpPr>
          <p:cNvPr id="74" name="TextBox 73">
            <a:extLst>
              <a:ext uri="{FF2B5EF4-FFF2-40B4-BE49-F238E27FC236}">
                <a16:creationId xmlns:a16="http://schemas.microsoft.com/office/drawing/2014/main" id="{FDA67C20-0D3B-54BB-6028-7E651169534C}"/>
              </a:ext>
            </a:extLst>
          </p:cNvPr>
          <p:cNvSpPr txBox="1"/>
          <p:nvPr/>
        </p:nvSpPr>
        <p:spPr>
          <a:xfrm>
            <a:off x="1093656" y="591210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적용 표준 및 근거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90C6FC6-4E3D-48FA-76B4-FAF49A2F4C0D}"/>
              </a:ext>
            </a:extLst>
          </p:cNvPr>
          <p:cNvSpPr/>
          <p:nvPr/>
        </p:nvSpPr>
        <p:spPr>
          <a:xfrm>
            <a:off x="316309" y="8956869"/>
            <a:ext cx="6286697" cy="2204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80975" lvl="1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tabLst>
                <a:tab pos="5648325" algn="l"/>
              </a:tabLst>
              <a:defRPr/>
            </a:pP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※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 단계는 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1.2.2 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구축전략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·2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고도화</a:t>
            </a:r>
            <a:r>
              <a:rPr kumimoji="1" lang="en-US" altLang="ko-KR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8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정합</a:t>
            </a:r>
            <a:endParaRPr kumimoji="1" lang="ko-KR" altLang="en-US" sz="800" b="1" spc="-5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199643C-EE10-7201-F36F-D64602865D9D}"/>
              </a:ext>
            </a:extLst>
          </p:cNvPr>
          <p:cNvSpPr/>
          <p:nvPr/>
        </p:nvSpPr>
        <p:spPr>
          <a:xfrm>
            <a:off x="316309" y="915780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결합도 낮은 모듈형 구조로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 모듈을 우선 구축하여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내 서비스 개시를 확보하고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모듈은 인터페이스 기반으로 단계 추가하여 확장성과 장애 격리를 동시에 달성함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7" name="Google Shape;2479;p42">
            <a:extLst>
              <a:ext uri="{FF2B5EF4-FFF2-40B4-BE49-F238E27FC236}">
                <a16:creationId xmlns:a16="http://schemas.microsoft.com/office/drawing/2014/main" id="{669D4C21-7F05-911C-EB21-D0DA5411E08A}"/>
              </a:ext>
            </a:extLst>
          </p:cNvPr>
          <p:cNvSpPr/>
          <p:nvPr/>
        </p:nvSpPr>
        <p:spPr>
          <a:xfrm>
            <a:off x="7077525" y="1983375"/>
            <a:ext cx="6286800" cy="40524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샘플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" name="Google Shape;2529;p42">
            <a:extLst>
              <a:ext uri="{FF2B5EF4-FFF2-40B4-BE49-F238E27FC236}">
                <a16:creationId xmlns:a16="http://schemas.microsoft.com/office/drawing/2014/main" id="{62136FB4-9FB6-A918-3AF4-98C34109087C}"/>
              </a:ext>
            </a:extLst>
          </p:cNvPr>
          <p:cNvSpPr/>
          <p:nvPr/>
        </p:nvSpPr>
        <p:spPr>
          <a:xfrm>
            <a:off x="3414400" y="-17767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" name="Google Shape;2530;p42">
            <a:extLst>
              <a:ext uri="{FF2B5EF4-FFF2-40B4-BE49-F238E27FC236}">
                <a16:creationId xmlns:a16="http://schemas.microsoft.com/office/drawing/2014/main" id="{C7E711F8-754B-96B3-9B90-CAA0D9431452}"/>
              </a:ext>
            </a:extLst>
          </p:cNvPr>
          <p:cNvSpPr/>
          <p:nvPr/>
        </p:nvSpPr>
        <p:spPr>
          <a:xfrm>
            <a:off x="-1174250" y="2624304"/>
            <a:ext cx="1104600" cy="27960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중복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7" name="Google Shape;2531;p42">
            <a:extLst>
              <a:ext uri="{FF2B5EF4-FFF2-40B4-BE49-F238E27FC236}">
                <a16:creationId xmlns:a16="http://schemas.microsoft.com/office/drawing/2014/main" id="{E0D21346-45A4-9A6D-B803-8F647080F864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57300" y="2374713"/>
            <a:ext cx="6036551" cy="33269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6020867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39768C-67AB-381A-861B-7FD8AD3CF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2538;g3f96060190c_3_90">
            <a:extLst>
              <a:ext uri="{FF2B5EF4-FFF2-40B4-BE49-F238E27FC236}">
                <a16:creationId xmlns:a16="http://schemas.microsoft.com/office/drawing/2014/main" id="{1A863DA9-244C-195F-FE61-06D1D17A7FEC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ko-KR" sz="1400" b="1" i="0" u="none" strike="noStrike" cap="none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Calibri"/>
              </a:rPr>
              <a:t>HNINE</a:t>
            </a:r>
            <a:endParaRPr sz="1400" b="1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20" name="Google Shape;2539;g3f96060190c_3_90">
            <a:extLst>
              <a:ext uri="{FF2B5EF4-FFF2-40B4-BE49-F238E27FC236}">
                <a16:creationId xmlns:a16="http://schemas.microsoft.com/office/drawing/2014/main" id="{A1B5C96E-91A8-D792-9496-8A34E6753336}"/>
              </a:ext>
            </a:extLst>
          </p:cNvPr>
          <p:cNvSpPr/>
          <p:nvPr/>
        </p:nvSpPr>
        <p:spPr>
          <a:xfrm>
            <a:off x="121925" y="1000869"/>
            <a:ext cx="929100" cy="14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1000"/>
              <a:buFont typeface="Malgun Gothic"/>
              <a:buNone/>
            </a:pPr>
            <a:r>
              <a:rPr lang="ko-KR" sz="10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데이터 원천</a:t>
            </a:r>
            <a:endParaRPr sz="10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25" name="Google Shape;2540;g3f96060190c_3_90">
            <a:extLst>
              <a:ext uri="{FF2B5EF4-FFF2-40B4-BE49-F238E27FC236}">
                <a16:creationId xmlns:a16="http://schemas.microsoft.com/office/drawing/2014/main" id="{1234E0BD-8FD1-B1CB-A415-1F6C64F67286}"/>
              </a:ext>
            </a:extLst>
          </p:cNvPr>
          <p:cNvSpPr/>
          <p:nvPr/>
        </p:nvSpPr>
        <p:spPr>
          <a:xfrm>
            <a:off x="121925" y="1154355"/>
            <a:ext cx="929100" cy="1194600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8A8A8A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9" name="Google Shape;2541;g3f96060190c_3_90">
            <a:extLst>
              <a:ext uri="{FF2B5EF4-FFF2-40B4-BE49-F238E27FC236}">
                <a16:creationId xmlns:a16="http://schemas.microsoft.com/office/drawing/2014/main" id="{8957BD76-665B-A5D5-896F-A720D9537DBC}"/>
              </a:ext>
            </a:extLst>
          </p:cNvPr>
          <p:cNvSpPr/>
          <p:nvPr/>
        </p:nvSpPr>
        <p:spPr>
          <a:xfrm>
            <a:off x="175018" y="1201063"/>
            <a:ext cx="822900" cy="2103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2" name="Google Shape;2542;g3f96060190c_3_90">
            <a:extLst>
              <a:ext uri="{FF2B5EF4-FFF2-40B4-BE49-F238E27FC236}">
                <a16:creationId xmlns:a16="http://schemas.microsoft.com/office/drawing/2014/main" id="{58830419-6104-8FC1-EAA0-40DC786FAE36}"/>
              </a:ext>
            </a:extLst>
          </p:cNvPr>
          <p:cNvSpPr/>
          <p:nvPr/>
        </p:nvSpPr>
        <p:spPr>
          <a:xfrm>
            <a:off x="175018" y="1201063"/>
            <a:ext cx="822900" cy="21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50"/>
              <a:buFont typeface="Malgun Gothic"/>
              <a:buNone/>
            </a:pPr>
            <a:r>
              <a:rPr lang="ko-KR" sz="8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AI hub</a:t>
            </a:r>
            <a:endParaRPr sz="8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34" name="Google Shape;2543;g3f96060190c_3_90">
            <a:extLst>
              <a:ext uri="{FF2B5EF4-FFF2-40B4-BE49-F238E27FC236}">
                <a16:creationId xmlns:a16="http://schemas.microsoft.com/office/drawing/2014/main" id="{105D4B65-4506-A2BB-6B54-02C4BC2EDA83}"/>
              </a:ext>
            </a:extLst>
          </p:cNvPr>
          <p:cNvSpPr/>
          <p:nvPr/>
        </p:nvSpPr>
        <p:spPr>
          <a:xfrm>
            <a:off x="175018" y="1434622"/>
            <a:ext cx="822900" cy="2103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36" name="Google Shape;2544;g3f96060190c_3_90">
            <a:extLst>
              <a:ext uri="{FF2B5EF4-FFF2-40B4-BE49-F238E27FC236}">
                <a16:creationId xmlns:a16="http://schemas.microsoft.com/office/drawing/2014/main" id="{AF5CA7A7-3EC8-7DBC-3FAF-9F87002D20F1}"/>
              </a:ext>
            </a:extLst>
          </p:cNvPr>
          <p:cNvSpPr/>
          <p:nvPr/>
        </p:nvSpPr>
        <p:spPr>
          <a:xfrm>
            <a:off x="175018" y="1434622"/>
            <a:ext cx="822900" cy="21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50"/>
              <a:buFont typeface="Malgun Gothic"/>
              <a:buNone/>
            </a:pPr>
            <a:r>
              <a:rPr lang="ko-KR" sz="850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원윈도우</a:t>
            </a:r>
            <a:endParaRPr sz="85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38" name="Google Shape;2545;g3f96060190c_3_90">
            <a:extLst>
              <a:ext uri="{FF2B5EF4-FFF2-40B4-BE49-F238E27FC236}">
                <a16:creationId xmlns:a16="http://schemas.microsoft.com/office/drawing/2014/main" id="{56B74C11-5BA0-8037-EF6C-27DFD29F1F84}"/>
              </a:ext>
            </a:extLst>
          </p:cNvPr>
          <p:cNvSpPr/>
          <p:nvPr/>
        </p:nvSpPr>
        <p:spPr>
          <a:xfrm>
            <a:off x="175018" y="1668182"/>
            <a:ext cx="822900" cy="2103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40" name="Google Shape;2546;g3f96060190c_3_90">
            <a:extLst>
              <a:ext uri="{FF2B5EF4-FFF2-40B4-BE49-F238E27FC236}">
                <a16:creationId xmlns:a16="http://schemas.microsoft.com/office/drawing/2014/main" id="{32751A29-65F2-F360-E4CD-1FBA47C39FF8}"/>
              </a:ext>
            </a:extLst>
          </p:cNvPr>
          <p:cNvSpPr/>
          <p:nvPr/>
        </p:nvSpPr>
        <p:spPr>
          <a:xfrm>
            <a:off x="175018" y="1668182"/>
            <a:ext cx="822900" cy="21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50"/>
              <a:buFont typeface="Malgun Gothic"/>
              <a:buNone/>
            </a:pPr>
            <a:r>
              <a:rPr lang="ko-KR" sz="8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공공 데이터</a:t>
            </a:r>
            <a:endParaRPr sz="8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42" name="Google Shape;2547;g3f96060190c_3_90">
            <a:extLst>
              <a:ext uri="{FF2B5EF4-FFF2-40B4-BE49-F238E27FC236}">
                <a16:creationId xmlns:a16="http://schemas.microsoft.com/office/drawing/2014/main" id="{42AD423A-2699-38D6-9B72-5AFA9E623D2C}"/>
              </a:ext>
            </a:extLst>
          </p:cNvPr>
          <p:cNvSpPr/>
          <p:nvPr/>
        </p:nvSpPr>
        <p:spPr>
          <a:xfrm>
            <a:off x="175018" y="1901741"/>
            <a:ext cx="822900" cy="2103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44" name="Google Shape;2548;g3f96060190c_3_90">
            <a:extLst>
              <a:ext uri="{FF2B5EF4-FFF2-40B4-BE49-F238E27FC236}">
                <a16:creationId xmlns:a16="http://schemas.microsoft.com/office/drawing/2014/main" id="{4951F4D2-C608-F420-D52B-6B1333E77C00}"/>
              </a:ext>
            </a:extLst>
          </p:cNvPr>
          <p:cNvSpPr/>
          <p:nvPr/>
        </p:nvSpPr>
        <p:spPr>
          <a:xfrm>
            <a:off x="175018" y="1901741"/>
            <a:ext cx="822900" cy="21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50"/>
              <a:buFont typeface="Malgun Gothic"/>
              <a:buNone/>
            </a:pPr>
            <a:r>
              <a:rPr lang="ko-KR" sz="8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민간 데이터</a:t>
            </a:r>
            <a:endParaRPr sz="8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46" name="Google Shape;2549;g3f96060190c_3_90">
            <a:extLst>
              <a:ext uri="{FF2B5EF4-FFF2-40B4-BE49-F238E27FC236}">
                <a16:creationId xmlns:a16="http://schemas.microsoft.com/office/drawing/2014/main" id="{7DCF1B21-455F-FD0A-F38E-0C28313ACFB5}"/>
              </a:ext>
            </a:extLst>
          </p:cNvPr>
          <p:cNvSpPr/>
          <p:nvPr/>
        </p:nvSpPr>
        <p:spPr>
          <a:xfrm>
            <a:off x="1024513" y="1668182"/>
            <a:ext cx="265500" cy="1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750"/>
              <a:buFont typeface="Malgun Gothic"/>
              <a:buNone/>
            </a:pPr>
            <a:r>
              <a:rPr lang="ko-KR" sz="750" b="0" i="0" u="none" strike="noStrike" cap="none">
                <a:solidFill>
                  <a:srgbClr val="555555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CDC</a:t>
            </a:r>
            <a:endParaRPr sz="7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48" name="Google Shape;2550;g3f96060190c_3_90">
            <a:extLst>
              <a:ext uri="{FF2B5EF4-FFF2-40B4-BE49-F238E27FC236}">
                <a16:creationId xmlns:a16="http://schemas.microsoft.com/office/drawing/2014/main" id="{117FAB95-67BD-3944-1661-2CC30B080024}"/>
              </a:ext>
            </a:extLst>
          </p:cNvPr>
          <p:cNvSpPr/>
          <p:nvPr/>
        </p:nvSpPr>
        <p:spPr>
          <a:xfrm>
            <a:off x="1157247" y="967504"/>
            <a:ext cx="4539300" cy="10677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0" name="Google Shape;2551;g3f96060190c_3_90">
            <a:extLst>
              <a:ext uri="{FF2B5EF4-FFF2-40B4-BE49-F238E27FC236}">
                <a16:creationId xmlns:a16="http://schemas.microsoft.com/office/drawing/2014/main" id="{E46323C7-8A08-C851-1551-7E81B707E208}"/>
              </a:ext>
            </a:extLst>
          </p:cNvPr>
          <p:cNvSpPr/>
          <p:nvPr/>
        </p:nvSpPr>
        <p:spPr>
          <a:xfrm>
            <a:off x="1157247" y="967504"/>
            <a:ext cx="4539300" cy="2001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2" name="Google Shape;2552;g3f96060190c_3_90">
            <a:extLst>
              <a:ext uri="{FF2B5EF4-FFF2-40B4-BE49-F238E27FC236}">
                <a16:creationId xmlns:a16="http://schemas.microsoft.com/office/drawing/2014/main" id="{592D13D1-C3BF-7801-01A3-404D45276910}"/>
              </a:ext>
            </a:extLst>
          </p:cNvPr>
          <p:cNvSpPr/>
          <p:nvPr/>
        </p:nvSpPr>
        <p:spPr>
          <a:xfrm>
            <a:off x="1157247" y="967504"/>
            <a:ext cx="45393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AI  학습용 데이터 플랫폼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54" name="Google Shape;2553;g3f96060190c_3_90">
            <a:extLst>
              <a:ext uri="{FF2B5EF4-FFF2-40B4-BE49-F238E27FC236}">
                <a16:creationId xmlns:a16="http://schemas.microsoft.com/office/drawing/2014/main" id="{99A06A50-638F-CDA7-E1A9-1D5F4BDC8D83}"/>
              </a:ext>
            </a:extLst>
          </p:cNvPr>
          <p:cNvSpPr/>
          <p:nvPr/>
        </p:nvSpPr>
        <p:spPr>
          <a:xfrm>
            <a:off x="1157247" y="1194390"/>
            <a:ext cx="1602300" cy="1866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6" name="Google Shape;2554;g3f96060190c_3_90">
            <a:extLst>
              <a:ext uri="{FF2B5EF4-FFF2-40B4-BE49-F238E27FC236}">
                <a16:creationId xmlns:a16="http://schemas.microsoft.com/office/drawing/2014/main" id="{33F7381F-1F75-15BA-8A2F-27DDF5CE1513}"/>
              </a:ext>
            </a:extLst>
          </p:cNvPr>
          <p:cNvSpPr/>
          <p:nvPr/>
        </p:nvSpPr>
        <p:spPr>
          <a:xfrm>
            <a:off x="1157247" y="1194390"/>
            <a:ext cx="1602300" cy="1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900"/>
              <a:buFont typeface="Malgun Gothic"/>
              <a:buNone/>
            </a:pPr>
            <a:r>
              <a:rPr lang="ko-KR" sz="900" b="1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데이터 수집 및 관리 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58" name="Google Shape;2555;g3f96060190c_3_90">
            <a:extLst>
              <a:ext uri="{FF2B5EF4-FFF2-40B4-BE49-F238E27FC236}">
                <a16:creationId xmlns:a16="http://schemas.microsoft.com/office/drawing/2014/main" id="{D6A86A58-B82D-3C90-7982-4714E1758916}"/>
              </a:ext>
            </a:extLst>
          </p:cNvPr>
          <p:cNvSpPr/>
          <p:nvPr/>
        </p:nvSpPr>
        <p:spPr>
          <a:xfrm>
            <a:off x="1210340" y="1421276"/>
            <a:ext cx="1528200" cy="3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45720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Char char="●"/>
            </a:pPr>
            <a:r>
              <a:rPr lang="ko-KR" sz="9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외부 데이터 이관 </a:t>
            </a:r>
            <a:endParaRPr sz="900">
              <a:solidFill>
                <a:srgbClr val="222222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algun Gothic"/>
            </a:endParaRPr>
          </a:p>
          <a:p>
            <a:pPr marL="45720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Char char="●"/>
            </a:pPr>
            <a:r>
              <a:rPr lang="ko-KR" sz="9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외부 데이터 연동 </a:t>
            </a:r>
            <a:endParaRPr sz="900">
              <a:solidFill>
                <a:srgbClr val="222222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algun Gothic"/>
            </a:endParaRPr>
          </a:p>
        </p:txBody>
      </p:sp>
      <p:sp>
        <p:nvSpPr>
          <p:cNvPr id="59" name="Google Shape;2556;g3f96060190c_3_90">
            <a:extLst>
              <a:ext uri="{FF2B5EF4-FFF2-40B4-BE49-F238E27FC236}">
                <a16:creationId xmlns:a16="http://schemas.microsoft.com/office/drawing/2014/main" id="{A9A4B280-8397-23D3-5C39-9C31F094475A}"/>
              </a:ext>
            </a:extLst>
          </p:cNvPr>
          <p:cNvSpPr/>
          <p:nvPr/>
        </p:nvSpPr>
        <p:spPr>
          <a:xfrm>
            <a:off x="2833938" y="1234429"/>
            <a:ext cx="1172700" cy="73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IRB/DRB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회원관리/공지사항/FAQ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내/외부 시스템 연계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69" name="Google Shape;2557;g3f96060190c_3_90">
            <a:extLst>
              <a:ext uri="{FF2B5EF4-FFF2-40B4-BE49-F238E27FC236}">
                <a16:creationId xmlns:a16="http://schemas.microsoft.com/office/drawing/2014/main" id="{DCD68B0D-DE74-CB62-B0F4-4CDB3E2DB73D}"/>
              </a:ext>
            </a:extLst>
          </p:cNvPr>
          <p:cNvSpPr/>
          <p:nvPr/>
        </p:nvSpPr>
        <p:spPr>
          <a:xfrm>
            <a:off x="4070219" y="1194390"/>
            <a:ext cx="1647600" cy="186600"/>
          </a:xfrm>
          <a:prstGeom prst="rect">
            <a:avLst/>
          </a:prstGeom>
          <a:solidFill>
            <a:srgbClr val="E08A2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75" name="Google Shape;2558;g3f96060190c_3_90">
            <a:extLst>
              <a:ext uri="{FF2B5EF4-FFF2-40B4-BE49-F238E27FC236}">
                <a16:creationId xmlns:a16="http://schemas.microsoft.com/office/drawing/2014/main" id="{A3A30B40-758A-0016-AA5D-A44712592DA7}"/>
              </a:ext>
            </a:extLst>
          </p:cNvPr>
          <p:cNvSpPr/>
          <p:nvPr/>
        </p:nvSpPr>
        <p:spPr>
          <a:xfrm>
            <a:off x="4070219" y="1194390"/>
            <a:ext cx="1647600" cy="1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검색 및 데이터 연동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77" name="Google Shape;2559;g3f96060190c_3_90">
            <a:extLst>
              <a:ext uri="{FF2B5EF4-FFF2-40B4-BE49-F238E27FC236}">
                <a16:creationId xmlns:a16="http://schemas.microsoft.com/office/drawing/2014/main" id="{3A940176-AFE8-748A-74BE-6FE27793E712}"/>
              </a:ext>
            </a:extLst>
          </p:cNvPr>
          <p:cNvSpPr/>
          <p:nvPr/>
        </p:nvSpPr>
        <p:spPr>
          <a:xfrm>
            <a:off x="4123312" y="1421276"/>
            <a:ext cx="1573500" cy="5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• 데이터 요청 프로세스관리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• 템플릿·추천 기반 추출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cxnSp>
        <p:nvCxnSpPr>
          <p:cNvPr id="79" name="Google Shape;2560;g3f96060190c_3_90">
            <a:extLst>
              <a:ext uri="{FF2B5EF4-FFF2-40B4-BE49-F238E27FC236}">
                <a16:creationId xmlns:a16="http://schemas.microsoft.com/office/drawing/2014/main" id="{3FF80D1E-F298-7F2C-29C2-3EFAC745AC5C}"/>
              </a:ext>
            </a:extLst>
          </p:cNvPr>
          <p:cNvCxnSpPr/>
          <p:nvPr/>
        </p:nvCxnSpPr>
        <p:spPr>
          <a:xfrm rot="10800000" flipH="1">
            <a:off x="5723283" y="1167922"/>
            <a:ext cx="239100" cy="266700"/>
          </a:xfrm>
          <a:prstGeom prst="straightConnector1">
            <a:avLst/>
          </a:prstGeom>
          <a:noFill/>
          <a:ln w="12700" cap="flat" cmpd="sng">
            <a:solidFill>
              <a:srgbClr val="555555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80" name="Google Shape;2561;g3f96060190c_3_90">
            <a:extLst>
              <a:ext uri="{FF2B5EF4-FFF2-40B4-BE49-F238E27FC236}">
                <a16:creationId xmlns:a16="http://schemas.microsoft.com/office/drawing/2014/main" id="{A17FBB9F-9B66-839B-01DC-EA9D7AE87FFE}"/>
              </a:ext>
            </a:extLst>
          </p:cNvPr>
          <p:cNvSpPr/>
          <p:nvPr/>
        </p:nvSpPr>
        <p:spPr>
          <a:xfrm>
            <a:off x="5760448" y="1000869"/>
            <a:ext cx="265500" cy="1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555555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API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81" name="Google Shape;2562;g3f96060190c_3_90">
            <a:extLst>
              <a:ext uri="{FF2B5EF4-FFF2-40B4-BE49-F238E27FC236}">
                <a16:creationId xmlns:a16="http://schemas.microsoft.com/office/drawing/2014/main" id="{1D4D41C2-F5F7-094E-D860-E608E31C15C0}"/>
              </a:ext>
            </a:extLst>
          </p:cNvPr>
          <p:cNvSpPr/>
          <p:nvPr/>
        </p:nvSpPr>
        <p:spPr>
          <a:xfrm>
            <a:off x="1157247" y="2168666"/>
            <a:ext cx="3477600" cy="14346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82" name="Google Shape;2563;g3f96060190c_3_90">
            <a:extLst>
              <a:ext uri="{FF2B5EF4-FFF2-40B4-BE49-F238E27FC236}">
                <a16:creationId xmlns:a16="http://schemas.microsoft.com/office/drawing/2014/main" id="{1C76F8CF-7353-9CFB-C32A-EFEF42C02EF3}"/>
              </a:ext>
            </a:extLst>
          </p:cNvPr>
          <p:cNvSpPr/>
          <p:nvPr/>
        </p:nvSpPr>
        <p:spPr>
          <a:xfrm>
            <a:off x="1157247" y="2168666"/>
            <a:ext cx="713100" cy="717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83" name="Google Shape;2564;g3f96060190c_3_90">
            <a:extLst>
              <a:ext uri="{FF2B5EF4-FFF2-40B4-BE49-F238E27FC236}">
                <a16:creationId xmlns:a16="http://schemas.microsoft.com/office/drawing/2014/main" id="{3FB95A6B-01E8-9EE9-85F3-B85B7AE91FE7}"/>
              </a:ext>
            </a:extLst>
          </p:cNvPr>
          <p:cNvSpPr/>
          <p:nvPr/>
        </p:nvSpPr>
        <p:spPr>
          <a:xfrm>
            <a:off x="1157247" y="2168666"/>
            <a:ext cx="7131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84" name="Google Shape;2565;g3f96060190c_3_90">
            <a:extLst>
              <a:ext uri="{FF2B5EF4-FFF2-40B4-BE49-F238E27FC236}">
                <a16:creationId xmlns:a16="http://schemas.microsoft.com/office/drawing/2014/main" id="{2489011C-F8E2-78DC-1561-4D79E598468D}"/>
              </a:ext>
            </a:extLst>
          </p:cNvPr>
          <p:cNvSpPr/>
          <p:nvPr/>
        </p:nvSpPr>
        <p:spPr>
          <a:xfrm>
            <a:off x="1157247" y="2168666"/>
            <a:ext cx="7131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Life Cycle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85" name="Google Shape;2566;g3f96060190c_3_90">
            <a:extLst>
              <a:ext uri="{FF2B5EF4-FFF2-40B4-BE49-F238E27FC236}">
                <a16:creationId xmlns:a16="http://schemas.microsoft.com/office/drawing/2014/main" id="{DA2362D2-5383-4906-AEC6-B38A90B50774}"/>
              </a:ext>
            </a:extLst>
          </p:cNvPr>
          <p:cNvSpPr/>
          <p:nvPr/>
        </p:nvSpPr>
        <p:spPr>
          <a:xfrm>
            <a:off x="1189103" y="2368860"/>
            <a:ext cx="6492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라이프사이클  관리 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86" name="Google Shape;2567;g3f96060190c_3_90">
            <a:extLst>
              <a:ext uri="{FF2B5EF4-FFF2-40B4-BE49-F238E27FC236}">
                <a16:creationId xmlns:a16="http://schemas.microsoft.com/office/drawing/2014/main" id="{6EE50EC0-B2AA-BEC7-7302-883732695B93}"/>
              </a:ext>
            </a:extLst>
          </p:cNvPr>
          <p:cNvSpPr/>
          <p:nvPr/>
        </p:nvSpPr>
        <p:spPr>
          <a:xfrm>
            <a:off x="1157247" y="2886027"/>
            <a:ext cx="713100" cy="717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87" name="Google Shape;2568;g3f96060190c_3_90">
            <a:extLst>
              <a:ext uri="{FF2B5EF4-FFF2-40B4-BE49-F238E27FC236}">
                <a16:creationId xmlns:a16="http://schemas.microsoft.com/office/drawing/2014/main" id="{91C4FF70-AA16-418A-6B05-2C91EFA0420B}"/>
              </a:ext>
            </a:extLst>
          </p:cNvPr>
          <p:cNvSpPr/>
          <p:nvPr/>
        </p:nvSpPr>
        <p:spPr>
          <a:xfrm>
            <a:off x="1157247" y="2886027"/>
            <a:ext cx="7131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88" name="Google Shape;2569;g3f96060190c_3_90">
            <a:extLst>
              <a:ext uri="{FF2B5EF4-FFF2-40B4-BE49-F238E27FC236}">
                <a16:creationId xmlns:a16="http://schemas.microsoft.com/office/drawing/2014/main" id="{8FA64B29-337A-1A1A-E74A-72B9A4D1A598}"/>
              </a:ext>
            </a:extLst>
          </p:cNvPr>
          <p:cNvSpPr/>
          <p:nvPr/>
        </p:nvSpPr>
        <p:spPr>
          <a:xfrm>
            <a:off x="1157247" y="2886027"/>
            <a:ext cx="7131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 i="0" u="none" strike="noStrike" cap="none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Work Space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89" name="Google Shape;2570;g3f96060190c_3_90">
            <a:extLst>
              <a:ext uri="{FF2B5EF4-FFF2-40B4-BE49-F238E27FC236}">
                <a16:creationId xmlns:a16="http://schemas.microsoft.com/office/drawing/2014/main" id="{B5C05D01-3866-78A2-557D-0310EE06C9EB}"/>
              </a:ext>
            </a:extLst>
          </p:cNvPr>
          <p:cNvSpPr/>
          <p:nvPr/>
        </p:nvSpPr>
        <p:spPr>
          <a:xfrm>
            <a:off x="1189103" y="3086221"/>
            <a:ext cx="6492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사용자별 작업 공간 관리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90" name="Google Shape;2571;g3f96060190c_3_90">
            <a:extLst>
              <a:ext uri="{FF2B5EF4-FFF2-40B4-BE49-F238E27FC236}">
                <a16:creationId xmlns:a16="http://schemas.microsoft.com/office/drawing/2014/main" id="{76DCCE5C-E82A-AD3C-3A19-92FA5AA747E6}"/>
              </a:ext>
            </a:extLst>
          </p:cNvPr>
          <p:cNvSpPr/>
          <p:nvPr/>
        </p:nvSpPr>
        <p:spPr>
          <a:xfrm>
            <a:off x="1870159" y="2168666"/>
            <a:ext cx="713100" cy="717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1" name="Google Shape;2572;g3f96060190c_3_90">
            <a:extLst>
              <a:ext uri="{FF2B5EF4-FFF2-40B4-BE49-F238E27FC236}">
                <a16:creationId xmlns:a16="http://schemas.microsoft.com/office/drawing/2014/main" id="{AB888609-0AC7-4977-3B88-6BE66EA8B2C9}"/>
              </a:ext>
            </a:extLst>
          </p:cNvPr>
          <p:cNvSpPr/>
          <p:nvPr/>
        </p:nvSpPr>
        <p:spPr>
          <a:xfrm>
            <a:off x="1870159" y="2168666"/>
            <a:ext cx="7131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2" name="Google Shape;2573;g3f96060190c_3_90">
            <a:extLst>
              <a:ext uri="{FF2B5EF4-FFF2-40B4-BE49-F238E27FC236}">
                <a16:creationId xmlns:a16="http://schemas.microsoft.com/office/drawing/2014/main" id="{F37CCF85-B409-0CD1-9104-417E86DD821B}"/>
              </a:ext>
            </a:extLst>
          </p:cNvPr>
          <p:cNvSpPr/>
          <p:nvPr/>
        </p:nvSpPr>
        <p:spPr>
          <a:xfrm>
            <a:off x="1870159" y="2168666"/>
            <a:ext cx="7131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 i="0" u="none" strike="noStrike" cap="none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AI 모델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93" name="Google Shape;2574;g3f96060190c_3_90">
            <a:extLst>
              <a:ext uri="{FF2B5EF4-FFF2-40B4-BE49-F238E27FC236}">
                <a16:creationId xmlns:a16="http://schemas.microsoft.com/office/drawing/2014/main" id="{3D48CED5-DE8D-6704-0EE5-CB42BD6C688D}"/>
              </a:ext>
            </a:extLst>
          </p:cNvPr>
          <p:cNvSpPr/>
          <p:nvPr/>
        </p:nvSpPr>
        <p:spPr>
          <a:xfrm>
            <a:off x="1902015" y="2368860"/>
            <a:ext cx="6492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LLM, 임베딩,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리랭킹 등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94" name="Google Shape;2575;g3f96060190c_3_90">
            <a:extLst>
              <a:ext uri="{FF2B5EF4-FFF2-40B4-BE49-F238E27FC236}">
                <a16:creationId xmlns:a16="http://schemas.microsoft.com/office/drawing/2014/main" id="{A63708FC-1C85-CED7-E849-6031EAEAE69E}"/>
              </a:ext>
            </a:extLst>
          </p:cNvPr>
          <p:cNvSpPr/>
          <p:nvPr/>
        </p:nvSpPr>
        <p:spPr>
          <a:xfrm>
            <a:off x="1870159" y="2886027"/>
            <a:ext cx="713100" cy="717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5" name="Google Shape;2576;g3f96060190c_3_90">
            <a:extLst>
              <a:ext uri="{FF2B5EF4-FFF2-40B4-BE49-F238E27FC236}">
                <a16:creationId xmlns:a16="http://schemas.microsoft.com/office/drawing/2014/main" id="{17B1D8C0-3E0E-9FAF-3F80-4621A8D00779}"/>
              </a:ext>
            </a:extLst>
          </p:cNvPr>
          <p:cNvSpPr/>
          <p:nvPr/>
        </p:nvSpPr>
        <p:spPr>
          <a:xfrm>
            <a:off x="1870159" y="2886027"/>
            <a:ext cx="7131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6" name="Google Shape;2577;g3f96060190c_3_90">
            <a:extLst>
              <a:ext uri="{FF2B5EF4-FFF2-40B4-BE49-F238E27FC236}">
                <a16:creationId xmlns:a16="http://schemas.microsoft.com/office/drawing/2014/main" id="{74E36558-9548-C07D-5D1C-9EB5DDFD55B0}"/>
              </a:ext>
            </a:extLst>
          </p:cNvPr>
          <p:cNvSpPr/>
          <p:nvPr/>
        </p:nvSpPr>
        <p:spPr>
          <a:xfrm>
            <a:off x="1870159" y="2886027"/>
            <a:ext cx="7131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 i="0" u="none" strike="noStrike" cap="none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AI Tool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97" name="Google Shape;2578;g3f96060190c_3_90">
            <a:extLst>
              <a:ext uri="{FF2B5EF4-FFF2-40B4-BE49-F238E27FC236}">
                <a16:creationId xmlns:a16="http://schemas.microsoft.com/office/drawing/2014/main" id="{7E000A9C-A95E-5227-9683-E581EEFACC0E}"/>
              </a:ext>
            </a:extLst>
          </p:cNvPr>
          <p:cNvSpPr/>
          <p:nvPr/>
        </p:nvSpPr>
        <p:spPr>
          <a:xfrm>
            <a:off x="1902015" y="3086221"/>
            <a:ext cx="6492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GPU Pool관리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Agent/MCP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98" name="Google Shape;2579;g3f96060190c_3_90">
            <a:extLst>
              <a:ext uri="{FF2B5EF4-FFF2-40B4-BE49-F238E27FC236}">
                <a16:creationId xmlns:a16="http://schemas.microsoft.com/office/drawing/2014/main" id="{9D257309-855F-DD5F-1AE8-C1400A774892}"/>
              </a:ext>
            </a:extLst>
          </p:cNvPr>
          <p:cNvSpPr/>
          <p:nvPr/>
        </p:nvSpPr>
        <p:spPr>
          <a:xfrm>
            <a:off x="2583071" y="2168666"/>
            <a:ext cx="834300" cy="717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9" name="Google Shape;2580;g3f96060190c_3_90">
            <a:extLst>
              <a:ext uri="{FF2B5EF4-FFF2-40B4-BE49-F238E27FC236}">
                <a16:creationId xmlns:a16="http://schemas.microsoft.com/office/drawing/2014/main" id="{0E4EDCF4-3CA2-7BBF-CDA1-37CCCCA05748}"/>
              </a:ext>
            </a:extLst>
          </p:cNvPr>
          <p:cNvSpPr/>
          <p:nvPr/>
        </p:nvSpPr>
        <p:spPr>
          <a:xfrm>
            <a:off x="2583071" y="2168666"/>
            <a:ext cx="8343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00" name="Google Shape;2581;g3f96060190c_3_90">
            <a:extLst>
              <a:ext uri="{FF2B5EF4-FFF2-40B4-BE49-F238E27FC236}">
                <a16:creationId xmlns:a16="http://schemas.microsoft.com/office/drawing/2014/main" id="{8B7C41E9-7B97-84DB-D4E5-13C7BB5005C2}"/>
              </a:ext>
            </a:extLst>
          </p:cNvPr>
          <p:cNvSpPr/>
          <p:nvPr/>
        </p:nvSpPr>
        <p:spPr>
          <a:xfrm>
            <a:off x="2583071" y="2168666"/>
            <a:ext cx="8343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 i="0" u="none" strike="noStrike" cap="none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RAG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01" name="Google Shape;2582;g3f96060190c_3_90">
            <a:extLst>
              <a:ext uri="{FF2B5EF4-FFF2-40B4-BE49-F238E27FC236}">
                <a16:creationId xmlns:a16="http://schemas.microsoft.com/office/drawing/2014/main" id="{74D4F7BC-E3D4-6F53-6BC0-6391507E729E}"/>
              </a:ext>
            </a:extLst>
          </p:cNvPr>
          <p:cNvSpPr/>
          <p:nvPr/>
        </p:nvSpPr>
        <p:spPr>
          <a:xfrm>
            <a:off x="2614927" y="2368860"/>
            <a:ext cx="7710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임베딩 생성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Vector DB(내/외부),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Retriever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02" name="Google Shape;2583;g3f96060190c_3_90">
            <a:extLst>
              <a:ext uri="{FF2B5EF4-FFF2-40B4-BE49-F238E27FC236}">
                <a16:creationId xmlns:a16="http://schemas.microsoft.com/office/drawing/2014/main" id="{7C2789D7-22EB-CF26-C116-68B154D76031}"/>
              </a:ext>
            </a:extLst>
          </p:cNvPr>
          <p:cNvSpPr/>
          <p:nvPr/>
        </p:nvSpPr>
        <p:spPr>
          <a:xfrm>
            <a:off x="2583071" y="2886027"/>
            <a:ext cx="834300" cy="717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03" name="Google Shape;2584;g3f96060190c_3_90">
            <a:extLst>
              <a:ext uri="{FF2B5EF4-FFF2-40B4-BE49-F238E27FC236}">
                <a16:creationId xmlns:a16="http://schemas.microsoft.com/office/drawing/2014/main" id="{FFCE08E4-5196-F8DD-7A3A-7AB39E27D908}"/>
              </a:ext>
            </a:extLst>
          </p:cNvPr>
          <p:cNvSpPr/>
          <p:nvPr/>
        </p:nvSpPr>
        <p:spPr>
          <a:xfrm>
            <a:off x="2583071" y="2886027"/>
            <a:ext cx="8343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04" name="Google Shape;2585;g3f96060190c_3_90">
            <a:extLst>
              <a:ext uri="{FF2B5EF4-FFF2-40B4-BE49-F238E27FC236}">
                <a16:creationId xmlns:a16="http://schemas.microsoft.com/office/drawing/2014/main" id="{A32A99F9-18AD-49A4-6EFB-B8AF67C7BDD6}"/>
              </a:ext>
            </a:extLst>
          </p:cNvPr>
          <p:cNvSpPr/>
          <p:nvPr/>
        </p:nvSpPr>
        <p:spPr>
          <a:xfrm>
            <a:off x="2583071" y="2886027"/>
            <a:ext cx="8343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 i="0" u="none" strike="noStrike" cap="none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LLM Connector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05" name="Google Shape;2586;g3f96060190c_3_90">
            <a:extLst>
              <a:ext uri="{FF2B5EF4-FFF2-40B4-BE49-F238E27FC236}">
                <a16:creationId xmlns:a16="http://schemas.microsoft.com/office/drawing/2014/main" id="{8127133E-42B2-5DCB-371B-3D6CE1401F1C}"/>
              </a:ext>
            </a:extLst>
          </p:cNvPr>
          <p:cNvSpPr/>
          <p:nvPr/>
        </p:nvSpPr>
        <p:spPr>
          <a:xfrm>
            <a:off x="2614927" y="3086221"/>
            <a:ext cx="7710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Service API 관리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응답관리(JSON 등)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06" name="Google Shape;2587;g3f96060190c_3_90">
            <a:extLst>
              <a:ext uri="{FF2B5EF4-FFF2-40B4-BE49-F238E27FC236}">
                <a16:creationId xmlns:a16="http://schemas.microsoft.com/office/drawing/2014/main" id="{20AEB3FC-FB67-C054-15DB-433D4391DB91}"/>
              </a:ext>
            </a:extLst>
          </p:cNvPr>
          <p:cNvSpPr/>
          <p:nvPr/>
        </p:nvSpPr>
        <p:spPr>
          <a:xfrm>
            <a:off x="3417700" y="2168666"/>
            <a:ext cx="1217100" cy="1434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07" name="Google Shape;2588;g3f96060190c_3_90">
            <a:extLst>
              <a:ext uri="{FF2B5EF4-FFF2-40B4-BE49-F238E27FC236}">
                <a16:creationId xmlns:a16="http://schemas.microsoft.com/office/drawing/2014/main" id="{D0734538-DF46-FF6E-65CD-942E657F5BAD}"/>
              </a:ext>
            </a:extLst>
          </p:cNvPr>
          <p:cNvSpPr/>
          <p:nvPr/>
        </p:nvSpPr>
        <p:spPr>
          <a:xfrm>
            <a:off x="3417700" y="2168666"/>
            <a:ext cx="1217100" cy="173400"/>
          </a:xfrm>
          <a:prstGeom prst="rect">
            <a:avLst/>
          </a:prstGeom>
          <a:solidFill>
            <a:srgbClr val="EAF2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08" name="Google Shape;2589;g3f96060190c_3_90">
            <a:extLst>
              <a:ext uri="{FF2B5EF4-FFF2-40B4-BE49-F238E27FC236}">
                <a16:creationId xmlns:a16="http://schemas.microsoft.com/office/drawing/2014/main" id="{06375738-BB90-4929-98EA-E3278223ECBA}"/>
              </a:ext>
            </a:extLst>
          </p:cNvPr>
          <p:cNvSpPr/>
          <p:nvPr/>
        </p:nvSpPr>
        <p:spPr>
          <a:xfrm>
            <a:off x="3417700" y="2168666"/>
            <a:ext cx="12171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324A"/>
              </a:buClr>
              <a:buSzPts val="1050"/>
              <a:buFont typeface="Malgun Gothic"/>
              <a:buNone/>
            </a:pPr>
            <a:r>
              <a:rPr lang="ko-KR" sz="1050" b="1" i="0" u="none" strike="noStrike" cap="none">
                <a:solidFill>
                  <a:srgbClr val="16324A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AI 모델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09" name="Google Shape;2590;g3f96060190c_3_90">
            <a:extLst>
              <a:ext uri="{FF2B5EF4-FFF2-40B4-BE49-F238E27FC236}">
                <a16:creationId xmlns:a16="http://schemas.microsoft.com/office/drawing/2014/main" id="{321FAE17-4691-44AF-C3C5-D429CCA48D2A}"/>
              </a:ext>
            </a:extLst>
          </p:cNvPr>
          <p:cNvSpPr/>
          <p:nvPr/>
        </p:nvSpPr>
        <p:spPr>
          <a:xfrm>
            <a:off x="3449556" y="2368860"/>
            <a:ext cx="1153500" cy="119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LangChain</a:t>
            </a: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 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Built-in</a:t>
            </a: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 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Chains</a:t>
            </a:r>
            <a:endParaRPr sz="80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Prompt</a:t>
            </a: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 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Template</a:t>
            </a:r>
            <a:endParaRPr sz="80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Text</a:t>
            </a: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-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to</a:t>
            </a: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-SQL 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Chain</a:t>
            </a:r>
            <a:endParaRPr sz="80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RAG 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Retrieval</a:t>
            </a: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 QA 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Chain</a:t>
            </a:r>
            <a:endParaRPr sz="80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 dirty="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정책/보안/</a:t>
            </a:r>
            <a:r>
              <a:rPr lang="ko-KR" sz="800" b="0" i="0" u="none" strike="noStrike" cap="none" dirty="0" err="1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Guardrails</a:t>
            </a:r>
            <a:endParaRPr sz="800" b="0" i="0" u="none" strike="noStrike" cap="none" dirty="0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10" name="Google Shape;2591;g3f96060190c_3_90">
            <a:extLst>
              <a:ext uri="{FF2B5EF4-FFF2-40B4-BE49-F238E27FC236}">
                <a16:creationId xmlns:a16="http://schemas.microsoft.com/office/drawing/2014/main" id="{59561325-1401-907C-8F95-01B4C010B7C9}"/>
              </a:ext>
            </a:extLst>
          </p:cNvPr>
          <p:cNvSpPr/>
          <p:nvPr/>
        </p:nvSpPr>
        <p:spPr>
          <a:xfrm>
            <a:off x="4741054" y="2168666"/>
            <a:ext cx="929100" cy="14346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E08A2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11" name="Google Shape;2592;g3f96060190c_3_90">
            <a:extLst>
              <a:ext uri="{FF2B5EF4-FFF2-40B4-BE49-F238E27FC236}">
                <a16:creationId xmlns:a16="http://schemas.microsoft.com/office/drawing/2014/main" id="{AB930B4A-FCBB-A18C-C5DC-0CB0E987C2E1}"/>
              </a:ext>
            </a:extLst>
          </p:cNvPr>
          <p:cNvSpPr/>
          <p:nvPr/>
        </p:nvSpPr>
        <p:spPr>
          <a:xfrm>
            <a:off x="4741054" y="2168666"/>
            <a:ext cx="929100" cy="200100"/>
          </a:xfrm>
          <a:prstGeom prst="rect">
            <a:avLst/>
          </a:prstGeom>
          <a:solidFill>
            <a:srgbClr val="E08A2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12" name="Google Shape;2593;g3f96060190c_3_90">
            <a:extLst>
              <a:ext uri="{FF2B5EF4-FFF2-40B4-BE49-F238E27FC236}">
                <a16:creationId xmlns:a16="http://schemas.microsoft.com/office/drawing/2014/main" id="{EB5E9914-6211-4013-3D80-F711151ABC70}"/>
              </a:ext>
            </a:extLst>
          </p:cNvPr>
          <p:cNvSpPr/>
          <p:nvPr/>
        </p:nvSpPr>
        <p:spPr>
          <a:xfrm>
            <a:off x="4741054" y="2168666"/>
            <a:ext cx="9291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검색엔진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13" name="Google Shape;2594;g3f96060190c_3_90">
            <a:extLst>
              <a:ext uri="{FF2B5EF4-FFF2-40B4-BE49-F238E27FC236}">
                <a16:creationId xmlns:a16="http://schemas.microsoft.com/office/drawing/2014/main" id="{13A2989F-362D-0F15-242E-45DA2F70DE60}"/>
              </a:ext>
            </a:extLst>
          </p:cNvPr>
          <p:cNvSpPr/>
          <p:nvPr/>
        </p:nvSpPr>
        <p:spPr>
          <a:xfrm>
            <a:off x="4804766" y="2448937"/>
            <a:ext cx="801600" cy="2400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E08A2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14" name="Google Shape;2595;g3f96060190c_3_90">
            <a:extLst>
              <a:ext uri="{FF2B5EF4-FFF2-40B4-BE49-F238E27FC236}">
                <a16:creationId xmlns:a16="http://schemas.microsoft.com/office/drawing/2014/main" id="{A1E65A3E-CAF6-8410-8B46-BDE652CBFFB0}"/>
              </a:ext>
            </a:extLst>
          </p:cNvPr>
          <p:cNvSpPr/>
          <p:nvPr/>
        </p:nvSpPr>
        <p:spPr>
          <a:xfrm>
            <a:off x="4804766" y="2448937"/>
            <a:ext cx="8016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온톨로지 구성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15" name="Google Shape;2596;g3f96060190c_3_90">
            <a:extLst>
              <a:ext uri="{FF2B5EF4-FFF2-40B4-BE49-F238E27FC236}">
                <a16:creationId xmlns:a16="http://schemas.microsoft.com/office/drawing/2014/main" id="{A693D8B7-9B21-FB84-43CB-DC6FB121348B}"/>
              </a:ext>
            </a:extLst>
          </p:cNvPr>
          <p:cNvSpPr/>
          <p:nvPr/>
        </p:nvSpPr>
        <p:spPr>
          <a:xfrm>
            <a:off x="4804766" y="2729208"/>
            <a:ext cx="801600" cy="2400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E08A2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16" name="Google Shape;2597;g3f96060190c_3_90">
            <a:extLst>
              <a:ext uri="{FF2B5EF4-FFF2-40B4-BE49-F238E27FC236}">
                <a16:creationId xmlns:a16="http://schemas.microsoft.com/office/drawing/2014/main" id="{62889CF0-C054-772A-7691-60A32DD3B46A}"/>
              </a:ext>
            </a:extLst>
          </p:cNvPr>
          <p:cNvSpPr/>
          <p:nvPr/>
        </p:nvSpPr>
        <p:spPr>
          <a:xfrm>
            <a:off x="4804766" y="2729208"/>
            <a:ext cx="8016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질의 의도분석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17" name="Google Shape;2598;g3f96060190c_3_90">
            <a:extLst>
              <a:ext uri="{FF2B5EF4-FFF2-40B4-BE49-F238E27FC236}">
                <a16:creationId xmlns:a16="http://schemas.microsoft.com/office/drawing/2014/main" id="{B9A223F0-6096-6ADB-41F7-3511C7A92B88}"/>
              </a:ext>
            </a:extLst>
          </p:cNvPr>
          <p:cNvSpPr/>
          <p:nvPr/>
        </p:nvSpPr>
        <p:spPr>
          <a:xfrm>
            <a:off x="4804766" y="3009480"/>
            <a:ext cx="801600" cy="2400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E08A2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18" name="Google Shape;2599;g3f96060190c_3_90">
            <a:extLst>
              <a:ext uri="{FF2B5EF4-FFF2-40B4-BE49-F238E27FC236}">
                <a16:creationId xmlns:a16="http://schemas.microsoft.com/office/drawing/2014/main" id="{BA8F8D46-690B-03B7-DE38-20D323E383E6}"/>
              </a:ext>
            </a:extLst>
          </p:cNvPr>
          <p:cNvSpPr/>
          <p:nvPr/>
        </p:nvSpPr>
        <p:spPr>
          <a:xfrm>
            <a:off x="4804766" y="3009480"/>
            <a:ext cx="8016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 b="0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Data Catalog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19" name="Google Shape;2600;g3f96060190c_3_90">
            <a:extLst>
              <a:ext uri="{FF2B5EF4-FFF2-40B4-BE49-F238E27FC236}">
                <a16:creationId xmlns:a16="http://schemas.microsoft.com/office/drawing/2014/main" id="{283BD666-09BE-3D3A-76B2-0EF987D923D2}"/>
              </a:ext>
            </a:extLst>
          </p:cNvPr>
          <p:cNvSpPr/>
          <p:nvPr/>
        </p:nvSpPr>
        <p:spPr>
          <a:xfrm>
            <a:off x="4804766" y="3289751"/>
            <a:ext cx="801600" cy="2400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E08A2E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0" name="Google Shape;2601;g3f96060190c_3_90">
            <a:extLst>
              <a:ext uri="{FF2B5EF4-FFF2-40B4-BE49-F238E27FC236}">
                <a16:creationId xmlns:a16="http://schemas.microsoft.com/office/drawing/2014/main" id="{4EFE9042-F19A-37C2-8805-32D31B77918A}"/>
              </a:ext>
            </a:extLst>
          </p:cNvPr>
          <p:cNvSpPr/>
          <p:nvPr/>
        </p:nvSpPr>
        <p:spPr>
          <a:xfrm>
            <a:off x="4804766" y="3289751"/>
            <a:ext cx="8016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데이터 추천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21" name="Google Shape;2602;g3f96060190c_3_90">
            <a:extLst>
              <a:ext uri="{FF2B5EF4-FFF2-40B4-BE49-F238E27FC236}">
                <a16:creationId xmlns:a16="http://schemas.microsoft.com/office/drawing/2014/main" id="{FAB9616D-8A4D-D7E9-978A-BA5676A7476C}"/>
              </a:ext>
            </a:extLst>
          </p:cNvPr>
          <p:cNvSpPr/>
          <p:nvPr/>
        </p:nvSpPr>
        <p:spPr>
          <a:xfrm>
            <a:off x="1157247" y="3803581"/>
            <a:ext cx="1592700" cy="10008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2" name="Google Shape;2603;g3f96060190c_3_90">
            <a:extLst>
              <a:ext uri="{FF2B5EF4-FFF2-40B4-BE49-F238E27FC236}">
                <a16:creationId xmlns:a16="http://schemas.microsoft.com/office/drawing/2014/main" id="{933005B4-4DE5-97E6-F104-6AAADB0D3E09}"/>
              </a:ext>
            </a:extLst>
          </p:cNvPr>
          <p:cNvSpPr/>
          <p:nvPr/>
        </p:nvSpPr>
        <p:spPr>
          <a:xfrm>
            <a:off x="1157247" y="3803581"/>
            <a:ext cx="669000" cy="1866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3" name="Google Shape;2604;g3f96060190c_3_90">
            <a:extLst>
              <a:ext uri="{FF2B5EF4-FFF2-40B4-BE49-F238E27FC236}">
                <a16:creationId xmlns:a16="http://schemas.microsoft.com/office/drawing/2014/main" id="{7EB64CF2-1ADC-00E0-89E1-99E6EEC85D5C}"/>
              </a:ext>
            </a:extLst>
          </p:cNvPr>
          <p:cNvSpPr/>
          <p:nvPr/>
        </p:nvSpPr>
        <p:spPr>
          <a:xfrm>
            <a:off x="1157247" y="3803581"/>
            <a:ext cx="669000" cy="1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Data lake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24" name="Google Shape;2605;g3f96060190c_3_90">
            <a:extLst>
              <a:ext uri="{FF2B5EF4-FFF2-40B4-BE49-F238E27FC236}">
                <a16:creationId xmlns:a16="http://schemas.microsoft.com/office/drawing/2014/main" id="{F6429DBB-20A6-2371-DA08-80E3926D611D}"/>
              </a:ext>
            </a:extLst>
          </p:cNvPr>
          <p:cNvSpPr/>
          <p:nvPr/>
        </p:nvSpPr>
        <p:spPr>
          <a:xfrm>
            <a:off x="1236887" y="4070506"/>
            <a:ext cx="398100" cy="366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5" name="Google Shape;2606;g3f96060190c_3_90">
            <a:extLst>
              <a:ext uri="{FF2B5EF4-FFF2-40B4-BE49-F238E27FC236}">
                <a16:creationId xmlns:a16="http://schemas.microsoft.com/office/drawing/2014/main" id="{B61914B8-39EB-9E98-C873-0D0A61953156}"/>
              </a:ext>
            </a:extLst>
          </p:cNvPr>
          <p:cNvSpPr/>
          <p:nvPr/>
        </p:nvSpPr>
        <p:spPr>
          <a:xfrm>
            <a:off x="1236887" y="4070506"/>
            <a:ext cx="398100" cy="36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50"/>
              <a:buFont typeface="Malgun Gothic"/>
              <a:buNone/>
            </a:pPr>
            <a:r>
              <a:rPr lang="ko-KR" sz="8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raw </a:t>
            </a:r>
            <a:endParaRPr sz="850">
              <a:solidFill>
                <a:srgbClr val="222222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algun Gothic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50"/>
              <a:buFont typeface="Malgun Gothic"/>
              <a:buNone/>
            </a:pPr>
            <a:r>
              <a:rPr lang="ko-KR" sz="8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Data</a:t>
            </a:r>
            <a:endParaRPr sz="850">
              <a:solidFill>
                <a:srgbClr val="222222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algun Gothic"/>
            </a:endParaRPr>
          </a:p>
        </p:txBody>
      </p:sp>
      <p:sp>
        <p:nvSpPr>
          <p:cNvPr id="126" name="Google Shape;2607;g3f96060190c_3_90">
            <a:extLst>
              <a:ext uri="{FF2B5EF4-FFF2-40B4-BE49-F238E27FC236}">
                <a16:creationId xmlns:a16="http://schemas.microsoft.com/office/drawing/2014/main" id="{D0F761D4-F7EB-87D2-A1B4-D2A59763CBD4}"/>
              </a:ext>
            </a:extLst>
          </p:cNvPr>
          <p:cNvSpPr/>
          <p:nvPr/>
        </p:nvSpPr>
        <p:spPr>
          <a:xfrm>
            <a:off x="1874008" y="4070506"/>
            <a:ext cx="398100" cy="1671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7" name="Google Shape;2608;g3f96060190c_3_90">
            <a:extLst>
              <a:ext uri="{FF2B5EF4-FFF2-40B4-BE49-F238E27FC236}">
                <a16:creationId xmlns:a16="http://schemas.microsoft.com/office/drawing/2014/main" id="{626D714B-6177-2510-805B-6AD485C036DB}"/>
              </a:ext>
            </a:extLst>
          </p:cNvPr>
          <p:cNvSpPr/>
          <p:nvPr/>
        </p:nvSpPr>
        <p:spPr>
          <a:xfrm>
            <a:off x="1874008" y="4070506"/>
            <a:ext cx="398100" cy="16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750"/>
              <a:buFont typeface="Malgun Gothic"/>
              <a:buNone/>
            </a:pPr>
            <a:r>
              <a:rPr lang="ko-KR" sz="7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catalog</a:t>
            </a:r>
            <a:endParaRPr sz="7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28" name="Google Shape;2609;g3f96060190c_3_90">
            <a:extLst>
              <a:ext uri="{FF2B5EF4-FFF2-40B4-BE49-F238E27FC236}">
                <a16:creationId xmlns:a16="http://schemas.microsoft.com/office/drawing/2014/main" id="{C0745E05-A1F6-1CF5-07EC-590B9D912316}"/>
              </a:ext>
            </a:extLst>
          </p:cNvPr>
          <p:cNvSpPr/>
          <p:nvPr/>
        </p:nvSpPr>
        <p:spPr>
          <a:xfrm>
            <a:off x="1874008" y="4270700"/>
            <a:ext cx="398100" cy="1671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9" name="Google Shape;2610;g3f96060190c_3_90">
            <a:extLst>
              <a:ext uri="{FF2B5EF4-FFF2-40B4-BE49-F238E27FC236}">
                <a16:creationId xmlns:a16="http://schemas.microsoft.com/office/drawing/2014/main" id="{ABDA6646-7E25-ECFA-0130-CA1F77418316}"/>
              </a:ext>
            </a:extLst>
          </p:cNvPr>
          <p:cNvSpPr/>
          <p:nvPr/>
        </p:nvSpPr>
        <p:spPr>
          <a:xfrm>
            <a:off x="1874008" y="4270700"/>
            <a:ext cx="398100" cy="16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750"/>
              <a:buFont typeface="Malgun Gothic"/>
              <a:buNone/>
            </a:pPr>
            <a:r>
              <a:rPr lang="ko-KR" sz="75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Mate Data </a:t>
            </a:r>
            <a:endParaRPr sz="7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cxnSp>
        <p:nvCxnSpPr>
          <p:cNvPr id="130" name="Google Shape;2611;g3f96060190c_3_90">
            <a:extLst>
              <a:ext uri="{FF2B5EF4-FFF2-40B4-BE49-F238E27FC236}">
                <a16:creationId xmlns:a16="http://schemas.microsoft.com/office/drawing/2014/main" id="{C73D14D0-366D-8E39-7F77-3E243657F435}"/>
              </a:ext>
            </a:extLst>
          </p:cNvPr>
          <p:cNvCxnSpPr/>
          <p:nvPr/>
        </p:nvCxnSpPr>
        <p:spPr>
          <a:xfrm>
            <a:off x="1635088" y="4150584"/>
            <a:ext cx="228300" cy="0"/>
          </a:xfrm>
          <a:prstGeom prst="straightConnector1">
            <a:avLst/>
          </a:prstGeom>
          <a:noFill/>
          <a:ln w="12700" cap="flat" cmpd="sng">
            <a:solidFill>
              <a:srgbClr val="555555"/>
            </a:solidFill>
            <a:prstDash val="solid"/>
            <a:round/>
            <a:headEnd type="none" w="sm" len="sm"/>
            <a:tailEnd type="triangle" w="med" len="med"/>
          </a:ln>
        </p:spPr>
      </p:cxnSp>
      <p:cxnSp>
        <p:nvCxnSpPr>
          <p:cNvPr id="131" name="Google Shape;2612;g3f96060190c_3_90">
            <a:extLst>
              <a:ext uri="{FF2B5EF4-FFF2-40B4-BE49-F238E27FC236}">
                <a16:creationId xmlns:a16="http://schemas.microsoft.com/office/drawing/2014/main" id="{F1324047-9A22-CEA5-B15F-D0EA874DEB1A}"/>
              </a:ext>
            </a:extLst>
          </p:cNvPr>
          <p:cNvCxnSpPr/>
          <p:nvPr/>
        </p:nvCxnSpPr>
        <p:spPr>
          <a:xfrm>
            <a:off x="1635088" y="4257354"/>
            <a:ext cx="228300" cy="93600"/>
          </a:xfrm>
          <a:prstGeom prst="straightConnector1">
            <a:avLst/>
          </a:prstGeom>
          <a:noFill/>
          <a:ln w="12700" cap="flat" cmpd="sng">
            <a:solidFill>
              <a:srgbClr val="555555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2" name="Google Shape;2613;g3f96060190c_3_90">
            <a:extLst>
              <a:ext uri="{FF2B5EF4-FFF2-40B4-BE49-F238E27FC236}">
                <a16:creationId xmlns:a16="http://schemas.microsoft.com/office/drawing/2014/main" id="{A1060550-6B83-0AB1-4BCE-27841DFBE365}"/>
              </a:ext>
            </a:extLst>
          </p:cNvPr>
          <p:cNvSpPr/>
          <p:nvPr/>
        </p:nvSpPr>
        <p:spPr>
          <a:xfrm>
            <a:off x="1661635" y="4023795"/>
            <a:ext cx="212400" cy="1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650"/>
              <a:buFont typeface="Malgun Gothic"/>
              <a:buNone/>
            </a:pPr>
            <a:r>
              <a:rPr lang="ko-KR" sz="650" b="0" i="0" u="none" strike="noStrike" cap="none">
                <a:solidFill>
                  <a:srgbClr val="555555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ETL</a:t>
            </a:r>
            <a:endParaRPr sz="6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33" name="Google Shape;2614;g3f96060190c_3_90">
            <a:extLst>
              <a:ext uri="{FF2B5EF4-FFF2-40B4-BE49-F238E27FC236}">
                <a16:creationId xmlns:a16="http://schemas.microsoft.com/office/drawing/2014/main" id="{8B6B8080-F6D0-3A28-B021-A1392837612B}"/>
              </a:ext>
            </a:extLst>
          </p:cNvPr>
          <p:cNvSpPr/>
          <p:nvPr/>
        </p:nvSpPr>
        <p:spPr>
          <a:xfrm>
            <a:off x="2856237" y="3803581"/>
            <a:ext cx="1035300" cy="10008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34" name="Google Shape;2615;g3f96060190c_3_90">
            <a:extLst>
              <a:ext uri="{FF2B5EF4-FFF2-40B4-BE49-F238E27FC236}">
                <a16:creationId xmlns:a16="http://schemas.microsoft.com/office/drawing/2014/main" id="{593B4A2E-8F83-C157-04C3-9E5AA8A4F4FC}"/>
              </a:ext>
            </a:extLst>
          </p:cNvPr>
          <p:cNvSpPr/>
          <p:nvPr/>
        </p:nvSpPr>
        <p:spPr>
          <a:xfrm>
            <a:off x="2856237" y="3803581"/>
            <a:ext cx="1035300" cy="1866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35" name="Google Shape;2616;g3f96060190c_3_90">
            <a:extLst>
              <a:ext uri="{FF2B5EF4-FFF2-40B4-BE49-F238E27FC236}">
                <a16:creationId xmlns:a16="http://schemas.microsoft.com/office/drawing/2014/main" id="{0497F379-584C-A541-CC4A-CF9D7FF251CC}"/>
              </a:ext>
            </a:extLst>
          </p:cNvPr>
          <p:cNvSpPr/>
          <p:nvPr/>
        </p:nvSpPr>
        <p:spPr>
          <a:xfrm>
            <a:off x="2856237" y="3803581"/>
            <a:ext cx="1035300" cy="1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Vector DB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36" name="Google Shape;2617;g3f96060190c_3_90">
            <a:extLst>
              <a:ext uri="{FF2B5EF4-FFF2-40B4-BE49-F238E27FC236}">
                <a16:creationId xmlns:a16="http://schemas.microsoft.com/office/drawing/2014/main" id="{DC5F7D16-E5A1-DF0E-50A5-F86E1A468723}"/>
              </a:ext>
            </a:extLst>
          </p:cNvPr>
          <p:cNvSpPr/>
          <p:nvPr/>
        </p:nvSpPr>
        <p:spPr>
          <a:xfrm>
            <a:off x="2919949" y="4043814"/>
            <a:ext cx="908100" cy="1866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37" name="Google Shape;2618;g3f96060190c_3_90">
            <a:extLst>
              <a:ext uri="{FF2B5EF4-FFF2-40B4-BE49-F238E27FC236}">
                <a16:creationId xmlns:a16="http://schemas.microsoft.com/office/drawing/2014/main" id="{C980130F-4E1A-0315-6416-888EC4F6C77C}"/>
              </a:ext>
            </a:extLst>
          </p:cNvPr>
          <p:cNvSpPr/>
          <p:nvPr/>
        </p:nvSpPr>
        <p:spPr>
          <a:xfrm>
            <a:off x="2919949" y="4043814"/>
            <a:ext cx="908100" cy="1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공통/표준/메타</a:t>
            </a:r>
            <a:endParaRPr sz="800">
              <a:solidFill>
                <a:srgbClr val="222222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algun Gothic"/>
            </a:endParaRPr>
          </a:p>
        </p:txBody>
      </p:sp>
      <p:cxnSp>
        <p:nvCxnSpPr>
          <p:cNvPr id="138" name="Google Shape;2619;g3f96060190c_3_90">
            <a:extLst>
              <a:ext uri="{FF2B5EF4-FFF2-40B4-BE49-F238E27FC236}">
                <a16:creationId xmlns:a16="http://schemas.microsoft.com/office/drawing/2014/main" id="{2B8DECF3-4530-4D42-4CAD-3E3F6E7BBE7B}"/>
              </a:ext>
            </a:extLst>
          </p:cNvPr>
          <p:cNvCxnSpPr/>
          <p:nvPr/>
        </p:nvCxnSpPr>
        <p:spPr>
          <a:xfrm>
            <a:off x="2739431" y="4203969"/>
            <a:ext cx="127500" cy="0"/>
          </a:xfrm>
          <a:prstGeom prst="straightConnector1">
            <a:avLst/>
          </a:prstGeom>
          <a:noFill/>
          <a:ln w="12700" cap="flat" cmpd="sng">
            <a:solidFill>
              <a:srgbClr val="555555"/>
            </a:solidFill>
            <a:prstDash val="solid"/>
            <a:round/>
            <a:headEnd type="none" w="sm" len="sm"/>
            <a:tailEnd type="triangle" w="med" len="med"/>
          </a:ln>
        </p:spPr>
      </p:cxnSp>
      <p:cxnSp>
        <p:nvCxnSpPr>
          <p:cNvPr id="139" name="Google Shape;2620;g3f96060190c_3_90">
            <a:extLst>
              <a:ext uri="{FF2B5EF4-FFF2-40B4-BE49-F238E27FC236}">
                <a16:creationId xmlns:a16="http://schemas.microsoft.com/office/drawing/2014/main" id="{839224FF-94E7-3539-BB76-2FA58929E920}"/>
              </a:ext>
            </a:extLst>
          </p:cNvPr>
          <p:cNvCxnSpPr/>
          <p:nvPr/>
        </p:nvCxnSpPr>
        <p:spPr>
          <a:xfrm rot="10800000" flipH="1">
            <a:off x="3373898" y="3603481"/>
            <a:ext cx="1513200" cy="200100"/>
          </a:xfrm>
          <a:prstGeom prst="straightConnector1">
            <a:avLst/>
          </a:prstGeom>
          <a:noFill/>
          <a:ln w="12700" cap="flat" cmpd="sng">
            <a:solidFill>
              <a:srgbClr val="555555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40" name="Google Shape;2621;g3f96060190c_3_90">
            <a:extLst>
              <a:ext uri="{FF2B5EF4-FFF2-40B4-BE49-F238E27FC236}">
                <a16:creationId xmlns:a16="http://schemas.microsoft.com/office/drawing/2014/main" id="{C0460967-9675-DC32-6229-60ACE18CF964}"/>
              </a:ext>
            </a:extLst>
          </p:cNvPr>
          <p:cNvSpPr/>
          <p:nvPr/>
        </p:nvSpPr>
        <p:spPr>
          <a:xfrm>
            <a:off x="3692459" y="3623407"/>
            <a:ext cx="690300" cy="1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750"/>
              <a:buFont typeface="Malgun Gothic"/>
              <a:buNone/>
            </a:pPr>
            <a:r>
              <a:rPr lang="ko-KR" sz="750" b="0" i="0" u="none" strike="noStrike" cap="none">
                <a:solidFill>
                  <a:srgbClr val="555555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코호드 추출</a:t>
            </a:r>
            <a:endParaRPr sz="7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41" name="Google Shape;2622;g3f96060190c_3_90">
            <a:extLst>
              <a:ext uri="{FF2B5EF4-FFF2-40B4-BE49-F238E27FC236}">
                <a16:creationId xmlns:a16="http://schemas.microsoft.com/office/drawing/2014/main" id="{E6342EF9-B73B-F1BE-5BA8-151FC9B0E49B}"/>
              </a:ext>
            </a:extLst>
          </p:cNvPr>
          <p:cNvSpPr/>
          <p:nvPr/>
        </p:nvSpPr>
        <p:spPr>
          <a:xfrm>
            <a:off x="1157247" y="4871281"/>
            <a:ext cx="982200" cy="5337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2" name="Google Shape;2623;g3f96060190c_3_90">
            <a:extLst>
              <a:ext uri="{FF2B5EF4-FFF2-40B4-BE49-F238E27FC236}">
                <a16:creationId xmlns:a16="http://schemas.microsoft.com/office/drawing/2014/main" id="{C713E696-CFB0-11B0-2908-145D676F3EF6}"/>
              </a:ext>
            </a:extLst>
          </p:cNvPr>
          <p:cNvSpPr/>
          <p:nvPr/>
        </p:nvSpPr>
        <p:spPr>
          <a:xfrm>
            <a:off x="1157247" y="4871281"/>
            <a:ext cx="982200" cy="1734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3" name="Google Shape;2624;g3f96060190c_3_90">
            <a:extLst>
              <a:ext uri="{FF2B5EF4-FFF2-40B4-BE49-F238E27FC236}">
                <a16:creationId xmlns:a16="http://schemas.microsoft.com/office/drawing/2014/main" id="{65D812D6-CEF1-9347-FF3C-A43C49C4BB5D}"/>
              </a:ext>
            </a:extLst>
          </p:cNvPr>
          <p:cNvSpPr/>
          <p:nvPr/>
        </p:nvSpPr>
        <p:spPr>
          <a:xfrm>
            <a:off x="1157247" y="4871281"/>
            <a:ext cx="9822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44" name="Google Shape;2625;g3f96060190c_3_90">
            <a:extLst>
              <a:ext uri="{FF2B5EF4-FFF2-40B4-BE49-F238E27FC236}">
                <a16:creationId xmlns:a16="http://schemas.microsoft.com/office/drawing/2014/main" id="{586D68B1-7A5A-0EFB-BE76-6AC4BA299537}"/>
              </a:ext>
            </a:extLst>
          </p:cNvPr>
          <p:cNvSpPr/>
          <p:nvPr/>
        </p:nvSpPr>
        <p:spPr>
          <a:xfrm>
            <a:off x="1236887" y="5098168"/>
            <a:ext cx="822900" cy="240000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8A8A8A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5" name="Google Shape;2626;g3f96060190c_3_90">
            <a:extLst>
              <a:ext uri="{FF2B5EF4-FFF2-40B4-BE49-F238E27FC236}">
                <a16:creationId xmlns:a16="http://schemas.microsoft.com/office/drawing/2014/main" id="{D37C6B0F-3DF8-A466-07AD-EF96D7822818}"/>
              </a:ext>
            </a:extLst>
          </p:cNvPr>
          <p:cNvSpPr/>
          <p:nvPr/>
        </p:nvSpPr>
        <p:spPr>
          <a:xfrm>
            <a:off x="1236887" y="5098168"/>
            <a:ext cx="8229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46" name="Google Shape;2627;g3f96060190c_3_90">
            <a:extLst>
              <a:ext uri="{FF2B5EF4-FFF2-40B4-BE49-F238E27FC236}">
                <a16:creationId xmlns:a16="http://schemas.microsoft.com/office/drawing/2014/main" id="{00C76644-5E61-3AD5-424C-B0E2C9C4F5E6}"/>
              </a:ext>
            </a:extLst>
          </p:cNvPr>
          <p:cNvSpPr/>
          <p:nvPr/>
        </p:nvSpPr>
        <p:spPr>
          <a:xfrm>
            <a:off x="5988750" y="967504"/>
            <a:ext cx="717000" cy="1067700"/>
          </a:xfrm>
          <a:prstGeom prst="rect">
            <a:avLst/>
          </a:prstGeom>
          <a:solidFill>
            <a:srgbClr val="EAEAEA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7" name="Google Shape;2628;g3f96060190c_3_90">
            <a:extLst>
              <a:ext uri="{FF2B5EF4-FFF2-40B4-BE49-F238E27FC236}">
                <a16:creationId xmlns:a16="http://schemas.microsoft.com/office/drawing/2014/main" id="{49FDF83D-0A0D-7821-CF72-04ADC0964738}"/>
              </a:ext>
            </a:extLst>
          </p:cNvPr>
          <p:cNvSpPr/>
          <p:nvPr/>
        </p:nvSpPr>
        <p:spPr>
          <a:xfrm>
            <a:off x="5988750" y="967504"/>
            <a:ext cx="717000" cy="106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포털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서비스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제공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48" name="Google Shape;2629;g3f96060190c_3_90">
            <a:extLst>
              <a:ext uri="{FF2B5EF4-FFF2-40B4-BE49-F238E27FC236}">
                <a16:creationId xmlns:a16="http://schemas.microsoft.com/office/drawing/2014/main" id="{1B153E37-FF9B-9AA1-949C-59639EE5114A}"/>
              </a:ext>
            </a:extLst>
          </p:cNvPr>
          <p:cNvSpPr/>
          <p:nvPr/>
        </p:nvSpPr>
        <p:spPr>
          <a:xfrm>
            <a:off x="5988750" y="2168655"/>
            <a:ext cx="717000" cy="2560200"/>
          </a:xfrm>
          <a:prstGeom prst="rect">
            <a:avLst/>
          </a:prstGeom>
          <a:solidFill>
            <a:srgbClr val="EAEAEA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9" name="Google Shape;2630;g3f96060190c_3_90">
            <a:extLst>
              <a:ext uri="{FF2B5EF4-FFF2-40B4-BE49-F238E27FC236}">
                <a16:creationId xmlns:a16="http://schemas.microsoft.com/office/drawing/2014/main" id="{5FC03C30-527E-6FE2-FBE6-C6FF247BDE06}"/>
              </a:ext>
            </a:extLst>
          </p:cNvPr>
          <p:cNvSpPr/>
          <p:nvPr/>
        </p:nvSpPr>
        <p:spPr>
          <a:xfrm>
            <a:off x="5988750" y="2168658"/>
            <a:ext cx="717000" cy="256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데이터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및 AI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서비스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관리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50" name="Google Shape;2631;g3f96060190c_3_90">
            <a:extLst>
              <a:ext uri="{FF2B5EF4-FFF2-40B4-BE49-F238E27FC236}">
                <a16:creationId xmlns:a16="http://schemas.microsoft.com/office/drawing/2014/main" id="{89BB8646-0848-CF90-7282-35A334C0C44F}"/>
              </a:ext>
            </a:extLst>
          </p:cNvPr>
          <p:cNvSpPr/>
          <p:nvPr/>
        </p:nvSpPr>
        <p:spPr>
          <a:xfrm>
            <a:off x="5988750" y="4804407"/>
            <a:ext cx="717000" cy="580200"/>
          </a:xfrm>
          <a:prstGeom prst="rect">
            <a:avLst/>
          </a:prstGeom>
          <a:solidFill>
            <a:srgbClr val="EAEAEA"/>
          </a:solidFill>
          <a:ln w="9525" cap="flat" cmpd="sng">
            <a:solidFill>
              <a:srgbClr val="8A8A8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1" name="Google Shape;2632;g3f96060190c_3_90">
            <a:extLst>
              <a:ext uri="{FF2B5EF4-FFF2-40B4-BE49-F238E27FC236}">
                <a16:creationId xmlns:a16="http://schemas.microsoft.com/office/drawing/2014/main" id="{58E44DFC-1D35-AA31-01E1-2B77D787D648}"/>
              </a:ext>
            </a:extLst>
          </p:cNvPr>
          <p:cNvSpPr/>
          <p:nvPr/>
        </p:nvSpPr>
        <p:spPr>
          <a:xfrm>
            <a:off x="5988750" y="4804382"/>
            <a:ext cx="717000" cy="58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인프라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900"/>
              <a:buFont typeface="Malgun Gothic"/>
              <a:buNone/>
            </a:pPr>
            <a:r>
              <a:rPr lang="ko-KR" sz="900" b="1" i="0" u="none" strike="noStrike" cap="none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관리</a:t>
            </a:r>
            <a:endParaRPr sz="9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52" name="Google Shape;2633;g3f96060190c_3_90">
            <a:extLst>
              <a:ext uri="{FF2B5EF4-FFF2-40B4-BE49-F238E27FC236}">
                <a16:creationId xmlns:a16="http://schemas.microsoft.com/office/drawing/2014/main" id="{F8B12BB0-22DF-4E85-44AC-84443A0C5E92}"/>
              </a:ext>
            </a:extLst>
          </p:cNvPr>
          <p:cNvSpPr/>
          <p:nvPr/>
        </p:nvSpPr>
        <p:spPr>
          <a:xfrm>
            <a:off x="2211347" y="4844681"/>
            <a:ext cx="982200" cy="5337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3" name="Google Shape;2634;g3f96060190c_3_90">
            <a:extLst>
              <a:ext uri="{FF2B5EF4-FFF2-40B4-BE49-F238E27FC236}">
                <a16:creationId xmlns:a16="http://schemas.microsoft.com/office/drawing/2014/main" id="{90F10251-1BC6-4C49-32EC-4F93F4A46BDE}"/>
              </a:ext>
            </a:extLst>
          </p:cNvPr>
          <p:cNvSpPr/>
          <p:nvPr/>
        </p:nvSpPr>
        <p:spPr>
          <a:xfrm>
            <a:off x="2211347" y="4844681"/>
            <a:ext cx="982200" cy="1734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4" name="Google Shape;2635;g3f96060190c_3_90">
            <a:extLst>
              <a:ext uri="{FF2B5EF4-FFF2-40B4-BE49-F238E27FC236}">
                <a16:creationId xmlns:a16="http://schemas.microsoft.com/office/drawing/2014/main" id="{756074B7-53EE-D330-31DD-AE0860D27983}"/>
              </a:ext>
            </a:extLst>
          </p:cNvPr>
          <p:cNvSpPr/>
          <p:nvPr/>
        </p:nvSpPr>
        <p:spPr>
          <a:xfrm>
            <a:off x="2211347" y="4844681"/>
            <a:ext cx="9822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55" name="Google Shape;2636;g3f96060190c_3_90">
            <a:extLst>
              <a:ext uri="{FF2B5EF4-FFF2-40B4-BE49-F238E27FC236}">
                <a16:creationId xmlns:a16="http://schemas.microsoft.com/office/drawing/2014/main" id="{69E5F0B8-4F85-7FF5-CDF8-845472A336DD}"/>
              </a:ext>
            </a:extLst>
          </p:cNvPr>
          <p:cNvSpPr/>
          <p:nvPr/>
        </p:nvSpPr>
        <p:spPr>
          <a:xfrm>
            <a:off x="2290987" y="5071568"/>
            <a:ext cx="822900" cy="240000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8A8A8A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6" name="Google Shape;2637;g3f96060190c_3_90">
            <a:extLst>
              <a:ext uri="{FF2B5EF4-FFF2-40B4-BE49-F238E27FC236}">
                <a16:creationId xmlns:a16="http://schemas.microsoft.com/office/drawing/2014/main" id="{648F7BFA-4D7A-8DFE-D3B4-E19BEAD38AD3}"/>
              </a:ext>
            </a:extLst>
          </p:cNvPr>
          <p:cNvSpPr/>
          <p:nvPr/>
        </p:nvSpPr>
        <p:spPr>
          <a:xfrm>
            <a:off x="2290987" y="5071568"/>
            <a:ext cx="8229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57" name="Google Shape;2638;g3f96060190c_3_90">
            <a:extLst>
              <a:ext uri="{FF2B5EF4-FFF2-40B4-BE49-F238E27FC236}">
                <a16:creationId xmlns:a16="http://schemas.microsoft.com/office/drawing/2014/main" id="{FE7C4684-1246-C527-C4F3-3052D25AB3BF}"/>
              </a:ext>
            </a:extLst>
          </p:cNvPr>
          <p:cNvSpPr/>
          <p:nvPr/>
        </p:nvSpPr>
        <p:spPr>
          <a:xfrm>
            <a:off x="3345122" y="4851056"/>
            <a:ext cx="982200" cy="5337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8" name="Google Shape;2639;g3f96060190c_3_90">
            <a:extLst>
              <a:ext uri="{FF2B5EF4-FFF2-40B4-BE49-F238E27FC236}">
                <a16:creationId xmlns:a16="http://schemas.microsoft.com/office/drawing/2014/main" id="{88716F49-8918-B3A2-6A5A-5680B744E264}"/>
              </a:ext>
            </a:extLst>
          </p:cNvPr>
          <p:cNvSpPr/>
          <p:nvPr/>
        </p:nvSpPr>
        <p:spPr>
          <a:xfrm>
            <a:off x="3345122" y="4851056"/>
            <a:ext cx="982200" cy="1734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9" name="Google Shape;2640;g3f96060190c_3_90">
            <a:extLst>
              <a:ext uri="{FF2B5EF4-FFF2-40B4-BE49-F238E27FC236}">
                <a16:creationId xmlns:a16="http://schemas.microsoft.com/office/drawing/2014/main" id="{B979E73D-6D7F-E254-B083-7BCB9D197F5C}"/>
              </a:ext>
            </a:extLst>
          </p:cNvPr>
          <p:cNvSpPr/>
          <p:nvPr/>
        </p:nvSpPr>
        <p:spPr>
          <a:xfrm>
            <a:off x="3345122" y="4851056"/>
            <a:ext cx="9822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60" name="Google Shape;2641;g3f96060190c_3_90">
            <a:extLst>
              <a:ext uri="{FF2B5EF4-FFF2-40B4-BE49-F238E27FC236}">
                <a16:creationId xmlns:a16="http://schemas.microsoft.com/office/drawing/2014/main" id="{70248661-95BD-2EDA-D311-C626CF9372EA}"/>
              </a:ext>
            </a:extLst>
          </p:cNvPr>
          <p:cNvSpPr/>
          <p:nvPr/>
        </p:nvSpPr>
        <p:spPr>
          <a:xfrm>
            <a:off x="3424762" y="5077943"/>
            <a:ext cx="822900" cy="240000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8A8A8A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1" name="Google Shape;2642;g3f96060190c_3_90">
            <a:extLst>
              <a:ext uri="{FF2B5EF4-FFF2-40B4-BE49-F238E27FC236}">
                <a16:creationId xmlns:a16="http://schemas.microsoft.com/office/drawing/2014/main" id="{751E47DA-289E-F329-69A8-EEB15476CD0B}"/>
              </a:ext>
            </a:extLst>
          </p:cNvPr>
          <p:cNvSpPr/>
          <p:nvPr/>
        </p:nvSpPr>
        <p:spPr>
          <a:xfrm>
            <a:off x="3424762" y="5077943"/>
            <a:ext cx="8229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62" name="Google Shape;2643;g3f96060190c_3_90">
            <a:extLst>
              <a:ext uri="{FF2B5EF4-FFF2-40B4-BE49-F238E27FC236}">
                <a16:creationId xmlns:a16="http://schemas.microsoft.com/office/drawing/2014/main" id="{82F3AB1F-0171-74C5-3CF8-5357D929B412}"/>
              </a:ext>
            </a:extLst>
          </p:cNvPr>
          <p:cNvSpPr/>
          <p:nvPr/>
        </p:nvSpPr>
        <p:spPr>
          <a:xfrm>
            <a:off x="4418947" y="4830931"/>
            <a:ext cx="982200" cy="533700"/>
          </a:xfrm>
          <a:prstGeom prst="rect">
            <a:avLst/>
          </a:prstGeom>
          <a:solidFill>
            <a:srgbClr val="FFFFFF"/>
          </a:solidFill>
          <a:ln w="15875" cap="flat" cmpd="sng">
            <a:solidFill>
              <a:srgbClr val="1F6F78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3" name="Google Shape;2644;g3f96060190c_3_90">
            <a:extLst>
              <a:ext uri="{FF2B5EF4-FFF2-40B4-BE49-F238E27FC236}">
                <a16:creationId xmlns:a16="http://schemas.microsoft.com/office/drawing/2014/main" id="{FB5CB468-0B52-0818-101B-B72D1DEF68DD}"/>
              </a:ext>
            </a:extLst>
          </p:cNvPr>
          <p:cNvSpPr/>
          <p:nvPr/>
        </p:nvSpPr>
        <p:spPr>
          <a:xfrm>
            <a:off x="4418947" y="4830931"/>
            <a:ext cx="982200" cy="173400"/>
          </a:xfrm>
          <a:prstGeom prst="rect">
            <a:avLst/>
          </a:prstGeom>
          <a:solidFill>
            <a:srgbClr val="1345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4" name="Google Shape;2645;g3f96060190c_3_90">
            <a:extLst>
              <a:ext uri="{FF2B5EF4-FFF2-40B4-BE49-F238E27FC236}">
                <a16:creationId xmlns:a16="http://schemas.microsoft.com/office/drawing/2014/main" id="{0DABDC2B-CECB-BE97-C5B2-A440519E89CF}"/>
              </a:ext>
            </a:extLst>
          </p:cNvPr>
          <p:cNvSpPr/>
          <p:nvPr/>
        </p:nvSpPr>
        <p:spPr>
          <a:xfrm>
            <a:off x="4418947" y="4830931"/>
            <a:ext cx="982200" cy="1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50"/>
              <a:buFont typeface="Malgun Gothic"/>
              <a:buNone/>
            </a:pPr>
            <a:r>
              <a:rPr lang="ko-KR" sz="1050" b="1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105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sp>
        <p:nvSpPr>
          <p:cNvPr id="165" name="Google Shape;2646;g3f96060190c_3_90">
            <a:extLst>
              <a:ext uri="{FF2B5EF4-FFF2-40B4-BE49-F238E27FC236}">
                <a16:creationId xmlns:a16="http://schemas.microsoft.com/office/drawing/2014/main" id="{C062EA6C-3E03-F2E2-E75E-98C4C3E94C49}"/>
              </a:ext>
            </a:extLst>
          </p:cNvPr>
          <p:cNvSpPr/>
          <p:nvPr/>
        </p:nvSpPr>
        <p:spPr>
          <a:xfrm>
            <a:off x="4498587" y="5057818"/>
            <a:ext cx="822900" cy="240000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8A8A8A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6" name="Google Shape;2647;g3f96060190c_3_90">
            <a:extLst>
              <a:ext uri="{FF2B5EF4-FFF2-40B4-BE49-F238E27FC236}">
                <a16:creationId xmlns:a16="http://schemas.microsoft.com/office/drawing/2014/main" id="{FF308D37-7047-E8B0-97EC-BCE7460EDE09}"/>
              </a:ext>
            </a:extLst>
          </p:cNvPr>
          <p:cNvSpPr/>
          <p:nvPr/>
        </p:nvSpPr>
        <p:spPr>
          <a:xfrm>
            <a:off x="4498587" y="5057818"/>
            <a:ext cx="822900" cy="2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2222"/>
              </a:buClr>
              <a:buSzPts val="800"/>
              <a:buFont typeface="Malgun Gothic"/>
              <a:buNone/>
            </a:pPr>
            <a:r>
              <a:rPr lang="ko-KR" sz="800">
                <a:solidFill>
                  <a:srgbClr val="222222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rPr>
              <a:t>하드웨어</a:t>
            </a:r>
            <a:endParaRPr sz="8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Calibri"/>
            </a:endParaRPr>
          </a:p>
        </p:txBody>
      </p:sp>
      <p:cxnSp>
        <p:nvCxnSpPr>
          <p:cNvPr id="167" name="Google Shape;2648;g3f96060190c_3_90">
            <a:extLst>
              <a:ext uri="{FF2B5EF4-FFF2-40B4-BE49-F238E27FC236}">
                <a16:creationId xmlns:a16="http://schemas.microsoft.com/office/drawing/2014/main" id="{25C92CF1-6FF9-067A-83D9-D1527D09C5CE}"/>
              </a:ext>
            </a:extLst>
          </p:cNvPr>
          <p:cNvCxnSpPr/>
          <p:nvPr/>
        </p:nvCxnSpPr>
        <p:spPr>
          <a:xfrm>
            <a:off x="312925" y="5673818"/>
            <a:ext cx="0" cy="184200"/>
          </a:xfrm>
          <a:prstGeom prst="straightConnector1">
            <a:avLst/>
          </a:prstGeom>
          <a:noFill/>
          <a:ln w="38100" cap="flat" cmpd="sng">
            <a:solidFill>
              <a:srgbClr val="002060"/>
            </a:solidFill>
            <a:prstDash val="solid"/>
            <a:miter lim="80"/>
            <a:headEnd type="none" w="sm" len="sm"/>
            <a:tailEnd type="none" w="sm" len="sm"/>
          </a:ln>
        </p:spPr>
      </p:cxnSp>
      <p:sp>
        <p:nvSpPr>
          <p:cNvPr id="168" name="Google Shape;2649;g3f96060190c_3_90">
            <a:extLst>
              <a:ext uri="{FF2B5EF4-FFF2-40B4-BE49-F238E27FC236}">
                <a16:creationId xmlns:a16="http://schemas.microsoft.com/office/drawing/2014/main" id="{1CF81129-B214-F299-329E-628ECC63E2FA}"/>
              </a:ext>
            </a:extLst>
          </p:cNvPr>
          <p:cNvSpPr txBox="1"/>
          <p:nvPr/>
        </p:nvSpPr>
        <p:spPr>
          <a:xfrm>
            <a:off x="335011" y="5647741"/>
            <a:ext cx="344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0" i="0" u="none" strike="noStrike" cap="none">
                <a:solidFill>
                  <a:schemeClr val="dk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AI학습용 데이터 통합 제공 시스템 구성도</a:t>
            </a:r>
            <a:endParaRPr sz="1200" b="0" i="0" u="none" strike="noStrike" cap="none">
              <a:solidFill>
                <a:schemeClr val="dk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Arial"/>
            </a:endParaRPr>
          </a:p>
        </p:txBody>
      </p:sp>
      <p:sp>
        <p:nvSpPr>
          <p:cNvPr id="169" name="Google Shape;2650;g3f96060190c_3_90">
            <a:extLst>
              <a:ext uri="{FF2B5EF4-FFF2-40B4-BE49-F238E27FC236}">
                <a16:creationId xmlns:a16="http://schemas.microsoft.com/office/drawing/2014/main" id="{FB47DA25-DF59-EC46-F2F8-A7CAB9B33DD4}"/>
              </a:ext>
            </a:extLst>
          </p:cNvPr>
          <p:cNvSpPr/>
          <p:nvPr/>
        </p:nvSpPr>
        <p:spPr>
          <a:xfrm>
            <a:off x="258881" y="5942995"/>
            <a:ext cx="6331500" cy="3527700"/>
          </a:xfrm>
          <a:prstGeom prst="roundRect">
            <a:avLst>
              <a:gd name="adj" fmla="val 0"/>
            </a:avLst>
          </a:prstGeom>
          <a:noFill/>
          <a:ln w="12700" cap="flat" cmpd="sng">
            <a:solidFill>
              <a:srgbClr val="1D4E89"/>
            </a:solidFill>
            <a:prstDash val="solid"/>
            <a:miter lim="80"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285750" marR="0" lvl="0" indent="-2222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</a:pPr>
            <a:endParaRPr sz="1000" b="0" i="0" u="none" strike="noStrike" cap="none">
              <a:solidFill>
                <a:srgbClr val="44546A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Arial"/>
            </a:endParaRPr>
          </a:p>
        </p:txBody>
      </p:sp>
      <p:sp>
        <p:nvSpPr>
          <p:cNvPr id="170" name="Google Shape;2651;g3f96060190c_3_90">
            <a:extLst>
              <a:ext uri="{FF2B5EF4-FFF2-40B4-BE49-F238E27FC236}">
                <a16:creationId xmlns:a16="http://schemas.microsoft.com/office/drawing/2014/main" id="{288D77E1-AFE9-A2EE-7605-C3EE2F64B75F}"/>
              </a:ext>
            </a:extLst>
          </p:cNvPr>
          <p:cNvSpPr/>
          <p:nvPr/>
        </p:nvSpPr>
        <p:spPr>
          <a:xfrm>
            <a:off x="316309" y="8707533"/>
            <a:ext cx="6286800" cy="66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36000" tIns="36000" rIns="36000" bIns="36000" anchor="t" anchorCtr="0">
            <a:noAutofit/>
          </a:bodyPr>
          <a:lstStyle/>
          <a:p>
            <a:pPr marL="108000" marR="0" lvl="1" indent="-10800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ko-KR" sz="1200" b="0" i="0" u="none" strike="noStrike" cap="none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6 레이어 시스템 구성 - 화면 ·서비스 ·응용 ·백엔드 ·데이터 ·인프라</a:t>
            </a:r>
            <a:endParaRPr sz="1200" b="0" i="0" u="none" strike="noStrike" cap="none">
              <a:solidFill>
                <a:srgbClr val="00000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Arial"/>
            </a:endParaRPr>
          </a:p>
          <a:p>
            <a:pPr marL="108000" marR="0" lvl="1" indent="-108000" algn="l" rtl="0">
              <a:lnSpc>
                <a:spcPct val="120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ko-KR" sz="1200" b="0" i="0" u="none" strike="noStrike" cap="none">
                <a:solidFill>
                  <a:srgbClr val="0000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Arial"/>
              </a:rPr>
              <a:t>판정·외부호출·상태전이 등 오케스트레이션 구성</a:t>
            </a:r>
            <a:endParaRPr sz="1100" b="1" i="0" u="none" strike="noStrike" cap="none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Arial"/>
            </a:endParaRPr>
          </a:p>
        </p:txBody>
      </p:sp>
      <p:grpSp>
        <p:nvGrpSpPr>
          <p:cNvPr id="171" name="Google Shape;2652;g3f96060190c_3_90">
            <a:extLst>
              <a:ext uri="{FF2B5EF4-FFF2-40B4-BE49-F238E27FC236}">
                <a16:creationId xmlns:a16="http://schemas.microsoft.com/office/drawing/2014/main" id="{C6F6DAE4-2288-E9C5-4AD8-18DFE3E54F90}"/>
              </a:ext>
            </a:extLst>
          </p:cNvPr>
          <p:cNvGrpSpPr/>
          <p:nvPr/>
        </p:nvGrpSpPr>
        <p:grpSpPr>
          <a:xfrm>
            <a:off x="335021" y="6026098"/>
            <a:ext cx="6069740" cy="2609918"/>
            <a:chOff x="502920" y="1325880"/>
            <a:chExt cx="10981980" cy="4425840"/>
          </a:xfrm>
        </p:grpSpPr>
        <p:sp>
          <p:nvSpPr>
            <p:cNvPr id="172" name="Google Shape;2653;g3f96060190c_3_90">
              <a:extLst>
                <a:ext uri="{FF2B5EF4-FFF2-40B4-BE49-F238E27FC236}">
                  <a16:creationId xmlns:a16="http://schemas.microsoft.com/office/drawing/2014/main" id="{72E78C74-5993-CB68-6291-3A125D765606}"/>
                </a:ext>
              </a:extLst>
            </p:cNvPr>
            <p:cNvSpPr/>
            <p:nvPr/>
          </p:nvSpPr>
          <p:spPr>
            <a:xfrm>
              <a:off x="502920" y="1325880"/>
              <a:ext cx="1234500" cy="676800"/>
            </a:xfrm>
            <a:prstGeom prst="rect">
              <a:avLst/>
            </a:prstGeom>
            <a:solidFill>
              <a:srgbClr val="1F3864"/>
            </a:solidFill>
            <a:ln>
              <a:noFill/>
            </a:ln>
          </p:spPr>
          <p:txBody>
            <a:bodyPr spcFirstLastPara="1" wrap="square" lIns="109725" tIns="54850" rIns="109725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8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① 화면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73" name="Google Shape;2654;g3f96060190c_3_90">
              <a:extLst>
                <a:ext uri="{FF2B5EF4-FFF2-40B4-BE49-F238E27FC236}">
                  <a16:creationId xmlns:a16="http://schemas.microsoft.com/office/drawing/2014/main" id="{51776E36-CA33-CB6B-17DF-08C690A1FB58}"/>
                </a:ext>
              </a:extLst>
            </p:cNvPr>
            <p:cNvSpPr/>
            <p:nvPr/>
          </p:nvSpPr>
          <p:spPr>
            <a:xfrm>
              <a:off x="1828800" y="1362455"/>
              <a:ext cx="96561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통합포털 UI/UX — GNB·데이터카드·SSO</a:t>
              </a:r>
              <a:endParaRPr sz="700" b="1" i="0" u="none" strike="noStrike" cap="none">
                <a:solidFill>
                  <a:srgbClr val="333333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74" name="Google Shape;2655;g3f96060190c_3_90">
              <a:extLst>
                <a:ext uri="{FF2B5EF4-FFF2-40B4-BE49-F238E27FC236}">
                  <a16:creationId xmlns:a16="http://schemas.microsoft.com/office/drawing/2014/main" id="{72056C46-63E8-EFA7-859D-A6F50154C268}"/>
                </a:ext>
              </a:extLst>
            </p:cNvPr>
            <p:cNvSpPr/>
            <p:nvPr/>
          </p:nvSpPr>
          <p:spPr>
            <a:xfrm>
              <a:off x="502920" y="2075688"/>
              <a:ext cx="1234500" cy="676800"/>
            </a:xfrm>
            <a:prstGeom prst="rect">
              <a:avLst/>
            </a:prstGeom>
            <a:solidFill>
              <a:srgbClr val="1F3864"/>
            </a:solidFill>
            <a:ln>
              <a:noFill/>
            </a:ln>
          </p:spPr>
          <p:txBody>
            <a:bodyPr spcFirstLastPara="1" wrap="square" lIns="109725" tIns="54850" rIns="109725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8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② 서비스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75" name="Google Shape;2656;g3f96060190c_3_90">
              <a:extLst>
                <a:ext uri="{FF2B5EF4-FFF2-40B4-BE49-F238E27FC236}">
                  <a16:creationId xmlns:a16="http://schemas.microsoft.com/office/drawing/2014/main" id="{9B7A1E62-15F2-43B5-4778-A5E77BBB4F10}"/>
                </a:ext>
              </a:extLst>
            </p:cNvPr>
            <p:cNvSpPr/>
            <p:nvPr/>
          </p:nvSpPr>
          <p:spPr>
            <a:xfrm>
              <a:off x="1828800" y="2112264"/>
              <a:ext cx="16002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등록·검수 서비스군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76" name="Google Shape;2657;g3f96060190c_3_90">
              <a:extLst>
                <a:ext uri="{FF2B5EF4-FFF2-40B4-BE49-F238E27FC236}">
                  <a16:creationId xmlns:a16="http://schemas.microsoft.com/office/drawing/2014/main" id="{DD7B90DD-D98F-1D15-E737-DFF435B825DF}"/>
                </a:ext>
              </a:extLst>
            </p:cNvPr>
            <p:cNvSpPr/>
            <p:nvPr/>
          </p:nvSpPr>
          <p:spPr>
            <a:xfrm>
              <a:off x="3511296" y="2112264"/>
              <a:ext cx="12345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품질·이력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77" name="Google Shape;2658;g3f96060190c_3_90">
              <a:extLst>
                <a:ext uri="{FF2B5EF4-FFF2-40B4-BE49-F238E27FC236}">
                  <a16:creationId xmlns:a16="http://schemas.microsoft.com/office/drawing/2014/main" id="{C0715C7B-0251-6B05-E150-31162DFC0EC4}"/>
                </a:ext>
              </a:extLst>
            </p:cNvPr>
            <p:cNvSpPr/>
            <p:nvPr/>
          </p:nvSpPr>
          <p:spPr>
            <a:xfrm>
              <a:off x="4828032" y="2112264"/>
              <a:ext cx="18288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검색·탐색</a:t>
              </a:r>
              <a:endParaRPr sz="700" b="1" i="0" u="none" strike="noStrike" cap="none">
                <a:solidFill>
                  <a:srgbClr val="333333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78" name="Google Shape;2659;g3f96060190c_3_90">
              <a:extLst>
                <a:ext uri="{FF2B5EF4-FFF2-40B4-BE49-F238E27FC236}">
                  <a16:creationId xmlns:a16="http://schemas.microsoft.com/office/drawing/2014/main" id="{906AA856-C81F-8D25-CE11-5CE0FB8F7A97}"/>
                </a:ext>
              </a:extLst>
            </p:cNvPr>
            <p:cNvSpPr/>
            <p:nvPr/>
          </p:nvSpPr>
          <p:spPr>
            <a:xfrm>
              <a:off x="6739127" y="2112264"/>
              <a:ext cx="12345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개방·활용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79" name="Google Shape;2660;g3f96060190c_3_90">
              <a:extLst>
                <a:ext uri="{FF2B5EF4-FFF2-40B4-BE49-F238E27FC236}">
                  <a16:creationId xmlns:a16="http://schemas.microsoft.com/office/drawing/2014/main" id="{0CBE061A-BB92-83AF-6C3E-D5463F49F51A}"/>
                </a:ext>
              </a:extLst>
            </p:cNvPr>
            <p:cNvSpPr/>
            <p:nvPr/>
          </p:nvSpPr>
          <p:spPr>
            <a:xfrm>
              <a:off x="8055863" y="2112264"/>
              <a:ext cx="3429000" cy="603600"/>
            </a:xfrm>
            <a:prstGeom prst="rect">
              <a:avLst/>
            </a:prstGeom>
            <a:solidFill>
              <a:srgbClr val="2E5395"/>
            </a:solidFill>
            <a:ln>
              <a:noFill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머신리더블 에이전트 서비스</a:t>
              </a:r>
              <a:endParaRPr sz="700" b="1" i="0" u="none" strike="noStrike" cap="none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80" name="Google Shape;2661;g3f96060190c_3_90">
              <a:extLst>
                <a:ext uri="{FF2B5EF4-FFF2-40B4-BE49-F238E27FC236}">
                  <a16:creationId xmlns:a16="http://schemas.microsoft.com/office/drawing/2014/main" id="{3CF74CA3-C9FA-064D-0C1D-1CBB1393373D}"/>
                </a:ext>
              </a:extLst>
            </p:cNvPr>
            <p:cNvSpPr/>
            <p:nvPr/>
          </p:nvSpPr>
          <p:spPr>
            <a:xfrm>
              <a:off x="502920" y="2825496"/>
              <a:ext cx="1234500" cy="676800"/>
            </a:xfrm>
            <a:prstGeom prst="rect">
              <a:avLst/>
            </a:prstGeom>
            <a:solidFill>
              <a:srgbClr val="1F3864"/>
            </a:solidFill>
            <a:ln>
              <a:noFill/>
            </a:ln>
          </p:spPr>
          <p:txBody>
            <a:bodyPr spcFirstLastPara="1" wrap="square" lIns="109725" tIns="54850" rIns="109725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8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③ 응용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81" name="Google Shape;2662;g3f96060190c_3_90">
              <a:extLst>
                <a:ext uri="{FF2B5EF4-FFF2-40B4-BE49-F238E27FC236}">
                  <a16:creationId xmlns:a16="http://schemas.microsoft.com/office/drawing/2014/main" id="{C66DA828-C5C8-5395-E6E8-22754BBAACEF}"/>
                </a:ext>
              </a:extLst>
            </p:cNvPr>
            <p:cNvSpPr/>
            <p:nvPr/>
          </p:nvSpPr>
          <p:spPr>
            <a:xfrm>
              <a:off x="1828800" y="2862072"/>
              <a:ext cx="21489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단위 처리 엔진 </a:t>
              </a:r>
              <a:b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</a:b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핵심 업무 (표준FW 유지)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82" name="Google Shape;2663;g3f96060190c_3_90">
              <a:extLst>
                <a:ext uri="{FF2B5EF4-FFF2-40B4-BE49-F238E27FC236}">
                  <a16:creationId xmlns:a16="http://schemas.microsoft.com/office/drawing/2014/main" id="{1AA7967E-2711-BBFF-C64F-489A6230C013}"/>
                </a:ext>
              </a:extLst>
            </p:cNvPr>
            <p:cNvSpPr/>
            <p:nvPr/>
          </p:nvSpPr>
          <p:spPr>
            <a:xfrm>
              <a:off x="4059936" y="2862072"/>
              <a:ext cx="15546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공통기반 버스 (FR-033)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83" name="Google Shape;2664;g3f96060190c_3_90">
              <a:extLst>
                <a:ext uri="{FF2B5EF4-FFF2-40B4-BE49-F238E27FC236}">
                  <a16:creationId xmlns:a16="http://schemas.microsoft.com/office/drawing/2014/main" id="{13DF69FB-6EB7-E402-3572-0D98D029E95D}"/>
                </a:ext>
              </a:extLst>
            </p:cNvPr>
            <p:cNvSpPr/>
            <p:nvPr/>
          </p:nvSpPr>
          <p:spPr>
            <a:xfrm>
              <a:off x="5696712" y="2862071"/>
              <a:ext cx="22770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질의처리·RAG·AI메타 생성</a:t>
              </a:r>
              <a:endParaRPr sz="700" b="1" i="0" u="none" strike="noStrike" cap="none">
                <a:solidFill>
                  <a:srgbClr val="333333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84" name="Google Shape;2665;g3f96060190c_3_90">
              <a:extLst>
                <a:ext uri="{FF2B5EF4-FFF2-40B4-BE49-F238E27FC236}">
                  <a16:creationId xmlns:a16="http://schemas.microsoft.com/office/drawing/2014/main" id="{C5B00562-E3C5-A198-C10B-CA27E85068A5}"/>
                </a:ext>
              </a:extLst>
            </p:cNvPr>
            <p:cNvSpPr/>
            <p:nvPr/>
          </p:nvSpPr>
          <p:spPr>
            <a:xfrm>
              <a:off x="8055862" y="2862071"/>
              <a:ext cx="1700700" cy="603600"/>
            </a:xfrm>
            <a:prstGeom prst="rect">
              <a:avLst/>
            </a:prstGeom>
            <a:solidFill>
              <a:srgbClr val="E8EFFA"/>
            </a:solidFill>
            <a:ln w="15875" cap="flat" cmpd="sng">
              <a:solidFill>
                <a:srgbClr val="2E53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2E5395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저작권 4단 </a:t>
              </a:r>
              <a:br>
                <a:rPr lang="ko-KR" sz="700" b="1" i="0" u="none" strike="noStrike" cap="none">
                  <a:solidFill>
                    <a:srgbClr val="2E5395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</a:br>
              <a:r>
                <a:rPr lang="ko-KR" sz="700" b="1" i="0" u="none" strike="noStrike" cap="none">
                  <a:solidFill>
                    <a:srgbClr val="2E5395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체인 · 상태전이</a:t>
              </a:r>
              <a:endParaRPr sz="700" b="1" i="0" u="none" strike="noStrike" cap="none">
                <a:solidFill>
                  <a:srgbClr val="2E5395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600" b="0" i="0" u="none" strike="noStrike" cap="none">
                  <a:solidFill>
                    <a:srgbClr val="2E5395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확장 후보 — 협의 카드</a:t>
              </a:r>
              <a:endParaRPr sz="600" b="0" i="0" u="none" strike="noStrike" cap="none">
                <a:solidFill>
                  <a:srgbClr val="2E5395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85" name="Google Shape;2666;g3f96060190c_3_90">
              <a:extLst>
                <a:ext uri="{FF2B5EF4-FFF2-40B4-BE49-F238E27FC236}">
                  <a16:creationId xmlns:a16="http://schemas.microsoft.com/office/drawing/2014/main" id="{81066578-47FF-AD46-D1D4-AA55527DA8A0}"/>
                </a:ext>
              </a:extLst>
            </p:cNvPr>
            <p:cNvSpPr/>
            <p:nvPr/>
          </p:nvSpPr>
          <p:spPr>
            <a:xfrm>
              <a:off x="9838943" y="2862071"/>
              <a:ext cx="1645800" cy="603600"/>
            </a:xfrm>
            <a:prstGeom prst="rect">
              <a:avLst/>
            </a:prstGeom>
            <a:solidFill>
              <a:srgbClr val="2E5395"/>
            </a:solidFill>
            <a:ln>
              <a:noFill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머신리더블 </a:t>
              </a:r>
              <a:br>
                <a:rPr lang="ko-KR" sz="7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</a:br>
              <a:r>
                <a:rPr lang="ko-KR" sz="7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에이전트 엔진</a:t>
              </a:r>
              <a:endParaRPr sz="700" b="1" i="0" u="none" strike="noStrike" cap="none">
                <a:solidFill>
                  <a:srgbClr val="FFFFFF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600" b="0" i="0" u="none" strike="noStrike" cap="none">
                  <a:solidFill>
                    <a:srgbClr val="D8E4F8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REST·MCP 판독 계층</a:t>
              </a:r>
              <a:endParaRPr sz="600" b="0" i="0" u="none" strike="noStrike" cap="none">
                <a:solidFill>
                  <a:srgbClr val="D8E4F8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86" name="Google Shape;2667;g3f96060190c_3_90">
              <a:extLst>
                <a:ext uri="{FF2B5EF4-FFF2-40B4-BE49-F238E27FC236}">
                  <a16:creationId xmlns:a16="http://schemas.microsoft.com/office/drawing/2014/main" id="{92A0CD65-AD4F-BE9B-C3C0-6D277B696F37}"/>
                </a:ext>
              </a:extLst>
            </p:cNvPr>
            <p:cNvSpPr/>
            <p:nvPr/>
          </p:nvSpPr>
          <p:spPr>
            <a:xfrm>
              <a:off x="502920" y="3575304"/>
              <a:ext cx="1234500" cy="676800"/>
            </a:xfrm>
            <a:prstGeom prst="rect">
              <a:avLst/>
            </a:prstGeom>
            <a:solidFill>
              <a:srgbClr val="1F3864"/>
            </a:solidFill>
            <a:ln>
              <a:noFill/>
            </a:ln>
          </p:spPr>
          <p:txBody>
            <a:bodyPr spcFirstLastPara="1" wrap="square" lIns="109725" tIns="54850" rIns="109725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8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④ 백엔드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87" name="Google Shape;2668;g3f96060190c_3_90">
              <a:extLst>
                <a:ext uri="{FF2B5EF4-FFF2-40B4-BE49-F238E27FC236}">
                  <a16:creationId xmlns:a16="http://schemas.microsoft.com/office/drawing/2014/main" id="{AD1F2AD0-8098-5FE6-BBA4-306A1503B92B}"/>
                </a:ext>
              </a:extLst>
            </p:cNvPr>
            <p:cNvSpPr/>
            <p:nvPr/>
          </p:nvSpPr>
          <p:spPr>
            <a:xfrm>
              <a:off x="1828800" y="3611880"/>
              <a:ext cx="2148900" cy="603600"/>
            </a:xfrm>
            <a:prstGeom prst="rect">
              <a:avLst/>
            </a:prstGeom>
            <a:solidFill>
              <a:srgbClr val="FFFFFF"/>
            </a:solidFill>
            <a:ln w="15875" cap="flat" cmpd="sng">
              <a:solidFill>
                <a:srgbClr val="B4231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B42318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다운로드·스트리밍·제공 API 서버</a:t>
              </a:r>
              <a:endParaRPr sz="700" b="1" i="0" u="none" strike="noStrike" cap="none">
                <a:solidFill>
                  <a:srgbClr val="B42318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600" b="0" i="0" u="none" strike="noStrike" cap="none">
                  <a:solidFill>
                    <a:srgbClr val="B42318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DR-013·FR-014 자체구현 의무</a:t>
              </a:r>
              <a:endParaRPr sz="600" b="0" i="0" u="none" strike="noStrike" cap="none">
                <a:solidFill>
                  <a:srgbClr val="B42318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88" name="Google Shape;2669;g3f96060190c_3_90">
              <a:extLst>
                <a:ext uri="{FF2B5EF4-FFF2-40B4-BE49-F238E27FC236}">
                  <a16:creationId xmlns:a16="http://schemas.microsoft.com/office/drawing/2014/main" id="{EBA93441-EC25-157B-43B4-A35D61E5D49C}"/>
                </a:ext>
              </a:extLst>
            </p:cNvPr>
            <p:cNvSpPr/>
            <p:nvPr/>
          </p:nvSpPr>
          <p:spPr>
            <a:xfrm>
              <a:off x="4059936" y="3611880"/>
              <a:ext cx="18288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DAL·배치·메시지 처리</a:t>
              </a:r>
              <a:endParaRPr sz="700" b="1" i="0" u="none" strike="noStrike" cap="none">
                <a:solidFill>
                  <a:srgbClr val="333333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89" name="Google Shape;2670;g3f96060190c_3_90">
              <a:extLst>
                <a:ext uri="{FF2B5EF4-FFF2-40B4-BE49-F238E27FC236}">
                  <a16:creationId xmlns:a16="http://schemas.microsoft.com/office/drawing/2014/main" id="{CC6EA214-5172-5D33-E8A6-02A8A5691A8C}"/>
                </a:ext>
              </a:extLst>
            </p:cNvPr>
            <p:cNvSpPr/>
            <p:nvPr/>
          </p:nvSpPr>
          <p:spPr>
            <a:xfrm>
              <a:off x="5971029" y="3611880"/>
              <a:ext cx="2651700" cy="603600"/>
            </a:xfrm>
            <a:prstGeom prst="rect">
              <a:avLst/>
            </a:prstGeom>
            <a:solidFill>
              <a:srgbClr val="2E5395"/>
            </a:solidFill>
            <a:ln>
              <a:noFill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연계 어댑터 EAI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600" b="0" i="0" u="none" strike="noStrike" cap="none">
                  <a:solidFill>
                    <a:srgbClr val="D8E4F8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원윈도우·저작권위 연계 오케스트레이션</a:t>
              </a:r>
              <a:endParaRPr sz="600" b="0" i="0" u="none" strike="noStrike" cap="none">
                <a:solidFill>
                  <a:srgbClr val="D8E4F8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90" name="Google Shape;2671;g3f96060190c_3_90">
              <a:extLst>
                <a:ext uri="{FF2B5EF4-FFF2-40B4-BE49-F238E27FC236}">
                  <a16:creationId xmlns:a16="http://schemas.microsoft.com/office/drawing/2014/main" id="{3C7EB186-83FD-6196-7919-1C8C63723840}"/>
                </a:ext>
              </a:extLst>
            </p:cNvPr>
            <p:cNvSpPr/>
            <p:nvPr/>
          </p:nvSpPr>
          <p:spPr>
            <a:xfrm>
              <a:off x="8705088" y="3611880"/>
              <a:ext cx="2779800" cy="603600"/>
            </a:xfrm>
            <a:prstGeom prst="rect">
              <a:avLst/>
            </a:prstGeom>
            <a:solidFill>
              <a:srgbClr val="2E5395"/>
            </a:solidFill>
            <a:ln>
              <a:noFill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로그 수집·이상탐지·경보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600" b="0" i="0" u="none" strike="noStrike" cap="none">
                  <a:solidFill>
                    <a:srgbClr val="D8E4F8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FR-016·039 이벤트 파이프라인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91" name="Google Shape;2672;g3f96060190c_3_90">
              <a:extLst>
                <a:ext uri="{FF2B5EF4-FFF2-40B4-BE49-F238E27FC236}">
                  <a16:creationId xmlns:a16="http://schemas.microsoft.com/office/drawing/2014/main" id="{E3EBD8E2-EC88-34D4-B2C7-B9B3EAF848D0}"/>
                </a:ext>
              </a:extLst>
            </p:cNvPr>
            <p:cNvSpPr/>
            <p:nvPr/>
          </p:nvSpPr>
          <p:spPr>
            <a:xfrm>
              <a:off x="502920" y="4325112"/>
              <a:ext cx="1234500" cy="676800"/>
            </a:xfrm>
            <a:prstGeom prst="rect">
              <a:avLst/>
            </a:prstGeom>
            <a:solidFill>
              <a:srgbClr val="1F3864"/>
            </a:solidFill>
            <a:ln>
              <a:noFill/>
            </a:ln>
          </p:spPr>
          <p:txBody>
            <a:bodyPr spcFirstLastPara="1" wrap="square" lIns="109725" tIns="54850" rIns="109725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8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⑤ 데이터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92" name="Google Shape;2673;g3f96060190c_3_90">
              <a:extLst>
                <a:ext uri="{FF2B5EF4-FFF2-40B4-BE49-F238E27FC236}">
                  <a16:creationId xmlns:a16="http://schemas.microsoft.com/office/drawing/2014/main" id="{21447AB1-9905-2514-7F58-280775B13C37}"/>
                </a:ext>
              </a:extLst>
            </p:cNvPr>
            <p:cNvSpPr/>
            <p:nvPr/>
          </p:nvSpPr>
          <p:spPr>
            <a:xfrm>
              <a:off x="1828800" y="4361688"/>
              <a:ext cx="26517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원천 Data Lake · 표준 저장소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93" name="Google Shape;2674;g3f96060190c_3_90">
              <a:extLst>
                <a:ext uri="{FF2B5EF4-FFF2-40B4-BE49-F238E27FC236}">
                  <a16:creationId xmlns:a16="http://schemas.microsoft.com/office/drawing/2014/main" id="{66DF2CC9-D6F7-7F0F-9826-03E99AF3B77C}"/>
                </a:ext>
              </a:extLst>
            </p:cNvPr>
            <p:cNvSpPr/>
            <p:nvPr/>
          </p:nvSpPr>
          <p:spPr>
            <a:xfrm>
              <a:off x="4562856" y="4361688"/>
              <a:ext cx="22860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검색인덱스·벡터DB</a:t>
              </a:r>
              <a:endParaRPr sz="700" b="1" i="0" u="none" strike="noStrike" cap="none">
                <a:solidFill>
                  <a:srgbClr val="333333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94" name="Google Shape;2675;g3f96060190c_3_90">
              <a:extLst>
                <a:ext uri="{FF2B5EF4-FFF2-40B4-BE49-F238E27FC236}">
                  <a16:creationId xmlns:a16="http://schemas.microsoft.com/office/drawing/2014/main" id="{82AB9718-2F4F-5966-F970-F4A250CC64F8}"/>
                </a:ext>
              </a:extLst>
            </p:cNvPr>
            <p:cNvSpPr/>
            <p:nvPr/>
          </p:nvSpPr>
          <p:spPr>
            <a:xfrm>
              <a:off x="6931152" y="4361688"/>
              <a:ext cx="16917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메타·기준정보 존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95" name="Google Shape;2676;g3f96060190c_3_90">
              <a:extLst>
                <a:ext uri="{FF2B5EF4-FFF2-40B4-BE49-F238E27FC236}">
                  <a16:creationId xmlns:a16="http://schemas.microsoft.com/office/drawing/2014/main" id="{08C38FF9-F298-99A2-F304-4A6D1B261CF4}"/>
                </a:ext>
              </a:extLst>
            </p:cNvPr>
            <p:cNvSpPr/>
            <p:nvPr/>
          </p:nvSpPr>
          <p:spPr>
            <a:xfrm>
              <a:off x="8705088" y="4361688"/>
              <a:ext cx="2779800" cy="603600"/>
            </a:xfrm>
            <a:prstGeom prst="rect">
              <a:avLst/>
            </a:prstGeom>
            <a:solidFill>
              <a:srgbClr val="F4F6FA"/>
            </a:solidFill>
            <a:ln w="9525" cap="flat" cmpd="sng">
              <a:solidFill>
                <a:srgbClr val="C9D3E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333333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안심구역·비식별</a:t>
              </a:r>
              <a:endParaRPr sz="700" b="1" i="0" u="none" strike="noStrike" cap="none">
                <a:solidFill>
                  <a:srgbClr val="333333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  <p:sp>
          <p:nvSpPr>
            <p:cNvPr id="196" name="Google Shape;2677;g3f96060190c_3_90">
              <a:extLst>
                <a:ext uri="{FF2B5EF4-FFF2-40B4-BE49-F238E27FC236}">
                  <a16:creationId xmlns:a16="http://schemas.microsoft.com/office/drawing/2014/main" id="{000E149B-DDA7-437E-E77C-7338CA045C21}"/>
                </a:ext>
              </a:extLst>
            </p:cNvPr>
            <p:cNvSpPr/>
            <p:nvPr/>
          </p:nvSpPr>
          <p:spPr>
            <a:xfrm>
              <a:off x="502920" y="5074920"/>
              <a:ext cx="1234500" cy="676800"/>
            </a:xfrm>
            <a:prstGeom prst="rect">
              <a:avLst/>
            </a:prstGeom>
            <a:solidFill>
              <a:srgbClr val="1F3864"/>
            </a:solidFill>
            <a:ln>
              <a:noFill/>
            </a:ln>
          </p:spPr>
          <p:txBody>
            <a:bodyPr spcFirstLastPara="1" wrap="square" lIns="109725" tIns="54850" rIns="109725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800" b="1" i="0" u="none" strike="noStrike" cap="none">
                  <a:solidFill>
                    <a:srgbClr val="FFFFFF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⑥ 인프라</a:t>
              </a:r>
              <a:endParaRPr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197" name="Google Shape;2678;g3f96060190c_3_90">
              <a:extLst>
                <a:ext uri="{FF2B5EF4-FFF2-40B4-BE49-F238E27FC236}">
                  <a16:creationId xmlns:a16="http://schemas.microsoft.com/office/drawing/2014/main" id="{BA3006A2-5DCF-4D48-0338-5D64D895AEDB}"/>
                </a:ext>
              </a:extLst>
            </p:cNvPr>
            <p:cNvSpPr/>
            <p:nvPr/>
          </p:nvSpPr>
          <p:spPr>
            <a:xfrm>
              <a:off x="1828800" y="5111497"/>
              <a:ext cx="9656100" cy="603600"/>
            </a:xfrm>
            <a:prstGeom prst="rect">
              <a:avLst/>
            </a:prstGeom>
            <a:solidFill>
              <a:srgbClr val="FFF4E0"/>
            </a:solidFill>
            <a:ln w="9525" cap="flat" cmpd="sng">
              <a:solidFill>
                <a:srgbClr val="E0C08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54850" rIns="45700" bIns="548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sz="700" b="1" i="0" u="none" strike="noStrike" cap="none">
                  <a:solidFill>
                    <a:srgbClr val="9A6A00"/>
                  </a:solidFill>
                  <a:latin typeface="KoPubWorld돋움체 Medium" panose="00000600000000000000" pitchFamily="2" charset="-127"/>
                  <a:ea typeface="KoPubWorld돋움체 Medium" panose="00000600000000000000" pitchFamily="2" charset="-127"/>
                  <a:cs typeface="KoPubWorld돋움체 Medium" panose="00000600000000000000" pitchFamily="2" charset="-127"/>
                  <a:sym typeface="Malgun Gothic"/>
                </a:rPr>
                <a:t>공공 클라우드  — 프라이빗 클라우드</a:t>
              </a:r>
              <a:endParaRPr sz="700" b="1" i="0" u="none" strike="noStrike" cap="none">
                <a:solidFill>
                  <a:srgbClr val="9A6A00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algun Gothic"/>
              </a:endParaRPr>
            </a:p>
          </p:txBody>
        </p:sp>
      </p:grpSp>
      <p:cxnSp>
        <p:nvCxnSpPr>
          <p:cNvPr id="198" name="Google Shape;2679;g3f96060190c_3_90">
            <a:extLst>
              <a:ext uri="{FF2B5EF4-FFF2-40B4-BE49-F238E27FC236}">
                <a16:creationId xmlns:a16="http://schemas.microsoft.com/office/drawing/2014/main" id="{D0B39A57-4E3C-2F92-25C6-763FBBCAE614}"/>
              </a:ext>
            </a:extLst>
          </p:cNvPr>
          <p:cNvCxnSpPr/>
          <p:nvPr/>
        </p:nvCxnSpPr>
        <p:spPr>
          <a:xfrm>
            <a:off x="156043" y="673753"/>
            <a:ext cx="0" cy="184200"/>
          </a:xfrm>
          <a:prstGeom prst="straightConnector1">
            <a:avLst/>
          </a:prstGeom>
          <a:noFill/>
          <a:ln w="38100" cap="flat" cmpd="sng">
            <a:solidFill>
              <a:srgbClr val="002060"/>
            </a:solidFill>
            <a:prstDash val="solid"/>
            <a:miter lim="80"/>
            <a:headEnd type="none" w="sm" len="sm"/>
            <a:tailEnd type="none" w="sm" len="sm"/>
          </a:ln>
        </p:spPr>
      </p:cxnSp>
      <p:sp>
        <p:nvSpPr>
          <p:cNvPr id="199" name="Google Shape;2680;g3f96060190c_3_90">
            <a:extLst>
              <a:ext uri="{FF2B5EF4-FFF2-40B4-BE49-F238E27FC236}">
                <a16:creationId xmlns:a16="http://schemas.microsoft.com/office/drawing/2014/main" id="{6129610E-D182-593A-3C75-53FB1A7AFAB1}"/>
              </a:ext>
            </a:extLst>
          </p:cNvPr>
          <p:cNvSpPr txBox="1"/>
          <p:nvPr/>
        </p:nvSpPr>
        <p:spPr>
          <a:xfrm>
            <a:off x="178129" y="647676"/>
            <a:ext cx="344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ko-KR" sz="1200">
                <a:solidFill>
                  <a:schemeClr val="dk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학습 플랫폼 아키텍처</a:t>
            </a:r>
            <a:endParaRPr sz="1200" b="0" i="0" u="none" strike="noStrike" cap="none">
              <a:solidFill>
                <a:schemeClr val="dk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0268474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1EE0F7-BC8F-B7F9-8682-9219BA01AF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1C66347-6DD0-4781-A897-E9C29A3C3A7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B9BA7DC-A17F-E5F9-4B2D-32492C73215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B61C356-B37D-BB0C-5275-E71752EB500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공통 기반 기능 설계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7DCF4B4-7305-0879-F56F-175627D5329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8433E75-7BD7-BDC9-1665-203F5DD6D0A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표준화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 모듈이 공용하는 식별체계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공통코드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정책엔진과 알림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스케줄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·API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서비스를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표준화하여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간 일관성과 운영 효율을 확보하는 공통 기반을 설계함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7DEA93B-C1BB-A87C-73E9-BEAA519D80F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8217C41-2BD2-2ADA-8FA3-101599872CEF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표준화를 통한 설계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C853CB7E-FAFE-3689-C611-467236594BD5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FR-033, FR-031, FR-032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C675C151-E64E-204C-06CF-E1854F361482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E121705-F046-B0FE-9DF9-30402CDBAE80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 목적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통합제공체계 전반에서 반복 사용되는 기능을 공통 기반으로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간 중복 개발을 제거하고 일관성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효율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확장성을 확보함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신규 시스템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연계 추가 시 공통 식별체계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공통코드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 포맷이 자동 반영되도록 확장 구조로 설계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사업기간 내 개발 생산성 확보를 위해 공통 컴포넌트를 우선 확정하여 재사용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ED9E6017-F029-EBDA-5C34-12CE4CC9D291}"/>
              </a:ext>
            </a:extLst>
          </p:cNvPr>
          <p:cNvSpPr/>
          <p:nvPr/>
        </p:nvSpPr>
        <p:spPr>
          <a:xfrm>
            <a:off x="31589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위쪽 모서리 28">
            <a:extLst>
              <a:ext uri="{FF2B5EF4-FFF2-40B4-BE49-F238E27FC236}">
                <a16:creationId xmlns:a16="http://schemas.microsoft.com/office/drawing/2014/main" id="{BAD3E7B9-538C-F528-349D-127CBAE01CBE}"/>
              </a:ext>
            </a:extLst>
          </p:cNvPr>
          <p:cNvSpPr/>
          <p:nvPr/>
        </p:nvSpPr>
        <p:spPr>
          <a:xfrm>
            <a:off x="315897" y="8902556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식별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6E65A3A-560D-6774-1D5C-300754F6BE18}"/>
              </a:ext>
            </a:extLst>
          </p:cNvPr>
          <p:cNvSpPr txBox="1"/>
          <p:nvPr/>
        </p:nvSpPr>
        <p:spPr>
          <a:xfrm>
            <a:off x="31589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식별키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코드체계 표준 정의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5AC99A88-8534-53FC-99BC-150B4F073BE7}"/>
              </a:ext>
            </a:extLst>
          </p:cNvPr>
          <p:cNvSpPr/>
          <p:nvPr/>
        </p:nvSpPr>
        <p:spPr>
          <a:xfrm>
            <a:off x="189650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사각형: 둥근 위쪽 모서리 35">
            <a:extLst>
              <a:ext uri="{FF2B5EF4-FFF2-40B4-BE49-F238E27FC236}">
                <a16:creationId xmlns:a16="http://schemas.microsoft.com/office/drawing/2014/main" id="{1D3986AA-BF90-42D1-E123-A5161D187F35}"/>
              </a:ext>
            </a:extLst>
          </p:cNvPr>
          <p:cNvSpPr/>
          <p:nvPr/>
        </p:nvSpPr>
        <p:spPr>
          <a:xfrm>
            <a:off x="1896507" y="8902556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정책 엔진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3B57B0BD-1932-A47D-0E85-852261C54D33}"/>
              </a:ext>
            </a:extLst>
          </p:cNvPr>
          <p:cNvSpPr txBox="1"/>
          <p:nvPr/>
        </p:nvSpPr>
        <p:spPr>
          <a:xfrm>
            <a:off x="189650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통제 규칙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91A8358-F6AA-B925-DF1F-CB6FFF3966F8}"/>
              </a:ext>
            </a:extLst>
          </p:cNvPr>
          <p:cNvSpPr/>
          <p:nvPr/>
        </p:nvSpPr>
        <p:spPr>
          <a:xfrm>
            <a:off x="347711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사각형: 둥근 위쪽 모서리 41">
            <a:extLst>
              <a:ext uri="{FF2B5EF4-FFF2-40B4-BE49-F238E27FC236}">
                <a16:creationId xmlns:a16="http://schemas.microsoft.com/office/drawing/2014/main" id="{AF07D117-532F-D0E8-F476-004D924C6B09}"/>
              </a:ext>
            </a:extLst>
          </p:cNvPr>
          <p:cNvSpPr/>
          <p:nvPr/>
        </p:nvSpPr>
        <p:spPr>
          <a:xfrm>
            <a:off x="3477117" y="8902556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공통 서비스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8CB9FE2-84AF-DE3B-4AC1-50DEC6461900}"/>
              </a:ext>
            </a:extLst>
          </p:cNvPr>
          <p:cNvSpPr txBox="1"/>
          <p:nvPr/>
        </p:nvSpPr>
        <p:spPr>
          <a:xfrm>
            <a:off x="347711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알림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배치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·API·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 공통화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E7726351-55A8-C9D9-31B2-21BC951D0B68}"/>
              </a:ext>
            </a:extLst>
          </p:cNvPr>
          <p:cNvSpPr/>
          <p:nvPr/>
        </p:nvSpPr>
        <p:spPr>
          <a:xfrm>
            <a:off x="5057727" y="8902555"/>
            <a:ext cx="1468628" cy="710858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8" name="사각형: 둥근 위쪽 모서리 47">
            <a:extLst>
              <a:ext uri="{FF2B5EF4-FFF2-40B4-BE49-F238E27FC236}">
                <a16:creationId xmlns:a16="http://schemas.microsoft.com/office/drawing/2014/main" id="{33F8BB8C-85A2-DC71-746A-FCBFD512E64F}"/>
              </a:ext>
            </a:extLst>
          </p:cNvPr>
          <p:cNvSpPr/>
          <p:nvPr/>
        </p:nvSpPr>
        <p:spPr>
          <a:xfrm>
            <a:off x="5057727" y="8902556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이력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FD9F8F3-505D-98A3-8CD9-136CC9254CA0}"/>
              </a:ext>
            </a:extLst>
          </p:cNvPr>
          <p:cNvSpPr txBox="1"/>
          <p:nvPr/>
        </p:nvSpPr>
        <p:spPr>
          <a:xfrm>
            <a:off x="5057726" y="9171369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호출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변경 이력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 자동 반영</a:t>
            </a:r>
          </a:p>
        </p:txBody>
      </p:sp>
      <p:sp>
        <p:nvSpPr>
          <p:cNvPr id="52" name="이등변 삼각형 51">
            <a:extLst>
              <a:ext uri="{FF2B5EF4-FFF2-40B4-BE49-F238E27FC236}">
                <a16:creationId xmlns:a16="http://schemas.microsoft.com/office/drawing/2014/main" id="{05555F8A-9E18-42F6-60E9-00A9D2EF4873}"/>
              </a:ext>
            </a:extLst>
          </p:cNvPr>
          <p:cNvSpPr/>
          <p:nvPr/>
        </p:nvSpPr>
        <p:spPr>
          <a:xfrm rot="5400000">
            <a:off x="1801098" y="9232963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이등변 삼각형 53">
            <a:extLst>
              <a:ext uri="{FF2B5EF4-FFF2-40B4-BE49-F238E27FC236}">
                <a16:creationId xmlns:a16="http://schemas.microsoft.com/office/drawing/2014/main" id="{952628BC-74B1-8B34-A244-47467A3245C4}"/>
              </a:ext>
            </a:extLst>
          </p:cNvPr>
          <p:cNvSpPr/>
          <p:nvPr/>
        </p:nvSpPr>
        <p:spPr>
          <a:xfrm rot="5400000">
            <a:off x="3386287" y="923296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6" name="이등변 삼각형 55">
            <a:extLst>
              <a:ext uri="{FF2B5EF4-FFF2-40B4-BE49-F238E27FC236}">
                <a16:creationId xmlns:a16="http://schemas.microsoft.com/office/drawing/2014/main" id="{1F477AEE-E016-D706-A7E6-3299F9AF6B08}"/>
              </a:ext>
            </a:extLst>
          </p:cNvPr>
          <p:cNvSpPr/>
          <p:nvPr/>
        </p:nvSpPr>
        <p:spPr>
          <a:xfrm rot="5400000">
            <a:off x="4966713" y="9232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8" name="이등변 삼각형 57">
            <a:extLst>
              <a:ext uri="{FF2B5EF4-FFF2-40B4-BE49-F238E27FC236}">
                <a16:creationId xmlns:a16="http://schemas.microsoft.com/office/drawing/2014/main" id="{6A199215-A3A5-F24B-FF88-572454292A6E}"/>
              </a:ext>
            </a:extLst>
          </p:cNvPr>
          <p:cNvSpPr/>
          <p:nvPr/>
        </p:nvSpPr>
        <p:spPr>
          <a:xfrm rot="5400000">
            <a:off x="1801098" y="9232963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0" name="이등변 삼각형 59">
            <a:extLst>
              <a:ext uri="{FF2B5EF4-FFF2-40B4-BE49-F238E27FC236}">
                <a16:creationId xmlns:a16="http://schemas.microsoft.com/office/drawing/2014/main" id="{94E21866-ADCC-6EE4-81DC-6A23998DF1F5}"/>
              </a:ext>
            </a:extLst>
          </p:cNvPr>
          <p:cNvSpPr/>
          <p:nvPr/>
        </p:nvSpPr>
        <p:spPr>
          <a:xfrm rot="5400000">
            <a:off x="3386287" y="923296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이등변 삼각형 61">
            <a:extLst>
              <a:ext uri="{FF2B5EF4-FFF2-40B4-BE49-F238E27FC236}">
                <a16:creationId xmlns:a16="http://schemas.microsoft.com/office/drawing/2014/main" id="{B0F087BE-E956-ABEB-965C-B4A47DC46E2B}"/>
              </a:ext>
            </a:extLst>
          </p:cNvPr>
          <p:cNvSpPr/>
          <p:nvPr/>
        </p:nvSpPr>
        <p:spPr>
          <a:xfrm rot="5400000">
            <a:off x="4966713" y="9232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32C049B-3E07-0798-BEFE-6BEC33E09976}"/>
              </a:ext>
            </a:extLst>
          </p:cNvPr>
          <p:cNvSpPr/>
          <p:nvPr/>
        </p:nvSpPr>
        <p:spPr>
          <a:xfrm>
            <a:off x="316309" y="3755705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식별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로그의 공통 식별키 체계를 정의하고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상태값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코드체계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정책엔진을 전 시스템에 일관 적용함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식별키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코드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상태값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 코드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 엔진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보안등급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승인상태별 공통 통제 규칙 적용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6DF9D49-8C08-85E0-186D-FEE42280A689}"/>
              </a:ext>
            </a:extLst>
          </p:cNvPr>
          <p:cNvSpPr/>
          <p:nvPr/>
        </p:nvSpPr>
        <p:spPr>
          <a:xfrm>
            <a:off x="316309" y="5083954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서비스 컴포넌트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 업로드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스케줄링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 포맷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오류코드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연계를 공통 서비스로 제공하고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UI·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규칙을 재사용함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 화면에서 공통 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UI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컴포넌트와 공통 검증 규칙을 재사용하여 개발 효율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일관성 확보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3283799-3BAA-EDD7-FBE1-095198FDCE49}"/>
              </a:ext>
            </a:extLst>
          </p:cNvPr>
          <p:cNvSpPr/>
          <p:nvPr/>
        </p:nvSpPr>
        <p:spPr>
          <a:xfrm>
            <a:off x="316309" y="591490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관리 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기반은 데이터 관리 시스템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(FR-031)·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관리 시스템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(FR-032)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식별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정책을 공유하여 데이터 자산과 인프라 자원을 일관 통제함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관리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(FR-031):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파일세트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패키지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 통합 관리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계보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(Lineage)·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 추적</a:t>
            </a:r>
            <a:endParaRPr kumimoji="1" lang="en-US" altLang="ko-KR" sz="1100" spc="-7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관리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(FR-032): 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스토리지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·GPU·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네트워크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배치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스트리밍 자원 할당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사용현황 제어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D4A1A13-15E0-7B19-8BCC-9027447557B6}"/>
              </a:ext>
            </a:extLst>
          </p:cNvPr>
          <p:cNvSpPr/>
          <p:nvPr/>
        </p:nvSpPr>
        <p:spPr>
          <a:xfrm>
            <a:off x="316309" y="8294588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기능 정의서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식별체계 정의서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 규칙서로 구체화하며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구조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(2.1.1)·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목표모델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 업무 모듈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2)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C7DA3001-27F5-4BC2-6307-65DD9FD4AE01}"/>
              </a:ext>
            </a:extLst>
          </p:cNvPr>
          <p:cNvSpPr/>
          <p:nvPr/>
        </p:nvSpPr>
        <p:spPr>
          <a:xfrm>
            <a:off x="316309" y="7480356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공통 기반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모든 공통 서비스의 호출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이력을 기록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시 공통 요소가 자동 반영되도록 설계함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장기 미사용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비정상 점유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한도 초과 자원에 대한 알림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통제와 연계</a:t>
            </a:r>
            <a:r>
              <a:rPr kumimoji="1" lang="en-US" altLang="ko-KR" sz="11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(FR-032)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AE4765F-AF99-48C7-86E2-319BABB53827}"/>
              </a:ext>
            </a:extLst>
          </p:cNvPr>
          <p:cNvSpPr/>
          <p:nvPr/>
        </p:nvSpPr>
        <p:spPr>
          <a:xfrm>
            <a:off x="619153" y="6957707"/>
            <a:ext cx="1679762" cy="470050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관리 시스템</a:t>
            </a:r>
            <a:endParaRPr lang="en-US" altLang="ko-KR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관련 계보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 관리</a:t>
            </a:r>
            <a:endParaRPr lang="en-US" altLang="ko-KR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0AFD166A-A4E0-FC3A-49A3-6F613EF2091D}"/>
              </a:ext>
            </a:extLst>
          </p:cNvPr>
          <p:cNvSpPr/>
          <p:nvPr/>
        </p:nvSpPr>
        <p:spPr>
          <a:xfrm>
            <a:off x="2813781" y="6957707"/>
            <a:ext cx="1262030" cy="47005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기반</a:t>
            </a:r>
          </a:p>
          <a:p>
            <a:pPr algn="ctr"/>
            <a:endParaRPr lang="ko-KR" altLang="en-US" sz="3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spc="-8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식별체계</a:t>
            </a:r>
            <a:r>
              <a:rPr lang="en-US" altLang="ko-KR" sz="900" spc="-8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8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</a:t>
            </a:r>
            <a:r>
              <a:rPr lang="en-US" altLang="ko-KR" sz="900" spc="-8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8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 공유</a:t>
            </a:r>
            <a:endParaRPr lang="en-US" altLang="ko-KR" sz="900" spc="-8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E811A1DF-247E-8667-CAEC-13CA58FF8A5D}"/>
              </a:ext>
            </a:extLst>
          </p:cNvPr>
          <p:cNvSpPr/>
          <p:nvPr/>
        </p:nvSpPr>
        <p:spPr>
          <a:xfrm>
            <a:off x="4546513" y="6934205"/>
            <a:ext cx="1679762" cy="517055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자원관리 시스템</a:t>
            </a:r>
          </a:p>
          <a:p>
            <a:pPr algn="ctr"/>
            <a:r>
              <a:rPr lang="ko-KR" altLang="en-US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</a:t>
            </a:r>
            <a:r>
              <a:rPr lang="en-US" altLang="ko-KR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배치</a:t>
            </a:r>
            <a:r>
              <a:rPr lang="en-US" altLang="ko-KR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스트리밍 자원 할당</a:t>
            </a:r>
            <a:r>
              <a:rPr lang="en-US" altLang="ko-KR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제어</a:t>
            </a:r>
          </a:p>
        </p:txBody>
      </p: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07344082-BB9D-CC68-C460-F9E739D2F1BD}"/>
              </a:ext>
            </a:extLst>
          </p:cNvPr>
          <p:cNvCxnSpPr>
            <a:stCxn id="72" idx="3"/>
            <a:endCxn id="74" idx="1"/>
          </p:cNvCxnSpPr>
          <p:nvPr/>
        </p:nvCxnSpPr>
        <p:spPr>
          <a:xfrm>
            <a:off x="2298915" y="7192732"/>
            <a:ext cx="514866" cy="0"/>
          </a:xfrm>
          <a:prstGeom prst="line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5E1EBFD6-B104-6EA9-5681-F2E0D19BD7CD}"/>
              </a:ext>
            </a:extLst>
          </p:cNvPr>
          <p:cNvCxnSpPr>
            <a:stCxn id="74" idx="3"/>
            <a:endCxn id="76" idx="1"/>
          </p:cNvCxnSpPr>
          <p:nvPr/>
        </p:nvCxnSpPr>
        <p:spPr>
          <a:xfrm>
            <a:off x="4075811" y="7192732"/>
            <a:ext cx="470702" cy="1"/>
          </a:xfrm>
          <a:prstGeom prst="line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Google Shape;2724;p43">
            <a:extLst>
              <a:ext uri="{FF2B5EF4-FFF2-40B4-BE49-F238E27FC236}">
                <a16:creationId xmlns:a16="http://schemas.microsoft.com/office/drawing/2014/main" id="{667E5C72-38F7-DC93-36B5-EB829C926D24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4416770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495CCD-BB13-AC39-D819-FB4B909538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C0695DA-3757-2C7C-6593-A30E8C355D0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1051541-5B89-FFEF-A435-BBDABFBA2EE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8728F1-8D7A-0840-8A0E-365523878C9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공통 기반 기능 설계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5D0E896-531E-ED04-7502-7ABB3A0E748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7E84CFA-69BD-C89A-1A71-B92A2ED7964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기반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식별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 계층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서비스 컴포넌트 계층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공통 기반 계층으로 구성된 공통 기반 기능 구성도를 제시하여 전 모듈이 재사용하는 표준 기반의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2FAB436-090B-4205-111F-D0E7730BF43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8CC7B49-F156-1F3D-331A-CB78A2ED743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기반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구성도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A7E9EC4-6EF9-935E-FEBB-A8947104BCD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FR-033, FR-031, FR-032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7910D59D-A6F8-AAFD-515C-532E8757BAD4}"/>
              </a:ext>
            </a:extLst>
          </p:cNvPr>
          <p:cNvSpPr/>
          <p:nvPr/>
        </p:nvSpPr>
        <p:spPr bwMode="gray">
          <a:xfrm>
            <a:off x="258881" y="2666394"/>
            <a:ext cx="6331426" cy="431543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EA97C03-E05D-0687-89BC-1BABFA67F82D}"/>
              </a:ext>
            </a:extLst>
          </p:cNvPr>
          <p:cNvSpPr/>
          <p:nvPr/>
        </p:nvSpPr>
        <p:spPr>
          <a:xfrm>
            <a:off x="335012" y="3276309"/>
            <a:ext cx="5016942" cy="838010"/>
          </a:xfrm>
          <a:prstGeom prst="roundRect">
            <a:avLst>
              <a:gd name="adj" fmla="val 699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식별</a:t>
            </a:r>
            <a:b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DD574D-9714-4F16-712F-E282DE70D265}"/>
              </a:ext>
            </a:extLst>
          </p:cNvPr>
          <p:cNvSpPr/>
          <p:nvPr/>
        </p:nvSpPr>
        <p:spPr>
          <a:xfrm>
            <a:off x="335012" y="2733260"/>
            <a:ext cx="6172468" cy="303823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 모듈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워크스페이스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운영지원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—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기반 기능 호출</a:t>
            </a:r>
            <a:endParaRPr lang="en-US" altLang="ko-KR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523C97F-5F5A-400D-34AF-A1519401DD47}"/>
              </a:ext>
            </a:extLst>
          </p:cNvPr>
          <p:cNvSpPr/>
          <p:nvPr/>
        </p:nvSpPr>
        <p:spPr>
          <a:xfrm>
            <a:off x="335012" y="4266023"/>
            <a:ext cx="5016942" cy="1062666"/>
          </a:xfrm>
          <a:prstGeom prst="roundRect">
            <a:avLst>
              <a:gd name="adj" fmla="val 6990"/>
            </a:avLst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서비스 </a:t>
            </a:r>
            <a:b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컴포넌트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A325D1B-9AC8-862E-4CCC-31CB0A3BAFEE}"/>
              </a:ext>
            </a:extLst>
          </p:cNvPr>
          <p:cNvSpPr/>
          <p:nvPr/>
        </p:nvSpPr>
        <p:spPr>
          <a:xfrm>
            <a:off x="342498" y="5480393"/>
            <a:ext cx="5016942" cy="838010"/>
          </a:xfrm>
          <a:prstGeom prst="roundRect">
            <a:avLst>
              <a:gd name="adj" fmla="val 6990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</a:t>
            </a:r>
            <a:b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기반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화살표: 위쪽/아래쪽 17">
            <a:extLst>
              <a:ext uri="{FF2B5EF4-FFF2-40B4-BE49-F238E27FC236}">
                <a16:creationId xmlns:a16="http://schemas.microsoft.com/office/drawing/2014/main" id="{4AD67A59-2862-A062-97DE-58BE02084B68}"/>
              </a:ext>
            </a:extLst>
          </p:cNvPr>
          <p:cNvSpPr/>
          <p:nvPr/>
        </p:nvSpPr>
        <p:spPr>
          <a:xfrm>
            <a:off x="2725084" y="4061372"/>
            <a:ext cx="160020" cy="245653"/>
          </a:xfrm>
          <a:prstGeom prst="upDownArrow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화살표: 위쪽/아래쪽 18">
            <a:extLst>
              <a:ext uri="{FF2B5EF4-FFF2-40B4-BE49-F238E27FC236}">
                <a16:creationId xmlns:a16="http://schemas.microsoft.com/office/drawing/2014/main" id="{CBB35869-C759-19CE-7A15-24BF201091A7}"/>
              </a:ext>
            </a:extLst>
          </p:cNvPr>
          <p:cNvSpPr/>
          <p:nvPr/>
        </p:nvSpPr>
        <p:spPr>
          <a:xfrm>
            <a:off x="2725084" y="5281715"/>
            <a:ext cx="160020" cy="245653"/>
          </a:xfrm>
          <a:prstGeom prst="upDownArrow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화살표: 아래쪽 19">
            <a:extLst>
              <a:ext uri="{FF2B5EF4-FFF2-40B4-BE49-F238E27FC236}">
                <a16:creationId xmlns:a16="http://schemas.microsoft.com/office/drawing/2014/main" id="{FFBD1B8B-8869-6488-8E58-3A12048A6FE2}"/>
              </a:ext>
            </a:extLst>
          </p:cNvPr>
          <p:cNvSpPr/>
          <p:nvPr/>
        </p:nvSpPr>
        <p:spPr>
          <a:xfrm>
            <a:off x="2679364" y="3003815"/>
            <a:ext cx="205740" cy="288442"/>
          </a:xfrm>
          <a:prstGeom prst="downArrow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0E749276-7FEC-7924-E63D-7C092FE2ECD1}"/>
              </a:ext>
            </a:extLst>
          </p:cNvPr>
          <p:cNvSpPr/>
          <p:nvPr/>
        </p:nvSpPr>
        <p:spPr>
          <a:xfrm>
            <a:off x="2497549" y="3030339"/>
            <a:ext cx="2050491" cy="160851"/>
          </a:xfrm>
          <a:prstGeom prst="roundRect">
            <a:avLst>
              <a:gd name="adj" fmla="val 991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 모듈이 아래 공통 기반을 호출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E8D80AC4-16B6-2B0A-C114-3858AAC66218}"/>
              </a:ext>
            </a:extLst>
          </p:cNvPr>
          <p:cNvSpPr/>
          <p:nvPr/>
        </p:nvSpPr>
        <p:spPr>
          <a:xfrm>
            <a:off x="1192137" y="3346426"/>
            <a:ext cx="1305412" cy="697776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식별키 체계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세션</a:t>
            </a:r>
            <a:b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 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ID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B213C3AE-77CA-9B08-FAE6-26A8C6D5C26E}"/>
              </a:ext>
            </a:extLst>
          </p:cNvPr>
          <p:cNvSpPr/>
          <p:nvPr/>
        </p:nvSpPr>
        <p:spPr>
          <a:xfrm>
            <a:off x="2555980" y="3346426"/>
            <a:ext cx="1305412" cy="697776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코드체계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상태값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품질등급</a:t>
            </a:r>
            <a:b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저작권코드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CC531E6C-DF8B-F5E1-8FCF-522B3BA00B61}"/>
              </a:ext>
            </a:extLst>
          </p:cNvPr>
          <p:cNvSpPr/>
          <p:nvPr/>
        </p:nvSpPr>
        <p:spPr>
          <a:xfrm>
            <a:off x="3924044" y="3346426"/>
            <a:ext cx="1305412" cy="697776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정책 엔진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보안등급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라이선스</a:t>
            </a:r>
            <a:b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승인상태 통제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74FEDEAE-3E79-FDDD-A3E2-8B0907AE3CE6}"/>
              </a:ext>
            </a:extLst>
          </p:cNvPr>
          <p:cNvSpPr/>
          <p:nvPr/>
        </p:nvSpPr>
        <p:spPr>
          <a:xfrm>
            <a:off x="1192136" y="5535516"/>
            <a:ext cx="1965401" cy="697776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관리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호출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실패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이력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 공통 서비스 추적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6617034C-9C6B-4E2F-940C-2CA75FD195B3}"/>
              </a:ext>
            </a:extLst>
          </p:cNvPr>
          <p:cNvSpPr/>
          <p:nvPr/>
        </p:nvSpPr>
        <p:spPr>
          <a:xfrm>
            <a:off x="3241113" y="5535516"/>
            <a:ext cx="1965401" cy="697776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구조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외부연계 시 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식별체계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로그 자동 반영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07AA9A62-9BED-B4A1-AF0C-FB5DDCEED3D1}"/>
              </a:ext>
            </a:extLst>
          </p:cNvPr>
          <p:cNvSpPr/>
          <p:nvPr/>
        </p:nvSpPr>
        <p:spPr>
          <a:xfrm>
            <a:off x="1192136" y="4307025"/>
            <a:ext cx="950989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 서비스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메일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푸시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·SMS 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EFC3E315-CC06-3C7E-100D-5991E2115CF8}"/>
              </a:ext>
            </a:extLst>
          </p:cNvPr>
          <p:cNvSpPr/>
          <p:nvPr/>
        </p:nvSpPr>
        <p:spPr>
          <a:xfrm>
            <a:off x="3241113" y="4307025"/>
            <a:ext cx="950989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배치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스케줄링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대량처리 비동기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F0D6765-7553-DB28-0401-ADBE85805408}"/>
              </a:ext>
            </a:extLst>
          </p:cNvPr>
          <p:cNvSpPr/>
          <p:nvPr/>
        </p:nvSpPr>
        <p:spPr>
          <a:xfrm>
            <a:off x="1192137" y="4811610"/>
            <a:ext cx="1305411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연계 서비스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필터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검색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63553F06-DCD4-1130-63A9-F827D69B6D74}"/>
              </a:ext>
            </a:extLst>
          </p:cNvPr>
          <p:cNvSpPr/>
          <p:nvPr/>
        </p:nvSpPr>
        <p:spPr>
          <a:xfrm>
            <a:off x="2203869" y="4307025"/>
            <a:ext cx="950989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 처리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업로드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27E465F5-9353-883D-E280-60D7CCC6F42A}"/>
              </a:ext>
            </a:extLst>
          </p:cNvPr>
          <p:cNvSpPr/>
          <p:nvPr/>
        </p:nvSpPr>
        <p:spPr>
          <a:xfrm>
            <a:off x="4252846" y="4307025"/>
            <a:ext cx="950989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 spc="-5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응답포맷</a:t>
            </a:r>
            <a:r>
              <a:rPr lang="en-US" altLang="ko-KR" sz="8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오류코드</a:t>
            </a:r>
            <a:r>
              <a:rPr lang="en-US" altLang="ko-KR" sz="8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 spc="-5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endParaRPr lang="en-US" altLang="ko-KR" sz="800" spc="-5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5DBD9246-8E22-8FF8-F2CA-CB00577A4830}"/>
              </a:ext>
            </a:extLst>
          </p:cNvPr>
          <p:cNvSpPr/>
          <p:nvPr/>
        </p:nvSpPr>
        <p:spPr>
          <a:xfrm>
            <a:off x="2542978" y="4811610"/>
            <a:ext cx="1305411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</a:t>
            </a:r>
            <a:r>
              <a:rPr lang="en-US" altLang="ko-KR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UI·</a:t>
            </a:r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 컴포넌트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 spc="-7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</a:t>
            </a:r>
            <a:r>
              <a:rPr lang="en-US" altLang="ko-KR" sz="800" spc="-7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UI·</a:t>
            </a:r>
            <a:r>
              <a:rPr lang="ko-KR" altLang="en-US" sz="800" spc="-7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입력검증</a:t>
            </a:r>
            <a:r>
              <a:rPr lang="en-US" altLang="ko-KR" sz="800" spc="-7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 spc="-7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재사용 레이아웃</a:t>
            </a:r>
            <a:endParaRPr lang="en-US" altLang="ko-KR" sz="800" spc="-7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6A5AEB68-B12B-ACE5-DB2B-C6C491C2553A}"/>
              </a:ext>
            </a:extLst>
          </p:cNvPr>
          <p:cNvSpPr/>
          <p:nvPr/>
        </p:nvSpPr>
        <p:spPr>
          <a:xfrm>
            <a:off x="3893820" y="4811610"/>
            <a:ext cx="1305411" cy="442544"/>
          </a:xfrm>
          <a:prstGeom prst="roundRect">
            <a:avLst>
              <a:gd name="adj" fmla="val 699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 연계 서비스</a:t>
            </a:r>
            <a:endParaRPr lang="en-US" altLang="ko-KR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SSO·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인증연동</a:t>
            </a:r>
            <a:r>
              <a:rPr lang="en-US" altLang="ko-KR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토큰관리</a:t>
            </a:r>
            <a:endParaRPr lang="en-US" altLang="ko-KR" sz="8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356D71D9-4D2D-5FC4-3DDF-73C20C96844A}"/>
              </a:ext>
            </a:extLst>
          </p:cNvPr>
          <p:cNvSpPr/>
          <p:nvPr/>
        </p:nvSpPr>
        <p:spPr>
          <a:xfrm>
            <a:off x="316309" y="6318403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관리 시스템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(FR-031) ·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관리 시스템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(FR-032)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공통 식별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 공유 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기반 기능은 전 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 모듈이 재사용 → 일관성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효율 확보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(FR-033)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71FB7D31-99BD-5769-0FD3-487BCC937DCC}"/>
              </a:ext>
            </a:extLst>
          </p:cNvPr>
          <p:cNvSpPr/>
          <p:nvPr/>
        </p:nvSpPr>
        <p:spPr>
          <a:xfrm>
            <a:off x="5438209" y="3257222"/>
            <a:ext cx="1069271" cy="876182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 spc="-7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관리 시스템</a:t>
            </a:r>
            <a:endParaRPr lang="en-US" altLang="ko-KR" sz="1100" spc="-7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(FR-031)</a:t>
            </a:r>
          </a:p>
          <a:p>
            <a:pPr algn="ctr"/>
            <a:endParaRPr lang="ko-KR" altLang="en-US" sz="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b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품질정보 연계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2FF1700D-F971-6EBE-9650-BD45165BEF3E}"/>
              </a:ext>
            </a:extLst>
          </p:cNvPr>
          <p:cNvCxnSpPr>
            <a:cxnSpLocks/>
            <a:stCxn id="8" idx="3"/>
            <a:endCxn id="91" idx="1"/>
          </p:cNvCxnSpPr>
          <p:nvPr/>
        </p:nvCxnSpPr>
        <p:spPr>
          <a:xfrm flipV="1">
            <a:off x="5351954" y="3695313"/>
            <a:ext cx="86255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F38FF5C7-897A-1EC9-18DB-B4D098B60E0A}"/>
              </a:ext>
            </a:extLst>
          </p:cNvPr>
          <p:cNvSpPr/>
          <p:nvPr/>
        </p:nvSpPr>
        <p:spPr>
          <a:xfrm>
            <a:off x="5438209" y="4359265"/>
            <a:ext cx="1069271" cy="876182"/>
          </a:xfrm>
          <a:prstGeom prst="roundRect">
            <a:avLst>
              <a:gd name="adj" fmla="val 6990"/>
            </a:avLst>
          </a:prstGeom>
          <a:solidFill>
            <a:srgbClr val="FFFFFF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100" spc="-7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관리 시스템</a:t>
            </a:r>
            <a:endParaRPr lang="en-US" altLang="ko-KR" sz="1100" spc="-7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(FR-032)</a:t>
            </a:r>
          </a:p>
          <a:p>
            <a:pPr algn="ctr"/>
            <a:endParaRPr lang="ko-KR" altLang="en-US" sz="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컴퓨팅</a:t>
            </a:r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스토리지</a:t>
            </a:r>
            <a:b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·API</a:t>
            </a:r>
            <a:r>
              <a:rPr lang="ko-KR" altLang="en-US" sz="8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자원 할당 연계</a:t>
            </a:r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90C3AD17-4C6F-7DCE-64DA-CA3312AF6213}"/>
              </a:ext>
            </a:extLst>
          </p:cNvPr>
          <p:cNvCxnSpPr>
            <a:cxnSpLocks/>
            <a:stCxn id="15" idx="3"/>
            <a:endCxn id="103" idx="1"/>
          </p:cNvCxnSpPr>
          <p:nvPr/>
        </p:nvCxnSpPr>
        <p:spPr>
          <a:xfrm>
            <a:off x="5351954" y="4797356"/>
            <a:ext cx="86255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37C2721C-8E74-F00B-982C-6E1D744DD6D7}"/>
              </a:ext>
            </a:extLst>
          </p:cNvPr>
          <p:cNvCxnSpPr>
            <a:cxnSpLocks/>
          </p:cNvCxnSpPr>
          <p:nvPr/>
        </p:nvCxnSpPr>
        <p:spPr>
          <a:xfrm>
            <a:off x="312925" y="7048904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2646EF82-B427-6F44-40CE-9E6915DB2E16}"/>
              </a:ext>
            </a:extLst>
          </p:cNvPr>
          <p:cNvSpPr txBox="1"/>
          <p:nvPr/>
        </p:nvSpPr>
        <p:spPr>
          <a:xfrm>
            <a:off x="335012" y="7022827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표준 적용 아키텍처</a:t>
            </a:r>
          </a:p>
        </p:txBody>
      </p:sp>
      <p:sp>
        <p:nvSpPr>
          <p:cNvPr id="114" name="모서리가 둥근 직사각형 222">
            <a:extLst>
              <a:ext uri="{FF2B5EF4-FFF2-40B4-BE49-F238E27FC236}">
                <a16:creationId xmlns:a16="http://schemas.microsoft.com/office/drawing/2014/main" id="{B7BF8B69-FC00-C353-1183-3E27AA570A28}"/>
              </a:ext>
            </a:extLst>
          </p:cNvPr>
          <p:cNvSpPr/>
          <p:nvPr/>
        </p:nvSpPr>
        <p:spPr bwMode="gray">
          <a:xfrm>
            <a:off x="258881" y="7318081"/>
            <a:ext cx="6331426" cy="2289342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15" name="Table 0">
            <a:extLst>
              <a:ext uri="{FF2B5EF4-FFF2-40B4-BE49-F238E27FC236}">
                <a16:creationId xmlns:a16="http://schemas.microsoft.com/office/drawing/2014/main" id="{0EB523B9-0683-0C49-4972-866D04E0691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75702"/>
          <a:ext cx="6165724" cy="1458130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592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39553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023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기능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내용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650">
                <a:tc rowSpan="3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식별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식별키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ID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6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코드체계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제공방식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품질등급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FR-033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046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 엔진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제공방식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승인상태 통제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0465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서비스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알림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응답포맷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오류코드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UI·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재사용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0465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기반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구조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호출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이력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시 자동 반영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0465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(FR-031)·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할당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(FR-032)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FR-031·032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B6093642-600C-CEE3-F439-2C2773C04D8E}"/>
              </a:ext>
            </a:extLst>
          </p:cNvPr>
          <p:cNvSpPr txBox="1"/>
          <p:nvPr/>
        </p:nvSpPr>
        <p:spPr>
          <a:xfrm>
            <a:off x="1093656" y="732704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계층별 적용 표준 및 근거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6036C87-9FE2-69B0-519D-D238F85D33C2}"/>
              </a:ext>
            </a:extLst>
          </p:cNvPr>
          <p:cNvSpPr/>
          <p:nvPr/>
        </p:nvSpPr>
        <p:spPr>
          <a:xfrm>
            <a:off x="316309" y="905208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기반 기능을 전 모듈이 재사용함으로써 중복 개발을 제거하고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식별체계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정책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이력을 일관 적용하여 시스템 확장 시에도 일관성과 운영 효율을 유지함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3" name="Google Shape;2770;p44">
            <a:extLst>
              <a:ext uri="{FF2B5EF4-FFF2-40B4-BE49-F238E27FC236}">
                <a16:creationId xmlns:a16="http://schemas.microsoft.com/office/drawing/2014/main" id="{52D2E5E3-D99F-1BC9-B135-87960F7F434D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2891954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A9FC61-DBC0-171A-6E66-98EBF82EAE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70CB208-F8F5-937B-D070-4428AC9134B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256773-B086-DBF8-6C40-D196F25467A2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8A058C1-BDD4-41AB-5590-CA62B6E8B7B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시스템 최적화 방안 수립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82ACFC7-3068-C09C-0169-55F42159753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E352F5F-D144-D246-CF68-B343ACB431F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 이내 응답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무중단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운영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(PR-003)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목표로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캐시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비동기 큐 최적화와 장애 감지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이중화를 적용하여 공공 서비스 수준의 성능과 안정성을 확보함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932B867-A09E-30D4-A950-A48DB7BF4C8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26AAA8C-4089-F92D-F9F2-8AF08DE4C3C5}"/>
              </a:ext>
            </a:extLst>
          </p:cNvPr>
          <p:cNvSpPr txBox="1"/>
          <p:nvPr/>
        </p:nvSpPr>
        <p:spPr>
          <a:xfrm>
            <a:off x="335011" y="2371141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최적화를 통한 서비스 성능 및 안정성 확보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CF97122-C325-7058-3747-2A31AE2D903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DR-016, PR-001, PR-003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BDD659BD-310E-6C6C-14DE-F7F7E68E4F45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F5D6411-EBF9-A3E8-C27D-09FB0B71C8DB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최적화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약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1,000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종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·3.9PB)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다수 이용자 환경에서도 공공 서비스 수준의 응답성과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무중단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안정성을 확보하기 위해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 최적화와 안정성 확보 방안을 사전 설계함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(PR-001·PR-003)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대량 처리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서비스 경로와 분리하여 응답 성능 영향을 최소화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(DR-016·COR-001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사업기간 내 시범운영 안정성 확보를 위해 장애 대응 체계를 서비스 개시 전 완비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F2A2EB3-5852-FB90-FAAE-09834B6C64D6}"/>
              </a:ext>
            </a:extLst>
          </p:cNvPr>
          <p:cNvSpPr/>
          <p:nvPr/>
        </p:nvSpPr>
        <p:spPr>
          <a:xfrm>
            <a:off x="316309" y="3728014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 성능 목표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일반 조회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상세 페이지는 정상 상태에서 요청 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초 이내 응답을 인지할 수 있도록 설계하고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비동기 작업은 진행상태 표기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완료 알림을 제공함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성능시험은 실제 운영 환경에 준하여 수행하고 성능검증기준서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성능시험결과서로 검증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FA197F7-9AE1-E482-DB57-424E85028FBB}"/>
              </a:ext>
            </a:extLst>
          </p:cNvPr>
          <p:cNvSpPr/>
          <p:nvPr/>
        </p:nvSpPr>
        <p:spPr>
          <a:xfrm>
            <a:off x="316309" y="454678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 최적화 방안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·DB·API·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메시지 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캐시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구조를 최적화하고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 미달 시 튜닝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재배치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비동기화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캐시 적용으로 개선함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 결과 캐시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색인 최적화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DB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쿼리 튜닝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부하분산으로 응답 지연 최소화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다운로드는 비동기 큐로 분리하여 서비스 경로 부하 차단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1C0CA7A-C024-294D-B66F-80A89C540CAB}"/>
              </a:ext>
            </a:extLst>
          </p:cNvPr>
          <p:cNvSpPr/>
          <p:nvPr/>
        </p:nvSpPr>
        <p:spPr>
          <a:xfrm>
            <a:off x="316309" y="5602618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안정성 목표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정상 상태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시간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무중단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서비스를 제공하고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시험 운영 기간 결함 지속 시간을 최대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시간 이하로 관리함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평균 자원 사용률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 대응 시간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복구 절차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임계치를 운영 기준으로 정의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(CPU·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메모리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디스크</a:t>
            </a:r>
            <a:b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네트워크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복구시간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408D6B6-B433-8A5D-40CE-D41C314DC95C}"/>
              </a:ext>
            </a:extLst>
          </p:cNvPr>
          <p:cNvSpPr/>
          <p:nvPr/>
        </p:nvSpPr>
        <p:spPr>
          <a:xfrm>
            <a:off x="316309" y="665845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안정성 확보 방안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유효성 검증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트랜잭션 보호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큐 기반 비동기 처리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예비자원 확보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장애감지 및 알림을 적용하고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정기 점검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모의 장애 대응 훈련을 수행함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 발생 시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원인분석→조치→재발방지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보고로 이어지는 체계 구성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이중화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예비자원으로 단일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(SPOF)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제거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DCC03E2-DA46-A107-AB94-BF5F9A49BBA2}"/>
              </a:ext>
            </a:extLst>
          </p:cNvPr>
          <p:cNvSpPr/>
          <p:nvPr/>
        </p:nvSpPr>
        <p:spPr>
          <a:xfrm>
            <a:off x="316309" y="7781157"/>
            <a:ext cx="6286697" cy="7375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성능검증기준서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성능시험결과서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성능개선보고서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장애대응계획서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안정성점검보고서</a:t>
            </a:r>
            <a:b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운영기준서로 구체화하며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(PR-001·PR-003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구조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(2.1.1)·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인프라 설계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4)·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품질보증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(Ⅲ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C27105A5-F5EF-C4F4-98A6-318CA781FDD3}"/>
              </a:ext>
            </a:extLst>
          </p:cNvPr>
          <p:cNvSpPr/>
          <p:nvPr/>
        </p:nvSpPr>
        <p:spPr>
          <a:xfrm>
            <a:off x="31589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위쪽 모서리 23">
            <a:extLst>
              <a:ext uri="{FF2B5EF4-FFF2-40B4-BE49-F238E27FC236}">
                <a16:creationId xmlns:a16="http://schemas.microsoft.com/office/drawing/2014/main" id="{840A61F8-1B74-F01F-70C6-399A17CCACD4}"/>
              </a:ext>
            </a:extLst>
          </p:cNvPr>
          <p:cNvSpPr/>
          <p:nvPr/>
        </p:nvSpPr>
        <p:spPr>
          <a:xfrm>
            <a:off x="315897" y="8640560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 설정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565970CE-2DCA-3587-2A84-550FF4856B47}"/>
              </a:ext>
            </a:extLst>
          </p:cNvPr>
          <p:cNvSpPr/>
          <p:nvPr/>
        </p:nvSpPr>
        <p:spPr>
          <a:xfrm>
            <a:off x="189650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위쪽 모서리 30">
            <a:extLst>
              <a:ext uri="{FF2B5EF4-FFF2-40B4-BE49-F238E27FC236}">
                <a16:creationId xmlns:a16="http://schemas.microsoft.com/office/drawing/2014/main" id="{CD175FF1-974A-72D4-0978-0E98DB803FBF}"/>
              </a:ext>
            </a:extLst>
          </p:cNvPr>
          <p:cNvSpPr/>
          <p:nvPr/>
        </p:nvSpPr>
        <p:spPr>
          <a:xfrm>
            <a:off x="1896507" y="8640560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성능 최적화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FE887498-9CE4-0B66-9057-9E96B54B0B1D}"/>
              </a:ext>
            </a:extLst>
          </p:cNvPr>
          <p:cNvSpPr/>
          <p:nvPr/>
        </p:nvSpPr>
        <p:spPr>
          <a:xfrm>
            <a:off x="347711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위쪽 모서리 36">
            <a:extLst>
              <a:ext uri="{FF2B5EF4-FFF2-40B4-BE49-F238E27FC236}">
                <a16:creationId xmlns:a16="http://schemas.microsoft.com/office/drawing/2014/main" id="{82077D5C-C6D1-F072-5067-220F6544D229}"/>
              </a:ext>
            </a:extLst>
          </p:cNvPr>
          <p:cNvSpPr/>
          <p:nvPr/>
        </p:nvSpPr>
        <p:spPr>
          <a:xfrm>
            <a:off x="3477117" y="8640560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안정성 확보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3914053-6B68-76EA-38DB-B421A4D7642C}"/>
              </a:ext>
            </a:extLst>
          </p:cNvPr>
          <p:cNvSpPr/>
          <p:nvPr/>
        </p:nvSpPr>
        <p:spPr>
          <a:xfrm>
            <a:off x="505772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위쪽 모서리 42">
            <a:extLst>
              <a:ext uri="{FF2B5EF4-FFF2-40B4-BE49-F238E27FC236}">
                <a16:creationId xmlns:a16="http://schemas.microsoft.com/office/drawing/2014/main" id="{9D64B427-262E-4CF1-6829-E0EBE5E857CB}"/>
              </a:ext>
            </a:extLst>
          </p:cNvPr>
          <p:cNvSpPr/>
          <p:nvPr/>
        </p:nvSpPr>
        <p:spPr>
          <a:xfrm>
            <a:off x="5057727" y="8640560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검증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7A7D1679-840D-12DD-D622-28B105E126DF}"/>
              </a:ext>
            </a:extLst>
          </p:cNvPr>
          <p:cNvSpPr/>
          <p:nvPr/>
        </p:nvSpPr>
        <p:spPr>
          <a:xfrm rot="5400000">
            <a:off x="1801098" y="8970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5DB81D4D-461B-3045-8B90-25A9300ECA23}"/>
              </a:ext>
            </a:extLst>
          </p:cNvPr>
          <p:cNvSpPr/>
          <p:nvPr/>
        </p:nvSpPr>
        <p:spPr>
          <a:xfrm rot="5400000">
            <a:off x="3386287" y="89709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319995AD-5613-FB4F-103F-07A07FF2007A}"/>
              </a:ext>
            </a:extLst>
          </p:cNvPr>
          <p:cNvSpPr/>
          <p:nvPr/>
        </p:nvSpPr>
        <p:spPr>
          <a:xfrm rot="5400000">
            <a:off x="4966713" y="897096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이등변 삼각형 52">
            <a:extLst>
              <a:ext uri="{FF2B5EF4-FFF2-40B4-BE49-F238E27FC236}">
                <a16:creationId xmlns:a16="http://schemas.microsoft.com/office/drawing/2014/main" id="{40005D84-919F-78A3-7EE7-4FA1340D9F61}"/>
              </a:ext>
            </a:extLst>
          </p:cNvPr>
          <p:cNvSpPr/>
          <p:nvPr/>
        </p:nvSpPr>
        <p:spPr>
          <a:xfrm rot="5400000">
            <a:off x="1801098" y="8970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이등변 삼각형 54">
            <a:extLst>
              <a:ext uri="{FF2B5EF4-FFF2-40B4-BE49-F238E27FC236}">
                <a16:creationId xmlns:a16="http://schemas.microsoft.com/office/drawing/2014/main" id="{235350BE-79F3-8E35-8DE5-6BFA88B9AD93}"/>
              </a:ext>
            </a:extLst>
          </p:cNvPr>
          <p:cNvSpPr/>
          <p:nvPr/>
        </p:nvSpPr>
        <p:spPr>
          <a:xfrm rot="5400000">
            <a:off x="3386287" y="89709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이등변 삼각형 56">
            <a:extLst>
              <a:ext uri="{FF2B5EF4-FFF2-40B4-BE49-F238E27FC236}">
                <a16:creationId xmlns:a16="http://schemas.microsoft.com/office/drawing/2014/main" id="{3EC65393-3FB6-E8F1-36A2-48F6A1A9D14E}"/>
              </a:ext>
            </a:extLst>
          </p:cNvPr>
          <p:cNvSpPr/>
          <p:nvPr/>
        </p:nvSpPr>
        <p:spPr>
          <a:xfrm rot="5400000">
            <a:off x="4966713" y="897096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8BA2101-A9A4-5167-0618-F1BFD8DACE00}"/>
              </a:ext>
            </a:extLst>
          </p:cNvPr>
          <p:cNvSpPr txBox="1"/>
          <p:nvPr/>
        </p:nvSpPr>
        <p:spPr>
          <a:xfrm>
            <a:off x="34285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식별키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코드체계 표준 정의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4E0659C8-5AD6-E3ED-57FA-52544F1DDB10}"/>
              </a:ext>
            </a:extLst>
          </p:cNvPr>
          <p:cNvSpPr txBox="1"/>
          <p:nvPr/>
        </p:nvSpPr>
        <p:spPr>
          <a:xfrm>
            <a:off x="192346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통제 규칙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DC899B9-5873-0FC9-727A-6CE1ED75698C}"/>
              </a:ext>
            </a:extLst>
          </p:cNvPr>
          <p:cNvSpPr txBox="1"/>
          <p:nvPr/>
        </p:nvSpPr>
        <p:spPr>
          <a:xfrm>
            <a:off x="350407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알림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배치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·API·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 공통화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89DEB827-8023-B684-B96C-E2CD91C297D7}"/>
              </a:ext>
            </a:extLst>
          </p:cNvPr>
          <p:cNvSpPr txBox="1"/>
          <p:nvPr/>
        </p:nvSpPr>
        <p:spPr>
          <a:xfrm>
            <a:off x="508468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호출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변경 이력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 자동 반영</a:t>
            </a:r>
          </a:p>
        </p:txBody>
      </p:sp>
      <p:sp>
        <p:nvSpPr>
          <p:cNvPr id="9" name="Google Shape;2770;p44">
            <a:extLst>
              <a:ext uri="{FF2B5EF4-FFF2-40B4-BE49-F238E27FC236}">
                <a16:creationId xmlns:a16="http://schemas.microsoft.com/office/drawing/2014/main" id="{08DB4F0F-4ED9-DF22-7E49-4E0B5469DAE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9218487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1FF9EE-6072-73E2-67B4-6125614675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9DFAF1D-F30C-D29D-4A0C-427F9D02941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16952CD-5465-9232-9AAF-88D1647B025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5A639AD-ADA7-CE8E-3E4A-3BEA20ECA06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시스템 최적화 방안 수립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6CC8831-F78C-7D7D-6464-072E9358AE0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시스템 구조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2839DD3-4353-FC7D-650A-1454C37DE43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최적화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요청 처리 경로의 성능 최적화 방안과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무중단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안정성 확보 방안을 구성도로 제시하여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 응답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·24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무중단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목표의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61F1CD1-E964-636F-18C2-146E66246D6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61C79A0-13A7-4765-A35C-D1D8E9DA9F56}"/>
              </a:ext>
            </a:extLst>
          </p:cNvPr>
          <p:cNvSpPr txBox="1"/>
          <p:nvPr/>
        </p:nvSpPr>
        <p:spPr>
          <a:xfrm>
            <a:off x="335011" y="2371141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안정성 최적화 방안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890425E-2EA9-1518-7174-B68C6DF833DB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DR-016, PR-001, PR-003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BC63680A-EEE2-C6FB-3B89-6E22D2AFAF39}"/>
              </a:ext>
            </a:extLst>
          </p:cNvPr>
          <p:cNvSpPr/>
          <p:nvPr/>
        </p:nvSpPr>
        <p:spPr bwMode="gray">
          <a:xfrm>
            <a:off x="258881" y="2666394"/>
            <a:ext cx="6331426" cy="445068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F74B3C6-DC81-1A6B-89FA-2CBFFD37A51F}"/>
              </a:ext>
            </a:extLst>
          </p:cNvPr>
          <p:cNvSpPr txBox="1"/>
          <p:nvPr/>
        </p:nvSpPr>
        <p:spPr>
          <a:xfrm>
            <a:off x="335011" y="2701412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 최적화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요청 처리 경로 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D77584FF-E356-574B-B8A1-EAAA89DC9C10}"/>
              </a:ext>
            </a:extLst>
          </p:cNvPr>
          <p:cNvSpPr/>
          <p:nvPr/>
        </p:nvSpPr>
        <p:spPr>
          <a:xfrm>
            <a:off x="1610413" y="2996665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부하분산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로드밸런서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C5FF8BB-B6F3-663F-60A4-29341B880013}"/>
              </a:ext>
            </a:extLst>
          </p:cNvPr>
          <p:cNvSpPr/>
          <p:nvPr/>
        </p:nvSpPr>
        <p:spPr>
          <a:xfrm>
            <a:off x="2901214" y="2996665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캐시 계층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조회 결과 </a:t>
            </a:r>
            <a:r>
              <a:rPr lang="ko-KR" altLang="en-US" sz="9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캐싱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EC7C68B9-5F71-8F59-F210-CAF8E569FA4C}"/>
              </a:ext>
            </a:extLst>
          </p:cNvPr>
          <p:cNvSpPr/>
          <p:nvPr/>
        </p:nvSpPr>
        <p:spPr>
          <a:xfrm>
            <a:off x="335012" y="2996665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 요청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포털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·API 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E0604477-7C01-1EED-4509-C52D854BDF56}"/>
              </a:ext>
            </a:extLst>
          </p:cNvPr>
          <p:cNvSpPr/>
          <p:nvPr/>
        </p:nvSpPr>
        <p:spPr>
          <a:xfrm>
            <a:off x="4174195" y="2996665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색인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 최적화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1B3C6947-77D0-DAEE-10BB-1E2E192D5533}"/>
              </a:ext>
            </a:extLst>
          </p:cNvPr>
          <p:cNvSpPr/>
          <p:nvPr/>
        </p:nvSpPr>
        <p:spPr>
          <a:xfrm>
            <a:off x="5462576" y="2996665"/>
            <a:ext cx="1043000" cy="139426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데이터베이스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쿼리 튜닝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D61ADBD-03A0-4725-C5C1-793C18D14934}"/>
              </a:ext>
            </a:extLst>
          </p:cNvPr>
          <p:cNvSpPr/>
          <p:nvPr/>
        </p:nvSpPr>
        <p:spPr>
          <a:xfrm>
            <a:off x="365124" y="3435349"/>
            <a:ext cx="987426" cy="885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F0AD7CF-509D-D105-D864-E55643632058}"/>
              </a:ext>
            </a:extLst>
          </p:cNvPr>
          <p:cNvSpPr/>
          <p:nvPr/>
        </p:nvSpPr>
        <p:spPr>
          <a:xfrm>
            <a:off x="1640805" y="3435349"/>
            <a:ext cx="987426" cy="885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B24EB49-BC09-D2F7-A070-2036A7E3CD03}"/>
              </a:ext>
            </a:extLst>
          </p:cNvPr>
          <p:cNvSpPr/>
          <p:nvPr/>
        </p:nvSpPr>
        <p:spPr>
          <a:xfrm>
            <a:off x="2929001" y="3435349"/>
            <a:ext cx="987426" cy="885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C2C61F1-3575-5DB5-8ADA-4AA7F9C95328}"/>
              </a:ext>
            </a:extLst>
          </p:cNvPr>
          <p:cNvSpPr/>
          <p:nvPr/>
        </p:nvSpPr>
        <p:spPr>
          <a:xfrm>
            <a:off x="4201982" y="3435349"/>
            <a:ext cx="987426" cy="885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F324E-2183-E523-D132-9FB49F78FFC5}"/>
              </a:ext>
            </a:extLst>
          </p:cNvPr>
          <p:cNvSpPr/>
          <p:nvPr/>
        </p:nvSpPr>
        <p:spPr>
          <a:xfrm>
            <a:off x="5490363" y="3435349"/>
            <a:ext cx="987426" cy="885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44" name="그림 43">
            <a:extLst>
              <a:ext uri="{FF2B5EF4-FFF2-40B4-BE49-F238E27FC236}">
                <a16:creationId xmlns:a16="http://schemas.microsoft.com/office/drawing/2014/main" id="{B8ADE97A-0607-A2E8-E887-900672BDB5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0936" y="3466253"/>
            <a:ext cx="302244" cy="800947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323142F4-43AA-F62A-7F8C-2E68F99FA09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56860" y="3468523"/>
            <a:ext cx="550105" cy="431803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687DD293-DADD-0512-AFEC-8D4506E14CD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516" y="3512950"/>
            <a:ext cx="414396" cy="342948"/>
          </a:xfrm>
          <a:prstGeom prst="rect">
            <a:avLst/>
          </a:prstGeom>
        </p:spPr>
      </p:pic>
      <p:pic>
        <p:nvPicPr>
          <p:cNvPr id="54" name="그림 53">
            <a:extLst>
              <a:ext uri="{FF2B5EF4-FFF2-40B4-BE49-F238E27FC236}">
                <a16:creationId xmlns:a16="http://schemas.microsoft.com/office/drawing/2014/main" id="{962F9449-4E03-D47A-ED44-3C44980B6E7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22169" y="3467231"/>
            <a:ext cx="752751" cy="466306"/>
          </a:xfrm>
          <a:prstGeom prst="rect">
            <a:avLst/>
          </a:prstGeom>
        </p:spPr>
      </p:pic>
      <p:pic>
        <p:nvPicPr>
          <p:cNvPr id="58" name="그림 57">
            <a:extLst>
              <a:ext uri="{FF2B5EF4-FFF2-40B4-BE49-F238E27FC236}">
                <a16:creationId xmlns:a16="http://schemas.microsoft.com/office/drawing/2014/main" id="{99E539EE-E89E-DE24-AB23-AE1D5837125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51079" y="3453486"/>
            <a:ext cx="474462" cy="468300"/>
          </a:xfrm>
          <a:prstGeom prst="rect">
            <a:avLst/>
          </a:prstGeom>
        </p:spPr>
      </p:pic>
      <p:sp>
        <p:nvSpPr>
          <p:cNvPr id="62" name="TextBox 61">
            <a:extLst>
              <a:ext uri="{FF2B5EF4-FFF2-40B4-BE49-F238E27FC236}">
                <a16:creationId xmlns:a16="http://schemas.microsoft.com/office/drawing/2014/main" id="{3A626EB4-1418-3E30-8C0C-5FF7F672F872}"/>
              </a:ext>
            </a:extLst>
          </p:cNvPr>
          <p:cNvSpPr txBox="1"/>
          <p:nvPr/>
        </p:nvSpPr>
        <p:spPr>
          <a:xfrm>
            <a:off x="723180" y="3515471"/>
            <a:ext cx="615709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2FEC58F-18C3-50B5-8F49-A4F71D7842BF}"/>
              </a:ext>
            </a:extLst>
          </p:cNvPr>
          <p:cNvSpPr txBox="1"/>
          <p:nvPr/>
        </p:nvSpPr>
        <p:spPr>
          <a:xfrm>
            <a:off x="723180" y="3784910"/>
            <a:ext cx="615709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화면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CC333E4-0C2A-CEA8-CE1D-75812CC79ECF}"/>
              </a:ext>
            </a:extLst>
          </p:cNvPr>
          <p:cNvSpPr txBox="1"/>
          <p:nvPr/>
        </p:nvSpPr>
        <p:spPr>
          <a:xfrm>
            <a:off x="723180" y="4053042"/>
            <a:ext cx="615709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호출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9C989CD-6F3C-DDB2-2FA4-27D0E9118552}"/>
              </a:ext>
            </a:extLst>
          </p:cNvPr>
          <p:cNvSpPr txBox="1"/>
          <p:nvPr/>
        </p:nvSpPr>
        <p:spPr>
          <a:xfrm>
            <a:off x="1684482" y="3932386"/>
            <a:ext cx="9014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요청분산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가용 자원 배정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E4BEA6A-08D6-02FC-5F03-DA364AB49C62}"/>
              </a:ext>
            </a:extLst>
          </p:cNvPr>
          <p:cNvSpPr txBox="1"/>
          <p:nvPr/>
        </p:nvSpPr>
        <p:spPr>
          <a:xfrm>
            <a:off x="2971984" y="3932386"/>
            <a:ext cx="9014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반복 조회 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응답 단축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4FC3BC8-D295-5897-424F-116FF1AC50E8}"/>
              </a:ext>
            </a:extLst>
          </p:cNvPr>
          <p:cNvSpPr txBox="1"/>
          <p:nvPr/>
        </p:nvSpPr>
        <p:spPr>
          <a:xfrm>
            <a:off x="4244965" y="3932386"/>
            <a:ext cx="9014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경로 단축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분산 색인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B66EC658-6D9E-AC31-5911-E5511B2F6049}"/>
              </a:ext>
            </a:extLst>
          </p:cNvPr>
          <p:cNvSpPr txBox="1"/>
          <p:nvPr/>
        </p:nvSpPr>
        <p:spPr>
          <a:xfrm>
            <a:off x="5533346" y="3932386"/>
            <a:ext cx="9014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실행계획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인덱스 최적화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5552A5FC-407F-C444-1EB6-F19B3C4735B7}"/>
              </a:ext>
            </a:extLst>
          </p:cNvPr>
          <p:cNvCxnSpPr>
            <a:cxnSpLocks/>
          </p:cNvCxnSpPr>
          <p:nvPr/>
        </p:nvCxnSpPr>
        <p:spPr>
          <a:xfrm>
            <a:off x="1378012" y="3269110"/>
            <a:ext cx="2324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8334E825-5A83-62B8-DB08-7977FFE2A727}"/>
              </a:ext>
            </a:extLst>
          </p:cNvPr>
          <p:cNvCxnSpPr>
            <a:cxnSpLocks/>
          </p:cNvCxnSpPr>
          <p:nvPr/>
        </p:nvCxnSpPr>
        <p:spPr>
          <a:xfrm>
            <a:off x="2653413" y="3269110"/>
            <a:ext cx="2324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62469D3B-0255-CC10-C6A7-869754B0546A}"/>
              </a:ext>
            </a:extLst>
          </p:cNvPr>
          <p:cNvCxnSpPr>
            <a:cxnSpLocks/>
          </p:cNvCxnSpPr>
          <p:nvPr/>
        </p:nvCxnSpPr>
        <p:spPr>
          <a:xfrm>
            <a:off x="3944214" y="3269110"/>
            <a:ext cx="2324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B98A67E7-DA88-E490-FA17-9F4B72B9C442}"/>
              </a:ext>
            </a:extLst>
          </p:cNvPr>
          <p:cNvCxnSpPr>
            <a:cxnSpLocks/>
          </p:cNvCxnSpPr>
          <p:nvPr/>
        </p:nvCxnSpPr>
        <p:spPr>
          <a:xfrm>
            <a:off x="5230175" y="3269110"/>
            <a:ext cx="2324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ECF76E89-E79F-E5F1-515E-941E9254F55A}"/>
              </a:ext>
            </a:extLst>
          </p:cNvPr>
          <p:cNvSpPr/>
          <p:nvPr/>
        </p:nvSpPr>
        <p:spPr>
          <a:xfrm>
            <a:off x="2929000" y="4547175"/>
            <a:ext cx="3576575" cy="659836"/>
          </a:xfrm>
          <a:prstGeom prst="roundRect">
            <a:avLst>
              <a:gd name="adj" fmla="val 6990"/>
            </a:avLst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0" bIns="0" rtlCol="0" anchor="ctr"/>
          <a:lstStyle/>
          <a:p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비동기 큐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대량 처리 분리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6CC8573-A8A0-8E6E-104B-24BDE8CB68AB}"/>
              </a:ext>
            </a:extLst>
          </p:cNvPr>
          <p:cNvSpPr/>
          <p:nvPr/>
        </p:nvSpPr>
        <p:spPr>
          <a:xfrm>
            <a:off x="3708268" y="4586813"/>
            <a:ext cx="1643686" cy="5859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65973CA-618A-DC23-BC4B-60A5D1166B43}"/>
              </a:ext>
            </a:extLst>
          </p:cNvPr>
          <p:cNvSpPr txBox="1"/>
          <p:nvPr/>
        </p:nvSpPr>
        <p:spPr>
          <a:xfrm>
            <a:off x="3690461" y="4661650"/>
            <a:ext cx="1673850" cy="5386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대량 작업을 사용자 요청 경로와 분리</a:t>
            </a:r>
          </a:p>
        </p:txBody>
      </p:sp>
      <p:cxnSp>
        <p:nvCxnSpPr>
          <p:cNvPr id="79" name="연결선: 꺾임 78">
            <a:extLst>
              <a:ext uri="{FF2B5EF4-FFF2-40B4-BE49-F238E27FC236}">
                <a16:creationId xmlns:a16="http://schemas.microsoft.com/office/drawing/2014/main" id="{66841D0E-D7C5-54D7-0547-61474BBA440C}"/>
              </a:ext>
            </a:extLst>
          </p:cNvPr>
          <p:cNvCxnSpPr>
            <a:cxnSpLocks/>
            <a:stCxn id="13" idx="3"/>
          </p:cNvCxnSpPr>
          <p:nvPr/>
        </p:nvCxnSpPr>
        <p:spPr>
          <a:xfrm flipH="1">
            <a:off x="3859893" y="3693795"/>
            <a:ext cx="84321" cy="853380"/>
          </a:xfrm>
          <a:prstGeom prst="bentConnector4">
            <a:avLst>
              <a:gd name="adj1" fmla="val -144590"/>
              <a:gd name="adj2" fmla="val 86380"/>
            </a:avLst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43C0ADC6-F145-B8B4-1266-0E95382F6980}"/>
              </a:ext>
            </a:extLst>
          </p:cNvPr>
          <p:cNvCxnSpPr>
            <a:cxnSpLocks/>
          </p:cNvCxnSpPr>
          <p:nvPr/>
        </p:nvCxnSpPr>
        <p:spPr>
          <a:xfrm>
            <a:off x="5352950" y="4869310"/>
            <a:ext cx="232401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985283A0-F75A-8D77-08B4-097D8BCF6D2B}"/>
              </a:ext>
            </a:extLst>
          </p:cNvPr>
          <p:cNvSpPr txBox="1"/>
          <p:nvPr/>
        </p:nvSpPr>
        <p:spPr>
          <a:xfrm>
            <a:off x="5595753" y="4661650"/>
            <a:ext cx="882036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 처리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백그라운드</a:t>
            </a:r>
            <a:r>
              <a:rPr lang="en-US" altLang="ko-KR" sz="11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CA55E6AD-970F-4BEE-A77C-1F04AD78E608}"/>
              </a:ext>
            </a:extLst>
          </p:cNvPr>
          <p:cNvSpPr/>
          <p:nvPr/>
        </p:nvSpPr>
        <p:spPr>
          <a:xfrm>
            <a:off x="4076700" y="2704400"/>
            <a:ext cx="2432491" cy="222402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 이내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(PR-001)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761ABAF-0C11-2AD2-E352-38719272D004}"/>
              </a:ext>
            </a:extLst>
          </p:cNvPr>
          <p:cNvSpPr txBox="1"/>
          <p:nvPr/>
        </p:nvSpPr>
        <p:spPr>
          <a:xfrm>
            <a:off x="335011" y="5362146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안정성 확보</a:t>
            </a: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2E4500D0-60B7-B701-CF72-34178C7B7B49}"/>
              </a:ext>
            </a:extLst>
          </p:cNvPr>
          <p:cNvSpPr/>
          <p:nvPr/>
        </p:nvSpPr>
        <p:spPr>
          <a:xfrm>
            <a:off x="1607903" y="5657399"/>
            <a:ext cx="1147300" cy="1394260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예비자원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부하분산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예비자원 확보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EE106FCF-F0B9-777B-8C0E-6C1AB0877733}"/>
              </a:ext>
            </a:extLst>
          </p:cNvPr>
          <p:cNvSpPr/>
          <p:nvPr/>
        </p:nvSpPr>
        <p:spPr>
          <a:xfrm>
            <a:off x="2849064" y="5657399"/>
            <a:ext cx="1147300" cy="1394260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재발방지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원인분석 → 조치 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→ 보고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7D1F8D93-7306-956F-F153-A16C6FBD0211}"/>
              </a:ext>
            </a:extLst>
          </p:cNvPr>
          <p:cNvSpPr/>
          <p:nvPr/>
        </p:nvSpPr>
        <p:spPr>
          <a:xfrm>
            <a:off x="334922" y="5657399"/>
            <a:ext cx="1147300" cy="1394260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 감지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 임계치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이상징후 모니터링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D225DC36-9425-32E6-8FEE-F7B8373D2FCA}"/>
              </a:ext>
            </a:extLst>
          </p:cNvPr>
          <p:cNvSpPr/>
          <p:nvPr/>
        </p:nvSpPr>
        <p:spPr>
          <a:xfrm>
            <a:off x="4082875" y="5657399"/>
            <a:ext cx="1147300" cy="1394260"/>
          </a:xfrm>
          <a:prstGeom prst="roundRect">
            <a:avLst>
              <a:gd name="adj" fmla="val 699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 spc="-15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트랜잭션 보호</a:t>
            </a:r>
            <a:r>
              <a:rPr lang="en-US" altLang="ko-KR" sz="1200" spc="-15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1200" spc="-15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 spc="-15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유효성 검증</a:t>
            </a:r>
            <a:endParaRPr lang="en-US" altLang="ko-KR" sz="1200" spc="-15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 무결성 확보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B3DCD90C-428D-4A87-C929-28DAAF690A53}"/>
              </a:ext>
            </a:extLst>
          </p:cNvPr>
          <p:cNvSpPr/>
          <p:nvPr/>
        </p:nvSpPr>
        <p:spPr>
          <a:xfrm>
            <a:off x="5358275" y="5657399"/>
            <a:ext cx="1147300" cy="139426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점검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모의 장애 대응 훈련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예방적 안정성 관리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2B2FC88A-D740-82BF-6A08-46D2739A33B9}"/>
              </a:ext>
            </a:extLst>
          </p:cNvPr>
          <p:cNvSpPr/>
          <p:nvPr/>
        </p:nvSpPr>
        <p:spPr>
          <a:xfrm>
            <a:off x="367813" y="6278482"/>
            <a:ext cx="1086169" cy="7034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A57B1577-2211-0406-8EF3-0D9EF7F138DD}"/>
              </a:ext>
            </a:extLst>
          </p:cNvPr>
          <p:cNvSpPr/>
          <p:nvPr/>
        </p:nvSpPr>
        <p:spPr>
          <a:xfrm>
            <a:off x="1641074" y="6278482"/>
            <a:ext cx="1086169" cy="7034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2EAE1EDA-CEDC-D4EA-5F70-1A45D66BB7ED}"/>
              </a:ext>
            </a:extLst>
          </p:cNvPr>
          <p:cNvSpPr/>
          <p:nvPr/>
        </p:nvSpPr>
        <p:spPr>
          <a:xfrm>
            <a:off x="2879630" y="6278482"/>
            <a:ext cx="1086169" cy="7034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DBEF4EFE-C1E3-8A60-188A-0D45B211678A}"/>
              </a:ext>
            </a:extLst>
          </p:cNvPr>
          <p:cNvSpPr/>
          <p:nvPr/>
        </p:nvSpPr>
        <p:spPr>
          <a:xfrm>
            <a:off x="4113441" y="6278482"/>
            <a:ext cx="1086169" cy="7034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0CA39BD2-B281-3907-4E2E-382D6C563A64}"/>
              </a:ext>
            </a:extLst>
          </p:cNvPr>
          <p:cNvSpPr/>
          <p:nvPr/>
        </p:nvSpPr>
        <p:spPr>
          <a:xfrm>
            <a:off x="5388841" y="6278482"/>
            <a:ext cx="1086169" cy="7034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C379D62-CCBC-6EA9-FE25-4577A50627FD}"/>
              </a:ext>
            </a:extLst>
          </p:cNvPr>
          <p:cNvSpPr txBox="1"/>
          <p:nvPr/>
        </p:nvSpPr>
        <p:spPr>
          <a:xfrm>
            <a:off x="1689049" y="6631220"/>
            <a:ext cx="99160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 시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 전환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09E65A07-899C-3D38-6360-83E9D1A17409}"/>
              </a:ext>
            </a:extLst>
          </p:cNvPr>
          <p:cNvSpPr txBox="1"/>
          <p:nvPr/>
        </p:nvSpPr>
        <p:spPr>
          <a:xfrm>
            <a:off x="2926911" y="6631220"/>
            <a:ext cx="99160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복구이력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재발방지 대책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56481C44-3414-7144-08A4-22F64D2144F9}"/>
              </a:ext>
            </a:extLst>
          </p:cNvPr>
          <p:cNvSpPr txBox="1"/>
          <p:nvPr/>
        </p:nvSpPr>
        <p:spPr>
          <a:xfrm>
            <a:off x="4160722" y="6631220"/>
            <a:ext cx="99160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롤백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DAE87EE-A524-2C0B-F492-88D173F42C2C}"/>
              </a:ext>
            </a:extLst>
          </p:cNvPr>
          <p:cNvSpPr txBox="1"/>
          <p:nvPr/>
        </p:nvSpPr>
        <p:spPr>
          <a:xfrm>
            <a:off x="5436122" y="6631220"/>
            <a:ext cx="99160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 점검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대응 훈련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98A94F26-F35E-7867-091F-B13FDCC0C73F}"/>
              </a:ext>
            </a:extLst>
          </p:cNvPr>
          <p:cNvSpPr/>
          <p:nvPr/>
        </p:nvSpPr>
        <p:spPr>
          <a:xfrm>
            <a:off x="2804160" y="5365134"/>
            <a:ext cx="3705031" cy="222402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24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무중단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결함 지속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시간 이하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(PR-003)</a:t>
            </a:r>
          </a:p>
        </p:txBody>
      </p: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F54DA41F-30AD-186E-A143-71334B0C1143}"/>
              </a:ext>
            </a:extLst>
          </p:cNvPr>
          <p:cNvCxnSpPr>
            <a:cxnSpLocks/>
          </p:cNvCxnSpPr>
          <p:nvPr/>
        </p:nvCxnSpPr>
        <p:spPr>
          <a:xfrm>
            <a:off x="299896" y="5283498"/>
            <a:ext cx="6237888" cy="1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TextBox 122">
            <a:extLst>
              <a:ext uri="{FF2B5EF4-FFF2-40B4-BE49-F238E27FC236}">
                <a16:creationId xmlns:a16="http://schemas.microsoft.com/office/drawing/2014/main" id="{3BAF0AD6-C981-7F50-213F-E41D8BCE58AD}"/>
              </a:ext>
            </a:extLst>
          </p:cNvPr>
          <p:cNvSpPr txBox="1"/>
          <p:nvPr/>
        </p:nvSpPr>
        <p:spPr>
          <a:xfrm>
            <a:off x="412769" y="6631220"/>
            <a:ext cx="99160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실시간 감지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즉시 알림</a:t>
            </a:r>
          </a:p>
        </p:txBody>
      </p:sp>
      <p:pic>
        <p:nvPicPr>
          <p:cNvPr id="125" name="그림 124">
            <a:extLst>
              <a:ext uri="{FF2B5EF4-FFF2-40B4-BE49-F238E27FC236}">
                <a16:creationId xmlns:a16="http://schemas.microsoft.com/office/drawing/2014/main" id="{E6340F5D-0E0C-1D2F-C777-F4F4380AE6E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4345" y="6278482"/>
            <a:ext cx="328453" cy="376055"/>
          </a:xfrm>
          <a:prstGeom prst="rect">
            <a:avLst/>
          </a:prstGeom>
        </p:spPr>
      </p:pic>
      <p:pic>
        <p:nvPicPr>
          <p:cNvPr id="127" name="그림 126">
            <a:extLst>
              <a:ext uri="{FF2B5EF4-FFF2-40B4-BE49-F238E27FC236}">
                <a16:creationId xmlns:a16="http://schemas.microsoft.com/office/drawing/2014/main" id="{6CC506A2-07E3-3B91-B000-3F3E946052A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982058" y="6286282"/>
            <a:ext cx="357282" cy="362176"/>
          </a:xfrm>
          <a:prstGeom prst="rect">
            <a:avLst/>
          </a:prstGeom>
        </p:spPr>
      </p:pic>
      <p:pic>
        <p:nvPicPr>
          <p:cNvPr id="129" name="그림 128">
            <a:extLst>
              <a:ext uri="{FF2B5EF4-FFF2-40B4-BE49-F238E27FC236}">
                <a16:creationId xmlns:a16="http://schemas.microsoft.com/office/drawing/2014/main" id="{03963081-5A6E-113D-D0CB-69868A25AFF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230756" y="6301522"/>
            <a:ext cx="380788" cy="320208"/>
          </a:xfrm>
          <a:prstGeom prst="rect">
            <a:avLst/>
          </a:prstGeom>
        </p:spPr>
      </p:pic>
      <p:pic>
        <p:nvPicPr>
          <p:cNvPr id="133" name="그림 132">
            <a:extLst>
              <a:ext uri="{FF2B5EF4-FFF2-40B4-BE49-F238E27FC236}">
                <a16:creationId xmlns:a16="http://schemas.microsoft.com/office/drawing/2014/main" id="{DE9EC3D3-1BE2-F9E3-E99C-11ADBE29460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455687" y="6279101"/>
            <a:ext cx="413493" cy="357339"/>
          </a:xfrm>
          <a:prstGeom prst="rect">
            <a:avLst/>
          </a:prstGeom>
        </p:spPr>
      </p:pic>
      <p:pic>
        <p:nvPicPr>
          <p:cNvPr id="137" name="그림 136">
            <a:extLst>
              <a:ext uri="{FF2B5EF4-FFF2-40B4-BE49-F238E27FC236}">
                <a16:creationId xmlns:a16="http://schemas.microsoft.com/office/drawing/2014/main" id="{68409042-3A46-041A-D36B-2DEF437E377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73940" y="6292395"/>
            <a:ext cx="299558" cy="358400"/>
          </a:xfrm>
          <a:prstGeom prst="rect">
            <a:avLst/>
          </a:prstGeom>
        </p:spPr>
      </p:pic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8809002E-8748-35B5-7EC1-C2B68685ED59}"/>
              </a:ext>
            </a:extLst>
          </p:cNvPr>
          <p:cNvCxnSpPr>
            <a:cxnSpLocks/>
          </p:cNvCxnSpPr>
          <p:nvPr/>
        </p:nvCxnSpPr>
        <p:spPr>
          <a:xfrm>
            <a:off x="312925" y="72602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>
            <a:extLst>
              <a:ext uri="{FF2B5EF4-FFF2-40B4-BE49-F238E27FC236}">
                <a16:creationId xmlns:a16="http://schemas.microsoft.com/office/drawing/2014/main" id="{3FDA0AED-FA79-30F1-17CC-D9605BC99527}"/>
              </a:ext>
            </a:extLst>
          </p:cNvPr>
          <p:cNvSpPr txBox="1"/>
          <p:nvPr/>
        </p:nvSpPr>
        <p:spPr>
          <a:xfrm>
            <a:off x="335011" y="7234196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최적화 항목 및 목표 기준</a:t>
            </a:r>
          </a:p>
        </p:txBody>
      </p:sp>
      <p:sp>
        <p:nvSpPr>
          <p:cNvPr id="140" name="모서리가 둥근 직사각형 222">
            <a:extLst>
              <a:ext uri="{FF2B5EF4-FFF2-40B4-BE49-F238E27FC236}">
                <a16:creationId xmlns:a16="http://schemas.microsoft.com/office/drawing/2014/main" id="{A0105020-120B-A941-161E-BBA4C93B1F55}"/>
              </a:ext>
            </a:extLst>
          </p:cNvPr>
          <p:cNvSpPr/>
          <p:nvPr/>
        </p:nvSpPr>
        <p:spPr bwMode="gray">
          <a:xfrm>
            <a:off x="258881" y="7529449"/>
            <a:ext cx="6331426" cy="213525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42" name="Table 0">
            <a:extLst>
              <a:ext uri="{FF2B5EF4-FFF2-40B4-BE49-F238E27FC236}">
                <a16:creationId xmlns:a16="http://schemas.microsoft.com/office/drawing/2014/main" id="{4FC9447F-1E16-4550-D94B-ECEE92F36BF8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75702"/>
          <a:ext cx="6165724" cy="1499350"/>
        </p:xfrm>
        <a:graphic>
          <a:graphicData uri="http://schemas.openxmlformats.org/drawingml/2006/table">
            <a:tbl>
              <a:tblPr/>
              <a:tblGrid>
                <a:gridCol w="8348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410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562100">
                  <a:extLst>
                    <a:ext uri="{9D8B030D-6E8A-4147-A177-3AD203B41FA5}">
                      <a16:colId xmlns:a16="http://schemas.microsoft.com/office/drawing/2014/main" val="319844090"/>
                    </a:ext>
                  </a:extLst>
                </a:gridCol>
                <a:gridCol w="1019176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32369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최적화 항목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방안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0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방안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5942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응답속도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캐시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쿼리 튜닝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부하분산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이내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PR-001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5942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대량 처리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비동기 큐로 서비스 경로 분리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영향 최소화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PR-001·DR-016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95942">
                <a:tc rowSpan="4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무중단 운영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이중화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예비자원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부하분산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무중단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195942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장애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감지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알림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재발방지 보고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결함 지속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195942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무결성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트랜잭션 보호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유효성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정합성 확보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195942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예방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정기 점검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모의 장애 훈련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 위험 제거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987B917-8A4D-13C2-7D2E-9F7BCA186373}"/>
              </a:ext>
            </a:extLst>
          </p:cNvPr>
          <p:cNvSpPr/>
          <p:nvPr/>
        </p:nvSpPr>
        <p:spPr>
          <a:xfrm>
            <a:off x="316309" y="908865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 경로의 캐시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부하분산으로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초 응답을 확보하고 대량 처리를 비동기로 분리하며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이중화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장애감지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복구 체계로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24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시간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무중단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시간 이하의 안정성을 달성함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4" name="Google Shape;2770;p44">
            <a:extLst>
              <a:ext uri="{FF2B5EF4-FFF2-40B4-BE49-F238E27FC236}">
                <a16:creationId xmlns:a16="http://schemas.microsoft.com/office/drawing/2014/main" id="{1C61D6A8-600A-BCBE-F95E-3E0EA988C685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6327927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CB7251-FB9F-5943-A0D1-47704ACCA9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57D56C8-3B0D-0595-25B2-FC92DC7E1DB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BD9CDC3-D0CA-D0F2-D1A3-4A69CADC1FD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AC0BFC-7551-2B65-F0C8-2965059D880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등록 단계별 관리 기능 구현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(1/2)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1C970F5-C6CF-BB07-89A8-609814C433D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2A57202-137A-F049-519A-F79AEFAD47B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전주기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등록후보 접수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부터 승인 이후 등록확정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데이터등록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9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(FR-002)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까지 전 과정을 단계별 상태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기한으로 통합 관리하여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누락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 없는 표준 등록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4915100-596E-E6B8-024C-4D357EC21D6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FR-001, FR-002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DE5106CD-EB1D-64C2-07CA-6EDA5DF8E33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86C2CA6-0DB7-8C54-2163-EE98A3425C03}"/>
              </a:ext>
            </a:extLst>
          </p:cNvPr>
          <p:cNvSpPr txBox="1"/>
          <p:nvPr/>
        </p:nvSpPr>
        <p:spPr>
          <a:xfrm>
            <a:off x="335011" y="2371141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최적화를 통한 서비스 성능 및 안정성 확보</a:t>
            </a:r>
          </a:p>
        </p:txBody>
      </p:sp>
      <p:sp>
        <p:nvSpPr>
          <p:cNvPr id="18" name="모서리가 둥근 직사각형 222">
            <a:extLst>
              <a:ext uri="{FF2B5EF4-FFF2-40B4-BE49-F238E27FC236}">
                <a16:creationId xmlns:a16="http://schemas.microsoft.com/office/drawing/2014/main" id="{240798DF-2FDB-61ED-0D89-B8F620679C43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168158F-ADF5-BB05-D1CA-0A07CC52A095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구현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등록을 접수부터 최종 등록까지 단계별로 표준화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시스템화하여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검토 누락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 지연을 방지하고 등록 품질과 추적성을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(FR-001·FR-002)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단계의 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처리기한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작업결과를 통합 관리하여 지연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건을 식별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 검색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품질관리 등 유관 시스템과 연계하여 등록 전 과정을 일원화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43884FE-54EE-2172-54FA-8FFA13A14C99}"/>
              </a:ext>
            </a:extLst>
          </p:cNvPr>
          <p:cNvSpPr/>
          <p:nvPr/>
        </p:nvSpPr>
        <p:spPr>
          <a:xfrm>
            <a:off x="316309" y="3728014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등록후보 접수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등록후보의 기본정보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첨부자료를 등록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접수 상태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 단계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처리기한을 통합 관리함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후보정보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후보명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요청기관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요청일시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출처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 목적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첨부관리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소개서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 문서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검토자료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접수일자 조건 검색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A018DC5-F7B1-A2DB-281F-D88573B76110}"/>
              </a:ext>
            </a:extLst>
          </p:cNvPr>
          <p:cNvSpPr/>
          <p:nvPr/>
        </p:nvSpPr>
        <p:spPr>
          <a:xfrm>
            <a:off x="316309" y="5025455"/>
            <a:ext cx="6286697" cy="124071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등록지원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9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진행관리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이후 등록 절차를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9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단계로 관리하고 진행현황을 대시보드로 제공함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9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등록확정→등록유형판정→등록계획수립→정량평가→데이터확보→메타생성</a:t>
            </a:r>
            <a:b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        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→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비식별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저작권검토→심의→데이터등록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처리기한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작업결과 통합 관리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 식별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A77DE76-F1B5-7BF0-F019-083C3CD07621}"/>
              </a:ext>
            </a:extLst>
          </p:cNvPr>
          <p:cNvSpPr/>
          <p:nvPr/>
        </p:nvSpPr>
        <p:spPr>
          <a:xfrm>
            <a:off x="316309" y="6951514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필수항목 검증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분류추천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 시 필수 메타항목 누락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정합성을 자동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 점검하고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특성 기반 분류체계를 추천함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필수항목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기준코드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항목간 정합성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범위값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 일치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공개조건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분류추천 결과를 담당자가 검토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내역 제공 후 보완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3696FF5-C4E1-35D8-0183-6A2D05EE0611}"/>
              </a:ext>
            </a:extLst>
          </p:cNvPr>
          <p:cNvSpPr/>
          <p:nvPr/>
        </p:nvSpPr>
        <p:spPr>
          <a:xfrm>
            <a:off x="316309" y="800735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 기능 정의서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검토 체크리스트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진행관리 대시보드로 구체화하며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분기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(1.4.3)·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검증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 관리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 연계와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5EF6B968-5326-29CD-5168-E09536CF6D9A}"/>
              </a:ext>
            </a:extLst>
          </p:cNvPr>
          <p:cNvSpPr/>
          <p:nvPr/>
        </p:nvSpPr>
        <p:spPr>
          <a:xfrm>
            <a:off x="31589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위쪽 모서리 27">
            <a:extLst>
              <a:ext uri="{FF2B5EF4-FFF2-40B4-BE49-F238E27FC236}">
                <a16:creationId xmlns:a16="http://schemas.microsoft.com/office/drawing/2014/main" id="{733DDB1B-B117-721A-5273-63E1219C2C7F}"/>
              </a:ext>
            </a:extLst>
          </p:cNvPr>
          <p:cNvSpPr/>
          <p:nvPr/>
        </p:nvSpPr>
        <p:spPr>
          <a:xfrm>
            <a:off x="315897" y="8640560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접수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BDE188A4-BECB-64D5-EDB7-E26346249262}"/>
              </a:ext>
            </a:extLst>
          </p:cNvPr>
          <p:cNvSpPr/>
          <p:nvPr/>
        </p:nvSpPr>
        <p:spPr>
          <a:xfrm>
            <a:off x="189650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5C5ABD6F-18B7-6E19-3C9E-0F1F71A7AB65}"/>
              </a:ext>
            </a:extLst>
          </p:cNvPr>
          <p:cNvSpPr/>
          <p:nvPr/>
        </p:nvSpPr>
        <p:spPr>
          <a:xfrm>
            <a:off x="1896507" y="8640560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적합도 검토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E47CC120-0466-6B15-EB93-5410B582B973}"/>
              </a:ext>
            </a:extLst>
          </p:cNvPr>
          <p:cNvSpPr/>
          <p:nvPr/>
        </p:nvSpPr>
        <p:spPr>
          <a:xfrm>
            <a:off x="347711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위쪽 모서리 36">
            <a:extLst>
              <a:ext uri="{FF2B5EF4-FFF2-40B4-BE49-F238E27FC236}">
                <a16:creationId xmlns:a16="http://schemas.microsoft.com/office/drawing/2014/main" id="{CD27C71D-7AD1-19E6-3D29-72C985CB3E1F}"/>
              </a:ext>
            </a:extLst>
          </p:cNvPr>
          <p:cNvSpPr/>
          <p:nvPr/>
        </p:nvSpPr>
        <p:spPr>
          <a:xfrm>
            <a:off x="3477117" y="8640560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승인 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9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등록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D4026D64-0964-35B2-3023-8F5B2BF35FBF}"/>
              </a:ext>
            </a:extLst>
          </p:cNvPr>
          <p:cNvSpPr/>
          <p:nvPr/>
        </p:nvSpPr>
        <p:spPr>
          <a:xfrm>
            <a:off x="505772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사각형: 둥근 위쪽 모서리 40">
            <a:extLst>
              <a:ext uri="{FF2B5EF4-FFF2-40B4-BE49-F238E27FC236}">
                <a16:creationId xmlns:a16="http://schemas.microsoft.com/office/drawing/2014/main" id="{2CEAC536-E987-3FCD-2FFD-93334380977C}"/>
              </a:ext>
            </a:extLst>
          </p:cNvPr>
          <p:cNvSpPr/>
          <p:nvPr/>
        </p:nvSpPr>
        <p:spPr>
          <a:xfrm>
            <a:off x="5057727" y="8640560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검증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이등변 삼각형 42">
            <a:extLst>
              <a:ext uri="{FF2B5EF4-FFF2-40B4-BE49-F238E27FC236}">
                <a16:creationId xmlns:a16="http://schemas.microsoft.com/office/drawing/2014/main" id="{332404D4-E2E3-D390-FD3D-DEC315A6C098}"/>
              </a:ext>
            </a:extLst>
          </p:cNvPr>
          <p:cNvSpPr/>
          <p:nvPr/>
        </p:nvSpPr>
        <p:spPr>
          <a:xfrm rot="5400000">
            <a:off x="1801098" y="8970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이등변 삼각형 44">
            <a:extLst>
              <a:ext uri="{FF2B5EF4-FFF2-40B4-BE49-F238E27FC236}">
                <a16:creationId xmlns:a16="http://schemas.microsoft.com/office/drawing/2014/main" id="{C49437BD-B33D-2C44-E0CC-E23EC744E1C5}"/>
              </a:ext>
            </a:extLst>
          </p:cNvPr>
          <p:cNvSpPr/>
          <p:nvPr/>
        </p:nvSpPr>
        <p:spPr>
          <a:xfrm rot="5400000">
            <a:off x="3386287" y="89709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2FC5F6D8-9491-A0AA-493D-99C683078E49}"/>
              </a:ext>
            </a:extLst>
          </p:cNvPr>
          <p:cNvSpPr/>
          <p:nvPr/>
        </p:nvSpPr>
        <p:spPr>
          <a:xfrm rot="5400000">
            <a:off x="4966713" y="897096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C38DE7A1-48FB-7B40-EE46-A6B90551D2FC}"/>
              </a:ext>
            </a:extLst>
          </p:cNvPr>
          <p:cNvSpPr/>
          <p:nvPr/>
        </p:nvSpPr>
        <p:spPr>
          <a:xfrm rot="5400000">
            <a:off x="1801098" y="8970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이등변 삼각형 50">
            <a:extLst>
              <a:ext uri="{FF2B5EF4-FFF2-40B4-BE49-F238E27FC236}">
                <a16:creationId xmlns:a16="http://schemas.microsoft.com/office/drawing/2014/main" id="{ED28B61C-5CA7-4E07-A9ED-B4E80ED6B49A}"/>
              </a:ext>
            </a:extLst>
          </p:cNvPr>
          <p:cNvSpPr/>
          <p:nvPr/>
        </p:nvSpPr>
        <p:spPr>
          <a:xfrm rot="5400000">
            <a:off x="3386287" y="89709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이등변 삼각형 52">
            <a:extLst>
              <a:ext uri="{FF2B5EF4-FFF2-40B4-BE49-F238E27FC236}">
                <a16:creationId xmlns:a16="http://schemas.microsoft.com/office/drawing/2014/main" id="{28CB43ED-EB28-93E4-80F2-E9192923DA36}"/>
              </a:ext>
            </a:extLst>
          </p:cNvPr>
          <p:cNvSpPr/>
          <p:nvPr/>
        </p:nvSpPr>
        <p:spPr>
          <a:xfrm rot="5400000">
            <a:off x="4966713" y="897096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301C1C7-91C0-B002-E3D2-74E7B34C064E}"/>
              </a:ext>
            </a:extLst>
          </p:cNvPr>
          <p:cNvSpPr txBox="1"/>
          <p:nvPr/>
        </p:nvSpPr>
        <p:spPr>
          <a:xfrm>
            <a:off x="342856" y="8909373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후보정보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첨부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기한 관리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B00C7CC-956E-3162-D625-F4940A681509}"/>
              </a:ext>
            </a:extLst>
          </p:cNvPr>
          <p:cNvSpPr txBox="1"/>
          <p:nvPr/>
        </p:nvSpPr>
        <p:spPr>
          <a:xfrm>
            <a:off x="1923466" y="8909373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전문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순차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08FCB82-A714-5DBD-9603-1C85C97E593A}"/>
              </a:ext>
            </a:extLst>
          </p:cNvPr>
          <p:cNvSpPr txBox="1"/>
          <p:nvPr/>
        </p:nvSpPr>
        <p:spPr>
          <a:xfrm>
            <a:off x="350407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/>
              <a:t>등록확정</a:t>
            </a:r>
            <a:r>
              <a:rPr lang="en-US" altLang="ko-KR" sz="900"/>
              <a:t>~</a:t>
            </a:r>
            <a:r>
              <a:rPr lang="ko-KR" altLang="en-US" sz="900"/>
              <a:t>데이터등록 진행관리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6B0B3B8-8C44-9770-DB17-CABEAED972B1}"/>
              </a:ext>
            </a:extLst>
          </p:cNvPr>
          <p:cNvSpPr txBox="1"/>
          <p:nvPr/>
        </p:nvSpPr>
        <p:spPr>
          <a:xfrm>
            <a:off x="508468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필수항목 검증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분류추천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유관 연계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33DCEE2-1F82-A53B-4E0C-AA2961D7B771}"/>
              </a:ext>
            </a:extLst>
          </p:cNvPr>
          <p:cNvSpPr/>
          <p:nvPr/>
        </p:nvSpPr>
        <p:spPr>
          <a:xfrm>
            <a:off x="588602" y="6254381"/>
            <a:ext cx="5431198" cy="686765"/>
          </a:xfrm>
          <a:prstGeom prst="roundRect">
            <a:avLst>
              <a:gd name="adj" fmla="val 6990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0" bIns="0" rtlCol="0" anchor="ctr"/>
          <a:lstStyle/>
          <a:p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진행현황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대시보드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3573A752-378F-9724-72F4-4DD70884309F}"/>
              </a:ext>
            </a:extLst>
          </p:cNvPr>
          <p:cNvSpPr/>
          <p:nvPr/>
        </p:nvSpPr>
        <p:spPr>
          <a:xfrm>
            <a:off x="1515163" y="6341662"/>
            <a:ext cx="1043000" cy="473772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C61307FA-A06D-7393-D9B1-6C5D2ED16354}"/>
              </a:ext>
            </a:extLst>
          </p:cNvPr>
          <p:cNvSpPr txBox="1"/>
          <p:nvPr/>
        </p:nvSpPr>
        <p:spPr>
          <a:xfrm>
            <a:off x="1589232" y="6454039"/>
            <a:ext cx="9014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DB408D9F-9950-D5C1-CC17-4AE39A924693}"/>
              </a:ext>
            </a:extLst>
          </p:cNvPr>
          <p:cNvSpPr/>
          <p:nvPr/>
        </p:nvSpPr>
        <p:spPr>
          <a:xfrm>
            <a:off x="2632232" y="6341662"/>
            <a:ext cx="1043000" cy="473772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AF9EB81-26A8-E08C-D343-E34393A7C7BC}"/>
              </a:ext>
            </a:extLst>
          </p:cNvPr>
          <p:cNvSpPr txBox="1"/>
          <p:nvPr/>
        </p:nvSpPr>
        <p:spPr>
          <a:xfrm>
            <a:off x="2706301" y="6454039"/>
            <a:ext cx="9014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96BFAF08-D0C9-9977-E833-34DBF3965CAF}"/>
              </a:ext>
            </a:extLst>
          </p:cNvPr>
          <p:cNvSpPr/>
          <p:nvPr/>
        </p:nvSpPr>
        <p:spPr>
          <a:xfrm>
            <a:off x="3749301" y="6341662"/>
            <a:ext cx="1043000" cy="473772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8AB1A0AD-400C-FBF4-3555-D96740A18270}"/>
              </a:ext>
            </a:extLst>
          </p:cNvPr>
          <p:cNvSpPr txBox="1"/>
          <p:nvPr/>
        </p:nvSpPr>
        <p:spPr>
          <a:xfrm>
            <a:off x="3823370" y="6454039"/>
            <a:ext cx="9014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94BD2EBC-921A-85DF-0358-4D82503C7CAF}"/>
              </a:ext>
            </a:extLst>
          </p:cNvPr>
          <p:cNvSpPr/>
          <p:nvPr/>
        </p:nvSpPr>
        <p:spPr>
          <a:xfrm>
            <a:off x="4866370" y="6341662"/>
            <a:ext cx="1043000" cy="473772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3F714343-759F-B5A3-E51D-433E8FCE392B}"/>
              </a:ext>
            </a:extLst>
          </p:cNvPr>
          <p:cNvSpPr txBox="1"/>
          <p:nvPr/>
        </p:nvSpPr>
        <p:spPr>
          <a:xfrm>
            <a:off x="4940439" y="6454039"/>
            <a:ext cx="9014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</a:t>
            </a:r>
          </a:p>
        </p:txBody>
      </p:sp>
      <p:sp>
        <p:nvSpPr>
          <p:cNvPr id="7" name="Google Shape;2770;p44">
            <a:extLst>
              <a:ext uri="{FF2B5EF4-FFF2-40B4-BE49-F238E27FC236}">
                <a16:creationId xmlns:a16="http://schemas.microsoft.com/office/drawing/2014/main" id="{936C530E-D4D2-DBD5-13D0-175F74DD20AC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14174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EFE3E4-C817-934E-CBC0-BDEA932008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4CDF6E5-5376-FF81-EDC3-6D306F28A8D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67F8098-433B-E78E-05E8-07634B479F24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D3E62D4-5960-C150-8CD9-8F4DE74CD66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등록 단계별 관리 기능 구현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(2/2)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3225C03-F6B5-1C17-0189-76E4869C532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AB1BBB1-AE20-37CC-591D-F5E4632B35D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흐름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등록후보 접수부터 데이터등록까지 전 과정의 단계별 흐름과 공통 관리 요소를 제시하여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누락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 없는 표준 등록 체계의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AA4A1FD-787F-ABA5-7E3E-FBF2E449214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FR-001, FR-002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2FA18FBD-7DDB-788B-BC0B-A3215659E6E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4CA190A-2A15-09EA-15A2-349ABCE8EEC1}"/>
              </a:ext>
            </a:extLst>
          </p:cNvPr>
          <p:cNvSpPr txBox="1"/>
          <p:nvPr/>
        </p:nvSpPr>
        <p:spPr>
          <a:xfrm>
            <a:off x="335011" y="2371141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등록 단계별 관리 흐름</a:t>
            </a:r>
          </a:p>
        </p:txBody>
      </p:sp>
      <p:sp>
        <p:nvSpPr>
          <p:cNvPr id="18" name="모서리가 둥근 직사각형 222">
            <a:extLst>
              <a:ext uri="{FF2B5EF4-FFF2-40B4-BE49-F238E27FC236}">
                <a16:creationId xmlns:a16="http://schemas.microsoft.com/office/drawing/2014/main" id="{51A12609-7022-4FA8-DC9A-F550AB89B92A}"/>
              </a:ext>
            </a:extLst>
          </p:cNvPr>
          <p:cNvSpPr/>
          <p:nvPr/>
        </p:nvSpPr>
        <p:spPr bwMode="gray">
          <a:xfrm>
            <a:off x="258881" y="2666394"/>
            <a:ext cx="6331426" cy="4533734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E767AABB-EE14-1003-EAB4-8749BA889566}"/>
              </a:ext>
            </a:extLst>
          </p:cNvPr>
          <p:cNvSpPr/>
          <p:nvPr/>
        </p:nvSpPr>
        <p:spPr>
          <a:xfrm>
            <a:off x="312925" y="2785021"/>
            <a:ext cx="6221225" cy="876182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33F2827A-65A2-2EE7-1160-4BB72D319508}"/>
              </a:ext>
            </a:extLst>
          </p:cNvPr>
          <p:cNvSpPr/>
          <p:nvPr/>
        </p:nvSpPr>
        <p:spPr>
          <a:xfrm>
            <a:off x="312925" y="3927680"/>
            <a:ext cx="6221225" cy="1718740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3ED9510F-BB77-3BFE-81DF-C7BCE2DBF15D}"/>
              </a:ext>
            </a:extLst>
          </p:cNvPr>
          <p:cNvSpPr/>
          <p:nvPr/>
        </p:nvSpPr>
        <p:spPr>
          <a:xfrm>
            <a:off x="312925" y="5701501"/>
            <a:ext cx="6221225" cy="876182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46A9BE2B-E7FB-10D7-D561-A376FD6F56ED}"/>
              </a:ext>
            </a:extLst>
          </p:cNvPr>
          <p:cNvSpPr/>
          <p:nvPr/>
        </p:nvSpPr>
        <p:spPr>
          <a:xfrm>
            <a:off x="306574" y="2763919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등록후보 관리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(FR-001)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1F8C9284-22C5-AF3E-C97B-0B06C6B2627B}"/>
              </a:ext>
            </a:extLst>
          </p:cNvPr>
          <p:cNvSpPr/>
          <p:nvPr/>
        </p:nvSpPr>
        <p:spPr>
          <a:xfrm>
            <a:off x="306574" y="3906090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등록지원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9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(FR-002)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사각형: 둥근 위쪽 모서리 12">
            <a:extLst>
              <a:ext uri="{FF2B5EF4-FFF2-40B4-BE49-F238E27FC236}">
                <a16:creationId xmlns:a16="http://schemas.microsoft.com/office/drawing/2014/main" id="{6139416B-2C68-053E-283D-AAB024C91A80}"/>
              </a:ext>
            </a:extLst>
          </p:cNvPr>
          <p:cNvSpPr/>
          <p:nvPr/>
        </p:nvSpPr>
        <p:spPr>
          <a:xfrm>
            <a:off x="306574" y="5682530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5A871BA-CBBB-77DF-97CE-2E20122DFD53}"/>
              </a:ext>
            </a:extLst>
          </p:cNvPr>
          <p:cNvSpPr/>
          <p:nvPr/>
        </p:nvSpPr>
        <p:spPr>
          <a:xfrm>
            <a:off x="431064" y="3094137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접수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현황관리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후보정보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첨부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A4B7AEAF-A7B9-8109-7C01-F968D78273AD}"/>
              </a:ext>
            </a:extLst>
          </p:cNvPr>
          <p:cNvSpPr/>
          <p:nvPr/>
        </p:nvSpPr>
        <p:spPr>
          <a:xfrm>
            <a:off x="5044637" y="3094137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판정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이력관리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0FF30EA0-EBEB-9F99-A5ED-E81F2960B6FF}"/>
              </a:ext>
            </a:extLst>
          </p:cNvPr>
          <p:cNvSpPr/>
          <p:nvPr/>
        </p:nvSpPr>
        <p:spPr>
          <a:xfrm>
            <a:off x="1969233" y="3094137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적합도 검토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심사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중복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9AA5AC23-A2B0-0456-9B07-F7B4A3488C38}"/>
              </a:ext>
            </a:extLst>
          </p:cNvPr>
          <p:cNvSpPr/>
          <p:nvPr/>
        </p:nvSpPr>
        <p:spPr>
          <a:xfrm>
            <a:off x="3507402" y="3094137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검토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실무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전문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심사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7915BBE8-CA7A-5CAA-6558-04E1D6F06ABA}"/>
              </a:ext>
            </a:extLst>
          </p:cNvPr>
          <p:cNvCxnSpPr>
            <a:stCxn id="15" idx="3"/>
            <a:endCxn id="29" idx="1"/>
          </p:cNvCxnSpPr>
          <p:nvPr/>
        </p:nvCxnSpPr>
        <p:spPr>
          <a:xfrm>
            <a:off x="1797050" y="3340944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EDEC6B5B-6DEA-44B3-4C2E-8600FBD7171B}"/>
              </a:ext>
            </a:extLst>
          </p:cNvPr>
          <p:cNvCxnSpPr>
            <a:stCxn id="29" idx="3"/>
            <a:endCxn id="32" idx="1"/>
          </p:cNvCxnSpPr>
          <p:nvPr/>
        </p:nvCxnSpPr>
        <p:spPr>
          <a:xfrm>
            <a:off x="3335219" y="3340944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856ECFF1-A2B5-D977-0F91-B727D1870F3A}"/>
              </a:ext>
            </a:extLst>
          </p:cNvPr>
          <p:cNvCxnSpPr>
            <a:stCxn id="32" idx="3"/>
            <a:endCxn id="27" idx="1"/>
          </p:cNvCxnSpPr>
          <p:nvPr/>
        </p:nvCxnSpPr>
        <p:spPr>
          <a:xfrm>
            <a:off x="4873388" y="3340944"/>
            <a:ext cx="17124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0F3EADA-CDE2-22E8-9F54-881E89F45922}"/>
              </a:ext>
            </a:extLst>
          </p:cNvPr>
          <p:cNvSpPr/>
          <p:nvPr/>
        </p:nvSpPr>
        <p:spPr>
          <a:xfrm>
            <a:off x="431064" y="4365674"/>
            <a:ext cx="1026285" cy="45352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등록확정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BCDD41DD-72E8-6650-5FFA-FEF762B93BAB}"/>
              </a:ext>
            </a:extLst>
          </p:cNvPr>
          <p:cNvSpPr/>
          <p:nvPr/>
        </p:nvSpPr>
        <p:spPr>
          <a:xfrm>
            <a:off x="4148126" y="4365674"/>
            <a:ext cx="1026285" cy="453522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정량평가</a:t>
            </a:r>
            <a:endParaRPr lang="ko-KR" altLang="en-US" sz="9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69C9371-89E0-5DA0-3A4F-44F539ECE527}"/>
              </a:ext>
            </a:extLst>
          </p:cNvPr>
          <p:cNvSpPr/>
          <p:nvPr/>
        </p:nvSpPr>
        <p:spPr>
          <a:xfrm>
            <a:off x="1683589" y="4365674"/>
            <a:ext cx="1026285" cy="45352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유형판정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1C39DAC-592B-DEFB-1841-52A54154F3B0}"/>
              </a:ext>
            </a:extLst>
          </p:cNvPr>
          <p:cNvSpPr/>
          <p:nvPr/>
        </p:nvSpPr>
        <p:spPr>
          <a:xfrm>
            <a:off x="2915856" y="4365674"/>
            <a:ext cx="1026285" cy="45352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계획수립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9AF0FA73-6D91-52CD-FEC4-D74FA15CB163}"/>
              </a:ext>
            </a:extLst>
          </p:cNvPr>
          <p:cNvCxnSpPr>
            <a:cxnSpLocks/>
            <a:stCxn id="46" idx="3"/>
            <a:endCxn id="50" idx="1"/>
          </p:cNvCxnSpPr>
          <p:nvPr/>
        </p:nvCxnSpPr>
        <p:spPr>
          <a:xfrm>
            <a:off x="1457349" y="4592435"/>
            <a:ext cx="22624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61C2986-7081-B275-93EA-1FF71AF383A9}"/>
              </a:ext>
            </a:extLst>
          </p:cNvPr>
          <p:cNvCxnSpPr>
            <a:cxnSpLocks/>
            <a:stCxn id="50" idx="3"/>
            <a:endCxn id="52" idx="1"/>
          </p:cNvCxnSpPr>
          <p:nvPr/>
        </p:nvCxnSpPr>
        <p:spPr>
          <a:xfrm>
            <a:off x="2709874" y="4592435"/>
            <a:ext cx="205982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790361D2-9847-D16D-A891-3553047E9DFD}"/>
              </a:ext>
            </a:extLst>
          </p:cNvPr>
          <p:cNvCxnSpPr>
            <a:cxnSpLocks/>
            <a:stCxn id="52" idx="3"/>
            <a:endCxn id="48" idx="1"/>
          </p:cNvCxnSpPr>
          <p:nvPr/>
        </p:nvCxnSpPr>
        <p:spPr>
          <a:xfrm>
            <a:off x="3942141" y="4592435"/>
            <a:ext cx="20598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548DC8B-338A-73E4-E38D-BC395A910FC6}"/>
              </a:ext>
            </a:extLst>
          </p:cNvPr>
          <p:cNvSpPr/>
          <p:nvPr/>
        </p:nvSpPr>
        <p:spPr>
          <a:xfrm>
            <a:off x="431064" y="5089404"/>
            <a:ext cx="1365986" cy="45352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메타생성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1D12D8B6-A7B0-7922-F7F2-C2F3FAE34C4A}"/>
              </a:ext>
            </a:extLst>
          </p:cNvPr>
          <p:cNvSpPr/>
          <p:nvPr/>
        </p:nvSpPr>
        <p:spPr>
          <a:xfrm>
            <a:off x="5044637" y="5089404"/>
            <a:ext cx="1365986" cy="453522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데이터등록</a:t>
            </a:r>
            <a:endParaRPr lang="ko-KR" altLang="en-US" sz="9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0CEF7384-9599-0A6F-13D9-246BFC71DA7C}"/>
              </a:ext>
            </a:extLst>
          </p:cNvPr>
          <p:cNvSpPr/>
          <p:nvPr/>
        </p:nvSpPr>
        <p:spPr>
          <a:xfrm>
            <a:off x="1969233" y="5089404"/>
            <a:ext cx="1365986" cy="45352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비식별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검토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317D0F13-631A-1C02-376A-268953DCFFC3}"/>
              </a:ext>
            </a:extLst>
          </p:cNvPr>
          <p:cNvSpPr/>
          <p:nvPr/>
        </p:nvSpPr>
        <p:spPr>
          <a:xfrm>
            <a:off x="3507402" y="5089404"/>
            <a:ext cx="1365986" cy="45352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심의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FDC0D6BF-E609-0CF4-FFBA-6B13A9EC3CBE}"/>
              </a:ext>
            </a:extLst>
          </p:cNvPr>
          <p:cNvCxnSpPr>
            <a:cxnSpLocks/>
            <a:stCxn id="76" idx="3"/>
            <a:endCxn id="78" idx="1"/>
          </p:cNvCxnSpPr>
          <p:nvPr/>
        </p:nvCxnSpPr>
        <p:spPr>
          <a:xfrm>
            <a:off x="1797050" y="5316165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1BE96FDB-5797-2E75-30AF-280863AB4836}"/>
              </a:ext>
            </a:extLst>
          </p:cNvPr>
          <p:cNvCxnSpPr>
            <a:cxnSpLocks/>
            <a:stCxn id="78" idx="3"/>
            <a:endCxn id="79" idx="1"/>
          </p:cNvCxnSpPr>
          <p:nvPr/>
        </p:nvCxnSpPr>
        <p:spPr>
          <a:xfrm>
            <a:off x="3335219" y="5316165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7BF8863E-E26D-1B05-61E4-A4C62C36F700}"/>
              </a:ext>
            </a:extLst>
          </p:cNvPr>
          <p:cNvCxnSpPr>
            <a:cxnSpLocks/>
            <a:stCxn id="79" idx="3"/>
            <a:endCxn id="77" idx="1"/>
          </p:cNvCxnSpPr>
          <p:nvPr/>
        </p:nvCxnSpPr>
        <p:spPr>
          <a:xfrm>
            <a:off x="4873388" y="5316165"/>
            <a:ext cx="17124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95">
            <a:extLst>
              <a:ext uri="{FF2B5EF4-FFF2-40B4-BE49-F238E27FC236}">
                <a16:creationId xmlns:a16="http://schemas.microsoft.com/office/drawing/2014/main" id="{1BE4349D-1B9B-FBB5-DF3F-4112FFF64353}"/>
              </a:ext>
            </a:extLst>
          </p:cNvPr>
          <p:cNvCxnSpPr>
            <a:cxnSpLocks/>
            <a:stCxn id="119" idx="2"/>
            <a:endCxn id="76" idx="0"/>
          </p:cNvCxnSpPr>
          <p:nvPr/>
        </p:nvCxnSpPr>
        <p:spPr>
          <a:xfrm rot="5400000">
            <a:off x="3370666" y="2562587"/>
            <a:ext cx="270208" cy="4783426"/>
          </a:xfrm>
          <a:prstGeom prst="bentConnector3">
            <a:avLst>
              <a:gd name="adj1" fmla="val 44360"/>
            </a:avLst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연결선: 꺾임 102">
            <a:extLst>
              <a:ext uri="{FF2B5EF4-FFF2-40B4-BE49-F238E27FC236}">
                <a16:creationId xmlns:a16="http://schemas.microsoft.com/office/drawing/2014/main" id="{3B1819B2-520C-1F25-807B-124EA49E94AE}"/>
              </a:ext>
            </a:extLst>
          </p:cNvPr>
          <p:cNvCxnSpPr>
            <a:stCxn id="27" idx="2"/>
            <a:endCxn id="46" idx="0"/>
          </p:cNvCxnSpPr>
          <p:nvPr/>
        </p:nvCxnSpPr>
        <p:spPr>
          <a:xfrm rot="5400000">
            <a:off x="2946957" y="1585001"/>
            <a:ext cx="777924" cy="4783423"/>
          </a:xfrm>
          <a:prstGeom prst="bentConnector3">
            <a:avLst>
              <a:gd name="adj1" fmla="val 81345"/>
            </a:avLst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4415491C-0FE3-D561-2D9A-56F5BFD26E7D}"/>
              </a:ext>
            </a:extLst>
          </p:cNvPr>
          <p:cNvSpPr/>
          <p:nvPr/>
        </p:nvSpPr>
        <p:spPr>
          <a:xfrm>
            <a:off x="5384340" y="4365674"/>
            <a:ext cx="1026285" cy="453522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데이터확보</a:t>
            </a:r>
            <a:endParaRPr lang="ko-KR" altLang="en-US" sz="9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24" name="직선 화살표 연결선 123">
            <a:extLst>
              <a:ext uri="{FF2B5EF4-FFF2-40B4-BE49-F238E27FC236}">
                <a16:creationId xmlns:a16="http://schemas.microsoft.com/office/drawing/2014/main" id="{7CBD2B9A-4350-7509-C0EB-1C146917498A}"/>
              </a:ext>
            </a:extLst>
          </p:cNvPr>
          <p:cNvCxnSpPr>
            <a:cxnSpLocks/>
            <a:stCxn id="48" idx="3"/>
            <a:endCxn id="119" idx="1"/>
          </p:cNvCxnSpPr>
          <p:nvPr/>
        </p:nvCxnSpPr>
        <p:spPr>
          <a:xfrm>
            <a:off x="5174411" y="4592435"/>
            <a:ext cx="20992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FE3A5E8D-AB57-BCDD-22E3-DB192A890AF9}"/>
              </a:ext>
            </a:extLst>
          </p:cNvPr>
          <p:cNvSpPr/>
          <p:nvPr/>
        </p:nvSpPr>
        <p:spPr>
          <a:xfrm>
            <a:off x="431064" y="6003210"/>
            <a:ext cx="177873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진행현황 대시보드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 통합 모니터링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28F4D8D7-4074-CD6C-792C-A027C837DDEF}"/>
              </a:ext>
            </a:extLst>
          </p:cNvPr>
          <p:cNvSpPr/>
          <p:nvPr/>
        </p:nvSpPr>
        <p:spPr>
          <a:xfrm>
            <a:off x="2531475" y="6003210"/>
            <a:ext cx="177873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필수항목 검증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분류추천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 검증으로 누락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 최소화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E6DE6882-12E3-C622-495B-36BBDF8EE995}"/>
              </a:ext>
            </a:extLst>
          </p:cNvPr>
          <p:cNvSpPr/>
          <p:nvPr/>
        </p:nvSpPr>
        <p:spPr>
          <a:xfrm>
            <a:off x="4631887" y="6003210"/>
            <a:ext cx="177873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유관 시스템 연계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품질관리 시스템 연계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95A4CD66-53DA-A3D9-02F9-14DE53D94E14}"/>
              </a:ext>
            </a:extLst>
          </p:cNvPr>
          <p:cNvSpPr/>
          <p:nvPr/>
        </p:nvSpPr>
        <p:spPr>
          <a:xfrm>
            <a:off x="5716253" y="3700602"/>
            <a:ext cx="478769" cy="227994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시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1F2643B7-97AE-A32C-6408-96FC513993E3}"/>
              </a:ext>
            </a:extLst>
          </p:cNvPr>
          <p:cNvSpPr/>
          <p:nvPr/>
        </p:nvSpPr>
        <p:spPr>
          <a:xfrm>
            <a:off x="316309" y="6552117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 단계 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처리기한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작업결과 통합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 식별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(FR-002) 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검토의견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판정결과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보완요청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첨부의견서 단계별 등록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이력관리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(FR-001)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587CA403-3FFA-3CEB-3010-FE7F9DE9AD27}"/>
              </a:ext>
            </a:extLst>
          </p:cNvPr>
          <p:cNvCxnSpPr>
            <a:cxnSpLocks/>
          </p:cNvCxnSpPr>
          <p:nvPr/>
        </p:nvCxnSpPr>
        <p:spPr>
          <a:xfrm>
            <a:off x="312925" y="72602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TextBox 146">
            <a:extLst>
              <a:ext uri="{FF2B5EF4-FFF2-40B4-BE49-F238E27FC236}">
                <a16:creationId xmlns:a16="http://schemas.microsoft.com/office/drawing/2014/main" id="{5A57175D-DD27-494E-B8D4-634BCD219DD3}"/>
              </a:ext>
            </a:extLst>
          </p:cNvPr>
          <p:cNvSpPr txBox="1"/>
          <p:nvPr/>
        </p:nvSpPr>
        <p:spPr>
          <a:xfrm>
            <a:off x="335011" y="7234196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단계별 관리 항목</a:t>
            </a:r>
          </a:p>
        </p:txBody>
      </p:sp>
      <p:sp>
        <p:nvSpPr>
          <p:cNvPr id="148" name="모서리가 둥근 직사각형 222">
            <a:extLst>
              <a:ext uri="{FF2B5EF4-FFF2-40B4-BE49-F238E27FC236}">
                <a16:creationId xmlns:a16="http://schemas.microsoft.com/office/drawing/2014/main" id="{FDA5011A-D5FD-1118-3EDE-574ED92AAE93}"/>
              </a:ext>
            </a:extLst>
          </p:cNvPr>
          <p:cNvSpPr/>
          <p:nvPr/>
        </p:nvSpPr>
        <p:spPr bwMode="gray">
          <a:xfrm>
            <a:off x="258881" y="7529449"/>
            <a:ext cx="6331426" cy="213525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0C9112A8-BDAD-258F-5D0D-9584AA725D10}"/>
              </a:ext>
            </a:extLst>
          </p:cNvPr>
          <p:cNvSpPr/>
          <p:nvPr/>
        </p:nvSpPr>
        <p:spPr>
          <a:xfrm>
            <a:off x="316309" y="911913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등록후보 접수부터 데이터등록까지 전 과정을 단계별 상태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기한으로 통합 관리하고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필수항목 검증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분류추천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유관 연계로 등록 품질과 처리 신뢰성을 확보함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52" name="Table 0">
            <a:extLst>
              <a:ext uri="{FF2B5EF4-FFF2-40B4-BE49-F238E27FC236}">
                <a16:creationId xmlns:a16="http://schemas.microsoft.com/office/drawing/2014/main" id="{E8957B24-7805-67E4-0048-A0748B2D7749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96312"/>
          <a:ext cx="6165724" cy="1509587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173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66973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83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항목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후보정보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첨부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 대장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조회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적합도 검토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체크리스트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판정결과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단계별 검토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승인심사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검토의견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보완요청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의견서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FR-001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등록지원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데이터등록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 대시보드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 식별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필수항목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정합성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내역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재검증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분류추천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특성 기반 추천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검토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sp>
        <p:nvSpPr>
          <p:cNvPr id="14" name="Google Shape;2989;p48">
            <a:extLst>
              <a:ext uri="{FF2B5EF4-FFF2-40B4-BE49-F238E27FC236}">
                <a16:creationId xmlns:a16="http://schemas.microsoft.com/office/drawing/2014/main" id="{FA166BED-390A-3E22-E247-29DADC0FEC2D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4108648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7D9C4A-AF5E-DA6C-F93F-D3081DB1B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A80B805-097A-67A4-21CE-43A878353F2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F4607E5-4C5E-3AB4-54A1-82135EB9807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36E2C7B-2C13-3C10-C977-7FC7B5BB20E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담당자 및 문서 이력 관리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53B7FD5-210B-2B3D-5D6F-098EC7991E2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7AE75A3-C977-5E4A-EF20-40D87647AD5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및 문서 이력 관리 구현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건 단위로 대외 커뮤니케이션 이력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협력기관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정보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의향서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협약문서를 통합 관리하고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변경 시에도 협업 맥락과 업무 연속성이 유지되도록 이력 승계 체계를 구현함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7200878-36EF-2E6E-3A9C-51A9390B8AD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D59E6BF-53AE-B8E9-E2AF-0BA95C79B7A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및 문서이력 정보 관리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C07AD80-98CE-DD47-6184-EFF53E8E87D2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FR-006, DR-013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7B087C37-FB94-6730-9A55-C0D14F00027A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5A56899-3165-1D6F-2240-2CD7809F4D6C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구현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기관 협력 과정에서 발생하는 이력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정보를 등록 건 단위로 통합 관리하여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변경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시간 경과에도 협업 맥락이 유실되지 않도록 업무 연속성을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(FR-003·FR-037)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협력 이력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담당자를 등록 건에 연결하여 단일 맥락으로 추적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등 처리 문서를 건 단위로 누적하여 추적성 확보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(FR-037)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4FEC458-6058-EDA8-D450-42EBAB8D7A08}"/>
              </a:ext>
            </a:extLst>
          </p:cNvPr>
          <p:cNvSpPr/>
          <p:nvPr/>
        </p:nvSpPr>
        <p:spPr>
          <a:xfrm>
            <a:off x="316309" y="377707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대외 커뮤니케이션 이력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기관과의 문서 송수신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협의 이력을 통합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커뮤니케이션별 발신자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수신자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발송일시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회신일시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협의 결과 기록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회신 여부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 건을 식별하여 후속 조치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631F98D-36D8-7BEC-4C57-A6C53102245F}"/>
              </a:ext>
            </a:extLst>
          </p:cNvPr>
          <p:cNvSpPr/>
          <p:nvPr/>
        </p:nvSpPr>
        <p:spPr>
          <a:xfrm>
            <a:off x="316309" y="4650315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협력기관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정보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협력기관과 담당자 정보를 등록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조회하고 등록 건별로 연결하여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기관정보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기관명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사업자번호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담당부서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연락처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과거 협력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데이터 분야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등급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담당자정보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성명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직위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연락처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이메일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담당업무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변경이력과 이관 내역을 조회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7DB52F4-D740-D594-4BC3-A8C536C503B4}"/>
              </a:ext>
            </a:extLst>
          </p:cNvPr>
          <p:cNvSpPr/>
          <p:nvPr/>
        </p:nvSpPr>
        <p:spPr>
          <a:xfrm>
            <a:off x="316309" y="5986756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의향서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협약문서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협력 관련 문서를 유형별로 등록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관리하고 등록 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기관과 연계함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 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의향서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·NDA·MOU·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이용 협약서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제공계획서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계약서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보안서약서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작성일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체결일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유효기간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관련 기관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관련 등록 건 연계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231BCAB-BF44-1E26-06CA-5D7A0CD11009}"/>
              </a:ext>
            </a:extLst>
          </p:cNvPr>
          <p:cNvSpPr/>
          <p:nvPr/>
        </p:nvSpPr>
        <p:spPr>
          <a:xfrm>
            <a:off x="316309" y="6852374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변경 시 연속성 유지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변경 시 이력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협업 맥락을 신규 담당자에게 승계하여 업무 공백을 방지함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내역 기록 → 협업 맥락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 연결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승계 → 신규 담당자 즉시 파악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CC69894-2B4F-3779-3897-D0B1DD18C8AD}"/>
              </a:ext>
            </a:extLst>
          </p:cNvPr>
          <p:cNvSpPr/>
          <p:nvPr/>
        </p:nvSpPr>
        <p:spPr>
          <a:xfrm>
            <a:off x="316309" y="783890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 문서 이력 누적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첨부의견서 등 처리 문서를 건 단위로 누적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(FR-037),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거버넌스 연계와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A59F759-8C25-0C5C-EC23-87F8D9AF06CD}"/>
              </a:ext>
            </a:extLst>
          </p:cNvPr>
          <p:cNvSpPr/>
          <p:nvPr/>
        </p:nvSpPr>
        <p:spPr>
          <a:xfrm>
            <a:off x="31589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위쪽 모서리 23">
            <a:extLst>
              <a:ext uri="{FF2B5EF4-FFF2-40B4-BE49-F238E27FC236}">
                <a16:creationId xmlns:a16="http://schemas.microsoft.com/office/drawing/2014/main" id="{57E4AC33-62F1-4961-D685-F95E57771EA7}"/>
              </a:ext>
            </a:extLst>
          </p:cNvPr>
          <p:cNvSpPr/>
          <p:nvPr/>
        </p:nvSpPr>
        <p:spPr>
          <a:xfrm>
            <a:off x="315897" y="8640560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통합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83C83E9A-52BC-45C6-5404-3ACFB41E1250}"/>
              </a:ext>
            </a:extLst>
          </p:cNvPr>
          <p:cNvSpPr/>
          <p:nvPr/>
        </p:nvSpPr>
        <p:spPr>
          <a:xfrm>
            <a:off x="189650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위쪽 모서리 27">
            <a:extLst>
              <a:ext uri="{FF2B5EF4-FFF2-40B4-BE49-F238E27FC236}">
                <a16:creationId xmlns:a16="http://schemas.microsoft.com/office/drawing/2014/main" id="{CD4E61F9-B383-39AC-3082-CF0294BBB744}"/>
              </a:ext>
            </a:extLst>
          </p:cNvPr>
          <p:cNvSpPr/>
          <p:nvPr/>
        </p:nvSpPr>
        <p:spPr>
          <a:xfrm>
            <a:off x="1896507" y="8640560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기관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49B35F34-EB6D-4D3A-648E-F19BBB92C6C7}"/>
              </a:ext>
            </a:extLst>
          </p:cNvPr>
          <p:cNvSpPr/>
          <p:nvPr/>
        </p:nvSpPr>
        <p:spPr>
          <a:xfrm>
            <a:off x="347711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12D5B493-5912-C9CE-0516-8B3B3B8318BB}"/>
              </a:ext>
            </a:extLst>
          </p:cNvPr>
          <p:cNvSpPr/>
          <p:nvPr/>
        </p:nvSpPr>
        <p:spPr>
          <a:xfrm>
            <a:off x="3477117" y="8640560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문서 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38D9A16E-FC5F-C220-F988-91C8CF76F397}"/>
              </a:ext>
            </a:extLst>
          </p:cNvPr>
          <p:cNvSpPr/>
          <p:nvPr/>
        </p:nvSpPr>
        <p:spPr>
          <a:xfrm>
            <a:off x="5057727" y="8640559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위쪽 모서리 36">
            <a:extLst>
              <a:ext uri="{FF2B5EF4-FFF2-40B4-BE49-F238E27FC236}">
                <a16:creationId xmlns:a16="http://schemas.microsoft.com/office/drawing/2014/main" id="{241CFE68-3E51-9668-D27E-2B89B4E28C28}"/>
              </a:ext>
            </a:extLst>
          </p:cNvPr>
          <p:cNvSpPr/>
          <p:nvPr/>
        </p:nvSpPr>
        <p:spPr>
          <a:xfrm>
            <a:off x="5057727" y="8640560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연속성 승계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이등변 삼각형 38">
            <a:extLst>
              <a:ext uri="{FF2B5EF4-FFF2-40B4-BE49-F238E27FC236}">
                <a16:creationId xmlns:a16="http://schemas.microsoft.com/office/drawing/2014/main" id="{5D139158-7528-6E58-4A4F-4B40676F2300}"/>
              </a:ext>
            </a:extLst>
          </p:cNvPr>
          <p:cNvSpPr/>
          <p:nvPr/>
        </p:nvSpPr>
        <p:spPr>
          <a:xfrm rot="5400000">
            <a:off x="1801098" y="8970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이등변 삼각형 40">
            <a:extLst>
              <a:ext uri="{FF2B5EF4-FFF2-40B4-BE49-F238E27FC236}">
                <a16:creationId xmlns:a16="http://schemas.microsoft.com/office/drawing/2014/main" id="{295A472C-DB14-DB9F-9A73-EC2F3AD1AA33}"/>
              </a:ext>
            </a:extLst>
          </p:cNvPr>
          <p:cNvSpPr/>
          <p:nvPr/>
        </p:nvSpPr>
        <p:spPr>
          <a:xfrm rot="5400000">
            <a:off x="3386287" y="89709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이등변 삼각형 42">
            <a:extLst>
              <a:ext uri="{FF2B5EF4-FFF2-40B4-BE49-F238E27FC236}">
                <a16:creationId xmlns:a16="http://schemas.microsoft.com/office/drawing/2014/main" id="{7AB56C5C-8914-89EB-A6D3-B2454BAE91BE}"/>
              </a:ext>
            </a:extLst>
          </p:cNvPr>
          <p:cNvSpPr/>
          <p:nvPr/>
        </p:nvSpPr>
        <p:spPr>
          <a:xfrm rot="5400000">
            <a:off x="4966713" y="897096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이등변 삼각형 44">
            <a:extLst>
              <a:ext uri="{FF2B5EF4-FFF2-40B4-BE49-F238E27FC236}">
                <a16:creationId xmlns:a16="http://schemas.microsoft.com/office/drawing/2014/main" id="{18E0D7B2-C134-EF9D-490C-9C6DC5492A14}"/>
              </a:ext>
            </a:extLst>
          </p:cNvPr>
          <p:cNvSpPr/>
          <p:nvPr/>
        </p:nvSpPr>
        <p:spPr>
          <a:xfrm rot="5400000">
            <a:off x="1801098" y="8970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54FF808F-B754-23F5-CBAC-0ACDA8F867BE}"/>
              </a:ext>
            </a:extLst>
          </p:cNvPr>
          <p:cNvSpPr/>
          <p:nvPr/>
        </p:nvSpPr>
        <p:spPr>
          <a:xfrm rot="5400000">
            <a:off x="3386287" y="89709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8490B653-5720-5695-ED65-B774E6ED96FE}"/>
              </a:ext>
            </a:extLst>
          </p:cNvPr>
          <p:cNvSpPr/>
          <p:nvPr/>
        </p:nvSpPr>
        <p:spPr>
          <a:xfrm rot="5400000">
            <a:off x="4966713" y="897096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403C622-6AD7-20DA-3166-3852E3C8EB2D}"/>
              </a:ext>
            </a:extLst>
          </p:cNvPr>
          <p:cNvSpPr txBox="1"/>
          <p:nvPr/>
        </p:nvSpPr>
        <p:spPr>
          <a:xfrm>
            <a:off x="34285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커뮤니케이션 송수신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회신 이력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55642E2-0C87-391A-61C6-A68F6B1914CB}"/>
              </a:ext>
            </a:extLst>
          </p:cNvPr>
          <p:cNvSpPr txBox="1"/>
          <p:nvPr/>
        </p:nvSpPr>
        <p:spPr>
          <a:xfrm>
            <a:off x="192346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담당자 정보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변경이력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B7CD0E1B-651B-1E8C-2A88-D59B6A1ED747}"/>
              </a:ext>
            </a:extLst>
          </p:cNvPr>
          <p:cNvSpPr txBox="1"/>
          <p:nvPr/>
        </p:nvSpPr>
        <p:spPr>
          <a:xfrm>
            <a:off x="3504076" y="8909373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의향서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협약문서 유형별 관리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9DA71B29-14D2-7E09-6538-2BACC6D8658D}"/>
              </a:ext>
            </a:extLst>
          </p:cNvPr>
          <p:cNvSpPr txBox="1"/>
          <p:nvPr/>
        </p:nvSpPr>
        <p:spPr>
          <a:xfrm>
            <a:off x="5084686" y="8909373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담당자 변경 시 맥락 승계</a:t>
            </a:r>
          </a:p>
        </p:txBody>
      </p:sp>
      <p:sp>
        <p:nvSpPr>
          <p:cNvPr id="9" name="Google Shape;3028;p49">
            <a:extLst>
              <a:ext uri="{FF2B5EF4-FFF2-40B4-BE49-F238E27FC236}">
                <a16:creationId xmlns:a16="http://schemas.microsoft.com/office/drawing/2014/main" id="{D95B2072-A50A-3E18-5E6E-DE8DCD7B3608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9673223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7D9C4A-AF5E-DA6C-F93F-D3081DB1B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A80B805-097A-67A4-21CE-43A878353F2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F4607E5-4C5E-3AB4-54A1-82135EB9807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36E2C7B-2C13-3C10-C977-7FC7B5BB20E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담당자 및 문서 이력 관리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53B7FD5-210B-2B3D-5D6F-098EC7991E2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7AE75A3-C977-5E4A-EF20-40D87647AD5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연결 구조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건을 중심으로 커뮤니케이션 이력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협약문서를 연결하고 담당자 변경 시 연속성을 유지하는 관리 구조를 제시하여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7200878-36EF-2E6E-3A9C-51A9390B8AD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D59E6BF-53AE-B8E9-E2AF-0BA95C79B7A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및 문서 이력 관리 구조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C07AD80-98CE-DD47-6184-EFF53E8E87D2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FR-006, DR-013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7B087C37-FB94-6730-9A55-C0D14F00027A}"/>
              </a:ext>
            </a:extLst>
          </p:cNvPr>
          <p:cNvSpPr/>
          <p:nvPr/>
        </p:nvSpPr>
        <p:spPr bwMode="gray">
          <a:xfrm>
            <a:off x="260309" y="2648140"/>
            <a:ext cx="6331426" cy="436226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231BCAB-BF44-1E26-06CA-5D7A0CD11009}"/>
              </a:ext>
            </a:extLst>
          </p:cNvPr>
          <p:cNvSpPr/>
          <p:nvPr/>
        </p:nvSpPr>
        <p:spPr>
          <a:xfrm>
            <a:off x="316309" y="6237893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첨부의견서 등 처리 문서를 건 단위로 누적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(FR-037) 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 유형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유효기간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관련 기관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관련 등록 건을 연계 관리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(FR-003)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283131DB-E002-9C83-C831-7D9B5D8E404C}"/>
              </a:ext>
            </a:extLst>
          </p:cNvPr>
          <p:cNvSpPr/>
          <p:nvPr/>
        </p:nvSpPr>
        <p:spPr>
          <a:xfrm>
            <a:off x="2454406" y="3913870"/>
            <a:ext cx="1951600" cy="1122950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08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협력기관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정보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475DB0B0-385A-1C15-0F17-B9995E28F143}"/>
              </a:ext>
            </a:extLst>
          </p:cNvPr>
          <p:cNvSpPr/>
          <p:nvPr/>
        </p:nvSpPr>
        <p:spPr>
          <a:xfrm>
            <a:off x="4513268" y="3913870"/>
            <a:ext cx="1951600" cy="1122950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08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의향서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협약문서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11365F4B-650A-527E-B6FA-3D158CDD6C93}"/>
              </a:ext>
            </a:extLst>
          </p:cNvPr>
          <p:cNvSpPr/>
          <p:nvPr/>
        </p:nvSpPr>
        <p:spPr>
          <a:xfrm>
            <a:off x="395545" y="3913870"/>
            <a:ext cx="1951600" cy="1122950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08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대외 커뮤니케이션 이력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941C50-D9D0-913D-B5E3-E91E618CBF4E}"/>
              </a:ext>
            </a:extLst>
          </p:cNvPr>
          <p:cNvSpPr/>
          <p:nvPr/>
        </p:nvSpPr>
        <p:spPr>
          <a:xfrm>
            <a:off x="447538" y="4352555"/>
            <a:ext cx="1847613" cy="60044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367E802-5D41-2E16-5842-A321ADDF0718}"/>
              </a:ext>
            </a:extLst>
          </p:cNvPr>
          <p:cNvSpPr/>
          <p:nvPr/>
        </p:nvSpPr>
        <p:spPr>
          <a:xfrm>
            <a:off x="2500787" y="4352555"/>
            <a:ext cx="1847613" cy="60044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3C715AE-C9F0-9A5E-B781-FDD939C978C7}"/>
              </a:ext>
            </a:extLst>
          </p:cNvPr>
          <p:cNvSpPr/>
          <p:nvPr/>
        </p:nvSpPr>
        <p:spPr>
          <a:xfrm>
            <a:off x="4572197" y="4352555"/>
            <a:ext cx="1847613" cy="60044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C179F91-5B8D-C79A-C4E4-8F5A62CD7BCE}"/>
              </a:ext>
            </a:extLst>
          </p:cNvPr>
          <p:cNvSpPr txBox="1"/>
          <p:nvPr/>
        </p:nvSpPr>
        <p:spPr>
          <a:xfrm>
            <a:off x="527964" y="4378423"/>
            <a:ext cx="1686759" cy="4905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문서 송수신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회신 여부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발신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수신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일시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처리상태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442DEF04-D86B-0645-734F-E0FD6EE3FD5F}"/>
              </a:ext>
            </a:extLst>
          </p:cNvPr>
          <p:cNvSpPr/>
          <p:nvPr/>
        </p:nvSpPr>
        <p:spPr>
          <a:xfrm>
            <a:off x="2670591" y="2811830"/>
            <a:ext cx="1516818" cy="659836"/>
          </a:xfrm>
          <a:prstGeom prst="roundRect">
            <a:avLst>
              <a:gd name="adj" fmla="val 6990"/>
            </a:avLst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건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건 단위 통합 관리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8EB04477-2C5E-F55C-84DD-C9B242EA13AD}"/>
              </a:ext>
            </a:extLst>
          </p:cNvPr>
          <p:cNvSpPr txBox="1"/>
          <p:nvPr/>
        </p:nvSpPr>
        <p:spPr>
          <a:xfrm>
            <a:off x="2581213" y="4378423"/>
            <a:ext cx="1686759" cy="4905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부서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연락처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보안등급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데이터 분야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C9C70E84-A0D8-B58C-0E2E-B6ECAECF38BE}"/>
              </a:ext>
            </a:extLst>
          </p:cNvPr>
          <p:cNvSpPr txBox="1"/>
          <p:nvPr/>
        </p:nvSpPr>
        <p:spPr>
          <a:xfrm>
            <a:off x="4643277" y="4378423"/>
            <a:ext cx="1686759" cy="4905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NDA·MOU·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이용협약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계약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작성일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체결일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유효기간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A9BF101F-1EB9-3369-4A9F-4B64FEFD66E4}"/>
              </a:ext>
            </a:extLst>
          </p:cNvPr>
          <p:cNvSpPr/>
          <p:nvPr/>
        </p:nvSpPr>
        <p:spPr>
          <a:xfrm>
            <a:off x="312925" y="5303924"/>
            <a:ext cx="6221225" cy="876182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위쪽 모서리 60">
            <a:extLst>
              <a:ext uri="{FF2B5EF4-FFF2-40B4-BE49-F238E27FC236}">
                <a16:creationId xmlns:a16="http://schemas.microsoft.com/office/drawing/2014/main" id="{242ABE99-3505-80B4-F8F9-90AE93B91784}"/>
              </a:ext>
            </a:extLst>
          </p:cNvPr>
          <p:cNvSpPr/>
          <p:nvPr/>
        </p:nvSpPr>
        <p:spPr>
          <a:xfrm>
            <a:off x="2135693" y="5282822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변경 시 업무 연속성 유지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FC73DB5-5308-2DB7-FA0A-8962F2E8E7DB}"/>
              </a:ext>
            </a:extLst>
          </p:cNvPr>
          <p:cNvSpPr/>
          <p:nvPr/>
        </p:nvSpPr>
        <p:spPr>
          <a:xfrm>
            <a:off x="439004" y="5613040"/>
            <a:ext cx="1864681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변경이력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 내역 기록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E2BCE7D2-E44F-57F8-F73F-96D8745C87B7}"/>
              </a:ext>
            </a:extLst>
          </p:cNvPr>
          <p:cNvSpPr/>
          <p:nvPr/>
        </p:nvSpPr>
        <p:spPr>
          <a:xfrm>
            <a:off x="2497866" y="5613040"/>
            <a:ext cx="1864681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협업 맥락 승계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문서 연결 유지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9C7754BB-BE52-8226-08BB-05C2C519D3CE}"/>
              </a:ext>
            </a:extLst>
          </p:cNvPr>
          <p:cNvSpPr/>
          <p:nvPr/>
        </p:nvSpPr>
        <p:spPr>
          <a:xfrm>
            <a:off x="4554315" y="5613040"/>
            <a:ext cx="1864681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 연속성 확보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담당자 즉시 파악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A3594B83-BFE9-2C06-4C9C-2D8509BC4084}"/>
              </a:ext>
            </a:extLst>
          </p:cNvPr>
          <p:cNvCxnSpPr>
            <a:stCxn id="44" idx="2"/>
            <a:endCxn id="7" idx="0"/>
          </p:cNvCxnSpPr>
          <p:nvPr/>
        </p:nvCxnSpPr>
        <p:spPr>
          <a:xfrm>
            <a:off x="3429000" y="3471666"/>
            <a:ext cx="1206" cy="442204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연결선: 꺾임 68">
            <a:extLst>
              <a:ext uri="{FF2B5EF4-FFF2-40B4-BE49-F238E27FC236}">
                <a16:creationId xmlns:a16="http://schemas.microsoft.com/office/drawing/2014/main" id="{FAE1C476-6501-FCA7-048F-919E4DCEBC25}"/>
              </a:ext>
            </a:extLst>
          </p:cNvPr>
          <p:cNvCxnSpPr>
            <a:stCxn id="44" idx="2"/>
            <a:endCxn id="9" idx="0"/>
          </p:cNvCxnSpPr>
          <p:nvPr/>
        </p:nvCxnSpPr>
        <p:spPr>
          <a:xfrm rot="5400000">
            <a:off x="2179071" y="2663941"/>
            <a:ext cx="442204" cy="2057655"/>
          </a:xfrm>
          <a:prstGeom prst="bentConnector3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0">
            <a:extLst>
              <a:ext uri="{FF2B5EF4-FFF2-40B4-BE49-F238E27FC236}">
                <a16:creationId xmlns:a16="http://schemas.microsoft.com/office/drawing/2014/main" id="{607A243A-AC07-3E45-B827-6973ADCDBF59}"/>
              </a:ext>
            </a:extLst>
          </p:cNvPr>
          <p:cNvCxnSpPr>
            <a:stCxn id="44" idx="2"/>
            <a:endCxn id="8" idx="0"/>
          </p:cNvCxnSpPr>
          <p:nvPr/>
        </p:nvCxnSpPr>
        <p:spPr>
          <a:xfrm rot="16200000" flipH="1">
            <a:off x="4237932" y="2662734"/>
            <a:ext cx="442204" cy="2060068"/>
          </a:xfrm>
          <a:prstGeom prst="bentConnector3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D8AB3CE2-745F-7B4E-ADB5-D6F19A801487}"/>
              </a:ext>
            </a:extLst>
          </p:cNvPr>
          <p:cNvCxnSpPr>
            <a:stCxn id="7" idx="2"/>
            <a:endCxn id="61" idx="3"/>
          </p:cNvCxnSpPr>
          <p:nvPr/>
        </p:nvCxnSpPr>
        <p:spPr>
          <a:xfrm>
            <a:off x="3430206" y="5036820"/>
            <a:ext cx="0" cy="24600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5D27D4E9-7C43-4D3A-DD43-C91C6C058498}"/>
              </a:ext>
            </a:extLst>
          </p:cNvPr>
          <p:cNvCxnSpPr>
            <a:stCxn id="63" idx="3"/>
            <a:endCxn id="64" idx="1"/>
          </p:cNvCxnSpPr>
          <p:nvPr/>
        </p:nvCxnSpPr>
        <p:spPr>
          <a:xfrm>
            <a:off x="2303685" y="5859847"/>
            <a:ext cx="194181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8C42E36E-4764-195E-4F43-8F197F8CC8DF}"/>
              </a:ext>
            </a:extLst>
          </p:cNvPr>
          <p:cNvCxnSpPr>
            <a:cxnSpLocks/>
            <a:stCxn id="64" idx="3"/>
            <a:endCxn id="65" idx="1"/>
          </p:cNvCxnSpPr>
          <p:nvPr/>
        </p:nvCxnSpPr>
        <p:spPr>
          <a:xfrm>
            <a:off x="4362547" y="5859847"/>
            <a:ext cx="19176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BB395850-548F-44F3-F3D4-5D7D657B142B}"/>
              </a:ext>
            </a:extLst>
          </p:cNvPr>
          <p:cNvCxnSpPr>
            <a:cxnSpLocks/>
          </p:cNvCxnSpPr>
          <p:nvPr/>
        </p:nvCxnSpPr>
        <p:spPr>
          <a:xfrm>
            <a:off x="312925" y="72602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7C283594-DD5B-B9AD-A6FB-8CCE966BAD0A}"/>
              </a:ext>
            </a:extLst>
          </p:cNvPr>
          <p:cNvSpPr txBox="1"/>
          <p:nvPr/>
        </p:nvSpPr>
        <p:spPr>
          <a:xfrm>
            <a:off x="335011" y="7234196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대상 및 항목</a:t>
            </a:r>
          </a:p>
        </p:txBody>
      </p:sp>
      <p:sp>
        <p:nvSpPr>
          <p:cNvPr id="84" name="모서리가 둥근 직사각형 222">
            <a:extLst>
              <a:ext uri="{FF2B5EF4-FFF2-40B4-BE49-F238E27FC236}">
                <a16:creationId xmlns:a16="http://schemas.microsoft.com/office/drawing/2014/main" id="{848A1332-BEBE-E3CD-E71E-2970B8701D53}"/>
              </a:ext>
            </a:extLst>
          </p:cNvPr>
          <p:cNvSpPr/>
          <p:nvPr/>
        </p:nvSpPr>
        <p:spPr bwMode="gray">
          <a:xfrm>
            <a:off x="258881" y="7529449"/>
            <a:ext cx="6331426" cy="213525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AF2BD31-560A-2399-C72E-D3ED4DC09F9F}"/>
              </a:ext>
            </a:extLst>
          </p:cNvPr>
          <p:cNvSpPr/>
          <p:nvPr/>
        </p:nvSpPr>
        <p:spPr>
          <a:xfrm>
            <a:off x="316309" y="911913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 건을 중심으로 이력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문서를 연결 관리하고 담당자 변경 시 맥락을 승계함으로써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인력 변동에도 협업 연속성과 업무 추적성을 유지함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86" name="Table 0">
            <a:extLst>
              <a:ext uri="{FF2B5EF4-FFF2-40B4-BE49-F238E27FC236}">
                <a16:creationId xmlns:a16="http://schemas.microsoft.com/office/drawing/2014/main" id="{5A1DBF2E-A486-279C-7980-1A989041693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96312"/>
          <a:ext cx="6165724" cy="1509587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638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217613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83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대상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항목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커뮤니케이션 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발송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회신일시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처리상태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협의결과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협력기관 정보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사업자번호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연락처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보안등급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정보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직위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연락처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이메일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담당업무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협약문서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의향서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·NDA·MOU·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이용협약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보안서약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변경이력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내역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연속성 승계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문서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첨부의견서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 단위 누적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FR-037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sp>
        <p:nvSpPr>
          <p:cNvPr id="16" name="Google Shape;3028;p49">
            <a:extLst>
              <a:ext uri="{FF2B5EF4-FFF2-40B4-BE49-F238E27FC236}">
                <a16:creationId xmlns:a16="http://schemas.microsoft.com/office/drawing/2014/main" id="{00BCE647-0FB1-3252-3371-C67A28C41C61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5541473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AEC1F0-B66C-5DA1-12DF-C19BC4C62C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CA3E97F-6B13-F635-F730-9D36E5695D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F23A55F-7CE2-2128-DE79-23B717598CE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225E9D7-1AA6-DAC5-3DA7-C2B442E483B6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유형별 검수 기준 적용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5F472ED-138F-8D56-4D1C-F430AA187D0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217675C-B626-691F-5B84-815C6F61052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품질기준 수립부터 사전진단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승인까지 검수 절차를 표준화하고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텍스트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이미지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음성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센서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·DB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 유형별 차등 점검항목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(DR-013)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적용하여 자동검사와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수동검수를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결합한 전자적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체계를 구축함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953F6B8-B256-AC0A-127D-E8DD3FD5182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D96AFB5-BF95-5D48-D534-2BA169A7BC3C}"/>
              </a:ext>
            </a:extLst>
          </p:cNvPr>
          <p:cNvSpPr txBox="1"/>
          <p:nvPr/>
        </p:nvSpPr>
        <p:spPr>
          <a:xfrm>
            <a:off x="335012" y="2371141"/>
            <a:ext cx="32844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검수를 통한 전자적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체계 구축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337AB79-C3A9-AC3C-38D7-84AB45EF208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FR-003, FR-037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684CBE9C-14BD-9FBF-7C68-A60C9B594350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545105D-0EC2-C0B6-A167-B15D5C8C86BA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적용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구축방식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라벨링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특성에 따라 품질기준을 차등 적용하여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획일적 검수의 한계를 넘어 유형별 특성에 맞는 정밀 검수를 수행함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(FR-006·DR-013)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자동검사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수동검수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결합하여 효율과 정확성을 동시 확보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점검항목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허용오차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판정규칙을 사전 정의하여 검수 일관성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객관성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AB55F9E-C128-CE5B-513D-217A92EB2948}"/>
              </a:ext>
            </a:extLst>
          </p:cNvPr>
          <p:cNvSpPr/>
          <p:nvPr/>
        </p:nvSpPr>
        <p:spPr>
          <a:xfrm>
            <a:off x="316309" y="3728014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품질기준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구축방식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라벨링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형태별로 품질기준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점검항목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허용오차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판정규칙을 정의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품질특성 정의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적용 목적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측정 방법 등록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데이터셋별 기준 매핑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체크리스트 생성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 변경 시 신규 버전 생성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이력 비교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 데이터셋 추출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필요 여부 판단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E9053D9-4031-73FB-0BEE-99DC1A4F84B0}"/>
              </a:ext>
            </a:extLst>
          </p:cNvPr>
          <p:cNvSpPr/>
          <p:nvPr/>
        </p:nvSpPr>
        <p:spPr>
          <a:xfrm>
            <a:off x="316309" y="5693050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사전진단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본검수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이전에 원천데이터의 형식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결측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적합성을 점검하여 리스크를 식별함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 점검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결측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적합성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개인정보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초상권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비식별화 적합성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체크리스트 진단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 다양성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신뢰성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충분성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균일성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사실성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공평성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형식성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B6CE8A0-7207-7B5D-9BEE-50BE97772775}"/>
              </a:ext>
            </a:extLst>
          </p:cNvPr>
          <p:cNvSpPr/>
          <p:nvPr/>
        </p:nvSpPr>
        <p:spPr>
          <a:xfrm>
            <a:off x="316309" y="6527288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검수 기준 적용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유형별로 검증항목을 달리 적용하여 유형 특성에 맞는 품질을 검증함 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텍스트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인코딩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결측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일관성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이미지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해상도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바운딩박스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클래스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음성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샘플링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전사 정확도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잡음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영상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프레임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구간라벨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동기화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센서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시계열 연속성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이상치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/ DB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스키마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참조무결성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03B83B7-B2BD-6675-7895-E1A402AB217C}"/>
              </a:ext>
            </a:extLst>
          </p:cNvPr>
          <p:cNvSpPr/>
          <p:nvPr/>
        </p:nvSpPr>
        <p:spPr>
          <a:xfrm>
            <a:off x="316309" y="7361526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절차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자동수동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결합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내용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결합하고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최종 승인으로 절차를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보완요청을 기록하고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요청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최종 승인으로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FC9B28D-6FE6-72CE-90CA-A1601C5460E0}"/>
              </a:ext>
            </a:extLst>
          </p:cNvPr>
          <p:cNvSpPr/>
          <p:nvPr/>
        </p:nvSpPr>
        <p:spPr>
          <a:xfrm>
            <a:off x="316309" y="8175758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품질기준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체크리스트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및 정합성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표준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3)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8AFB18B6-29AD-82BB-EFF0-869F4DB4B3C1}"/>
              </a:ext>
            </a:extLst>
          </p:cNvPr>
          <p:cNvSpPr/>
          <p:nvPr/>
        </p:nvSpPr>
        <p:spPr>
          <a:xfrm>
            <a:off x="31589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위쪽 모서리 23">
            <a:extLst>
              <a:ext uri="{FF2B5EF4-FFF2-40B4-BE49-F238E27FC236}">
                <a16:creationId xmlns:a16="http://schemas.microsoft.com/office/drawing/2014/main" id="{189BF9A4-DC7A-D3B8-45B0-42F7DEE0EAEE}"/>
              </a:ext>
            </a:extLst>
          </p:cNvPr>
          <p:cNvSpPr/>
          <p:nvPr/>
        </p:nvSpPr>
        <p:spPr>
          <a:xfrm>
            <a:off x="315897" y="8771558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 수립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08A68C60-6BC8-3C7A-36C5-E401BBFC4E2B}"/>
              </a:ext>
            </a:extLst>
          </p:cNvPr>
          <p:cNvSpPr/>
          <p:nvPr/>
        </p:nvSpPr>
        <p:spPr>
          <a:xfrm>
            <a:off x="189650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위쪽 모서리 27">
            <a:extLst>
              <a:ext uri="{FF2B5EF4-FFF2-40B4-BE49-F238E27FC236}">
                <a16:creationId xmlns:a16="http://schemas.microsoft.com/office/drawing/2014/main" id="{F4CFEA3E-3CD0-AA7C-2BFD-1F378E5AB22E}"/>
              </a:ext>
            </a:extLst>
          </p:cNvPr>
          <p:cNvSpPr/>
          <p:nvPr/>
        </p:nvSpPr>
        <p:spPr>
          <a:xfrm>
            <a:off x="1896507" y="8771558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사전진단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2241E548-A51D-1AE5-CEDA-54244F7D7199}"/>
              </a:ext>
            </a:extLst>
          </p:cNvPr>
          <p:cNvSpPr/>
          <p:nvPr/>
        </p:nvSpPr>
        <p:spPr>
          <a:xfrm>
            <a:off x="347711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029480A9-C530-E75F-6FB8-F8F15B8D25A7}"/>
              </a:ext>
            </a:extLst>
          </p:cNvPr>
          <p:cNvSpPr/>
          <p:nvPr/>
        </p:nvSpPr>
        <p:spPr>
          <a:xfrm>
            <a:off x="3477117" y="8771558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유형별 검수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FB930FA6-B1D1-B93D-8A1A-1527587FC2EB}"/>
              </a:ext>
            </a:extLst>
          </p:cNvPr>
          <p:cNvSpPr/>
          <p:nvPr/>
        </p:nvSpPr>
        <p:spPr>
          <a:xfrm>
            <a:off x="505772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위쪽 모서리 36">
            <a:extLst>
              <a:ext uri="{FF2B5EF4-FFF2-40B4-BE49-F238E27FC236}">
                <a16:creationId xmlns:a16="http://schemas.microsoft.com/office/drawing/2014/main" id="{4EA823E2-83CB-17AB-1AD9-477D41CF904D}"/>
              </a:ext>
            </a:extLst>
          </p:cNvPr>
          <p:cNvSpPr/>
          <p:nvPr/>
        </p:nvSpPr>
        <p:spPr>
          <a:xfrm>
            <a:off x="5057727" y="8771558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보완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이등변 삼각형 38">
            <a:extLst>
              <a:ext uri="{FF2B5EF4-FFF2-40B4-BE49-F238E27FC236}">
                <a16:creationId xmlns:a16="http://schemas.microsoft.com/office/drawing/2014/main" id="{31B7F423-7136-7902-8F86-5F7AE7A5F458}"/>
              </a:ext>
            </a:extLst>
          </p:cNvPr>
          <p:cNvSpPr/>
          <p:nvPr/>
        </p:nvSpPr>
        <p:spPr>
          <a:xfrm rot="5400000">
            <a:off x="1801098" y="9101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이등변 삼각형 40">
            <a:extLst>
              <a:ext uri="{FF2B5EF4-FFF2-40B4-BE49-F238E27FC236}">
                <a16:creationId xmlns:a16="http://schemas.microsoft.com/office/drawing/2014/main" id="{C2CAF0DE-1192-131A-17F8-6085F8EFB4D9}"/>
              </a:ext>
            </a:extLst>
          </p:cNvPr>
          <p:cNvSpPr/>
          <p:nvPr/>
        </p:nvSpPr>
        <p:spPr>
          <a:xfrm rot="5400000">
            <a:off x="3386287" y="91019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이등변 삼각형 42">
            <a:extLst>
              <a:ext uri="{FF2B5EF4-FFF2-40B4-BE49-F238E27FC236}">
                <a16:creationId xmlns:a16="http://schemas.microsoft.com/office/drawing/2014/main" id="{9E25EE22-37DF-8D82-1ED0-2031CF5D6357}"/>
              </a:ext>
            </a:extLst>
          </p:cNvPr>
          <p:cNvSpPr/>
          <p:nvPr/>
        </p:nvSpPr>
        <p:spPr>
          <a:xfrm rot="5400000">
            <a:off x="4966713" y="9101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이등변 삼각형 44">
            <a:extLst>
              <a:ext uri="{FF2B5EF4-FFF2-40B4-BE49-F238E27FC236}">
                <a16:creationId xmlns:a16="http://schemas.microsoft.com/office/drawing/2014/main" id="{7382FC2B-775E-9FCD-1248-6410FE8CD3EC}"/>
              </a:ext>
            </a:extLst>
          </p:cNvPr>
          <p:cNvSpPr/>
          <p:nvPr/>
        </p:nvSpPr>
        <p:spPr>
          <a:xfrm rot="5400000">
            <a:off x="1801098" y="9101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이등변 삼각형 46">
            <a:extLst>
              <a:ext uri="{FF2B5EF4-FFF2-40B4-BE49-F238E27FC236}">
                <a16:creationId xmlns:a16="http://schemas.microsoft.com/office/drawing/2014/main" id="{976E3077-2261-9DCA-1429-D634CD26D7C1}"/>
              </a:ext>
            </a:extLst>
          </p:cNvPr>
          <p:cNvSpPr/>
          <p:nvPr/>
        </p:nvSpPr>
        <p:spPr>
          <a:xfrm rot="5400000">
            <a:off x="3386287" y="91019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E3488E5D-17C0-77F3-B28A-93EBDFE7153B}"/>
              </a:ext>
            </a:extLst>
          </p:cNvPr>
          <p:cNvSpPr/>
          <p:nvPr/>
        </p:nvSpPr>
        <p:spPr>
          <a:xfrm rot="5400000">
            <a:off x="4966713" y="9101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5F87C21-CCC1-939D-8EEC-1A8263D1D992}"/>
              </a:ext>
            </a:extLst>
          </p:cNvPr>
          <p:cNvSpPr txBox="1"/>
          <p:nvPr/>
        </p:nvSpPr>
        <p:spPr>
          <a:xfrm>
            <a:off x="34285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라벨링별 기준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허용오차 정의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E76A816-A079-91E7-B72E-57494EDAFC6D}"/>
              </a:ext>
            </a:extLst>
          </p:cNvPr>
          <p:cNvSpPr txBox="1"/>
          <p:nvPr/>
        </p:nvSpPr>
        <p:spPr>
          <a:xfrm>
            <a:off x="192346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형식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리스크 식별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70B53B0-3F8E-00FB-72E3-6193FCC13D56}"/>
              </a:ext>
            </a:extLst>
          </p:cNvPr>
          <p:cNvSpPr txBox="1"/>
          <p:nvPr/>
        </p:nvSpPr>
        <p:spPr>
          <a:xfrm>
            <a:off x="3504076" y="9040371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유형별 자동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+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수동 검수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87E7E1A0-F302-C164-D433-B8B62E676E6B}"/>
              </a:ext>
            </a:extLst>
          </p:cNvPr>
          <p:cNvSpPr txBox="1"/>
          <p:nvPr/>
        </p:nvSpPr>
        <p:spPr>
          <a:xfrm>
            <a:off x="5084686" y="9040371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재검수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 승인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155ADE3-F967-A609-7A59-CAEEE0E66E48}"/>
              </a:ext>
            </a:extLst>
          </p:cNvPr>
          <p:cNvSpPr/>
          <p:nvPr/>
        </p:nvSpPr>
        <p:spPr>
          <a:xfrm>
            <a:off x="2012742" y="4758802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매핑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B9019210-0F32-C29C-1038-43C9F30C6BAF}"/>
              </a:ext>
            </a:extLst>
          </p:cNvPr>
          <p:cNvSpPr/>
          <p:nvPr/>
        </p:nvSpPr>
        <p:spPr>
          <a:xfrm>
            <a:off x="3568256" y="4758802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체크리스트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8170967B-C407-DE55-E21A-9166DB5FAB14}"/>
              </a:ext>
            </a:extLst>
          </p:cNvPr>
          <p:cNvSpPr/>
          <p:nvPr/>
        </p:nvSpPr>
        <p:spPr>
          <a:xfrm>
            <a:off x="426676" y="4758803"/>
            <a:ext cx="1267854" cy="887618"/>
          </a:xfrm>
          <a:prstGeom prst="roundRect">
            <a:avLst>
              <a:gd name="adj" fmla="val 6990"/>
            </a:avLst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항목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정의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0A895FDF-D574-6277-3632-E9006859073E}"/>
              </a:ext>
            </a:extLst>
          </p:cNvPr>
          <p:cNvSpPr/>
          <p:nvPr/>
        </p:nvSpPr>
        <p:spPr>
          <a:xfrm>
            <a:off x="5163470" y="4758802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영향 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C2B5E42-F450-6ADA-4FE1-025DCEEDDF4D}"/>
              </a:ext>
            </a:extLst>
          </p:cNvPr>
          <p:cNvSpPr/>
          <p:nvPr/>
        </p:nvSpPr>
        <p:spPr>
          <a:xfrm>
            <a:off x="456787" y="5078955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BB2BC8F3-77B8-96AF-79ED-6FFF10F94275}"/>
              </a:ext>
            </a:extLst>
          </p:cNvPr>
          <p:cNvCxnSpPr>
            <a:cxnSpLocks/>
            <a:stCxn id="60" idx="3"/>
            <a:endCxn id="58" idx="1"/>
          </p:cNvCxnSpPr>
          <p:nvPr/>
        </p:nvCxnSpPr>
        <p:spPr>
          <a:xfrm flipV="1">
            <a:off x="1694530" y="5202611"/>
            <a:ext cx="318212" cy="1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266F9285-B542-5C35-0FBA-F76731113BC6}"/>
              </a:ext>
            </a:extLst>
          </p:cNvPr>
          <p:cNvCxnSpPr>
            <a:cxnSpLocks/>
            <a:stCxn id="58" idx="3"/>
            <a:endCxn id="59" idx="1"/>
          </p:cNvCxnSpPr>
          <p:nvPr/>
        </p:nvCxnSpPr>
        <p:spPr>
          <a:xfrm>
            <a:off x="3280596" y="5202611"/>
            <a:ext cx="28766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ED1B2F5F-26AB-80ED-D35B-06CBD25CC37D}"/>
              </a:ext>
            </a:extLst>
          </p:cNvPr>
          <p:cNvCxnSpPr>
            <a:cxnSpLocks/>
            <a:stCxn id="59" idx="3"/>
            <a:endCxn id="61" idx="1"/>
          </p:cNvCxnSpPr>
          <p:nvPr/>
        </p:nvCxnSpPr>
        <p:spPr>
          <a:xfrm>
            <a:off x="4836110" y="5202611"/>
            <a:ext cx="32736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E8B546C-C36C-1255-B0EB-028875C59566}"/>
              </a:ext>
            </a:extLst>
          </p:cNvPr>
          <p:cNvSpPr/>
          <p:nvPr/>
        </p:nvSpPr>
        <p:spPr>
          <a:xfrm>
            <a:off x="2040597" y="5078955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78CBDA8-CC4E-A0E9-179F-3F0636B5F99D}"/>
              </a:ext>
            </a:extLst>
          </p:cNvPr>
          <p:cNvSpPr txBox="1"/>
          <p:nvPr/>
        </p:nvSpPr>
        <p:spPr>
          <a:xfrm>
            <a:off x="2040824" y="5132301"/>
            <a:ext cx="11998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품질특성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 목적 데이터셋별 기준 매핑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CDD9178-7799-47AE-7AFF-D1721B35A27D}"/>
              </a:ext>
            </a:extLst>
          </p:cNvPr>
          <p:cNvSpPr/>
          <p:nvPr/>
        </p:nvSpPr>
        <p:spPr>
          <a:xfrm>
            <a:off x="3598808" y="5078955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5D78A0E-5A7D-B5FB-D61A-1F37D27C4E40}"/>
              </a:ext>
            </a:extLst>
          </p:cNvPr>
          <p:cNvSpPr txBox="1"/>
          <p:nvPr/>
        </p:nvSpPr>
        <p:spPr>
          <a:xfrm>
            <a:off x="3599035" y="5132301"/>
            <a:ext cx="11998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검수 항목 기반 검수 체크리스트 생성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2A8CF14-E5F5-E937-A601-9AD149B9E16A}"/>
              </a:ext>
            </a:extLst>
          </p:cNvPr>
          <p:cNvSpPr/>
          <p:nvPr/>
        </p:nvSpPr>
        <p:spPr>
          <a:xfrm>
            <a:off x="5197247" y="5078955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A5BC1F2-2058-1C54-C975-D4A978C5B9F2}"/>
              </a:ext>
            </a:extLst>
          </p:cNvPr>
          <p:cNvSpPr txBox="1"/>
          <p:nvPr/>
        </p:nvSpPr>
        <p:spPr>
          <a:xfrm>
            <a:off x="5197474" y="5132301"/>
            <a:ext cx="11998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버전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 영향 데이터셋 </a:t>
            </a:r>
            <a:r>
              <a:rPr lang="ko-KR" altLang="en-US" sz="9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재검수</a:t>
            </a:r>
            <a:endParaRPr lang="ko-KR" altLang="en-US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F83CC9D-DE6F-89B8-3220-293FB86DD47C}"/>
              </a:ext>
            </a:extLst>
          </p:cNvPr>
          <p:cNvSpPr txBox="1"/>
          <p:nvPr/>
        </p:nvSpPr>
        <p:spPr>
          <a:xfrm>
            <a:off x="455300" y="5132301"/>
            <a:ext cx="11998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품질기준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점검항목허용오차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판정규칙</a:t>
            </a:r>
          </a:p>
        </p:txBody>
      </p:sp>
      <p:sp>
        <p:nvSpPr>
          <p:cNvPr id="9" name="Google Shape;3028;p49">
            <a:extLst>
              <a:ext uri="{FF2B5EF4-FFF2-40B4-BE49-F238E27FC236}">
                <a16:creationId xmlns:a16="http://schemas.microsoft.com/office/drawing/2014/main" id="{60F475B1-BAC4-8C5A-8D57-D34C1F0C946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3917102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124867-FA75-6BBC-DFE8-9A1E432301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ADD8DE8-4379-7D2A-E9E0-1874022CC98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748471F-6A53-EBBC-18DA-4D28223410D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5266C1-9FB9-8E09-6531-732D5EF8A1E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유형별 검수 기준 적용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142A1B8-D123-6680-FEBC-72029C4BD4B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2987B4F-5F3E-5FFE-C7D9-2C4D0AE015C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 체계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절차와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데이터 유형별 차등 점검항목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사전진단 체크리스트를 제시하여 유형 특성에 맞는 정밀 검수 체계의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7BD922F-6018-6F8F-6468-F0C2A4DF814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5FDC5E9-512B-930E-093A-8CF7F40BAB55}"/>
              </a:ext>
            </a:extLst>
          </p:cNvPr>
          <p:cNvSpPr txBox="1"/>
          <p:nvPr/>
        </p:nvSpPr>
        <p:spPr>
          <a:xfrm>
            <a:off x="335012" y="2371141"/>
            <a:ext cx="32844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유형별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체계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A112163-EF1C-7380-8EA4-505B5709773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FR-003, FR-037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F38D4EC9-4A27-C8D0-0EA0-5C9D2191C8FB}"/>
              </a:ext>
            </a:extLst>
          </p:cNvPr>
          <p:cNvSpPr/>
          <p:nvPr/>
        </p:nvSpPr>
        <p:spPr bwMode="gray">
          <a:xfrm>
            <a:off x="258881" y="2666395"/>
            <a:ext cx="6331426" cy="450876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47A0E237-E2BB-E767-DE02-CC8A9BB0EC32}"/>
              </a:ext>
            </a:extLst>
          </p:cNvPr>
          <p:cNvSpPr/>
          <p:nvPr/>
        </p:nvSpPr>
        <p:spPr>
          <a:xfrm>
            <a:off x="312925" y="2785020"/>
            <a:ext cx="6221225" cy="1240028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EB8DF6B4-88D2-F16E-0130-6B7C3BE5BA8A}"/>
              </a:ext>
            </a:extLst>
          </p:cNvPr>
          <p:cNvSpPr/>
          <p:nvPr/>
        </p:nvSpPr>
        <p:spPr>
          <a:xfrm>
            <a:off x="312925" y="4320686"/>
            <a:ext cx="6221225" cy="1718740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4FA46251-F556-B323-2E00-04637CA2D4CD}"/>
              </a:ext>
            </a:extLst>
          </p:cNvPr>
          <p:cNvSpPr/>
          <p:nvPr/>
        </p:nvSpPr>
        <p:spPr>
          <a:xfrm>
            <a:off x="312925" y="6094507"/>
            <a:ext cx="6221225" cy="988459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8E0CD803-AC7A-2D8E-FA21-A67E108D29D9}"/>
              </a:ext>
            </a:extLst>
          </p:cNvPr>
          <p:cNvSpPr/>
          <p:nvPr/>
        </p:nvSpPr>
        <p:spPr>
          <a:xfrm>
            <a:off x="306574" y="2763919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절차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(FR-006)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사각형: 둥근 위쪽 모서리 12">
            <a:extLst>
              <a:ext uri="{FF2B5EF4-FFF2-40B4-BE49-F238E27FC236}">
                <a16:creationId xmlns:a16="http://schemas.microsoft.com/office/drawing/2014/main" id="{0B263793-B8BC-CC9E-49F8-2FB06037C45A}"/>
              </a:ext>
            </a:extLst>
          </p:cNvPr>
          <p:cNvSpPr/>
          <p:nvPr/>
        </p:nvSpPr>
        <p:spPr>
          <a:xfrm>
            <a:off x="306574" y="4299096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유형별 차등 검수 항목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(DR-013)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위쪽 모서리 19">
            <a:extLst>
              <a:ext uri="{FF2B5EF4-FFF2-40B4-BE49-F238E27FC236}">
                <a16:creationId xmlns:a16="http://schemas.microsoft.com/office/drawing/2014/main" id="{DB94494A-7E7E-55AF-3D83-F1F114CB300B}"/>
              </a:ext>
            </a:extLst>
          </p:cNvPr>
          <p:cNvSpPr/>
          <p:nvPr/>
        </p:nvSpPr>
        <p:spPr>
          <a:xfrm>
            <a:off x="306574" y="6075536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사전진단 체크리스트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C9B0826F-A74E-C994-C095-2DFCE212560A}"/>
              </a:ext>
            </a:extLst>
          </p:cNvPr>
          <p:cNvSpPr/>
          <p:nvPr/>
        </p:nvSpPr>
        <p:spPr>
          <a:xfrm>
            <a:off x="431064" y="4646211"/>
            <a:ext cx="1778736" cy="575482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텍스트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인코딩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결측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 일관성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FEB2F6A-E24C-D36B-264B-7EFE2F162FBF}"/>
              </a:ext>
            </a:extLst>
          </p:cNvPr>
          <p:cNvSpPr/>
          <p:nvPr/>
        </p:nvSpPr>
        <p:spPr>
          <a:xfrm>
            <a:off x="431064" y="6396216"/>
            <a:ext cx="2896336" cy="584646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구조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결측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적합성 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개인정보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초상권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비식별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D6587EE6-BE6C-F31B-E043-C53CD77C62F0}"/>
              </a:ext>
            </a:extLst>
          </p:cNvPr>
          <p:cNvSpPr/>
          <p:nvPr/>
        </p:nvSpPr>
        <p:spPr>
          <a:xfrm>
            <a:off x="5931854" y="4061158"/>
            <a:ext cx="478769" cy="227994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시</a:t>
            </a: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301D0A77-2C79-89B3-01D2-D551D5699A44}"/>
              </a:ext>
            </a:extLst>
          </p:cNvPr>
          <p:cNvSpPr/>
          <p:nvPr/>
        </p:nvSpPr>
        <p:spPr>
          <a:xfrm>
            <a:off x="431064" y="3086133"/>
            <a:ext cx="1026285" cy="83518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품질기준 수립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구축방식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라벨링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기준 정의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0374DD62-8760-E913-9302-FCABB1C17858}"/>
              </a:ext>
            </a:extLst>
          </p:cNvPr>
          <p:cNvSpPr/>
          <p:nvPr/>
        </p:nvSpPr>
        <p:spPr>
          <a:xfrm>
            <a:off x="4148126" y="3086133"/>
            <a:ext cx="1026285" cy="835187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 검수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의미</a:t>
            </a:r>
            <a:r>
              <a:rPr lang="en-US" altLang="ko-KR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</a:t>
            </a:r>
            <a:r>
              <a:rPr lang="en-US" altLang="ko-KR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업무규칙 점검</a:t>
            </a:r>
            <a:endParaRPr lang="en-US" altLang="ko-KR" sz="900" spc="-11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3DB50EF0-1BEF-0A78-E516-CCFC7821A133}"/>
              </a:ext>
            </a:extLst>
          </p:cNvPr>
          <p:cNvSpPr/>
          <p:nvPr/>
        </p:nvSpPr>
        <p:spPr>
          <a:xfrm>
            <a:off x="1683589" y="3086133"/>
            <a:ext cx="1026285" cy="83518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사전진단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리스크 식별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274CB159-AA90-2F8C-625D-FAC1A89148EE}"/>
              </a:ext>
            </a:extLst>
          </p:cNvPr>
          <p:cNvSpPr/>
          <p:nvPr/>
        </p:nvSpPr>
        <p:spPr>
          <a:xfrm>
            <a:off x="2915856" y="3086133"/>
            <a:ext cx="1026285" cy="83518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15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r>
              <a:rPr kumimoji="0" lang="en-US" altLang="ko-KR" sz="1200" b="0" i="0" u="none" strike="noStrike" kern="1200" cap="none" spc="-15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-15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 검수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</a:t>
            </a:r>
            <a:r>
              <a:rPr kumimoji="0" lang="en-US" altLang="ko-KR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구조</a:t>
            </a:r>
            <a:r>
              <a:rPr kumimoji="0" lang="en-US" altLang="ko-KR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결측</a:t>
            </a:r>
            <a:r>
              <a:rPr kumimoji="0" lang="en-US" altLang="ko-KR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무결성</a:t>
            </a:r>
            <a:endParaRPr kumimoji="0" lang="en-US" altLang="ko-KR" sz="900" b="0" i="0" u="none" strike="noStrike" kern="1200" cap="none" spc="-9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38AD255C-E4DF-C123-D1D0-3B429E6AFA8D}"/>
              </a:ext>
            </a:extLst>
          </p:cNvPr>
          <p:cNvCxnSpPr>
            <a:cxnSpLocks/>
            <a:stCxn id="107" idx="3"/>
            <a:endCxn id="109" idx="1"/>
          </p:cNvCxnSpPr>
          <p:nvPr/>
        </p:nvCxnSpPr>
        <p:spPr>
          <a:xfrm>
            <a:off x="1457349" y="3503727"/>
            <a:ext cx="22624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6C41A8E5-0DB9-38E9-8730-1B3E2236DA51}"/>
              </a:ext>
            </a:extLst>
          </p:cNvPr>
          <p:cNvCxnSpPr>
            <a:cxnSpLocks/>
            <a:stCxn id="109" idx="3"/>
            <a:endCxn id="110" idx="1"/>
          </p:cNvCxnSpPr>
          <p:nvPr/>
        </p:nvCxnSpPr>
        <p:spPr>
          <a:xfrm>
            <a:off x="2709874" y="3503727"/>
            <a:ext cx="205982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1C77D587-F93D-9BBC-9D82-B6C11BD39575}"/>
              </a:ext>
            </a:extLst>
          </p:cNvPr>
          <p:cNvCxnSpPr>
            <a:cxnSpLocks/>
            <a:stCxn id="110" idx="3"/>
            <a:endCxn id="108" idx="1"/>
          </p:cNvCxnSpPr>
          <p:nvPr/>
        </p:nvCxnSpPr>
        <p:spPr>
          <a:xfrm>
            <a:off x="3942141" y="3503727"/>
            <a:ext cx="20598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76072D87-44AF-8FBB-BB28-BCEF7CD0EC17}"/>
              </a:ext>
            </a:extLst>
          </p:cNvPr>
          <p:cNvSpPr/>
          <p:nvPr/>
        </p:nvSpPr>
        <p:spPr>
          <a:xfrm>
            <a:off x="5384340" y="3086133"/>
            <a:ext cx="1026285" cy="835187"/>
          </a:xfrm>
          <a:prstGeom prst="roundRect">
            <a:avLst>
              <a:gd name="adj" fmla="val 6990"/>
            </a:avLst>
          </a:prstGeom>
          <a:solidFill>
            <a:srgbClr val="A9D18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재검수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 승인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판정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이력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15" name="직선 화살표 연결선 114">
            <a:extLst>
              <a:ext uri="{FF2B5EF4-FFF2-40B4-BE49-F238E27FC236}">
                <a16:creationId xmlns:a16="http://schemas.microsoft.com/office/drawing/2014/main" id="{BAAF7C8D-6042-7165-FFDF-EE241577A6F0}"/>
              </a:ext>
            </a:extLst>
          </p:cNvPr>
          <p:cNvCxnSpPr>
            <a:cxnSpLocks/>
            <a:stCxn id="108" idx="3"/>
            <a:endCxn id="114" idx="1"/>
          </p:cNvCxnSpPr>
          <p:nvPr/>
        </p:nvCxnSpPr>
        <p:spPr>
          <a:xfrm>
            <a:off x="5174411" y="3503727"/>
            <a:ext cx="20992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id="{9086973A-1B9C-38A3-95FA-1FAB5C0C1093}"/>
              </a:ext>
            </a:extLst>
          </p:cNvPr>
          <p:cNvCxnSpPr>
            <a:cxnSpLocks/>
            <a:stCxn id="114" idx="2"/>
          </p:cNvCxnSpPr>
          <p:nvPr/>
        </p:nvCxnSpPr>
        <p:spPr>
          <a:xfrm flipH="1">
            <a:off x="5897482" y="3921320"/>
            <a:ext cx="1" cy="39936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6DF3809-888B-C8F4-FF5A-FB1367EE528A}"/>
              </a:ext>
            </a:extLst>
          </p:cNvPr>
          <p:cNvSpPr/>
          <p:nvPr/>
        </p:nvSpPr>
        <p:spPr>
          <a:xfrm>
            <a:off x="2555428" y="4646211"/>
            <a:ext cx="1778736" cy="575482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이미지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해상도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바운딩박스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클래스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495E7118-92F2-4263-17B3-39D77F4FF02D}"/>
              </a:ext>
            </a:extLst>
          </p:cNvPr>
          <p:cNvSpPr/>
          <p:nvPr/>
        </p:nvSpPr>
        <p:spPr>
          <a:xfrm>
            <a:off x="4631887" y="4646211"/>
            <a:ext cx="1778736" cy="575482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음성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샘플링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전사 정확도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잡음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322B444F-7DF8-482B-8505-CBC9F58C6B37}"/>
              </a:ext>
            </a:extLst>
          </p:cNvPr>
          <p:cNvSpPr/>
          <p:nvPr/>
        </p:nvSpPr>
        <p:spPr>
          <a:xfrm>
            <a:off x="431064" y="5349200"/>
            <a:ext cx="1778736" cy="575482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영상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프레임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구간라벨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동기화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62062699-EBF9-D8DC-161A-1C93B8F1B818}"/>
              </a:ext>
            </a:extLst>
          </p:cNvPr>
          <p:cNvSpPr/>
          <p:nvPr/>
        </p:nvSpPr>
        <p:spPr>
          <a:xfrm>
            <a:off x="2555428" y="5349200"/>
            <a:ext cx="1778736" cy="575482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센서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시계열 연속성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이상치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3F83CAB6-4A96-DFDB-9684-08231A0ADD16}"/>
              </a:ext>
            </a:extLst>
          </p:cNvPr>
          <p:cNvSpPr/>
          <p:nvPr/>
        </p:nvSpPr>
        <p:spPr>
          <a:xfrm>
            <a:off x="4631887" y="5349200"/>
            <a:ext cx="1778736" cy="575482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스키마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참조무결성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4864566E-AF43-3F7D-B0CF-BC9219A6EB98}"/>
              </a:ext>
            </a:extLst>
          </p:cNvPr>
          <p:cNvSpPr/>
          <p:nvPr/>
        </p:nvSpPr>
        <p:spPr>
          <a:xfrm>
            <a:off x="2915856" y="2785020"/>
            <a:ext cx="1319594" cy="227994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자동검사 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+ </a:t>
            </a:r>
            <a:r>
              <a:rPr lang="ko-KR" altLang="en-US" sz="900" b="1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수동검수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결합</a:t>
            </a:r>
          </a:p>
        </p:txBody>
      </p:sp>
      <p:sp>
        <p:nvSpPr>
          <p:cNvPr id="138" name="사각형: 둥근 모서리 137">
            <a:extLst>
              <a:ext uri="{FF2B5EF4-FFF2-40B4-BE49-F238E27FC236}">
                <a16:creationId xmlns:a16="http://schemas.microsoft.com/office/drawing/2014/main" id="{B53CF439-74B2-B538-FC98-932D5195E2DA}"/>
              </a:ext>
            </a:extLst>
          </p:cNvPr>
          <p:cNvSpPr/>
          <p:nvPr/>
        </p:nvSpPr>
        <p:spPr>
          <a:xfrm>
            <a:off x="3600450" y="3120227"/>
            <a:ext cx="315901" cy="188425"/>
          </a:xfrm>
          <a:prstGeom prst="roundRect">
            <a:avLst>
              <a:gd name="adj" fmla="val 699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</a:t>
            </a:r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DAA8A63B-C2B8-AF68-F7CF-981F948CDEFA}"/>
              </a:ext>
            </a:extLst>
          </p:cNvPr>
          <p:cNvSpPr/>
          <p:nvPr/>
        </p:nvSpPr>
        <p:spPr>
          <a:xfrm>
            <a:off x="4833110" y="3120227"/>
            <a:ext cx="315901" cy="188425"/>
          </a:xfrm>
          <a:prstGeom prst="roundRect">
            <a:avLst>
              <a:gd name="adj" fmla="val 699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</a:t>
            </a: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7805371B-5B12-7818-15ED-C041D6336F10}"/>
              </a:ext>
            </a:extLst>
          </p:cNvPr>
          <p:cNvSpPr/>
          <p:nvPr/>
        </p:nvSpPr>
        <p:spPr>
          <a:xfrm>
            <a:off x="3514287" y="6396216"/>
            <a:ext cx="2896336" cy="584646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 다양성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신뢰성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충분성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균일성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사실성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공평성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형식성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C93DC620-CC56-DFF5-4BD6-50F0A15B4270}"/>
              </a:ext>
            </a:extLst>
          </p:cNvPr>
          <p:cNvCxnSpPr>
            <a:cxnSpLocks/>
          </p:cNvCxnSpPr>
          <p:nvPr/>
        </p:nvCxnSpPr>
        <p:spPr>
          <a:xfrm>
            <a:off x="312925" y="72602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80586C2F-EA54-8B42-DE3B-7309DF9F97F4}"/>
              </a:ext>
            </a:extLst>
          </p:cNvPr>
          <p:cNvSpPr txBox="1"/>
          <p:nvPr/>
        </p:nvSpPr>
        <p:spPr>
          <a:xfrm>
            <a:off x="335011" y="7234196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유형별 핵심 검수 항목</a:t>
            </a:r>
          </a:p>
        </p:txBody>
      </p:sp>
      <p:sp>
        <p:nvSpPr>
          <p:cNvPr id="16" name="모서리가 둥근 직사각형 222">
            <a:extLst>
              <a:ext uri="{FF2B5EF4-FFF2-40B4-BE49-F238E27FC236}">
                <a16:creationId xmlns:a16="http://schemas.microsoft.com/office/drawing/2014/main" id="{557184B8-17A6-A383-F39E-315F163F67F4}"/>
              </a:ext>
            </a:extLst>
          </p:cNvPr>
          <p:cNvSpPr/>
          <p:nvPr/>
        </p:nvSpPr>
        <p:spPr bwMode="gray">
          <a:xfrm>
            <a:off x="258881" y="7529449"/>
            <a:ext cx="6331426" cy="213525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A12619-B71E-4CB5-6A88-339BD6BBC136}"/>
              </a:ext>
            </a:extLst>
          </p:cNvPr>
          <p:cNvSpPr/>
          <p:nvPr/>
        </p:nvSpPr>
        <p:spPr>
          <a:xfrm>
            <a:off x="316309" y="911913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검수 절차 위에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6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 유형별 차등 점검항목을 적용하고 자동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 검수를 결합함으로써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 특성에 맞는 정밀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품질검수와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검수 일관성을 동시에 확보함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8" name="Table 0">
            <a:extLst>
              <a:ext uri="{FF2B5EF4-FFF2-40B4-BE49-F238E27FC236}">
                <a16:creationId xmlns:a16="http://schemas.microsoft.com/office/drawing/2014/main" id="{429734E1-8C23-6EAC-AA4E-7E2BC835807E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96312"/>
          <a:ext cx="6165724" cy="1509587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407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95738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83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유형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검수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정합성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수동 검수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텍스트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인코딩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결측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 일관성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 정확성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이미지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해상도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무결성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바운딩박스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클래스 정확성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음성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샘플링레이트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포맷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전사 정확도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잡음 수준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프레임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동기화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구간라벨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객체추적 정확성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센서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시계열 연속성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측정 신뢰성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스키마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참조무결성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 정합성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업무규칙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sp>
        <p:nvSpPr>
          <p:cNvPr id="22" name="Google Shape;3028;p49">
            <a:extLst>
              <a:ext uri="{FF2B5EF4-FFF2-40B4-BE49-F238E27FC236}">
                <a16:creationId xmlns:a16="http://schemas.microsoft.com/office/drawing/2014/main" id="{CCA6DDBE-EEB1-AB88-11B3-077E43793928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" name="Google Shape;3130;p52">
            <a:extLst>
              <a:ext uri="{FF2B5EF4-FFF2-40B4-BE49-F238E27FC236}">
                <a16:creationId xmlns:a16="http://schemas.microsoft.com/office/drawing/2014/main" id="{B9BF44C0-CEDA-1D70-F6D9-638F866E634C}"/>
              </a:ext>
            </a:extLst>
          </p:cNvPr>
          <p:cNvSpPr/>
          <p:nvPr/>
        </p:nvSpPr>
        <p:spPr>
          <a:xfrm>
            <a:off x="6719550" y="2071625"/>
            <a:ext cx="6650100" cy="44394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" name="Google Shape;3174;p52">
            <a:extLst>
              <a:ext uri="{FF2B5EF4-FFF2-40B4-BE49-F238E27FC236}">
                <a16:creationId xmlns:a16="http://schemas.microsoft.com/office/drawing/2014/main" id="{A2C23AB7-7001-A7D3-019F-D8D697F76160}"/>
              </a:ext>
            </a:extLst>
          </p:cNvPr>
          <p:cNvSpPr txBox="1"/>
          <p:nvPr/>
        </p:nvSpPr>
        <p:spPr>
          <a:xfrm>
            <a:off x="6903976" y="2371141"/>
            <a:ext cx="344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AI학습용 데이터 통합 제공 시스템 구성도</a:t>
            </a:r>
            <a:endParaRPr sz="1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" name="Google Shape;3175;p52">
            <a:extLst>
              <a:ext uri="{FF2B5EF4-FFF2-40B4-BE49-F238E27FC236}">
                <a16:creationId xmlns:a16="http://schemas.microsoft.com/office/drawing/2014/main" id="{32EE8BAF-95E9-D57D-CC80-94081A262558}"/>
              </a:ext>
            </a:extLst>
          </p:cNvPr>
          <p:cNvSpPr/>
          <p:nvPr/>
        </p:nvSpPr>
        <p:spPr>
          <a:xfrm>
            <a:off x="6841845" y="3048755"/>
            <a:ext cx="1052100" cy="3065100"/>
          </a:xfrm>
          <a:prstGeom prst="rect">
            <a:avLst/>
          </a:prstGeom>
          <a:solidFill>
            <a:srgbClr val="F4F6FA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7" name="Google Shape;3176;p52">
            <a:extLst>
              <a:ext uri="{FF2B5EF4-FFF2-40B4-BE49-F238E27FC236}">
                <a16:creationId xmlns:a16="http://schemas.microsoft.com/office/drawing/2014/main" id="{34C63442-1B16-460A-AFB3-8CFF782002E0}"/>
              </a:ext>
            </a:extLst>
          </p:cNvPr>
          <p:cNvSpPr/>
          <p:nvPr/>
        </p:nvSpPr>
        <p:spPr>
          <a:xfrm>
            <a:off x="6841844" y="2744249"/>
            <a:ext cx="1052100" cy="304500"/>
          </a:xfrm>
          <a:prstGeom prst="rect">
            <a:avLst/>
          </a:prstGeom>
          <a:solidFill>
            <a:srgbClr val="1F3864"/>
          </a:solidFill>
          <a:ln>
            <a:noFill/>
          </a:ln>
        </p:spPr>
        <p:txBody>
          <a:bodyPr spcFirstLastPara="1" wrap="square" lIns="109725" tIns="54850" rIns="109725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소스</a:t>
            </a:r>
            <a:endParaRPr sz="1000" b="1" i="0" u="none" strike="noStrike" cap="none">
              <a:solidFill>
                <a:srgbClr val="FFFFFF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8" name="Google Shape;3177;p52">
            <a:extLst>
              <a:ext uri="{FF2B5EF4-FFF2-40B4-BE49-F238E27FC236}">
                <a16:creationId xmlns:a16="http://schemas.microsoft.com/office/drawing/2014/main" id="{244A7B8B-AACD-28F6-3974-9A7F8707C017}"/>
              </a:ext>
            </a:extLst>
          </p:cNvPr>
          <p:cNvSpPr/>
          <p:nvPr/>
        </p:nvSpPr>
        <p:spPr>
          <a:xfrm>
            <a:off x="6925756" y="3136625"/>
            <a:ext cx="8844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소스</a:t>
            </a: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별 데이터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9" name="Google Shape;3178;p52">
            <a:extLst>
              <a:ext uri="{FF2B5EF4-FFF2-40B4-BE49-F238E27FC236}">
                <a16:creationId xmlns:a16="http://schemas.microsoft.com/office/drawing/2014/main" id="{95B1D476-D54F-736C-D63F-350550002971}"/>
              </a:ext>
            </a:extLst>
          </p:cNvPr>
          <p:cNvSpPr/>
          <p:nvPr/>
        </p:nvSpPr>
        <p:spPr>
          <a:xfrm>
            <a:off x="6925756" y="3427270"/>
            <a:ext cx="8844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AI허브</a:t>
            </a: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 데이터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1" name="Google Shape;3179;p52">
            <a:extLst>
              <a:ext uri="{FF2B5EF4-FFF2-40B4-BE49-F238E27FC236}">
                <a16:creationId xmlns:a16="http://schemas.microsoft.com/office/drawing/2014/main" id="{DE8ED73B-D412-36B1-5B08-8D2ADB1032F1}"/>
              </a:ext>
            </a:extLst>
          </p:cNvPr>
          <p:cNvSpPr/>
          <p:nvPr/>
        </p:nvSpPr>
        <p:spPr>
          <a:xfrm>
            <a:off x="6925756" y="3715137"/>
            <a:ext cx="8844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외부 공공</a:t>
            </a: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 데이터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2" name="Google Shape;3180;p52">
            <a:extLst>
              <a:ext uri="{FF2B5EF4-FFF2-40B4-BE49-F238E27FC236}">
                <a16:creationId xmlns:a16="http://schemas.microsoft.com/office/drawing/2014/main" id="{ED904358-EB78-B4D1-C40D-90C789BAC0C7}"/>
              </a:ext>
            </a:extLst>
          </p:cNvPr>
          <p:cNvSpPr/>
          <p:nvPr/>
        </p:nvSpPr>
        <p:spPr>
          <a:xfrm>
            <a:off x="6925756" y="4011470"/>
            <a:ext cx="8844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민간 마켓플레이스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3" name="Google Shape;3181;p52">
            <a:extLst>
              <a:ext uri="{FF2B5EF4-FFF2-40B4-BE49-F238E27FC236}">
                <a16:creationId xmlns:a16="http://schemas.microsoft.com/office/drawing/2014/main" id="{FE10FB01-7FC4-E451-8CFD-E2B02A5DBF6D}"/>
              </a:ext>
            </a:extLst>
          </p:cNvPr>
          <p:cNvSpPr/>
          <p:nvPr/>
        </p:nvSpPr>
        <p:spPr>
          <a:xfrm>
            <a:off x="8001778" y="3048755"/>
            <a:ext cx="3837900" cy="3065100"/>
          </a:xfrm>
          <a:prstGeom prst="rect">
            <a:avLst/>
          </a:prstGeom>
          <a:solidFill>
            <a:srgbClr val="F4F6FA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4" name="Google Shape;3182;p52">
            <a:extLst>
              <a:ext uri="{FF2B5EF4-FFF2-40B4-BE49-F238E27FC236}">
                <a16:creationId xmlns:a16="http://schemas.microsoft.com/office/drawing/2014/main" id="{8B97AF06-567C-867E-E2C6-795AF678538B}"/>
              </a:ext>
            </a:extLst>
          </p:cNvPr>
          <p:cNvSpPr/>
          <p:nvPr/>
        </p:nvSpPr>
        <p:spPr>
          <a:xfrm>
            <a:off x="8001777" y="2744249"/>
            <a:ext cx="3837900" cy="304500"/>
          </a:xfrm>
          <a:prstGeom prst="rect">
            <a:avLst/>
          </a:prstGeom>
          <a:solidFill>
            <a:srgbClr val="1F3864"/>
          </a:solidFill>
          <a:ln>
            <a:noFill/>
          </a:ln>
        </p:spPr>
        <p:txBody>
          <a:bodyPr spcFirstLastPara="1" wrap="square" lIns="109725" tIns="54850" rIns="109725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수집/변환/적재/연계</a:t>
            </a:r>
            <a:endParaRPr sz="1000" b="1" i="0" u="none" strike="noStrike" cap="none">
              <a:solidFill>
                <a:srgbClr val="FFFFFF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Google Shape;3183;p52">
            <a:extLst>
              <a:ext uri="{FF2B5EF4-FFF2-40B4-BE49-F238E27FC236}">
                <a16:creationId xmlns:a16="http://schemas.microsoft.com/office/drawing/2014/main" id="{13CA38EC-D568-DB6C-13AA-1389E49F2DEB}"/>
              </a:ext>
            </a:extLst>
          </p:cNvPr>
          <p:cNvSpPr/>
          <p:nvPr/>
        </p:nvSpPr>
        <p:spPr>
          <a:xfrm>
            <a:off x="11921844" y="3048755"/>
            <a:ext cx="1263900" cy="3065100"/>
          </a:xfrm>
          <a:prstGeom prst="rect">
            <a:avLst/>
          </a:prstGeom>
          <a:solidFill>
            <a:srgbClr val="F4F6FA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6" name="Google Shape;3184;p52">
            <a:extLst>
              <a:ext uri="{FF2B5EF4-FFF2-40B4-BE49-F238E27FC236}">
                <a16:creationId xmlns:a16="http://schemas.microsoft.com/office/drawing/2014/main" id="{57AB1095-9829-4868-84D8-9178651FC3B5}"/>
              </a:ext>
            </a:extLst>
          </p:cNvPr>
          <p:cNvSpPr/>
          <p:nvPr/>
        </p:nvSpPr>
        <p:spPr>
          <a:xfrm>
            <a:off x="11921844" y="2744249"/>
            <a:ext cx="1263900" cy="304500"/>
          </a:xfrm>
          <a:prstGeom prst="rect">
            <a:avLst/>
          </a:prstGeom>
          <a:solidFill>
            <a:srgbClr val="1F3864"/>
          </a:solidFill>
          <a:ln>
            <a:noFill/>
          </a:ln>
        </p:spPr>
        <p:txBody>
          <a:bodyPr spcFirstLastPara="1" wrap="square" lIns="109725" tIns="54850" rIns="109725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0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외부 연계</a:t>
            </a:r>
            <a:endParaRPr sz="1000" b="1" i="0" u="none" strike="noStrike" cap="none">
              <a:solidFill>
                <a:srgbClr val="FFFFFF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7" name="Google Shape;3185;p52">
            <a:extLst>
              <a:ext uri="{FF2B5EF4-FFF2-40B4-BE49-F238E27FC236}">
                <a16:creationId xmlns:a16="http://schemas.microsoft.com/office/drawing/2014/main" id="{48E501EE-660B-F145-EC51-4B1721CCEDA3}"/>
              </a:ext>
            </a:extLst>
          </p:cNvPr>
          <p:cNvSpPr/>
          <p:nvPr/>
        </p:nvSpPr>
        <p:spPr>
          <a:xfrm>
            <a:off x="8128023" y="3136625"/>
            <a:ext cx="10362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수집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8" name="Google Shape;3186;p52">
            <a:extLst>
              <a:ext uri="{FF2B5EF4-FFF2-40B4-BE49-F238E27FC236}">
                <a16:creationId xmlns:a16="http://schemas.microsoft.com/office/drawing/2014/main" id="{EFEEE3D9-516E-7AB6-0935-33DE26661B23}"/>
              </a:ext>
            </a:extLst>
          </p:cNvPr>
          <p:cNvSpPr/>
          <p:nvPr/>
        </p:nvSpPr>
        <p:spPr>
          <a:xfrm>
            <a:off x="8128022" y="3427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다운로드 정책 관리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9" name="Google Shape;3187;p52">
            <a:extLst>
              <a:ext uri="{FF2B5EF4-FFF2-40B4-BE49-F238E27FC236}">
                <a16:creationId xmlns:a16="http://schemas.microsoft.com/office/drawing/2014/main" id="{5632A96B-6040-5AD3-F5E7-7BDFFC3758F1}"/>
              </a:ext>
            </a:extLst>
          </p:cNvPr>
          <p:cNvSpPr/>
          <p:nvPr/>
        </p:nvSpPr>
        <p:spPr>
          <a:xfrm>
            <a:off x="8128022" y="3715136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부분/전체/이어받기/재시도 방식 지원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" name="Google Shape;3188;p52">
            <a:extLst>
              <a:ext uri="{FF2B5EF4-FFF2-40B4-BE49-F238E27FC236}">
                <a16:creationId xmlns:a16="http://schemas.microsoft.com/office/drawing/2014/main" id="{7CBD3E6C-6635-8CB3-462C-D63C4BBF05DF}"/>
              </a:ext>
            </a:extLst>
          </p:cNvPr>
          <p:cNvSpPr/>
          <p:nvPr/>
        </p:nvSpPr>
        <p:spPr>
          <a:xfrm>
            <a:off x="8128022" y="40114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압축· 해제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" name="Google Shape;3189;p52">
            <a:extLst>
              <a:ext uri="{FF2B5EF4-FFF2-40B4-BE49-F238E27FC236}">
                <a16:creationId xmlns:a16="http://schemas.microsoft.com/office/drawing/2014/main" id="{255A2A21-0E7A-D96E-A82D-9B1024EC2C03}"/>
              </a:ext>
            </a:extLst>
          </p:cNvPr>
          <p:cNvSpPr/>
          <p:nvPr/>
        </p:nvSpPr>
        <p:spPr>
          <a:xfrm>
            <a:off x="8128022" y="4307804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무결성 검증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2" name="Google Shape;3190;p52">
            <a:extLst>
              <a:ext uri="{FF2B5EF4-FFF2-40B4-BE49-F238E27FC236}">
                <a16:creationId xmlns:a16="http://schemas.microsoft.com/office/drawing/2014/main" id="{866131A6-E24F-CACF-A46B-2057E754DA64}"/>
              </a:ext>
            </a:extLst>
          </p:cNvPr>
          <p:cNvSpPr/>
          <p:nvPr/>
        </p:nvSpPr>
        <p:spPr>
          <a:xfrm>
            <a:off x="8128022" y="4595671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다운로드 이력 관리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3" name="Google Shape;3191;p52">
            <a:extLst>
              <a:ext uri="{FF2B5EF4-FFF2-40B4-BE49-F238E27FC236}">
                <a16:creationId xmlns:a16="http://schemas.microsoft.com/office/drawing/2014/main" id="{D096FD4C-F8CF-C1E1-F90D-24EE8BDBBC8E}"/>
              </a:ext>
            </a:extLst>
          </p:cNvPr>
          <p:cNvSpPr/>
          <p:nvPr/>
        </p:nvSpPr>
        <p:spPr>
          <a:xfrm>
            <a:off x="9389556" y="3136625"/>
            <a:ext cx="10362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가공/적재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44" name="Google Shape;3192;p52">
            <a:extLst>
              <a:ext uri="{FF2B5EF4-FFF2-40B4-BE49-F238E27FC236}">
                <a16:creationId xmlns:a16="http://schemas.microsoft.com/office/drawing/2014/main" id="{804C9663-1164-50AF-5E9D-316F3429DB9E}"/>
              </a:ext>
            </a:extLst>
          </p:cNvPr>
          <p:cNvCxnSpPr>
            <a:stCxn id="28" idx="3"/>
            <a:endCxn id="37" idx="1"/>
          </p:cNvCxnSpPr>
          <p:nvPr/>
        </p:nvCxnSpPr>
        <p:spPr>
          <a:xfrm>
            <a:off x="7810156" y="3270575"/>
            <a:ext cx="318000" cy="0"/>
          </a:xfrm>
          <a:prstGeom prst="straightConnector1">
            <a:avLst/>
          </a:prstGeom>
          <a:noFill/>
          <a:ln w="19050" cap="flat" cmpd="sng">
            <a:solidFill>
              <a:srgbClr val="002060"/>
            </a:solidFill>
            <a:prstDash val="solid"/>
            <a:miter lim="80"/>
            <a:headEnd type="none" w="sm" len="sm"/>
            <a:tailEnd type="triangle" w="med" len="med"/>
          </a:ln>
        </p:spPr>
      </p:cxnSp>
      <p:cxnSp>
        <p:nvCxnSpPr>
          <p:cNvPr id="45" name="Google Shape;3193;p52">
            <a:extLst>
              <a:ext uri="{FF2B5EF4-FFF2-40B4-BE49-F238E27FC236}">
                <a16:creationId xmlns:a16="http://schemas.microsoft.com/office/drawing/2014/main" id="{5A3251A2-5982-B95B-23DA-992321061ED9}"/>
              </a:ext>
            </a:extLst>
          </p:cNvPr>
          <p:cNvCxnSpPr>
            <a:stCxn id="37" idx="3"/>
            <a:endCxn id="43" idx="1"/>
          </p:cNvCxnSpPr>
          <p:nvPr/>
        </p:nvCxnSpPr>
        <p:spPr>
          <a:xfrm>
            <a:off x="9164223" y="3270575"/>
            <a:ext cx="225300" cy="0"/>
          </a:xfrm>
          <a:prstGeom prst="straightConnector1">
            <a:avLst/>
          </a:prstGeom>
          <a:noFill/>
          <a:ln w="19050" cap="flat" cmpd="sng">
            <a:solidFill>
              <a:srgbClr val="002060"/>
            </a:solidFill>
            <a:prstDash val="solid"/>
            <a:miter lim="80"/>
            <a:headEnd type="none" w="sm" len="sm"/>
            <a:tailEnd type="triangle" w="med" len="med"/>
          </a:ln>
        </p:spPr>
      </p:cxnSp>
      <p:sp>
        <p:nvSpPr>
          <p:cNvPr id="46" name="Google Shape;3194;p52">
            <a:extLst>
              <a:ext uri="{FF2B5EF4-FFF2-40B4-BE49-F238E27FC236}">
                <a16:creationId xmlns:a16="http://schemas.microsoft.com/office/drawing/2014/main" id="{D200296C-13F6-BF2F-FB4A-6B8470FB3EA0}"/>
              </a:ext>
            </a:extLst>
          </p:cNvPr>
          <p:cNvSpPr/>
          <p:nvPr/>
        </p:nvSpPr>
        <p:spPr>
          <a:xfrm>
            <a:off x="9406488" y="3427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정형/</a:t>
            </a: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비정형</a:t>
            </a: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 데이터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7" name="Google Shape;3195;p52">
            <a:extLst>
              <a:ext uri="{FF2B5EF4-FFF2-40B4-BE49-F238E27FC236}">
                <a16:creationId xmlns:a16="http://schemas.microsoft.com/office/drawing/2014/main" id="{C1C9250D-DBBF-8D0B-894C-CF4121FE302C}"/>
              </a:ext>
            </a:extLst>
          </p:cNvPr>
          <p:cNvSpPr/>
          <p:nvPr/>
        </p:nvSpPr>
        <p:spPr>
          <a:xfrm>
            <a:off x="9406488" y="3723604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8" name="Google Shape;3196;p52">
            <a:extLst>
              <a:ext uri="{FF2B5EF4-FFF2-40B4-BE49-F238E27FC236}">
                <a16:creationId xmlns:a16="http://schemas.microsoft.com/office/drawing/2014/main" id="{8D7DC609-E266-F60E-C9AC-053E826F23F0}"/>
              </a:ext>
            </a:extLst>
          </p:cNvPr>
          <p:cNvSpPr/>
          <p:nvPr/>
        </p:nvSpPr>
        <p:spPr>
          <a:xfrm>
            <a:off x="9939888" y="3723604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영상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" name="Google Shape;3197;p52">
            <a:extLst>
              <a:ext uri="{FF2B5EF4-FFF2-40B4-BE49-F238E27FC236}">
                <a16:creationId xmlns:a16="http://schemas.microsoft.com/office/drawing/2014/main" id="{7110CFB9-F5ED-4243-A1CC-1A5027A7F669}"/>
              </a:ext>
            </a:extLst>
          </p:cNvPr>
          <p:cNvSpPr/>
          <p:nvPr/>
        </p:nvSpPr>
        <p:spPr>
          <a:xfrm>
            <a:off x="9406488" y="4019936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운영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0" name="Google Shape;3198;p52">
            <a:extLst>
              <a:ext uri="{FF2B5EF4-FFF2-40B4-BE49-F238E27FC236}">
                <a16:creationId xmlns:a16="http://schemas.microsoft.com/office/drawing/2014/main" id="{9B246FB3-09A7-12DB-A2FB-9C29649564BC}"/>
              </a:ext>
            </a:extLst>
          </p:cNvPr>
          <p:cNvSpPr/>
          <p:nvPr/>
        </p:nvSpPr>
        <p:spPr>
          <a:xfrm>
            <a:off x="9939888" y="4019936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이력/로그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1" name="Google Shape;3199;p52">
            <a:extLst>
              <a:ext uri="{FF2B5EF4-FFF2-40B4-BE49-F238E27FC236}">
                <a16:creationId xmlns:a16="http://schemas.microsoft.com/office/drawing/2014/main" id="{D5A77F3C-8FD5-42E8-FEAB-827F32C859D5}"/>
              </a:ext>
            </a:extLst>
          </p:cNvPr>
          <p:cNvSpPr/>
          <p:nvPr/>
        </p:nvSpPr>
        <p:spPr>
          <a:xfrm>
            <a:off x="9406488" y="4316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통합형 메타데이터</a:t>
            </a:r>
            <a:endParaRPr/>
          </a:p>
        </p:txBody>
      </p:sp>
      <p:sp>
        <p:nvSpPr>
          <p:cNvPr id="53" name="Google Shape;3200;p52">
            <a:extLst>
              <a:ext uri="{FF2B5EF4-FFF2-40B4-BE49-F238E27FC236}">
                <a16:creationId xmlns:a16="http://schemas.microsoft.com/office/drawing/2014/main" id="{06DA8F43-9AEF-C9BB-F08A-333B949A9277}"/>
              </a:ext>
            </a:extLst>
          </p:cNvPr>
          <p:cNvSpPr/>
          <p:nvPr/>
        </p:nvSpPr>
        <p:spPr>
          <a:xfrm>
            <a:off x="9406488" y="4612603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통합형 데이터베이스</a:t>
            </a:r>
            <a:endParaRPr/>
          </a:p>
        </p:txBody>
      </p:sp>
      <p:sp>
        <p:nvSpPr>
          <p:cNvPr id="54" name="Google Shape;3201;p52">
            <a:extLst>
              <a:ext uri="{FF2B5EF4-FFF2-40B4-BE49-F238E27FC236}">
                <a16:creationId xmlns:a16="http://schemas.microsoft.com/office/drawing/2014/main" id="{69616CEA-3756-85AF-834F-1607D8BC73A7}"/>
              </a:ext>
            </a:extLst>
          </p:cNvPr>
          <p:cNvSpPr/>
          <p:nvPr/>
        </p:nvSpPr>
        <p:spPr>
          <a:xfrm>
            <a:off x="9406488" y="4908937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DataLake 구축</a:t>
            </a:r>
            <a:endParaRPr/>
          </a:p>
        </p:txBody>
      </p:sp>
      <p:sp>
        <p:nvSpPr>
          <p:cNvPr id="55" name="Google Shape;3202;p52">
            <a:extLst>
              <a:ext uri="{FF2B5EF4-FFF2-40B4-BE49-F238E27FC236}">
                <a16:creationId xmlns:a16="http://schemas.microsoft.com/office/drawing/2014/main" id="{145ADA24-2FE5-A2E6-E128-8F9DC0DDC493}"/>
              </a:ext>
            </a:extLst>
          </p:cNvPr>
          <p:cNvSpPr/>
          <p:nvPr/>
        </p:nvSpPr>
        <p:spPr>
          <a:xfrm>
            <a:off x="10668023" y="3136625"/>
            <a:ext cx="10362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활용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56" name="Google Shape;3203;p52">
            <a:extLst>
              <a:ext uri="{FF2B5EF4-FFF2-40B4-BE49-F238E27FC236}">
                <a16:creationId xmlns:a16="http://schemas.microsoft.com/office/drawing/2014/main" id="{CE5DA13B-8C01-CDBA-CB8C-662520F5DB10}"/>
              </a:ext>
            </a:extLst>
          </p:cNvPr>
          <p:cNvCxnSpPr/>
          <p:nvPr/>
        </p:nvCxnSpPr>
        <p:spPr>
          <a:xfrm>
            <a:off x="10434073" y="3270638"/>
            <a:ext cx="225600" cy="0"/>
          </a:xfrm>
          <a:prstGeom prst="straightConnector1">
            <a:avLst/>
          </a:prstGeom>
          <a:noFill/>
          <a:ln w="19050" cap="flat" cmpd="sng">
            <a:solidFill>
              <a:srgbClr val="002060"/>
            </a:solidFill>
            <a:prstDash val="solid"/>
            <a:miter lim="80"/>
            <a:headEnd type="none" w="sm" len="sm"/>
            <a:tailEnd type="triangle" w="med" len="med"/>
          </a:ln>
        </p:spPr>
      </p:cxnSp>
      <p:sp>
        <p:nvSpPr>
          <p:cNvPr id="57" name="Google Shape;3204;p52">
            <a:extLst>
              <a:ext uri="{FF2B5EF4-FFF2-40B4-BE49-F238E27FC236}">
                <a16:creationId xmlns:a16="http://schemas.microsoft.com/office/drawing/2014/main" id="{A846DC37-C83F-65DB-BBF2-DCEFFE29D303}"/>
              </a:ext>
            </a:extLst>
          </p:cNvPr>
          <p:cNvSpPr/>
          <p:nvPr/>
        </p:nvSpPr>
        <p:spPr>
          <a:xfrm>
            <a:off x="10668021" y="3427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활용 도구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8" name="Google Shape;3205;p52">
            <a:extLst>
              <a:ext uri="{FF2B5EF4-FFF2-40B4-BE49-F238E27FC236}">
                <a16:creationId xmlns:a16="http://schemas.microsoft.com/office/drawing/2014/main" id="{15F0CB83-EF24-BCAB-157A-8563DB5F4F7B}"/>
              </a:ext>
            </a:extLst>
          </p:cNvPr>
          <p:cNvSpPr/>
          <p:nvPr/>
        </p:nvSpPr>
        <p:spPr>
          <a:xfrm>
            <a:off x="10668021" y="3723603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머신리더블 연계 서비스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9" name="Google Shape;3206;p52">
            <a:extLst>
              <a:ext uri="{FF2B5EF4-FFF2-40B4-BE49-F238E27FC236}">
                <a16:creationId xmlns:a16="http://schemas.microsoft.com/office/drawing/2014/main" id="{CF0C0C94-0888-DED6-19B1-C128CC2DD65B}"/>
              </a:ext>
            </a:extLst>
          </p:cNvPr>
          <p:cNvSpPr/>
          <p:nvPr/>
        </p:nvSpPr>
        <p:spPr>
          <a:xfrm>
            <a:off x="10668021" y="40114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다운로그형/API형 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제공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0" name="Google Shape;3207;p52">
            <a:extLst>
              <a:ext uri="{FF2B5EF4-FFF2-40B4-BE49-F238E27FC236}">
                <a16:creationId xmlns:a16="http://schemas.microsoft.com/office/drawing/2014/main" id="{07FA680D-9B92-2017-C031-BD3B5032CC9F}"/>
              </a:ext>
            </a:extLst>
          </p:cNvPr>
          <p:cNvSpPr/>
          <p:nvPr/>
        </p:nvSpPr>
        <p:spPr>
          <a:xfrm>
            <a:off x="10668021" y="4316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표준 연계 인터페이스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1" name="Google Shape;3208;p52">
            <a:extLst>
              <a:ext uri="{FF2B5EF4-FFF2-40B4-BE49-F238E27FC236}">
                <a16:creationId xmlns:a16="http://schemas.microsoft.com/office/drawing/2014/main" id="{FCCB833B-8B2D-6C0B-0327-21F938B0D764}"/>
              </a:ext>
            </a:extLst>
          </p:cNvPr>
          <p:cNvSpPr/>
          <p:nvPr/>
        </p:nvSpPr>
        <p:spPr>
          <a:xfrm>
            <a:off x="12014223" y="3136625"/>
            <a:ext cx="10362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서비스 연계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2" name="Google Shape;3209;p52">
            <a:extLst>
              <a:ext uri="{FF2B5EF4-FFF2-40B4-BE49-F238E27FC236}">
                <a16:creationId xmlns:a16="http://schemas.microsoft.com/office/drawing/2014/main" id="{F23E0738-7D06-D191-1029-9090D58260B2}"/>
              </a:ext>
            </a:extLst>
          </p:cNvPr>
          <p:cNvSpPr/>
          <p:nvPr/>
        </p:nvSpPr>
        <p:spPr>
          <a:xfrm>
            <a:off x="12014221" y="3427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시스템간 연동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63" name="Google Shape;3210;p52">
            <a:extLst>
              <a:ext uri="{FF2B5EF4-FFF2-40B4-BE49-F238E27FC236}">
                <a16:creationId xmlns:a16="http://schemas.microsoft.com/office/drawing/2014/main" id="{E6A7BF23-1823-4CB0-31FE-848DCE328914}"/>
              </a:ext>
            </a:extLst>
          </p:cNvPr>
          <p:cNvCxnSpPr>
            <a:endCxn id="61" idx="1"/>
          </p:cNvCxnSpPr>
          <p:nvPr/>
        </p:nvCxnSpPr>
        <p:spPr>
          <a:xfrm>
            <a:off x="11695623" y="3270575"/>
            <a:ext cx="318600" cy="0"/>
          </a:xfrm>
          <a:prstGeom prst="straightConnector1">
            <a:avLst/>
          </a:prstGeom>
          <a:noFill/>
          <a:ln w="19050" cap="flat" cmpd="sng">
            <a:solidFill>
              <a:srgbClr val="002060"/>
            </a:solidFill>
            <a:prstDash val="solid"/>
            <a:miter lim="80"/>
            <a:headEnd type="none" w="sm" len="sm"/>
            <a:tailEnd type="triangle" w="med" len="med"/>
          </a:ln>
        </p:spPr>
      </p:cxnSp>
      <p:sp>
        <p:nvSpPr>
          <p:cNvPr id="64" name="Google Shape;3211;p52">
            <a:extLst>
              <a:ext uri="{FF2B5EF4-FFF2-40B4-BE49-F238E27FC236}">
                <a16:creationId xmlns:a16="http://schemas.microsoft.com/office/drawing/2014/main" id="{D7D87EDB-4CFF-8939-D309-CB34766C1B99}"/>
              </a:ext>
            </a:extLst>
          </p:cNvPr>
          <p:cNvSpPr/>
          <p:nvPr/>
        </p:nvSpPr>
        <p:spPr>
          <a:xfrm>
            <a:off x="12014221" y="37320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머신리더블 에이전트 서비스 연계 </a:t>
            </a:r>
            <a:endParaRPr/>
          </a:p>
        </p:txBody>
      </p:sp>
      <p:sp>
        <p:nvSpPr>
          <p:cNvPr id="65" name="Google Shape;3212;p52">
            <a:extLst>
              <a:ext uri="{FF2B5EF4-FFF2-40B4-BE49-F238E27FC236}">
                <a16:creationId xmlns:a16="http://schemas.microsoft.com/office/drawing/2014/main" id="{078D3286-4B5C-8B86-7513-9E9C0644335C}"/>
              </a:ext>
            </a:extLst>
          </p:cNvPr>
          <p:cNvSpPr/>
          <p:nvPr/>
        </p:nvSpPr>
        <p:spPr>
          <a:xfrm>
            <a:off x="12014221" y="4019937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REST </a:t>
            </a: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API 호출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6" name="Google Shape;3213;p52">
            <a:extLst>
              <a:ext uri="{FF2B5EF4-FFF2-40B4-BE49-F238E27FC236}">
                <a16:creationId xmlns:a16="http://schemas.microsoft.com/office/drawing/2014/main" id="{4A717490-8A45-DD54-82E9-E670B8B75A5D}"/>
              </a:ext>
            </a:extLst>
          </p:cNvPr>
          <p:cNvSpPr/>
          <p:nvPr/>
        </p:nvSpPr>
        <p:spPr>
          <a:xfrm>
            <a:off x="10668023" y="4686025"/>
            <a:ext cx="10362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검색/추천/통계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7" name="Google Shape;3214;p52">
            <a:extLst>
              <a:ext uri="{FF2B5EF4-FFF2-40B4-BE49-F238E27FC236}">
                <a16:creationId xmlns:a16="http://schemas.microsoft.com/office/drawing/2014/main" id="{675067F1-6F04-E0F4-A89F-4F827643F5A2}"/>
              </a:ext>
            </a:extLst>
          </p:cNvPr>
          <p:cNvSpPr/>
          <p:nvPr/>
        </p:nvSpPr>
        <p:spPr>
          <a:xfrm>
            <a:off x="10668021" y="49766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지능형 검색 지원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8" name="Google Shape;3215;p52">
            <a:extLst>
              <a:ext uri="{FF2B5EF4-FFF2-40B4-BE49-F238E27FC236}">
                <a16:creationId xmlns:a16="http://schemas.microsoft.com/office/drawing/2014/main" id="{250D1DB3-F094-2A4E-CEE1-BA0CBBC3AB65}"/>
              </a:ext>
            </a:extLst>
          </p:cNvPr>
          <p:cNvSpPr/>
          <p:nvPr/>
        </p:nvSpPr>
        <p:spPr>
          <a:xfrm>
            <a:off x="10668021" y="5265991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색인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9" name="Google Shape;3216;p52">
            <a:extLst>
              <a:ext uri="{FF2B5EF4-FFF2-40B4-BE49-F238E27FC236}">
                <a16:creationId xmlns:a16="http://schemas.microsoft.com/office/drawing/2014/main" id="{AB5B1D04-66BE-6DC1-3F57-F62C789B0128}"/>
              </a:ext>
            </a:extLst>
          </p:cNvPr>
          <p:cNvSpPr/>
          <p:nvPr/>
        </p:nvSpPr>
        <p:spPr>
          <a:xfrm>
            <a:off x="11201421" y="5265991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벡터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0" name="Google Shape;3217;p52">
            <a:extLst>
              <a:ext uri="{FF2B5EF4-FFF2-40B4-BE49-F238E27FC236}">
                <a16:creationId xmlns:a16="http://schemas.microsoft.com/office/drawing/2014/main" id="{29C916C7-7DC8-D331-BEB9-6243BC7EB0E8}"/>
              </a:ext>
            </a:extLst>
          </p:cNvPr>
          <p:cNvSpPr/>
          <p:nvPr/>
        </p:nvSpPr>
        <p:spPr>
          <a:xfrm>
            <a:off x="10668021" y="5562324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추천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2" name="Google Shape;3218;p52">
            <a:extLst>
              <a:ext uri="{FF2B5EF4-FFF2-40B4-BE49-F238E27FC236}">
                <a16:creationId xmlns:a16="http://schemas.microsoft.com/office/drawing/2014/main" id="{6F91872F-8012-FAC9-B95A-458EEF39EEFC}"/>
              </a:ext>
            </a:extLst>
          </p:cNvPr>
          <p:cNvSpPr/>
          <p:nvPr/>
        </p:nvSpPr>
        <p:spPr>
          <a:xfrm>
            <a:off x="11201421" y="5562324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통계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3" name="Google Shape;3219;p52">
            <a:extLst>
              <a:ext uri="{FF2B5EF4-FFF2-40B4-BE49-F238E27FC236}">
                <a16:creationId xmlns:a16="http://schemas.microsoft.com/office/drawing/2014/main" id="{C8DD8010-B12F-40D6-8490-9DA627778F62}"/>
              </a:ext>
            </a:extLst>
          </p:cNvPr>
          <p:cNvSpPr/>
          <p:nvPr/>
        </p:nvSpPr>
        <p:spPr>
          <a:xfrm>
            <a:off x="12014221" y="4316270"/>
            <a:ext cx="10362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 i="0" u="none" strike="noStrike" cap="none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MCP Server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75" name="Google Shape;3220;p52">
            <a:extLst>
              <a:ext uri="{FF2B5EF4-FFF2-40B4-BE49-F238E27FC236}">
                <a16:creationId xmlns:a16="http://schemas.microsoft.com/office/drawing/2014/main" id="{545F1AA9-4CD5-10E3-D038-EE356DACCBEA}"/>
              </a:ext>
            </a:extLst>
          </p:cNvPr>
          <p:cNvCxnSpPr>
            <a:stCxn id="54" idx="3"/>
          </p:cNvCxnSpPr>
          <p:nvPr/>
        </p:nvCxnSpPr>
        <p:spPr>
          <a:xfrm rot="10800000" flipH="1">
            <a:off x="10442688" y="4766587"/>
            <a:ext cx="317100" cy="276300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rgbClr val="002060"/>
            </a:solidFill>
            <a:prstDash val="solid"/>
            <a:miter lim="80"/>
            <a:headEnd type="none" w="sm" len="sm"/>
            <a:tailEnd type="triangle" w="med" len="med"/>
          </a:ln>
        </p:spPr>
      </p:cxnSp>
      <p:sp>
        <p:nvSpPr>
          <p:cNvPr id="76" name="Google Shape;3221;p52">
            <a:extLst>
              <a:ext uri="{FF2B5EF4-FFF2-40B4-BE49-F238E27FC236}">
                <a16:creationId xmlns:a16="http://schemas.microsoft.com/office/drawing/2014/main" id="{A4E2204C-4C8F-CCD3-58D6-9B6297163EBB}"/>
              </a:ext>
            </a:extLst>
          </p:cNvPr>
          <p:cNvSpPr/>
          <p:nvPr/>
        </p:nvSpPr>
        <p:spPr>
          <a:xfrm>
            <a:off x="9389556" y="5209265"/>
            <a:ext cx="1036200" cy="267900"/>
          </a:xfrm>
          <a:prstGeom prst="rect">
            <a:avLst/>
          </a:prstGeom>
          <a:solidFill>
            <a:srgbClr val="E7E6E6"/>
          </a:solidFill>
          <a:ln w="9525" cap="flat" cmpd="sng">
            <a:solidFill>
              <a:srgbClr val="E7E6E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데이터 카탈로그 관리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7" name="Google Shape;3222;p52">
            <a:extLst>
              <a:ext uri="{FF2B5EF4-FFF2-40B4-BE49-F238E27FC236}">
                <a16:creationId xmlns:a16="http://schemas.microsoft.com/office/drawing/2014/main" id="{6CAEEF91-2A43-FAB6-FD7E-A51B625B247B}"/>
              </a:ext>
            </a:extLst>
          </p:cNvPr>
          <p:cNvSpPr/>
          <p:nvPr/>
        </p:nvSpPr>
        <p:spPr>
          <a:xfrm>
            <a:off x="9403101" y="5524224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카탈로그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8" name="Google Shape;3223;p52">
            <a:extLst>
              <a:ext uri="{FF2B5EF4-FFF2-40B4-BE49-F238E27FC236}">
                <a16:creationId xmlns:a16="http://schemas.microsoft.com/office/drawing/2014/main" id="{60FBC054-F439-CF51-5472-20F3819F1D67}"/>
              </a:ext>
            </a:extLst>
          </p:cNvPr>
          <p:cNvSpPr/>
          <p:nvPr/>
        </p:nvSpPr>
        <p:spPr>
          <a:xfrm>
            <a:off x="9936501" y="5524224"/>
            <a:ext cx="494100" cy="267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C9D3E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45700" tIns="54850" rIns="45700" bIns="548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1">
                <a:solidFill>
                  <a:srgbClr val="333333"/>
                </a:solidFill>
                <a:latin typeface="Malgun Gothic"/>
                <a:ea typeface="Malgun Gothic"/>
                <a:cs typeface="Malgun Gothic"/>
                <a:sym typeface="Malgun Gothic"/>
              </a:rPr>
              <a:t>메타</a:t>
            </a:r>
            <a:endParaRPr sz="700" b="1" i="0" u="none" strike="noStrike" cap="none">
              <a:solidFill>
                <a:srgbClr val="333333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421456683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EEDF9-EF4A-6221-44EA-90777EB891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41EFB12-729B-CD9F-5B52-D55710FE581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D2940B9-8697-286D-5AE1-570BB828EA4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438ED6B-151E-88E2-9F28-D2DE6E4EF7F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상태 식별자 연계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6008AE2-045F-4BFE-CA5B-5660A4EC194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3101A62-D526-173A-7479-0F89D3CF8F6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추적 체계 구현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기준정보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코드체계로 정의한 상태 식별자를 데이터셋 등록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전 생애주기와 통합 메타데이터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 조회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(DR-014·FR-005)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일관 연계하여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단일 코드체계 기반의 상태 추적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CFB9332-C919-CBBF-C8FA-C28230893CE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5ED9665-8B87-FB1C-8BE7-EB6381D0D315}"/>
              </a:ext>
            </a:extLst>
          </p:cNvPr>
          <p:cNvSpPr txBox="1"/>
          <p:nvPr/>
        </p:nvSpPr>
        <p:spPr>
          <a:xfrm>
            <a:off x="335011" y="2371141"/>
            <a:ext cx="3932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단일 코드 체계 기반 상태 추적 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8F4BBAE-324F-980B-96EB-567CB3D45B5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FR-005, DR-014</a:t>
            </a:r>
          </a:p>
        </p:txBody>
      </p:sp>
      <p:sp>
        <p:nvSpPr>
          <p:cNvPr id="7" name="모서리가 둥근 직사각형 222">
            <a:extLst>
              <a:ext uri="{FF2B5EF4-FFF2-40B4-BE49-F238E27FC236}">
                <a16:creationId xmlns:a16="http://schemas.microsoft.com/office/drawing/2014/main" id="{94D00FBC-1D03-5E0B-9EB3-E41A55E63F5E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9598124-A7D6-1035-2DB4-E0FC4B2E4921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데이터셋의 상태를 시스템 전반에서 일관되게 식별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추적하기 위해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기준정보로 정의한 상태 식별자를 생애주기 전 단계와 메타데이터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 조회에 연계함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(FR-005·DR-014)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상태값을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기능별로 개별 정의하지 않고 단일 코드체계로 통일하여 불일치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중복을 제거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기준정보 변경 시 관련 기능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현황에 자동 반영되도록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98743A1-7206-06DC-4DF0-2AE7D0A5C7AF}"/>
              </a:ext>
            </a:extLst>
          </p:cNvPr>
          <p:cNvSpPr/>
          <p:nvPr/>
        </p:nvSpPr>
        <p:spPr>
          <a:xfrm>
            <a:off x="316309" y="3728014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기준정보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코드체계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운영에 필요한 기준정보와 코드체계를 등록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조회하고 상태 식별자를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마스터정보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출처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라벨링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생성 방식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 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보안등급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상태값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처리단계 등 공통 코드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분류체계 관리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적용 범위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 여부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유효기간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이력 관리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 권한별 생성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E88AE1A8-FA6F-E5A0-63A2-C4BD4A8ADC15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사각형: 둥근 위쪽 모서리 18">
            <a:extLst>
              <a:ext uri="{FF2B5EF4-FFF2-40B4-BE49-F238E27FC236}">
                <a16:creationId xmlns:a16="http://schemas.microsoft.com/office/drawing/2014/main" id="{B84C843B-0383-1DA3-523F-8D898D158941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기준정보 정의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98A19DC-13E6-2DF2-F3B1-0D2D67022A43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위쪽 모서리 20">
            <a:extLst>
              <a:ext uri="{FF2B5EF4-FFF2-40B4-BE49-F238E27FC236}">
                <a16:creationId xmlns:a16="http://schemas.microsoft.com/office/drawing/2014/main" id="{EDC4131A-14DC-8652-783B-6B1176A657BE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생애주기 부여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ECE2CAD1-E58E-DDBD-90F8-D5079B62F387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위쪽 모서리 23">
            <a:extLst>
              <a:ext uri="{FF2B5EF4-FFF2-40B4-BE49-F238E27FC236}">
                <a16:creationId xmlns:a16="http://schemas.microsoft.com/office/drawing/2014/main" id="{337DC7CC-79B8-DE85-C1ED-9DC34862A3F7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메타 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D97208FA-0317-A428-C722-F216536BD0F5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위쪽 모서리 25">
            <a:extLst>
              <a:ext uri="{FF2B5EF4-FFF2-40B4-BE49-F238E27FC236}">
                <a16:creationId xmlns:a16="http://schemas.microsoft.com/office/drawing/2014/main" id="{025D1CF5-A5E2-2C4B-CA03-ED63B8582386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현황 조회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AEE8E8E7-5B03-51D3-CE08-7ADED1BACA29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이등변 삼각형 27">
            <a:extLst>
              <a:ext uri="{FF2B5EF4-FFF2-40B4-BE49-F238E27FC236}">
                <a16:creationId xmlns:a16="http://schemas.microsoft.com/office/drawing/2014/main" id="{73B19BAE-7AED-A6A0-3580-42CAC9760FE7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이등변 삼각형 28">
            <a:extLst>
              <a:ext uri="{FF2B5EF4-FFF2-40B4-BE49-F238E27FC236}">
                <a16:creationId xmlns:a16="http://schemas.microsoft.com/office/drawing/2014/main" id="{08245F3D-B198-DC72-14DA-A7AADF808BE5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이등변 삼각형 30">
            <a:extLst>
              <a:ext uri="{FF2B5EF4-FFF2-40B4-BE49-F238E27FC236}">
                <a16:creationId xmlns:a16="http://schemas.microsoft.com/office/drawing/2014/main" id="{058079ED-57BE-9654-7F96-C7A9E7FA9B23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이등변 삼각형 31">
            <a:extLst>
              <a:ext uri="{FF2B5EF4-FFF2-40B4-BE49-F238E27FC236}">
                <a16:creationId xmlns:a16="http://schemas.microsoft.com/office/drawing/2014/main" id="{7F0EF0D0-E174-EC76-B456-89FE672094B6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이등변 삼각형 32">
            <a:extLst>
              <a:ext uri="{FF2B5EF4-FFF2-40B4-BE49-F238E27FC236}">
                <a16:creationId xmlns:a16="http://schemas.microsoft.com/office/drawing/2014/main" id="{76BD6D44-F730-D939-FAEE-B37213265226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FF67C52-D141-6A2E-38A6-5B9FC6562E10}"/>
              </a:ext>
            </a:extLst>
          </p:cNvPr>
          <p:cNvSpPr txBox="1"/>
          <p:nvPr/>
        </p:nvSpPr>
        <p:spPr>
          <a:xfrm>
            <a:off x="34285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상태값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코드체계 표준화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49BEF84-A38F-3C6A-028C-3D17E66F634E}"/>
              </a:ext>
            </a:extLst>
          </p:cNvPr>
          <p:cNvSpPr txBox="1"/>
          <p:nvPr/>
        </p:nvSpPr>
        <p:spPr>
          <a:xfrm>
            <a:off x="192346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~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폐기 단계별 상태 부여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784BAA9-1487-23D7-6B9D-048B01260813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 메타모델 표준 필드 연계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C30BDC1-BB13-21C6-902E-69D7D36190AA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상태별 현황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통계 조회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F66D7D8-42C9-B29B-EFAB-A9A38A794C89}"/>
              </a:ext>
            </a:extLst>
          </p:cNvPr>
          <p:cNvSpPr/>
          <p:nvPr/>
        </p:nvSpPr>
        <p:spPr>
          <a:xfrm>
            <a:off x="316309" y="5077203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생애주기 상태 식별자 부여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등록→검수→승인→개방→갱신→폐기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전 단계에 상태 식별자를 일관 부여하여 진행 상태를 추적함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단계 전환 시 상태 식별자를 갱신하고 전환 이력을 기록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3FB82D9-1CB4-5BA3-9D1A-44DABE0A5212}"/>
              </a:ext>
            </a:extLst>
          </p:cNvPr>
          <p:cNvSpPr/>
          <p:nvPr/>
        </p:nvSpPr>
        <p:spPr>
          <a:xfrm>
            <a:off x="316309" y="593106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 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식별자를 통합 메타모델의 표준 필드로 포함하여 등록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정보와 함께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메타모델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설명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원천출처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이용조건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폐기여부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계보 정보를 통합하여 검색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 필드와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29E85C27-6F4C-DE51-DED3-506D1123CAF4}"/>
              </a:ext>
            </a:extLst>
          </p:cNvPr>
          <p:cNvSpPr/>
          <p:nvPr/>
        </p:nvSpPr>
        <p:spPr>
          <a:xfrm>
            <a:off x="316309" y="7024253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현황관리 조회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식별자를 기준으로 데이터셋별 단계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제공현황을 통합 조회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통계화함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 데이터셋 수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분포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현황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 현황을 조건별 검색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필터링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3A45F7C-99A2-0146-8A6C-6360438F16D0}"/>
              </a:ext>
            </a:extLst>
          </p:cNvPr>
          <p:cNvSpPr/>
          <p:nvPr/>
        </p:nvSpPr>
        <p:spPr>
          <a:xfrm>
            <a:off x="316309" y="793302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기준정보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코드체계표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전이 정의서로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기반 기능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(2.1.2)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8" name="Google Shape;3028;p49">
            <a:extLst>
              <a:ext uri="{FF2B5EF4-FFF2-40B4-BE49-F238E27FC236}">
                <a16:creationId xmlns:a16="http://schemas.microsoft.com/office/drawing/2014/main" id="{BD744507-C13D-1E8A-AB73-96DEF2D12D82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1659460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DF842-1EE1-0034-B337-1A6FE00E4F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A1071A3-5046-F897-96FF-27D9DDB2D9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F1DF868-0881-9728-A7BD-7AB942C4C02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36D6C17-4E9B-9F74-64B5-EB21D313F7E4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상태 식별자 연계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422415A-FD9D-9DD2-521F-C2693DF71A1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등록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7A578BF-B484-7B67-740E-181DE07B4E2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구조 예시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기준정보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코드체계로 정의한 단일 상태 식별자를 데이터셋의 생애주기 전 단계와 메타데이터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현황관리에 연계해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불일치 없는 통합 추적 체계를 구현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FB3C94E-2ADC-00A7-9C71-5DFD6958339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51645F4-D95D-C27D-2D51-B8BCEFF173BB}"/>
              </a:ext>
            </a:extLst>
          </p:cNvPr>
          <p:cNvSpPr txBox="1"/>
          <p:nvPr/>
        </p:nvSpPr>
        <p:spPr>
          <a:xfrm>
            <a:off x="335011" y="2371141"/>
            <a:ext cx="3932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단일 코드 체계 기반 상태 추적 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845B08-E930-FF3B-9BEF-0E04C568283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FR-005, DR-014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AD3F0D4C-6BC9-B9C1-BFCD-4087751FA51F}"/>
              </a:ext>
            </a:extLst>
          </p:cNvPr>
          <p:cNvSpPr/>
          <p:nvPr/>
        </p:nvSpPr>
        <p:spPr bwMode="gray">
          <a:xfrm>
            <a:off x="258881" y="2666394"/>
            <a:ext cx="6331426" cy="450910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07D850-D7D6-17C6-A93F-FD60B0E3D5C8}"/>
              </a:ext>
            </a:extLst>
          </p:cNvPr>
          <p:cNvSpPr/>
          <p:nvPr/>
        </p:nvSpPr>
        <p:spPr>
          <a:xfrm>
            <a:off x="312925" y="2785020"/>
            <a:ext cx="6221225" cy="912780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F94BBAE-0C5D-7AB9-19DC-2707B1A0473E}"/>
              </a:ext>
            </a:extLst>
          </p:cNvPr>
          <p:cNvSpPr/>
          <p:nvPr/>
        </p:nvSpPr>
        <p:spPr>
          <a:xfrm>
            <a:off x="312925" y="3945796"/>
            <a:ext cx="6221225" cy="994259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사각형: 둥근 위쪽 모서리 15">
            <a:extLst>
              <a:ext uri="{FF2B5EF4-FFF2-40B4-BE49-F238E27FC236}">
                <a16:creationId xmlns:a16="http://schemas.microsoft.com/office/drawing/2014/main" id="{7318EEF0-CE40-431F-24BE-9FDB74372F28}"/>
              </a:ext>
            </a:extLst>
          </p:cNvPr>
          <p:cNvSpPr/>
          <p:nvPr/>
        </p:nvSpPr>
        <p:spPr>
          <a:xfrm>
            <a:off x="306574" y="2763919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기준정보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코드체계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(FR-005)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사각형: 둥근 위쪽 모서리 16">
            <a:extLst>
              <a:ext uri="{FF2B5EF4-FFF2-40B4-BE49-F238E27FC236}">
                <a16:creationId xmlns:a16="http://schemas.microsoft.com/office/drawing/2014/main" id="{E0C93399-D6CF-D95A-46BC-DB249D974969}"/>
              </a:ext>
            </a:extLst>
          </p:cNvPr>
          <p:cNvSpPr/>
          <p:nvPr/>
        </p:nvSpPr>
        <p:spPr>
          <a:xfrm>
            <a:off x="306574" y="3924206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생애주기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 부여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9F654B1-9CE1-C315-21C7-5AD11C197E7C}"/>
              </a:ext>
            </a:extLst>
          </p:cNvPr>
          <p:cNvSpPr/>
          <p:nvPr/>
        </p:nvSpPr>
        <p:spPr>
          <a:xfrm>
            <a:off x="431064" y="4251972"/>
            <a:ext cx="851636" cy="61692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등록접수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후보정보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A8CDEA7A-25F4-A7FC-C911-6FFF2E2BD31E}"/>
              </a:ext>
            </a:extLst>
          </p:cNvPr>
          <p:cNvSpPr/>
          <p:nvPr/>
        </p:nvSpPr>
        <p:spPr>
          <a:xfrm>
            <a:off x="431064" y="5157597"/>
            <a:ext cx="2896336" cy="60148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메타데이터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(DR-014)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식별자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D92C7AF-4A39-0A62-26FE-0353B224CECF}"/>
              </a:ext>
            </a:extLst>
          </p:cNvPr>
          <p:cNvSpPr/>
          <p:nvPr/>
        </p:nvSpPr>
        <p:spPr>
          <a:xfrm>
            <a:off x="3498993" y="3709704"/>
            <a:ext cx="2577212" cy="227994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식별자를 아래 전 단계에 일관 부여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0FE6D9B2-3D33-0772-0786-870EB1E8926A}"/>
              </a:ext>
            </a:extLst>
          </p:cNvPr>
          <p:cNvSpPr/>
          <p:nvPr/>
        </p:nvSpPr>
        <p:spPr>
          <a:xfrm>
            <a:off x="431064" y="3086133"/>
            <a:ext cx="5979559" cy="5462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 정의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도메인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상태값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작업유형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처리단계 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보안등급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품질등급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유효기간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 관리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7B43ADE0-3D7F-0296-C278-979CCB437DAA}"/>
              </a:ext>
            </a:extLst>
          </p:cNvPr>
          <p:cNvCxnSpPr>
            <a:cxnSpLocks/>
            <a:stCxn id="10" idx="2"/>
            <a:endCxn id="14" idx="0"/>
          </p:cNvCxnSpPr>
          <p:nvPr/>
        </p:nvCxnSpPr>
        <p:spPr>
          <a:xfrm>
            <a:off x="3423538" y="3697800"/>
            <a:ext cx="0" cy="24799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CA789E1B-D975-434B-D455-87A8D541BFAA}"/>
              </a:ext>
            </a:extLst>
          </p:cNvPr>
          <p:cNvSpPr/>
          <p:nvPr/>
        </p:nvSpPr>
        <p:spPr>
          <a:xfrm>
            <a:off x="3514287" y="5157597"/>
            <a:ext cx="2896336" cy="60148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현황관리 조회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(FR-005)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현황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분포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AB060748-01F0-008F-5764-BDCC02C64C96}"/>
              </a:ext>
            </a:extLst>
          </p:cNvPr>
          <p:cNvSpPr/>
          <p:nvPr/>
        </p:nvSpPr>
        <p:spPr>
          <a:xfrm>
            <a:off x="1453414" y="4251972"/>
            <a:ext cx="851636" cy="61692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검수결과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8324A65E-004C-2942-19CB-E5CB98670EB3}"/>
              </a:ext>
            </a:extLst>
          </p:cNvPr>
          <p:cNvSpPr/>
          <p:nvPr/>
        </p:nvSpPr>
        <p:spPr>
          <a:xfrm>
            <a:off x="2469781" y="4251972"/>
            <a:ext cx="851636" cy="61692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승인심사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승인결과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0DD9B3EB-B880-7AC6-AF81-0942284EF9AD}"/>
              </a:ext>
            </a:extLst>
          </p:cNvPr>
          <p:cNvSpPr/>
          <p:nvPr/>
        </p:nvSpPr>
        <p:spPr>
          <a:xfrm>
            <a:off x="3536585" y="4251972"/>
            <a:ext cx="851636" cy="61692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개방설정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제공가능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0D99833-3F75-D0A3-DA74-2F9FE89B5A0F}"/>
              </a:ext>
            </a:extLst>
          </p:cNvPr>
          <p:cNvSpPr/>
          <p:nvPr/>
        </p:nvSpPr>
        <p:spPr>
          <a:xfrm>
            <a:off x="4552950" y="4251972"/>
            <a:ext cx="851636" cy="61692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버전관리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갱신처리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0A2FB835-9E5B-3BD8-0746-59E72EC66E44}"/>
              </a:ext>
            </a:extLst>
          </p:cNvPr>
          <p:cNvSpPr/>
          <p:nvPr/>
        </p:nvSpPr>
        <p:spPr>
          <a:xfrm>
            <a:off x="5569315" y="4251972"/>
            <a:ext cx="851636" cy="616920"/>
          </a:xfrm>
          <a:prstGeom prst="roundRect">
            <a:avLst>
              <a:gd name="adj" fmla="val 6990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폐기예정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폐기완료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1EB35CBB-D9C2-D997-C085-B13B2EA75EB6}"/>
              </a:ext>
            </a:extLst>
          </p:cNvPr>
          <p:cNvSpPr/>
          <p:nvPr/>
        </p:nvSpPr>
        <p:spPr>
          <a:xfrm>
            <a:off x="431063" y="5924287"/>
            <a:ext cx="5989887" cy="601484"/>
          </a:xfrm>
          <a:prstGeom prst="roundRect">
            <a:avLst>
              <a:gd name="adj" fmla="val 6990"/>
            </a:avLst>
          </a:prstGeom>
          <a:solidFill>
            <a:srgbClr val="A9D18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기준정보 변경 시 → 관련 기능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현황에 자동 반영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 일관성 유지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단일 코드체계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A59BF30A-9028-0384-C95D-443B31C3449C}"/>
              </a:ext>
            </a:extLst>
          </p:cNvPr>
          <p:cNvSpPr/>
          <p:nvPr/>
        </p:nvSpPr>
        <p:spPr>
          <a:xfrm>
            <a:off x="316309" y="6521343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기준정보 적용범위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사용여부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유효기간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 권한별 생성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 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식별자를 통합 메타모델의 표준 필드로 포함하여 검색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현황에 연계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</a:t>
            </a: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7C13F848-8E7D-C185-641C-F08A06373266}"/>
              </a:ext>
            </a:extLst>
          </p:cNvPr>
          <p:cNvCxnSpPr>
            <a:cxnSpLocks/>
          </p:cNvCxnSpPr>
          <p:nvPr/>
        </p:nvCxnSpPr>
        <p:spPr>
          <a:xfrm>
            <a:off x="312925" y="7260273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89A53085-3A01-3CC9-BA5E-A566127E2D5C}"/>
              </a:ext>
            </a:extLst>
          </p:cNvPr>
          <p:cNvSpPr txBox="1"/>
          <p:nvPr/>
        </p:nvSpPr>
        <p:spPr>
          <a:xfrm>
            <a:off x="335011" y="7234196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 체계 예시</a:t>
            </a:r>
          </a:p>
        </p:txBody>
      </p:sp>
      <p:sp>
        <p:nvSpPr>
          <p:cNvPr id="104" name="모서리가 둥근 직사각형 222">
            <a:extLst>
              <a:ext uri="{FF2B5EF4-FFF2-40B4-BE49-F238E27FC236}">
                <a16:creationId xmlns:a16="http://schemas.microsoft.com/office/drawing/2014/main" id="{2587A1F8-C0F9-4098-D880-4D3F154E135F}"/>
              </a:ext>
            </a:extLst>
          </p:cNvPr>
          <p:cNvSpPr/>
          <p:nvPr/>
        </p:nvSpPr>
        <p:spPr bwMode="gray">
          <a:xfrm>
            <a:off x="258881" y="7529449"/>
            <a:ext cx="6331426" cy="213525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8F5492C-76E8-AFE7-1E84-4D4520106505}"/>
              </a:ext>
            </a:extLst>
          </p:cNvPr>
          <p:cNvSpPr/>
          <p:nvPr/>
        </p:nvSpPr>
        <p:spPr>
          <a:xfrm>
            <a:off x="316309" y="911913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단일 코드체계로 정의한 상태 식별자를 생애주기 전 단계와 메타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현황에 연계함으로써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 간 상태 불일치를 제거하고 데이터셋 상태를 일관되게 추적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통계화함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06" name="Table 0">
            <a:extLst>
              <a:ext uri="{FF2B5EF4-FFF2-40B4-BE49-F238E27FC236}">
                <a16:creationId xmlns:a16="http://schemas.microsoft.com/office/drawing/2014/main" id="{9D38B8DE-25DB-A578-25E8-A93AE155BE9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96312"/>
          <a:ext cx="6165724" cy="1509587"/>
        </p:xfrm>
        <a:graphic>
          <a:graphicData uri="http://schemas.openxmlformats.org/drawingml/2006/table">
            <a:tbl>
              <a:tblPr/>
              <a:tblGrid>
                <a:gridCol w="12603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1452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95738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83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생애주기 단계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 식별자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대상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검토중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보완요청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등록관리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검수완료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반려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승인대기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승인완료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워크플로우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비공개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제한개방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 통계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신버전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 메타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폐기예정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폐기완료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</a:tbl>
          </a:graphicData>
        </a:graphic>
      </p:graphicFrame>
      <p:cxnSp>
        <p:nvCxnSpPr>
          <p:cNvPr id="111" name="연결선: 꺾임 110">
            <a:extLst>
              <a:ext uri="{FF2B5EF4-FFF2-40B4-BE49-F238E27FC236}">
                <a16:creationId xmlns:a16="http://schemas.microsoft.com/office/drawing/2014/main" id="{50201579-E9FB-4D58-828A-0B3998A86419}"/>
              </a:ext>
            </a:extLst>
          </p:cNvPr>
          <p:cNvCxnSpPr>
            <a:stCxn id="14" idx="2"/>
            <a:endCxn id="59" idx="0"/>
          </p:cNvCxnSpPr>
          <p:nvPr/>
        </p:nvCxnSpPr>
        <p:spPr>
          <a:xfrm rot="5400000">
            <a:off x="2542614" y="4276673"/>
            <a:ext cx="217542" cy="1544306"/>
          </a:xfrm>
          <a:prstGeom prst="bentConnector3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연결선: 꺾임 112">
            <a:extLst>
              <a:ext uri="{FF2B5EF4-FFF2-40B4-BE49-F238E27FC236}">
                <a16:creationId xmlns:a16="http://schemas.microsoft.com/office/drawing/2014/main" id="{CE73F690-A206-05AC-E53E-38C2305C3FD5}"/>
              </a:ext>
            </a:extLst>
          </p:cNvPr>
          <p:cNvCxnSpPr>
            <a:stCxn id="14" idx="2"/>
            <a:endCxn id="79" idx="0"/>
          </p:cNvCxnSpPr>
          <p:nvPr/>
        </p:nvCxnSpPr>
        <p:spPr>
          <a:xfrm rot="16200000" flipH="1">
            <a:off x="4084225" y="4279367"/>
            <a:ext cx="217542" cy="1538917"/>
          </a:xfrm>
          <a:prstGeom prst="bentConnector3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화살표 연결선 114">
            <a:extLst>
              <a:ext uri="{FF2B5EF4-FFF2-40B4-BE49-F238E27FC236}">
                <a16:creationId xmlns:a16="http://schemas.microsoft.com/office/drawing/2014/main" id="{F936C2C7-272F-1C08-7674-D64995EFEB2F}"/>
              </a:ext>
            </a:extLst>
          </p:cNvPr>
          <p:cNvCxnSpPr>
            <a:stCxn id="59" idx="2"/>
          </p:cNvCxnSpPr>
          <p:nvPr/>
        </p:nvCxnSpPr>
        <p:spPr>
          <a:xfrm>
            <a:off x="1879232" y="5759081"/>
            <a:ext cx="0" cy="16520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화살표 연결선 116">
            <a:extLst>
              <a:ext uri="{FF2B5EF4-FFF2-40B4-BE49-F238E27FC236}">
                <a16:creationId xmlns:a16="http://schemas.microsoft.com/office/drawing/2014/main" id="{4B3D17D5-B80E-BD36-0668-5494932965F8}"/>
              </a:ext>
            </a:extLst>
          </p:cNvPr>
          <p:cNvCxnSpPr>
            <a:stCxn id="79" idx="2"/>
          </p:cNvCxnSpPr>
          <p:nvPr/>
        </p:nvCxnSpPr>
        <p:spPr>
          <a:xfrm>
            <a:off x="4962455" y="5759081"/>
            <a:ext cx="0" cy="16520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Google Shape;3303;p54">
            <a:extLst>
              <a:ext uri="{FF2B5EF4-FFF2-40B4-BE49-F238E27FC236}">
                <a16:creationId xmlns:a16="http://schemas.microsoft.com/office/drawing/2014/main" id="{EE13B597-0EA8-7C75-C29B-BD0258257812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3304;p54">
            <a:extLst>
              <a:ext uri="{FF2B5EF4-FFF2-40B4-BE49-F238E27FC236}">
                <a16:creationId xmlns:a16="http://schemas.microsoft.com/office/drawing/2014/main" id="{F049C5A4-7E99-58BA-3FE0-F3653F36517A}"/>
              </a:ext>
            </a:extLst>
          </p:cNvPr>
          <p:cNvSpPr/>
          <p:nvPr/>
        </p:nvSpPr>
        <p:spPr>
          <a:xfrm>
            <a:off x="-952500" y="1341200"/>
            <a:ext cx="1135800" cy="862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문장 수정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3802449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B72098-056A-34CE-D9EC-9AA97FADE8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94909EF-61BA-5593-69F1-47A3C8E6FC1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D7D7F99-D11F-6392-70A1-58FB511CCD7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F15D23-A0B8-AA29-8FDD-CCAE5DFEC9D6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단계별 상태 관리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2373BFC-7B4C-5F21-E78E-86D9E02B036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F052231-91EB-BEB7-2062-E9163F26545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생애주기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관리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생애주기를 생성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스테이징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레이블링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워크플로우로 구성하고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각 단계의 진행상태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이력을 통합 관리하여 전 주기 상태를 체계적으로 관리함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(FR-004)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9B24C5D-E6B3-7315-85E7-2C9CA1D7236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EDC058F-F204-C856-487C-C22FBB9765BC}"/>
              </a:ext>
            </a:extLst>
          </p:cNvPr>
          <p:cNvSpPr txBox="1"/>
          <p:nvPr/>
        </p:nvSpPr>
        <p:spPr>
          <a:xfrm>
            <a:off x="335012" y="2371141"/>
            <a:ext cx="40998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생애주기 관리를 통한 데이터 상태의 체계적 추적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0A4CFF3-2777-8A9B-082B-5DACD4583A1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D47CB502-98C1-2BCB-D125-CE99E846C859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B740C9F-9435-DDE8-54FE-29FB63596C7E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학습데이터의 생성부터 폐기까지 전 생애주기를 단계별 워크플로우로 관리하여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누락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 유실 없이 데이터 상태를 체계적으로 추적함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워크플로우 흐름에 따라 작업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UX·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기능을 제공하여 담당자가 순차 처리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단계의 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이력을 통합 관리하고 상태 식별자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D0AB267-09C2-D546-33AE-CEAA0EB834F2}"/>
              </a:ext>
            </a:extLst>
          </p:cNvPr>
          <p:cNvSpPr/>
          <p:nvPr/>
        </p:nvSpPr>
        <p:spPr>
          <a:xfrm>
            <a:off x="316309" y="3728014"/>
            <a:ext cx="6286697" cy="122224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(8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워크플로우 구성</a:t>
            </a: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라이프사이클을 </a:t>
            </a: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 단계로 정의하고 단계별 작업을 워크플로우로 구현함</a:t>
            </a:r>
            <a:r>
              <a:rPr kumimoji="1" lang="en-US" altLang="ko-KR" sz="1200" spc="-7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생성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생성계획→원천데이터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정보등록→생성단계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검증→검토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승인→이력관리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목적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범위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활용계획 입력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스테이징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원시데이터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정보등록→외부스토리지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적재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선택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민감정보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점검→원시데이터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폐기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적재 일시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점검 결과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기록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AB74590-D528-48CF-33D0-36A0323D5D68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위쪽 모서리 19">
            <a:extLst>
              <a:ext uri="{FF2B5EF4-FFF2-40B4-BE49-F238E27FC236}">
                <a16:creationId xmlns:a16="http://schemas.microsoft.com/office/drawing/2014/main" id="{9CF2CEA5-6F21-5E04-F183-30660214AE4E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정의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872889BF-5CE2-581F-4016-BA5B5B2A94BB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위쪽 모서리 24">
            <a:extLst>
              <a:ext uri="{FF2B5EF4-FFF2-40B4-BE49-F238E27FC236}">
                <a16:creationId xmlns:a16="http://schemas.microsoft.com/office/drawing/2014/main" id="{E6596575-1662-4A42-7CE2-B87962660FDA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단계 워크플로우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CB04E8E4-15AB-40E4-FB97-8B01D533E0B4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위쪽 모서리 28">
            <a:extLst>
              <a:ext uri="{FF2B5EF4-FFF2-40B4-BE49-F238E27FC236}">
                <a16:creationId xmlns:a16="http://schemas.microsoft.com/office/drawing/2014/main" id="{E2F07804-971E-18E6-792C-DB23AB753CDB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상태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B29DE291-B430-7AD9-0A06-CDBCB09409A8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사각형: 둥근 위쪽 모서리 33">
            <a:extLst>
              <a:ext uri="{FF2B5EF4-FFF2-40B4-BE49-F238E27FC236}">
                <a16:creationId xmlns:a16="http://schemas.microsoft.com/office/drawing/2014/main" id="{36FA6592-A4EE-DA15-798D-436A6A08B4A0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이력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743DDCF3-A8AB-53B8-5D20-6899A036480C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CB6F2A5A-2211-A659-1808-7097715A5677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7E35593E-1D84-F49F-A161-25D03C9B51A4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06D6CD5E-A60B-68C5-2883-6A58A13AEBA5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EC9D1D69-25C6-5D87-BCA7-DF6DFFDDC113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이등변 삼각형 45">
            <a:extLst>
              <a:ext uri="{FF2B5EF4-FFF2-40B4-BE49-F238E27FC236}">
                <a16:creationId xmlns:a16="http://schemas.microsoft.com/office/drawing/2014/main" id="{185E4395-CF03-3585-80A2-337D8C72F926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79D790E-DF2E-5061-F162-D590188020DE}"/>
              </a:ext>
            </a:extLst>
          </p:cNvPr>
          <p:cNvSpPr txBox="1"/>
          <p:nvPr/>
        </p:nvSpPr>
        <p:spPr>
          <a:xfrm>
            <a:off x="34285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생성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~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폐기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구성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1C698F10-7EA7-4177-B388-A371B3C43CAE}"/>
              </a:ext>
            </a:extLst>
          </p:cNvPr>
          <p:cNvSpPr txBox="1"/>
          <p:nvPr/>
        </p:nvSpPr>
        <p:spPr>
          <a:xfrm>
            <a:off x="192346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단계별 작업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UX·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전환 조건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BF8ECD8-16EC-7752-9A32-3EDBC21383F1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진행상태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담당자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5A9EDD36-47F3-4A59-0845-521B99621A78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전환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변경 이력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 식별자 연계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9F6D9D7-DAEE-873B-AA75-17A4C1098EA9}"/>
              </a:ext>
            </a:extLst>
          </p:cNvPr>
          <p:cNvSpPr/>
          <p:nvPr/>
        </p:nvSpPr>
        <p:spPr>
          <a:xfrm>
            <a:off x="316309" y="5077203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레이블링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패키징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라벨링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작업 현황과 패키징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 단계를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레이블링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작업물량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진행상태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작업기한 입력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패키징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묶음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구성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배포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604FE18-07E3-4307-C333-6C69B2D7B2E0}"/>
              </a:ext>
            </a:extLst>
          </p:cNvPr>
          <p:cNvSpPr/>
          <p:nvPr/>
        </p:nvSpPr>
        <p:spPr>
          <a:xfrm>
            <a:off x="310894" y="5943340"/>
            <a:ext cx="6286697" cy="57437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추적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신버전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갱신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승인까지 후속 단계를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이력 추적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신버전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생성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승인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70BC31A-2979-44A2-9D27-6928C9E5C92D}"/>
              </a:ext>
            </a:extLst>
          </p:cNvPr>
          <p:cNvSpPr/>
          <p:nvPr/>
        </p:nvSpPr>
        <p:spPr>
          <a:xfrm>
            <a:off x="316309" y="795355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공통 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단계에 진행상태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반려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이력을 공통 적용하며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B808D9E-D7D3-55EF-4408-6986CC5C942A}"/>
              </a:ext>
            </a:extLst>
          </p:cNvPr>
          <p:cNvSpPr/>
          <p:nvPr/>
        </p:nvSpPr>
        <p:spPr>
          <a:xfrm>
            <a:off x="411539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</a:t>
            </a: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계획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원천등록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361654C-4A0C-31F4-13A3-A465B11F2416}"/>
              </a:ext>
            </a:extLst>
          </p:cNvPr>
          <p:cNvSpPr/>
          <p:nvPr/>
        </p:nvSpPr>
        <p:spPr>
          <a:xfrm>
            <a:off x="1178122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dirty="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스테이징</a:t>
            </a:r>
            <a:endParaRPr lang="en-US" altLang="ko-KR" sz="1200" dirty="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 dirty="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적재</a:t>
            </a: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민감정보 점검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603BBD0-B124-B289-E401-4AC80879BEE3}"/>
              </a:ext>
            </a:extLst>
          </p:cNvPr>
          <p:cNvSpPr/>
          <p:nvPr/>
        </p:nvSpPr>
        <p:spPr>
          <a:xfrm>
            <a:off x="1950371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레이블링</a:t>
            </a: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74409A1-8B50-6258-DE49-CBAF847B30F4}"/>
              </a:ext>
            </a:extLst>
          </p:cNvPr>
          <p:cNvSpPr/>
          <p:nvPr/>
        </p:nvSpPr>
        <p:spPr>
          <a:xfrm>
            <a:off x="2722620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패키징</a:t>
            </a: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구성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145F74E6-3C34-2AE2-5B26-0142B4EA1225}"/>
              </a:ext>
            </a:extLst>
          </p:cNvPr>
          <p:cNvSpPr/>
          <p:nvPr/>
        </p:nvSpPr>
        <p:spPr>
          <a:xfrm>
            <a:off x="3553703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E2E981BB-3BBF-AB0C-9A5B-8B63E27EFE63}"/>
              </a:ext>
            </a:extLst>
          </p:cNvPr>
          <p:cNvSpPr/>
          <p:nvPr/>
        </p:nvSpPr>
        <p:spPr>
          <a:xfrm>
            <a:off x="4320286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</a:t>
            </a: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C7EB3424-A778-59DA-A1AF-2FA43A13F85C}"/>
              </a:ext>
            </a:extLst>
          </p:cNvPr>
          <p:cNvSpPr/>
          <p:nvPr/>
        </p:nvSpPr>
        <p:spPr>
          <a:xfrm>
            <a:off x="5092535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신버전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재검증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021F871-888B-8A14-8398-E1487D592B88}"/>
              </a:ext>
            </a:extLst>
          </p:cNvPr>
          <p:cNvSpPr/>
          <p:nvPr/>
        </p:nvSpPr>
        <p:spPr>
          <a:xfrm>
            <a:off x="5864784" y="6600378"/>
            <a:ext cx="581679" cy="1166930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이력관리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41B936F-E25A-6579-5687-64D516502198}"/>
              </a:ext>
            </a:extLst>
          </p:cNvPr>
          <p:cNvSpPr/>
          <p:nvPr/>
        </p:nvSpPr>
        <p:spPr>
          <a:xfrm>
            <a:off x="497140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C1E51BC-3AA0-3920-F953-CD2DB38DF743}"/>
              </a:ext>
            </a:extLst>
          </p:cNvPr>
          <p:cNvSpPr/>
          <p:nvPr/>
        </p:nvSpPr>
        <p:spPr>
          <a:xfrm>
            <a:off x="1256185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7E327AC-65D3-DDFD-A2AE-FCD91BCD79E3}"/>
              </a:ext>
            </a:extLst>
          </p:cNvPr>
          <p:cNvSpPr/>
          <p:nvPr/>
        </p:nvSpPr>
        <p:spPr>
          <a:xfrm>
            <a:off x="2031770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27E1204-67C6-DB35-3C88-D8E4C43B1BFE}"/>
              </a:ext>
            </a:extLst>
          </p:cNvPr>
          <p:cNvSpPr/>
          <p:nvPr/>
        </p:nvSpPr>
        <p:spPr>
          <a:xfrm>
            <a:off x="2800683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DF394D45-E035-25FB-0B3D-FE2FE14EF677}"/>
              </a:ext>
            </a:extLst>
          </p:cNvPr>
          <p:cNvSpPr/>
          <p:nvPr/>
        </p:nvSpPr>
        <p:spPr>
          <a:xfrm>
            <a:off x="3635102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EF5A4E9-3116-E690-EB6E-D4C7972EF323}"/>
              </a:ext>
            </a:extLst>
          </p:cNvPr>
          <p:cNvSpPr/>
          <p:nvPr/>
        </p:nvSpPr>
        <p:spPr>
          <a:xfrm>
            <a:off x="4401685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D0D1E0C-2E60-8BC2-D81F-6988773C69F9}"/>
              </a:ext>
            </a:extLst>
          </p:cNvPr>
          <p:cNvSpPr/>
          <p:nvPr/>
        </p:nvSpPr>
        <p:spPr>
          <a:xfrm>
            <a:off x="5173934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BE955FF-AF33-26C6-EF11-94F1F00D541A}"/>
              </a:ext>
            </a:extLst>
          </p:cNvPr>
          <p:cNvSpPr/>
          <p:nvPr/>
        </p:nvSpPr>
        <p:spPr>
          <a:xfrm>
            <a:off x="5941981" y="6892412"/>
            <a:ext cx="418879" cy="3352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93" name="그림 92">
            <a:extLst>
              <a:ext uri="{FF2B5EF4-FFF2-40B4-BE49-F238E27FC236}">
                <a16:creationId xmlns:a16="http://schemas.microsoft.com/office/drawing/2014/main" id="{0D973C15-0A60-E558-251F-2E2344562D0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6832" y="6904091"/>
            <a:ext cx="370670" cy="323601"/>
          </a:xfrm>
          <a:prstGeom prst="rect">
            <a:avLst/>
          </a:prstGeom>
        </p:spPr>
      </p:pic>
      <p:pic>
        <p:nvPicPr>
          <p:cNvPr id="95" name="그림 94">
            <a:extLst>
              <a:ext uri="{FF2B5EF4-FFF2-40B4-BE49-F238E27FC236}">
                <a16:creationId xmlns:a16="http://schemas.microsoft.com/office/drawing/2014/main" id="{73145954-D933-B0EF-2230-35AAC4863DB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6765" y="6896471"/>
            <a:ext cx="317718" cy="323601"/>
          </a:xfrm>
          <a:prstGeom prst="rect">
            <a:avLst/>
          </a:prstGeom>
        </p:spPr>
      </p:pic>
      <p:pic>
        <p:nvPicPr>
          <p:cNvPr id="97" name="그림 96">
            <a:extLst>
              <a:ext uri="{FF2B5EF4-FFF2-40B4-BE49-F238E27FC236}">
                <a16:creationId xmlns:a16="http://schemas.microsoft.com/office/drawing/2014/main" id="{D44B04DA-6B34-2F93-B984-B93B08DC74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209" y="6908700"/>
            <a:ext cx="395689" cy="302949"/>
          </a:xfrm>
          <a:prstGeom prst="rect">
            <a:avLst/>
          </a:prstGeom>
        </p:spPr>
      </p:pic>
      <p:pic>
        <p:nvPicPr>
          <p:cNvPr id="99" name="그림 98">
            <a:extLst>
              <a:ext uri="{FF2B5EF4-FFF2-40B4-BE49-F238E27FC236}">
                <a16:creationId xmlns:a16="http://schemas.microsoft.com/office/drawing/2014/main" id="{E52EBBE2-9CBB-F094-EC65-0A49AF048F7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07650" y="6910097"/>
            <a:ext cx="408673" cy="290216"/>
          </a:xfrm>
          <a:prstGeom prst="rect">
            <a:avLst/>
          </a:prstGeom>
        </p:spPr>
      </p:pic>
      <p:pic>
        <p:nvPicPr>
          <p:cNvPr id="101" name="그림 100">
            <a:extLst>
              <a:ext uri="{FF2B5EF4-FFF2-40B4-BE49-F238E27FC236}">
                <a16:creationId xmlns:a16="http://schemas.microsoft.com/office/drawing/2014/main" id="{09DB8B07-3ECA-EC8D-9233-4C98B3E962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66060" y="6894793"/>
            <a:ext cx="365398" cy="326935"/>
          </a:xfrm>
          <a:prstGeom prst="rect">
            <a:avLst/>
          </a:prstGeom>
        </p:spPr>
      </p:pic>
      <p:pic>
        <p:nvPicPr>
          <p:cNvPr id="103" name="그림 102">
            <a:extLst>
              <a:ext uri="{FF2B5EF4-FFF2-40B4-BE49-F238E27FC236}">
                <a16:creationId xmlns:a16="http://schemas.microsoft.com/office/drawing/2014/main" id="{933C1C4D-F94E-5214-C0EE-3447052130F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50223" y="6892744"/>
            <a:ext cx="321802" cy="321802"/>
          </a:xfrm>
          <a:prstGeom prst="rect">
            <a:avLst/>
          </a:prstGeom>
        </p:spPr>
      </p:pic>
      <p:pic>
        <p:nvPicPr>
          <p:cNvPr id="105" name="그림 104">
            <a:extLst>
              <a:ext uri="{FF2B5EF4-FFF2-40B4-BE49-F238E27FC236}">
                <a16:creationId xmlns:a16="http://schemas.microsoft.com/office/drawing/2014/main" id="{05E43A8B-7ADC-39BA-0509-B67B5CD703D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93703" y="6908855"/>
            <a:ext cx="367058" cy="296222"/>
          </a:xfrm>
          <a:prstGeom prst="rect">
            <a:avLst/>
          </a:prstGeom>
        </p:spPr>
      </p:pic>
      <p:pic>
        <p:nvPicPr>
          <p:cNvPr id="107" name="그림 106">
            <a:extLst>
              <a:ext uri="{FF2B5EF4-FFF2-40B4-BE49-F238E27FC236}">
                <a16:creationId xmlns:a16="http://schemas.microsoft.com/office/drawing/2014/main" id="{4E33C7FE-E3B9-4384-B43E-2AB948426D3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6097" y="6892412"/>
            <a:ext cx="330646" cy="330646"/>
          </a:xfrm>
          <a:prstGeom prst="rect">
            <a:avLst/>
          </a:prstGeom>
        </p:spPr>
      </p:pic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EA427125-3828-AF34-679A-698B56166C98}"/>
              </a:ext>
            </a:extLst>
          </p:cNvPr>
          <p:cNvCxnSpPr>
            <a:stCxn id="67" idx="3"/>
            <a:endCxn id="69" idx="1"/>
          </p:cNvCxnSpPr>
          <p:nvPr/>
        </p:nvCxnSpPr>
        <p:spPr>
          <a:xfrm>
            <a:off x="993218" y="7183843"/>
            <a:ext cx="1849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499D493D-DC63-A79A-288F-95B7EAAAD2A4}"/>
              </a:ext>
            </a:extLst>
          </p:cNvPr>
          <p:cNvCxnSpPr>
            <a:stCxn id="69" idx="3"/>
            <a:endCxn id="71" idx="1"/>
          </p:cNvCxnSpPr>
          <p:nvPr/>
        </p:nvCxnSpPr>
        <p:spPr>
          <a:xfrm>
            <a:off x="1759801" y="7183843"/>
            <a:ext cx="19057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03EEACF3-EFE5-DCC3-7333-80BB94A37116}"/>
              </a:ext>
            </a:extLst>
          </p:cNvPr>
          <p:cNvCxnSpPr>
            <a:stCxn id="71" idx="3"/>
            <a:endCxn id="73" idx="1"/>
          </p:cNvCxnSpPr>
          <p:nvPr/>
        </p:nvCxnSpPr>
        <p:spPr>
          <a:xfrm>
            <a:off x="2532050" y="7183843"/>
            <a:ext cx="19057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직선 화살표 연결선 114">
            <a:extLst>
              <a:ext uri="{FF2B5EF4-FFF2-40B4-BE49-F238E27FC236}">
                <a16:creationId xmlns:a16="http://schemas.microsoft.com/office/drawing/2014/main" id="{6FD7DE0B-7493-8D54-CE3C-2EA199B9F68B}"/>
              </a:ext>
            </a:extLst>
          </p:cNvPr>
          <p:cNvCxnSpPr>
            <a:stCxn id="73" idx="3"/>
            <a:endCxn id="78" idx="1"/>
          </p:cNvCxnSpPr>
          <p:nvPr/>
        </p:nvCxnSpPr>
        <p:spPr>
          <a:xfrm>
            <a:off x="3304299" y="7183843"/>
            <a:ext cx="2494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화살표 연결선 116">
            <a:extLst>
              <a:ext uri="{FF2B5EF4-FFF2-40B4-BE49-F238E27FC236}">
                <a16:creationId xmlns:a16="http://schemas.microsoft.com/office/drawing/2014/main" id="{8C47AC55-9828-17C8-1B25-BF823691AA70}"/>
              </a:ext>
            </a:extLst>
          </p:cNvPr>
          <p:cNvCxnSpPr>
            <a:stCxn id="78" idx="3"/>
            <a:endCxn id="79" idx="1"/>
          </p:cNvCxnSpPr>
          <p:nvPr/>
        </p:nvCxnSpPr>
        <p:spPr>
          <a:xfrm>
            <a:off x="4135382" y="7183843"/>
            <a:ext cx="1849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B8C07CF4-66CB-805D-59EB-61A2B0102023}"/>
              </a:ext>
            </a:extLst>
          </p:cNvPr>
          <p:cNvCxnSpPr>
            <a:stCxn id="79" idx="3"/>
            <a:endCxn id="80" idx="1"/>
          </p:cNvCxnSpPr>
          <p:nvPr/>
        </p:nvCxnSpPr>
        <p:spPr>
          <a:xfrm>
            <a:off x="4901965" y="7183843"/>
            <a:ext cx="19057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id="{6CEFB815-C6AE-3C6F-F701-E3FB66ADBC4C}"/>
              </a:ext>
            </a:extLst>
          </p:cNvPr>
          <p:cNvCxnSpPr>
            <a:stCxn id="80" idx="3"/>
            <a:endCxn id="81" idx="1"/>
          </p:cNvCxnSpPr>
          <p:nvPr/>
        </p:nvCxnSpPr>
        <p:spPr>
          <a:xfrm>
            <a:off x="5674214" y="7183843"/>
            <a:ext cx="19057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Google Shape;3373;p55">
            <a:extLst>
              <a:ext uri="{FF2B5EF4-FFF2-40B4-BE49-F238E27FC236}">
                <a16:creationId xmlns:a16="http://schemas.microsoft.com/office/drawing/2014/main" id="{6819A342-DB0F-8CB8-B08B-7741AA433031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" name="Google Shape;3374;p55">
            <a:extLst>
              <a:ext uri="{FF2B5EF4-FFF2-40B4-BE49-F238E27FC236}">
                <a16:creationId xmlns:a16="http://schemas.microsoft.com/office/drawing/2014/main" id="{EFDC6B17-D880-31D4-8C21-6295CEAE0824}"/>
              </a:ext>
            </a:extLst>
          </p:cNvPr>
          <p:cNvSpPr/>
          <p:nvPr/>
        </p:nvSpPr>
        <p:spPr>
          <a:xfrm>
            <a:off x="869100" y="7628038"/>
            <a:ext cx="1199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오타수정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0565475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FE8525-7754-5511-01C3-F02C1DDE1F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22">
            <a:extLst>
              <a:ext uri="{FF2B5EF4-FFF2-40B4-BE49-F238E27FC236}">
                <a16:creationId xmlns:a16="http://schemas.microsoft.com/office/drawing/2014/main" id="{E80CAA7F-E23B-D6EA-F078-301527FC1E90}"/>
              </a:ext>
            </a:extLst>
          </p:cNvPr>
          <p:cNvSpPr/>
          <p:nvPr/>
        </p:nvSpPr>
        <p:spPr bwMode="gray">
          <a:xfrm>
            <a:off x="258881" y="2666394"/>
            <a:ext cx="6331426" cy="418525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C3032F7E-3C07-C715-5DC9-A2C8692B7728}"/>
              </a:ext>
            </a:extLst>
          </p:cNvPr>
          <p:cNvSpPr/>
          <p:nvPr/>
        </p:nvSpPr>
        <p:spPr>
          <a:xfrm>
            <a:off x="312925" y="2785020"/>
            <a:ext cx="6221225" cy="2396580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8" name="사각형: 둥근 위쪽 모서리 117">
            <a:extLst>
              <a:ext uri="{FF2B5EF4-FFF2-40B4-BE49-F238E27FC236}">
                <a16:creationId xmlns:a16="http://schemas.microsoft.com/office/drawing/2014/main" id="{3F110AF9-3828-E97C-BC87-A33B7FBFAC4D}"/>
              </a:ext>
            </a:extLst>
          </p:cNvPr>
          <p:cNvSpPr/>
          <p:nvPr/>
        </p:nvSpPr>
        <p:spPr>
          <a:xfrm>
            <a:off x="306574" y="2763919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라이프사이클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관리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(FR-004)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F563A74-5B6C-EA4F-9455-9718BD2CD1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7CBA8D1-B0DF-9878-14FA-17B5C0BB12F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253097-B51D-EBFD-C4A8-E091292E97C8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단계별 상태 관리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50AB5DC-6670-2473-EFED-BE86826A79E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1472575-17E8-0C37-E3DF-F6A6658B3DB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생애주기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관리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생애주기를 생성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스테이징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레이블링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워크플로우로 구성하고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각 단계의 진행상태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이력을 통합 관리하여 전 주기 상태를 체계적으로 관리함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(FR-004)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03D2F23-202D-753C-EB47-F444E4CF48F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8DAD430-5FB0-B283-9CF7-AE1525F458D2}"/>
              </a:ext>
            </a:extLst>
          </p:cNvPr>
          <p:cNvSpPr txBox="1"/>
          <p:nvPr/>
        </p:nvSpPr>
        <p:spPr>
          <a:xfrm>
            <a:off x="335012" y="2371141"/>
            <a:ext cx="40998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생애주기 관리를 통한 데이터 상태의 체계적 추적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BC50ECA-7A12-09A5-1B99-A1A5338A1D5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FR-004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1FBBCC8D-7842-69DF-0DF3-B7901ACE4F45}"/>
              </a:ext>
            </a:extLst>
          </p:cNvPr>
          <p:cNvSpPr/>
          <p:nvPr/>
        </p:nvSpPr>
        <p:spPr>
          <a:xfrm>
            <a:off x="1921078" y="3080274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스테이징관리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070B9E5-12CB-9C49-B43E-6CFCE1478229}"/>
              </a:ext>
            </a:extLst>
          </p:cNvPr>
          <p:cNvSpPr/>
          <p:nvPr/>
        </p:nvSpPr>
        <p:spPr>
          <a:xfrm>
            <a:off x="3476592" y="3080274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레이블링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12FF782-1C1B-C784-17A0-32F620D90E67}"/>
              </a:ext>
            </a:extLst>
          </p:cNvPr>
          <p:cNvSpPr/>
          <p:nvPr/>
        </p:nvSpPr>
        <p:spPr>
          <a:xfrm>
            <a:off x="335012" y="3080275"/>
            <a:ext cx="1267854" cy="887618"/>
          </a:xfrm>
          <a:prstGeom prst="roundRect">
            <a:avLst>
              <a:gd name="adj" fmla="val 699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7F2E3A04-02AC-2836-0ACA-2DC756457837}"/>
              </a:ext>
            </a:extLst>
          </p:cNvPr>
          <p:cNvSpPr/>
          <p:nvPr/>
        </p:nvSpPr>
        <p:spPr>
          <a:xfrm>
            <a:off x="5041695" y="3080274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패키징관리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7CF9518-A902-4E2D-7A09-79E2182FD079}"/>
              </a:ext>
            </a:extLst>
          </p:cNvPr>
          <p:cNvSpPr/>
          <p:nvPr/>
        </p:nvSpPr>
        <p:spPr>
          <a:xfrm>
            <a:off x="365123" y="3400427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F625FFF9-978D-5AAD-3245-494BF964762C}"/>
              </a:ext>
            </a:extLst>
          </p:cNvPr>
          <p:cNvCxnSpPr>
            <a:cxnSpLocks/>
            <a:stCxn id="13" idx="3"/>
            <a:endCxn id="9" idx="1"/>
          </p:cNvCxnSpPr>
          <p:nvPr/>
        </p:nvCxnSpPr>
        <p:spPr>
          <a:xfrm flipV="1">
            <a:off x="1602866" y="3524083"/>
            <a:ext cx="318212" cy="1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902C704E-E189-B202-9F36-276B1A803717}"/>
              </a:ext>
            </a:extLst>
          </p:cNvPr>
          <p:cNvCxnSpPr>
            <a:cxnSpLocks/>
            <a:stCxn id="9" idx="3"/>
            <a:endCxn id="10" idx="1"/>
          </p:cNvCxnSpPr>
          <p:nvPr/>
        </p:nvCxnSpPr>
        <p:spPr>
          <a:xfrm>
            <a:off x="3188932" y="3524083"/>
            <a:ext cx="28766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01331E78-83C0-1855-4B86-60AEE16162C1}"/>
              </a:ext>
            </a:extLst>
          </p:cNvPr>
          <p:cNvCxnSpPr>
            <a:cxnSpLocks/>
            <a:stCxn id="10" idx="3"/>
            <a:endCxn id="15" idx="1"/>
          </p:cNvCxnSpPr>
          <p:nvPr/>
        </p:nvCxnSpPr>
        <p:spPr>
          <a:xfrm>
            <a:off x="4744446" y="3524083"/>
            <a:ext cx="297249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1114C8A-4D09-D01F-6D3A-6DDF25986539}"/>
              </a:ext>
            </a:extLst>
          </p:cNvPr>
          <p:cNvSpPr/>
          <p:nvPr/>
        </p:nvSpPr>
        <p:spPr>
          <a:xfrm>
            <a:off x="1948933" y="3400427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1CF9A25-B285-395D-615C-08140A77EA07}"/>
              </a:ext>
            </a:extLst>
          </p:cNvPr>
          <p:cNvSpPr txBox="1"/>
          <p:nvPr/>
        </p:nvSpPr>
        <p:spPr>
          <a:xfrm>
            <a:off x="1949160" y="3524083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적재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민감정보 점검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7D5AB9-8584-A3DA-1015-8F9C0798C207}"/>
              </a:ext>
            </a:extLst>
          </p:cNvPr>
          <p:cNvSpPr/>
          <p:nvPr/>
        </p:nvSpPr>
        <p:spPr>
          <a:xfrm>
            <a:off x="3507144" y="3400427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1D8EDF5-AEED-D2D3-5AE5-B8BE1CBD81EF}"/>
              </a:ext>
            </a:extLst>
          </p:cNvPr>
          <p:cNvSpPr txBox="1"/>
          <p:nvPr/>
        </p:nvSpPr>
        <p:spPr>
          <a:xfrm>
            <a:off x="3507371" y="3524083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진행상태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707BFFA-B2A1-7684-E38B-8AF0480E1054}"/>
              </a:ext>
            </a:extLst>
          </p:cNvPr>
          <p:cNvSpPr/>
          <p:nvPr/>
        </p:nvSpPr>
        <p:spPr>
          <a:xfrm>
            <a:off x="5075472" y="3400427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A41DA39-A971-6E71-9A13-0D039838AC6A}"/>
              </a:ext>
            </a:extLst>
          </p:cNvPr>
          <p:cNvSpPr txBox="1"/>
          <p:nvPr/>
        </p:nvSpPr>
        <p:spPr>
          <a:xfrm>
            <a:off x="5075699" y="3524083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묶음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 구성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FBE912C-21A8-7450-EB87-F39AC1CAD303}"/>
              </a:ext>
            </a:extLst>
          </p:cNvPr>
          <p:cNvSpPr txBox="1"/>
          <p:nvPr/>
        </p:nvSpPr>
        <p:spPr>
          <a:xfrm>
            <a:off x="363636" y="3453773"/>
            <a:ext cx="11998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생성계획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원천등록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805D29BC-1D6A-BCC1-D733-A80B2727F758}"/>
              </a:ext>
            </a:extLst>
          </p:cNvPr>
          <p:cNvSpPr/>
          <p:nvPr/>
        </p:nvSpPr>
        <p:spPr>
          <a:xfrm>
            <a:off x="1921078" y="4200060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3841F6-8495-EBB5-067E-48BF6A164116}"/>
              </a:ext>
            </a:extLst>
          </p:cNvPr>
          <p:cNvSpPr/>
          <p:nvPr/>
        </p:nvSpPr>
        <p:spPr>
          <a:xfrm>
            <a:off x="3476592" y="4200060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추적관리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16C549C-D3CB-AE9C-D53A-03A7FB913B05}"/>
              </a:ext>
            </a:extLst>
          </p:cNvPr>
          <p:cNvSpPr/>
          <p:nvPr/>
        </p:nvSpPr>
        <p:spPr>
          <a:xfrm>
            <a:off x="335012" y="4200061"/>
            <a:ext cx="1267854" cy="887618"/>
          </a:xfrm>
          <a:prstGeom prst="roundRect">
            <a:avLst>
              <a:gd name="adj" fmla="val 6990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3B881BE-4DDA-9184-1BF5-25EE25309D42}"/>
              </a:ext>
            </a:extLst>
          </p:cNvPr>
          <p:cNvSpPr/>
          <p:nvPr/>
        </p:nvSpPr>
        <p:spPr>
          <a:xfrm>
            <a:off x="5041695" y="4200060"/>
            <a:ext cx="1267854" cy="887617"/>
          </a:xfrm>
          <a:prstGeom prst="roundRect">
            <a:avLst>
              <a:gd name="adj" fmla="val 699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95DEF0F-3593-C675-DA94-78AD206A959E}"/>
              </a:ext>
            </a:extLst>
          </p:cNvPr>
          <p:cNvSpPr/>
          <p:nvPr/>
        </p:nvSpPr>
        <p:spPr>
          <a:xfrm>
            <a:off x="365123" y="4520213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D859A4FA-35F4-6C42-AC17-7AE0818E596C}"/>
              </a:ext>
            </a:extLst>
          </p:cNvPr>
          <p:cNvCxnSpPr>
            <a:cxnSpLocks/>
            <a:stCxn id="41" idx="1"/>
            <a:endCxn id="45" idx="3"/>
          </p:cNvCxnSpPr>
          <p:nvPr/>
        </p:nvCxnSpPr>
        <p:spPr>
          <a:xfrm flipH="1">
            <a:off x="1602866" y="4643869"/>
            <a:ext cx="318212" cy="1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E3E6B420-6887-1929-158B-A0C9C191E238}"/>
              </a:ext>
            </a:extLst>
          </p:cNvPr>
          <p:cNvCxnSpPr>
            <a:cxnSpLocks/>
            <a:stCxn id="43" idx="1"/>
            <a:endCxn id="41" idx="3"/>
          </p:cNvCxnSpPr>
          <p:nvPr/>
        </p:nvCxnSpPr>
        <p:spPr>
          <a:xfrm flipH="1">
            <a:off x="3188932" y="4643869"/>
            <a:ext cx="28766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7725E60D-07DA-70D7-80D8-624A37D45292}"/>
              </a:ext>
            </a:extLst>
          </p:cNvPr>
          <p:cNvCxnSpPr>
            <a:cxnSpLocks/>
            <a:stCxn id="47" idx="1"/>
            <a:endCxn id="43" idx="3"/>
          </p:cNvCxnSpPr>
          <p:nvPr/>
        </p:nvCxnSpPr>
        <p:spPr>
          <a:xfrm flipH="1">
            <a:off x="4744446" y="4643869"/>
            <a:ext cx="297249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62BFBB9-32ED-D3F4-692C-F4C929B811DB}"/>
              </a:ext>
            </a:extLst>
          </p:cNvPr>
          <p:cNvSpPr/>
          <p:nvPr/>
        </p:nvSpPr>
        <p:spPr>
          <a:xfrm>
            <a:off x="1948933" y="4520213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47AD5111-AB42-EA06-E051-BD8585B05806}"/>
              </a:ext>
            </a:extLst>
          </p:cNvPr>
          <p:cNvSpPr txBox="1"/>
          <p:nvPr/>
        </p:nvSpPr>
        <p:spPr>
          <a:xfrm>
            <a:off x="1949160" y="4643869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신버전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재검증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CDF0A83-8FB9-E41D-38B7-7B1956BDDA12}"/>
              </a:ext>
            </a:extLst>
          </p:cNvPr>
          <p:cNvSpPr/>
          <p:nvPr/>
        </p:nvSpPr>
        <p:spPr>
          <a:xfrm>
            <a:off x="3507144" y="4520213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CFAA710-952C-DC6B-18D8-94C6155AFA43}"/>
              </a:ext>
            </a:extLst>
          </p:cNvPr>
          <p:cNvSpPr txBox="1"/>
          <p:nvPr/>
        </p:nvSpPr>
        <p:spPr>
          <a:xfrm>
            <a:off x="3507371" y="4643869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추적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EB2C8AC-2F8F-8F73-7F27-D9ADCE126DAD}"/>
              </a:ext>
            </a:extLst>
          </p:cNvPr>
          <p:cNvSpPr/>
          <p:nvPr/>
        </p:nvSpPr>
        <p:spPr>
          <a:xfrm>
            <a:off x="5075472" y="4520213"/>
            <a:ext cx="1200299" cy="4760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8A25A77-C870-0075-5801-5695642DCBF2}"/>
              </a:ext>
            </a:extLst>
          </p:cNvPr>
          <p:cNvSpPr txBox="1"/>
          <p:nvPr/>
        </p:nvSpPr>
        <p:spPr>
          <a:xfrm>
            <a:off x="5075699" y="4643869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배포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4669E7B-46F8-FFEF-F693-ECE76C4183C8}"/>
              </a:ext>
            </a:extLst>
          </p:cNvPr>
          <p:cNvSpPr txBox="1"/>
          <p:nvPr/>
        </p:nvSpPr>
        <p:spPr>
          <a:xfrm>
            <a:off x="363636" y="4643869"/>
            <a:ext cx="1199844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승인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</a:p>
        </p:txBody>
      </p:sp>
      <p:cxnSp>
        <p:nvCxnSpPr>
          <p:cNvPr id="96" name="연결선: 꺾임 95">
            <a:extLst>
              <a:ext uri="{FF2B5EF4-FFF2-40B4-BE49-F238E27FC236}">
                <a16:creationId xmlns:a16="http://schemas.microsoft.com/office/drawing/2014/main" id="{8C15E86D-26FD-CFAD-4D57-9F035B9EA81E}"/>
              </a:ext>
            </a:extLst>
          </p:cNvPr>
          <p:cNvCxnSpPr>
            <a:cxnSpLocks/>
            <a:stCxn id="15" idx="3"/>
            <a:endCxn id="47" idx="3"/>
          </p:cNvCxnSpPr>
          <p:nvPr/>
        </p:nvCxnSpPr>
        <p:spPr>
          <a:xfrm>
            <a:off x="6309549" y="3524083"/>
            <a:ext cx="12700" cy="1119786"/>
          </a:xfrm>
          <a:prstGeom prst="bentConnector3">
            <a:avLst>
              <a:gd name="adj1" fmla="val 1450000"/>
            </a:avLst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5993A54E-C22E-BA88-2ACC-27AB3D86CBD6}"/>
              </a:ext>
            </a:extLst>
          </p:cNvPr>
          <p:cNvCxnSpPr>
            <a:stCxn id="41" idx="0"/>
            <a:endCxn id="9" idx="2"/>
          </p:cNvCxnSpPr>
          <p:nvPr/>
        </p:nvCxnSpPr>
        <p:spPr>
          <a:xfrm flipV="1">
            <a:off x="2555005" y="3967891"/>
            <a:ext cx="0" cy="232169"/>
          </a:xfrm>
          <a:prstGeom prst="straightConnector1">
            <a:avLst/>
          </a:prstGeom>
          <a:ln w="19050">
            <a:solidFill>
              <a:schemeClr val="tx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연결선: 꺾임 107">
            <a:extLst>
              <a:ext uri="{FF2B5EF4-FFF2-40B4-BE49-F238E27FC236}">
                <a16:creationId xmlns:a16="http://schemas.microsoft.com/office/drawing/2014/main" id="{899EADDE-1B8A-7CFD-0716-D3A7B73552F9}"/>
              </a:ext>
            </a:extLst>
          </p:cNvPr>
          <p:cNvCxnSpPr>
            <a:stCxn id="41" idx="0"/>
            <a:endCxn id="13" idx="2"/>
          </p:cNvCxnSpPr>
          <p:nvPr/>
        </p:nvCxnSpPr>
        <p:spPr>
          <a:xfrm rot="16200000" flipV="1">
            <a:off x="1645889" y="3290944"/>
            <a:ext cx="232167" cy="1586066"/>
          </a:xfrm>
          <a:prstGeom prst="bentConnector3">
            <a:avLst>
              <a:gd name="adj1" fmla="val 33589"/>
            </a:avLst>
          </a:prstGeom>
          <a:ln w="19050">
            <a:solidFill>
              <a:schemeClr val="tx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사각형: 둥근 모서리 119">
            <a:extLst>
              <a:ext uri="{FF2B5EF4-FFF2-40B4-BE49-F238E27FC236}">
                <a16:creationId xmlns:a16="http://schemas.microsoft.com/office/drawing/2014/main" id="{B2C156D9-6E21-787C-7253-9FF87C4FFA15}"/>
              </a:ext>
            </a:extLst>
          </p:cNvPr>
          <p:cNvSpPr/>
          <p:nvPr/>
        </p:nvSpPr>
        <p:spPr>
          <a:xfrm>
            <a:off x="312925" y="5273039"/>
            <a:ext cx="6221225" cy="861061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2" name="사각형: 둥근 위쪽 모서리 121">
            <a:extLst>
              <a:ext uri="{FF2B5EF4-FFF2-40B4-BE49-F238E27FC236}">
                <a16:creationId xmlns:a16="http://schemas.microsoft.com/office/drawing/2014/main" id="{407F76C4-F200-B814-EDDD-BC741AA2878A}"/>
              </a:ext>
            </a:extLst>
          </p:cNvPr>
          <p:cNvSpPr/>
          <p:nvPr/>
        </p:nvSpPr>
        <p:spPr>
          <a:xfrm>
            <a:off x="306574" y="5251938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각 단계 공통 상태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912C0D2C-D53F-69EF-D4B1-897D3D89F4A8}"/>
              </a:ext>
            </a:extLst>
          </p:cNvPr>
          <p:cNvSpPr/>
          <p:nvPr/>
        </p:nvSpPr>
        <p:spPr>
          <a:xfrm>
            <a:off x="431064" y="5584272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진행상태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대기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진행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완료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반려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5F694F8E-B5B2-2FD8-CA25-49D54D646BBA}"/>
              </a:ext>
            </a:extLst>
          </p:cNvPr>
          <p:cNvSpPr/>
          <p:nvPr/>
        </p:nvSpPr>
        <p:spPr>
          <a:xfrm>
            <a:off x="5044637" y="5584272"/>
            <a:ext cx="1365986" cy="493613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관리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전환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이력</a:t>
            </a: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894606A1-FBA6-DFA6-12A3-A583B3813016}"/>
              </a:ext>
            </a:extLst>
          </p:cNvPr>
          <p:cNvSpPr/>
          <p:nvPr/>
        </p:nvSpPr>
        <p:spPr>
          <a:xfrm>
            <a:off x="1969233" y="5584272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작업자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검수자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D488B6DA-3AD9-629B-625E-A73A8F23BB74}"/>
              </a:ext>
            </a:extLst>
          </p:cNvPr>
          <p:cNvSpPr/>
          <p:nvPr/>
        </p:nvSpPr>
        <p:spPr>
          <a:xfrm>
            <a:off x="3507402" y="5584272"/>
            <a:ext cx="1365986" cy="493613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산출물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 산출물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886A152-5F57-6EA0-0B0D-B46AF8BB2D86}"/>
              </a:ext>
            </a:extLst>
          </p:cNvPr>
          <p:cNvSpPr/>
          <p:nvPr/>
        </p:nvSpPr>
        <p:spPr>
          <a:xfrm>
            <a:off x="316309" y="6134100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워크플로우 흐름에 따라 작업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UX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산출물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 통합 관리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 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연계하여 단계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상태를 현황관리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메타데이터에 반영</a:t>
            </a:r>
            <a:endParaRPr kumimoji="1" lang="en-US" altLang="ko-KR" sz="12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09812B5-0ACF-C354-8CFF-738813FF69A5}"/>
              </a:ext>
            </a:extLst>
          </p:cNvPr>
          <p:cNvCxnSpPr>
            <a:cxnSpLocks/>
          </p:cNvCxnSpPr>
          <p:nvPr/>
        </p:nvCxnSpPr>
        <p:spPr>
          <a:xfrm>
            <a:off x="312925" y="696284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5C9C7E30-1541-80AF-1F56-C4E7237F3E88}"/>
              </a:ext>
            </a:extLst>
          </p:cNvPr>
          <p:cNvSpPr txBox="1"/>
          <p:nvPr/>
        </p:nvSpPr>
        <p:spPr>
          <a:xfrm>
            <a:off x="335011" y="693676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유형별 핵심 검수 항목</a:t>
            </a:r>
          </a:p>
        </p:txBody>
      </p:sp>
      <p:sp>
        <p:nvSpPr>
          <p:cNvPr id="135" name="모서리가 둥근 직사각형 222">
            <a:extLst>
              <a:ext uri="{FF2B5EF4-FFF2-40B4-BE49-F238E27FC236}">
                <a16:creationId xmlns:a16="http://schemas.microsoft.com/office/drawing/2014/main" id="{20181C9E-D7F0-0998-04A1-B6CA556837D2}"/>
              </a:ext>
            </a:extLst>
          </p:cNvPr>
          <p:cNvSpPr/>
          <p:nvPr/>
        </p:nvSpPr>
        <p:spPr bwMode="gray">
          <a:xfrm>
            <a:off x="258881" y="7232022"/>
            <a:ext cx="6331426" cy="24644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A0816D9F-B01D-C6BF-C700-91BEF4955EF0}"/>
              </a:ext>
            </a:extLst>
          </p:cNvPr>
          <p:cNvSpPr/>
          <p:nvPr/>
        </p:nvSpPr>
        <p:spPr>
          <a:xfrm>
            <a:off x="316309" y="918757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생성부터 폐기까지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단계를 워크플로우로 관리하고 각 단계에 진행상태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이력을 공통 적용함으로써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전 생애주기의 상태를 누락 없이 추적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7" name="Table 0">
            <a:extLst>
              <a:ext uri="{FF2B5EF4-FFF2-40B4-BE49-F238E27FC236}">
                <a16:creationId xmlns:a16="http://schemas.microsoft.com/office/drawing/2014/main" id="{B4EFAD2C-09D1-2720-4F13-E7360C24FDB0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270252"/>
          <a:ext cx="6165724" cy="1933331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407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95738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3835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작업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산출물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생성계획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생성계획서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기본 메타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스테이징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민감정보 점검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원시 폐기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점검 결과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내역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레이블링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작업물량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진행상태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패키징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 묶음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 구성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패키지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배포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 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94858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추적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383825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신버전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생성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재검증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신버전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재검증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결과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3169527"/>
                  </a:ext>
                </a:extLst>
              </a:tr>
              <a:tr h="2118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승인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171693"/>
                  </a:ext>
                </a:extLst>
              </a:tr>
            </a:tbl>
          </a:graphicData>
        </a:graphic>
      </p:graphicFrame>
      <p:sp>
        <p:nvSpPr>
          <p:cNvPr id="14" name="Google Shape;3436;p56">
            <a:extLst>
              <a:ext uri="{FF2B5EF4-FFF2-40B4-BE49-F238E27FC236}">
                <a16:creationId xmlns:a16="http://schemas.microsoft.com/office/drawing/2014/main" id="{44CC46E7-EED8-09BD-08C5-099007D2828E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" name="Google Shape;3437;p56">
            <a:extLst>
              <a:ext uri="{FF2B5EF4-FFF2-40B4-BE49-F238E27FC236}">
                <a16:creationId xmlns:a16="http://schemas.microsoft.com/office/drawing/2014/main" id="{4C6CBCE2-49D1-E51E-A782-ECDA27B0F35E}"/>
              </a:ext>
            </a:extLst>
          </p:cNvPr>
          <p:cNvSpPr/>
          <p:nvPr/>
        </p:nvSpPr>
        <p:spPr>
          <a:xfrm>
            <a:off x="3510663" y="2701450"/>
            <a:ext cx="1199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오타수정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245245263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ADEE2C-9F12-2FDA-4D1B-4B15DAD7CC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36214FF-C385-B2A5-01C9-1CC58AA3B91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3AB1931-729B-BF33-7BEA-6344CDF773E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78CBA9-8C0B-999D-2283-244193320E8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처리 현황 표시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87B5CE-5ACE-7AF4-7905-BAE9D4352FD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88EBBB4-DE0A-0F0D-64BF-CA340D2832F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 관리체계 구현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단계별 처리 현황을 요약 지표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현황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 알림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조건별 조회로 </a:t>
            </a:r>
            <a:r>
              <a:rPr lang="ko-KR" altLang="en-US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대시보드화하여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진행 상태와 병목을 한눈에 파악할 수 있는 현황 관리 체계를 구현함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(FR-005·FR-004)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0F2A89D-8404-B85E-8C80-11DEF70E7DA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3C893D0-B95F-43DA-6695-1EC58463FE74}"/>
              </a:ext>
            </a:extLst>
          </p:cNvPr>
          <p:cNvSpPr txBox="1"/>
          <p:nvPr/>
        </p:nvSpPr>
        <p:spPr>
          <a:xfrm>
            <a:off x="335011" y="2371141"/>
            <a:ext cx="40464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단계별 조회를 통한 현황 관리 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610D4D7-E539-2F3A-1217-B2AA2A33B7C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FR-005, FR-004</a:t>
            </a:r>
          </a:p>
        </p:txBody>
      </p:sp>
      <p:sp>
        <p:nvSpPr>
          <p:cNvPr id="63" name="모서리가 둥근 직사각형 222">
            <a:extLst>
              <a:ext uri="{FF2B5EF4-FFF2-40B4-BE49-F238E27FC236}">
                <a16:creationId xmlns:a16="http://schemas.microsoft.com/office/drawing/2014/main" id="{01D26B44-26E8-3061-E17D-04DFF19E6E7A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CBB3B09-79F1-E6F4-E2F9-CA9076836791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표시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 각 단계의 처리 상태를 실시간으로 가시화하여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 현황 파악과 지연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건의 신속한 식별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조치를 지원함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(FR-005·FR-004)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라이프사이클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(2.3.1)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기반으로 단계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상태를 집계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표시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관리자가 현황을 직관적으로 파악하도록 시각화 중심으로 구성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4008444-E578-DCD1-5D97-9DA84EA4FC8D}"/>
              </a:ext>
            </a:extLst>
          </p:cNvPr>
          <p:cNvSpPr/>
          <p:nvPr/>
        </p:nvSpPr>
        <p:spPr>
          <a:xfrm>
            <a:off x="316309" y="3728014"/>
            <a:ext cx="6286697" cy="57437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요약 지표 표시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 데이터셋 수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진행중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완료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등 핵심 지표를 요약 카드로 표시함</a:t>
            </a:r>
            <a:r>
              <a:rPr kumimoji="1" lang="en-US" altLang="ko-KR" sz="1200" spc="-7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 데이터셋 수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분포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현황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 현황을 상단 요약으로 제공</a:t>
            </a:r>
            <a:endParaRPr kumimoji="1" lang="ko-KR" altLang="en-US" sz="1100" b="1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A371B41F-D253-0175-C769-1043B34B10D8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사각형: 둥근 위쪽 모서리 66">
            <a:extLst>
              <a:ext uri="{FF2B5EF4-FFF2-40B4-BE49-F238E27FC236}">
                <a16:creationId xmlns:a16="http://schemas.microsoft.com/office/drawing/2014/main" id="{7B5B6F15-CB55-330D-5D73-1B98D55497E8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 dirty="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지표 집계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1D985817-2587-BEF8-A050-848F5F767F34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사각형: 둥근 위쪽 모서리 68">
            <a:extLst>
              <a:ext uri="{FF2B5EF4-FFF2-40B4-BE49-F238E27FC236}">
                <a16:creationId xmlns:a16="http://schemas.microsoft.com/office/drawing/2014/main" id="{77281558-AF5A-6F85-EB7C-534DAA4E1E2F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시각화</a:t>
            </a:r>
            <a:endParaRPr kumimoji="0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67DCE219-B27A-7D49-A254-944F6D0BBF0B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사각형: 둥근 위쪽 모서리 70">
            <a:extLst>
              <a:ext uri="{FF2B5EF4-FFF2-40B4-BE49-F238E27FC236}">
                <a16:creationId xmlns:a16="http://schemas.microsoft.com/office/drawing/2014/main" id="{1DCDA0CC-12B5-336A-0844-2E7FDD273C26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지연 식별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알림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F1AE2C83-77A0-2D65-1FA5-DBC818C0A64A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3" name="사각형: 둥근 위쪽 모서리 72">
            <a:extLst>
              <a:ext uri="{FF2B5EF4-FFF2-40B4-BE49-F238E27FC236}">
                <a16:creationId xmlns:a16="http://schemas.microsoft.com/office/drawing/2014/main" id="{B2AD2697-D3B8-FA31-E660-841114520AC1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조회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4" name="이등변 삼각형 73">
            <a:extLst>
              <a:ext uri="{FF2B5EF4-FFF2-40B4-BE49-F238E27FC236}">
                <a16:creationId xmlns:a16="http://schemas.microsoft.com/office/drawing/2014/main" id="{12065739-42B2-D0D1-FFA7-A8A6DC033D2E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5" name="이등변 삼각형 74">
            <a:extLst>
              <a:ext uri="{FF2B5EF4-FFF2-40B4-BE49-F238E27FC236}">
                <a16:creationId xmlns:a16="http://schemas.microsoft.com/office/drawing/2014/main" id="{E851F193-FE67-22FF-6A0F-F60A52171FA7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6" name="이등변 삼각형 75">
            <a:extLst>
              <a:ext uri="{FF2B5EF4-FFF2-40B4-BE49-F238E27FC236}">
                <a16:creationId xmlns:a16="http://schemas.microsoft.com/office/drawing/2014/main" id="{C0B09B17-5386-1D5E-BCC4-658B188D67B8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7" name="이등변 삼각형 76">
            <a:extLst>
              <a:ext uri="{FF2B5EF4-FFF2-40B4-BE49-F238E27FC236}">
                <a16:creationId xmlns:a16="http://schemas.microsoft.com/office/drawing/2014/main" id="{63D151A5-1194-268D-D9B4-C304671669A7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8" name="이등변 삼각형 77">
            <a:extLst>
              <a:ext uri="{FF2B5EF4-FFF2-40B4-BE49-F238E27FC236}">
                <a16:creationId xmlns:a16="http://schemas.microsoft.com/office/drawing/2014/main" id="{5BCD3534-5C79-5D99-C730-B34553DCA19C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9" name="이등변 삼각형 78">
            <a:extLst>
              <a:ext uri="{FF2B5EF4-FFF2-40B4-BE49-F238E27FC236}">
                <a16:creationId xmlns:a16="http://schemas.microsoft.com/office/drawing/2014/main" id="{1F3A4516-7491-6F11-11D8-896ED8BB8033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D8E08633-8711-7AD9-5161-F93336FB2387}"/>
              </a:ext>
            </a:extLst>
          </p:cNvPr>
          <p:cNvSpPr txBox="1"/>
          <p:nvPr/>
        </p:nvSpPr>
        <p:spPr>
          <a:xfrm>
            <a:off x="34285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 식별자 기반 지표 집계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7E4C27F-7CE4-6E28-2891-8078F5C3624A}"/>
              </a:ext>
            </a:extLst>
          </p:cNvPr>
          <p:cNvSpPr txBox="1"/>
          <p:nvPr/>
        </p:nvSpPr>
        <p:spPr>
          <a:xfrm>
            <a:off x="192346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단계별 건수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비율 시각화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343A574-F8CB-809D-F9D8-FF12055C0066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기한초과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미처리 자동 식별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알림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A8E12518-7997-0E4B-1672-FD50849B2C18}"/>
              </a:ext>
            </a:extLst>
          </p:cNvPr>
          <p:cNvSpPr txBox="1"/>
          <p:nvPr/>
        </p:nvSpPr>
        <p:spPr>
          <a:xfrm>
            <a:off x="508468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조건별 조회</a:t>
            </a:r>
            <a:r>
              <a:rPr lang="en-US" altLang="ko-KR" sz="9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dirty="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통계 리포트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65092B2-A151-5831-E07A-91D56F45BC32}"/>
              </a:ext>
            </a:extLst>
          </p:cNvPr>
          <p:cNvSpPr/>
          <p:nvPr/>
        </p:nvSpPr>
        <p:spPr>
          <a:xfrm>
            <a:off x="316309" y="4326535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처리 현황 표시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 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8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처리 건수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비율을 진행상태별로 </a:t>
            </a:r>
            <a:r>
              <a:rPr kumimoji="1" lang="ko-KR" altLang="en-US" sz="1200" spc="-5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시각화함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(FR-004·FR-005)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생성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스테이징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레이블링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패키징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단계별 건수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비율 그래프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진행상태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대기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진행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완료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반려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 색상 구분으로 병목 단계 식별</a:t>
            </a:r>
            <a:endParaRPr kumimoji="1" lang="ko-KR" altLang="en-US" sz="1100" b="1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3893AFA-E209-2509-F453-EB1D83FEFE5F}"/>
              </a:ext>
            </a:extLst>
          </p:cNvPr>
          <p:cNvSpPr/>
          <p:nvPr/>
        </p:nvSpPr>
        <p:spPr>
          <a:xfrm>
            <a:off x="310894" y="6571077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조건별 조회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기간 등 조건으로 검색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필터링하고 상세내역 조회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리포트를 산출함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조건별 조회 결과를 </a:t>
            </a:r>
            <a:r>
              <a:rPr kumimoji="1" lang="ko-KR" altLang="en-US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통계화하여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운영 리포트로 활용</a:t>
            </a:r>
            <a:endParaRPr kumimoji="1" lang="ko-KR" altLang="en-US" sz="1100" b="1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FA5FDEE-F875-6C1A-2B6A-B3D19753D9EF}"/>
              </a:ext>
            </a:extLst>
          </p:cNvPr>
          <p:cNvSpPr/>
          <p:nvPr/>
        </p:nvSpPr>
        <p:spPr>
          <a:xfrm>
            <a:off x="316309" y="795355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 대시보드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지표 정의서로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대시보드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(FR-018)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0F07291E-6F27-4670-97AC-740DD178B07D}"/>
              </a:ext>
            </a:extLst>
          </p:cNvPr>
          <p:cNvSpPr/>
          <p:nvPr/>
        </p:nvSpPr>
        <p:spPr>
          <a:xfrm>
            <a:off x="316309" y="5166661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알림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처리기한 초과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건을 자동 식별하여 목록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알림으로 표시하고 담당자에게 연계함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 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초과 기간 표시 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</a:t>
            </a:r>
            <a:r>
              <a:rPr kumimoji="1" lang="en-US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표시</a:t>
            </a:r>
            <a:endParaRPr kumimoji="1" lang="en-US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 알림으로 후속 조치를 촉진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4DFFDAFA-2662-FEFA-4D85-B70E503F1876}"/>
              </a:ext>
            </a:extLst>
          </p:cNvPr>
          <p:cNvSpPr/>
          <p:nvPr/>
        </p:nvSpPr>
        <p:spPr>
          <a:xfrm>
            <a:off x="2035889" y="5984921"/>
            <a:ext cx="1267854" cy="501037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알림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0" name="사각형: 둥근 모서리 119">
            <a:extLst>
              <a:ext uri="{FF2B5EF4-FFF2-40B4-BE49-F238E27FC236}">
                <a16:creationId xmlns:a16="http://schemas.microsoft.com/office/drawing/2014/main" id="{686D0260-10C1-600C-46D7-C5C70D0EE01B}"/>
              </a:ext>
            </a:extLst>
          </p:cNvPr>
          <p:cNvSpPr/>
          <p:nvPr/>
        </p:nvSpPr>
        <p:spPr>
          <a:xfrm>
            <a:off x="3591403" y="5984921"/>
            <a:ext cx="1267854" cy="50103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 공유</a:t>
            </a:r>
          </a:p>
        </p:txBody>
      </p:sp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A4596BA3-42B3-9BE3-F5D7-A626B6036C96}"/>
              </a:ext>
            </a:extLst>
          </p:cNvPr>
          <p:cNvSpPr/>
          <p:nvPr/>
        </p:nvSpPr>
        <p:spPr>
          <a:xfrm>
            <a:off x="449823" y="5984923"/>
            <a:ext cx="1267854" cy="501037"/>
          </a:xfrm>
          <a:prstGeom prst="roundRect">
            <a:avLst>
              <a:gd name="adj" fmla="val 699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지연감지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4A649CA1-EF7F-F02F-200E-8423716981C3}"/>
              </a:ext>
            </a:extLst>
          </p:cNvPr>
          <p:cNvSpPr/>
          <p:nvPr/>
        </p:nvSpPr>
        <p:spPr>
          <a:xfrm>
            <a:off x="5156506" y="5984921"/>
            <a:ext cx="1267854" cy="501037"/>
          </a:xfrm>
          <a:prstGeom prst="roundRect">
            <a:avLst>
              <a:gd name="adj" fmla="val 6990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72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후속 조치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24" name="직선 화살표 연결선 123">
            <a:extLst>
              <a:ext uri="{FF2B5EF4-FFF2-40B4-BE49-F238E27FC236}">
                <a16:creationId xmlns:a16="http://schemas.microsoft.com/office/drawing/2014/main" id="{1D9F0C68-0768-8675-5515-6DA6D7D32828}"/>
              </a:ext>
            </a:extLst>
          </p:cNvPr>
          <p:cNvCxnSpPr>
            <a:cxnSpLocks/>
            <a:stCxn id="121" idx="3"/>
            <a:endCxn id="119" idx="1"/>
          </p:cNvCxnSpPr>
          <p:nvPr/>
        </p:nvCxnSpPr>
        <p:spPr>
          <a:xfrm flipV="1">
            <a:off x="1717677" y="6235440"/>
            <a:ext cx="318212" cy="2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화살표 연결선 124">
            <a:extLst>
              <a:ext uri="{FF2B5EF4-FFF2-40B4-BE49-F238E27FC236}">
                <a16:creationId xmlns:a16="http://schemas.microsoft.com/office/drawing/2014/main" id="{E149DEE7-B4A1-DABE-14F6-C65C411B4AA5}"/>
              </a:ext>
            </a:extLst>
          </p:cNvPr>
          <p:cNvCxnSpPr>
            <a:cxnSpLocks/>
            <a:stCxn id="119" idx="3"/>
            <a:endCxn id="120" idx="1"/>
          </p:cNvCxnSpPr>
          <p:nvPr/>
        </p:nvCxnSpPr>
        <p:spPr>
          <a:xfrm>
            <a:off x="3303743" y="6235440"/>
            <a:ext cx="28766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734368F2-157E-2D4E-00E0-0CAB3999084D}"/>
              </a:ext>
            </a:extLst>
          </p:cNvPr>
          <p:cNvCxnSpPr>
            <a:cxnSpLocks/>
            <a:stCxn id="120" idx="3"/>
            <a:endCxn id="122" idx="1"/>
          </p:cNvCxnSpPr>
          <p:nvPr/>
        </p:nvCxnSpPr>
        <p:spPr>
          <a:xfrm>
            <a:off x="4859257" y="6235440"/>
            <a:ext cx="297249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7131A0FA-E910-8F98-16D1-2A98B26C1982}"/>
              </a:ext>
            </a:extLst>
          </p:cNvPr>
          <p:cNvSpPr/>
          <p:nvPr/>
        </p:nvSpPr>
        <p:spPr>
          <a:xfrm>
            <a:off x="449823" y="7356234"/>
            <a:ext cx="921777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</a:t>
            </a:r>
          </a:p>
        </p:txBody>
      </p:sp>
      <p:sp>
        <p:nvSpPr>
          <p:cNvPr id="142" name="사각형: 둥근 모서리 141">
            <a:extLst>
              <a:ext uri="{FF2B5EF4-FFF2-40B4-BE49-F238E27FC236}">
                <a16:creationId xmlns:a16="http://schemas.microsoft.com/office/drawing/2014/main" id="{BB6D8672-127A-FBF1-54D9-E6F4A37D0B19}"/>
              </a:ext>
            </a:extLst>
          </p:cNvPr>
          <p:cNvSpPr/>
          <p:nvPr/>
        </p:nvSpPr>
        <p:spPr>
          <a:xfrm>
            <a:off x="1423613" y="7356234"/>
            <a:ext cx="921777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</a:t>
            </a: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675FCF57-5399-A02B-AC85-648C83BDDFFB}"/>
              </a:ext>
            </a:extLst>
          </p:cNvPr>
          <p:cNvSpPr/>
          <p:nvPr/>
        </p:nvSpPr>
        <p:spPr>
          <a:xfrm>
            <a:off x="2381966" y="7356234"/>
            <a:ext cx="921777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</a:t>
            </a: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38271190-9E93-0149-BEB7-C6C03328BF77}"/>
              </a:ext>
            </a:extLst>
          </p:cNvPr>
          <p:cNvSpPr/>
          <p:nvPr/>
        </p:nvSpPr>
        <p:spPr>
          <a:xfrm>
            <a:off x="3340319" y="7356234"/>
            <a:ext cx="921777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</a:t>
            </a: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4FFD4B23-F147-D69D-5C0B-5D2FF7E5A39D}"/>
              </a:ext>
            </a:extLst>
          </p:cNvPr>
          <p:cNvSpPr/>
          <p:nvPr/>
        </p:nvSpPr>
        <p:spPr>
          <a:xfrm>
            <a:off x="4298672" y="7356234"/>
            <a:ext cx="921777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기간</a:t>
            </a:r>
          </a:p>
        </p:txBody>
      </p: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34D9D47A-EF2F-4D8D-0F57-D28213A43E11}"/>
              </a:ext>
            </a:extLst>
          </p:cNvPr>
          <p:cNvSpPr/>
          <p:nvPr/>
        </p:nvSpPr>
        <p:spPr>
          <a:xfrm>
            <a:off x="5251654" y="7356234"/>
            <a:ext cx="587171" cy="279635"/>
          </a:xfrm>
          <a:prstGeom prst="roundRect">
            <a:avLst>
              <a:gd name="adj" fmla="val 3612"/>
            </a:avLst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21E2B559-D5D0-1B26-A68B-726F5A9E96D6}"/>
              </a:ext>
            </a:extLst>
          </p:cNvPr>
          <p:cNvSpPr/>
          <p:nvPr/>
        </p:nvSpPr>
        <p:spPr>
          <a:xfrm>
            <a:off x="5870030" y="7356234"/>
            <a:ext cx="587171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초기화</a:t>
            </a:r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D40A2855-8247-5B11-E8B5-C46C1ABD657C}"/>
              </a:ext>
            </a:extLst>
          </p:cNvPr>
          <p:cNvSpPr/>
          <p:nvPr/>
        </p:nvSpPr>
        <p:spPr>
          <a:xfrm>
            <a:off x="449823" y="7679333"/>
            <a:ext cx="6007378" cy="27963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조건별 목록 조회 </a:t>
            </a:r>
            <a:r>
              <a:rPr lang="en-US" altLang="ko-KR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+ </a:t>
            </a:r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상세내역</a:t>
            </a:r>
            <a:r>
              <a:rPr lang="en-US" altLang="ko-KR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+ </a:t>
            </a:r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 리포트</a:t>
            </a:r>
          </a:p>
        </p:txBody>
      </p:sp>
      <p:sp>
        <p:nvSpPr>
          <p:cNvPr id="149" name="이등변 삼각형 148">
            <a:extLst>
              <a:ext uri="{FF2B5EF4-FFF2-40B4-BE49-F238E27FC236}">
                <a16:creationId xmlns:a16="http://schemas.microsoft.com/office/drawing/2014/main" id="{3A3D3886-CEF1-1BE1-62FB-EE039129781A}"/>
              </a:ext>
            </a:extLst>
          </p:cNvPr>
          <p:cNvSpPr/>
          <p:nvPr/>
        </p:nvSpPr>
        <p:spPr>
          <a:xfrm flipV="1">
            <a:off x="1202410" y="7448393"/>
            <a:ext cx="157162" cy="106137"/>
          </a:xfrm>
          <a:prstGeom prst="triangl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0" name="이등변 삼각형 149">
            <a:extLst>
              <a:ext uri="{FF2B5EF4-FFF2-40B4-BE49-F238E27FC236}">
                <a16:creationId xmlns:a16="http://schemas.microsoft.com/office/drawing/2014/main" id="{02DC97EA-22E1-07DE-6398-7C9C77336D11}"/>
              </a:ext>
            </a:extLst>
          </p:cNvPr>
          <p:cNvSpPr/>
          <p:nvPr/>
        </p:nvSpPr>
        <p:spPr>
          <a:xfrm flipV="1">
            <a:off x="2162630" y="7448393"/>
            <a:ext cx="157162" cy="106137"/>
          </a:xfrm>
          <a:prstGeom prst="triangl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1" name="이등변 삼각형 150">
            <a:extLst>
              <a:ext uri="{FF2B5EF4-FFF2-40B4-BE49-F238E27FC236}">
                <a16:creationId xmlns:a16="http://schemas.microsoft.com/office/drawing/2014/main" id="{AD7A90A0-BC7B-AF93-CFBC-91A601EC1171}"/>
              </a:ext>
            </a:extLst>
          </p:cNvPr>
          <p:cNvSpPr/>
          <p:nvPr/>
        </p:nvSpPr>
        <p:spPr>
          <a:xfrm flipV="1">
            <a:off x="3128632" y="7448393"/>
            <a:ext cx="157162" cy="106137"/>
          </a:xfrm>
          <a:prstGeom prst="triangl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2" name="이등변 삼각형 151">
            <a:extLst>
              <a:ext uri="{FF2B5EF4-FFF2-40B4-BE49-F238E27FC236}">
                <a16:creationId xmlns:a16="http://schemas.microsoft.com/office/drawing/2014/main" id="{14AB3F49-5BDE-D43E-DFD9-730CFEE71444}"/>
              </a:ext>
            </a:extLst>
          </p:cNvPr>
          <p:cNvSpPr/>
          <p:nvPr/>
        </p:nvSpPr>
        <p:spPr>
          <a:xfrm flipV="1">
            <a:off x="4081227" y="7448393"/>
            <a:ext cx="157162" cy="106137"/>
          </a:xfrm>
          <a:prstGeom prst="triangl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3" name="이등변 삼각형 152">
            <a:extLst>
              <a:ext uri="{FF2B5EF4-FFF2-40B4-BE49-F238E27FC236}">
                <a16:creationId xmlns:a16="http://schemas.microsoft.com/office/drawing/2014/main" id="{2253DD8C-63C0-E5E7-14B0-CD0B1644EC1F}"/>
              </a:ext>
            </a:extLst>
          </p:cNvPr>
          <p:cNvSpPr/>
          <p:nvPr/>
        </p:nvSpPr>
        <p:spPr>
          <a:xfrm flipV="1">
            <a:off x="5051259" y="7448393"/>
            <a:ext cx="157162" cy="106137"/>
          </a:xfrm>
          <a:prstGeom prst="triangl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Google Shape;3496;p57">
            <a:extLst>
              <a:ext uri="{FF2B5EF4-FFF2-40B4-BE49-F238E27FC236}">
                <a16:creationId xmlns:a16="http://schemas.microsoft.com/office/drawing/2014/main" id="{D3A9410A-6185-787A-8DE3-A29EBA482E11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7516679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5832E0-1B29-AEE6-5093-FC2567AA4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C98C21D-F347-6FA9-10F1-C0A5F8A9181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DBF46F5-C641-BB3E-5D6C-7C656CEA479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75B942-DB0A-2734-352E-DEAF4CF2367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처리 현황 표시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16FD3F4-6EE6-BFD2-AD86-EAC041484DE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39312FC-4CB7-AD20-C722-980BC4A4FBF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대시보드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요약 지표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현황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 알림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조건별 조회로 구성된 처리 현황 대시보드를 제시하여 진행 상태와 병목을 한눈에 파악하는 현황 관리의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D33C1A9-012C-DE8C-6F92-FA1E8A1E607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971363E-0F77-0FEB-AF10-57BD724F7B89}"/>
              </a:ext>
            </a:extLst>
          </p:cNvPr>
          <p:cNvSpPr txBox="1"/>
          <p:nvPr/>
        </p:nvSpPr>
        <p:spPr>
          <a:xfrm>
            <a:off x="335011" y="2371141"/>
            <a:ext cx="40464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 현황 표시 대시보드 구성 예시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59AD3CC-C002-ED59-ADEE-E61548DA81F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FR-005, FR-004</a:t>
            </a:r>
          </a:p>
        </p:txBody>
      </p:sp>
      <p:sp>
        <p:nvSpPr>
          <p:cNvPr id="63" name="모서리가 둥근 직사각형 222">
            <a:extLst>
              <a:ext uri="{FF2B5EF4-FFF2-40B4-BE49-F238E27FC236}">
                <a16:creationId xmlns:a16="http://schemas.microsoft.com/office/drawing/2014/main" id="{FC137408-06C1-38BF-E2D7-EE1134C7D1DD}"/>
              </a:ext>
            </a:extLst>
          </p:cNvPr>
          <p:cNvSpPr/>
          <p:nvPr/>
        </p:nvSpPr>
        <p:spPr bwMode="gray">
          <a:xfrm>
            <a:off x="258881" y="2666394"/>
            <a:ext cx="6331426" cy="4926592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5D953B0-EB68-BCDC-448F-B25729AEF00B}"/>
              </a:ext>
            </a:extLst>
          </p:cNvPr>
          <p:cNvSpPr/>
          <p:nvPr/>
        </p:nvSpPr>
        <p:spPr>
          <a:xfrm>
            <a:off x="316309" y="728775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(2.2.4)·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(2.3.1) 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데이터셋별 단계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제공현황 통합 조회 </a:t>
            </a:r>
            <a:r>
              <a:rPr kumimoji="1" lang="en-US" altLang="ko-KR" sz="1200" spc="-12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  <a:endParaRPr kumimoji="1" lang="ko-KR" altLang="en-US" sz="1100" b="1" spc="-12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4A59D16-D1BC-6485-9E1F-5DB6908863A5}"/>
              </a:ext>
            </a:extLst>
          </p:cNvPr>
          <p:cNvCxnSpPr>
            <a:cxnSpLocks/>
          </p:cNvCxnSpPr>
          <p:nvPr/>
        </p:nvCxnSpPr>
        <p:spPr>
          <a:xfrm>
            <a:off x="312925" y="7659564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52527991-7743-76AC-C6B4-48BC44443B50}"/>
              </a:ext>
            </a:extLst>
          </p:cNvPr>
          <p:cNvSpPr txBox="1"/>
          <p:nvPr/>
        </p:nvSpPr>
        <p:spPr>
          <a:xfrm>
            <a:off x="335011" y="7633487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유형별 핵심 검수 항목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E55B900A-FCB3-67FA-A8A2-76C358CF2D13}"/>
              </a:ext>
            </a:extLst>
          </p:cNvPr>
          <p:cNvSpPr/>
          <p:nvPr/>
        </p:nvSpPr>
        <p:spPr bwMode="gray">
          <a:xfrm>
            <a:off x="258881" y="7901940"/>
            <a:ext cx="6331426" cy="179451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D6CCE81-2560-0811-AFC8-E2747CADB66E}"/>
              </a:ext>
            </a:extLst>
          </p:cNvPr>
          <p:cNvSpPr/>
          <p:nvPr/>
        </p:nvSpPr>
        <p:spPr>
          <a:xfrm>
            <a:off x="316309" y="918757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요약 지표와 단계별 막대 현황으로 전체 진행 상태를 즉시 파악하고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미처리 건을 자동 식별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알림하여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병목 단계에 대한 신속한 조치와 운영 효율을 확보함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1" name="Table 0">
            <a:extLst>
              <a:ext uri="{FF2B5EF4-FFF2-40B4-BE49-F238E27FC236}">
                <a16:creationId xmlns:a16="http://schemas.microsoft.com/office/drawing/2014/main" id="{B1FE72C3-18F1-471A-D64E-E4827EA93EE6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944230"/>
          <a:ext cx="6165724" cy="1230849"/>
        </p:xfrm>
        <a:graphic>
          <a:graphicData uri="http://schemas.openxmlformats.org/drawingml/2006/table">
            <a:tbl>
              <a:tblPr/>
              <a:tblGrid>
                <a:gridCol w="10507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407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957388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1033463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260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구성 요소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표시 내용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요약 지표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현황 파악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단계별 현황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건수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상태별 색상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병목 단계 식별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FR-004·005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미처리 알림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초과기간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신속 조치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알림 연계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조건별 조회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기간 필터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 조회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리포트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527759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리포트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조건별 집계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분석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F2C5544F-6D81-9775-ED16-29D9C48575F2}"/>
              </a:ext>
            </a:extLst>
          </p:cNvPr>
          <p:cNvSpPr/>
          <p:nvPr/>
        </p:nvSpPr>
        <p:spPr>
          <a:xfrm>
            <a:off x="312925" y="2716199"/>
            <a:ext cx="6221225" cy="995992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사각형: 둥근 위쪽 모서리 15">
            <a:extLst>
              <a:ext uri="{FF2B5EF4-FFF2-40B4-BE49-F238E27FC236}">
                <a16:creationId xmlns:a16="http://schemas.microsoft.com/office/drawing/2014/main" id="{667554B2-2FE2-7DF4-231A-DA3DEA6CCE53}"/>
              </a:ext>
            </a:extLst>
          </p:cNvPr>
          <p:cNvSpPr/>
          <p:nvPr/>
        </p:nvSpPr>
        <p:spPr>
          <a:xfrm>
            <a:off x="306574" y="2695098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요약지표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8C811F7C-E6F6-71E1-65B7-CAD7C9B2A9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2390" y="2993622"/>
            <a:ext cx="5351827" cy="702408"/>
          </a:xfrm>
          <a:prstGeom prst="rect">
            <a:avLst/>
          </a:prstGeom>
        </p:spPr>
      </p:pic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9CF309FE-D991-8AA0-F915-9B02E7C8C030}"/>
              </a:ext>
            </a:extLst>
          </p:cNvPr>
          <p:cNvSpPr/>
          <p:nvPr/>
        </p:nvSpPr>
        <p:spPr>
          <a:xfrm>
            <a:off x="312925" y="3794263"/>
            <a:ext cx="6221225" cy="1882637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E846CA38-CFCC-DFD7-6F86-59B198810F88}"/>
              </a:ext>
            </a:extLst>
          </p:cNvPr>
          <p:cNvSpPr/>
          <p:nvPr/>
        </p:nvSpPr>
        <p:spPr>
          <a:xfrm>
            <a:off x="306574" y="3773163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처리 현황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–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8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4CCE331A-3E68-46DB-AB5D-4FB1639DC00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390" y="4053413"/>
            <a:ext cx="5339758" cy="1604125"/>
          </a:xfrm>
          <a:prstGeom prst="rect">
            <a:avLst/>
          </a:prstGeom>
        </p:spPr>
      </p:pic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7A2CAFAB-8FE6-9AC0-0471-9331DF6D3CB7}"/>
              </a:ext>
            </a:extLst>
          </p:cNvPr>
          <p:cNvSpPr/>
          <p:nvPr/>
        </p:nvSpPr>
        <p:spPr>
          <a:xfrm>
            <a:off x="312925" y="5729258"/>
            <a:ext cx="6221225" cy="869662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5B03A9C4-BFAB-83CF-29E5-C52BD5382EDA}"/>
              </a:ext>
            </a:extLst>
          </p:cNvPr>
          <p:cNvSpPr/>
          <p:nvPr/>
        </p:nvSpPr>
        <p:spPr>
          <a:xfrm>
            <a:off x="306574" y="5708158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및 미처리 알림 목록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CE234047-84DC-BEA5-D3F4-3FD6A9836E71}"/>
              </a:ext>
            </a:extLst>
          </p:cNvPr>
          <p:cNvSpPr/>
          <p:nvPr/>
        </p:nvSpPr>
        <p:spPr>
          <a:xfrm>
            <a:off x="312925" y="6645926"/>
            <a:ext cx="6221225" cy="646414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위쪽 모서리 28">
            <a:extLst>
              <a:ext uri="{FF2B5EF4-FFF2-40B4-BE49-F238E27FC236}">
                <a16:creationId xmlns:a16="http://schemas.microsoft.com/office/drawing/2014/main" id="{514FD445-8366-4C9B-2E21-69453C1B7134}"/>
              </a:ext>
            </a:extLst>
          </p:cNvPr>
          <p:cNvSpPr/>
          <p:nvPr/>
        </p:nvSpPr>
        <p:spPr>
          <a:xfrm>
            <a:off x="306574" y="6624826"/>
            <a:ext cx="258902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조건별 조회 및 필터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862234E4-7610-5328-FA39-83AF002AE3C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2390" y="6905095"/>
            <a:ext cx="5351827" cy="375079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4924B98C-14BF-BADC-C792-3B54566233C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2941" y="5986674"/>
            <a:ext cx="4663709" cy="571574"/>
          </a:xfrm>
          <a:prstGeom prst="rect">
            <a:avLst/>
          </a:prstGeom>
        </p:spPr>
      </p:pic>
      <p:sp>
        <p:nvSpPr>
          <p:cNvPr id="17" name="Google Shape;3496;p57">
            <a:extLst>
              <a:ext uri="{FF2B5EF4-FFF2-40B4-BE49-F238E27FC236}">
                <a16:creationId xmlns:a16="http://schemas.microsoft.com/office/drawing/2014/main" id="{0DB3965F-E173-8970-164E-5C3B5AB3C0D0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7833189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5E27BA-9D5E-3AB7-DD96-147B047206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A7E9531-7133-1BE8-71C8-93AE7CB41A8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5F82C08-A570-4A59-E2F4-03EB71441EB9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6B70553-51FE-EFA3-DC19-2EDB314DBEDE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변경 이력 및 참조 관계 추적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9B3CA7B-CC00-F464-A831-262C186AF3B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0C40421-9A2D-B761-3F00-107B0B68E29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 추적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변경 시 변경이력을 기록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비교하고 원천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패키지의 참조 관계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추적하며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변경의 영향도 검토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 점검으로 이어지는 통합 추적 체계를 구현함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(DTR-005·FR-004)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4F1EB7F-827E-F3D9-406C-32C8430F853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0C4BEEE-D9DB-10D4-87F6-A9EC860D30BC}"/>
              </a:ext>
            </a:extLst>
          </p:cNvPr>
          <p:cNvSpPr txBox="1"/>
          <p:nvPr/>
        </p:nvSpPr>
        <p:spPr>
          <a:xfrm>
            <a:off x="335011" y="2371141"/>
            <a:ext cx="42979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 추적을 통한 통합 추적체계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802767A-8AF0-71CE-7914-A02E482974C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FR-004, DTR-005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FAEFAC8C-F43A-5A48-6261-5BC33CDF2474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40767E4-BB23-24FE-9E04-476CECFB0599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 목적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데이터셋의 변경을 체계적으로 기록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추적하고 참조 관계를 관리하여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변경으로 인한 오류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불일치를 예방하고 데이터 신뢰성을 확보함</a:t>
            </a:r>
            <a:r>
              <a:rPr kumimoji="1" lang="en-US" altLang="ko-KR" sz="12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(DTR-005·FR-004)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변경이력과 계보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(Lineage)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통합 관리하여 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무엇이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왜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어떻게 바뀌었는지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어디에 영향을 주는지</a:t>
            </a:r>
            <a:r>
              <a:rPr kumimoji="1" lang="en-US" altLang="ko-KR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추적</a:t>
            </a:r>
            <a:endParaRPr kumimoji="1" lang="en-US" altLang="ko-KR" sz="1100" spc="-5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 추적관리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(2.3.1)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단계와 연계</a:t>
            </a:r>
            <a:endParaRPr kumimoji="1" lang="ko-KR" altLang="en-US" sz="1100" b="1" dirty="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D89888B-5058-CFC7-B271-9F45E84F341E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41C0279A-64D7-63B0-66B6-A28827361F67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기록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3F77220-4A1B-22CF-4398-1DFF9B0C2924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0E2BDF63-F91A-7D54-9799-8BE0E981E33B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 비교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A5A45AD8-3914-91AF-E159-69CC1B2FD568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C5646FAA-5235-7313-C1AA-F0B5328331C4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계보 추적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C584FB65-D82E-960F-FCB0-071A07E0683F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2DA7F3D3-0D70-FD98-7238-28FFF6561395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영향도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CFB04A52-2204-44D9-945D-34F09C63154C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AB93A229-35A0-4C94-1584-BF2B7E4791D8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3F111A14-9FE4-382D-1FCF-6EC116F74165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4C593BCB-36DD-183D-A28B-8138B1B60C1A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2C22DF16-638A-D47F-B9DC-F161730DDCC1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E1247A79-30A8-3D18-32A1-00EAA6DF1D74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ABC69AE-2896-ED04-474E-1987E09D2417}"/>
              </a:ext>
            </a:extLst>
          </p:cNvPr>
          <p:cNvSpPr txBox="1"/>
          <p:nvPr/>
        </p:nvSpPr>
        <p:spPr>
          <a:xfrm>
            <a:off x="34285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사유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항목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적용일자 기록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D2C0AB8-E692-206E-135F-8A43AC386A1A}"/>
              </a:ext>
            </a:extLst>
          </p:cNvPr>
          <p:cNvSpPr txBox="1"/>
          <p:nvPr/>
        </p:nvSpPr>
        <p:spPr>
          <a:xfrm>
            <a:off x="192346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변경 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후 비교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 관리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A1CED3E-DB9B-491A-D515-E5F24B9B244A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~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~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패키지 참조 관계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536CA94-314D-4A81-72D5-8F90851F1625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영향도 검토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정합성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참조무결성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3AE6FC6-2315-27E9-3B66-EA26F232845A}"/>
              </a:ext>
            </a:extLst>
          </p:cNvPr>
          <p:cNvSpPr/>
          <p:nvPr/>
        </p:nvSpPr>
        <p:spPr>
          <a:xfrm>
            <a:off x="316309" y="3765363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관리 기준 수립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주제영역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논리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물리 모델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테이블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컬럼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관계정보의 변경관리 기준을 수립함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시 변경 사유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항목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승인내역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적용일자를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875D3E0-8C32-839B-DD27-24F6AB1B49D6}"/>
              </a:ext>
            </a:extLst>
          </p:cNvPr>
          <p:cNvSpPr/>
          <p:nvPr/>
        </p:nvSpPr>
        <p:spPr>
          <a:xfrm>
            <a:off x="316309" y="5254174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 기록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모델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테이블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컬럼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 항목의 변경이력을 기록하고 변경 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후를 비교함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후 내역 비교를 위한 산출물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이력정보 관리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단위 이력 유지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F59CCB7-22F6-EBA8-99A0-6548847EFF7A}"/>
              </a:ext>
            </a:extLst>
          </p:cNvPr>
          <p:cNvSpPr/>
          <p:nvPr/>
        </p:nvSpPr>
        <p:spPr>
          <a:xfrm>
            <a:off x="316309" y="6105755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 관계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계보 추적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원천데이터→가공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파생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데이터셋→패키지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데이터의 계보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(Lineage)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추적하여 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하위 참조 관계를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특정 데이터가 어떤 원천에서 파생되었는지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시 어떤 하위 데이터에 영향을 주는지 추적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ECFD99A-A9BA-2A83-2916-3155EABFE47F}"/>
              </a:ext>
            </a:extLst>
          </p:cNvPr>
          <p:cNvSpPr/>
          <p:nvPr/>
        </p:nvSpPr>
        <p:spPr>
          <a:xfrm>
            <a:off x="316309" y="6960184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 검토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 점검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시 관련 기능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검색색인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이관 데이터에 대한 영향도를 검토하고 정합성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참조무결성을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점검함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 데이터셋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추출→재검수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필요 여부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판단→담당자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알림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조치 연계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이후 데이터 정합성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참조무결성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점검으로 오류 확산 방지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A9D4FCC-952B-AE11-7C05-0BAEB916DA53}"/>
              </a:ext>
            </a:extLst>
          </p:cNvPr>
          <p:cNvSpPr/>
          <p:nvPr/>
        </p:nvSpPr>
        <p:spPr>
          <a:xfrm>
            <a:off x="316309" y="8031212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 관리방안서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테이블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컬럼 변경이력서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 검토서로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(DTR-005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 정의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51341F3B-E876-9F25-0828-D3889217CC10}"/>
              </a:ext>
            </a:extLst>
          </p:cNvPr>
          <p:cNvSpPr/>
          <p:nvPr/>
        </p:nvSpPr>
        <p:spPr>
          <a:xfrm>
            <a:off x="898135" y="4554810"/>
            <a:ext cx="921777" cy="210095"/>
          </a:xfrm>
          <a:prstGeom prst="roundRect">
            <a:avLst>
              <a:gd name="adj" fmla="val 3612"/>
            </a:avLst>
          </a:prstGeom>
          <a:solidFill>
            <a:srgbClr val="00206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상위 구조</a:t>
            </a:r>
            <a:r>
              <a:rPr lang="en-US" altLang="ko-KR" sz="10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10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779BCEEF-CC2D-CBBD-F1B6-81F21DD8CD27}"/>
              </a:ext>
            </a:extLst>
          </p:cNvPr>
          <p:cNvSpPr/>
          <p:nvPr/>
        </p:nvSpPr>
        <p:spPr>
          <a:xfrm>
            <a:off x="898135" y="4810938"/>
            <a:ext cx="921777" cy="210095"/>
          </a:xfrm>
          <a:prstGeom prst="roundRect">
            <a:avLst>
              <a:gd name="adj" fmla="val 3612"/>
            </a:avLst>
          </a:prstGeom>
          <a:solidFill>
            <a:srgbClr val="00206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중간 구조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5F14ED1-56C9-7E5D-66CB-4EE680D850E5}"/>
              </a:ext>
            </a:extLst>
          </p:cNvPr>
          <p:cNvSpPr/>
          <p:nvPr/>
        </p:nvSpPr>
        <p:spPr>
          <a:xfrm>
            <a:off x="898135" y="5067066"/>
            <a:ext cx="921777" cy="210095"/>
          </a:xfrm>
          <a:prstGeom prst="roundRect">
            <a:avLst>
              <a:gd name="adj" fmla="val 3612"/>
            </a:avLst>
          </a:prstGeom>
          <a:solidFill>
            <a:srgbClr val="00206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세부구조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A7B63250-4C12-AD9C-FEB1-B9574A21FB13}"/>
              </a:ext>
            </a:extLst>
          </p:cNvPr>
          <p:cNvSpPr/>
          <p:nvPr/>
        </p:nvSpPr>
        <p:spPr>
          <a:xfrm>
            <a:off x="2062177" y="4554810"/>
            <a:ext cx="3965158" cy="21009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주제영역</a:t>
            </a:r>
            <a:r>
              <a:rPr lang="en-US" altLang="ko-KR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개념모델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3FABC7AB-7CEA-67D7-A2CF-DFD259191CF3}"/>
              </a:ext>
            </a:extLst>
          </p:cNvPr>
          <p:cNvSpPr/>
          <p:nvPr/>
        </p:nvSpPr>
        <p:spPr>
          <a:xfrm>
            <a:off x="2062177" y="4797052"/>
            <a:ext cx="3965158" cy="21009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논리모델</a:t>
            </a:r>
            <a:r>
              <a:rPr lang="en-US" altLang="ko-KR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물리모델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32DAC5D-E167-03E1-BC1B-A26327A95D19}"/>
              </a:ext>
            </a:extLst>
          </p:cNvPr>
          <p:cNvSpPr/>
          <p:nvPr/>
        </p:nvSpPr>
        <p:spPr>
          <a:xfrm>
            <a:off x="2062177" y="5062750"/>
            <a:ext cx="921777" cy="21009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테이블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ADBB0E5B-1EE7-C3CA-0C4C-673959E526B2}"/>
              </a:ext>
            </a:extLst>
          </p:cNvPr>
          <p:cNvSpPr/>
          <p:nvPr/>
        </p:nvSpPr>
        <p:spPr>
          <a:xfrm>
            <a:off x="3075637" y="5062750"/>
            <a:ext cx="921777" cy="21009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컬럼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0B52C61-97E2-26FC-E043-29CFC69B5FEC}"/>
              </a:ext>
            </a:extLst>
          </p:cNvPr>
          <p:cNvSpPr/>
          <p:nvPr/>
        </p:nvSpPr>
        <p:spPr>
          <a:xfrm>
            <a:off x="4111957" y="5062750"/>
            <a:ext cx="921777" cy="21009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622B1C69-2051-AAF4-9C29-99192F910267}"/>
              </a:ext>
            </a:extLst>
          </p:cNvPr>
          <p:cNvSpPr/>
          <p:nvPr/>
        </p:nvSpPr>
        <p:spPr>
          <a:xfrm>
            <a:off x="5106767" y="5062750"/>
            <a:ext cx="921777" cy="210095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관계정보</a:t>
            </a:r>
          </a:p>
        </p:txBody>
      </p:sp>
      <p:sp>
        <p:nvSpPr>
          <p:cNvPr id="9" name="Google Shape;3496;p57">
            <a:extLst>
              <a:ext uri="{FF2B5EF4-FFF2-40B4-BE49-F238E27FC236}">
                <a16:creationId xmlns:a16="http://schemas.microsoft.com/office/drawing/2014/main" id="{7E799666-E5FF-6BC8-BB92-7E8763099BD4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7363093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644CE8-EEAC-39B3-953E-0A754F8AF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B5F9F44-019F-E90F-49E1-D7845641EB7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C28F8F3-69B3-AC2C-4E1A-15877C7CB7BD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B37B3B-8555-5889-6A4A-173300D5F69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변경 이력 및 참조 관계 추적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CAAF56-427E-9BB0-A0B3-38A18562683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5716685-9B54-516F-894A-57D68A45933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 추적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변경 시 변경이력을 기록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비교하고 원천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~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패키지의 참조 관계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추적하며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변경의 영향도 검토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 점검으로 이어지는 통합 추적 체계를 구현함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(DTR-005·FR-004)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3F0A831-E804-5803-BF8B-9F79C31BC12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96DBF68-1F86-5D44-E35B-A8322FBA2405}"/>
              </a:ext>
            </a:extLst>
          </p:cNvPr>
          <p:cNvSpPr txBox="1"/>
          <p:nvPr/>
        </p:nvSpPr>
        <p:spPr>
          <a:xfrm>
            <a:off x="335011" y="2371141"/>
            <a:ext cx="42979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 추적을 통한 통합 추적체계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C3E26FF-4266-7C8F-0F67-139A3BF2509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FR-004, DTR-005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58C70CAD-24C7-6C4E-9CCA-90C79B67998E}"/>
              </a:ext>
            </a:extLst>
          </p:cNvPr>
          <p:cNvSpPr/>
          <p:nvPr/>
        </p:nvSpPr>
        <p:spPr bwMode="gray">
          <a:xfrm>
            <a:off x="258881" y="2666394"/>
            <a:ext cx="6331426" cy="409788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212C348F-3B50-42EB-4440-55A6A49E7184}"/>
              </a:ext>
            </a:extLst>
          </p:cNvPr>
          <p:cNvCxnSpPr>
            <a:cxnSpLocks/>
          </p:cNvCxnSpPr>
          <p:nvPr/>
        </p:nvCxnSpPr>
        <p:spPr>
          <a:xfrm>
            <a:off x="312925" y="6857217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80C6B1D7-BD7C-0972-0E48-A681862A1598}"/>
              </a:ext>
            </a:extLst>
          </p:cNvPr>
          <p:cNvSpPr txBox="1"/>
          <p:nvPr/>
        </p:nvSpPr>
        <p:spPr>
          <a:xfrm>
            <a:off x="335011" y="6831140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 관리 항목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243CE9B0-FBDE-DB77-E12C-C6E038FB8237}"/>
              </a:ext>
            </a:extLst>
          </p:cNvPr>
          <p:cNvSpPr/>
          <p:nvPr/>
        </p:nvSpPr>
        <p:spPr bwMode="gray">
          <a:xfrm>
            <a:off x="258881" y="7086601"/>
            <a:ext cx="6331426" cy="260985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4B3293F-E0D3-3F9B-15CB-167E5293159A}"/>
              </a:ext>
            </a:extLst>
          </p:cNvPr>
          <p:cNvSpPr/>
          <p:nvPr/>
        </p:nvSpPr>
        <p:spPr>
          <a:xfrm>
            <a:off x="316309" y="918757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변경이력과 계보를 통합 추적하고 변경 시 영향도를 사전 검토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 점검함으로써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변경으로 인한 오류 확산을 차단하고 데이터 참조 무결성을 확보함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28491644-C07D-958E-A168-39211E649C3D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152904"/>
          <a:ext cx="6165724" cy="2034669"/>
        </p:xfrm>
        <a:graphic>
          <a:graphicData uri="http://schemas.openxmlformats.org/drawingml/2006/table">
            <a:tbl>
              <a:tblPr/>
              <a:tblGrid>
                <a:gridCol w="839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394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131064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685776">
                  <a:extLst>
                    <a:ext uri="{9D8B030D-6E8A-4147-A177-3AD203B41FA5}">
                      <a16:colId xmlns:a16="http://schemas.microsoft.com/office/drawing/2014/main" val="2514332590"/>
                    </a:ext>
                  </a:extLst>
                </a:gridCol>
              </a:tblGrid>
              <a:tr h="2260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영역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항목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발생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테이블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컬럼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 변경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변경요청서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항목 목록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변경이력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주체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변경이력 로그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 조회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 비교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이전값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결과 비교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비교 보고서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 관계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계보 추적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패키지 계보 및 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하위 참조 추적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라인리지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그래프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527759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 관계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테이블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컬럼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 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하위 참조 관계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 관계 목록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3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영향도 및 정합성</a:t>
                      </a:r>
                      <a:endParaRPr lang="en-US" altLang="ko-KR" sz="1000" kern="1200" spc="-3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영향도 검토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·API·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영향 범위 분석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영향도 분석 보고서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093728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10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정합성</a:t>
                      </a:r>
                      <a:r>
                        <a:rPr lang="en-US" altLang="ko-KR" sz="1000" kern="1200" spc="-10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spc="-100" baseline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참조무결성</a:t>
                      </a:r>
                      <a:r>
                        <a:rPr lang="ko-KR" altLang="en-US" sz="1000" kern="1200" spc="-10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점검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정합성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일치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정합성 점검 결과서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9366798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 연계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 데이터 추출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 대상 데이터셋 자동 추출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목록화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 데이터셋 목록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2639828"/>
                  </a:ext>
                </a:extLst>
              </a:tr>
              <a:tr h="2009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재검수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판단 및 알림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재검수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필요 판단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알림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 이력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알림 내역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 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860824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A61903D3-B638-54B7-E2E8-BF1E73D365B6}"/>
              </a:ext>
            </a:extLst>
          </p:cNvPr>
          <p:cNvSpPr/>
          <p:nvPr/>
        </p:nvSpPr>
        <p:spPr>
          <a:xfrm>
            <a:off x="312925" y="2727558"/>
            <a:ext cx="6221225" cy="812908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BE94CAA7-518A-6EEC-FA23-95277AD78BFD}"/>
              </a:ext>
            </a:extLst>
          </p:cNvPr>
          <p:cNvSpPr/>
          <p:nvPr/>
        </p:nvSpPr>
        <p:spPr>
          <a:xfrm>
            <a:off x="312925" y="4953001"/>
            <a:ext cx="6221225" cy="838418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위쪽 모서리 25">
            <a:extLst>
              <a:ext uri="{FF2B5EF4-FFF2-40B4-BE49-F238E27FC236}">
                <a16:creationId xmlns:a16="http://schemas.microsoft.com/office/drawing/2014/main" id="{418081B4-F0F2-4335-617D-14580D7D00E6}"/>
              </a:ext>
            </a:extLst>
          </p:cNvPr>
          <p:cNvSpPr/>
          <p:nvPr/>
        </p:nvSpPr>
        <p:spPr>
          <a:xfrm>
            <a:off x="306574" y="2705967"/>
            <a:ext cx="3420876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발생 → 변경이력 기록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(DTR-005·FR-004)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위쪽 모서리 30">
            <a:extLst>
              <a:ext uri="{FF2B5EF4-FFF2-40B4-BE49-F238E27FC236}">
                <a16:creationId xmlns:a16="http://schemas.microsoft.com/office/drawing/2014/main" id="{B63DE33B-C515-A81B-AE36-26504F2ABF94}"/>
              </a:ext>
            </a:extLst>
          </p:cNvPr>
          <p:cNvSpPr/>
          <p:nvPr/>
        </p:nvSpPr>
        <p:spPr>
          <a:xfrm>
            <a:off x="306574" y="4934029"/>
            <a:ext cx="3420876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영향도 검토 → 정합성 점검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4D1DB553-451D-4DD1-13D9-BF3E2A1796EC}"/>
              </a:ext>
            </a:extLst>
          </p:cNvPr>
          <p:cNvSpPr/>
          <p:nvPr/>
        </p:nvSpPr>
        <p:spPr>
          <a:xfrm>
            <a:off x="431064" y="3007536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발생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테이블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컬럼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코드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DD02438-0893-5FB6-EB06-DFCB435A42BD}"/>
              </a:ext>
            </a:extLst>
          </p:cNvPr>
          <p:cNvSpPr/>
          <p:nvPr/>
        </p:nvSpPr>
        <p:spPr>
          <a:xfrm>
            <a:off x="431064" y="5254709"/>
            <a:ext cx="2896336" cy="45328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영향도 검토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관련 기능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·API·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1812E9E-398E-0928-2A7B-D02EDBEA60F7}"/>
              </a:ext>
            </a:extLst>
          </p:cNvPr>
          <p:cNvSpPr/>
          <p:nvPr/>
        </p:nvSpPr>
        <p:spPr>
          <a:xfrm>
            <a:off x="2555428" y="3007536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 기록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사유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항목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승인내역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적용일자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65DBE80E-A032-89A6-6B0F-DB2F3964C1B7}"/>
              </a:ext>
            </a:extLst>
          </p:cNvPr>
          <p:cNvSpPr/>
          <p:nvPr/>
        </p:nvSpPr>
        <p:spPr>
          <a:xfrm>
            <a:off x="4631887" y="3007536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전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 비교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이력정보 관리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59DD1E44-E085-DC13-D44B-63A7BD51D4B9}"/>
              </a:ext>
            </a:extLst>
          </p:cNvPr>
          <p:cNvSpPr/>
          <p:nvPr/>
        </p:nvSpPr>
        <p:spPr>
          <a:xfrm>
            <a:off x="3514287" y="5254709"/>
            <a:ext cx="2896336" cy="45328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참조무결성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점검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이후 데이터 정합성 확인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F26855E4-64BE-E000-1893-1565264D6626}"/>
              </a:ext>
            </a:extLst>
          </p:cNvPr>
          <p:cNvSpPr/>
          <p:nvPr/>
        </p:nvSpPr>
        <p:spPr>
          <a:xfrm>
            <a:off x="312925" y="3606768"/>
            <a:ext cx="6221225" cy="1285271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7" name="사각형: 둥근 위쪽 모서리 86">
            <a:extLst>
              <a:ext uri="{FF2B5EF4-FFF2-40B4-BE49-F238E27FC236}">
                <a16:creationId xmlns:a16="http://schemas.microsoft.com/office/drawing/2014/main" id="{CE20D2A0-A76B-E408-CF49-33DAF2C0F511}"/>
              </a:ext>
            </a:extLst>
          </p:cNvPr>
          <p:cNvSpPr/>
          <p:nvPr/>
        </p:nvSpPr>
        <p:spPr>
          <a:xfrm>
            <a:off x="306574" y="3585178"/>
            <a:ext cx="3420876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참조 관계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D6182A53-6BA5-E85F-EA09-B28FCF1912CC}"/>
              </a:ext>
            </a:extLst>
          </p:cNvPr>
          <p:cNvSpPr/>
          <p:nvPr/>
        </p:nvSpPr>
        <p:spPr>
          <a:xfrm>
            <a:off x="431064" y="3886747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원천데이터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수집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등록된 최초 데이터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05B23C79-A090-2ED3-C3B3-E1B919BE8B20}"/>
              </a:ext>
            </a:extLst>
          </p:cNvPr>
          <p:cNvSpPr/>
          <p:nvPr/>
        </p:nvSpPr>
        <p:spPr>
          <a:xfrm>
            <a:off x="2555428" y="3886747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가공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파생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라벨링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결합 데이터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91AC0FDD-77E6-FC80-99C2-A4A76E7BD20C}"/>
              </a:ext>
            </a:extLst>
          </p:cNvPr>
          <p:cNvSpPr/>
          <p:nvPr/>
        </p:nvSpPr>
        <p:spPr>
          <a:xfrm>
            <a:off x="4631887" y="3886747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패키지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데이터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단위 데이터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E58F7C3A-D98B-18DF-4F7A-7D1075134E0F}"/>
              </a:ext>
            </a:extLst>
          </p:cNvPr>
          <p:cNvSpPr/>
          <p:nvPr/>
        </p:nvSpPr>
        <p:spPr>
          <a:xfrm>
            <a:off x="312925" y="5861624"/>
            <a:ext cx="6221225" cy="812908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2" name="사각형: 둥근 위쪽 모서리 91">
            <a:extLst>
              <a:ext uri="{FF2B5EF4-FFF2-40B4-BE49-F238E27FC236}">
                <a16:creationId xmlns:a16="http://schemas.microsoft.com/office/drawing/2014/main" id="{620EEBDE-C828-532E-27AF-523229B6A43D}"/>
              </a:ext>
            </a:extLst>
          </p:cNvPr>
          <p:cNvSpPr/>
          <p:nvPr/>
        </p:nvSpPr>
        <p:spPr>
          <a:xfrm>
            <a:off x="306574" y="5840033"/>
            <a:ext cx="3420876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영향데이터셋 추출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재검수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조치연계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(FR-004)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60A3FA5F-B389-5768-40E0-A4ED0DE1E9BE}"/>
              </a:ext>
            </a:extLst>
          </p:cNvPr>
          <p:cNvSpPr/>
          <p:nvPr/>
        </p:nvSpPr>
        <p:spPr>
          <a:xfrm>
            <a:off x="431064" y="6141602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영향 데이터셋 추출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인코딩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결측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 일관성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C4387EDC-BA17-3FEE-4F42-A3C5709265C7}"/>
              </a:ext>
            </a:extLst>
          </p:cNvPr>
          <p:cNvSpPr/>
          <p:nvPr/>
        </p:nvSpPr>
        <p:spPr>
          <a:xfrm>
            <a:off x="2555428" y="6141602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재검수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필요 여부 판단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해상도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바운딩박스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클래스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20F649D4-F2FE-EAB0-8DFE-559346118835}"/>
              </a:ext>
            </a:extLst>
          </p:cNvPr>
          <p:cNvSpPr/>
          <p:nvPr/>
        </p:nvSpPr>
        <p:spPr>
          <a:xfrm>
            <a:off x="4631887" y="6141602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알림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조치 연계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샘플링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전사 정확도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잡음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8283A110-5D50-1043-5DD0-BEBC9C502A01}"/>
              </a:ext>
            </a:extLst>
          </p:cNvPr>
          <p:cNvSpPr txBox="1"/>
          <p:nvPr/>
        </p:nvSpPr>
        <p:spPr>
          <a:xfrm>
            <a:off x="1879232" y="4662457"/>
            <a:ext cx="902964" cy="2098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상위 원천 추적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6626758F-B393-7BF8-4F9F-C3BC678823EC}"/>
              </a:ext>
            </a:extLst>
          </p:cNvPr>
          <p:cNvSpPr txBox="1"/>
          <p:nvPr/>
        </p:nvSpPr>
        <p:spPr>
          <a:xfrm>
            <a:off x="4075806" y="4662457"/>
            <a:ext cx="902964" cy="2098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상위 원천 추적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00" name="직선 화살표 연결선 99">
            <a:extLst>
              <a:ext uri="{FF2B5EF4-FFF2-40B4-BE49-F238E27FC236}">
                <a16:creationId xmlns:a16="http://schemas.microsoft.com/office/drawing/2014/main" id="{B82E5A22-0E71-91C7-BE27-85DBEE58A998}"/>
              </a:ext>
            </a:extLst>
          </p:cNvPr>
          <p:cNvCxnSpPr>
            <a:endCxn id="98" idx="1"/>
          </p:cNvCxnSpPr>
          <p:nvPr/>
        </p:nvCxnSpPr>
        <p:spPr>
          <a:xfrm>
            <a:off x="2782196" y="4767380"/>
            <a:ext cx="1293610" cy="1"/>
          </a:xfrm>
          <a:prstGeom prst="straightConnector1">
            <a:avLst/>
          </a:prstGeom>
          <a:ln w="19050">
            <a:solidFill>
              <a:schemeClr val="tx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7883C97F-A557-C463-77C6-3911B9A9DD53}"/>
              </a:ext>
            </a:extLst>
          </p:cNvPr>
          <p:cNvSpPr txBox="1"/>
          <p:nvPr/>
        </p:nvSpPr>
        <p:spPr>
          <a:xfrm>
            <a:off x="1455684" y="4417474"/>
            <a:ext cx="3941553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(Lineage): 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어떤 원천에서 파생되었는지 상</a:t>
            </a:r>
            <a:r>
              <a:rPr kumimoji="0" lang="en-US" altLang="ko-KR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하위 참조 관계 추적</a:t>
            </a:r>
            <a:endParaRPr kumimoji="0" lang="en-US" altLang="ko-KR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03" name="연결선: 꺾임 102">
            <a:extLst>
              <a:ext uri="{FF2B5EF4-FFF2-40B4-BE49-F238E27FC236}">
                <a16:creationId xmlns:a16="http://schemas.microsoft.com/office/drawing/2014/main" id="{92C7046E-F846-2940-C53A-020C04F3988A}"/>
              </a:ext>
            </a:extLst>
          </p:cNvPr>
          <p:cNvCxnSpPr>
            <a:stCxn id="88" idx="2"/>
            <a:endCxn id="97" idx="1"/>
          </p:cNvCxnSpPr>
          <p:nvPr/>
        </p:nvCxnSpPr>
        <p:spPr>
          <a:xfrm rot="16200000" flipH="1">
            <a:off x="1397004" y="4285153"/>
            <a:ext cx="405656" cy="558800"/>
          </a:xfrm>
          <a:prstGeom prst="bentConnector2">
            <a:avLst/>
          </a:prstGeom>
          <a:ln w="19050">
            <a:solidFill>
              <a:schemeClr val="tx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104">
            <a:extLst>
              <a:ext uri="{FF2B5EF4-FFF2-40B4-BE49-F238E27FC236}">
                <a16:creationId xmlns:a16="http://schemas.microsoft.com/office/drawing/2014/main" id="{C550E953-5BB2-32FF-AED1-612E310DEC43}"/>
              </a:ext>
            </a:extLst>
          </p:cNvPr>
          <p:cNvCxnSpPr>
            <a:stCxn id="98" idx="3"/>
            <a:endCxn id="90" idx="2"/>
          </p:cNvCxnSpPr>
          <p:nvPr/>
        </p:nvCxnSpPr>
        <p:spPr>
          <a:xfrm flipV="1">
            <a:off x="4978770" y="4361725"/>
            <a:ext cx="542485" cy="405656"/>
          </a:xfrm>
          <a:prstGeom prst="bentConnector2">
            <a:avLst/>
          </a:prstGeom>
          <a:ln w="19050">
            <a:solidFill>
              <a:schemeClr val="tx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DD7AF8CB-3986-28CD-F63A-EE777C06314B}"/>
              </a:ext>
            </a:extLst>
          </p:cNvPr>
          <p:cNvCxnSpPr>
            <a:stCxn id="35" idx="3"/>
            <a:endCxn id="43" idx="1"/>
          </p:cNvCxnSpPr>
          <p:nvPr/>
        </p:nvCxnSpPr>
        <p:spPr>
          <a:xfrm>
            <a:off x="2209800" y="3245025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57765B3A-0495-B9AB-089E-2FBD1F93A04B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4334164" y="3245025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2F599AC0-5D31-070B-42DF-1F903364B33F}"/>
              </a:ext>
            </a:extLst>
          </p:cNvPr>
          <p:cNvCxnSpPr>
            <a:cxnSpLocks/>
            <a:stCxn id="88" idx="3"/>
            <a:endCxn id="89" idx="1"/>
          </p:cNvCxnSpPr>
          <p:nvPr/>
        </p:nvCxnSpPr>
        <p:spPr>
          <a:xfrm>
            <a:off x="2209800" y="4124236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EFB23C5F-0260-4AA3-BD83-91901EBEC70F}"/>
              </a:ext>
            </a:extLst>
          </p:cNvPr>
          <p:cNvCxnSpPr>
            <a:cxnSpLocks/>
            <a:stCxn id="89" idx="3"/>
            <a:endCxn id="90" idx="1"/>
          </p:cNvCxnSpPr>
          <p:nvPr/>
        </p:nvCxnSpPr>
        <p:spPr>
          <a:xfrm>
            <a:off x="4334164" y="4124236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D9AE0574-88EE-EB96-B09B-7482893BDDCA}"/>
              </a:ext>
            </a:extLst>
          </p:cNvPr>
          <p:cNvCxnSpPr>
            <a:cxnSpLocks/>
            <a:stCxn id="39" idx="3"/>
            <a:endCxn id="69" idx="1"/>
          </p:cNvCxnSpPr>
          <p:nvPr/>
        </p:nvCxnSpPr>
        <p:spPr>
          <a:xfrm>
            <a:off x="3327400" y="5481354"/>
            <a:ext cx="186887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화살표 연결선 119">
            <a:extLst>
              <a:ext uri="{FF2B5EF4-FFF2-40B4-BE49-F238E27FC236}">
                <a16:creationId xmlns:a16="http://schemas.microsoft.com/office/drawing/2014/main" id="{1BF3382C-817D-5A11-C647-364A06832AAB}"/>
              </a:ext>
            </a:extLst>
          </p:cNvPr>
          <p:cNvCxnSpPr>
            <a:cxnSpLocks/>
            <a:stCxn id="93" idx="3"/>
            <a:endCxn id="94" idx="1"/>
          </p:cNvCxnSpPr>
          <p:nvPr/>
        </p:nvCxnSpPr>
        <p:spPr>
          <a:xfrm>
            <a:off x="2209800" y="6379091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id="{D8C258A3-1FC0-499B-8348-8C29DC4CD12C}"/>
              </a:ext>
            </a:extLst>
          </p:cNvPr>
          <p:cNvCxnSpPr>
            <a:cxnSpLocks/>
            <a:stCxn id="94" idx="3"/>
            <a:endCxn id="95" idx="1"/>
          </p:cNvCxnSpPr>
          <p:nvPr/>
        </p:nvCxnSpPr>
        <p:spPr>
          <a:xfrm>
            <a:off x="4334164" y="6379091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Google Shape;3496;p57">
            <a:extLst>
              <a:ext uri="{FF2B5EF4-FFF2-40B4-BE49-F238E27FC236}">
                <a16:creationId xmlns:a16="http://schemas.microsoft.com/office/drawing/2014/main" id="{6A62CDA9-158A-F2A9-3E74-E54E6F553616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 dirty="0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 dirty="0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2843137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18DE31-4686-B004-0E9B-1AB6D0A9F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48756CE0-4C57-02C2-06D1-2B395364801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2C19EA7-A9D5-BC74-32E2-BEFC32C44FC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F005C53-B6D1-57A9-4C38-32A46120DB88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갱신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개방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폐기 처리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17FC391-B5C7-1245-E7FE-5FB4ABED177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14B3CC6-5F15-C08F-F65C-1BBDEE1A739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후주기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처리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후반의 갱신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신버전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제공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비가역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승인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처리를 각 절차와 유형별 정책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(DR-013)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따라 관리하고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계보와 연계하여 안전하고 추적 가능한 처리 체계를 구현함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(FR-004)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9186150-1354-42EA-0BEB-17A53FF9786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DB73D60-4097-851C-6470-0F7CD893B083}"/>
              </a:ext>
            </a:extLst>
          </p:cNvPr>
          <p:cNvSpPr txBox="1"/>
          <p:nvPr/>
        </p:nvSpPr>
        <p:spPr>
          <a:xfrm>
            <a:off x="335011" y="2371141"/>
            <a:ext cx="35588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라이프사이클 후반의 갱신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처리 구현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79D0C29-8787-1B09-94DC-B0C097DA048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FR-004, DR-013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68AE5EEF-D51F-B933-9B1C-59DDB13A6D36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00CD037-613E-870D-C8E3-3ED2A96E195F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데이터셋의 갱신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폐기를 표준 절차와 유형별 정책에 따라 처리하여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적절성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안전성을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(FR-004·DR-013)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처리의 상태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계보를 연계하여 처리 이력을 추적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(2.2.4·2.3.3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 등 위험 처리는 승인 워크플로우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(1.4.3)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통제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0E0DEE6-CA65-4966-908D-C177A3C9596A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48805237-6579-8677-1E95-B5FCC6FECCF8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06993BBD-512F-E6D2-8380-466E3565DBDA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C8AA11C1-5E25-DBAF-5E4E-1CFAE90D0431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개방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07503656-257F-AB2E-F0BC-2048D6520173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CA69ED94-EE36-DA8B-4B75-AF4F05368EB7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폐기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68831B03-570B-A83E-839D-F560ED84BF01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E539811B-CFAB-542B-904A-679E9F3F727D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상태연계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D5764972-99E1-D6F5-61E9-6E0BB1F490F2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67719543-7901-63DE-A97C-4F0823D62970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5FA3F6EC-4C7F-EAD5-F474-D35E45A181E7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E459BA4B-09A0-3046-8550-29497B3E1196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EB05577D-404E-09A5-4AC7-08530BE4BE9D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03B3EC61-49DA-CAF1-3ABC-997D808131CA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0626DFE-39FE-CD4F-5DFD-691C8493D666}"/>
              </a:ext>
            </a:extLst>
          </p:cNvPr>
          <p:cNvSpPr txBox="1"/>
          <p:nvPr/>
        </p:nvSpPr>
        <p:spPr>
          <a:xfrm>
            <a:off x="34285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신버전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생성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재검증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이력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FED66CD-3FCF-4797-307B-66C879830FAA}"/>
              </a:ext>
            </a:extLst>
          </p:cNvPr>
          <p:cNvSpPr txBox="1"/>
          <p:nvPr/>
        </p:nvSpPr>
        <p:spPr>
          <a:xfrm>
            <a:off x="192346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유형별 제공방식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범위 배포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ECE126F-39AC-4AF6-9D30-773279D3D7BA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참조영향 확인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영구 이력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2596152-A3F5-7CE7-DF1C-9B668DF0FCFC}"/>
              </a:ext>
            </a:extLst>
          </p:cNvPr>
          <p:cNvSpPr txBox="1"/>
          <p:nvPr/>
        </p:nvSpPr>
        <p:spPr>
          <a:xfrm>
            <a:off x="508468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계보 자동 반영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F601BCB-6EE2-CDC8-079A-FA754BEBFE70}"/>
              </a:ext>
            </a:extLst>
          </p:cNvPr>
          <p:cNvSpPr/>
          <p:nvPr/>
        </p:nvSpPr>
        <p:spPr>
          <a:xfrm>
            <a:off x="316309" y="5089263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처리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제공정책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승인 후 데이터 유형별 제공정책에 따라 제공방식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범위를 결정하여 배포함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승인→제공방식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결정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순차 스트리밍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범위 설정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현황 반영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중앙적재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간접제공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보안반출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안전구역형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 정책 차등 적용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84E9C0A-3AF1-8C63-1568-F22B45A2854C}"/>
              </a:ext>
            </a:extLst>
          </p:cNvPr>
          <p:cNvSpPr/>
          <p:nvPr/>
        </p:nvSpPr>
        <p:spPr>
          <a:xfrm>
            <a:off x="316309" y="614963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처리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폐기는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비가역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처리로 담당자 승인을 필수로 하고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 관계 영향을 확인한 후 실행하며 이력을 영구 보존함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대상 식별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보존기한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승인→참조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영향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확인→폐기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실행→폐기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이력 영구 보존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 관계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(2.3.3)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확인으로 하위 데이터 영향을 사전 차단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834D088-EB95-011A-8A30-9C9A08107BCD}"/>
              </a:ext>
            </a:extLst>
          </p:cNvPr>
          <p:cNvSpPr/>
          <p:nvPr/>
        </p:nvSpPr>
        <p:spPr>
          <a:xfrm>
            <a:off x="316309" y="7212308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처리 시 상태 식별자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계보를 연계하고 현황관리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메타데이터에 자동 반영함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(FR-005·DR-014)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 결과를 상태 식별자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갱신하고 현황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통계에 즉시 반영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25CE9042-9C38-0FED-C22E-35E47EEF0B0B}"/>
              </a:ext>
            </a:extLst>
          </p:cNvPr>
          <p:cNvSpPr/>
          <p:nvPr/>
        </p:nvSpPr>
        <p:spPr>
          <a:xfrm>
            <a:off x="316309" y="802529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처리 절차서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제공정책 정의서로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추적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워크플로우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(1.4.3)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6A698509-2096-2ABD-A2EC-6644C19FE358}"/>
              </a:ext>
            </a:extLst>
          </p:cNvPr>
          <p:cNvSpPr/>
          <p:nvPr/>
        </p:nvSpPr>
        <p:spPr>
          <a:xfrm>
            <a:off x="2356233" y="3974742"/>
            <a:ext cx="2151888" cy="759150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E43A996E-14FE-EA59-C008-005C0B758999}"/>
              </a:ext>
            </a:extLst>
          </p:cNvPr>
          <p:cNvSpPr/>
          <p:nvPr/>
        </p:nvSpPr>
        <p:spPr>
          <a:xfrm>
            <a:off x="754706" y="3697249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상태식별자</a:t>
            </a: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(2.2.4)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67A84F37-2944-0627-CC8D-B8194B7726E7}"/>
              </a:ext>
            </a:extLst>
          </p:cNvPr>
          <p:cNvSpPr/>
          <p:nvPr/>
        </p:nvSpPr>
        <p:spPr>
          <a:xfrm>
            <a:off x="4324560" y="3697249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변경추적</a:t>
            </a: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(2.3.3)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F5F55DAB-9587-2ADB-7A60-AA65685C7BA0}"/>
              </a:ext>
            </a:extLst>
          </p:cNvPr>
          <p:cNvSpPr/>
          <p:nvPr/>
        </p:nvSpPr>
        <p:spPr>
          <a:xfrm>
            <a:off x="754706" y="4536422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워크플로우</a:t>
            </a:r>
            <a:endParaRPr lang="en-US" altLang="ko-KR" sz="12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(1.4.3)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252ADDE0-72A6-3AD1-5AE2-654AAC3A6A71}"/>
              </a:ext>
            </a:extLst>
          </p:cNvPr>
          <p:cNvSpPr/>
          <p:nvPr/>
        </p:nvSpPr>
        <p:spPr>
          <a:xfrm>
            <a:off x="4324560" y="4536422"/>
            <a:ext cx="1778736" cy="474978"/>
          </a:xfrm>
          <a:prstGeom prst="roundRect">
            <a:avLst>
              <a:gd name="adj" fmla="val 699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 이력 추적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ECDA3D9F-AD6F-B045-4BEE-FE12A08C2866}"/>
              </a:ext>
            </a:extLst>
          </p:cNvPr>
          <p:cNvSpPr/>
          <p:nvPr/>
        </p:nvSpPr>
        <p:spPr>
          <a:xfrm>
            <a:off x="2555428" y="4116828"/>
            <a:ext cx="1778736" cy="474978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 연계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34D8A204-8457-450E-8DFE-BA59A34EFBAD}"/>
              </a:ext>
            </a:extLst>
          </p:cNvPr>
          <p:cNvCxnSpPr>
            <a:stCxn id="93" idx="3"/>
            <a:endCxn id="95" idx="1"/>
          </p:cNvCxnSpPr>
          <p:nvPr/>
        </p:nvCxnSpPr>
        <p:spPr>
          <a:xfrm>
            <a:off x="2533442" y="3934738"/>
            <a:ext cx="1791118" cy="0"/>
          </a:xfrm>
          <a:prstGeom prst="straightConnector1">
            <a:avLst/>
          </a:prstGeom>
          <a:ln w="19050">
            <a:solidFill>
              <a:schemeClr val="accent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304FBD80-9D56-16C3-87D9-F94FF3528A04}"/>
              </a:ext>
            </a:extLst>
          </p:cNvPr>
          <p:cNvCxnSpPr>
            <a:stCxn id="97" idx="3"/>
            <a:endCxn id="99" idx="1"/>
          </p:cNvCxnSpPr>
          <p:nvPr/>
        </p:nvCxnSpPr>
        <p:spPr>
          <a:xfrm>
            <a:off x="2533442" y="4773911"/>
            <a:ext cx="1791118" cy="0"/>
          </a:xfrm>
          <a:prstGeom prst="straightConnector1">
            <a:avLst/>
          </a:prstGeom>
          <a:ln w="19050">
            <a:solidFill>
              <a:schemeClr val="accent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8CB0695-B5FB-5A89-6FF8-644FC7FC1C3B}"/>
              </a:ext>
            </a:extLst>
          </p:cNvPr>
          <p:cNvCxnSpPr>
            <a:stCxn id="93" idx="2"/>
            <a:endCxn id="97" idx="0"/>
          </p:cNvCxnSpPr>
          <p:nvPr/>
        </p:nvCxnSpPr>
        <p:spPr>
          <a:xfrm>
            <a:off x="1644074" y="4172227"/>
            <a:ext cx="0" cy="364195"/>
          </a:xfrm>
          <a:prstGeom prst="straightConnector1">
            <a:avLst/>
          </a:prstGeom>
          <a:ln w="19050">
            <a:solidFill>
              <a:schemeClr val="accent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72A27FC7-B190-258C-9262-E8762CA656F0}"/>
              </a:ext>
            </a:extLst>
          </p:cNvPr>
          <p:cNvCxnSpPr>
            <a:stCxn id="95" idx="2"/>
            <a:endCxn id="99" idx="0"/>
          </p:cNvCxnSpPr>
          <p:nvPr/>
        </p:nvCxnSpPr>
        <p:spPr>
          <a:xfrm>
            <a:off x="5213928" y="4172227"/>
            <a:ext cx="0" cy="364195"/>
          </a:xfrm>
          <a:prstGeom prst="straightConnector1">
            <a:avLst/>
          </a:prstGeom>
          <a:ln w="19050">
            <a:solidFill>
              <a:schemeClr val="accent1"/>
            </a:solidFill>
            <a:prstDash val="sysDot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Google Shape;3677;p61">
            <a:extLst>
              <a:ext uri="{FF2B5EF4-FFF2-40B4-BE49-F238E27FC236}">
                <a16:creationId xmlns:a16="http://schemas.microsoft.com/office/drawing/2014/main" id="{306844B0-1649-14D0-5F67-1473637A7623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24423544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192F13-B238-328A-90B1-1E4F2AFA19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89855FA-1DDB-BAFD-4B3B-8E189A93CC8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2E470F6-369A-0126-9220-66C411248BE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EE93253-4EFB-D8CF-AC41-5C104C2A972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갱신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개방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폐기 처리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67D2E86-2B18-0E64-D028-44C59E14DEE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라이프사이클 관리 기능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D91B8FD-23D8-2897-CE95-51ACBFBAD9D0}"/>
              </a:ext>
            </a:extLst>
          </p:cNvPr>
          <p:cNvSpPr/>
          <p:nvPr/>
        </p:nvSpPr>
        <p:spPr>
          <a:xfrm>
            <a:off x="302559" y="136397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 흐름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처리의 절차와 유형별 정책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상태 연계를 제시하여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후주기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처리의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02D8C08-2F36-823D-669E-39EF1C014FD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2C75751-99A9-4054-94D0-0912EB9D3C83}"/>
              </a:ext>
            </a:extLst>
          </p:cNvPr>
          <p:cNvSpPr txBox="1"/>
          <p:nvPr/>
        </p:nvSpPr>
        <p:spPr>
          <a:xfrm>
            <a:off x="335011" y="2371141"/>
            <a:ext cx="35588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처리 구조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48419A-151F-6CAF-FC83-E1668E55570B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FR-004, DR-013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4C92C4AF-EB44-7770-100F-E47B8B5674B0}"/>
              </a:ext>
            </a:extLst>
          </p:cNvPr>
          <p:cNvSpPr/>
          <p:nvPr/>
        </p:nvSpPr>
        <p:spPr bwMode="gray">
          <a:xfrm>
            <a:off x="258881" y="2666394"/>
            <a:ext cx="6331426" cy="411177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7E2BD73E-9EE9-5222-C367-972C5631DA75}"/>
              </a:ext>
            </a:extLst>
          </p:cNvPr>
          <p:cNvCxnSpPr>
            <a:cxnSpLocks/>
          </p:cNvCxnSpPr>
          <p:nvPr/>
        </p:nvCxnSpPr>
        <p:spPr>
          <a:xfrm>
            <a:off x="312925" y="6857217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80D3BFE8-AB64-FAD5-E488-96C3A02E2C54}"/>
              </a:ext>
            </a:extLst>
          </p:cNvPr>
          <p:cNvSpPr txBox="1"/>
          <p:nvPr/>
        </p:nvSpPr>
        <p:spPr>
          <a:xfrm>
            <a:off x="335011" y="6831140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품질특성별 검증 방법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E2892667-E896-2A3B-E170-9070E36680B5}"/>
              </a:ext>
            </a:extLst>
          </p:cNvPr>
          <p:cNvSpPr/>
          <p:nvPr/>
        </p:nvSpPr>
        <p:spPr bwMode="gray">
          <a:xfrm>
            <a:off x="258881" y="7086601"/>
            <a:ext cx="6331426" cy="260985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6413B1D-C494-B867-E807-913CA48C45BB}"/>
              </a:ext>
            </a:extLst>
          </p:cNvPr>
          <p:cNvSpPr/>
          <p:nvPr/>
        </p:nvSpPr>
        <p:spPr>
          <a:xfrm>
            <a:off x="316309" y="918757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갱신은 이전 버전 보존으로 롤백 가능성을 확보하고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개방은 유형별 제공정책으로 통제하며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폐기는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비가역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처리로 승인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참조확인을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필수화하여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안전하고 추적 가능한 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후주기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처리를 실현함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12D8CFD1-A4D5-0CA2-002D-B8EB0E04AFF9}"/>
              </a:ext>
            </a:extLst>
          </p:cNvPr>
          <p:cNvSpPr/>
          <p:nvPr/>
        </p:nvSpPr>
        <p:spPr>
          <a:xfrm>
            <a:off x="348279" y="3556216"/>
            <a:ext cx="1190961" cy="691077"/>
          </a:xfrm>
          <a:prstGeom prst="roundRect">
            <a:avLst>
              <a:gd name="adj" fmla="val 6990"/>
            </a:avLst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처리</a:t>
            </a:r>
          </a:p>
          <a:p>
            <a:pPr algn="ctr"/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유형별 제공정책 </a:t>
            </a:r>
            <a:b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(DR-013)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283F97DE-75C1-EA4F-B00C-45A668C4BCF1}"/>
              </a:ext>
            </a:extLst>
          </p:cNvPr>
          <p:cNvSpPr/>
          <p:nvPr/>
        </p:nvSpPr>
        <p:spPr>
          <a:xfrm>
            <a:off x="348279" y="4409703"/>
            <a:ext cx="1190961" cy="691077"/>
          </a:xfrm>
          <a:prstGeom prst="roundRect">
            <a:avLst>
              <a:gd name="adj" fmla="val 6990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처리</a:t>
            </a:r>
          </a:p>
          <a:p>
            <a:pPr algn="ctr"/>
            <a:r>
              <a:rPr lang="ko-KR" altLang="en-US" sz="9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비가역</a:t>
            </a:r>
            <a:r>
              <a:rPr lang="en-US" altLang="ko-KR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필수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AD61271F-A495-E264-F934-1844A836FB06}"/>
              </a:ext>
            </a:extLst>
          </p:cNvPr>
          <p:cNvSpPr/>
          <p:nvPr/>
        </p:nvSpPr>
        <p:spPr>
          <a:xfrm>
            <a:off x="348279" y="5257126"/>
            <a:ext cx="1190961" cy="691077"/>
          </a:xfrm>
          <a:prstGeom prst="roundRect">
            <a:avLst>
              <a:gd name="adj" fmla="val 6990"/>
            </a:avLst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연계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E55C57BB-6E5A-C66E-8443-5FDEA54854C9}"/>
              </a:ext>
            </a:extLst>
          </p:cNvPr>
          <p:cNvSpPr/>
          <p:nvPr/>
        </p:nvSpPr>
        <p:spPr>
          <a:xfrm>
            <a:off x="348279" y="2715062"/>
            <a:ext cx="1190961" cy="691077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 처리</a:t>
            </a:r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6C501ECC-0942-B3F9-B975-CDFCCF33C13F}"/>
              </a:ext>
            </a:extLst>
          </p:cNvPr>
          <p:cNvSpPr/>
          <p:nvPr/>
        </p:nvSpPr>
        <p:spPr>
          <a:xfrm>
            <a:off x="1460799" y="2715062"/>
            <a:ext cx="5000963" cy="691077"/>
          </a:xfrm>
          <a:prstGeom prst="roundRect">
            <a:avLst>
              <a:gd name="adj" fmla="val 6990"/>
            </a:avLst>
          </a:prstGeom>
          <a:noFill/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6C18E568-8650-18F5-FD8C-62A34DCAD775}"/>
              </a:ext>
            </a:extLst>
          </p:cNvPr>
          <p:cNvSpPr/>
          <p:nvPr/>
        </p:nvSpPr>
        <p:spPr>
          <a:xfrm>
            <a:off x="1460798" y="3556216"/>
            <a:ext cx="5000963" cy="691077"/>
          </a:xfrm>
          <a:prstGeom prst="roundRect">
            <a:avLst>
              <a:gd name="adj" fmla="val 6990"/>
            </a:avLst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98B980-3EC7-15A6-9858-184AF89C61EA}"/>
              </a:ext>
            </a:extLst>
          </p:cNvPr>
          <p:cNvSpPr/>
          <p:nvPr/>
        </p:nvSpPr>
        <p:spPr>
          <a:xfrm>
            <a:off x="1460798" y="4409703"/>
            <a:ext cx="5000963" cy="691077"/>
          </a:xfrm>
          <a:prstGeom prst="roundRect">
            <a:avLst>
              <a:gd name="adj" fmla="val 6990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759EB4E6-CD93-5D1B-AF94-9A12BFAEBF9E}"/>
              </a:ext>
            </a:extLst>
          </p:cNvPr>
          <p:cNvSpPr/>
          <p:nvPr/>
        </p:nvSpPr>
        <p:spPr>
          <a:xfrm>
            <a:off x="1460797" y="5257126"/>
            <a:ext cx="5000963" cy="691077"/>
          </a:xfrm>
          <a:prstGeom prst="roundRect">
            <a:avLst>
              <a:gd name="adj" fmla="val 6990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endParaRPr lang="ko-KR" altLang="en-US" sz="9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45ADA6-2403-CF73-4AA7-31113733C7D0}"/>
              </a:ext>
            </a:extLst>
          </p:cNvPr>
          <p:cNvSpPr/>
          <p:nvPr/>
        </p:nvSpPr>
        <p:spPr>
          <a:xfrm>
            <a:off x="1628639" y="276254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9DC3E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 요청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 발생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A0596303-D737-49FC-1E82-C30B81ED430A}"/>
              </a:ext>
            </a:extLst>
          </p:cNvPr>
          <p:cNvSpPr/>
          <p:nvPr/>
        </p:nvSpPr>
        <p:spPr>
          <a:xfrm>
            <a:off x="2612790" y="276254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9DC3E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신버전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생성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 관리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66264BA-5326-08C1-CE36-54161CC66CAC}"/>
              </a:ext>
            </a:extLst>
          </p:cNvPr>
          <p:cNvSpPr/>
          <p:nvPr/>
        </p:nvSpPr>
        <p:spPr>
          <a:xfrm>
            <a:off x="3596641" y="276254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9DC3E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재검증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CC22B5CB-7C43-52DF-8F25-CD19080F32A9}"/>
              </a:ext>
            </a:extLst>
          </p:cNvPr>
          <p:cNvSpPr/>
          <p:nvPr/>
        </p:nvSpPr>
        <p:spPr>
          <a:xfrm>
            <a:off x="4580492" y="276254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9DC3E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기록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이전 버전 보존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426DFFFC-B62C-DCE4-48CB-8E0341988B77}"/>
              </a:ext>
            </a:extLst>
          </p:cNvPr>
          <p:cNvSpPr/>
          <p:nvPr/>
        </p:nvSpPr>
        <p:spPr>
          <a:xfrm>
            <a:off x="5595363" y="2818526"/>
            <a:ext cx="707010" cy="460590"/>
          </a:xfrm>
          <a:prstGeom prst="roundRect">
            <a:avLst>
              <a:gd name="adj" fmla="val 6990"/>
            </a:avLst>
          </a:prstGeom>
          <a:noFill/>
          <a:ln>
            <a:solidFill>
              <a:srgbClr val="9DC3E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가역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en-US" altLang="ko-KR" sz="8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롤백 가능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0DB2F16-DDCE-3439-51D8-711E26069458}"/>
              </a:ext>
            </a:extLst>
          </p:cNvPr>
          <p:cNvSpPr/>
          <p:nvPr/>
        </p:nvSpPr>
        <p:spPr>
          <a:xfrm>
            <a:off x="1628639" y="3609885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승인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워크플로우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61F4D4B-19D8-2C91-C260-F523C6776740}"/>
              </a:ext>
            </a:extLst>
          </p:cNvPr>
          <p:cNvSpPr/>
          <p:nvPr/>
        </p:nvSpPr>
        <p:spPr>
          <a:xfrm>
            <a:off x="1628639" y="447658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spc="-7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대상 식별</a:t>
            </a:r>
            <a:endParaRPr kumimoji="0" lang="ko-KR" altLang="en-US" sz="1200" b="0" i="0" u="none" strike="noStrike" kern="1200" cap="none" spc="-7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보존기한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요청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1D837387-A5BE-01F0-AA08-58E29D9F4BF4}"/>
              </a:ext>
            </a:extLst>
          </p:cNvPr>
          <p:cNvSpPr/>
          <p:nvPr/>
        </p:nvSpPr>
        <p:spPr>
          <a:xfrm>
            <a:off x="1628638" y="5324007"/>
            <a:ext cx="219660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계보 연계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(2.2.4·2.3.3)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5D6672A5-3E34-0BBD-1C36-D95CD8B48405}"/>
              </a:ext>
            </a:extLst>
          </p:cNvPr>
          <p:cNvSpPr/>
          <p:nvPr/>
        </p:nvSpPr>
        <p:spPr>
          <a:xfrm>
            <a:off x="2612790" y="3609885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spc="-7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제공방식 결정</a:t>
            </a:r>
            <a:endParaRPr kumimoji="0" lang="ko-KR" altLang="en-US" sz="1200" b="0" i="0" u="none" strike="noStrike" kern="1200" cap="none" spc="-7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·API·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스트리밍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662C3B95-FAB6-B599-AFC7-D6CFEFB16CC3}"/>
              </a:ext>
            </a:extLst>
          </p:cNvPr>
          <p:cNvSpPr/>
          <p:nvPr/>
        </p:nvSpPr>
        <p:spPr>
          <a:xfrm>
            <a:off x="2612790" y="447658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승인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승인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756F073-886C-38CB-E7A1-11B914E9E386}"/>
              </a:ext>
            </a:extLst>
          </p:cNvPr>
          <p:cNvSpPr/>
          <p:nvPr/>
        </p:nvSpPr>
        <p:spPr>
          <a:xfrm>
            <a:off x="3596641" y="3609885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spc="-7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범위 설정</a:t>
            </a:r>
            <a:endParaRPr kumimoji="0" lang="ko-KR" altLang="en-US" sz="1200" b="0" i="0" u="none" strike="noStrike" kern="1200" cap="none" spc="-7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반출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D57BA78F-8EFD-8318-69EA-1DD4F7DA5A43}"/>
              </a:ext>
            </a:extLst>
          </p:cNvPr>
          <p:cNvSpPr/>
          <p:nvPr/>
        </p:nvSpPr>
        <p:spPr>
          <a:xfrm>
            <a:off x="3596641" y="447658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실행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참조 영향 확인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0FECFAC5-483C-731E-1AF1-78317E0F5A1E}"/>
              </a:ext>
            </a:extLst>
          </p:cNvPr>
          <p:cNvSpPr/>
          <p:nvPr/>
        </p:nvSpPr>
        <p:spPr>
          <a:xfrm>
            <a:off x="4045260" y="5324007"/>
            <a:ext cx="2196456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현황관리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메타데이터 자동 반영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(FR-005·DR-014)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33ABBF65-CE05-9BCA-4818-44583BD11D11}"/>
              </a:ext>
            </a:extLst>
          </p:cNvPr>
          <p:cNvSpPr/>
          <p:nvPr/>
        </p:nvSpPr>
        <p:spPr>
          <a:xfrm>
            <a:off x="4580492" y="3609885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현황 반영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8D0254A-BD09-34F4-2F82-270B2990A05E}"/>
              </a:ext>
            </a:extLst>
          </p:cNvPr>
          <p:cNvSpPr/>
          <p:nvPr/>
        </p:nvSpPr>
        <p:spPr>
          <a:xfrm>
            <a:off x="4580492" y="4476584"/>
            <a:ext cx="855482" cy="557314"/>
          </a:xfrm>
          <a:prstGeom prst="roundRect">
            <a:avLst>
              <a:gd name="adj" fmla="val 6990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spc="-7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 이력 기록</a:t>
            </a:r>
            <a:endParaRPr kumimoji="0" lang="ko-KR" altLang="en-US" sz="1200" b="0" i="0" u="none" strike="noStrike" kern="1200" cap="none" spc="-7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영구 보존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4DEA9C9C-EDBB-04DE-7F28-C8F6B1E877A1}"/>
              </a:ext>
            </a:extLst>
          </p:cNvPr>
          <p:cNvSpPr/>
          <p:nvPr/>
        </p:nvSpPr>
        <p:spPr>
          <a:xfrm>
            <a:off x="5595363" y="3671024"/>
            <a:ext cx="707010" cy="460590"/>
          </a:xfrm>
          <a:prstGeom prst="roundRect">
            <a:avLst>
              <a:gd name="adj" fmla="val 6990"/>
            </a:avLst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반가역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15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후 회수 제한</a:t>
            </a:r>
            <a:endParaRPr kumimoji="0" lang="en-US" altLang="ko-KR" sz="900" b="0" i="0" u="none" strike="noStrike" kern="1200" cap="none" spc="-15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FB0EB7CB-5703-8464-97AB-B4DF0FD51838}"/>
              </a:ext>
            </a:extLst>
          </p:cNvPr>
          <p:cNvSpPr/>
          <p:nvPr/>
        </p:nvSpPr>
        <p:spPr>
          <a:xfrm>
            <a:off x="5595363" y="4492016"/>
            <a:ext cx="707010" cy="460590"/>
          </a:xfrm>
          <a:prstGeom prst="roundRect">
            <a:avLst>
              <a:gd name="adj" fmla="val 6990"/>
            </a:avLst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비가역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복원 불가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EB63D231-29B7-E252-933A-AB16D8FB07D2}"/>
              </a:ext>
            </a:extLst>
          </p:cNvPr>
          <p:cNvSpPr/>
          <p:nvPr/>
        </p:nvSpPr>
        <p:spPr>
          <a:xfrm>
            <a:off x="316309" y="6004877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중앙적재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간접제공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보안반출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안전구역형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 정책 차등 적용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(DR-013) 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폐기는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비가역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처리로 담당자 승인 필수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 관계 영향 확인 후 실행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(FR-004)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59E1D287-014C-3C3C-19FB-A80C356A42ED}"/>
              </a:ext>
            </a:extLst>
          </p:cNvPr>
          <p:cNvCxnSpPr>
            <a:stCxn id="51" idx="3"/>
            <a:endCxn id="54" idx="1"/>
          </p:cNvCxnSpPr>
          <p:nvPr/>
        </p:nvCxnSpPr>
        <p:spPr>
          <a:xfrm>
            <a:off x="2484121" y="3041201"/>
            <a:ext cx="1286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8B577F22-CBE2-BE6C-17F9-77139D8A8087}"/>
              </a:ext>
            </a:extLst>
          </p:cNvPr>
          <p:cNvCxnSpPr>
            <a:stCxn id="54" idx="3"/>
            <a:endCxn id="55" idx="1"/>
          </p:cNvCxnSpPr>
          <p:nvPr/>
        </p:nvCxnSpPr>
        <p:spPr>
          <a:xfrm>
            <a:off x="3468272" y="3041201"/>
            <a:ext cx="1283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8D6F8FFE-93A3-D870-5E61-3EC6F6864A12}"/>
              </a:ext>
            </a:extLst>
          </p:cNvPr>
          <p:cNvCxnSpPr>
            <a:stCxn id="55" idx="3"/>
            <a:endCxn id="56" idx="1"/>
          </p:cNvCxnSpPr>
          <p:nvPr/>
        </p:nvCxnSpPr>
        <p:spPr>
          <a:xfrm>
            <a:off x="4452123" y="3041201"/>
            <a:ext cx="1283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95A58916-9FF1-84BB-C20F-11BA29AD137E}"/>
              </a:ext>
            </a:extLst>
          </p:cNvPr>
          <p:cNvCxnSpPr>
            <a:stCxn id="58" idx="3"/>
            <a:endCxn id="61" idx="1"/>
          </p:cNvCxnSpPr>
          <p:nvPr/>
        </p:nvCxnSpPr>
        <p:spPr>
          <a:xfrm>
            <a:off x="2484121" y="3888542"/>
            <a:ext cx="1286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AA2DF9F7-9DE7-EA84-1693-169917FE3427}"/>
              </a:ext>
            </a:extLst>
          </p:cNvPr>
          <p:cNvCxnSpPr>
            <a:stCxn id="61" idx="3"/>
            <a:endCxn id="64" idx="1"/>
          </p:cNvCxnSpPr>
          <p:nvPr/>
        </p:nvCxnSpPr>
        <p:spPr>
          <a:xfrm>
            <a:off x="3468272" y="3888542"/>
            <a:ext cx="1283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1097F5C6-CB03-84B1-9403-3A311F40F3E5}"/>
              </a:ext>
            </a:extLst>
          </p:cNvPr>
          <p:cNvCxnSpPr>
            <a:stCxn id="64" idx="3"/>
            <a:endCxn id="67" idx="1"/>
          </p:cNvCxnSpPr>
          <p:nvPr/>
        </p:nvCxnSpPr>
        <p:spPr>
          <a:xfrm>
            <a:off x="4452123" y="3888542"/>
            <a:ext cx="1283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1D13043-939C-20A4-521C-E7DA342537FF}"/>
              </a:ext>
            </a:extLst>
          </p:cNvPr>
          <p:cNvCxnSpPr>
            <a:stCxn id="59" idx="3"/>
            <a:endCxn id="62" idx="1"/>
          </p:cNvCxnSpPr>
          <p:nvPr/>
        </p:nvCxnSpPr>
        <p:spPr>
          <a:xfrm>
            <a:off x="2484121" y="4755241"/>
            <a:ext cx="1286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화살표 연결선 95">
            <a:extLst>
              <a:ext uri="{FF2B5EF4-FFF2-40B4-BE49-F238E27FC236}">
                <a16:creationId xmlns:a16="http://schemas.microsoft.com/office/drawing/2014/main" id="{EE9E5555-E135-84CB-70EA-A4D080F22CFA}"/>
              </a:ext>
            </a:extLst>
          </p:cNvPr>
          <p:cNvCxnSpPr>
            <a:stCxn id="62" idx="3"/>
            <a:endCxn id="65" idx="1"/>
          </p:cNvCxnSpPr>
          <p:nvPr/>
        </p:nvCxnSpPr>
        <p:spPr>
          <a:xfrm>
            <a:off x="3468272" y="4755241"/>
            <a:ext cx="1283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B1CC2C6F-B551-860D-3ECB-CD9AC3FA5EE2}"/>
              </a:ext>
            </a:extLst>
          </p:cNvPr>
          <p:cNvCxnSpPr>
            <a:stCxn id="65" idx="3"/>
            <a:endCxn id="68" idx="1"/>
          </p:cNvCxnSpPr>
          <p:nvPr/>
        </p:nvCxnSpPr>
        <p:spPr>
          <a:xfrm>
            <a:off x="4452123" y="4755241"/>
            <a:ext cx="12836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7DC3038F-28A0-123E-2BC4-FE0085C478BC}"/>
              </a:ext>
            </a:extLst>
          </p:cNvPr>
          <p:cNvCxnSpPr>
            <a:stCxn id="41" idx="2"/>
            <a:endCxn id="43" idx="0"/>
          </p:cNvCxnSpPr>
          <p:nvPr/>
        </p:nvCxnSpPr>
        <p:spPr>
          <a:xfrm flipH="1">
            <a:off x="3961280" y="3406139"/>
            <a:ext cx="1" cy="150077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76CCEA1E-ED12-93A5-F12E-4468E4B1DB26}"/>
              </a:ext>
            </a:extLst>
          </p:cNvPr>
          <p:cNvCxnSpPr>
            <a:stCxn id="43" idx="2"/>
            <a:endCxn id="45" idx="0"/>
          </p:cNvCxnSpPr>
          <p:nvPr/>
        </p:nvCxnSpPr>
        <p:spPr>
          <a:xfrm>
            <a:off x="3961280" y="4247293"/>
            <a:ext cx="0" cy="16241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A11B2652-884F-7ADA-86AD-264D5513B328}"/>
              </a:ext>
            </a:extLst>
          </p:cNvPr>
          <p:cNvCxnSpPr>
            <a:stCxn id="45" idx="2"/>
            <a:endCxn id="47" idx="0"/>
          </p:cNvCxnSpPr>
          <p:nvPr/>
        </p:nvCxnSpPr>
        <p:spPr>
          <a:xfrm flipH="1">
            <a:off x="3961279" y="5100780"/>
            <a:ext cx="1" cy="15634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5" name="Table 0">
            <a:extLst>
              <a:ext uri="{FF2B5EF4-FFF2-40B4-BE49-F238E27FC236}">
                <a16:creationId xmlns:a16="http://schemas.microsoft.com/office/drawing/2014/main" id="{1617B12B-AEDA-2894-4037-DE5EEC9AA5DB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152903"/>
          <a:ext cx="6154318" cy="2034668"/>
        </p:xfrm>
        <a:graphic>
          <a:graphicData uri="http://schemas.openxmlformats.org/drawingml/2006/table">
            <a:tbl>
              <a:tblPr/>
              <a:tblGrid>
                <a:gridCol w="839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240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704975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10287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  <a:gridCol w="657225">
                  <a:extLst>
                    <a:ext uri="{9D8B030D-6E8A-4147-A177-3AD203B41FA5}">
                      <a16:colId xmlns:a16="http://schemas.microsoft.com/office/drawing/2014/main" val="3095280139"/>
                    </a:ext>
                  </a:extLst>
                </a:gridCol>
              </a:tblGrid>
              <a:tr h="50866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유형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 절차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통제 방식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가역성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8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신버전 생성→재검증→이력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이전 버전 보존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가역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롤백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8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승인→제공방식→범위→배포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워크플로우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유형별 정책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회수 제한</a:t>
                      </a: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FR-004·</a:t>
                      </a:r>
                    </a:p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508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식별→승인→참조확인→실행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승인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참조 영향 확인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비가역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5" name="Google Shape;3677;p61">
            <a:extLst>
              <a:ext uri="{FF2B5EF4-FFF2-40B4-BE49-F238E27FC236}">
                <a16:creationId xmlns:a16="http://schemas.microsoft.com/office/drawing/2014/main" id="{7B80DC58-9430-B9CC-A397-6863FBDF559C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8569674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3B4216-16DB-C609-34E0-3249FED3EA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BB93DE0-CCE1-FB7A-46FA-CBDFB5DDA97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9726050-A26E-B9A5-291E-0B93F283986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6D117A-91DA-9F69-9AE3-865BE8DED87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단계별 품질 검수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A7543D-B7D0-1B22-FDB6-A3874166077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품질 및 정합성 검증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8BE2555-8B59-E133-2BC5-1A97E1E7E47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기준수립부터 사전진단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보완재검수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최종승인까지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품질검수를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표준화하고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정확성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완전성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일관성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유효성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최신성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품질특성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(DTR-003)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업무규칙 기반으로 검증하는 체계를 구현함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(FR-006)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E09AEE5-F8D6-A627-00D3-2089F552278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627A4D0-61F9-0A11-F666-77DCF302495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기준수립을 통한 품질 검증 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57B48EC-4713-96A4-DC26-CDB9E8889955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FR-006, DTR-003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4DA8C76A-348B-2CA8-227D-F1AD6B411F3C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4E6761A-0194-8F6B-9D71-5412D1A7EB4C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학습데이터 품질을 단계별 절차와 표준 품질특성으로 체계 검증하여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불일치를 사전 차단하고 데이터 운영 품질을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(FR-006·DTR-003)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자동검사와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수동검수를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결합하여 효율과 정확성을 동시 확보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공공데이터 범정부 품질진단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품질관리 매뉴얼을 준거로 적용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51E8859-90A5-2BA3-E2E7-603A67EB4360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6783AF54-D102-458E-D9E4-09584AFA3E1F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사전진단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497807-4470-078E-4E6E-2CABA5A0A83C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58D5A757-5B04-7B11-DBA8-21748DF3060C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자동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+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 검수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6E692F07-B1F7-7C6B-B427-81BC7C28ECFF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68036093-1BDE-57A8-EDD6-F2636DA73890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품질특성 검증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0FBBE494-0362-D856-0A72-6B39EC06ED74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CC4C8E51-B4C1-42C4-0BDB-9085074FBEE4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보완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FF25B900-D4B3-859E-5E19-2A35B1FD5592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0BEC0B9E-9A46-FD87-5D30-37E9765C1EBB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4AE1A838-C8F0-C1ED-AFF9-0F23D52D3C1D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C3FCF9A0-E888-45B3-F7A6-42317AEACA0E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1827448E-4680-076C-6BBB-ADE5273817A5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43BD8973-68C7-1D8F-D9CD-EDCFCF9B3C4C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891BB34-2E7B-54D5-0657-A07ABC7B9056}"/>
              </a:ext>
            </a:extLst>
          </p:cNvPr>
          <p:cNvSpPr txBox="1"/>
          <p:nvPr/>
        </p:nvSpPr>
        <p:spPr>
          <a:xfrm>
            <a:off x="34285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기준수립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사전진단 리스크 식별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F767972-CE2B-760B-E2CC-ADB4C7E93A3E}"/>
              </a:ext>
            </a:extLst>
          </p:cNvPr>
          <p:cNvSpPr txBox="1"/>
          <p:nvPr/>
        </p:nvSpPr>
        <p:spPr>
          <a:xfrm>
            <a:off x="192346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정합성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형식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)+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내용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수동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9271567-2CE8-CD7C-823C-72F2F327FCFD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품질특성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업무규칙 검증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EEA1FC5-28A4-02B0-F06B-E84592780CBC}"/>
              </a:ext>
            </a:extLst>
          </p:cNvPr>
          <p:cNvSpPr txBox="1"/>
          <p:nvPr/>
        </p:nvSpPr>
        <p:spPr>
          <a:xfrm>
            <a:off x="508468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재검수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 승인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FE93045-21F7-7F0A-9FD9-1893745B98FD}"/>
              </a:ext>
            </a:extLst>
          </p:cNvPr>
          <p:cNvSpPr/>
          <p:nvPr/>
        </p:nvSpPr>
        <p:spPr>
          <a:xfrm>
            <a:off x="316309" y="3755838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(6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검수 절차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품질기준 수립부터 최종 승인까지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6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단계로 검수를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① 기준수립 ② 사전진단 ③ 정합성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 검수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④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검수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⑤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⑥ 최종 승인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필요 시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루프로 순환하여 품질 미달 데이터의 등록을 차단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8F121F16-4383-88B1-FD8D-1C059B01F421}"/>
              </a:ext>
            </a:extLst>
          </p:cNvPr>
          <p:cNvSpPr/>
          <p:nvPr/>
        </p:nvSpPr>
        <p:spPr>
          <a:xfrm>
            <a:off x="316309" y="465876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(5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품질특성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완전성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일관성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최신성의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품질특성을 기준으로 데이터를 검증함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값의 정확도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완전성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누락 없음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일관성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규칙 일치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범위 적합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 반영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 여부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오류율을 함께 관리하여 품질 수준을 정량 측정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699D39A-0617-372E-3768-B5E6E09631B9}"/>
              </a:ext>
            </a:extLst>
          </p:cNvPr>
          <p:cNvSpPr/>
          <p:nvPr/>
        </p:nvSpPr>
        <p:spPr>
          <a:xfrm>
            <a:off x="316309" y="573573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업무규칙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(BR)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특성과 구축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근거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법령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매뉴얼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참고하여 업무규칙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(BR)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정의하고 값 검증을 수행함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업무규칙 기반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검증→값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탐지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재발방지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사전검증 방안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 오류에 대한 재발 방지 방안과 오류 입력 사전 차단 방안 제시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85B98F4-246E-A5E0-6B9B-42620F8350F4}"/>
              </a:ext>
            </a:extLst>
          </p:cNvPr>
          <p:cNvSpPr/>
          <p:nvPr/>
        </p:nvSpPr>
        <p:spPr>
          <a:xfrm>
            <a:off x="316309" y="6804865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유형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조치 방법을 관리하고 개선 활동을 추적함</a:t>
            </a:r>
            <a:b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(FR-006·DTR-003)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오류데이터 개선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오류유형별 조치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 관리로 품질 개선 이력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2EE9E9C6-B75F-A71F-4584-07EF92BDCC57}"/>
              </a:ext>
            </a:extLst>
          </p:cNvPr>
          <p:cNvSpPr/>
          <p:nvPr/>
        </p:nvSpPr>
        <p:spPr>
          <a:xfrm>
            <a:off x="316309" y="780239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품질기준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품질관리 계획서로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유형별 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정확성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(2.4.3)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3774;p63">
            <a:extLst>
              <a:ext uri="{FF2B5EF4-FFF2-40B4-BE49-F238E27FC236}">
                <a16:creationId xmlns:a16="http://schemas.microsoft.com/office/drawing/2014/main" id="{0FE4C045-D224-4EB6-485D-F6C495D2424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87755368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BDAC6-F855-78DE-A076-67C8EECC6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73038B1-D77A-234B-9ADE-15A1AB04405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689C5BA-94E9-0829-69DC-3BD5BDC0338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E92A02-D2EE-4C44-E0A6-7F270991A77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단계별 품질 검수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A30697A-64E4-1682-12AA-561313C9431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품질 및 정합성 검증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3DF3424-2156-C2D0-4940-7E3AB37248C7}"/>
              </a:ext>
            </a:extLst>
          </p:cNvPr>
          <p:cNvSpPr/>
          <p:nvPr/>
        </p:nvSpPr>
        <p:spPr>
          <a:xfrm>
            <a:off x="302559" y="136397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 체계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6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품질검수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절차와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품질특성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업무규칙 기반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 흐름을 제시하여 단계별 품질 검수의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8CDBB2D-E222-A45C-BC7E-A3B8470C244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96845F2-193A-81C1-9781-2599BE88BE66}"/>
              </a:ext>
            </a:extLst>
          </p:cNvPr>
          <p:cNvSpPr txBox="1"/>
          <p:nvPr/>
        </p:nvSpPr>
        <p:spPr>
          <a:xfrm>
            <a:off x="335011" y="2371141"/>
            <a:ext cx="35588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품질 검수 체계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4FF1F027-3868-274A-83A1-E3406192D33F}"/>
              </a:ext>
            </a:extLst>
          </p:cNvPr>
          <p:cNvSpPr/>
          <p:nvPr/>
        </p:nvSpPr>
        <p:spPr bwMode="gray">
          <a:xfrm>
            <a:off x="258881" y="2666394"/>
            <a:ext cx="6331426" cy="411177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12F4BB8E-193A-5068-9E4C-5C73C50BA969}"/>
              </a:ext>
            </a:extLst>
          </p:cNvPr>
          <p:cNvCxnSpPr>
            <a:cxnSpLocks/>
          </p:cNvCxnSpPr>
          <p:nvPr/>
        </p:nvCxnSpPr>
        <p:spPr>
          <a:xfrm>
            <a:off x="312925" y="6857217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399CD020-F3C6-B790-E0A0-F369A10768C5}"/>
              </a:ext>
            </a:extLst>
          </p:cNvPr>
          <p:cNvSpPr txBox="1"/>
          <p:nvPr/>
        </p:nvSpPr>
        <p:spPr>
          <a:xfrm>
            <a:off x="335011" y="6831140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품질특성별 검증 방법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AC509664-7006-700E-7916-42594B1AC7E7}"/>
              </a:ext>
            </a:extLst>
          </p:cNvPr>
          <p:cNvSpPr/>
          <p:nvPr/>
        </p:nvSpPr>
        <p:spPr bwMode="gray">
          <a:xfrm>
            <a:off x="258881" y="7086601"/>
            <a:ext cx="6331426" cy="260985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BB76C8D-1C2B-B97B-B1DA-F97DBFAFEB70}"/>
              </a:ext>
            </a:extLst>
          </p:cNvPr>
          <p:cNvSpPr/>
          <p:nvPr/>
        </p:nvSpPr>
        <p:spPr>
          <a:xfrm>
            <a:off x="316309" y="918757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6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 검수 절차 위에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5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품질특성과 업무규칙 기반 검증을 적용하고 자동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수동을 결합함으로써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미달 데이터의 등록을 차단하고 데이터 운영 품질을 정량적으로 관리함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0F8DB85A-A5E8-4D7E-98A5-1713A14351E4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152904"/>
          <a:ext cx="6154318" cy="2055018"/>
        </p:xfrm>
        <a:graphic>
          <a:graphicData uri="http://schemas.openxmlformats.org/drawingml/2006/table">
            <a:tbl>
              <a:tblPr/>
              <a:tblGrid>
                <a:gridCol w="839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240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07645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131445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25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품질특성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내용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방식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값이 사실과 일치하는가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업무규칙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표본 대조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1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완전성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 항목 누락 여부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필수항목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일관성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 규칙 일치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정합성 검사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유효성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범위 적합 여부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유효성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최신성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최신 데이터 반영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 이력 확인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6166292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오류율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비율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탐지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정량 측정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643571"/>
                  </a:ext>
                </a:extLst>
              </a:tr>
            </a:tbl>
          </a:graphicData>
        </a:graphic>
      </p:graphicFrame>
      <p:sp>
        <p:nvSpPr>
          <p:cNvPr id="73" name="직사각형 72">
            <a:extLst>
              <a:ext uri="{FF2B5EF4-FFF2-40B4-BE49-F238E27FC236}">
                <a16:creationId xmlns:a16="http://schemas.microsoft.com/office/drawing/2014/main" id="{4CF0079C-3B54-2542-2412-94E10B04AF77}"/>
              </a:ext>
            </a:extLst>
          </p:cNvPr>
          <p:cNvSpPr/>
          <p:nvPr/>
        </p:nvSpPr>
        <p:spPr>
          <a:xfrm>
            <a:off x="316309" y="6004877"/>
            <a:ext cx="6286697" cy="66979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공공데이터 범정부 품질진단 기준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품질관리 매뉴얼 참고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오류유형별 조치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 관리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자동검사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+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수동검수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후 최종 승인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(FR-006)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438154D-D24D-979E-AE14-62EDE1E584C4}"/>
              </a:ext>
            </a:extLst>
          </p:cNvPr>
          <p:cNvSpPr/>
          <p:nvPr/>
        </p:nvSpPr>
        <p:spPr>
          <a:xfrm>
            <a:off x="312925" y="4030925"/>
            <a:ext cx="6221225" cy="945650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DE1616A-4479-DA64-E39A-AF8B61DE253C}"/>
              </a:ext>
            </a:extLst>
          </p:cNvPr>
          <p:cNvSpPr/>
          <p:nvPr/>
        </p:nvSpPr>
        <p:spPr>
          <a:xfrm>
            <a:off x="312925" y="5114856"/>
            <a:ext cx="6221225" cy="822127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사각형: 둥근 위쪽 모서리 15">
            <a:extLst>
              <a:ext uri="{FF2B5EF4-FFF2-40B4-BE49-F238E27FC236}">
                <a16:creationId xmlns:a16="http://schemas.microsoft.com/office/drawing/2014/main" id="{60EB1936-A33D-3DBF-0428-7D33D6491649}"/>
              </a:ext>
            </a:extLst>
          </p:cNvPr>
          <p:cNvSpPr/>
          <p:nvPr/>
        </p:nvSpPr>
        <p:spPr>
          <a:xfrm>
            <a:off x="306574" y="4009824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품질특성 검증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(DTR-003)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D56E9A2B-8736-98E2-D1F9-631A4C650EFA}"/>
              </a:ext>
            </a:extLst>
          </p:cNvPr>
          <p:cNvSpPr/>
          <p:nvPr/>
        </p:nvSpPr>
        <p:spPr>
          <a:xfrm>
            <a:off x="306574" y="5093266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업무규칙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(BR)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검증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34C8FCD-A437-5DB4-EFF8-03F8BE6E1478}"/>
              </a:ext>
            </a:extLst>
          </p:cNvPr>
          <p:cNvSpPr/>
          <p:nvPr/>
        </p:nvSpPr>
        <p:spPr>
          <a:xfrm>
            <a:off x="431064" y="5426213"/>
            <a:ext cx="1778736" cy="432368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업무규칙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(BR) 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정의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법령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규정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매뉴얼 근거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596B1A2C-9E5B-1290-502B-7860C7EBD694}"/>
              </a:ext>
            </a:extLst>
          </p:cNvPr>
          <p:cNvSpPr/>
          <p:nvPr/>
        </p:nvSpPr>
        <p:spPr>
          <a:xfrm>
            <a:off x="431064" y="4340584"/>
            <a:ext cx="1026285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정확성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값의 정확도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29CCF90B-CE31-C318-064D-1B34D769E262}"/>
              </a:ext>
            </a:extLst>
          </p:cNvPr>
          <p:cNvSpPr/>
          <p:nvPr/>
        </p:nvSpPr>
        <p:spPr>
          <a:xfrm>
            <a:off x="4148126" y="4340584"/>
            <a:ext cx="1026285" cy="5704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유효성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</a:t>
            </a:r>
            <a:r>
              <a:rPr lang="en-US" altLang="ko-KR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spc="-11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범위 적합</a:t>
            </a:r>
            <a:endParaRPr lang="en-US" altLang="ko-KR" sz="900" spc="-11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7AFD1B5-A32B-8CE3-BDDE-98C19AF09C5E}"/>
              </a:ext>
            </a:extLst>
          </p:cNvPr>
          <p:cNvSpPr/>
          <p:nvPr/>
        </p:nvSpPr>
        <p:spPr>
          <a:xfrm>
            <a:off x="1683589" y="4340584"/>
            <a:ext cx="1026285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완전성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누락 없음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E74A45CA-3405-3CB7-71BF-CFF7D58D9F05}"/>
              </a:ext>
            </a:extLst>
          </p:cNvPr>
          <p:cNvSpPr/>
          <p:nvPr/>
        </p:nvSpPr>
        <p:spPr>
          <a:xfrm>
            <a:off x="2915856" y="4340584"/>
            <a:ext cx="1026285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15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일관성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9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규칙 일치</a:t>
            </a:r>
            <a:endParaRPr kumimoji="0" lang="en-US" altLang="ko-KR" sz="900" b="0" i="0" u="none" strike="noStrike" kern="1200" cap="none" spc="-9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15090B33-30EB-EBFC-F0BB-C4A54EB2DBEB}"/>
              </a:ext>
            </a:extLst>
          </p:cNvPr>
          <p:cNvCxnSpPr>
            <a:cxnSpLocks/>
            <a:stCxn id="22" idx="3"/>
            <a:endCxn id="25" idx="1"/>
          </p:cNvCxnSpPr>
          <p:nvPr/>
        </p:nvCxnSpPr>
        <p:spPr>
          <a:xfrm>
            <a:off x="1457349" y="4625806"/>
            <a:ext cx="22624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882204C0-A09B-569B-B056-70CE71EBB9F6}"/>
              </a:ext>
            </a:extLst>
          </p:cNvPr>
          <p:cNvCxnSpPr>
            <a:cxnSpLocks/>
            <a:stCxn id="25" idx="3"/>
            <a:endCxn id="27" idx="1"/>
          </p:cNvCxnSpPr>
          <p:nvPr/>
        </p:nvCxnSpPr>
        <p:spPr>
          <a:xfrm>
            <a:off x="2709874" y="4625806"/>
            <a:ext cx="205982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B77656DD-9C4F-C1E4-BB3C-6CE4BA31B639}"/>
              </a:ext>
            </a:extLst>
          </p:cNvPr>
          <p:cNvCxnSpPr>
            <a:cxnSpLocks/>
            <a:stCxn id="27" idx="3"/>
            <a:endCxn id="24" idx="1"/>
          </p:cNvCxnSpPr>
          <p:nvPr/>
        </p:nvCxnSpPr>
        <p:spPr>
          <a:xfrm>
            <a:off x="3942141" y="4625806"/>
            <a:ext cx="20598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5E108C90-B39A-3649-BF43-A957713BB07B}"/>
              </a:ext>
            </a:extLst>
          </p:cNvPr>
          <p:cNvSpPr/>
          <p:nvPr/>
        </p:nvSpPr>
        <p:spPr>
          <a:xfrm>
            <a:off x="5384340" y="4340584"/>
            <a:ext cx="1026285" cy="5704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최신성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범위 적합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8D597FA-C4FD-AF37-86A9-7B541C3AC100}"/>
              </a:ext>
            </a:extLst>
          </p:cNvPr>
          <p:cNvCxnSpPr>
            <a:cxnSpLocks/>
            <a:stCxn id="24" idx="3"/>
            <a:endCxn id="34" idx="1"/>
          </p:cNvCxnSpPr>
          <p:nvPr/>
        </p:nvCxnSpPr>
        <p:spPr>
          <a:xfrm>
            <a:off x="5174411" y="4625806"/>
            <a:ext cx="20992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7ED85579-DD6E-33E3-472B-8A376BFBBA5F}"/>
              </a:ext>
            </a:extLst>
          </p:cNvPr>
          <p:cNvSpPr/>
          <p:nvPr/>
        </p:nvSpPr>
        <p:spPr>
          <a:xfrm>
            <a:off x="2555428" y="5426213"/>
            <a:ext cx="1778736" cy="432368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값 검증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 탐지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중복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 데이터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1D134421-92F3-8C84-DBFA-2BB6C04D49F6}"/>
              </a:ext>
            </a:extLst>
          </p:cNvPr>
          <p:cNvSpPr/>
          <p:nvPr/>
        </p:nvSpPr>
        <p:spPr>
          <a:xfrm>
            <a:off x="4631887" y="5426213"/>
            <a:ext cx="1778736" cy="432368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재발방지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사전검증 방안</a:t>
            </a:r>
            <a:endParaRPr kumimoji="0" lang="en-US" altLang="ko-KR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84475A7B-9C16-87AD-C2A8-E4DB7CFC03D5}"/>
              </a:ext>
            </a:extLst>
          </p:cNvPr>
          <p:cNvSpPr/>
          <p:nvPr/>
        </p:nvSpPr>
        <p:spPr>
          <a:xfrm>
            <a:off x="312925" y="2735543"/>
            <a:ext cx="6221225" cy="1178515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사각형: 둥근 위쪽 모서리 52">
            <a:extLst>
              <a:ext uri="{FF2B5EF4-FFF2-40B4-BE49-F238E27FC236}">
                <a16:creationId xmlns:a16="http://schemas.microsoft.com/office/drawing/2014/main" id="{28687DA2-7587-E65C-373F-EBAA7D1D1143}"/>
              </a:ext>
            </a:extLst>
          </p:cNvPr>
          <p:cNvSpPr/>
          <p:nvPr/>
        </p:nvSpPr>
        <p:spPr>
          <a:xfrm>
            <a:off x="306574" y="2714443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검수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009143-FB41-3111-75EA-941BA0BAE627}"/>
              </a:ext>
            </a:extLst>
          </p:cNvPr>
          <p:cNvSpPr/>
          <p:nvPr/>
        </p:nvSpPr>
        <p:spPr>
          <a:xfrm>
            <a:off x="431064" y="3045203"/>
            <a:ext cx="854811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기준수립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35438D1B-EB58-4330-14FF-94A1911F377D}"/>
              </a:ext>
            </a:extLst>
          </p:cNvPr>
          <p:cNvSpPr/>
          <p:nvPr/>
        </p:nvSpPr>
        <p:spPr>
          <a:xfrm>
            <a:off x="1438160" y="3045203"/>
            <a:ext cx="854811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사전진단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EC064347-21F2-1809-93AF-890BB95CAEA6}"/>
              </a:ext>
            </a:extLst>
          </p:cNvPr>
          <p:cNvSpPr/>
          <p:nvPr/>
        </p:nvSpPr>
        <p:spPr>
          <a:xfrm>
            <a:off x="2485668" y="3045203"/>
            <a:ext cx="854811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형식 검수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C1973E9A-F44F-A98E-F055-5318F54FE7E7}"/>
              </a:ext>
            </a:extLst>
          </p:cNvPr>
          <p:cNvSpPr/>
          <p:nvPr/>
        </p:nvSpPr>
        <p:spPr>
          <a:xfrm>
            <a:off x="3517522" y="3045203"/>
            <a:ext cx="854811" cy="570444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</a:p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 검수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C8A353C-8C33-A81C-78B6-6FA38BBCECEA}"/>
              </a:ext>
            </a:extLst>
          </p:cNvPr>
          <p:cNvSpPr/>
          <p:nvPr/>
        </p:nvSpPr>
        <p:spPr>
          <a:xfrm>
            <a:off x="4529529" y="3045203"/>
            <a:ext cx="854811" cy="570444"/>
          </a:xfrm>
          <a:prstGeom prst="roundRect">
            <a:avLst>
              <a:gd name="adj" fmla="val 699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재검수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4C53C8B6-15AC-8F15-4A06-294DFBC6A1D3}"/>
              </a:ext>
            </a:extLst>
          </p:cNvPr>
          <p:cNvSpPr/>
          <p:nvPr/>
        </p:nvSpPr>
        <p:spPr>
          <a:xfrm>
            <a:off x="5555812" y="3045203"/>
            <a:ext cx="854811" cy="570444"/>
          </a:xfrm>
          <a:prstGeom prst="roundRect">
            <a:avLst>
              <a:gd name="adj" fmla="val 6990"/>
            </a:avLst>
          </a:prstGeom>
          <a:solidFill>
            <a:srgbClr val="A9D18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 승인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A795B67E-A8E5-562D-1953-3E6B1975721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FR-006, DTR-003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4784CA9-E3FE-1077-6327-4349E722668A}"/>
              </a:ext>
            </a:extLst>
          </p:cNvPr>
          <p:cNvSpPr/>
          <p:nvPr/>
        </p:nvSpPr>
        <p:spPr>
          <a:xfrm>
            <a:off x="3301559" y="2748015"/>
            <a:ext cx="1319594" cy="227994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자동검사 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+ </a:t>
            </a:r>
            <a:r>
              <a:rPr lang="ko-KR" altLang="en-US" sz="900" b="1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수동검수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결합</a:t>
            </a:r>
          </a:p>
        </p:txBody>
      </p:sp>
      <p:cxnSp>
        <p:nvCxnSpPr>
          <p:cNvPr id="98" name="연결선: 꺾임 97">
            <a:extLst>
              <a:ext uri="{FF2B5EF4-FFF2-40B4-BE49-F238E27FC236}">
                <a16:creationId xmlns:a16="http://schemas.microsoft.com/office/drawing/2014/main" id="{F9923E85-4A3F-C5C6-9921-408C8D6A15F8}"/>
              </a:ext>
            </a:extLst>
          </p:cNvPr>
          <p:cNvCxnSpPr>
            <a:stCxn id="88" idx="2"/>
            <a:endCxn id="84" idx="2"/>
          </p:cNvCxnSpPr>
          <p:nvPr/>
        </p:nvCxnSpPr>
        <p:spPr>
          <a:xfrm rot="5400000">
            <a:off x="3935005" y="2593717"/>
            <a:ext cx="12700" cy="2043861"/>
          </a:xfrm>
          <a:prstGeom prst="bentConnector3">
            <a:avLst>
              <a:gd name="adj1" fmla="val 1499984"/>
            </a:avLst>
          </a:prstGeom>
          <a:ln w="19050">
            <a:solidFill>
              <a:schemeClr val="tx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1C16C945-052D-EC45-0EF0-EA8157B8D507}"/>
              </a:ext>
            </a:extLst>
          </p:cNvPr>
          <p:cNvSpPr/>
          <p:nvPr/>
        </p:nvSpPr>
        <p:spPr>
          <a:xfrm>
            <a:off x="4936868" y="3689892"/>
            <a:ext cx="991431" cy="227994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/>
          <a:lstStyle/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필요시 </a:t>
            </a:r>
            <a:r>
              <a:rPr lang="ko-KR" altLang="en-US" sz="900" b="1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재검수</a:t>
            </a:r>
            <a:endParaRPr lang="ko-KR" altLang="en-US" sz="9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7439FD65-5541-728C-C08F-F2BF5110EE58}"/>
              </a:ext>
            </a:extLst>
          </p:cNvPr>
          <p:cNvCxnSpPr>
            <a:stCxn id="63" idx="3"/>
            <a:endCxn id="83" idx="1"/>
          </p:cNvCxnSpPr>
          <p:nvPr/>
        </p:nvCxnSpPr>
        <p:spPr>
          <a:xfrm>
            <a:off x="1285875" y="3330425"/>
            <a:ext cx="15228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B3E1FB1C-8B2C-5551-7D7F-BFB370BBF850}"/>
              </a:ext>
            </a:extLst>
          </p:cNvPr>
          <p:cNvCxnSpPr>
            <a:stCxn id="83" idx="3"/>
            <a:endCxn id="84" idx="1"/>
          </p:cNvCxnSpPr>
          <p:nvPr/>
        </p:nvCxnSpPr>
        <p:spPr>
          <a:xfrm>
            <a:off x="2292971" y="3330425"/>
            <a:ext cx="192697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1686BA3D-F476-A57E-82DD-2453800BCB96}"/>
              </a:ext>
            </a:extLst>
          </p:cNvPr>
          <p:cNvCxnSpPr>
            <a:stCxn id="84" idx="3"/>
            <a:endCxn id="86" idx="1"/>
          </p:cNvCxnSpPr>
          <p:nvPr/>
        </p:nvCxnSpPr>
        <p:spPr>
          <a:xfrm>
            <a:off x="3340479" y="3330425"/>
            <a:ext cx="17704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id="{BDCBDAFA-4F25-C93A-32A9-AE8DAE4226E5}"/>
              </a:ext>
            </a:extLst>
          </p:cNvPr>
          <p:cNvCxnSpPr>
            <a:stCxn id="86" idx="3"/>
            <a:endCxn id="88" idx="1"/>
          </p:cNvCxnSpPr>
          <p:nvPr/>
        </p:nvCxnSpPr>
        <p:spPr>
          <a:xfrm>
            <a:off x="4372333" y="3330425"/>
            <a:ext cx="157196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77899728-E50A-80D0-E79A-00F1C1729263}"/>
              </a:ext>
            </a:extLst>
          </p:cNvPr>
          <p:cNvCxnSpPr>
            <a:stCxn id="88" idx="3"/>
            <a:endCxn id="90" idx="1"/>
          </p:cNvCxnSpPr>
          <p:nvPr/>
        </p:nvCxnSpPr>
        <p:spPr>
          <a:xfrm>
            <a:off x="5384340" y="3330425"/>
            <a:ext cx="171472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직선 화살표 연결선 116">
            <a:extLst>
              <a:ext uri="{FF2B5EF4-FFF2-40B4-BE49-F238E27FC236}">
                <a16:creationId xmlns:a16="http://schemas.microsoft.com/office/drawing/2014/main" id="{CBED7357-63F3-35BD-87E7-18D9402D246B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209800" y="5642397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F9D5C15-711B-80D4-8CF8-280DF8D12454}"/>
              </a:ext>
            </a:extLst>
          </p:cNvPr>
          <p:cNvCxnSpPr>
            <a:cxnSpLocks/>
            <a:stCxn id="37" idx="3"/>
            <a:endCxn id="38" idx="1"/>
          </p:cNvCxnSpPr>
          <p:nvPr/>
        </p:nvCxnSpPr>
        <p:spPr>
          <a:xfrm>
            <a:off x="4334164" y="5642397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Google Shape;3829;p64">
            <a:extLst>
              <a:ext uri="{FF2B5EF4-FFF2-40B4-BE49-F238E27FC236}">
                <a16:creationId xmlns:a16="http://schemas.microsoft.com/office/drawing/2014/main" id="{DE3A42A3-5F19-A3A7-EBD2-288D4BF5C2FE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" name="Google Shape;3830;p64">
            <a:extLst>
              <a:ext uri="{FF2B5EF4-FFF2-40B4-BE49-F238E27FC236}">
                <a16:creationId xmlns:a16="http://schemas.microsoft.com/office/drawing/2014/main" id="{5A0434DB-8097-E76C-0981-3E30E8F75EDC}"/>
              </a:ext>
            </a:extLst>
          </p:cNvPr>
          <p:cNvSpPr/>
          <p:nvPr/>
        </p:nvSpPr>
        <p:spPr>
          <a:xfrm>
            <a:off x="6305550" y="5544363"/>
            <a:ext cx="1199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오타수정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4271834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9F2024-CA3B-4EE8-AE9F-43218510CC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79F4891-C43C-13F4-0A0F-73687C8F2A9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7F5728A-A1F3-6715-6174-E73009870B2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62EEBEB-990B-C3B4-D920-55D8BC92380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검수 결과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-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버전 연계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7F5074-2E25-02E5-1E19-704FE44C3A7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품질 및 정합성 검증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35A8829-25F5-DA13-C574-241207A972D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 연계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ID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축으로 사전진단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 이력을 버전별로 연결하고 버전별 품질 변화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(FR-007·DTR-005)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추적하여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담당자 변경에도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전주기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품질 흐름을 단일 화면에서 조회할 수 있는 품질현황 관리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7049D8F-D081-E1D0-3267-B01E4A1CD55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DA3D56F-E5EA-6E3F-8A25-BE564661A568}"/>
              </a:ext>
            </a:extLst>
          </p:cNvPr>
          <p:cNvSpPr txBox="1"/>
          <p:nvPr/>
        </p:nvSpPr>
        <p:spPr>
          <a:xfrm>
            <a:off x="335011" y="2371141"/>
            <a:ext cx="346863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및 버전 연결을 통한 품질 현황 관리체계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0448ED2-7433-80CC-2AE2-27E59BF85EE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FR-007, DTR-005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0AF81512-0D48-F926-34C8-CD46D5C80033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2E7A238-42CD-6253-74EF-37C75EDC41A5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결과를 데이터셋 버전과 연계하여 품질 변화를 추적하고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이력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증빙을 통합 관리하여 책임 추적성과 인수인계 연속성을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(FR-007·DTR-005)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기준으로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전주기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품질 흐름과 증빙문서를 단일 화면에서 조회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버전별 품질 변화를 정량 추적하여 개선 효과를 가시화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312586B-0B87-16BF-B268-96AA0B611BEF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C8AC5F65-87FB-3814-CAA5-DFCDB7FED8C3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품질지표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E3FCEDE-9673-55FB-8930-4701A4D58BF0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393D50DB-3EFC-C7F2-E5B6-93ADB48BAB59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이력 연결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D09969A4-75F9-A199-5FE4-9F45B6A9B8B7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C668C68E-B8E0-60F0-9349-51E01832DF0F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버전 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4B92513C-552D-613F-246E-28A000C85CDF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84C5681F-B11E-D76C-F51D-6C75D3ECF50C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모니터링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인수인계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FFAE4925-D6F4-10E7-321B-8BD04030CE98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61349701-6F24-ABE2-CFE5-C1BD0F88D347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89404F40-B51D-D191-B5E5-3C27CC648780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40E44A88-58AE-737E-440E-34ED4DF413A7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3EBD72F8-3279-8617-FFC8-05D32DE511E6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EF0F58CD-2B42-B9B7-9DD7-66D73454CDA8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52D9190-9250-6EE3-43C7-760734F7D412}"/>
              </a:ext>
            </a:extLst>
          </p:cNvPr>
          <p:cNvSpPr txBox="1"/>
          <p:nvPr/>
        </p:nvSpPr>
        <p:spPr>
          <a:xfrm>
            <a:off x="34285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품질점수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결함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판정 로그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049CA92-1148-792C-4C74-59F1B3368BC7}"/>
              </a:ext>
            </a:extLst>
          </p:cNvPr>
          <p:cNvSpPr txBox="1"/>
          <p:nvPr/>
        </p:nvSpPr>
        <p:spPr>
          <a:xfrm>
            <a:off x="192346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데이터셋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ID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 검수 이력 연결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78A5A4B-E4AD-4E2A-C451-2233DBFBC666}"/>
              </a:ext>
            </a:extLst>
          </p:cNvPr>
          <p:cNvSpPr txBox="1"/>
          <p:nvPr/>
        </p:nvSpPr>
        <p:spPr>
          <a:xfrm>
            <a:off x="350407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버전별 품질변화 추적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809B029-F1AB-36AF-DC28-DB472F787940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실시간 대시보드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전주기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인수인계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7D3DA20-FC30-EA1F-1973-BF01B34D55AB}"/>
              </a:ext>
            </a:extLst>
          </p:cNvPr>
          <p:cNvSpPr/>
          <p:nvPr/>
        </p:nvSpPr>
        <p:spPr>
          <a:xfrm>
            <a:off x="316309" y="3755838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품질지표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데이터셋별 품질점수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결함유형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판정등급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재발현황 등 품질지표를 체계적으로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임무 특성에 적합한 측정지표를 적용하고 정량 목표 달성도를 관리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판정 시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 일시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적용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 결과를 로그로 자동 기록하여 책임 추적성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76A73DF-B3BA-515C-8D97-8A6B79003C22}"/>
              </a:ext>
            </a:extLst>
          </p:cNvPr>
          <p:cNvSpPr/>
          <p:nvPr/>
        </p:nvSpPr>
        <p:spPr>
          <a:xfrm>
            <a:off x="316309" y="791017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품질현황 관리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품질지표 정의서로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품질 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추적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대시보드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(FR-018)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1203866-5BB7-4D38-5CEF-B013356A57CA}"/>
              </a:ext>
            </a:extLst>
          </p:cNvPr>
          <p:cNvSpPr/>
          <p:nvPr/>
        </p:nvSpPr>
        <p:spPr>
          <a:xfrm>
            <a:off x="316309" y="4839499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품질현황 이력 통합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기준으로 사전진단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 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이력을 연결하여 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버전이력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사전진단 결과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정합성 검수 결과보고서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검수 결과보고서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이력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승인이력 연결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데이터셋별 품질상태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검수이력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 진행상태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버전별 품질변화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현황 통합 조회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8CA342C-8365-5A8E-0682-85ED4BCE806D}"/>
              </a:ext>
            </a:extLst>
          </p:cNvPr>
          <p:cNvSpPr/>
          <p:nvPr/>
        </p:nvSpPr>
        <p:spPr>
          <a:xfrm>
            <a:off x="316309" y="5923160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버전별 품질 변화 추적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결과를 버전과 연계하여 버전별 품질점수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 현황의 변화를 추적함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(FR-007·DTR-005)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갱신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(2.3.4)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결과를 해당 버전에 연결하여 품질 개선 추이 관리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변경이력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(DTR-005)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연계하여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어떤 변경이 품질에 어떤 영향을 주었는지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14BFA881-60B0-6443-90CF-06EB634072E9}"/>
              </a:ext>
            </a:extLst>
          </p:cNvPr>
          <p:cNvSpPr/>
          <p:nvPr/>
        </p:nvSpPr>
        <p:spPr>
          <a:xfrm>
            <a:off x="316309" y="6995310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실시간 모니터링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인수인계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진행 상태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이슈 빈도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 현황을 대시보드로 실시간 시각화하고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담당자 변경 시에도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전주기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품질 흐름을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인수인계함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 진행 상태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이슈 빈도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 현황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유형별 통계를 실시간 시각화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3869;p65">
            <a:extLst>
              <a:ext uri="{FF2B5EF4-FFF2-40B4-BE49-F238E27FC236}">
                <a16:creationId xmlns:a16="http://schemas.microsoft.com/office/drawing/2014/main" id="{4F773D7E-242E-796B-511B-4733BF6B293A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356215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456AB-F14B-D696-42C4-27F887688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0301CEE-12C2-B2D6-3837-C93742F4AD7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7528EA8-5BBF-4D3C-2B84-ABA6DFD8346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CA52E50-82D2-452B-F96B-89B801C7FB7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정확성 검증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32E083-47B1-D443-1101-4B44D13DBCC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품질 및 정합성 검증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3EF639F-0249-C450-A4A0-B3FD85BC672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정확성 관리 체계 구축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업무규칙 기반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표본 대조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교차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자동수동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결합의 방법으로 데이터 값과 라벨의 정확성을 검증하고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 개선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재발방지로 이어지는 정확성 관리 체계를 구현함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(DTR-003·FR-007)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77286B9-6512-9810-38B2-BE5512F69D3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A9A9DD1-151D-2CCB-4E92-CB43C80ED05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값 및 라벨 정확성 관리 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1373070-18B7-9B19-BAFA-953E346A1672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DTR-003, FR-007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818D37DD-B53E-C052-9981-5D243B03D322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7AF9FE-7A3B-89C9-76DA-18DD8978523E}"/>
              </a:ext>
            </a:extLst>
          </p:cNvPr>
          <p:cNvSpPr/>
          <p:nvPr/>
        </p:nvSpPr>
        <p:spPr>
          <a:xfrm>
            <a:off x="316309" y="2672177"/>
            <a:ext cx="6286697" cy="124071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학습데이터의 값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라벨이 사실과 일치하는지 다면적으로 검증하여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AI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학습 성능에 직결되는 데이터 정확성을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정확성은 완전성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일관성 등 타 품질특성과 달리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사실 부합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여부라 자동 규칙만으로 한계가 있어 표본 대조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교차 검증을 병행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결과를 품질지표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(2.4.2)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기록하여 버전별 품질 변화에 반영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E27A7A-0E02-EBDC-E8CD-61ADC960728A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8BD993D3-63B2-5983-01D6-5C10603EE537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업무규칙 검증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2EC5310-A235-2BF2-BBCB-C1E6313E7819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113A3470-AB2C-0381-F860-0B76599E3223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표본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교차 검증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829AD079-6232-BB83-0AE3-6E921ACC4C6D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DF4ABDE2-9CBB-829C-CA54-E1411490D4B6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오류 개선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3E23AD15-618D-FCB6-9F69-A085CAA84DA7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BD57E27F-2D1D-2C23-37D0-06F498F23124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재발방지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지표화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BCD390EE-D195-2C9A-85FB-B4D293BA8659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524BFC24-C93F-8CF8-5CEB-9ABC522DCE3E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C7697368-591C-3476-CE11-72F360C3BE59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F167015A-D76B-1EB3-529C-D638BF8FDD9E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40A5919E-69E9-A015-9331-A7475ACF26D9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59CE74D2-1FC0-F38E-29EB-AB4EDE94365B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3AB11E3-716D-A67E-F39E-0FFB04356BDF}"/>
              </a:ext>
            </a:extLst>
          </p:cNvPr>
          <p:cNvSpPr txBox="1"/>
          <p:nvPr/>
        </p:nvSpPr>
        <p:spPr>
          <a:xfrm>
            <a:off x="34285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BR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기반 값 자동 검증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84299A3-96ED-F128-DB2A-20D8211DFA86}"/>
              </a:ext>
            </a:extLst>
          </p:cNvPr>
          <p:cNvSpPr txBox="1"/>
          <p:nvPr/>
        </p:nvSpPr>
        <p:spPr>
          <a:xfrm>
            <a:off x="192346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표본 대조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복수 교차 확인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71698C6-BE0B-1023-871A-8277ABAAD4D6}"/>
              </a:ext>
            </a:extLst>
          </p:cNvPr>
          <p:cNvSpPr txBox="1"/>
          <p:nvPr/>
        </p:nvSpPr>
        <p:spPr>
          <a:xfrm>
            <a:off x="350407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오류유형 분류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수정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188BDA0-9274-985E-7BE4-E20B0504B4A7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사전검증 방안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정확도 지표 기록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0A8B092-5990-A0C6-11D8-840BDF1FD2B4}"/>
              </a:ext>
            </a:extLst>
          </p:cNvPr>
          <p:cNvSpPr/>
          <p:nvPr/>
        </p:nvSpPr>
        <p:spPr>
          <a:xfrm>
            <a:off x="316309" y="791017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정확성 지표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재발현황을 품질지표로 기록하고 판정 로그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일시</a:t>
            </a:r>
            <a:b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자동 관리하며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(FR-007),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품질 검수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 결과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(2.4.2)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8FA4979-4B1E-EF35-BD17-EED6809A8742}"/>
              </a:ext>
            </a:extLst>
          </p:cNvPr>
          <p:cNvSpPr/>
          <p:nvPr/>
        </p:nvSpPr>
        <p:spPr>
          <a:xfrm>
            <a:off x="316309" y="395250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업무규칙 기반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특성과 구축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근거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법령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매뉴얼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참고하여 업무규칙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(BR)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정의하고 값의 범위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논리를 자동 검증함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공공데이터 범정부 품질진단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업무규칙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(BR)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따라 값 검증 수행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규칙 위반 데이터를 자동 탐지하여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정확성 오류를 식별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23237CA9-E942-BCF2-CA63-82980A9322FF}"/>
              </a:ext>
            </a:extLst>
          </p:cNvPr>
          <p:cNvSpPr/>
          <p:nvPr/>
        </p:nvSpPr>
        <p:spPr>
          <a:xfrm>
            <a:off x="316309" y="5045688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표본 대조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원천데이터와 라벨의 표본을 추출하여 정답과 수동 대조하고 정확도를 측정함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통계적 표본을 추출하여 라벨 정확도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오분류율을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정량 측정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자동 검증으로 걸러지지 않는 의미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맥락 오류를 수동 대조로 식별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CF967B5-F191-484F-75B8-733D70B5F118}"/>
              </a:ext>
            </a:extLst>
          </p:cNvPr>
          <p:cNvSpPr/>
          <p:nvPr/>
        </p:nvSpPr>
        <p:spPr>
          <a:xfrm>
            <a:off x="316309" y="5917275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교차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복수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검수자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또는 모델을 통해 교차 확인하고 불일치 항목을 식별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조정함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검수자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간 판정 불일치를 조정하여 검수 신뢰도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일관성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확보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불일치 항목을 재검토하여 최종 정답을 확정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B05C3B5-B185-A2DA-B7EB-22F288B129DC}"/>
              </a:ext>
            </a:extLst>
          </p:cNvPr>
          <p:cNvSpPr/>
          <p:nvPr/>
        </p:nvSpPr>
        <p:spPr>
          <a:xfrm>
            <a:off x="316309" y="679461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개선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재발방지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검증에서 탐지된 오류를 유형별로 분류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조치하고 재발방지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사전검증 방안을 수립함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정확성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검증→오류유형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분류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영향도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평가→오류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개선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재발방지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입력 방지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 발생 오류에 대한 재발 방지 방안 제시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3908;p66">
            <a:extLst>
              <a:ext uri="{FF2B5EF4-FFF2-40B4-BE49-F238E27FC236}">
                <a16:creationId xmlns:a16="http://schemas.microsoft.com/office/drawing/2014/main" id="{EE43FB7B-70CE-079C-7534-6ADB1FDBC3EB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2821957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59073-F3FB-BD7A-8C45-25362DE13B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58646E5-556F-B8C6-1CC2-B4C1A51F1FB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78CDD09-07E6-2E9A-2082-D327DC90875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1706460-15B1-26D5-9CA8-5E51238FB93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검색 대상 데이터 정비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1DFCA59-E953-8631-3384-4F6A62C5083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지능형 검색 기반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CB13E3D-6B29-5454-256F-38D9D43A329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지능형 검색 기반 정비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검색대상을 수집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정규화하고 검색 최소 단위로 분할하여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Chunk </a:t>
            </a:r>
            <a:r>
              <a:rPr lang="en-US" altLang="ko-KR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DB·Index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DB·Vector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DB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구축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변화 시 증분 수집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재색인으로 최신성을 유지하는 지능형 검색 기반을 정비함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45912C8-FCEB-2D92-EAC4-D4965F2F2DF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3ABFD5D-23DD-94EE-1DA7-41C641174E56}"/>
              </a:ext>
            </a:extLst>
          </p:cNvPr>
          <p:cNvSpPr txBox="1"/>
          <p:nvPr/>
        </p:nvSpPr>
        <p:spPr>
          <a:xfrm>
            <a:off x="335011" y="2371141"/>
            <a:ext cx="343870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검색대상을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정규화하여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지능형 검색 기반 정비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A5BF01A-8B5A-01E2-E16F-5280FF7EE445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FR-011, DR-014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7DD00179-69F6-5343-FE54-A42F51A7914B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1F1C4CD-F962-980B-A05A-F16649607396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정비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지능형 검색의 전제인 검색대상 데이터를 체계적으로 수집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정규화하고 색인 가능한 형태로 정비하여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 기반 하이브리드 검색의 기반을 마련함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(FR-011·DR-014)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비정형 검색대상을 통합 수집하여 검색 사각지대를 제거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단위별 식별자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관계를 관리하여 검색 결과의 추적성을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C83802F-224D-44E2-A1B3-F856F0ADA422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BCB14BA8-604F-548D-7FB5-E6B0E266FEC8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수집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FF81DBA-1DCD-D8F1-A212-62E155F13C2D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2CF4BDF3-CED3-10D9-15E0-4B4C1733F7E9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</a:t>
            </a: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청킹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(Chunk DB)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FF1C24BA-08DF-5865-2E93-CD8A1F3674DA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B4EE2A97-CA49-33AA-2F70-74CC9E7A2051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색인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 구축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2D97FD3F-2628-E24E-B83C-A2A9E7B7E350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BDCFCF37-AF13-5132-4516-9DAFD511D5F2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증분 재색인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EBE94BAD-4355-8546-ECBB-55EB81D2926E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D7E08D9F-8F47-FC83-2805-4A9B2355FAAA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D409167C-CC53-7394-5295-193A63F15DF1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0CA8B342-F27F-4DE0-2A69-9036F2BE8DD8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7B1449D2-8820-AD7B-6DDC-07398800E804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20AB5884-38C2-B8C5-399B-C0E0B2E8618D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C3D235A-B363-7092-85D0-8A1ED0A49BA6}"/>
              </a:ext>
            </a:extLst>
          </p:cNvPr>
          <p:cNvSpPr txBox="1"/>
          <p:nvPr/>
        </p:nvSpPr>
        <p:spPr>
          <a:xfrm>
            <a:off x="34285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내외부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비정형 검색대상 수집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BD39CDC-B493-B818-5143-B3439A94420E}"/>
              </a:ext>
            </a:extLst>
          </p:cNvPr>
          <p:cNvSpPr txBox="1"/>
          <p:nvPr/>
        </p:nvSpPr>
        <p:spPr>
          <a:xfrm>
            <a:off x="192346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최소 단위 분할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식별자 부여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185627C-29F1-01E7-BB94-1AD83AB22E4C}"/>
              </a:ext>
            </a:extLst>
          </p:cNvPr>
          <p:cNvSpPr txBox="1"/>
          <p:nvPr/>
        </p:nvSpPr>
        <p:spPr>
          <a:xfrm>
            <a:off x="350407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Index </a:t>
            </a:r>
            <a:r>
              <a:rPr lang="en-US" altLang="ko-KR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DB·Vector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DB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매핑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2A4D0FC-4CFD-0222-B0A2-3A794F9D8647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 변화 시 증분 수집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재색인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EFD1F29-9C7C-5982-3A47-883BB05AC0A9}"/>
              </a:ext>
            </a:extLst>
          </p:cNvPr>
          <p:cNvSpPr/>
          <p:nvPr/>
        </p:nvSpPr>
        <p:spPr>
          <a:xfrm>
            <a:off x="316309" y="3765363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검색대상 수집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정규화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내부 등록데이터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연계데이터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설명문서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미리보기 등 검색대상 범위를 정의하고 수집함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비정형 정보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(README·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매뉴얼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 텍스트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전사문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이미지 설명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설명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 수집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레코드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등 검색 단위별 고유 식별자를 부여하고 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하위 관계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FAB0401-38C3-E17D-7C24-875FDC6A30F1}"/>
              </a:ext>
            </a:extLst>
          </p:cNvPr>
          <p:cNvSpPr/>
          <p:nvPr/>
        </p:nvSpPr>
        <p:spPr>
          <a:xfrm>
            <a:off x="316309" y="4867654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(Chunk DB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비정형 텍스트를 검색 가능한 최소 단위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분할하여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Chunk DB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생성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청크별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본문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요약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시작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종료 위치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페이지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구간정보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상위 데이터셋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매핑정보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저장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A96B16B0-08D8-E592-B07C-F167A5B010E7}"/>
              </a:ext>
            </a:extLst>
          </p:cNvPr>
          <p:cNvSpPr/>
          <p:nvPr/>
        </p:nvSpPr>
        <p:spPr>
          <a:xfrm>
            <a:off x="316309" y="5723809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(Index </a:t>
            </a:r>
            <a:r>
              <a:rPr kumimoji="1" lang="en-US" altLang="ko-KR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DB·Vector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DB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기반 검색을 위한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Index DB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의미 기반 검색을 위한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Vector DB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구축하고 상호 매핑을 유지함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Index DB: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 기반 색인으로 키워드 검색 지원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Vector DB: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벡터 생성으로 의미 검색 지원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Index DB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매핑하여 질의 시 연계 검색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E9A6840-7DAD-0061-9341-1A247F0BDA30}"/>
              </a:ext>
            </a:extLst>
          </p:cNvPr>
          <p:cNvSpPr/>
          <p:nvPr/>
        </p:nvSpPr>
        <p:spPr>
          <a:xfrm>
            <a:off x="316309" y="6816995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증분 수집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재색인 운영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신규 등록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배포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비공개 전환 등 상태 변화 발생 시 증분 수집 및 재색인을 수행함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식별자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(2.2.4)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연계하여 변경분만 효율적으로 재색인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유지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6DDCF9A-160B-BF7F-7F5B-3A8159E6CD7F}"/>
              </a:ext>
            </a:extLst>
          </p:cNvPr>
          <p:cNvSpPr/>
          <p:nvPr/>
        </p:nvSpPr>
        <p:spPr>
          <a:xfrm>
            <a:off x="312925" y="780264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 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메타데이터의 검색용 키워드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연계 필드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활용하며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DB(2.5.3)·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정확도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3908;p66">
            <a:extLst>
              <a:ext uri="{FF2B5EF4-FFF2-40B4-BE49-F238E27FC236}">
                <a16:creationId xmlns:a16="http://schemas.microsoft.com/office/drawing/2014/main" id="{EFFFBE8F-412D-79B4-1EB9-D7EA7BD6E6B6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5068056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59073-F3FB-BD7A-8C45-25362DE13B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58646E5-556F-B8C6-1CC2-B4C1A51F1FB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78CDD09-07E6-2E9A-2082-D327DC90875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1706460-15B1-26D5-9CA8-5E51238FB93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검색 대상 데이터 정비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1DFCA59-E953-8631-3384-4F6A62C5083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지능형 검색 기반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CB13E3D-6B29-5454-256F-38D9D43A329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정비 구조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검색대상 수집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정규화부터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검색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증분 재색인 운영까지의 흐름을 제시하여 검색 대상 데이터 정비의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45912C8-FCEB-2D92-EAC4-D4965F2F2DF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3ABFD5D-23DD-94EE-1DA7-41C641174E56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대상 데이터 정비 구조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A5BF01A-8B5A-01E2-E16F-5280FF7EE445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FR-011, DR-014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7DD00179-69F6-5343-FE54-A42F51A7914B}"/>
              </a:ext>
            </a:extLst>
          </p:cNvPr>
          <p:cNvSpPr/>
          <p:nvPr/>
        </p:nvSpPr>
        <p:spPr bwMode="gray">
          <a:xfrm>
            <a:off x="258881" y="2666395"/>
            <a:ext cx="6331426" cy="452084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290ECFD-25E6-DCBA-26E8-E963D6D646F4}"/>
              </a:ext>
            </a:extLst>
          </p:cNvPr>
          <p:cNvCxnSpPr>
            <a:cxnSpLocks/>
          </p:cNvCxnSpPr>
          <p:nvPr/>
        </p:nvCxnSpPr>
        <p:spPr>
          <a:xfrm>
            <a:off x="312925" y="7317374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45B303BF-C9F4-A8C5-AC41-C2BCFC03CF4F}"/>
              </a:ext>
            </a:extLst>
          </p:cNvPr>
          <p:cNvSpPr txBox="1"/>
          <p:nvPr/>
        </p:nvSpPr>
        <p:spPr>
          <a:xfrm>
            <a:off x="335011" y="7291297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구성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E8B3E8AF-271F-2FA9-8648-52C936AE6754}"/>
              </a:ext>
            </a:extLst>
          </p:cNvPr>
          <p:cNvSpPr/>
          <p:nvPr/>
        </p:nvSpPr>
        <p:spPr bwMode="gray">
          <a:xfrm>
            <a:off x="258881" y="7605485"/>
            <a:ext cx="6331426" cy="2090965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CB92503-028E-2C1C-7CBA-551272D904E4}"/>
              </a:ext>
            </a:extLst>
          </p:cNvPr>
          <p:cNvSpPr/>
          <p:nvPr/>
        </p:nvSpPr>
        <p:spPr>
          <a:xfrm>
            <a:off x="316309" y="9187573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정형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비정형 검색대상을 통합 수집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정규화하고 </a:t>
            </a:r>
            <a:r>
              <a:rPr kumimoji="1" lang="en-US" altLang="ko-KR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Chunk·Index·Vector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3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정비함으로써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키워드와 의미를 결합한 하이브리드 검색의 기반을 마련하고 증분 재색인으로 최신성을 유지함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E47C1FDA-B2B3-7695-209E-145CE70261DA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673329"/>
          <a:ext cx="6154318" cy="1481684"/>
        </p:xfrm>
        <a:graphic>
          <a:graphicData uri="http://schemas.openxmlformats.org/drawingml/2006/table">
            <a:tbl>
              <a:tblPr/>
              <a:tblGrid>
                <a:gridCol w="839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1757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712686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1041164780"/>
                    </a:ext>
                  </a:extLst>
                </a:gridCol>
                <a:gridCol w="719364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25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 내용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유형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Chunk DB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최소 단위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매핑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1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Index DB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 기반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 색인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Vector DB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 기반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임베딩 벡터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매핑 관리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Index↔Vector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매핑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하이브리드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C8957EA-34C9-55CC-E4EC-01BB8AAFB5A4}"/>
              </a:ext>
            </a:extLst>
          </p:cNvPr>
          <p:cNvSpPr/>
          <p:nvPr/>
        </p:nvSpPr>
        <p:spPr>
          <a:xfrm>
            <a:off x="312925" y="2734717"/>
            <a:ext cx="6221225" cy="1081631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사각형: 둥근 위쪽 모서리 16">
            <a:extLst>
              <a:ext uri="{FF2B5EF4-FFF2-40B4-BE49-F238E27FC236}">
                <a16:creationId xmlns:a16="http://schemas.microsoft.com/office/drawing/2014/main" id="{4BCB4FC1-E065-FFFF-F957-F10B9DFFA979}"/>
              </a:ext>
            </a:extLst>
          </p:cNvPr>
          <p:cNvSpPr/>
          <p:nvPr/>
        </p:nvSpPr>
        <p:spPr>
          <a:xfrm>
            <a:off x="306574" y="2713127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검색대상 수집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C727903-CEA9-91C0-4CCB-B5DF94EE6A1A}"/>
              </a:ext>
            </a:extLst>
          </p:cNvPr>
          <p:cNvSpPr/>
          <p:nvPr/>
        </p:nvSpPr>
        <p:spPr>
          <a:xfrm>
            <a:off x="431064" y="3046073"/>
            <a:ext cx="1778736" cy="65506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검색대상 수집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 등록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연계데이터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설명문서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미리보기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95F7AB5-F234-2C06-1732-A786537B643C}"/>
              </a:ext>
            </a:extLst>
          </p:cNvPr>
          <p:cNvSpPr/>
          <p:nvPr/>
        </p:nvSpPr>
        <p:spPr>
          <a:xfrm>
            <a:off x="2555428" y="3046073"/>
            <a:ext cx="1778736" cy="65506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비정형 정보 수집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(README·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매뉴얼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전사문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자막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이미지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 설명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0DF0A845-9D7A-EC51-4483-B652BFD1284F}"/>
              </a:ext>
            </a:extLst>
          </p:cNvPr>
          <p:cNvSpPr/>
          <p:nvPr/>
        </p:nvSpPr>
        <p:spPr>
          <a:xfrm>
            <a:off x="4631887" y="3046073"/>
            <a:ext cx="1778736" cy="65506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식별자 부여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레코드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청크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고유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ID·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상하위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관계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102CF114-A3CF-5594-34FD-FF5EAB52947F}"/>
              </a:ext>
            </a:extLst>
          </p:cNvPr>
          <p:cNvCxnSpPr>
            <a:cxnSpLocks/>
            <a:stCxn id="19" idx="3"/>
            <a:endCxn id="21" idx="1"/>
          </p:cNvCxnSpPr>
          <p:nvPr/>
        </p:nvCxnSpPr>
        <p:spPr>
          <a:xfrm>
            <a:off x="2209800" y="3373608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37BB3965-030C-D114-6C13-2F4C04831DFF}"/>
              </a:ext>
            </a:extLst>
          </p:cNvPr>
          <p:cNvCxnSpPr>
            <a:cxnSpLocks/>
            <a:stCxn id="21" idx="3"/>
            <a:endCxn id="24" idx="1"/>
          </p:cNvCxnSpPr>
          <p:nvPr/>
        </p:nvCxnSpPr>
        <p:spPr>
          <a:xfrm>
            <a:off x="4334164" y="3373608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1DAEA615-76A3-7128-B267-847D96A50444}"/>
              </a:ext>
            </a:extLst>
          </p:cNvPr>
          <p:cNvSpPr/>
          <p:nvPr/>
        </p:nvSpPr>
        <p:spPr>
          <a:xfrm>
            <a:off x="312925" y="3982436"/>
            <a:ext cx="6221225" cy="1300794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사각형: 둥근 위쪽 모서리 44">
            <a:extLst>
              <a:ext uri="{FF2B5EF4-FFF2-40B4-BE49-F238E27FC236}">
                <a16:creationId xmlns:a16="http://schemas.microsoft.com/office/drawing/2014/main" id="{88ED3267-5357-A767-7DB8-A686D4704D2D}"/>
              </a:ext>
            </a:extLst>
          </p:cNvPr>
          <p:cNvSpPr/>
          <p:nvPr/>
        </p:nvSpPr>
        <p:spPr>
          <a:xfrm>
            <a:off x="306574" y="3960846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3BE7D2B-5591-A7F5-C847-9272F03A3DC0}"/>
              </a:ext>
            </a:extLst>
          </p:cNvPr>
          <p:cNvSpPr/>
          <p:nvPr/>
        </p:nvSpPr>
        <p:spPr>
          <a:xfrm>
            <a:off x="431064" y="4293792"/>
            <a:ext cx="1778736" cy="65506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Chunk DB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최소 단위 분할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청킹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/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본문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요약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위치정보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3F96613-DFD9-9950-3ED8-524E427E3179}"/>
              </a:ext>
            </a:extLst>
          </p:cNvPr>
          <p:cNvSpPr/>
          <p:nvPr/>
        </p:nvSpPr>
        <p:spPr>
          <a:xfrm>
            <a:off x="2555428" y="4293792"/>
            <a:ext cx="1778736" cy="65506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Index DB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 기반 검색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키워드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 색인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8BE3CCA-3611-1A1E-74E2-23FDB8C93843}"/>
              </a:ext>
            </a:extLst>
          </p:cNvPr>
          <p:cNvSpPr/>
          <p:nvPr/>
        </p:nvSpPr>
        <p:spPr>
          <a:xfrm>
            <a:off x="4631887" y="4293792"/>
            <a:ext cx="1778736" cy="65506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Vector DB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의미 기반 검색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b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임베딩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벡터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5DDF90CF-0535-0569-5473-2C6F49E1C92F}"/>
              </a:ext>
            </a:extLst>
          </p:cNvPr>
          <p:cNvCxnSpPr>
            <a:cxnSpLocks/>
            <a:stCxn id="47" idx="3"/>
            <a:endCxn id="49" idx="1"/>
          </p:cNvCxnSpPr>
          <p:nvPr/>
        </p:nvCxnSpPr>
        <p:spPr>
          <a:xfrm>
            <a:off x="2209800" y="4621327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E1223806-BA4B-CEFA-5E4E-17E4366F82C1}"/>
              </a:ext>
            </a:extLst>
          </p:cNvPr>
          <p:cNvSpPr/>
          <p:nvPr/>
        </p:nvSpPr>
        <p:spPr>
          <a:xfrm>
            <a:off x="312925" y="5593348"/>
            <a:ext cx="6221225" cy="746926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사각형: 둥근 위쪽 모서리 56">
            <a:extLst>
              <a:ext uri="{FF2B5EF4-FFF2-40B4-BE49-F238E27FC236}">
                <a16:creationId xmlns:a16="http://schemas.microsoft.com/office/drawing/2014/main" id="{5977FBB8-03EC-B5C6-4DA5-65AF7A06BAAA}"/>
              </a:ext>
            </a:extLst>
          </p:cNvPr>
          <p:cNvSpPr/>
          <p:nvPr/>
        </p:nvSpPr>
        <p:spPr>
          <a:xfrm>
            <a:off x="306574" y="5571757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증분 수집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재색인 운영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66E1B476-EF00-C9C5-9ABB-72389D194B8D}"/>
              </a:ext>
            </a:extLst>
          </p:cNvPr>
          <p:cNvSpPr/>
          <p:nvPr/>
        </p:nvSpPr>
        <p:spPr>
          <a:xfrm>
            <a:off x="498656" y="5872011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등록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수정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배포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비공개 전환 등 상태 변화 발생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A014604-567C-9C9F-3C30-FF48214F5EE8}"/>
              </a:ext>
            </a:extLst>
          </p:cNvPr>
          <p:cNvSpPr/>
          <p:nvPr/>
        </p:nvSpPr>
        <p:spPr>
          <a:xfrm>
            <a:off x="3778310" y="5872011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증분 수집 및 재색인 </a:t>
            </a:r>
            <a:endParaRPr kumimoji="0" lang="en-US" altLang="ko-K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 식별자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2.2.4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35270110-2171-441B-76A0-95E95E646CEC}"/>
              </a:ext>
            </a:extLst>
          </p:cNvPr>
          <p:cNvCxnSpPr>
            <a:cxnSpLocks/>
            <a:stCxn id="58" idx="3"/>
            <a:endCxn id="59" idx="1"/>
          </p:cNvCxnSpPr>
          <p:nvPr/>
        </p:nvCxnSpPr>
        <p:spPr>
          <a:xfrm>
            <a:off x="3068506" y="6080183"/>
            <a:ext cx="7098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DD8AC06E-5735-8D77-FC0C-8C5F4158EC6E}"/>
              </a:ext>
            </a:extLst>
          </p:cNvPr>
          <p:cNvSpPr/>
          <p:nvPr/>
        </p:nvSpPr>
        <p:spPr>
          <a:xfrm>
            <a:off x="312925" y="6459918"/>
            <a:ext cx="6286697" cy="68056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단위별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레코드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고유 식별자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상하위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관계 관리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 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메타데이터의 검색용 키워드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연계 필드 활용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하이브리드 검색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+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기반은 다음 단계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(2.5.2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에서 상세 구현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A79022F5-BFF3-CDDA-8DAC-64232CD4916C}"/>
              </a:ext>
            </a:extLst>
          </p:cNvPr>
          <p:cNvCxnSpPr>
            <a:cxnSpLocks/>
            <a:stCxn id="43" idx="2"/>
            <a:endCxn id="55" idx="0"/>
          </p:cNvCxnSpPr>
          <p:nvPr/>
        </p:nvCxnSpPr>
        <p:spPr>
          <a:xfrm>
            <a:off x="3423538" y="5283230"/>
            <a:ext cx="0" cy="310118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7BC0B11A-4D45-6C4C-9A95-112B9DFFE556}"/>
              </a:ext>
            </a:extLst>
          </p:cNvPr>
          <p:cNvCxnSpPr>
            <a:cxnSpLocks/>
            <a:stCxn id="49" idx="3"/>
          </p:cNvCxnSpPr>
          <p:nvPr/>
        </p:nvCxnSpPr>
        <p:spPr>
          <a:xfrm>
            <a:off x="4334164" y="4621327"/>
            <a:ext cx="278181" cy="0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36F2F043-15EA-DC88-1DC6-A945CC4E83BF}"/>
              </a:ext>
            </a:extLst>
          </p:cNvPr>
          <p:cNvSpPr/>
          <p:nvPr/>
        </p:nvSpPr>
        <p:spPr>
          <a:xfrm>
            <a:off x="2921969" y="4988161"/>
            <a:ext cx="3151140" cy="252558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Index DB ↔ Vector DB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매핑 유지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질의 시 연계 검색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Google Shape;3908;p66">
            <a:extLst>
              <a:ext uri="{FF2B5EF4-FFF2-40B4-BE49-F238E27FC236}">
                <a16:creationId xmlns:a16="http://schemas.microsoft.com/office/drawing/2014/main" id="{11A35636-10EB-F9F5-691B-6E2F5E7086C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6170084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3763E7-06CA-4577-03A4-808A2E340F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21B38FB5-1DA5-4B81-41E3-09EF604BF28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786A609-93A7-2CB1-E684-BB9FBD8FA38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BF78FD-16DC-96C8-3E92-CE2CC007ED82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검색 필요 정보 선별 및 벡터화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7538D61-92AB-4FC1-EB84-CC20ABCD613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지능형 검색 기반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F81985F-7F1E-A3C2-7B1F-2DAA02C421F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선별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가치가 높은 정보를 선별하고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전처리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임베딩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벡터화하여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Vector DB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저장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 검색과 결합한 하이브리드 검색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(FR-012)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기반을 완성함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79C2701-E11F-322F-91EE-9DBE22FCC0B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367EF0A-7A7B-089A-FB27-549D51A97868}"/>
              </a:ext>
            </a:extLst>
          </p:cNvPr>
          <p:cNvSpPr txBox="1"/>
          <p:nvPr/>
        </p:nvSpPr>
        <p:spPr>
          <a:xfrm>
            <a:off x="335012" y="2371141"/>
            <a:ext cx="35588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정보 선별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벡터화를 통한 하이브리드 검색 기반 완성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C73575C-CBB4-11AA-AF4D-C31CF99A095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FR-011, FR-012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2EAB2B9A-0383-859D-B182-F4DE9A0B03C3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B999625-3F6D-F409-1339-AD6EC950FA5B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대상 중 의미 검색에 실질적으로 기여하는 정보를 선별하고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자연어 질의에 대한 의미 기반 검색 정확도와 처리 효율을 확보함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(FR-011·FR-012)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모든 정보를 무차별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벡터화하지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않고 검색 가치가 높은 필드를 선별하여 비용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 최적화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 매칭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벡터 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 유사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강점을 결합하는 하이브리드 기반 마련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ECB4359-4454-B7F4-D7AB-D6B57A352C1F}"/>
              </a:ext>
            </a:extLst>
          </p:cNvPr>
          <p:cNvSpPr/>
          <p:nvPr/>
        </p:nvSpPr>
        <p:spPr>
          <a:xfrm>
            <a:off x="31589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09F699D2-18CA-03D5-F3F3-B7399492BC1D}"/>
              </a:ext>
            </a:extLst>
          </p:cNvPr>
          <p:cNvSpPr/>
          <p:nvPr/>
        </p:nvSpPr>
        <p:spPr>
          <a:xfrm>
            <a:off x="315897" y="861905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정보 선별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02FEE0-DB85-F277-F01B-B3633A5274B3}"/>
              </a:ext>
            </a:extLst>
          </p:cNvPr>
          <p:cNvSpPr/>
          <p:nvPr/>
        </p:nvSpPr>
        <p:spPr>
          <a:xfrm>
            <a:off x="189650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03CE2B79-BF20-70AA-C027-9A71C158A962}"/>
              </a:ext>
            </a:extLst>
          </p:cNvPr>
          <p:cNvSpPr/>
          <p:nvPr/>
        </p:nvSpPr>
        <p:spPr>
          <a:xfrm>
            <a:off x="1896507" y="861905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</a:t>
            </a: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전처리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02A545D2-0AAC-3BC0-E2AD-025C7D1600C5}"/>
              </a:ext>
            </a:extLst>
          </p:cNvPr>
          <p:cNvSpPr/>
          <p:nvPr/>
        </p:nvSpPr>
        <p:spPr>
          <a:xfrm>
            <a:off x="347711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46BE315B-A056-B3DB-CA29-C69E6D5CAAB2}"/>
              </a:ext>
            </a:extLst>
          </p:cNvPr>
          <p:cNvSpPr/>
          <p:nvPr/>
        </p:nvSpPr>
        <p:spPr>
          <a:xfrm>
            <a:off x="3477117" y="861905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질의이해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3BAD94F3-C3E2-B078-ABA4-20C21F11C588}"/>
              </a:ext>
            </a:extLst>
          </p:cNvPr>
          <p:cNvSpPr/>
          <p:nvPr/>
        </p:nvSpPr>
        <p:spPr>
          <a:xfrm>
            <a:off x="5057727" y="861905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7618B658-A6E8-5562-423F-3152B51D1EA9}"/>
              </a:ext>
            </a:extLst>
          </p:cNvPr>
          <p:cNvSpPr/>
          <p:nvPr/>
        </p:nvSpPr>
        <p:spPr>
          <a:xfrm>
            <a:off x="5057727" y="861905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하이브리드 준비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E1FC3984-4561-3B27-0B4B-17C9EE5F71C1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604C893A-5AD6-D11D-1CFE-FD1C11FA5BEC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F26C5541-E9D0-7513-52F5-CCFF3A292E45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0FB1E32B-4A3D-463E-4931-5957707C0A67}"/>
              </a:ext>
            </a:extLst>
          </p:cNvPr>
          <p:cNvSpPr/>
          <p:nvPr/>
        </p:nvSpPr>
        <p:spPr>
          <a:xfrm rot="5400000">
            <a:off x="1801098" y="89494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F0EA19C6-8639-0026-E232-18804588EE4B}"/>
              </a:ext>
            </a:extLst>
          </p:cNvPr>
          <p:cNvSpPr/>
          <p:nvPr/>
        </p:nvSpPr>
        <p:spPr>
          <a:xfrm rot="5400000">
            <a:off x="3386287" y="89494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6DED6863-D7A5-7C53-0803-AF9D4FB099DC}"/>
              </a:ext>
            </a:extLst>
          </p:cNvPr>
          <p:cNvSpPr/>
          <p:nvPr/>
        </p:nvSpPr>
        <p:spPr>
          <a:xfrm rot="5400000">
            <a:off x="4966713" y="894946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E37E25D-46F1-2E0D-F0C4-04D2E618AD04}"/>
              </a:ext>
            </a:extLst>
          </p:cNvPr>
          <p:cNvSpPr txBox="1"/>
          <p:nvPr/>
        </p:nvSpPr>
        <p:spPr>
          <a:xfrm>
            <a:off x="34285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 가치 높은 필드 선별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64FD6A8-AED3-48B1-8A14-9A1B8EDBBFD8}"/>
              </a:ext>
            </a:extLst>
          </p:cNvPr>
          <p:cNvSpPr txBox="1"/>
          <p:nvPr/>
        </p:nvSpPr>
        <p:spPr>
          <a:xfrm>
            <a:off x="192346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전처리→임베딩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→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Vector DB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EDDBEC9-856A-1687-75AF-58293DD426D0}"/>
              </a:ext>
            </a:extLst>
          </p:cNvPr>
          <p:cNvSpPr txBox="1"/>
          <p:nvPr/>
        </p:nvSpPr>
        <p:spPr>
          <a:xfrm>
            <a:off x="3504076" y="888787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의도 분석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9214DB3-02BA-7550-53D4-6821B344B6CF}"/>
              </a:ext>
            </a:extLst>
          </p:cNvPr>
          <p:cNvSpPr txBox="1"/>
          <p:nvPr/>
        </p:nvSpPr>
        <p:spPr>
          <a:xfrm>
            <a:off x="5084686" y="888787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BM25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+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벡터 결합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재정렬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필터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E0A0FE7-F485-7827-7A53-AA1EF64197D9}"/>
              </a:ext>
            </a:extLst>
          </p:cNvPr>
          <p:cNvSpPr/>
          <p:nvPr/>
        </p:nvSpPr>
        <p:spPr>
          <a:xfrm>
            <a:off x="316309" y="4593299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전처리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벡터화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선별 정보를 전처리한 뒤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모델로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벡터화하여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Vector DB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저장함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전처리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정규화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불용어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토큰화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모델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텍스트→벡터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)→Vector DB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 매핑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Index DB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매핑을 유지하여 질의 시 색인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 연계 검색 지원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B99C930-8154-589F-E5D1-966A9E910BE8}"/>
              </a:ext>
            </a:extLst>
          </p:cNvPr>
          <p:cNvSpPr/>
          <p:nvPr/>
        </p:nvSpPr>
        <p:spPr>
          <a:xfrm>
            <a:off x="316309" y="5471105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자연어 질의이해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 질의를 이해하기 위해 보정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의도 분석을 수행하고 질의를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오탈자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띄어쓰기 보정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불용어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약어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동의어 확장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전문용어 정규화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주제어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목적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의도 분석 후 검색조건 반영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5A74502-B876-35D0-F65F-4946BD012185}"/>
              </a:ext>
            </a:extLst>
          </p:cNvPr>
          <p:cNvSpPr/>
          <p:nvPr/>
        </p:nvSpPr>
        <p:spPr>
          <a:xfrm>
            <a:off x="316309" y="6342692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하이브리드 검색 준비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검색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(BM25)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벡터 검색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병렬 수행하고 결과를 결합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재정렬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필터링할 수 있도록 준비함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BM25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점수와 벡터 유사도를 정규화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결합하여 최종 랭킹 산정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재정렬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공개범위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 가능 여부 반영 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다면 필터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모달리티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언어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구축연도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B80F12E-8D06-074A-7A99-C2DED09158DE}"/>
              </a:ext>
            </a:extLst>
          </p:cNvPr>
          <p:cNvSpPr/>
          <p:nvPr/>
        </p:nvSpPr>
        <p:spPr>
          <a:xfrm>
            <a:off x="316309" y="785985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 파이프라인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임베딩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정책서로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대상 정비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</a:t>
            </a:r>
            <a:b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DB(2.5.3)·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정확도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B34F47F-4642-6A58-77A1-5C0C0E3966F9}"/>
              </a:ext>
            </a:extLst>
          </p:cNvPr>
          <p:cNvSpPr/>
          <p:nvPr/>
        </p:nvSpPr>
        <p:spPr>
          <a:xfrm>
            <a:off x="316309" y="3721712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필요 정보 선별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검색에 활용할 정보를 선별하고 노이즈를 제거함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선별 대상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요약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전사문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라벨 설명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선별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가치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 밀도가 높은 필드 우선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노이즈 제거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3908;p66">
            <a:extLst>
              <a:ext uri="{FF2B5EF4-FFF2-40B4-BE49-F238E27FC236}">
                <a16:creationId xmlns:a16="http://schemas.microsoft.com/office/drawing/2014/main" id="{86774E6C-ED5F-F8DA-6A2A-D33056753D3E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6212062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8D1FDC-3203-CA16-1645-78A1766C51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F5F03ED-272E-1021-842C-822E48B36D8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C04F94-8B00-5100-18C8-9D6B98B5CA9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B3DB96E-5D93-5DB8-BAE3-1559486AE6D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검색 필요 정보 선별 및 벡터화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1F907C2-C1B4-EADB-6C8F-CD51A4560D6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지능형 검색 기반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8859E20-5270-6467-D0E5-E3F9BB4F543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벡터화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정보 선별부터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임베딩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벡터화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하이브리드 검색 준비까지의 파이프라인을 제시하여 검색 정보 선별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벡터화의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A76D6C9-5549-2558-BE2F-7131F5113AA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B2B54EB-50D2-E626-546B-9622D500C854}"/>
              </a:ext>
            </a:extLst>
          </p:cNvPr>
          <p:cNvSpPr txBox="1"/>
          <p:nvPr/>
        </p:nvSpPr>
        <p:spPr>
          <a:xfrm>
            <a:off x="335012" y="2371141"/>
            <a:ext cx="35588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정보 선별 및 벡터화 파이프라인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41FDAF7-ABB7-50F3-A29B-6672B21B7BEA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FR-011, FR-012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18FB9521-ACA5-6B29-B5B0-F555011EC327}"/>
              </a:ext>
            </a:extLst>
          </p:cNvPr>
          <p:cNvSpPr/>
          <p:nvPr/>
        </p:nvSpPr>
        <p:spPr bwMode="gray">
          <a:xfrm>
            <a:off x="258881" y="2666394"/>
            <a:ext cx="6331426" cy="407730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EA4D6F66-7874-E306-1285-587B6B8E4CE0}"/>
              </a:ext>
            </a:extLst>
          </p:cNvPr>
          <p:cNvCxnSpPr>
            <a:cxnSpLocks/>
          </p:cNvCxnSpPr>
          <p:nvPr/>
        </p:nvCxnSpPr>
        <p:spPr>
          <a:xfrm>
            <a:off x="312925" y="695461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F699C1E3-91EA-8569-3650-8DEAE21BABDE}"/>
              </a:ext>
            </a:extLst>
          </p:cNvPr>
          <p:cNvSpPr txBox="1"/>
          <p:nvPr/>
        </p:nvSpPr>
        <p:spPr>
          <a:xfrm>
            <a:off x="335011" y="692853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하이브리드 검색 구성 요소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829726C7-88DE-8D2E-D35C-A2D33E7BF98F}"/>
              </a:ext>
            </a:extLst>
          </p:cNvPr>
          <p:cNvSpPr/>
          <p:nvPr/>
        </p:nvSpPr>
        <p:spPr bwMode="gray">
          <a:xfrm>
            <a:off x="258881" y="7242727"/>
            <a:ext cx="6331426" cy="2433865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3254936-FF2A-C585-C383-3AA3CA41406F}"/>
              </a:ext>
            </a:extLst>
          </p:cNvPr>
          <p:cNvSpPr/>
          <p:nvPr/>
        </p:nvSpPr>
        <p:spPr>
          <a:xfrm>
            <a:off x="316309" y="911611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가치 높은 정보만 선별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벡터화하여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처리 효율을 확보하고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 검색의 정확성과 벡터 검색의 의미 이해를 결합함으로써 자연어 질의에 대한 탐색 정확도를 높임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0D71E8E8-810C-F3A0-9B14-48D67480227B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310571"/>
          <a:ext cx="6154318" cy="1768351"/>
        </p:xfrm>
        <a:graphic>
          <a:graphicData uri="http://schemas.openxmlformats.org/drawingml/2006/table">
            <a:tbl>
              <a:tblPr/>
              <a:tblGrid>
                <a:gridCol w="116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511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33350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25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구성 요소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강점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 검색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(BM25)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키워드 정확 매칭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정확한 용어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FR-012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1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벡터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임베딩 유사도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유의어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FR-011·012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하이브리드 결합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점수 정규화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 동시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재정렬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최신성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실용 순위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다면 필터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모달리티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언어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정밀 탐색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FR-012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149473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E2E7BCE1-8013-66C4-6A83-7890D617C411}"/>
              </a:ext>
            </a:extLst>
          </p:cNvPr>
          <p:cNvSpPr/>
          <p:nvPr/>
        </p:nvSpPr>
        <p:spPr>
          <a:xfrm>
            <a:off x="312925" y="5833958"/>
            <a:ext cx="6286697" cy="9267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질의이해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오탈자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띄어쓰기 보정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불용어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약어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동의어 확장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전문용어 정규화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(FR-012) 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재정렬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공개범위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 가능 여부 반영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(FR-012)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다면 필터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모달리티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언어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제공기관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구축연도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(FR-012)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엔진 정확도 검증은 다음 단계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에서 수행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653B1EF-A8C3-AB49-8159-34C1E11ED404}"/>
              </a:ext>
            </a:extLst>
          </p:cNvPr>
          <p:cNvSpPr/>
          <p:nvPr/>
        </p:nvSpPr>
        <p:spPr>
          <a:xfrm>
            <a:off x="312925" y="2729892"/>
            <a:ext cx="6221225" cy="746926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위쪽 모서리 20">
            <a:extLst>
              <a:ext uri="{FF2B5EF4-FFF2-40B4-BE49-F238E27FC236}">
                <a16:creationId xmlns:a16="http://schemas.microsoft.com/office/drawing/2014/main" id="{87A1179D-045F-BAFF-A61E-DC67872E4EF1}"/>
              </a:ext>
            </a:extLst>
          </p:cNvPr>
          <p:cNvSpPr/>
          <p:nvPr/>
        </p:nvSpPr>
        <p:spPr>
          <a:xfrm>
            <a:off x="306574" y="2708301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필요 정보 선별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B3EBCDC3-F431-210E-186B-8202EFBF05F5}"/>
              </a:ext>
            </a:extLst>
          </p:cNvPr>
          <p:cNvSpPr/>
          <p:nvPr/>
        </p:nvSpPr>
        <p:spPr>
          <a:xfrm>
            <a:off x="498656" y="3008555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선별 대상 정보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설명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요약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키워드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 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r>
              <a:rPr kumimoji="0" lang="ko-KR" altLang="en-US" sz="900" b="0" i="0" u="none" strike="noStrike" kern="1200" cap="none" spc="-50" normalizeH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전사문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자막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라벨 설명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900" b="0" i="0" u="none" strike="noStrike" kern="1200" cap="none" spc="-50" normalizeH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청크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51BF2B75-0412-4E8E-56B7-8B3DC5F4D267}"/>
              </a:ext>
            </a:extLst>
          </p:cNvPr>
          <p:cNvSpPr/>
          <p:nvPr/>
        </p:nvSpPr>
        <p:spPr>
          <a:xfrm>
            <a:off x="3778310" y="3008555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선별 기준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가치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의미 밀도 높은 필드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 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중복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노이즈 제거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4D9C40D2-4215-684D-E7A6-D1A605745566}"/>
              </a:ext>
            </a:extLst>
          </p:cNvPr>
          <p:cNvCxnSpPr>
            <a:cxnSpLocks/>
            <a:stCxn id="24" idx="3"/>
            <a:endCxn id="26" idx="1"/>
          </p:cNvCxnSpPr>
          <p:nvPr/>
        </p:nvCxnSpPr>
        <p:spPr>
          <a:xfrm>
            <a:off x="3068506" y="3216727"/>
            <a:ext cx="7098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D7585793-D48A-316B-0EC6-CFA8230DD17F}"/>
              </a:ext>
            </a:extLst>
          </p:cNvPr>
          <p:cNvSpPr/>
          <p:nvPr/>
        </p:nvSpPr>
        <p:spPr>
          <a:xfrm>
            <a:off x="312925" y="4736703"/>
            <a:ext cx="6221225" cy="1014795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1665E4E4-D6AD-6B77-F9B3-1DEE4451F86B}"/>
              </a:ext>
            </a:extLst>
          </p:cNvPr>
          <p:cNvSpPr/>
          <p:nvPr/>
        </p:nvSpPr>
        <p:spPr>
          <a:xfrm>
            <a:off x="306574" y="4715113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하이브리드 검색 준비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(FR-012)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CDEDA56D-FCAF-AF54-D680-0698DAE5C2AD}"/>
              </a:ext>
            </a:extLst>
          </p:cNvPr>
          <p:cNvSpPr/>
          <p:nvPr/>
        </p:nvSpPr>
        <p:spPr>
          <a:xfrm>
            <a:off x="431064" y="5039735"/>
            <a:ext cx="1778736" cy="595517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 검색 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BM25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키워드 정확 매칭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9A6B708-DEE6-2328-A5CE-5DCD45308BE9}"/>
              </a:ext>
            </a:extLst>
          </p:cNvPr>
          <p:cNvSpPr/>
          <p:nvPr/>
        </p:nvSpPr>
        <p:spPr>
          <a:xfrm>
            <a:off x="2555428" y="5039735"/>
            <a:ext cx="1778736" cy="595517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벡터 검색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임베딩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유사도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2D6FA65-7274-6882-3565-D5F5592D12CB}"/>
              </a:ext>
            </a:extLst>
          </p:cNvPr>
          <p:cNvSpPr/>
          <p:nvPr/>
        </p:nvSpPr>
        <p:spPr>
          <a:xfrm>
            <a:off x="4631887" y="5039735"/>
            <a:ext cx="1778736" cy="595517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하이브리드 결합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랭킹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점수 정규화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재정렬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7EE180A-0BBB-316C-AD61-765BD731ECB3}"/>
              </a:ext>
            </a:extLst>
          </p:cNvPr>
          <p:cNvCxnSpPr>
            <a:cxnSpLocks/>
            <a:stCxn id="37" idx="3"/>
            <a:endCxn id="39" idx="1"/>
          </p:cNvCxnSpPr>
          <p:nvPr/>
        </p:nvCxnSpPr>
        <p:spPr>
          <a:xfrm>
            <a:off x="4334164" y="5337494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52C71A1F-5113-C365-09F6-8466B538645B}"/>
              </a:ext>
            </a:extLst>
          </p:cNvPr>
          <p:cNvSpPr/>
          <p:nvPr/>
        </p:nvSpPr>
        <p:spPr>
          <a:xfrm>
            <a:off x="312925" y="3603421"/>
            <a:ext cx="6221225" cy="1006679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사각형: 둥근 위쪽 모서리 50">
            <a:extLst>
              <a:ext uri="{FF2B5EF4-FFF2-40B4-BE49-F238E27FC236}">
                <a16:creationId xmlns:a16="http://schemas.microsoft.com/office/drawing/2014/main" id="{9EA1E9DB-73D8-9019-17DD-72C6CC8C4AE2}"/>
              </a:ext>
            </a:extLst>
          </p:cNvPr>
          <p:cNvSpPr/>
          <p:nvPr/>
        </p:nvSpPr>
        <p:spPr>
          <a:xfrm>
            <a:off x="306574" y="3582320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전처리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→ </a:t>
            </a: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임베딩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벡터화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1DD90E91-F222-0727-82FA-C0398E9477F9}"/>
              </a:ext>
            </a:extLst>
          </p:cNvPr>
          <p:cNvSpPr/>
          <p:nvPr/>
        </p:nvSpPr>
        <p:spPr>
          <a:xfrm>
            <a:off x="431064" y="3910450"/>
            <a:ext cx="1365986" cy="597271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전처리</a:t>
            </a:r>
            <a:endParaRPr lang="ko-KR" altLang="en-US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정규화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불용어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토큰화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B91430D8-F0B4-087F-4C1B-65D7157D6A9E}"/>
              </a:ext>
            </a:extLst>
          </p:cNvPr>
          <p:cNvSpPr/>
          <p:nvPr/>
        </p:nvSpPr>
        <p:spPr>
          <a:xfrm>
            <a:off x="5044637" y="3910450"/>
            <a:ext cx="1365986" cy="597271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Index DB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색인 매핑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58D3D5F1-369C-40B4-36A9-FC6389C75A72}"/>
              </a:ext>
            </a:extLst>
          </p:cNvPr>
          <p:cNvSpPr/>
          <p:nvPr/>
        </p:nvSpPr>
        <p:spPr>
          <a:xfrm>
            <a:off x="1969233" y="3910450"/>
            <a:ext cx="1365986" cy="597271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임베딩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모델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텍스트→벡터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변환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38C09AC-2485-4097-D730-49995323045E}"/>
              </a:ext>
            </a:extLst>
          </p:cNvPr>
          <p:cNvSpPr/>
          <p:nvPr/>
        </p:nvSpPr>
        <p:spPr>
          <a:xfrm>
            <a:off x="3507402" y="3910450"/>
            <a:ext cx="1365986" cy="597271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Vector DB 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저장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벡터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 매핑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67" name="직선 화살표 연결선 66">
            <a:extLst>
              <a:ext uri="{FF2B5EF4-FFF2-40B4-BE49-F238E27FC236}">
                <a16:creationId xmlns:a16="http://schemas.microsoft.com/office/drawing/2014/main" id="{EEBD95F3-33ED-F591-F099-27E519429562}"/>
              </a:ext>
            </a:extLst>
          </p:cNvPr>
          <p:cNvCxnSpPr>
            <a:stCxn id="55" idx="3"/>
            <a:endCxn id="62" idx="1"/>
          </p:cNvCxnSpPr>
          <p:nvPr/>
        </p:nvCxnSpPr>
        <p:spPr>
          <a:xfrm>
            <a:off x="1797050" y="4209086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C978CA83-11F9-0299-DC95-05E793F19690}"/>
              </a:ext>
            </a:extLst>
          </p:cNvPr>
          <p:cNvCxnSpPr>
            <a:stCxn id="62" idx="3"/>
            <a:endCxn id="65" idx="1"/>
          </p:cNvCxnSpPr>
          <p:nvPr/>
        </p:nvCxnSpPr>
        <p:spPr>
          <a:xfrm>
            <a:off x="3335219" y="4209086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2A4A4CE9-00B5-E0D9-0442-30EA49EFEE9C}"/>
              </a:ext>
            </a:extLst>
          </p:cNvPr>
          <p:cNvCxnSpPr>
            <a:stCxn id="65" idx="3"/>
            <a:endCxn id="59" idx="1"/>
          </p:cNvCxnSpPr>
          <p:nvPr/>
        </p:nvCxnSpPr>
        <p:spPr>
          <a:xfrm>
            <a:off x="4873388" y="4209086"/>
            <a:ext cx="17124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더하기 기호 71">
            <a:extLst>
              <a:ext uri="{FF2B5EF4-FFF2-40B4-BE49-F238E27FC236}">
                <a16:creationId xmlns:a16="http://schemas.microsoft.com/office/drawing/2014/main" id="{54C6C9C9-D9D2-C572-9C0F-360B31E997C1}"/>
              </a:ext>
            </a:extLst>
          </p:cNvPr>
          <p:cNvSpPr/>
          <p:nvPr/>
        </p:nvSpPr>
        <p:spPr>
          <a:xfrm>
            <a:off x="2257425" y="5224377"/>
            <a:ext cx="250378" cy="261996"/>
          </a:xfrm>
          <a:prstGeom prst="mathPlus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Google Shape;4070;p70">
            <a:extLst>
              <a:ext uri="{FF2B5EF4-FFF2-40B4-BE49-F238E27FC236}">
                <a16:creationId xmlns:a16="http://schemas.microsoft.com/office/drawing/2014/main" id="{A193A49D-601E-BF42-AE9C-F243E5D086F7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03066764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01C043-0C4C-5134-2E46-B42CADD250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2582507-5C9D-543E-8C2B-8F69A93D84E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B2FDC5-B22D-FA52-48EF-62A46C5542D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FE8CD-BFAE-B776-0AA5-D4A7187BF33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온톨로지 및 지식 데이터베이스 구축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819578D-2984-CD60-AFD6-E19751D3CB1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지능형 검색 기반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E2F59D9-093D-4A97-129B-082ED8F77BD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지식 구조화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도메인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권리 등 핵심 개체와 관계를 온톨로지로 모델링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(FR-022)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하고 지식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축적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(FR-023)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단순 키워드를 넘어선 관계기반 의미 탐색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(FR-024)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실현하는 지식 기반을 구축함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2D180C2-DE17-06F6-C1F0-441D4D00543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92D7889-8B75-E245-8C3B-0F2DF3E1BADB}"/>
              </a:ext>
            </a:extLst>
          </p:cNvPr>
          <p:cNvSpPr txBox="1"/>
          <p:nvPr/>
        </p:nvSpPr>
        <p:spPr>
          <a:xfrm>
            <a:off x="335012" y="2371141"/>
            <a:ext cx="40464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온톨로지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모델링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및 관계기반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의미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탐색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지식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BDD1E88-B98A-0673-05BE-B777F952D52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FR-022, FR-023, FR-024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2D370B91-AF73-226F-9577-9E3EEE60F0A8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3644F5A-644E-1CC3-2DD7-64A5F2F41FD5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간 의미적 관계를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구조화하여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 일치를 넘어 개념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 기반의 탐색과 설명 가능한 추천을 실현함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(FR-022·023·024)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흩어진 개념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용어를 공통 체계로 정립하여 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 서비스의 의미 이해 기반 마련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지능형 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(2.5.2)·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연계하여 의미 검색 수준을 고도화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752A4FE-908A-21E4-030E-257558A3CFED}"/>
              </a:ext>
            </a:extLst>
          </p:cNvPr>
          <p:cNvSpPr/>
          <p:nvPr/>
        </p:nvSpPr>
        <p:spPr>
          <a:xfrm>
            <a:off x="315897" y="87969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056FB3E6-27D9-341E-FD4D-4F09F925D86F}"/>
              </a:ext>
            </a:extLst>
          </p:cNvPr>
          <p:cNvSpPr/>
          <p:nvPr/>
        </p:nvSpPr>
        <p:spPr>
          <a:xfrm>
            <a:off x="315897" y="8796971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온톨로지 모델링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99EF320-1589-7D00-0661-33BCD42D993B}"/>
              </a:ext>
            </a:extLst>
          </p:cNvPr>
          <p:cNvSpPr/>
          <p:nvPr/>
        </p:nvSpPr>
        <p:spPr>
          <a:xfrm>
            <a:off x="1896507" y="87969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F07D5652-1958-5545-CF4E-45A64F81FCC5}"/>
              </a:ext>
            </a:extLst>
          </p:cNvPr>
          <p:cNvSpPr/>
          <p:nvPr/>
        </p:nvSpPr>
        <p:spPr>
          <a:xfrm>
            <a:off x="1896507" y="8796971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지식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8FF0F30F-0C75-FB3D-C6B9-4D8498C3EE40}"/>
              </a:ext>
            </a:extLst>
          </p:cNvPr>
          <p:cNvSpPr/>
          <p:nvPr/>
        </p:nvSpPr>
        <p:spPr>
          <a:xfrm>
            <a:off x="3477117" y="87969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80ADCFA3-E05F-6F7E-C604-61692DDE3F5B}"/>
              </a:ext>
            </a:extLst>
          </p:cNvPr>
          <p:cNvSpPr/>
          <p:nvPr/>
        </p:nvSpPr>
        <p:spPr>
          <a:xfrm>
            <a:off x="3477117" y="8796971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지식 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F0DC9081-29CC-EBA8-D12A-04FC2F5D73BB}"/>
              </a:ext>
            </a:extLst>
          </p:cNvPr>
          <p:cNvSpPr/>
          <p:nvPr/>
        </p:nvSpPr>
        <p:spPr>
          <a:xfrm>
            <a:off x="5057727" y="87969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F0452EAB-4420-A36F-EF8F-80F9E485E153}"/>
              </a:ext>
            </a:extLst>
          </p:cNvPr>
          <p:cNvSpPr/>
          <p:nvPr/>
        </p:nvSpPr>
        <p:spPr>
          <a:xfrm>
            <a:off x="5057727" y="8796971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의미 탐색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F9D840B3-FA82-2EC8-D723-806E134FBB46}"/>
              </a:ext>
            </a:extLst>
          </p:cNvPr>
          <p:cNvSpPr/>
          <p:nvPr/>
        </p:nvSpPr>
        <p:spPr>
          <a:xfrm rot="5400000">
            <a:off x="1801098" y="912737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13AB95BF-D674-27B4-6A92-55D7AFB8A128}"/>
              </a:ext>
            </a:extLst>
          </p:cNvPr>
          <p:cNvSpPr/>
          <p:nvPr/>
        </p:nvSpPr>
        <p:spPr>
          <a:xfrm rot="5400000">
            <a:off x="3386287" y="912737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1A7BD767-D506-2DB1-1E17-A5F1A91FAE89}"/>
              </a:ext>
            </a:extLst>
          </p:cNvPr>
          <p:cNvSpPr/>
          <p:nvPr/>
        </p:nvSpPr>
        <p:spPr>
          <a:xfrm rot="5400000">
            <a:off x="4966713" y="912738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8BA694E9-2C98-61B4-621D-9D640DCE643D}"/>
              </a:ext>
            </a:extLst>
          </p:cNvPr>
          <p:cNvSpPr/>
          <p:nvPr/>
        </p:nvSpPr>
        <p:spPr>
          <a:xfrm rot="5400000">
            <a:off x="1801098" y="912737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C56DD0D2-BDAC-14A2-BA0C-3D92F7037A40}"/>
              </a:ext>
            </a:extLst>
          </p:cNvPr>
          <p:cNvSpPr/>
          <p:nvPr/>
        </p:nvSpPr>
        <p:spPr>
          <a:xfrm rot="5400000">
            <a:off x="3386287" y="912737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0782287B-321E-D920-390B-91733150793B}"/>
              </a:ext>
            </a:extLst>
          </p:cNvPr>
          <p:cNvSpPr/>
          <p:nvPr/>
        </p:nvSpPr>
        <p:spPr>
          <a:xfrm rot="5400000">
            <a:off x="4966713" y="912738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FF031AE-11FE-8DEB-0E44-8AA33F9FB1A3}"/>
              </a:ext>
            </a:extLst>
          </p:cNvPr>
          <p:cNvSpPr txBox="1"/>
          <p:nvPr/>
        </p:nvSpPr>
        <p:spPr>
          <a:xfrm>
            <a:off x="342856" y="906578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 개체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용어 표준화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85E3C3C-1AD5-7118-04C2-34A835D9984A}"/>
              </a:ext>
            </a:extLst>
          </p:cNvPr>
          <p:cNvSpPr txBox="1"/>
          <p:nvPr/>
        </p:nvSpPr>
        <p:spPr>
          <a:xfrm>
            <a:off x="1923466" y="906578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속성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규칙 저장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93EE8BB-2B19-03F2-1230-9F46DD2E74C5}"/>
              </a:ext>
            </a:extLst>
          </p:cNvPr>
          <p:cNvSpPr txBox="1"/>
          <p:nvPr/>
        </p:nvSpPr>
        <p:spPr>
          <a:xfrm>
            <a:off x="3504076" y="906578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코드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권리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 연계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9C4C0F7-E4B5-3F4A-2B31-6F4DA7CA6306}"/>
              </a:ext>
            </a:extLst>
          </p:cNvPr>
          <p:cNvSpPr txBox="1"/>
          <p:nvPr/>
        </p:nvSpPr>
        <p:spPr>
          <a:xfrm>
            <a:off x="5084686" y="906578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관계기반 탐색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설명가능 추천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F3DF5B0-F2B1-A9A0-6014-228305C0C1A4}"/>
              </a:ext>
            </a:extLst>
          </p:cNvPr>
          <p:cNvSpPr/>
          <p:nvPr/>
        </p:nvSpPr>
        <p:spPr>
          <a:xfrm>
            <a:off x="316309" y="4809628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 구조를 반영하여 개체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속성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규칙 정보를 저장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갱신하는 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구축함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저장구조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속성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규칙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출처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유효기간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 노드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엣지의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생성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삭제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비활성화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버전관리 지원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응답에 활용 가능한 조회 성능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확장성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5E4AC2D6-F1D8-7FE9-46C9-0B19C11310A2}"/>
              </a:ext>
            </a:extLst>
          </p:cNvPr>
          <p:cNvSpPr/>
          <p:nvPr/>
        </p:nvSpPr>
        <p:spPr>
          <a:xfrm>
            <a:off x="316309" y="8196412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의미탐색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명세로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정보 벡터화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정확도 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(2.5.4)·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7F87526-61F9-871A-6AD4-A65918FB2A93}"/>
              </a:ext>
            </a:extLst>
          </p:cNvPr>
          <p:cNvSpPr/>
          <p:nvPr/>
        </p:nvSpPr>
        <p:spPr>
          <a:xfrm>
            <a:off x="316309" y="3721712"/>
            <a:ext cx="6286697" cy="105758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 모델링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개체와 관계를 식별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구조화하고 공통 용어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속성 체계를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개체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활용목적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상하위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포함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참조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제약 관계 정의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개체별 속성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필수여부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다중값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식별자 표준화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용어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속성 사전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코드체계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분류체계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동의어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영문명 정리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36F7CF2-7733-1100-7311-A03F1DF55F2C}"/>
              </a:ext>
            </a:extLst>
          </p:cNvPr>
          <p:cNvSpPr/>
          <p:nvPr/>
        </p:nvSpPr>
        <p:spPr>
          <a:xfrm>
            <a:off x="316309" y="6119143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 수집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코드체계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품질정보를 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 연계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등록하여 지식자산으로 축적함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(FR-005)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연계하여 일관성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7850F78-E326-957A-EFEB-1F1A02E30F33}"/>
              </a:ext>
            </a:extLst>
          </p:cNvPr>
          <p:cNvSpPr/>
          <p:nvPr/>
        </p:nvSpPr>
        <p:spPr>
          <a:xfrm>
            <a:off x="316309" y="6945449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의미기반 탐색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관계정보를 활용하여 의미 확장 검색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관계기반 탐색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추천을 지원하고 추천 이유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 경로를 제시함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특정 데이터셋과 연관된 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유사 데이터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권리조건을 관계 따라 탐색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연관 개념 반영 탐색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 이유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관계 경로를 함께 제시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설명가능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지능형 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에이전트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메타관리시스템과 공통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" name="Google Shape;4076;p71">
            <a:extLst>
              <a:ext uri="{FF2B5EF4-FFF2-40B4-BE49-F238E27FC236}">
                <a16:creationId xmlns:a16="http://schemas.microsoft.com/office/drawing/2014/main" id="{0FB52339-AA25-8EC5-B243-586133966719}"/>
              </a:ext>
            </a:extLst>
          </p:cNvPr>
          <p:cNvSpPr/>
          <p:nvPr/>
        </p:nvSpPr>
        <p:spPr>
          <a:xfrm>
            <a:off x="7110100" y="2739125"/>
            <a:ext cx="6518400" cy="48630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" name="Google Shape;4110;p71">
            <a:extLst>
              <a:ext uri="{FF2B5EF4-FFF2-40B4-BE49-F238E27FC236}">
                <a16:creationId xmlns:a16="http://schemas.microsoft.com/office/drawing/2014/main" id="{EC79A6EA-E8F3-F1FD-B5E9-7097145BF943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" name="Google Shape;4111;p71">
            <a:extLst>
              <a:ext uri="{FF2B5EF4-FFF2-40B4-BE49-F238E27FC236}">
                <a16:creationId xmlns:a16="http://schemas.microsoft.com/office/drawing/2014/main" id="{E55FB136-63E1-D5A7-6E96-63AA0AD2CB85}"/>
              </a:ext>
            </a:extLst>
          </p:cNvPr>
          <p:cNvSpPr/>
          <p:nvPr/>
        </p:nvSpPr>
        <p:spPr>
          <a:xfrm>
            <a:off x="7193075" y="2818799"/>
            <a:ext cx="6331500" cy="516000"/>
          </a:xfrm>
          <a:prstGeom prst="roundRect">
            <a:avLst>
              <a:gd name="adj" fmla="val 0"/>
            </a:avLst>
          </a:prstGeom>
          <a:solidFill>
            <a:schemeClr val="lt1"/>
          </a:solidFill>
          <a:ln w="12700" cap="flat" cmpd="sng">
            <a:solidFill>
              <a:srgbClr val="1D4E89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285750" marR="0" lvl="0" indent="-2222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</a:pPr>
            <a:endParaRPr sz="1000" b="0" i="0" u="none" strike="noStrike" cap="none">
              <a:solidFill>
                <a:srgbClr val="44546A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Google Shape;4112;p71">
            <a:extLst>
              <a:ext uri="{FF2B5EF4-FFF2-40B4-BE49-F238E27FC236}">
                <a16:creationId xmlns:a16="http://schemas.microsoft.com/office/drawing/2014/main" id="{7C4BBCD0-B010-CE26-9148-8E80D97FBFF5}"/>
              </a:ext>
            </a:extLst>
          </p:cNvPr>
          <p:cNvSpPr/>
          <p:nvPr/>
        </p:nvSpPr>
        <p:spPr>
          <a:xfrm>
            <a:off x="7240175" y="4163200"/>
            <a:ext cx="1994100" cy="3274200"/>
          </a:xfrm>
          <a:prstGeom prst="roundRect">
            <a:avLst>
              <a:gd name="adj" fmla="val 3612"/>
            </a:avLst>
          </a:prstGeom>
          <a:solidFill>
            <a:schemeClr val="lt1"/>
          </a:solidFill>
          <a:ln w="12700" cap="flat" cmpd="sng">
            <a:solidFill>
              <a:srgbClr val="0070C0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ko-KR" sz="1300" b="1">
                <a:solidFill>
                  <a:srgbClr val="262626"/>
                </a:solidFill>
                <a:latin typeface="Malgun Gothic"/>
                <a:ea typeface="Malgun Gothic"/>
                <a:cs typeface="Malgun Gothic"/>
                <a:sym typeface="Malgun Gothic"/>
              </a:rPr>
              <a:t>Ontology Layer</a:t>
            </a:r>
            <a:endParaRPr sz="1300" b="1">
              <a:solidFill>
                <a:srgbClr val="262626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300" b="1">
              <a:solidFill>
                <a:srgbClr val="262626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원천 DB의 복잡한 스키마를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논리적 가상 계층으로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추상화 하여 도메인 모델로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변환</a:t>
            </a: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</p:txBody>
      </p:sp>
      <p:sp>
        <p:nvSpPr>
          <p:cNvPr id="26" name="Google Shape;4113;p71">
            <a:extLst>
              <a:ext uri="{FF2B5EF4-FFF2-40B4-BE49-F238E27FC236}">
                <a16:creationId xmlns:a16="http://schemas.microsoft.com/office/drawing/2014/main" id="{0033ED38-7C70-D9FC-05F9-99C2C7A601E3}"/>
              </a:ext>
            </a:extLst>
          </p:cNvPr>
          <p:cNvSpPr/>
          <p:nvPr/>
        </p:nvSpPr>
        <p:spPr>
          <a:xfrm>
            <a:off x="7240175" y="3709752"/>
            <a:ext cx="1994100" cy="423300"/>
          </a:xfrm>
          <a:prstGeom prst="round2SameRect">
            <a:avLst>
              <a:gd name="adj1" fmla="val 10344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>
                <a:solidFill>
                  <a:schemeClr val="lt1"/>
                </a:solidFill>
              </a:rPr>
              <a:t>온톨로지 계층 기반</a:t>
            </a:r>
            <a:endParaRPr sz="1100" b="1">
              <a:solidFill>
                <a:schemeClr val="lt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1100" b="1">
                <a:solidFill>
                  <a:schemeClr val="lt1"/>
                </a:solidFill>
              </a:rPr>
              <a:t>도메인 용어 변환</a:t>
            </a:r>
            <a:endParaRPr sz="1100" b="1">
              <a:solidFill>
                <a:schemeClr val="lt1"/>
              </a:solidFill>
            </a:endParaRPr>
          </a:p>
        </p:txBody>
      </p:sp>
      <p:sp>
        <p:nvSpPr>
          <p:cNvPr id="31" name="Google Shape;4114;p71">
            <a:extLst>
              <a:ext uri="{FF2B5EF4-FFF2-40B4-BE49-F238E27FC236}">
                <a16:creationId xmlns:a16="http://schemas.microsoft.com/office/drawing/2014/main" id="{6D789B2C-0274-AC48-F1E7-06850CF97341}"/>
              </a:ext>
            </a:extLst>
          </p:cNvPr>
          <p:cNvSpPr/>
          <p:nvPr/>
        </p:nvSpPr>
        <p:spPr>
          <a:xfrm>
            <a:off x="9386500" y="4163200"/>
            <a:ext cx="1994100" cy="3273000"/>
          </a:xfrm>
          <a:prstGeom prst="roundRect">
            <a:avLst>
              <a:gd name="adj" fmla="val 3612"/>
            </a:avLst>
          </a:prstGeom>
          <a:solidFill>
            <a:schemeClr val="lt1"/>
          </a:solidFill>
          <a:ln w="12700" cap="flat" cmpd="sng">
            <a:solidFill>
              <a:srgbClr val="0070C0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ko-KR" sz="1300" b="1">
                <a:solidFill>
                  <a:srgbClr val="262626"/>
                </a:solidFill>
                <a:latin typeface="Malgun Gothic"/>
                <a:ea typeface="Malgun Gothic"/>
                <a:cs typeface="Malgun Gothic"/>
                <a:sym typeface="Malgun Gothic"/>
              </a:rPr>
              <a:t>Metadata Layer</a:t>
            </a:r>
            <a:endParaRPr sz="1300" b="1">
              <a:solidFill>
                <a:srgbClr val="262626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300" b="1">
              <a:solidFill>
                <a:srgbClr val="262626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정형·비정형 데이터의 속성,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관계, 컨텍스트를 다차원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메타데이터로 색인화하여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 정확도와 재현율 확</a:t>
            </a:r>
            <a:r>
              <a:rPr lang="ko-KR" sz="1200">
                <a:solidFill>
                  <a:schemeClr val="dk1"/>
                </a:solidFill>
              </a:rPr>
              <a:t>보</a:t>
            </a: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</p:txBody>
      </p:sp>
      <p:sp>
        <p:nvSpPr>
          <p:cNvPr id="35" name="Google Shape;4115;p71">
            <a:extLst>
              <a:ext uri="{FF2B5EF4-FFF2-40B4-BE49-F238E27FC236}">
                <a16:creationId xmlns:a16="http://schemas.microsoft.com/office/drawing/2014/main" id="{A7FAABF5-DCAE-3C4E-D3AD-F4711DFE4DCF}"/>
              </a:ext>
            </a:extLst>
          </p:cNvPr>
          <p:cNvSpPr/>
          <p:nvPr/>
        </p:nvSpPr>
        <p:spPr>
          <a:xfrm>
            <a:off x="9386489" y="3709752"/>
            <a:ext cx="1994100" cy="423300"/>
          </a:xfrm>
          <a:prstGeom prst="round2SameRect">
            <a:avLst>
              <a:gd name="adj1" fmla="val 8311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ko-KR" sz="1100" b="1">
                <a:solidFill>
                  <a:schemeClr val="lt1"/>
                </a:solidFill>
              </a:rPr>
              <a:t>다차원 메타데이터</a:t>
            </a:r>
            <a:endParaRPr sz="1100" b="1">
              <a:solidFill>
                <a:schemeClr val="lt1"/>
              </a:solidFill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ko-KR" sz="1100" b="1">
                <a:solidFill>
                  <a:schemeClr val="lt1"/>
                </a:solidFill>
              </a:rPr>
              <a:t>기반 통합검색</a:t>
            </a:r>
            <a:endParaRPr sz="1100" b="1">
              <a:solidFill>
                <a:schemeClr val="lt1"/>
              </a:solidFill>
            </a:endParaRPr>
          </a:p>
        </p:txBody>
      </p:sp>
      <p:sp>
        <p:nvSpPr>
          <p:cNvPr id="39" name="Google Shape;4116;p71">
            <a:extLst>
              <a:ext uri="{FF2B5EF4-FFF2-40B4-BE49-F238E27FC236}">
                <a16:creationId xmlns:a16="http://schemas.microsoft.com/office/drawing/2014/main" id="{73617E2C-A622-5BC7-F935-142822A8602D}"/>
              </a:ext>
            </a:extLst>
          </p:cNvPr>
          <p:cNvSpPr/>
          <p:nvPr/>
        </p:nvSpPr>
        <p:spPr>
          <a:xfrm>
            <a:off x="11532800" y="4163769"/>
            <a:ext cx="1994100" cy="3273000"/>
          </a:xfrm>
          <a:prstGeom prst="roundRect">
            <a:avLst>
              <a:gd name="adj" fmla="val 3612"/>
            </a:avLst>
          </a:prstGeom>
          <a:solidFill>
            <a:schemeClr val="lt1"/>
          </a:solidFill>
          <a:ln w="12700" cap="flat" cmpd="sng">
            <a:solidFill>
              <a:srgbClr val="0070C0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ko-KR" sz="1300" b="1">
                <a:solidFill>
                  <a:srgbClr val="262626"/>
                </a:solidFill>
                <a:latin typeface="Malgun Gothic"/>
                <a:ea typeface="Malgun Gothic"/>
                <a:cs typeface="Malgun Gothic"/>
                <a:sym typeface="Malgun Gothic"/>
              </a:rPr>
              <a:t>Recommendation Layer</a:t>
            </a:r>
            <a:endParaRPr sz="1300" b="1">
              <a:solidFill>
                <a:srgbClr val="262626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300" b="1">
              <a:solidFill>
                <a:srgbClr val="262626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사용자 질의 패턴과 데이터 간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의미적 연관성을 학습하여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명시적으로 검색하지 않은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lvl="0" indent="0" algn="l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ko-KR" sz="1150">
                <a:solidFill>
                  <a:srgbClr val="404040"/>
                </a:solidFill>
                <a:latin typeface="Malgun Gothic"/>
                <a:ea typeface="Malgun Gothic"/>
                <a:cs typeface="Malgun Gothic"/>
                <a:sym typeface="Malgun Gothic"/>
              </a:rPr>
              <a:t>관련 정보까지 선제적으로 추천</a:t>
            </a:r>
            <a:endParaRPr sz="1150">
              <a:solidFill>
                <a:srgbClr val="404040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</p:txBody>
      </p:sp>
      <p:sp>
        <p:nvSpPr>
          <p:cNvPr id="43" name="Google Shape;4117;p71">
            <a:extLst>
              <a:ext uri="{FF2B5EF4-FFF2-40B4-BE49-F238E27FC236}">
                <a16:creationId xmlns:a16="http://schemas.microsoft.com/office/drawing/2014/main" id="{FB93D670-09DA-08DB-95EB-29C629491F3F}"/>
              </a:ext>
            </a:extLst>
          </p:cNvPr>
          <p:cNvSpPr/>
          <p:nvPr/>
        </p:nvSpPr>
        <p:spPr>
          <a:xfrm>
            <a:off x="11532802" y="3709752"/>
            <a:ext cx="1994100" cy="423300"/>
          </a:xfrm>
          <a:prstGeom prst="round2SameRect">
            <a:avLst>
              <a:gd name="adj1" fmla="val 11473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ko-KR" sz="1100" b="1">
                <a:solidFill>
                  <a:schemeClr val="lt1"/>
                </a:solidFill>
              </a:rPr>
              <a:t>지능형 </a:t>
            </a:r>
            <a:endParaRPr sz="1100" b="1">
              <a:solidFill>
                <a:schemeClr val="lt1"/>
              </a:solidFill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ko-KR" sz="1100" b="1">
                <a:solidFill>
                  <a:schemeClr val="lt1"/>
                </a:solidFill>
              </a:rPr>
              <a:t>연관 데이터추천</a:t>
            </a:r>
            <a:endParaRPr sz="11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" name="Google Shape;4118;p71">
            <a:extLst>
              <a:ext uri="{FF2B5EF4-FFF2-40B4-BE49-F238E27FC236}">
                <a16:creationId xmlns:a16="http://schemas.microsoft.com/office/drawing/2014/main" id="{BD699F28-FF43-42D7-7127-334B05B16997}"/>
              </a:ext>
            </a:extLst>
          </p:cNvPr>
          <p:cNvSpPr/>
          <p:nvPr/>
        </p:nvSpPr>
        <p:spPr>
          <a:xfrm rot="5400000">
            <a:off x="9245543" y="4253669"/>
            <a:ext cx="140700" cy="1017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4119;p71">
            <a:extLst>
              <a:ext uri="{FF2B5EF4-FFF2-40B4-BE49-F238E27FC236}">
                <a16:creationId xmlns:a16="http://schemas.microsoft.com/office/drawing/2014/main" id="{BA095E02-E4DD-7026-852F-38183531978F}"/>
              </a:ext>
            </a:extLst>
          </p:cNvPr>
          <p:cNvSpPr/>
          <p:nvPr/>
        </p:nvSpPr>
        <p:spPr>
          <a:xfrm rot="5400000">
            <a:off x="11398074" y="4253671"/>
            <a:ext cx="140700" cy="1017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4120;p71">
            <a:extLst>
              <a:ext uri="{FF2B5EF4-FFF2-40B4-BE49-F238E27FC236}">
                <a16:creationId xmlns:a16="http://schemas.microsoft.com/office/drawing/2014/main" id="{3E58E5FC-9F71-9DD7-A3D3-472DCEEF337D}"/>
              </a:ext>
            </a:extLst>
          </p:cNvPr>
          <p:cNvSpPr/>
          <p:nvPr/>
        </p:nvSpPr>
        <p:spPr>
          <a:xfrm rot="5400000">
            <a:off x="9245543" y="4253669"/>
            <a:ext cx="140700" cy="1017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Google Shape;4121;p71">
            <a:extLst>
              <a:ext uri="{FF2B5EF4-FFF2-40B4-BE49-F238E27FC236}">
                <a16:creationId xmlns:a16="http://schemas.microsoft.com/office/drawing/2014/main" id="{1820590E-6440-4FD3-1B27-9D6B43B78127}"/>
              </a:ext>
            </a:extLst>
          </p:cNvPr>
          <p:cNvSpPr/>
          <p:nvPr/>
        </p:nvSpPr>
        <p:spPr>
          <a:xfrm rot="5400000">
            <a:off x="11398074" y="4253671"/>
            <a:ext cx="140700" cy="1017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4122;p71">
            <a:extLst>
              <a:ext uri="{FF2B5EF4-FFF2-40B4-BE49-F238E27FC236}">
                <a16:creationId xmlns:a16="http://schemas.microsoft.com/office/drawing/2014/main" id="{F25AE877-2FF7-9C5B-3BFD-FEDA05CD875E}"/>
              </a:ext>
            </a:extLst>
          </p:cNvPr>
          <p:cNvSpPr/>
          <p:nvPr/>
        </p:nvSpPr>
        <p:spPr>
          <a:xfrm>
            <a:off x="7220459" y="2932975"/>
            <a:ext cx="6286800" cy="51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36000" tIns="36000" rIns="36000" bIns="36000" anchor="t" anchorCtr="0">
            <a:noAutofit/>
          </a:bodyPr>
          <a:lstStyle/>
          <a:p>
            <a:pPr marL="108000" marR="0" lvl="1" indent="-10800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Char char="•"/>
            </a:pPr>
            <a:r>
              <a:rPr lang="ko-KR" sz="1200"/>
              <a:t>단순한 키워드를 넘어 관계 기반 의미 탑색이 가능 하도록 온톨로지 지식 DB 구축</a:t>
            </a:r>
            <a:endParaRPr sz="1100" b="1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5768915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E87240-D261-7F0C-63ED-E67D61373D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0BA1C2A-5228-27E3-444A-BDC25EA1672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4A02412-55EC-5058-E223-CFECDF4F9A3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FA28823-593E-0397-C244-64EF56BC9E3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검색 정확도 검증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0A89342-D13D-584A-9817-D57FB26839D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지능형 검색 기반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C05ECE4-9DC6-820A-21E2-06095ED650C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정확도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정밀도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재현율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순위 품질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응답시간 등 정량 평가지표와 질의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정답 테스트셋 기반 검증 절차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(TR-001)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하이브리드 검색의 정확도를 측정하고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미달 시 튜닝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재검증을 반복하여 검색 품질을 확보함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(FR-012)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159ABB4-29EC-A58F-C6A7-234DF9C35A5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019EA0F-ED41-A7B0-CE08-E42ADA33C606}"/>
              </a:ext>
            </a:extLst>
          </p:cNvPr>
          <p:cNvSpPr txBox="1"/>
          <p:nvPr/>
        </p:nvSpPr>
        <p:spPr>
          <a:xfrm>
            <a:off x="335012" y="2371141"/>
            <a:ext cx="39321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정량 평가지표와 검색 정확도 측정을 통한 검색 품질 확보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161F3-7C7D-A60F-8E7B-B3E5E2F4264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FR-012, TR-001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3630D71F-E1F2-597A-6985-7E50A660B1B9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0864BC3-312C-9435-28FB-5292EE1B44C2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구축한 지능형 검색의 실제 정확도를 정량 지표로 측정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 검색 품질을 달성했는지 객관적으로 확인하고 미달 시 개선함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(FR-012·TR-001)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품질을 주관 평가가 아닌 표준 지표로 측정하여 객관성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추적성 확보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하이브리드 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색인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+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재정렬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필터의 효과를 정량 평가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8C5763D-4C7B-B2F4-437F-8D12F929723B}"/>
              </a:ext>
            </a:extLst>
          </p:cNvPr>
          <p:cNvSpPr/>
          <p:nvPr/>
        </p:nvSpPr>
        <p:spPr>
          <a:xfrm>
            <a:off x="31589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646FB63F-DF2F-5007-D980-2B0DD6C1112E}"/>
              </a:ext>
            </a:extLst>
          </p:cNvPr>
          <p:cNvSpPr/>
          <p:nvPr/>
        </p:nvSpPr>
        <p:spPr>
          <a:xfrm>
            <a:off x="315897" y="844157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지표 정의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B26C329-E44B-DB04-52BB-CEDCDD89A110}"/>
              </a:ext>
            </a:extLst>
          </p:cNvPr>
          <p:cNvSpPr/>
          <p:nvPr/>
        </p:nvSpPr>
        <p:spPr>
          <a:xfrm>
            <a:off x="189650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89DC66FA-A85E-F66E-EE35-29EFDEC102F1}"/>
              </a:ext>
            </a:extLst>
          </p:cNvPr>
          <p:cNvSpPr/>
          <p:nvPr/>
        </p:nvSpPr>
        <p:spPr>
          <a:xfrm>
            <a:off x="1896507" y="844157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테스트 실행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AA163EF-B911-201D-D581-730DFE560E68}"/>
              </a:ext>
            </a:extLst>
          </p:cNvPr>
          <p:cNvSpPr/>
          <p:nvPr/>
        </p:nvSpPr>
        <p:spPr>
          <a:xfrm>
            <a:off x="347711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F92A63DA-301C-D85B-D51C-CE8F2D29514E}"/>
              </a:ext>
            </a:extLst>
          </p:cNvPr>
          <p:cNvSpPr/>
          <p:nvPr/>
        </p:nvSpPr>
        <p:spPr>
          <a:xfrm>
            <a:off x="3477117" y="844157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측정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판정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5D553C2D-8371-C7DB-D393-19F127CCC127}"/>
              </a:ext>
            </a:extLst>
          </p:cNvPr>
          <p:cNvSpPr/>
          <p:nvPr/>
        </p:nvSpPr>
        <p:spPr>
          <a:xfrm>
            <a:off x="505772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52F01CB5-F9D1-1899-5096-AB6D4DBBC199}"/>
              </a:ext>
            </a:extLst>
          </p:cNvPr>
          <p:cNvSpPr/>
          <p:nvPr/>
        </p:nvSpPr>
        <p:spPr>
          <a:xfrm>
            <a:off x="5057727" y="844157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튜닝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재검증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00380F88-FB44-4611-DED6-C5C451FD12DD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02E9D2FB-3670-D7BD-BEE6-586C61107D01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7F517F63-8DC1-7715-AD3B-AA328AA77CDC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6140A814-1A91-1749-FB25-BE373CBB6A2A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765EE753-0447-30BA-8B49-0A281EA49B31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A4C50FB5-90E1-82CC-6445-E6DF483ADA93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7574A9C-90ED-88A4-E65A-4A5B4CB6B337}"/>
              </a:ext>
            </a:extLst>
          </p:cNvPr>
          <p:cNvSpPr txBox="1"/>
          <p:nvPr/>
        </p:nvSpPr>
        <p:spPr>
          <a:xfrm>
            <a:off x="34285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정밀도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재현율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순위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응답시간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6E7E9B4-2CDF-BA9A-2839-DBB29E8C8F92}"/>
              </a:ext>
            </a:extLst>
          </p:cNvPr>
          <p:cNvSpPr txBox="1"/>
          <p:nvPr/>
        </p:nvSpPr>
        <p:spPr>
          <a:xfrm>
            <a:off x="1923466" y="871039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질의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-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정답 테스트케이스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1CEC26A5-3929-E668-0C27-D2EB52DED519}"/>
              </a:ext>
            </a:extLst>
          </p:cNvPr>
          <p:cNvSpPr txBox="1"/>
          <p:nvPr/>
        </p:nvSpPr>
        <p:spPr>
          <a:xfrm>
            <a:off x="350407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기대결과 대조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목표 대비 판정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2CF35F7-37FF-E596-DE1B-03BB3847948F}"/>
              </a:ext>
            </a:extLst>
          </p:cNvPr>
          <p:cNvSpPr txBox="1"/>
          <p:nvPr/>
        </p:nvSpPr>
        <p:spPr>
          <a:xfrm>
            <a:off x="508468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미달 튜닝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목표 달성까지 반복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A1A52E1-38E5-6C65-1288-B9814F27BEF5}"/>
              </a:ext>
            </a:extLst>
          </p:cNvPr>
          <p:cNvSpPr/>
          <p:nvPr/>
        </p:nvSpPr>
        <p:spPr>
          <a:xfrm>
            <a:off x="316309" y="4555950"/>
            <a:ext cx="6286697" cy="101911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절차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질의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정답 테스트셋을 구성하고 테스트케이스를 실행하여 지표를 측정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테스트셋 구성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질의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정답 셋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실행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테스트케이스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지표 측정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기대결과 대조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목표치 대비 합격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요구사항별 테스트케이스와 기대결과를 연결하여 추적 가능하도록 구성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7D00155-B25C-88C3-F637-3CDB7847B280}"/>
              </a:ext>
            </a:extLst>
          </p:cNvPr>
          <p:cNvSpPr/>
          <p:nvPr/>
        </p:nvSpPr>
        <p:spPr>
          <a:xfrm>
            <a:off x="316309" y="7624542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종합테스트계획서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테스트케이스목록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결함관리대장으로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(TR-001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벡터화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(2.5.2)·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DB(2.5.3)·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성능 시험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2E1F020-7603-CF7D-1A43-AE22E5B387E8}"/>
              </a:ext>
            </a:extLst>
          </p:cNvPr>
          <p:cNvSpPr/>
          <p:nvPr/>
        </p:nvSpPr>
        <p:spPr>
          <a:xfrm>
            <a:off x="316309" y="3721712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정확도 평가지표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특성에 맞는 정량 지표를 정의하여 정확도를 측정함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정밀도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(Precision):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결과 중 적합 문서 비율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재현율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(Recall):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적합 문서 중 검색된 비율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순위 품질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en-US" altLang="ko-KR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nDCG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상위 노출의 적절성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응답시간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3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초 이내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(PR-001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6B0F547-D56B-4D73-2B54-8BAADD8B4FCC}"/>
              </a:ext>
            </a:extLst>
          </p:cNvPr>
          <p:cNvSpPr/>
          <p:nvPr/>
        </p:nvSpPr>
        <p:spPr>
          <a:xfrm>
            <a:off x="316309" y="557474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 개선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 미달 항목을 분석하고 검색을 튜닝한 뒤 재검증을 반복함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(FR-012·TR-001)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미달 항목 분석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 원인 진단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튜닝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랭킹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가중치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동의어 사전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 달성까지 반복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결함 심각도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조치 결과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재시험 이력을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F1B6AF9-F986-FE2D-F9BD-DE4DB9FA4449}"/>
              </a:ext>
            </a:extLst>
          </p:cNvPr>
          <p:cNvSpPr/>
          <p:nvPr/>
        </p:nvSpPr>
        <p:spPr>
          <a:xfrm>
            <a:off x="316309" y="6446334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판정 기준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지표별 목표치를 사전 정의하고 목표 달성 여부로 합격을 판정하며 발주기관 검토가 가능하도록 지원함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목표치는 데이터 특성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 유형을 고려하여 설정하고 시험 결과로 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구체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목표값은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상세설계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시험계획에서 확정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161;p72">
            <a:extLst>
              <a:ext uri="{FF2B5EF4-FFF2-40B4-BE49-F238E27FC236}">
                <a16:creationId xmlns:a16="http://schemas.microsoft.com/office/drawing/2014/main" id="{DB335FC9-4452-30D9-5328-5FE73928D3A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3959947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9B77C8-01C5-5E38-658D-2AE5D65A43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46DC21A-A4C7-33CE-6F76-1C6F217D3B4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3E2D59C-8C0D-0480-B8BE-D3896DCC130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6A00B5D-58CF-028F-4004-A538B42360E2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구조 확인 기능 제공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09DA9B9-2FF1-0E5C-1426-EF4173E73E6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6A3E682-4416-4EF8-DC62-71DBCFF8A93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 확인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카탈로그를 통합하고 데이터의 메타 구조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 구성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이용조건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접근방법을 확인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(DR-014)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하여 일관된 탐색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상세조회를 제공하며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마크다운 전환 제공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(FR-025)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 제공 기반을 정비함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5224A55-778E-D5A1-0E99-4A4E795C77D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99FB359-9E37-9905-F2D7-992038BBA96F}"/>
              </a:ext>
            </a:extLst>
          </p:cNvPr>
          <p:cNvSpPr txBox="1"/>
          <p:nvPr/>
        </p:nvSpPr>
        <p:spPr>
          <a:xfrm>
            <a:off x="335012" y="2371141"/>
            <a:ext cx="40998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일관된 탐색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상세조회를 제공 및 마크다운 전환 제공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D3ACB0A-4FA1-AE34-C82A-D782D8ED2B0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FR-025, FR-014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DB9F2C8E-0010-3CBA-AF50-74C5E1B626EB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B17D13-6690-B9C2-CCBC-01D2B5B479BF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확인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제공에 앞서 데이터의 구조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제공조건을 확인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이용자가 데이터를 정확히 이해하고 적절한 방식으로 접근할 수 있도록 기반을 정비함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(FR-025·DR-014)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카탈로그를 통합 대상으로 구성하여 일관된 탐색 경험 제공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확인된 구조는 미리보기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(2.6.2)·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(2.6.3)·API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기반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A2F03BD-D12B-6234-DE06-5E85D7F3D8E8}"/>
              </a:ext>
            </a:extLst>
          </p:cNvPr>
          <p:cNvSpPr/>
          <p:nvPr/>
        </p:nvSpPr>
        <p:spPr>
          <a:xfrm>
            <a:off x="31589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4F414AA6-3A36-3975-018A-442F32263D7C}"/>
              </a:ext>
            </a:extLst>
          </p:cNvPr>
          <p:cNvSpPr/>
          <p:nvPr/>
        </p:nvSpPr>
        <p:spPr>
          <a:xfrm>
            <a:off x="315897" y="844157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카탈로그 통합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B419B2B-34FE-6E4D-AF05-2576DE1C5E24}"/>
              </a:ext>
            </a:extLst>
          </p:cNvPr>
          <p:cNvSpPr/>
          <p:nvPr/>
        </p:nvSpPr>
        <p:spPr>
          <a:xfrm>
            <a:off x="189650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581DC515-1C28-88FF-9552-272B1D512468}"/>
              </a:ext>
            </a:extLst>
          </p:cNvPr>
          <p:cNvSpPr/>
          <p:nvPr/>
        </p:nvSpPr>
        <p:spPr>
          <a:xfrm>
            <a:off x="1896507" y="844157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구조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 확인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49996CB0-E14F-7E10-3043-FDDF84551D0E}"/>
              </a:ext>
            </a:extLst>
          </p:cNvPr>
          <p:cNvSpPr/>
          <p:nvPr/>
        </p:nvSpPr>
        <p:spPr>
          <a:xfrm>
            <a:off x="347711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0A01AA09-7D11-3FBC-A4E4-546E02CDA325}"/>
              </a:ext>
            </a:extLst>
          </p:cNvPr>
          <p:cNvSpPr/>
          <p:nvPr/>
        </p:nvSpPr>
        <p:spPr>
          <a:xfrm>
            <a:off x="3477117" y="844157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상세조회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제공표시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69739AC8-CFC0-CEF5-6446-52B4C6814918}"/>
              </a:ext>
            </a:extLst>
          </p:cNvPr>
          <p:cNvSpPr/>
          <p:nvPr/>
        </p:nvSpPr>
        <p:spPr>
          <a:xfrm>
            <a:off x="505772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AB3B2B53-AB12-6ACB-CE09-F3FC07D52294}"/>
              </a:ext>
            </a:extLst>
          </p:cNvPr>
          <p:cNvSpPr/>
          <p:nvPr/>
        </p:nvSpPr>
        <p:spPr>
          <a:xfrm>
            <a:off x="5057727" y="844157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마크다운 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05135048-AD32-7287-A230-2B2097BC41A3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C4291FB7-93F0-223A-4105-5CE610D5B15B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359899F5-EF0E-800A-5DEA-8FDFD1668741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3A213219-FBEB-1945-B5AB-A45FF365FAC5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807124F4-5995-2241-5A62-C28EA7956FD1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ABE00CDA-9C69-4A76-590D-D69DD7F2D53F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7094C96-0109-FF57-E84A-6AE43C5AC5C0}"/>
              </a:ext>
            </a:extLst>
          </p:cNvPr>
          <p:cNvSpPr txBox="1"/>
          <p:nvPr/>
        </p:nvSpPr>
        <p:spPr>
          <a:xfrm>
            <a:off x="34285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내외부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카탈로그 통합 검색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72A45F9-7112-DA58-AB9E-925E5137192C}"/>
              </a:ext>
            </a:extLst>
          </p:cNvPr>
          <p:cNvSpPr txBox="1"/>
          <p:nvPr/>
        </p:nvSpPr>
        <p:spPr>
          <a:xfrm>
            <a:off x="1923466" y="871039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접근 확인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B8CF5D3-C1D2-4FC0-F769-E42F7E275E7E}"/>
              </a:ext>
            </a:extLst>
          </p:cNvPr>
          <p:cNvSpPr txBox="1"/>
          <p:nvPr/>
        </p:nvSpPr>
        <p:spPr>
          <a:xfrm>
            <a:off x="350407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상세 통합 제공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제공형태 표시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62B03D9-08B3-E081-3D1A-85F8325F0414}"/>
              </a:ext>
            </a:extLst>
          </p:cNvPr>
          <p:cNvSpPr txBox="1"/>
          <p:nvPr/>
        </p:nvSpPr>
        <p:spPr>
          <a:xfrm>
            <a:off x="5084686" y="871039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설명 마크다운 전환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DE9B7E8-3654-AB67-CF99-425EA25515C5}"/>
              </a:ext>
            </a:extLst>
          </p:cNvPr>
          <p:cNvSpPr/>
          <p:nvPr/>
        </p:nvSpPr>
        <p:spPr>
          <a:xfrm>
            <a:off x="316309" y="4555950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메타정보 확인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데이터셋의 메타 구조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 구성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이용조건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접근방법을 확인함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 구조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출처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파일세트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포맷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수량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이용조건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품질등급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접근방법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직접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신청 구분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948C93C-0F23-7D6C-E5E8-DE01F51ED8CB}"/>
              </a:ext>
            </a:extLst>
          </p:cNvPr>
          <p:cNvSpPr/>
          <p:nvPr/>
        </p:nvSpPr>
        <p:spPr>
          <a:xfrm>
            <a:off x="316309" y="750489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카탈로그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 확인서로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미리보기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b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</a:b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414EB50-04BB-A704-8B21-90F11FAC1706}"/>
              </a:ext>
            </a:extLst>
          </p:cNvPr>
          <p:cNvSpPr/>
          <p:nvPr/>
        </p:nvSpPr>
        <p:spPr>
          <a:xfrm>
            <a:off x="316309" y="3721712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카탈로그 구성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내부 자체 카탈로그와 외부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원윈도우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카탈로그를 통합 검색 대상으로 구성함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 기반 통합검색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결과목록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제공형태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조건검색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패싯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탐색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동의어 사전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분류체계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 표준화로 검색 정합성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941FDB5-A15D-31F1-C467-470C64570EB8}"/>
              </a:ext>
            </a:extLst>
          </p:cNvPr>
          <p:cNvSpPr/>
          <p:nvPr/>
        </p:nvSpPr>
        <p:spPr>
          <a:xfrm>
            <a:off x="316309" y="540584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카탈로그 상세조회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설명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구축배경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제공기관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이용조건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접근방법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관련 링크를 상세 화면에서 통합 제공함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구분에 따라 직접 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이동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신청 필요 여부를 명확히 표시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유사 데이터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관련 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연관 데이터 추천 영역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36B68E5A-6E9B-ED43-8950-9C51AFB054EC}"/>
              </a:ext>
            </a:extLst>
          </p:cNvPr>
          <p:cNvSpPr/>
          <p:nvPr/>
        </p:nvSpPr>
        <p:spPr>
          <a:xfrm>
            <a:off x="316309" y="6461679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마크다운 전환 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AI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허브 및 신규 학습데이터의 메타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설명정보를 마크다운 형태로 전환하여 제공함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 친화 형식으로 제공하여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 연계 기반 마련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200;p73">
            <a:extLst>
              <a:ext uri="{FF2B5EF4-FFF2-40B4-BE49-F238E27FC236}">
                <a16:creationId xmlns:a16="http://schemas.microsoft.com/office/drawing/2014/main" id="{96CC20D0-32B4-C14B-9D11-3E35C9933A38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6146931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063910-7FD0-4839-266A-BE4EA5DDF6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740931A-7F36-3172-7EF8-F504166E8E2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6711F2C-6699-9C6D-601B-84B4D499EFF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C99CD8A-0F59-1763-B1CD-AB41FC87F40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구조 확인 기능 제공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C5277C-0EB9-B85D-9B6B-F608BB6333B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6348675-55EA-DA0A-3428-1C0C69F5413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구조 확인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카탈로그 구성부터 데이터 구조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 확인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상세조회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제공형태 표시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마크다운 제공까지의 흐름을 제시하여 데이터 구조 확인의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F5F9070-A4F2-62DA-B8F9-687E60BED0B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E38F816-49B8-9077-2E28-D9A4F0B46DE5}"/>
              </a:ext>
            </a:extLst>
          </p:cNvPr>
          <p:cNvSpPr txBox="1"/>
          <p:nvPr/>
        </p:nvSpPr>
        <p:spPr>
          <a:xfrm>
            <a:off x="335012" y="2371141"/>
            <a:ext cx="40998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 확인 및 카탈로그 구성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2C468C-223B-FDE9-8777-2FC84C26237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FR-025, FR-014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243D97D2-11ED-3D94-814A-898FBB80F1A9}"/>
              </a:ext>
            </a:extLst>
          </p:cNvPr>
          <p:cNvSpPr/>
          <p:nvPr/>
        </p:nvSpPr>
        <p:spPr bwMode="gray">
          <a:xfrm>
            <a:off x="258881" y="2666394"/>
            <a:ext cx="6331426" cy="415809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F9684A6-FDAA-EADC-689E-C94BF7EAA6C4}"/>
              </a:ext>
            </a:extLst>
          </p:cNvPr>
          <p:cNvSpPr/>
          <p:nvPr/>
        </p:nvSpPr>
        <p:spPr>
          <a:xfrm>
            <a:off x="316309" y="6361153"/>
            <a:ext cx="6286697" cy="43434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동의어 사전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분류체계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 표준화로 검색 정합성 확보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패싯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탐색 제공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(FR-025)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확인된 데이터 구조는 미리보기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(2.6.3)·API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기반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60C4A29E-8A71-0F5D-1F8D-6C0C60280752}"/>
              </a:ext>
            </a:extLst>
          </p:cNvPr>
          <p:cNvCxnSpPr>
            <a:cxnSpLocks/>
          </p:cNvCxnSpPr>
          <p:nvPr/>
        </p:nvCxnSpPr>
        <p:spPr>
          <a:xfrm>
            <a:off x="312925" y="695461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5DA32D85-FE3F-F5C8-6679-404D42E3B0EE}"/>
              </a:ext>
            </a:extLst>
          </p:cNvPr>
          <p:cNvSpPr txBox="1"/>
          <p:nvPr/>
        </p:nvSpPr>
        <p:spPr>
          <a:xfrm>
            <a:off x="335011" y="692853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 확인 항목</a:t>
            </a:r>
          </a:p>
        </p:txBody>
      </p:sp>
      <p:sp>
        <p:nvSpPr>
          <p:cNvPr id="67" name="모서리가 둥근 직사각형 222">
            <a:extLst>
              <a:ext uri="{FF2B5EF4-FFF2-40B4-BE49-F238E27FC236}">
                <a16:creationId xmlns:a16="http://schemas.microsoft.com/office/drawing/2014/main" id="{07B4C99D-7CC3-08CE-0B0D-9486DF1783A2}"/>
              </a:ext>
            </a:extLst>
          </p:cNvPr>
          <p:cNvSpPr/>
          <p:nvPr/>
        </p:nvSpPr>
        <p:spPr bwMode="gray">
          <a:xfrm>
            <a:off x="258881" y="7242727"/>
            <a:ext cx="6331426" cy="2433865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21AE7A6-C740-1216-676D-B112AD653C78}"/>
              </a:ext>
            </a:extLst>
          </p:cNvPr>
          <p:cNvSpPr/>
          <p:nvPr/>
        </p:nvSpPr>
        <p:spPr>
          <a:xfrm>
            <a:off x="316309" y="911611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내외부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카탈로그를 통합하고 데이터 구조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제공조건을 사전 확인함으로써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이용자에게 일관된 탐색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상세조회를 제공하고 미리보기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제공의 정확한 기반을 마련함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69" name="Table 0">
            <a:extLst>
              <a:ext uri="{FF2B5EF4-FFF2-40B4-BE49-F238E27FC236}">
                <a16:creationId xmlns:a16="http://schemas.microsoft.com/office/drawing/2014/main" id="{F47093CA-9D38-30CA-F591-2BAC8F903855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310571"/>
          <a:ext cx="6154318" cy="1768351"/>
        </p:xfrm>
        <a:graphic>
          <a:graphicData uri="http://schemas.openxmlformats.org/drawingml/2006/table">
            <a:tbl>
              <a:tblPr/>
              <a:tblGrid>
                <a:gridCol w="116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60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3261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25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영역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항목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 구조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식별자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표기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DR-014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1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구성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파일세트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포맷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 방식 결정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품질등급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 안내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 제어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접근방법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직접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 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형태 표시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마크다운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설명 전환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에이전트 친화 제공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FR-025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149473"/>
                  </a:ext>
                </a:extLst>
              </a:tr>
            </a:tbl>
          </a:graphicData>
        </a:graphic>
      </p:graphicFrame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C5F85A0A-7AEF-2220-C5A8-58EF649D7EAF}"/>
              </a:ext>
            </a:extLst>
          </p:cNvPr>
          <p:cNvSpPr/>
          <p:nvPr/>
        </p:nvSpPr>
        <p:spPr>
          <a:xfrm>
            <a:off x="312925" y="2729892"/>
            <a:ext cx="6221225" cy="1237672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1" name="사각형: 둥근 위쪽 모서리 70">
            <a:extLst>
              <a:ext uri="{FF2B5EF4-FFF2-40B4-BE49-F238E27FC236}">
                <a16:creationId xmlns:a16="http://schemas.microsoft.com/office/drawing/2014/main" id="{006BD9E9-8A36-CB00-C02C-7D9FAEBACDE1}"/>
              </a:ext>
            </a:extLst>
          </p:cNvPr>
          <p:cNvSpPr/>
          <p:nvPr/>
        </p:nvSpPr>
        <p:spPr>
          <a:xfrm>
            <a:off x="306574" y="2708301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카탈로그 구성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51FB18-B95F-BAB8-0608-CE092C6531E7}"/>
              </a:ext>
            </a:extLst>
          </p:cNvPr>
          <p:cNvSpPr/>
          <p:nvPr/>
        </p:nvSpPr>
        <p:spPr>
          <a:xfrm>
            <a:off x="498656" y="3008555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 자체 카탈로그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데이터셋</a:t>
            </a:r>
            <a:endParaRPr kumimoji="0" lang="en-US" altLang="ko-KR" sz="900" b="0" i="0" u="none" strike="noStrike" kern="1200" cap="none" spc="-5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24104D88-B101-439B-7789-FF9DDB4D9789}"/>
              </a:ext>
            </a:extLst>
          </p:cNvPr>
          <p:cNvSpPr/>
          <p:nvPr/>
        </p:nvSpPr>
        <p:spPr>
          <a:xfrm>
            <a:off x="3778310" y="3205268"/>
            <a:ext cx="2569850" cy="416344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검색 대상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키워드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패싯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1E4C57C3-8457-04CF-FBE8-908A156423DF}"/>
              </a:ext>
            </a:extLst>
          </p:cNvPr>
          <p:cNvCxnSpPr>
            <a:cxnSpLocks/>
            <a:stCxn id="72" idx="3"/>
            <a:endCxn id="73" idx="1"/>
          </p:cNvCxnSpPr>
          <p:nvPr/>
        </p:nvCxnSpPr>
        <p:spPr>
          <a:xfrm>
            <a:off x="3068506" y="3216727"/>
            <a:ext cx="709804" cy="196713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0A44EAC2-E1AB-DB8B-59D8-776AFB5DED01}"/>
              </a:ext>
            </a:extLst>
          </p:cNvPr>
          <p:cNvSpPr/>
          <p:nvPr/>
        </p:nvSpPr>
        <p:spPr>
          <a:xfrm>
            <a:off x="312925" y="4019483"/>
            <a:ext cx="6221225" cy="1006679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6" name="사각형: 둥근 위쪽 모서리 75">
            <a:extLst>
              <a:ext uri="{FF2B5EF4-FFF2-40B4-BE49-F238E27FC236}">
                <a16:creationId xmlns:a16="http://schemas.microsoft.com/office/drawing/2014/main" id="{D6FA81A8-C27B-104A-C155-328BF5587706}"/>
              </a:ext>
            </a:extLst>
          </p:cNvPr>
          <p:cNvSpPr/>
          <p:nvPr/>
        </p:nvSpPr>
        <p:spPr>
          <a:xfrm>
            <a:off x="306574" y="3998382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메타정보 확인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(DR-014)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92C69F3B-7234-E3F1-4A7E-9BF31FF1533C}"/>
              </a:ext>
            </a:extLst>
          </p:cNvPr>
          <p:cNvSpPr/>
          <p:nvPr/>
        </p:nvSpPr>
        <p:spPr>
          <a:xfrm>
            <a:off x="431064" y="4326512"/>
            <a:ext cx="1365986" cy="597271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 구조 확인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식별자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유형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출처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145D2F25-4EB7-51B4-AAF9-1986F6E0027E}"/>
              </a:ext>
            </a:extLst>
          </p:cNvPr>
          <p:cNvSpPr/>
          <p:nvPr/>
        </p:nvSpPr>
        <p:spPr>
          <a:xfrm>
            <a:off x="5044637" y="4326512"/>
            <a:ext cx="1365986" cy="597271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접근방법 확인</a:t>
            </a:r>
            <a:endParaRPr lang="en-US" altLang="ko-KR" sz="12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직접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DC6D35AD-19B8-2506-1391-49758140D319}"/>
              </a:ext>
            </a:extLst>
          </p:cNvPr>
          <p:cNvSpPr/>
          <p:nvPr/>
        </p:nvSpPr>
        <p:spPr>
          <a:xfrm>
            <a:off x="1969233" y="4326512"/>
            <a:ext cx="1365986" cy="597271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구성 확인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파일세트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포맷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수량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B824930C-9C45-9F2E-B70D-4A5FD042E9E8}"/>
              </a:ext>
            </a:extLst>
          </p:cNvPr>
          <p:cNvSpPr/>
          <p:nvPr/>
        </p:nvSpPr>
        <p:spPr>
          <a:xfrm>
            <a:off x="3507402" y="4326512"/>
            <a:ext cx="1365986" cy="597271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이용조건 확인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품질등급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라이선스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27E1779C-B4DE-69C8-C6A9-4360FF83231E}"/>
              </a:ext>
            </a:extLst>
          </p:cNvPr>
          <p:cNvCxnSpPr>
            <a:stCxn id="77" idx="3"/>
            <a:endCxn id="79" idx="1"/>
          </p:cNvCxnSpPr>
          <p:nvPr/>
        </p:nvCxnSpPr>
        <p:spPr>
          <a:xfrm>
            <a:off x="1797050" y="4625148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CC876760-AB61-57AE-3FB7-E3E23AAC29B4}"/>
              </a:ext>
            </a:extLst>
          </p:cNvPr>
          <p:cNvCxnSpPr>
            <a:stCxn id="79" idx="3"/>
            <a:endCxn id="80" idx="1"/>
          </p:cNvCxnSpPr>
          <p:nvPr/>
        </p:nvCxnSpPr>
        <p:spPr>
          <a:xfrm>
            <a:off x="3335219" y="4625148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화살표 연결선 82">
            <a:extLst>
              <a:ext uri="{FF2B5EF4-FFF2-40B4-BE49-F238E27FC236}">
                <a16:creationId xmlns:a16="http://schemas.microsoft.com/office/drawing/2014/main" id="{6952AB36-8F80-B8CE-D833-C15FE6665860}"/>
              </a:ext>
            </a:extLst>
          </p:cNvPr>
          <p:cNvCxnSpPr>
            <a:stCxn id="80" idx="3"/>
            <a:endCxn id="78" idx="1"/>
          </p:cNvCxnSpPr>
          <p:nvPr/>
        </p:nvCxnSpPr>
        <p:spPr>
          <a:xfrm>
            <a:off x="4873388" y="4625148"/>
            <a:ext cx="17124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962D724-873E-1F5F-CF1D-351822287955}"/>
              </a:ext>
            </a:extLst>
          </p:cNvPr>
          <p:cNvSpPr/>
          <p:nvPr/>
        </p:nvSpPr>
        <p:spPr>
          <a:xfrm>
            <a:off x="312925" y="5091209"/>
            <a:ext cx="6221225" cy="1201958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5" name="사각형: 둥근 위쪽 모서리 84">
            <a:extLst>
              <a:ext uri="{FF2B5EF4-FFF2-40B4-BE49-F238E27FC236}">
                <a16:creationId xmlns:a16="http://schemas.microsoft.com/office/drawing/2014/main" id="{A454245F-5C25-9E43-0B75-BFA2E0EAD922}"/>
              </a:ext>
            </a:extLst>
          </p:cNvPr>
          <p:cNvSpPr/>
          <p:nvPr/>
        </p:nvSpPr>
        <p:spPr>
          <a:xfrm>
            <a:off x="306574" y="5069618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상세조회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형태 표시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(FR-025)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8D59B351-2FD6-F2DC-D596-4843D5DBCEDA}"/>
              </a:ext>
            </a:extLst>
          </p:cNvPr>
          <p:cNvSpPr/>
          <p:nvPr/>
        </p:nvSpPr>
        <p:spPr>
          <a:xfrm>
            <a:off x="498656" y="5369872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 상세조회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설명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이용조건</a:t>
            </a:r>
            <a:r>
              <a:rPr kumimoji="0" lang="en-US" altLang="ko-KR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링크</a:t>
            </a:r>
            <a:endParaRPr kumimoji="0" lang="en-US" altLang="ko-KR" sz="900" b="0" i="0" u="none" strike="noStrike" kern="1200" cap="none" spc="-5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962E20F-5F14-18EC-69C7-BB824BC57301}"/>
              </a:ext>
            </a:extLst>
          </p:cNvPr>
          <p:cNvSpPr/>
          <p:nvPr/>
        </p:nvSpPr>
        <p:spPr>
          <a:xfrm>
            <a:off x="3778310" y="5369872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형태 명확 표시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직접 다운로드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이동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 필요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B90ED12B-3B72-2F7C-D7CA-71EFC1CB3934}"/>
              </a:ext>
            </a:extLst>
          </p:cNvPr>
          <p:cNvCxnSpPr>
            <a:cxnSpLocks/>
            <a:stCxn id="86" idx="3"/>
            <a:endCxn id="87" idx="1"/>
          </p:cNvCxnSpPr>
          <p:nvPr/>
        </p:nvCxnSpPr>
        <p:spPr>
          <a:xfrm>
            <a:off x="3068506" y="5578044"/>
            <a:ext cx="7098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B5E47C60-C0BB-45EF-7A64-210FFE6541D2}"/>
              </a:ext>
            </a:extLst>
          </p:cNvPr>
          <p:cNvSpPr/>
          <p:nvPr/>
        </p:nvSpPr>
        <p:spPr>
          <a:xfrm>
            <a:off x="498656" y="3458579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원윈도우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카탈로그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데이터셋</a:t>
            </a:r>
            <a:endParaRPr kumimoji="0" lang="en-US" altLang="ko-KR" sz="900" b="0" i="0" u="none" strike="noStrike" kern="1200" cap="none" spc="-5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33E3F086-AFAD-C35E-7F88-94942CD2EA87}"/>
              </a:ext>
            </a:extLst>
          </p:cNvPr>
          <p:cNvCxnSpPr>
            <a:cxnSpLocks/>
            <a:stCxn id="93" idx="3"/>
            <a:endCxn id="73" idx="1"/>
          </p:cNvCxnSpPr>
          <p:nvPr/>
        </p:nvCxnSpPr>
        <p:spPr>
          <a:xfrm flipV="1">
            <a:off x="3068506" y="3413440"/>
            <a:ext cx="709804" cy="253311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164B0589-7E08-46FA-C367-AF167E69A331}"/>
              </a:ext>
            </a:extLst>
          </p:cNvPr>
          <p:cNvSpPr/>
          <p:nvPr/>
        </p:nvSpPr>
        <p:spPr>
          <a:xfrm>
            <a:off x="498656" y="5835402"/>
            <a:ext cx="5849504" cy="416344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마크다운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(Markdown)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전환 제공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설명정보를 기계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에이전트 친화 형식으로 제공 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(FR-025)</a:t>
            </a:r>
          </a:p>
        </p:txBody>
      </p:sp>
      <p:sp>
        <p:nvSpPr>
          <p:cNvPr id="9" name="Google Shape;4200;p73">
            <a:extLst>
              <a:ext uri="{FF2B5EF4-FFF2-40B4-BE49-F238E27FC236}">
                <a16:creationId xmlns:a16="http://schemas.microsoft.com/office/drawing/2014/main" id="{65DDDE6D-3F59-E109-1676-BA33FF2629AC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7532437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4F24BE-2C59-BBDD-AAD8-F6FE031CBE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8DF353A-DF6E-7F24-BBBF-250F62E8D4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62D56F7-0B6D-F1DA-2317-C2D8F5693FF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6E0A71-6B1D-92EC-4B3F-E89CB1A5631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미리보기 및 부분 제공 구현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686AA80-F4D4-C190-88AA-DE44A82B2A4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88B4D44-2D68-5E00-6F71-22C55441908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 확인 제공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전체 다운로드 이전에 데이터 미리보기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샘플파일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(FR-014)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 부분데이터 추출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부분 전송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(FR-027)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제공하여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이용자가 데이터 적합성을 확인하고 불필요한 대용량 전송을 절감하도록 지원함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96E1858-D2B7-34B5-311B-14B8CF9B59D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2138B18-6B07-BC78-21CF-AC81E91DD878}"/>
              </a:ext>
            </a:extLst>
          </p:cNvPr>
          <p:cNvSpPr txBox="1"/>
          <p:nvPr/>
        </p:nvSpPr>
        <p:spPr>
          <a:xfrm>
            <a:off x="335011" y="2371141"/>
            <a:ext cx="40464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미리보기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샘플파일과 부분데이터 추출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부분 전송 제공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76C0E45-8A64-EF5B-17CA-6B78DCE6B41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FR-014, FR-027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69E0D1B0-4452-8157-71D1-5C1289C7F89F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6C4BCB1-24F9-4A05-8671-431A9F7A7DC9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목적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이용자가 전체 데이터를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내려받기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전에 데이터의 구조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품질을 확인할 수 있도록 미리보기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 제공을 지원하여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선택 정확도를 높이고 전송 자원을 절감함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(FR-014·FR-027)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받아본 뒤 확인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 아닌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확인 후 선택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구조로 이용자 편의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효율 동시 확보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 확인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(2.6.1)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에서 파악한 구조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메타를 미리보기로 시각화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FF238E8-A432-0F2B-ADCB-FB84EB587E8B}"/>
              </a:ext>
            </a:extLst>
          </p:cNvPr>
          <p:cNvSpPr/>
          <p:nvPr/>
        </p:nvSpPr>
        <p:spPr>
          <a:xfrm>
            <a:off x="31589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B149C39D-B4EE-8EAF-86B1-D119C077D7A9}"/>
              </a:ext>
            </a:extLst>
          </p:cNvPr>
          <p:cNvSpPr/>
          <p:nvPr/>
        </p:nvSpPr>
        <p:spPr>
          <a:xfrm>
            <a:off x="315897" y="844157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미리보기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8E44618-722A-4AC8-C569-C2D4F1E04161}"/>
              </a:ext>
            </a:extLst>
          </p:cNvPr>
          <p:cNvSpPr/>
          <p:nvPr/>
        </p:nvSpPr>
        <p:spPr>
          <a:xfrm>
            <a:off x="189650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90C3DEEF-B3B5-2781-298A-9B51559BC8AD}"/>
              </a:ext>
            </a:extLst>
          </p:cNvPr>
          <p:cNvSpPr/>
          <p:nvPr/>
        </p:nvSpPr>
        <p:spPr>
          <a:xfrm>
            <a:off x="1896507" y="844157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샘플 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E804F6C5-C503-EB42-3FF4-8BA19F7DE8DE}"/>
              </a:ext>
            </a:extLst>
          </p:cNvPr>
          <p:cNvSpPr/>
          <p:nvPr/>
        </p:nvSpPr>
        <p:spPr>
          <a:xfrm>
            <a:off x="347711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AABC4C4F-94FB-8B92-6152-C896AD618443}"/>
              </a:ext>
            </a:extLst>
          </p:cNvPr>
          <p:cNvSpPr/>
          <p:nvPr/>
        </p:nvSpPr>
        <p:spPr>
          <a:xfrm>
            <a:off x="3477117" y="844157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부분 추출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3245B9EB-8084-19F1-3701-196763B48777}"/>
              </a:ext>
            </a:extLst>
          </p:cNvPr>
          <p:cNvSpPr/>
          <p:nvPr/>
        </p:nvSpPr>
        <p:spPr>
          <a:xfrm>
            <a:off x="505772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5389F95C-77B1-E274-F542-E7028A549DE7}"/>
              </a:ext>
            </a:extLst>
          </p:cNvPr>
          <p:cNvSpPr/>
          <p:nvPr/>
        </p:nvSpPr>
        <p:spPr>
          <a:xfrm>
            <a:off x="5057727" y="844157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부분 전송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2356A146-2C7D-D2BE-48CD-41A9E230ECAC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D424263B-EC28-C25B-4441-2167804CE907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A38FAA02-50E2-6BF8-2120-528906740D15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9AB81BC4-0D03-4A03-09B3-C78C4807A3AF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B6F2B9CF-44C8-3588-CEE5-25579E7F9842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3781D229-FB9E-4A6C-D250-C0A989273472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2E88D23-75B9-246C-0D6F-FF1C6C90BBED}"/>
              </a:ext>
            </a:extLst>
          </p:cNvPr>
          <p:cNvSpPr txBox="1"/>
          <p:nvPr/>
        </p:nvSpPr>
        <p:spPr>
          <a:xfrm>
            <a:off x="34285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레코드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 미리보기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DA8D78A-11E1-F3AB-1E6C-A2A16561340B}"/>
              </a:ext>
            </a:extLst>
          </p:cNvPr>
          <p:cNvSpPr txBox="1"/>
          <p:nvPr/>
        </p:nvSpPr>
        <p:spPr>
          <a:xfrm>
            <a:off x="192346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대표 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샘플셋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샘플 다운로드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308CBAF-D9CC-27DF-572D-9F8458E3657A}"/>
              </a:ext>
            </a:extLst>
          </p:cNvPr>
          <p:cNvSpPr txBox="1"/>
          <p:nvPr/>
        </p:nvSpPr>
        <p:spPr>
          <a:xfrm>
            <a:off x="3504076" y="871039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범위 지정 추출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·API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E8EEB8B-2AC0-8D5D-694E-108C41F81E0C}"/>
              </a:ext>
            </a:extLst>
          </p:cNvPr>
          <p:cNvSpPr txBox="1"/>
          <p:nvPr/>
        </p:nvSpPr>
        <p:spPr>
          <a:xfrm>
            <a:off x="508468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이어받기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필요 부분만 전송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7ADD7D9-064C-5C28-CFC8-611CD9E1A679}"/>
              </a:ext>
            </a:extLst>
          </p:cNvPr>
          <p:cNvSpPr/>
          <p:nvPr/>
        </p:nvSpPr>
        <p:spPr>
          <a:xfrm>
            <a:off x="316309" y="4555950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샘플파일 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대표 샘플셋을 구성하여 샘플파일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 다운로드 기능을 제공함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 구조를 대표하는 샘플을 제공하여 이용자가 형식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품질을 사전 검증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승인형 구분에 따라 샘플 제공 범위를 차등 적용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17E3852-2D4A-20FF-6301-2D00D750101D}"/>
              </a:ext>
            </a:extLst>
          </p:cNvPr>
          <p:cNvSpPr/>
          <p:nvPr/>
        </p:nvSpPr>
        <p:spPr>
          <a:xfrm>
            <a:off x="316309" y="750489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미리보기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 제공 정의서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부분제공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명세로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구조 확인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(2.6.3)·API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C98F82-6731-A992-8161-C635B86135E1}"/>
              </a:ext>
            </a:extLst>
          </p:cNvPr>
          <p:cNvSpPr/>
          <p:nvPr/>
        </p:nvSpPr>
        <p:spPr>
          <a:xfrm>
            <a:off x="316309" y="3721712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미리보기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상세 화면에서 일부 레코드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이미지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텍스트와 구조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필드를 미리보기로 제공함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유형별 미리보기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텍스트 일부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이미지 썸네일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 레코드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어노테이션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예시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미리보기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항목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 요약을 함께 제시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018C4F7-7583-91B9-5C5A-DD6CF5B99E30}"/>
              </a:ext>
            </a:extLst>
          </p:cNvPr>
          <p:cNvSpPr/>
          <p:nvPr/>
        </p:nvSpPr>
        <p:spPr>
          <a:xfrm>
            <a:off x="316309" y="540584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 제공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— API·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 전송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범위를 지정하여 부분데이터를 추출하고 필요한 부분만 전송함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(FR-014·FR-027)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부분데이터 추출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범위 지정 추출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 조회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조건검색 조회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 전송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전송 상태 확인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FR-027)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으로 필요 부분만 효율 전송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DFEEEDF-EC47-E941-D9A3-A07C6268A342}"/>
              </a:ext>
            </a:extLst>
          </p:cNvPr>
          <p:cNvSpPr/>
          <p:nvPr/>
        </p:nvSpPr>
        <p:spPr>
          <a:xfrm>
            <a:off x="316309" y="6461679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 효과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 다운로드 전 데이터 적합성을 확인하여 불필요한 대용량 전송을 절감하고 선택 정확도를 높임</a:t>
            </a:r>
            <a:endParaRPr kumimoji="1" lang="en-US" altLang="ko-KR" sz="12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내 서비스 개시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(3.9PB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환경에서 전송 자원 절감 효과 큼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200;p73">
            <a:extLst>
              <a:ext uri="{FF2B5EF4-FFF2-40B4-BE49-F238E27FC236}">
                <a16:creationId xmlns:a16="http://schemas.microsoft.com/office/drawing/2014/main" id="{0A7BCD95-163D-D806-AD9D-309EBCA086F8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3855198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1986B1-3DD5-AA0F-E268-BF90C0135D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B5A2B94-85B5-07ED-5795-285924FF1B3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E294898-FA1C-E021-4988-01E1EC527DC9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25A87E7-A3CB-8EA7-68E7-F655E199FCF2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대용량 다운로드 구현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4772B72-4D4F-BDA5-2016-818214CC2CB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6B65698-56D3-29BE-30DA-81946134F5A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 대체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자체 구현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 전송솔루션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(INNORIX)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종속을 해소하기 위해 오픈소스 기반 대용량 전송을 자체 구현하여 분할 다운로드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이어받기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재시도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무결성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(FR-027)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제공하며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오픈소스 라이선스 컴플라이언스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(DR-023)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관리함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295C7125-2EDC-D04D-242D-464CFAB3E96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6A6A8E6-D116-123B-AFE7-B52170BDC5E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오픈소스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전송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자체구현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10861-4907-3AAE-965C-91FF2766579B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FR-027, DR-023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B851E57E-8390-E4BA-BD83-7CBEFE0534A8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5B5C0EF-3181-2ECD-A841-0C998CD4581A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구현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학습데이터를 이용자 단말에 상용 에이전트 설치 없이 안정적으로 제공하기 위해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웹 표준 기반 오픈소스 대용량 전송을 자체 구현하여 상용 종속과 이용자 설치 부담을 근본 해소함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(FR-027·COR-001)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INNORIX EX Agent(OS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 설치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 실패 시 재설치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구조적 제약 제거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1.2.2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·1.4.4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종속 배제 원칙의 실제 구현 지점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22D5D1B-428D-CBA2-E8C5-B1711B9CCE00}"/>
              </a:ext>
            </a:extLst>
          </p:cNvPr>
          <p:cNvSpPr/>
          <p:nvPr/>
        </p:nvSpPr>
        <p:spPr>
          <a:xfrm>
            <a:off x="31589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7428DCA3-1D05-CAF4-F9C6-624C423F02DF}"/>
              </a:ext>
            </a:extLst>
          </p:cNvPr>
          <p:cNvSpPr/>
          <p:nvPr/>
        </p:nvSpPr>
        <p:spPr>
          <a:xfrm>
            <a:off x="315897" y="8441579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오픈소스 채택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AAD7A4A-E4EC-D29E-9230-6DC02EC19245}"/>
              </a:ext>
            </a:extLst>
          </p:cNvPr>
          <p:cNvSpPr/>
          <p:nvPr/>
        </p:nvSpPr>
        <p:spPr>
          <a:xfrm>
            <a:off x="189650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7D9A9529-E36B-B57D-2BCC-73731AD710BA}"/>
              </a:ext>
            </a:extLst>
          </p:cNvPr>
          <p:cNvSpPr/>
          <p:nvPr/>
        </p:nvSpPr>
        <p:spPr>
          <a:xfrm>
            <a:off x="1896507" y="8441579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전송 기능 구현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4A6DF66F-DEBE-EA75-BA36-E3EEBE46C306}"/>
              </a:ext>
            </a:extLst>
          </p:cNvPr>
          <p:cNvSpPr/>
          <p:nvPr/>
        </p:nvSpPr>
        <p:spPr>
          <a:xfrm>
            <a:off x="347711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6C49E72A-89BC-E35B-4BDF-C24D141887DA}"/>
              </a:ext>
            </a:extLst>
          </p:cNvPr>
          <p:cNvSpPr/>
          <p:nvPr/>
        </p:nvSpPr>
        <p:spPr>
          <a:xfrm>
            <a:off x="3477117" y="8441579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접근제어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2BF9362A-B71D-7033-72B3-B5E1937B6389}"/>
              </a:ext>
            </a:extLst>
          </p:cNvPr>
          <p:cNvSpPr/>
          <p:nvPr/>
        </p:nvSpPr>
        <p:spPr>
          <a:xfrm>
            <a:off x="5057727" y="8441578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14B7A27C-5523-F3A7-DAA7-4992317A3429}"/>
              </a:ext>
            </a:extLst>
          </p:cNvPr>
          <p:cNvSpPr/>
          <p:nvPr/>
        </p:nvSpPr>
        <p:spPr>
          <a:xfrm>
            <a:off x="5057727" y="8441579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컴플라이언스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1E1DF7B1-7FA5-0151-6B01-01911F46FE64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59B46A64-E14E-EEEE-A132-E361454ACC56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4ABE0FA1-0522-F6B9-AEE0-1D33290A1284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4BC95E54-A588-3A88-ACAD-20CF044B88AE}"/>
              </a:ext>
            </a:extLst>
          </p:cNvPr>
          <p:cNvSpPr/>
          <p:nvPr/>
        </p:nvSpPr>
        <p:spPr>
          <a:xfrm rot="5400000">
            <a:off x="1801098" y="877198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A25D9AD7-D13F-E572-DE11-43099B3A12AB}"/>
              </a:ext>
            </a:extLst>
          </p:cNvPr>
          <p:cNvSpPr/>
          <p:nvPr/>
        </p:nvSpPr>
        <p:spPr>
          <a:xfrm rot="5400000">
            <a:off x="3386287" y="877198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5C0D6791-F46E-32B0-BED4-BFF803489A4D}"/>
              </a:ext>
            </a:extLst>
          </p:cNvPr>
          <p:cNvSpPr/>
          <p:nvPr/>
        </p:nvSpPr>
        <p:spPr>
          <a:xfrm rot="5400000">
            <a:off x="4966713" y="877198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BE2A34E-B491-C346-17E3-74EFC3227C04}"/>
              </a:ext>
            </a:extLst>
          </p:cNvPr>
          <p:cNvSpPr txBox="1"/>
          <p:nvPr/>
        </p:nvSpPr>
        <p:spPr>
          <a:xfrm>
            <a:off x="34285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ko-KR" sz="900"/>
              <a:t>웹 표준 기반 전송 자체 구현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AAC8977-3FB9-8502-7D39-6C0D4A1E7318}"/>
              </a:ext>
            </a:extLst>
          </p:cNvPr>
          <p:cNvSpPr txBox="1"/>
          <p:nvPr/>
        </p:nvSpPr>
        <p:spPr>
          <a:xfrm>
            <a:off x="192346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분할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이어받기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재시도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무결성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D1D3EA5-8DFB-8F71-798B-1212DDC16DC9}"/>
              </a:ext>
            </a:extLst>
          </p:cNvPr>
          <p:cNvSpPr txBox="1"/>
          <p:nvPr/>
        </p:nvSpPr>
        <p:spPr>
          <a:xfrm>
            <a:off x="3504076" y="8710392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권한 제어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전송 이력 기록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01EF521-E4C7-CF2C-C558-832810615F95}"/>
              </a:ext>
            </a:extLst>
          </p:cNvPr>
          <p:cNvSpPr txBox="1"/>
          <p:nvPr/>
        </p:nvSpPr>
        <p:spPr>
          <a:xfrm>
            <a:off x="5084686" y="8710392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라이선스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취약점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대체 검토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C2E7100-648A-53D7-5426-2EC6B1B5C4E1}"/>
              </a:ext>
            </a:extLst>
          </p:cNvPr>
          <p:cNvSpPr/>
          <p:nvPr/>
        </p:nvSpPr>
        <p:spPr>
          <a:xfrm>
            <a:off x="316309" y="470315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접근제어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 관리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이용조건 기반 접근제어와 전송 이력 관리를 적용함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패키지 단위 제공경로 관리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이용조건 기반 접근제어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 성공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중복요청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부분전송 이력 기록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8FED6C3-AD0B-E8C7-8C5D-2217DDE3D9ED}"/>
              </a:ext>
            </a:extLst>
          </p:cNvPr>
          <p:cNvSpPr/>
          <p:nvPr/>
        </p:nvSpPr>
        <p:spPr>
          <a:xfrm>
            <a:off x="316309" y="750489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 설계서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오픈소스관리대장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컴플라이언스검토서로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구체화하며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미리보기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(2.6.2)·API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프레임워크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(1.4.4)·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기능 전환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(1.2.2)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3FAC681-4B70-0507-D580-D973ED3051B3}"/>
              </a:ext>
            </a:extLst>
          </p:cNvPr>
          <p:cNvSpPr/>
          <p:nvPr/>
        </p:nvSpPr>
        <p:spPr>
          <a:xfrm>
            <a:off x="316309" y="3781961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전송 핵심 기능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분할 다운로드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무결성 검증을 자체 구현함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(FR-027)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분할 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청크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분할 전송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중단 지점 재개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실패 자동 재전송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무결성 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체크섬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확인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압축 패키징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전송 상태 확인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패키지 단위 제공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A8BBC66-E3F5-F5B6-7476-9614B28228A6}"/>
              </a:ext>
            </a:extLst>
          </p:cNvPr>
          <p:cNvSpPr/>
          <p:nvPr/>
        </p:nvSpPr>
        <p:spPr>
          <a:xfrm>
            <a:off x="316309" y="5561700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오픈소스 라이선스 컴플라이언스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채택 오픈소스의 라이선스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취약점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가능성을 검토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(DR-023)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 검토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·Copyleft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계열 별도 검토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취약점 점검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버전관리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대체 가능성 검토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오픈소스관리대장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컴플라이언스검토서로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관리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허용 라이선스 우선 채택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C6099D2-2015-A5A5-BB12-0699545FFFAB}"/>
              </a:ext>
            </a:extLst>
          </p:cNvPr>
          <p:cNvSpPr/>
          <p:nvPr/>
        </p:nvSpPr>
        <p:spPr>
          <a:xfrm>
            <a:off x="316309" y="6461679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스트리밍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분할 전송의 수평 확장 구조를 적용하고 동시 다운로드 부하에 대응함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스케일아웃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 분산으로 동시 대용량 다운로드 처리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(3.9PB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운영 대비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" name="Google Shape;4200;p73">
            <a:extLst>
              <a:ext uri="{FF2B5EF4-FFF2-40B4-BE49-F238E27FC236}">
                <a16:creationId xmlns:a16="http://schemas.microsoft.com/office/drawing/2014/main" id="{912482E0-22DE-3ED0-7DB5-B2AD8F76681B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7373717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8650B8-5456-D9D3-4224-DBBF29CB0C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A1F52D7-DE83-3D5D-49CA-7EA53493E69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886BD7D-32FA-CB5F-3F98-A8C814431C2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969F08-7AD8-976E-71C1-4BEE7BAB2147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대용량 다운로드 구현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FE38EDB-C555-571C-934A-A2E24317243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3036EE9-2FEF-528E-9E4D-677DB952428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 구조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 종속에서 오픈소스 자체 구현으로의 전환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전송 핵심 기능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라이선스 컴플라이언스 관리를 제시하여 대용량 다운로드 제공의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000E2A0-01D8-B62D-2592-2AE4A520BB7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12FAB60-5604-BA3F-F4ED-BB7E83553DB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다운로드 제공 구조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655AB6A-F03B-DFEB-A68A-E77B3E6E807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FR-027, DR-023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DAB57F88-2D99-EA2D-3E1B-1B1559F6E1A7}"/>
              </a:ext>
            </a:extLst>
          </p:cNvPr>
          <p:cNvSpPr/>
          <p:nvPr/>
        </p:nvSpPr>
        <p:spPr bwMode="gray">
          <a:xfrm>
            <a:off x="258881" y="2666394"/>
            <a:ext cx="6331426" cy="418416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43502BD6-8E4C-2023-F13C-629F6E999248}"/>
              </a:ext>
            </a:extLst>
          </p:cNvPr>
          <p:cNvSpPr/>
          <p:nvPr/>
        </p:nvSpPr>
        <p:spPr>
          <a:xfrm>
            <a:off x="312925" y="5027718"/>
            <a:ext cx="6221225" cy="1082744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사각형: 둥근 위쪽 모서리 8">
            <a:extLst>
              <a:ext uri="{FF2B5EF4-FFF2-40B4-BE49-F238E27FC236}">
                <a16:creationId xmlns:a16="http://schemas.microsoft.com/office/drawing/2014/main" id="{CB42155F-A68F-8B20-6BD9-A9F88A1A7205}"/>
              </a:ext>
            </a:extLst>
          </p:cNvPr>
          <p:cNvSpPr/>
          <p:nvPr/>
        </p:nvSpPr>
        <p:spPr>
          <a:xfrm>
            <a:off x="306574" y="5006128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오픈소스 라이선스 컴플라이언스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(DR-023)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BBF09D5-1654-1F33-1A50-0B3B24343BA9}"/>
              </a:ext>
            </a:extLst>
          </p:cNvPr>
          <p:cNvSpPr/>
          <p:nvPr/>
        </p:nvSpPr>
        <p:spPr>
          <a:xfrm>
            <a:off x="431064" y="5392172"/>
            <a:ext cx="1778736" cy="633031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라이선스 검토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허용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·Copyleft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EF0B02D-4E37-1388-427E-2EBFF8CB0195}"/>
              </a:ext>
            </a:extLst>
          </p:cNvPr>
          <p:cNvSpPr/>
          <p:nvPr/>
        </p:nvSpPr>
        <p:spPr>
          <a:xfrm>
            <a:off x="2555428" y="5392172"/>
            <a:ext cx="1778736" cy="633031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취약점 점검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취약점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버전관리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AFAC8EE-E02F-15ED-05F8-4CDC48DE888E}"/>
              </a:ext>
            </a:extLst>
          </p:cNvPr>
          <p:cNvSpPr/>
          <p:nvPr/>
        </p:nvSpPr>
        <p:spPr>
          <a:xfrm>
            <a:off x="4631887" y="5392172"/>
            <a:ext cx="1778736" cy="633031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 가능성 검토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오픈소스관리대장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관리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5E3C886-29A8-1D50-8F65-DBCEB30F1FAA}"/>
              </a:ext>
            </a:extLst>
          </p:cNvPr>
          <p:cNvSpPr/>
          <p:nvPr/>
        </p:nvSpPr>
        <p:spPr>
          <a:xfrm>
            <a:off x="312925" y="3704254"/>
            <a:ext cx="6221225" cy="1178515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사각형: 둥근 위쪽 모서리 18">
            <a:extLst>
              <a:ext uri="{FF2B5EF4-FFF2-40B4-BE49-F238E27FC236}">
                <a16:creationId xmlns:a16="http://schemas.microsoft.com/office/drawing/2014/main" id="{6443DB3C-4148-A722-E4B7-629DCB496A36}"/>
              </a:ext>
            </a:extLst>
          </p:cNvPr>
          <p:cNvSpPr/>
          <p:nvPr/>
        </p:nvSpPr>
        <p:spPr>
          <a:xfrm>
            <a:off x="306574" y="3683154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대용량 전송 핵심 기능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(FR-027)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5664847-BEFA-251B-3F0C-8D21C4AE6ED3}"/>
              </a:ext>
            </a:extLst>
          </p:cNvPr>
          <p:cNvSpPr/>
          <p:nvPr/>
        </p:nvSpPr>
        <p:spPr>
          <a:xfrm>
            <a:off x="431064" y="4028428"/>
            <a:ext cx="854811" cy="68866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분할 다운로드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청크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분할 전송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723F063B-F4AC-C58E-EC28-DECC9795149E}"/>
              </a:ext>
            </a:extLst>
          </p:cNvPr>
          <p:cNvSpPr/>
          <p:nvPr/>
        </p:nvSpPr>
        <p:spPr>
          <a:xfrm>
            <a:off x="1438160" y="4028428"/>
            <a:ext cx="854811" cy="68866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이어받기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청크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분할 전송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EDC75961-E102-6463-BD26-CB45F5834E38}"/>
              </a:ext>
            </a:extLst>
          </p:cNvPr>
          <p:cNvSpPr/>
          <p:nvPr/>
        </p:nvSpPr>
        <p:spPr>
          <a:xfrm>
            <a:off x="2485668" y="4028428"/>
            <a:ext cx="854811" cy="68866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재시도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실패 자동 재전송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62466F65-7379-FD83-EA5A-4F4C94BFDB29}"/>
              </a:ext>
            </a:extLst>
          </p:cNvPr>
          <p:cNvSpPr/>
          <p:nvPr/>
        </p:nvSpPr>
        <p:spPr>
          <a:xfrm>
            <a:off x="3517522" y="4028428"/>
            <a:ext cx="854811" cy="688662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lvl="0" algn="ctr"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무결성 검증</a:t>
            </a:r>
          </a:p>
          <a:p>
            <a:pPr lvl="0" algn="ctr">
              <a:defRPr/>
            </a:pPr>
            <a:endParaRPr lang="ko-KR" altLang="en-US" sz="3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 err="1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체크섬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확인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7BE79CD6-E4F0-36B4-E91A-C637637DBE1C}"/>
              </a:ext>
            </a:extLst>
          </p:cNvPr>
          <p:cNvSpPr/>
          <p:nvPr/>
        </p:nvSpPr>
        <p:spPr>
          <a:xfrm>
            <a:off x="4529529" y="4028428"/>
            <a:ext cx="854811" cy="688662"/>
          </a:xfrm>
          <a:prstGeom prst="roundRect">
            <a:avLst>
              <a:gd name="adj" fmla="val 699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lvl="0" algn="ctr">
              <a:defRPr/>
            </a:pPr>
            <a:r>
              <a:rPr lang="ko-KR" altLang="en-US" sz="1200" spc="-15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압축 패키징</a:t>
            </a:r>
            <a:r>
              <a:rPr lang="en-US" altLang="ko-KR" sz="1200" spc="-15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1200" spc="-15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 spc="-15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전송 상태 확인</a:t>
            </a:r>
          </a:p>
          <a:p>
            <a:pPr lvl="0" algn="ctr">
              <a:defRPr/>
            </a:pPr>
            <a:endParaRPr lang="ko-KR" altLang="en-US" sz="3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lvl="0" algn="ctr">
              <a:defRPr/>
            </a:pP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br>
              <a:rPr lang="en-US" altLang="ko-KR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9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패키지 단위</a:t>
            </a:r>
            <a:endParaRPr lang="en-US" altLang="ko-KR" sz="900"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300E9B3C-DEC3-E60E-74FD-8B14B5132195}"/>
              </a:ext>
            </a:extLst>
          </p:cNvPr>
          <p:cNvSpPr/>
          <p:nvPr/>
        </p:nvSpPr>
        <p:spPr>
          <a:xfrm>
            <a:off x="5555812" y="4028428"/>
            <a:ext cx="854811" cy="688662"/>
          </a:xfrm>
          <a:prstGeom prst="roundRect">
            <a:avLst>
              <a:gd name="adj" fmla="val 699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lvl="0" algn="ctr"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</a:t>
            </a:r>
            <a:b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 기반 접근제어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ACAB277-D0B8-4A9F-1262-5ECEFBEDFC97}"/>
              </a:ext>
            </a:extLst>
          </p:cNvPr>
          <p:cNvSpPr/>
          <p:nvPr/>
        </p:nvSpPr>
        <p:spPr>
          <a:xfrm>
            <a:off x="312925" y="2811098"/>
            <a:ext cx="6221225" cy="746926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사각형: 둥근 위쪽 모서리 66">
            <a:extLst>
              <a:ext uri="{FF2B5EF4-FFF2-40B4-BE49-F238E27FC236}">
                <a16:creationId xmlns:a16="http://schemas.microsoft.com/office/drawing/2014/main" id="{C6329D3D-D859-C471-7E5E-52095447DC18}"/>
              </a:ext>
            </a:extLst>
          </p:cNvPr>
          <p:cNvSpPr/>
          <p:nvPr/>
        </p:nvSpPr>
        <p:spPr>
          <a:xfrm>
            <a:off x="306574" y="2789507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 종속 → 오픈소스 자체 구현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C541DF4C-C58A-672B-EE43-988C1030873B}"/>
              </a:ext>
            </a:extLst>
          </p:cNvPr>
          <p:cNvSpPr/>
          <p:nvPr/>
        </p:nvSpPr>
        <p:spPr>
          <a:xfrm>
            <a:off x="498656" y="3089761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INNORIX EX Agent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법령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규정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매뉴얼 근거법령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규정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매뉴얼 근거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D28B22E-80DA-5CE4-CF91-9A5BC1D725B2}"/>
              </a:ext>
            </a:extLst>
          </p:cNvPr>
          <p:cNvSpPr/>
          <p:nvPr/>
        </p:nvSpPr>
        <p:spPr>
          <a:xfrm>
            <a:off x="3778310" y="3089761"/>
            <a:ext cx="256985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오픈소스 기반 대용량 전송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웹 표준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(HTTP/S)·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에이전트 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미설치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F97E93ED-2BCD-625D-18C5-4D9D273B8DAE}"/>
              </a:ext>
            </a:extLst>
          </p:cNvPr>
          <p:cNvCxnSpPr>
            <a:cxnSpLocks/>
            <a:stCxn id="68" idx="3"/>
            <a:endCxn id="69" idx="1"/>
          </p:cNvCxnSpPr>
          <p:nvPr/>
        </p:nvCxnSpPr>
        <p:spPr>
          <a:xfrm>
            <a:off x="3068506" y="3297933"/>
            <a:ext cx="709804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9D2E6CC3-ADA6-C6DF-878B-5AF9A4E9CE4A}"/>
              </a:ext>
            </a:extLst>
          </p:cNvPr>
          <p:cNvCxnSpPr>
            <a:cxnSpLocks/>
          </p:cNvCxnSpPr>
          <p:nvPr/>
        </p:nvCxnSpPr>
        <p:spPr>
          <a:xfrm>
            <a:off x="312925" y="695461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5178D294-0FDB-A0C2-ADED-20CED3BC593A}"/>
              </a:ext>
            </a:extLst>
          </p:cNvPr>
          <p:cNvSpPr txBox="1"/>
          <p:nvPr/>
        </p:nvSpPr>
        <p:spPr>
          <a:xfrm>
            <a:off x="335011" y="692853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상용 대비 오픈소스 자체 구현 개선</a:t>
            </a:r>
          </a:p>
        </p:txBody>
      </p:sp>
      <p:sp>
        <p:nvSpPr>
          <p:cNvPr id="76" name="모서리가 둥근 직사각형 222">
            <a:extLst>
              <a:ext uri="{FF2B5EF4-FFF2-40B4-BE49-F238E27FC236}">
                <a16:creationId xmlns:a16="http://schemas.microsoft.com/office/drawing/2014/main" id="{DB0065E0-04DF-4ED5-EAF1-18C988D4BA00}"/>
              </a:ext>
            </a:extLst>
          </p:cNvPr>
          <p:cNvSpPr/>
          <p:nvPr/>
        </p:nvSpPr>
        <p:spPr bwMode="gray">
          <a:xfrm>
            <a:off x="258881" y="7242727"/>
            <a:ext cx="6331426" cy="2433865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F07ABBD-AE95-95C4-EE9E-77C4B5AA6506}"/>
              </a:ext>
            </a:extLst>
          </p:cNvPr>
          <p:cNvSpPr/>
          <p:nvPr/>
        </p:nvSpPr>
        <p:spPr>
          <a:xfrm>
            <a:off x="316309" y="911611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상용 전송솔루션을 오픈소스 자체 구현으로 대체하여 이용자 설치 부담과 라이선스 비용을 제거하고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분할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이어받기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무결성 검증과 컴플라이언스 관리로 안정적이고 종속 없는 대용량 제공을 실현함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78" name="Table 0">
            <a:extLst>
              <a:ext uri="{FF2B5EF4-FFF2-40B4-BE49-F238E27FC236}">
                <a16:creationId xmlns:a16="http://schemas.microsoft.com/office/drawing/2014/main" id="{A0230F28-0F04-4B5B-8004-142856D8D221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310571"/>
          <a:ext cx="6154318" cy="1768351"/>
        </p:xfrm>
        <a:graphic>
          <a:graphicData uri="http://schemas.openxmlformats.org/drawingml/2006/table">
            <a:tbl>
              <a:tblPr/>
              <a:tblGrid>
                <a:gridCol w="116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4548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18313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25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(INNORIX,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</a:t>
                      </a:r>
                      <a:r>
                        <a:rPr kumimoji="0" lang="en-US" altLang="ko-KR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오픈소스 자체 구현</a:t>
                      </a:r>
                      <a:r>
                        <a:rPr kumimoji="0" lang="en-US" altLang="ko-KR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kumimoji="0" lang="ko-KR" alt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OS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 전용 에이전트 설치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 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에이전트 미설치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COR-001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1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재시도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분할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재시도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무결성 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상용 라이선스 비용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종속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 라이선스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컴플라이언스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DR-023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벤더 종속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수평 확장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동시처리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(PR-004)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제한적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부분전송 이력 기록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FR-027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149473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F87DF807-C11A-2AC0-DFA2-7F7DC6FCEF62}"/>
              </a:ext>
            </a:extLst>
          </p:cNvPr>
          <p:cNvSpPr/>
          <p:nvPr/>
        </p:nvSpPr>
        <p:spPr>
          <a:xfrm>
            <a:off x="498656" y="6198291"/>
            <a:ext cx="5849504" cy="416344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상용 라이선스 비용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·OS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별 설치 부담 제거 → 이용자 편의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라이선스 리스크 근본 해소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Google Shape;4200;p73">
            <a:extLst>
              <a:ext uri="{FF2B5EF4-FFF2-40B4-BE49-F238E27FC236}">
                <a16:creationId xmlns:a16="http://schemas.microsoft.com/office/drawing/2014/main" id="{74F9F970-1CC0-070C-3B97-47B29B4EC553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20945002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84441C-8A78-FB23-17CD-06B2FC37BC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7D74AF9-F965-B131-6DF5-1C94E9255A3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BC05702-A45F-D663-C951-03B0FBD2EED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C975FD4-99DB-172B-CB37-8E65F579FD38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.4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API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제공 기능 구현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1871757-63BB-DC3E-23CA-B6B1A8467FB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087FCAF-C048-1C6D-399B-1A838331B97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인증활용 계정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·API Key/Token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인증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(DR-024)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 접근을 통제하고 표준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메타조회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조건검색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샘플조회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부분추출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제공하며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쿼터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모니터링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추적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(FR-015)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 안전하고 추적 가능한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23AD377-25CD-98E5-403A-D9D061FEB2E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5667066-0293-50F6-A32F-7987FBCDBF8F}"/>
              </a:ext>
            </a:extLst>
          </p:cNvPr>
          <p:cNvSpPr txBox="1"/>
          <p:nvPr/>
        </p:nvSpPr>
        <p:spPr>
          <a:xfrm>
            <a:off x="335011" y="2371141"/>
            <a:ext cx="35588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쿼터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모니터링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추적이 가능한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체계 구현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668B3F3-F1F5-5B85-B030-40FAD67F7F8A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FR-015, DR-024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A1EB390B-CF03-D747-DE6B-D61DFA9FA1B4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FC9314F-27F5-3D1E-30C9-EB9A0D1EB140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구현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학습데이터를 프로그래밍 방식으로 안전하게 제공하기 위해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통제 하에 표준 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제공하고 </a:t>
            </a:r>
            <a:r>
              <a:rPr kumimoji="1" lang="ko-KR" altLang="en-US" sz="1200" spc="-8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이용량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활용행위를 추적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(FR-015·DR-024)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등급별로 차등 인증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통제를 적용하여 보안성 확보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함께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형 제공 채널을 완성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4010D33A-9489-E725-B733-4A2464840C05}"/>
              </a:ext>
            </a:extLst>
          </p:cNvPr>
          <p:cNvSpPr/>
          <p:nvPr/>
        </p:nvSpPr>
        <p:spPr>
          <a:xfrm>
            <a:off x="31589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99444D8F-769C-FA70-7455-B8D0742484E0}"/>
              </a:ext>
            </a:extLst>
          </p:cNvPr>
          <p:cNvSpPr/>
          <p:nvPr/>
        </p:nvSpPr>
        <p:spPr>
          <a:xfrm>
            <a:off x="315897" y="8771558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인증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B921A07-5654-EE80-0FD3-8921BAAF1E6A}"/>
              </a:ext>
            </a:extLst>
          </p:cNvPr>
          <p:cNvSpPr/>
          <p:nvPr/>
        </p:nvSpPr>
        <p:spPr>
          <a:xfrm>
            <a:off x="189650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BCB1A9D0-AA61-810C-A2DB-6A7395E62B93}"/>
              </a:ext>
            </a:extLst>
          </p:cNvPr>
          <p:cNvSpPr/>
          <p:nvPr/>
        </p:nvSpPr>
        <p:spPr>
          <a:xfrm>
            <a:off x="1896507" y="8771558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Key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발급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87D1DA4F-E95E-89A1-E093-45DB4BF63285}"/>
              </a:ext>
            </a:extLst>
          </p:cNvPr>
          <p:cNvSpPr/>
          <p:nvPr/>
        </p:nvSpPr>
        <p:spPr>
          <a:xfrm>
            <a:off x="347711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D9C67899-B3E6-3C13-5818-16163D1CAB98}"/>
              </a:ext>
            </a:extLst>
          </p:cNvPr>
          <p:cNvSpPr/>
          <p:nvPr/>
        </p:nvSpPr>
        <p:spPr>
          <a:xfrm>
            <a:off x="3477117" y="8771558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표준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E3A47285-76BB-AA5D-47D5-CBC4B6C2376A}"/>
              </a:ext>
            </a:extLst>
          </p:cNvPr>
          <p:cNvSpPr/>
          <p:nvPr/>
        </p:nvSpPr>
        <p:spPr>
          <a:xfrm>
            <a:off x="505772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AD33BB07-A7AC-D3DB-2C22-E3C63271F357}"/>
              </a:ext>
            </a:extLst>
          </p:cNvPr>
          <p:cNvSpPr/>
          <p:nvPr/>
        </p:nvSpPr>
        <p:spPr>
          <a:xfrm>
            <a:off x="5057727" y="8771558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쿼터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DC81035A-2EF5-A350-F0C9-9E7B53F6E9DE}"/>
              </a:ext>
            </a:extLst>
          </p:cNvPr>
          <p:cNvSpPr/>
          <p:nvPr/>
        </p:nvSpPr>
        <p:spPr>
          <a:xfrm rot="5400000">
            <a:off x="1801098" y="9101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5F7AFCB3-E243-78F1-EFE3-982B3D8B7188}"/>
              </a:ext>
            </a:extLst>
          </p:cNvPr>
          <p:cNvSpPr/>
          <p:nvPr/>
        </p:nvSpPr>
        <p:spPr>
          <a:xfrm rot="5400000">
            <a:off x="3386287" y="91019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EC464919-FCCF-84D8-458C-2A7FD2348B9A}"/>
              </a:ext>
            </a:extLst>
          </p:cNvPr>
          <p:cNvSpPr/>
          <p:nvPr/>
        </p:nvSpPr>
        <p:spPr>
          <a:xfrm rot="5400000">
            <a:off x="4966713" y="9101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3497230E-A0C1-AB47-9A9F-E328079FD76D}"/>
              </a:ext>
            </a:extLst>
          </p:cNvPr>
          <p:cNvSpPr/>
          <p:nvPr/>
        </p:nvSpPr>
        <p:spPr>
          <a:xfrm rot="5400000">
            <a:off x="1801098" y="9101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74317D9A-4191-1DAB-3B7C-FDF272A13598}"/>
              </a:ext>
            </a:extLst>
          </p:cNvPr>
          <p:cNvSpPr/>
          <p:nvPr/>
        </p:nvSpPr>
        <p:spPr>
          <a:xfrm rot="5400000">
            <a:off x="3386287" y="91019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2824A3D0-5697-061D-97F1-2647093238BE}"/>
              </a:ext>
            </a:extLst>
          </p:cNvPr>
          <p:cNvSpPr/>
          <p:nvPr/>
        </p:nvSpPr>
        <p:spPr>
          <a:xfrm rot="5400000">
            <a:off x="4966713" y="9101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012CDA7-C8DB-A1AB-8AC2-E2F9FC7DD4A6}"/>
              </a:ext>
            </a:extLst>
          </p:cNvPr>
          <p:cNvSpPr txBox="1"/>
          <p:nvPr/>
        </p:nvSpPr>
        <p:spPr>
          <a:xfrm>
            <a:off x="34285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인증활용 계정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역할기반 승인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EE25CA4-1A3A-5744-9626-92256869FF79}"/>
              </a:ext>
            </a:extLst>
          </p:cNvPr>
          <p:cNvSpPr txBox="1"/>
          <p:nvPr/>
        </p:nvSpPr>
        <p:spPr>
          <a:xfrm>
            <a:off x="192346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API Key/Token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발급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갱신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B38E86A-9AB8-C5C0-6541-00AA86D303F5}"/>
              </a:ext>
            </a:extLst>
          </p:cNvPr>
          <p:cNvSpPr txBox="1"/>
          <p:nvPr/>
        </p:nvSpPr>
        <p:spPr>
          <a:xfrm>
            <a:off x="350407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샘플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부분추출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API</a:t>
            </a:r>
            <a:endParaRPr lang="ko-KR" altLang="en-US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4019DB8-B1A9-9ADE-7A9D-362946F98222}"/>
              </a:ext>
            </a:extLst>
          </p:cNvPr>
          <p:cNvSpPr txBox="1"/>
          <p:nvPr/>
        </p:nvSpPr>
        <p:spPr>
          <a:xfrm>
            <a:off x="508468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쿼터 제한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 추적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b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모니터링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5AFC91D7-32CF-B746-BC48-81F63C712814}"/>
              </a:ext>
            </a:extLst>
          </p:cNvPr>
          <p:cNvSpPr/>
          <p:nvPr/>
        </p:nvSpPr>
        <p:spPr>
          <a:xfrm>
            <a:off x="316309" y="3781961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인증활용 계정 체계로 활용 주체를 식별하고 신청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Key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통합 관리함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(FR-015·DR-024)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인증활용 계정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연구자 등 활용 주체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목적 식별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계정 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신청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이용신청→승인→권한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부여→권한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회수→사용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만료 통합 관리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역할기반 접근권한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데이터셋별 이용정책 연계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 데이터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제한 데이터에 서로 다른 통제 수준 적용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6C4F8B5-6A2D-CCCB-FE79-277661E1624B}"/>
              </a:ext>
            </a:extLst>
          </p:cNvPr>
          <p:cNvSpPr/>
          <p:nvPr/>
        </p:nvSpPr>
        <p:spPr>
          <a:xfrm>
            <a:off x="316309" y="511675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 조회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조건검색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샘플데이터 조회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부분데이터 추출을 위한 표준 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제공함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(FR-014·FR-015)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REST·OpenAPI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으로 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응답포맷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버전관리 표준화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 연계를 고려한 표준 인터페이스 제공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F07FBE3-5623-BA06-425B-8F358A34990A}"/>
              </a:ext>
            </a:extLst>
          </p:cNvPr>
          <p:cNvSpPr/>
          <p:nvPr/>
        </p:nvSpPr>
        <p:spPr>
          <a:xfrm>
            <a:off x="316309" y="6170786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(API </a:t>
            </a:r>
            <a:r>
              <a:rPr kumimoji="1" lang="en-US" altLang="ko-KR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Key·Token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쿼터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API Key/Token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발급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폐기하고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호출량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쿼터를 관리함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스트리밍 제공에 필요한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Key/Token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발급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갱신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쿼터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호출량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과금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자원 남용 방지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공정 이용 보장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077BE077-2FC5-EB49-E95A-B62173EA5001}"/>
              </a:ext>
            </a:extLst>
          </p:cNvPr>
          <p:cNvSpPr/>
          <p:nvPr/>
        </p:nvSpPr>
        <p:spPr>
          <a:xfrm>
            <a:off x="316309" y="7042373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모니터링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추적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제공방식별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이용량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성능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 현황을 통합 모니터링하고 활용행위를 추적함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(FR-015·DR-024)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스트리밍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 조회 활용행위를 계정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단위로 로그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 추적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정기 권한 점검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반기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장기 미사용 계정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(90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비활성화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퇴직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직무변경자 권한 회수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6CDBCE-D197-0BA9-3F57-62F064033C54}"/>
              </a:ext>
            </a:extLst>
          </p:cNvPr>
          <p:cNvSpPr/>
          <p:nvPr/>
        </p:nvSpPr>
        <p:spPr>
          <a:xfrm>
            <a:off x="316309" y="811409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API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명세서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인증활용 계정 체계 설계서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추적관리 설계서로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다운로드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 표준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200;p73">
            <a:extLst>
              <a:ext uri="{FF2B5EF4-FFF2-40B4-BE49-F238E27FC236}">
                <a16:creationId xmlns:a16="http://schemas.microsoft.com/office/drawing/2014/main" id="{EA6DCC88-030C-0D62-4C1D-70C5370A7993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794054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617745-1864-D24F-F217-A7441896CC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6787B15-6246-EB39-5689-2DAE64C1C6B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334A92E-9092-E2C3-B055-13FE2EFCC9E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758C90-9D48-E3C1-4F1D-4525648049A3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.4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API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제공 기능 구현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7DE9D47-17AF-D44C-097B-89BAFF0E3ED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1C72868-435C-C761-9F45-918FD6022B7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(API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구조 예시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권한부터 표준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쿼터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모니터링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추적으로 이어지는 구조를 제시하여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기능의 구체적 실행 형태를 예시함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F05A514-E829-B013-B6E3-313BB5E457B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47611CF-0FFA-A750-92C0-2709BFD79616}"/>
              </a:ext>
            </a:extLst>
          </p:cNvPr>
          <p:cNvSpPr txBox="1"/>
          <p:nvPr/>
        </p:nvSpPr>
        <p:spPr>
          <a:xfrm>
            <a:off x="335011" y="2371141"/>
            <a:ext cx="35588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및 운영지원 구조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627A834-C354-569D-0033-ED01808DD19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FR-015, DR-024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9B71055A-DE3B-CCAC-2775-C5B7B9893B23}"/>
              </a:ext>
            </a:extLst>
          </p:cNvPr>
          <p:cNvSpPr/>
          <p:nvPr/>
        </p:nvSpPr>
        <p:spPr bwMode="gray">
          <a:xfrm>
            <a:off x="258881" y="2666393"/>
            <a:ext cx="6331426" cy="415809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F7E242D-7B6E-5B98-C409-F727B9B39ACE}"/>
              </a:ext>
            </a:extLst>
          </p:cNvPr>
          <p:cNvCxnSpPr>
            <a:cxnSpLocks/>
          </p:cNvCxnSpPr>
          <p:nvPr/>
        </p:nvCxnSpPr>
        <p:spPr>
          <a:xfrm>
            <a:off x="312925" y="695461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B7633554-326F-8847-0268-7DD01E60B81B}"/>
              </a:ext>
            </a:extLst>
          </p:cNvPr>
          <p:cNvSpPr txBox="1"/>
          <p:nvPr/>
        </p:nvSpPr>
        <p:spPr>
          <a:xfrm>
            <a:off x="335011" y="692853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구성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B5A9B8CB-9B7F-9B59-4AEF-2A73D1D91A70}"/>
              </a:ext>
            </a:extLst>
          </p:cNvPr>
          <p:cNvSpPr/>
          <p:nvPr/>
        </p:nvSpPr>
        <p:spPr bwMode="gray">
          <a:xfrm>
            <a:off x="258881" y="7242727"/>
            <a:ext cx="6331426" cy="2433865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E3496C1E-A044-C1BC-CC51-C45AD8CEB51F}"/>
              </a:ext>
            </a:extLst>
          </p:cNvPr>
          <p:cNvSpPr/>
          <p:nvPr/>
        </p:nvSpPr>
        <p:spPr>
          <a:xfrm>
            <a:off x="316309" y="911611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인증활용 계정과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Key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기반으로 접근을 통제하고 표준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를 제공하며 활용행위를 계정 단위로 추적함으로써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안전하고 추적 가능한 프로그래밍 방식 데이터 제공을 실현함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A7BEB7E3-3B3C-5182-DC27-444B05B96F4E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310571"/>
          <a:ext cx="6154318" cy="1768351"/>
        </p:xfrm>
        <a:graphic>
          <a:graphicData uri="http://schemas.openxmlformats.org/drawingml/2006/table">
            <a:tbl>
              <a:tblPr/>
              <a:tblGrid>
                <a:gridCol w="116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60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3261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25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r>
                        <a:rPr kumimoji="0" lang="en-US" altLang="ko-KR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조회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 메타 정보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Key·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공개범위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FR-014·015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1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 검색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Key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222222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 조회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샘플데이터 조회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Key·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쿼터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부분데이터 추출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범위 추출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FR-014·027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8666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추적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호출 이력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DR-024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149473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F3F1DA4-D4F1-87B7-E48F-B17F75BE949D}"/>
              </a:ext>
            </a:extLst>
          </p:cNvPr>
          <p:cNvSpPr/>
          <p:nvPr/>
        </p:nvSpPr>
        <p:spPr>
          <a:xfrm>
            <a:off x="312925" y="2730682"/>
            <a:ext cx="6221225" cy="889221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위쪽 모서리 20">
            <a:extLst>
              <a:ext uri="{FF2B5EF4-FFF2-40B4-BE49-F238E27FC236}">
                <a16:creationId xmlns:a16="http://schemas.microsoft.com/office/drawing/2014/main" id="{581057DC-BF19-A934-88F9-A3AE04E0D1ED}"/>
              </a:ext>
            </a:extLst>
          </p:cNvPr>
          <p:cNvSpPr/>
          <p:nvPr/>
        </p:nvSpPr>
        <p:spPr>
          <a:xfrm>
            <a:off x="306574" y="2709092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(FR-015·DR-024)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89C2E2E3-D9A2-AB83-8921-A65416B341DC}"/>
              </a:ext>
            </a:extLst>
          </p:cNvPr>
          <p:cNvSpPr/>
          <p:nvPr/>
        </p:nvSpPr>
        <p:spPr>
          <a:xfrm>
            <a:off x="431064" y="301893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라이선스 검토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기업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연구자 식별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373FDC32-01FB-5BB1-3086-36B8537B7FA9}"/>
              </a:ext>
            </a:extLst>
          </p:cNvPr>
          <p:cNvSpPr/>
          <p:nvPr/>
        </p:nvSpPr>
        <p:spPr>
          <a:xfrm>
            <a:off x="2555428" y="301893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권한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역할기반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등급별 차등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E59DAAE9-A605-F958-3202-4B1CD189E056}"/>
              </a:ext>
            </a:extLst>
          </p:cNvPr>
          <p:cNvSpPr/>
          <p:nvPr/>
        </p:nvSpPr>
        <p:spPr>
          <a:xfrm>
            <a:off x="4631887" y="301893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0" lang="en-US" altLang="ko-KR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Key·Token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발급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발급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갱신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폐기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7AD34679-5F70-4A2E-0DF2-D5BFC4298EDD}"/>
              </a:ext>
            </a:extLst>
          </p:cNvPr>
          <p:cNvSpPr/>
          <p:nvPr/>
        </p:nvSpPr>
        <p:spPr>
          <a:xfrm>
            <a:off x="312925" y="3705293"/>
            <a:ext cx="6221225" cy="1095307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사각형: 둥근 위쪽 모서리 38">
            <a:extLst>
              <a:ext uri="{FF2B5EF4-FFF2-40B4-BE49-F238E27FC236}">
                <a16:creationId xmlns:a16="http://schemas.microsoft.com/office/drawing/2014/main" id="{A33155D1-14CF-2F8B-DB57-95970BD5870B}"/>
              </a:ext>
            </a:extLst>
          </p:cNvPr>
          <p:cNvSpPr/>
          <p:nvPr/>
        </p:nvSpPr>
        <p:spPr>
          <a:xfrm>
            <a:off x="306574" y="3684192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(FR-014 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7BF91707-0F64-421E-7CC4-249139E32DD9}"/>
              </a:ext>
            </a:extLst>
          </p:cNvPr>
          <p:cNvSpPr/>
          <p:nvPr/>
        </p:nvSpPr>
        <p:spPr>
          <a:xfrm>
            <a:off x="431064" y="4023088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메타데이터 조회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정보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F2C06AE-FBBA-5117-2B10-B66D801A6639}"/>
              </a:ext>
            </a:extLst>
          </p:cNvPr>
          <p:cNvSpPr/>
          <p:nvPr/>
        </p:nvSpPr>
        <p:spPr>
          <a:xfrm>
            <a:off x="5044637" y="4023088"/>
            <a:ext cx="1365986" cy="44873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부분데이터 추출</a:t>
            </a:r>
            <a:endParaRPr lang="en-US" altLang="ko-KR" sz="12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범위 추출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1FA84DF5-E48D-EB75-D2B7-873FBA2A5924}"/>
              </a:ext>
            </a:extLst>
          </p:cNvPr>
          <p:cNvSpPr/>
          <p:nvPr/>
        </p:nvSpPr>
        <p:spPr>
          <a:xfrm>
            <a:off x="1969233" y="4023088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 검색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필터 검색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6E369A95-058D-F924-FA43-919B76AC92A9}"/>
              </a:ext>
            </a:extLst>
          </p:cNvPr>
          <p:cNvSpPr/>
          <p:nvPr/>
        </p:nvSpPr>
        <p:spPr>
          <a:xfrm>
            <a:off x="3507402" y="4023088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 조회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샘플데이터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D24C0D58-5879-46A6-16C2-2D381CF7D160}"/>
              </a:ext>
            </a:extLst>
          </p:cNvPr>
          <p:cNvSpPr/>
          <p:nvPr/>
        </p:nvSpPr>
        <p:spPr>
          <a:xfrm>
            <a:off x="312925" y="4924152"/>
            <a:ext cx="6221225" cy="889221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사각형: 둥근 위쪽 모서리 54">
            <a:extLst>
              <a:ext uri="{FF2B5EF4-FFF2-40B4-BE49-F238E27FC236}">
                <a16:creationId xmlns:a16="http://schemas.microsoft.com/office/drawing/2014/main" id="{1215FD21-C246-27AD-2E06-CC6B9B6F0173}"/>
              </a:ext>
            </a:extLst>
          </p:cNvPr>
          <p:cNvSpPr/>
          <p:nvPr/>
        </p:nvSpPr>
        <p:spPr>
          <a:xfrm>
            <a:off x="306574" y="4902562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쿼터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모니터링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추적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5C8333D-A1D6-24EA-3393-529B75F22C8A}"/>
              </a:ext>
            </a:extLst>
          </p:cNvPr>
          <p:cNvSpPr/>
          <p:nvPr/>
        </p:nvSpPr>
        <p:spPr>
          <a:xfrm>
            <a:off x="431064" y="521240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쿼터 관리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호출량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제한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과금 기준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AE728C41-1FCB-DC1D-CCBF-1D5C10DADF6B}"/>
              </a:ext>
            </a:extLst>
          </p:cNvPr>
          <p:cNvSpPr/>
          <p:nvPr/>
        </p:nvSpPr>
        <p:spPr>
          <a:xfrm>
            <a:off x="2555428" y="521240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모니터링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이용량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8CDCF1D0-78EC-0C5E-DCF3-AAEA80A753F6}"/>
              </a:ext>
            </a:extLst>
          </p:cNvPr>
          <p:cNvSpPr/>
          <p:nvPr/>
        </p:nvSpPr>
        <p:spPr>
          <a:xfrm>
            <a:off x="4631887" y="521240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추적 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(DR-024)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계정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데이터셋 단위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7931234A-C43E-E092-45B2-AC03B18019CA}"/>
              </a:ext>
            </a:extLst>
          </p:cNvPr>
          <p:cNvSpPr/>
          <p:nvPr/>
        </p:nvSpPr>
        <p:spPr>
          <a:xfrm>
            <a:off x="498656" y="5872020"/>
            <a:ext cx="5849504" cy="328390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권한 점검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반기 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· 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장기 미사용 계정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(90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비활성화 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퇴직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직무변경자 권한 회수 </a:t>
            </a:r>
            <a:r>
              <a:rPr kumimoji="0" lang="en-US" altLang="ko-KR" sz="1200" b="0" i="0" u="none" strike="noStrike" kern="1200" cap="none" spc="-5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(FR-015)</a:t>
            </a:r>
            <a:endParaRPr kumimoji="0" lang="en-US" altLang="ko-KR" sz="900" b="0" i="0" u="none" strike="noStrike" kern="1200" cap="none" spc="-50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67F4270-91AB-E617-E303-9802ED16B641}"/>
              </a:ext>
            </a:extLst>
          </p:cNvPr>
          <p:cNvSpPr/>
          <p:nvPr/>
        </p:nvSpPr>
        <p:spPr>
          <a:xfrm>
            <a:off x="316309" y="6361153"/>
            <a:ext cx="6286697" cy="43434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 데이터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제한 데이터 통제 수준 차등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데이터셋별 이용정책 연계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(FR-015) 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·API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스트리밍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샘플 조회 활용행위를 로그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통계로 추적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(DR-024)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AD975B3D-47AF-37E5-43C9-FB4D55772539}"/>
              </a:ext>
            </a:extLst>
          </p:cNvPr>
          <p:cNvCxnSpPr>
            <a:stCxn id="26" idx="3"/>
            <a:endCxn id="31" idx="1"/>
          </p:cNvCxnSpPr>
          <p:nvPr/>
        </p:nvCxnSpPr>
        <p:spPr>
          <a:xfrm>
            <a:off x="2209800" y="3274970"/>
            <a:ext cx="34562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E2EF37E2-498F-4A08-372A-702578CB45F7}"/>
              </a:ext>
            </a:extLst>
          </p:cNvPr>
          <p:cNvCxnSpPr>
            <a:stCxn id="31" idx="3"/>
            <a:endCxn id="35" idx="1"/>
          </p:cNvCxnSpPr>
          <p:nvPr/>
        </p:nvCxnSpPr>
        <p:spPr>
          <a:xfrm>
            <a:off x="4334164" y="3274970"/>
            <a:ext cx="29772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0CA746-8E48-2831-9040-C1A27DE79067}"/>
              </a:ext>
            </a:extLst>
          </p:cNvPr>
          <p:cNvSpPr/>
          <p:nvPr/>
        </p:nvSpPr>
        <p:spPr>
          <a:xfrm>
            <a:off x="498656" y="4538274"/>
            <a:ext cx="5849504" cy="203545"/>
          </a:xfrm>
          <a:prstGeom prst="roundRect">
            <a:avLst>
              <a:gd name="adj" fmla="val 699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REST·OpenAPI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(DR-017) ·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응답포맷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오류코드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인증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버전관리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" name="Google Shape;4200;p73">
            <a:extLst>
              <a:ext uri="{FF2B5EF4-FFF2-40B4-BE49-F238E27FC236}">
                <a16:creationId xmlns:a16="http://schemas.microsoft.com/office/drawing/2014/main" id="{944B8981-2B25-2394-9928-1509C2D1EE48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74674574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2F94E-523B-15D1-6137-A0C88D9C9C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5FD545E-4164-DC40-C9C8-A1FA6BA56E9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E56DFA3-36F0-A8D7-CA74-44307E27156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3344E78-D5BF-7012-A484-F752E1F79007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.5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동시 접속 및 장애 복구 대비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A7E8EAA-89CD-FD41-A1F6-BCD0B57EB59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제공 및 대용량 전송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954006D-638F-CCC3-D734-DBC1F2072A5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동시성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동시 접속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동시 처리 부하를 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스케일아웃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세션 분산으로 분산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(PR-004)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하고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내외부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연계 장애를 격리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(PR-005)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RPO/RTO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 백업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 체계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(DR-019)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데이터 훼손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침해에 대비하는 고가용 운영 기반을 설계함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DF47C45-9E34-A93E-26FB-F9CC03E2B4C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DD27053-375E-57DC-60B7-E769CC270AD7}"/>
              </a:ext>
            </a:extLst>
          </p:cNvPr>
          <p:cNvSpPr txBox="1"/>
          <p:nvPr/>
        </p:nvSpPr>
        <p:spPr>
          <a:xfrm>
            <a:off x="335011" y="2371141"/>
            <a:ext cx="34673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동시접속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및 장애 복구 대비를 위한 운영기반 설계 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A3DACFA-30D4-CD55-7300-B170598BF1E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PR-004, PR-005, DR-019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72A567A4-7924-0588-2C8B-86AD4613A5E7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03CC488-DE79-6C00-2C8C-E71A35EF7E0B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다수 이용자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작업이 동시 발생하는 대용량 제공 환경에서도 서비스 품질을 유지하고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재해 시 신속히 복구하여 서비스 연속성을 확보함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(PR-004·PR-005·DR-019)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대용량 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(2.6.3)·API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부하를 안정 처리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안정성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(PR-003)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연계하여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무중단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복구 목표를 함께 달성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06AAA83-D91F-841B-B751-278107590EF8}"/>
              </a:ext>
            </a:extLst>
          </p:cNvPr>
          <p:cNvSpPr/>
          <p:nvPr/>
        </p:nvSpPr>
        <p:spPr>
          <a:xfrm>
            <a:off x="31589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043250BB-CE08-F0B3-7F24-E0C6907E3FCE}"/>
              </a:ext>
            </a:extLst>
          </p:cNvPr>
          <p:cNvSpPr/>
          <p:nvPr/>
        </p:nvSpPr>
        <p:spPr>
          <a:xfrm>
            <a:off x="315897" y="8771558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동시처리 기준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38AE18D-7E27-3F8D-3E03-40C0232147F3}"/>
              </a:ext>
            </a:extLst>
          </p:cNvPr>
          <p:cNvSpPr/>
          <p:nvPr/>
        </p:nvSpPr>
        <p:spPr>
          <a:xfrm>
            <a:off x="189650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5E741E71-757A-C471-3BF7-C2276BBFB364}"/>
              </a:ext>
            </a:extLst>
          </p:cNvPr>
          <p:cNvSpPr/>
          <p:nvPr/>
        </p:nvSpPr>
        <p:spPr>
          <a:xfrm>
            <a:off x="1896507" y="8771558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부하 분산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F7748A4-C841-EBD3-A84C-DAFC176CE319}"/>
              </a:ext>
            </a:extLst>
          </p:cNvPr>
          <p:cNvSpPr/>
          <p:nvPr/>
        </p:nvSpPr>
        <p:spPr>
          <a:xfrm>
            <a:off x="347711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52DF5EED-5B6C-114F-CDC1-65FB3DDE229B}"/>
              </a:ext>
            </a:extLst>
          </p:cNvPr>
          <p:cNvSpPr/>
          <p:nvPr/>
        </p:nvSpPr>
        <p:spPr>
          <a:xfrm>
            <a:off x="3477117" y="8771558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연계 장애 격리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E7976338-CC7F-220D-EF20-133239A17066}"/>
              </a:ext>
            </a:extLst>
          </p:cNvPr>
          <p:cNvSpPr/>
          <p:nvPr/>
        </p:nvSpPr>
        <p:spPr>
          <a:xfrm>
            <a:off x="5057727" y="8771557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F4F30075-50B5-6FD9-F60C-C974A02A079F}"/>
              </a:ext>
            </a:extLst>
          </p:cNvPr>
          <p:cNvSpPr/>
          <p:nvPr/>
        </p:nvSpPr>
        <p:spPr>
          <a:xfrm>
            <a:off x="5057727" y="8771558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백업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431006D6-FD97-A47F-F662-2CEFC056FE12}"/>
              </a:ext>
            </a:extLst>
          </p:cNvPr>
          <p:cNvSpPr/>
          <p:nvPr/>
        </p:nvSpPr>
        <p:spPr>
          <a:xfrm rot="5400000">
            <a:off x="1801098" y="9101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906A7148-FB03-1A9E-6E83-E119490AA13B}"/>
              </a:ext>
            </a:extLst>
          </p:cNvPr>
          <p:cNvSpPr/>
          <p:nvPr/>
        </p:nvSpPr>
        <p:spPr>
          <a:xfrm rot="5400000">
            <a:off x="3386287" y="91019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29F6FE7D-A3DA-9800-2F65-185FB1D355C5}"/>
              </a:ext>
            </a:extLst>
          </p:cNvPr>
          <p:cNvSpPr/>
          <p:nvPr/>
        </p:nvSpPr>
        <p:spPr>
          <a:xfrm rot="5400000">
            <a:off x="4966713" y="9101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E2BDBF4B-41EC-78F8-3823-A51BC8F0199A}"/>
              </a:ext>
            </a:extLst>
          </p:cNvPr>
          <p:cNvSpPr/>
          <p:nvPr/>
        </p:nvSpPr>
        <p:spPr>
          <a:xfrm rot="5400000">
            <a:off x="1801098" y="910196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D50589A9-3FCA-F191-32A1-D27D6EBB0F0F}"/>
              </a:ext>
            </a:extLst>
          </p:cNvPr>
          <p:cNvSpPr/>
          <p:nvPr/>
        </p:nvSpPr>
        <p:spPr>
          <a:xfrm rot="5400000">
            <a:off x="3386287" y="910196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CCE8D549-0E9C-FF87-8D14-828DEB75C64A}"/>
              </a:ext>
            </a:extLst>
          </p:cNvPr>
          <p:cNvSpPr/>
          <p:nvPr/>
        </p:nvSpPr>
        <p:spPr>
          <a:xfrm rot="5400000">
            <a:off x="4966713" y="9101967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97285AD-094F-0ACA-DB24-344EDE0A0C30}"/>
              </a:ext>
            </a:extLst>
          </p:cNvPr>
          <p:cNvSpPr txBox="1"/>
          <p:nvPr/>
        </p:nvSpPr>
        <p:spPr>
          <a:xfrm>
            <a:off x="34285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동시접속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 허용범위 정의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7533B51-B397-7A78-0684-75B81B29F4F6}"/>
              </a:ext>
            </a:extLst>
          </p:cNvPr>
          <p:cNvSpPr txBox="1"/>
          <p:nvPr/>
        </p:nvSpPr>
        <p:spPr>
          <a:xfrm>
            <a:off x="1923466" y="9040371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큐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스케일아웃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세션 분산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EEFDA0F-A2A3-C8FD-B6F1-A41D8048583F}"/>
              </a:ext>
            </a:extLst>
          </p:cNvPr>
          <p:cNvSpPr txBox="1"/>
          <p:nvPr/>
        </p:nvSpPr>
        <p:spPr>
          <a:xfrm>
            <a:off x="350407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비동기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예외 통제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모니터링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81AC5CB-6928-85C1-2C2F-6C521A5531C9}"/>
              </a:ext>
            </a:extLst>
          </p:cNvPr>
          <p:cNvSpPr txBox="1"/>
          <p:nvPr/>
        </p:nvSpPr>
        <p:spPr>
          <a:xfrm>
            <a:off x="5084686" y="9040371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RPO/RTO·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복구훈련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분리보관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FEF0D8D-A86E-6DC7-7375-ADA49F829F72}"/>
              </a:ext>
            </a:extLst>
          </p:cNvPr>
          <p:cNvSpPr/>
          <p:nvPr/>
        </p:nvSpPr>
        <p:spPr>
          <a:xfrm>
            <a:off x="316309" y="378196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동시접속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동시처리 기준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주요 작업의 동시처리 허용범위를 정의하고 피크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이벤트성 부하를 고려한 성능 목표를 산정함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접속자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배치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 승인 처리 허용범위 정의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부하시험 결과로 임계치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증설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우선순위 정책 정립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286FC10-26AA-8C79-D4A0-79CDD0FE26F8}"/>
              </a:ext>
            </a:extLst>
          </p:cNvPr>
          <p:cNvSpPr/>
          <p:nvPr/>
        </p:nvSpPr>
        <p:spPr>
          <a:xfrm>
            <a:off x="316309" y="4875147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자원 할당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확장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메시지 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작업 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스케일아웃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 분산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캐시 구조로 부하 집중 시에도 서비스 저하를 최소화함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부하 집중 작업을 큐로 분리하고 스케일아웃으로 수평 확장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세션 분산으로 단일 노드 과부하 방지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8DEA257-5458-5682-94E9-320183B18970}"/>
              </a:ext>
            </a:extLst>
          </p:cNvPr>
          <p:cNvSpPr/>
          <p:nvPr/>
        </p:nvSpPr>
        <p:spPr>
          <a:xfrm>
            <a:off x="316309" y="5732630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내외부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연계 성능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 격리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내외부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연계의 응답시간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처리량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장애 허용 기준을 정의하고 외부 장애가 전체로 확산되지 않도록 격리함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(PR-005)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성능 기준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처리량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재시도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비동기 처리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예외 통제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연계별 처리량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지연시간 모니터링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시스템 장애 시 서비스 전체 중단 방지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55BE6601-7B2F-F4A0-3E9C-977C749D3820}"/>
              </a:ext>
            </a:extLst>
          </p:cNvPr>
          <p:cNvSpPr/>
          <p:nvPr/>
        </p:nvSpPr>
        <p:spPr>
          <a:xfrm>
            <a:off x="316309" y="6825816"/>
            <a:ext cx="6286697" cy="12791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백업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복구 체계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백업 범위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주기와 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RPO/RTO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목표를 정의하고 복구 검증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분리보관으로 데이터 훼손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침해에 대비함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(DR-019)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백업 범위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주기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증분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로그백업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스냅샷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장기보관본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 RPO·RTO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목표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복구 우선순위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·SLA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명시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정기 복구훈련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백업본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무결성 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암호화 보관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접근권한 통제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랜섬웨어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위변조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대비 분리보관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변경불가 저장전략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(WORM)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27D0E9-FD90-6C1D-AB42-9215D9B7A9FE}"/>
              </a:ext>
            </a:extLst>
          </p:cNvPr>
          <p:cNvSpPr/>
          <p:nvPr/>
        </p:nvSpPr>
        <p:spPr>
          <a:xfrm>
            <a:off x="316309" y="815228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동시처리 기준서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성능 기준서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백업복구 설계서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(RPO/RTO·SLA)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안정성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(2.1.3·PR-003)·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대용량 제공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(2.6.3·2.6.4)·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인프라 이중화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4)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3401050186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97D878-85B0-9C79-E3F8-62405F1B2E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D643E83-F394-AE9C-8938-CC5A835C77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DA65B63-4F30-9884-A3FC-03EE343BC46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CEA72-19AA-E262-7C30-35E1C08F5DF9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7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정보 표준화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F7423B9-153E-6DBF-A53D-EAB5D2A8884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7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 err="1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머신리더블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정보 서비스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81C7FB5-C891-5033-60E1-F648372E95A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표준화 기반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공공데이터 공통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 표준을 준수하여 데이터 표준을 제정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(DTR-001)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하고 공통 스키마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응답 구조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(FR-019)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정의하여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 시스템별 개별 변환 부담을 없앤 일관된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제공 기반을 마련함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C04084B-0F8A-4D73-6627-36C545AA1E4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0FD4C80-2A6F-F25E-22A7-E58844E7A2B0}"/>
              </a:ext>
            </a:extLst>
          </p:cNvPr>
          <p:cNvSpPr txBox="1"/>
          <p:nvPr/>
        </p:nvSpPr>
        <p:spPr>
          <a:xfrm>
            <a:off x="335011" y="2371141"/>
            <a:ext cx="40464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표준을 정의하여 일관된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제공 기반 마련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6F78608-76AF-A304-A31C-10F9501CD37B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FR-019, DTR-001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A098D34D-ABD9-C92A-C3E4-89607C94B0E5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39B45B4-1E73-0E3D-C65B-8FA491A71A53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시스템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·AI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에이전트가 데이터를 일관되게 해석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활용하도록 데이터 구조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용어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코드와 응답 구조를 </a:t>
            </a:r>
            <a:r>
              <a:rPr kumimoji="1" lang="ko-KR" altLang="en-US" sz="1200" spc="-8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표준화하여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시스템별 개별 파싱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변환 부담을 최소화함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(FR-019·DTR-001)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표준화는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인터페이스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(2.7.2)·API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전제 기반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개방 대상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내부 운영 데이터 모두 표준 준수를 검토하고 이력 관리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2611ACB-3EF3-7B38-02D7-7652DA9DEBC9}"/>
              </a:ext>
            </a:extLst>
          </p:cNvPr>
          <p:cNvSpPr/>
          <p:nvPr/>
        </p:nvSpPr>
        <p:spPr>
          <a:xfrm>
            <a:off x="31589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FE95EDFF-9269-B818-7017-AB7AA8C79359}"/>
              </a:ext>
            </a:extLst>
          </p:cNvPr>
          <p:cNvSpPr/>
          <p:nvPr/>
        </p:nvSpPr>
        <p:spPr>
          <a:xfrm>
            <a:off x="315897" y="8642221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동시처리 기준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36365C18-16E0-6CAA-61F1-71A45575943E}"/>
              </a:ext>
            </a:extLst>
          </p:cNvPr>
          <p:cNvSpPr/>
          <p:nvPr/>
        </p:nvSpPr>
        <p:spPr>
          <a:xfrm>
            <a:off x="189650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681C0D52-7580-5DBC-8252-335162FD9DA2}"/>
              </a:ext>
            </a:extLst>
          </p:cNvPr>
          <p:cNvSpPr/>
          <p:nvPr/>
        </p:nvSpPr>
        <p:spPr>
          <a:xfrm>
            <a:off x="1896507" y="8642221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부하 분산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B5E40CE6-E6AE-450A-0FFB-9A54810CF1B9}"/>
              </a:ext>
            </a:extLst>
          </p:cNvPr>
          <p:cNvSpPr/>
          <p:nvPr/>
        </p:nvSpPr>
        <p:spPr>
          <a:xfrm>
            <a:off x="347711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1557E0E1-F613-8A36-751A-C6B9DBB0DBA6}"/>
              </a:ext>
            </a:extLst>
          </p:cNvPr>
          <p:cNvSpPr/>
          <p:nvPr/>
        </p:nvSpPr>
        <p:spPr>
          <a:xfrm>
            <a:off x="3477117" y="8642221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연계 장애 격리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B79BBC57-E9B0-6977-7BA5-2522C4149793}"/>
              </a:ext>
            </a:extLst>
          </p:cNvPr>
          <p:cNvSpPr/>
          <p:nvPr/>
        </p:nvSpPr>
        <p:spPr>
          <a:xfrm>
            <a:off x="505772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EB8DE2B2-6B95-8A17-E388-D6D383228944}"/>
              </a:ext>
            </a:extLst>
          </p:cNvPr>
          <p:cNvSpPr/>
          <p:nvPr/>
        </p:nvSpPr>
        <p:spPr>
          <a:xfrm>
            <a:off x="5057727" y="8642221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백업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BD58B326-D115-2EA7-30B4-6536EAAE8385}"/>
              </a:ext>
            </a:extLst>
          </p:cNvPr>
          <p:cNvSpPr/>
          <p:nvPr/>
        </p:nvSpPr>
        <p:spPr>
          <a:xfrm rot="5400000">
            <a:off x="1801098" y="897262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12EAF896-973A-A720-9D96-85F4B9A620DF}"/>
              </a:ext>
            </a:extLst>
          </p:cNvPr>
          <p:cNvSpPr/>
          <p:nvPr/>
        </p:nvSpPr>
        <p:spPr>
          <a:xfrm rot="5400000">
            <a:off x="3386287" y="897262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545A411A-2685-8BBD-B08B-56269801CB82}"/>
              </a:ext>
            </a:extLst>
          </p:cNvPr>
          <p:cNvSpPr/>
          <p:nvPr/>
        </p:nvSpPr>
        <p:spPr>
          <a:xfrm rot="5400000">
            <a:off x="4966713" y="897263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BE3C8206-EB15-557E-E8C2-72D87938CC35}"/>
              </a:ext>
            </a:extLst>
          </p:cNvPr>
          <p:cNvSpPr/>
          <p:nvPr/>
        </p:nvSpPr>
        <p:spPr>
          <a:xfrm rot="5400000">
            <a:off x="1801098" y="897262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BBEFEA1F-0FB7-4A76-14A5-AD29CC90EAEE}"/>
              </a:ext>
            </a:extLst>
          </p:cNvPr>
          <p:cNvSpPr/>
          <p:nvPr/>
        </p:nvSpPr>
        <p:spPr>
          <a:xfrm rot="5400000">
            <a:off x="3386287" y="897262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0ABAF2ED-316B-30EC-6FB4-AA0EBC15D554}"/>
              </a:ext>
            </a:extLst>
          </p:cNvPr>
          <p:cNvSpPr/>
          <p:nvPr/>
        </p:nvSpPr>
        <p:spPr>
          <a:xfrm rot="5400000">
            <a:off x="4966713" y="897263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2273F08-2370-15AF-1EA0-B6233312F96B}"/>
              </a:ext>
            </a:extLst>
          </p:cNvPr>
          <p:cNvSpPr txBox="1"/>
          <p:nvPr/>
        </p:nvSpPr>
        <p:spPr>
          <a:xfrm>
            <a:off x="34285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동시접속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 허용범위 정의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D40E8DC-7CD8-61D8-0FCB-B47DA17BAC0F}"/>
              </a:ext>
            </a:extLst>
          </p:cNvPr>
          <p:cNvSpPr txBox="1"/>
          <p:nvPr/>
        </p:nvSpPr>
        <p:spPr>
          <a:xfrm>
            <a:off x="1923466" y="891103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큐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스케일아웃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세션 분산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77C5C14-26F5-85AA-8E8C-ABC3E07B2BA9}"/>
              </a:ext>
            </a:extLst>
          </p:cNvPr>
          <p:cNvSpPr txBox="1"/>
          <p:nvPr/>
        </p:nvSpPr>
        <p:spPr>
          <a:xfrm>
            <a:off x="350407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비동기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예외 통제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모니터링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782F99C-B81E-B4F6-FF0D-5C5E12DF8C45}"/>
              </a:ext>
            </a:extLst>
          </p:cNvPr>
          <p:cNvSpPr txBox="1"/>
          <p:nvPr/>
        </p:nvSpPr>
        <p:spPr>
          <a:xfrm>
            <a:off x="508468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RPO/RTO·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복구훈련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분리보관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3008759-C56B-67B2-B46F-A95459947F9B}"/>
              </a:ext>
            </a:extLst>
          </p:cNvPr>
          <p:cNvSpPr/>
          <p:nvPr/>
        </p:nvSpPr>
        <p:spPr>
          <a:xfrm>
            <a:off x="316309" y="378196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표준 준수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공공데이터 공통표준과 발주기관 기관표준을 준용하여 데이터 구조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메타데이터를 설계함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공공데이터 공통표준용어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데이터베이스 표준화 지침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행정안전부 고시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준수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용어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상태값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식별자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메타항목을 표준에 맞춰 정의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6B828E6-EBF7-BD02-2AEB-319ACD5C4832}"/>
              </a:ext>
            </a:extLst>
          </p:cNvPr>
          <p:cNvSpPr/>
          <p:nvPr/>
        </p:nvSpPr>
        <p:spPr>
          <a:xfrm>
            <a:off x="316309" y="487514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(DB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제정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시스템 구축에 필요한 데이터 표준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단어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용어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을 정의하여 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표준을 제정함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공통표준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기관표준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국내외 산업표준을 준용하여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확정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표준용어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표준단어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표준코드 정의서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F2CFF69-7579-F0AB-07BA-D304DD73AAC2}"/>
              </a:ext>
            </a:extLst>
          </p:cNvPr>
          <p:cNvSpPr/>
          <p:nvPr/>
        </p:nvSpPr>
        <p:spPr>
          <a:xfrm>
            <a:off x="316309" y="7910252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표준용어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단어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 정의서로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(DTR-001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인터페이스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(2.7.2)·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메타데이터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(DR-014)·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프레임워크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(1.4.4)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E4BD152-D8D6-9BDE-86A8-A373ADA627A5}"/>
              </a:ext>
            </a:extLst>
          </p:cNvPr>
          <p:cNvSpPr/>
          <p:nvPr/>
        </p:nvSpPr>
        <p:spPr>
          <a:xfrm>
            <a:off x="316309" y="570938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스키마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응답 구조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필드명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코드체계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오류코드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응답상태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페이지네이션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식별자를 표준 응답 구조로 정의함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(FR-019)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스키마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응답 구조로 연계 시스템별 개별 파싱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변환 부담 최소화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일관성 있는 데이터 제공으로 외부 시스템 재사용성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E81119C-F554-171C-FF26-9098FF0CA310}"/>
              </a:ext>
            </a:extLst>
          </p:cNvPr>
          <p:cNvSpPr/>
          <p:nvPr/>
        </p:nvSpPr>
        <p:spPr>
          <a:xfrm>
            <a:off x="316309" y="6765222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현행화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표준항목의 추가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폐기 승인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이력을 관리하고 표준사전과 데이터항목의 일치 여부를 주기적으로 점검함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(DTR-001)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중앙메타데이터관리시스템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 메타관리체계와 연계 가능한 구조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표준사전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-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데이터항목 정합성 주기 점검으로 표준 현행화 유지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200;p73">
            <a:extLst>
              <a:ext uri="{FF2B5EF4-FFF2-40B4-BE49-F238E27FC236}">
                <a16:creationId xmlns:a16="http://schemas.microsoft.com/office/drawing/2014/main" id="{F2FB3D69-29BD-60CD-0783-EF2767C687E9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" name="Google Shape;4518;p81">
            <a:extLst>
              <a:ext uri="{FF2B5EF4-FFF2-40B4-BE49-F238E27FC236}">
                <a16:creationId xmlns:a16="http://schemas.microsoft.com/office/drawing/2014/main" id="{2F254D15-3E3E-0B76-6506-FF4914792C83}"/>
              </a:ext>
            </a:extLst>
          </p:cNvPr>
          <p:cNvSpPr/>
          <p:nvPr/>
        </p:nvSpPr>
        <p:spPr>
          <a:xfrm>
            <a:off x="-2530475" y="8546575"/>
            <a:ext cx="2602800" cy="9270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검토요청</a:t>
            </a:r>
            <a:br>
              <a:rPr lang="ko-KR" b="1">
                <a:latin typeface="Calibri"/>
                <a:ea typeface="Calibri"/>
                <a:cs typeface="Calibri"/>
                <a:sym typeface="Calibri"/>
              </a:rPr>
            </a:b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2.6.5 동시접속 및 장애복구  라벨과 동일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13" name="Google Shape;4519;p81">
            <a:extLst>
              <a:ext uri="{FF2B5EF4-FFF2-40B4-BE49-F238E27FC236}">
                <a16:creationId xmlns:a16="http://schemas.microsoft.com/office/drawing/2014/main" id="{2A331E8A-1E6A-FE20-8F46-E5460C5D58E0}"/>
              </a:ext>
            </a:extLst>
          </p:cNvPr>
          <p:cNvCxnSpPr/>
          <p:nvPr/>
        </p:nvCxnSpPr>
        <p:spPr>
          <a:xfrm>
            <a:off x="-261100" y="8955450"/>
            <a:ext cx="612300" cy="14400"/>
          </a:xfrm>
          <a:prstGeom prst="straightConnector1">
            <a:avLst/>
          </a:prstGeom>
          <a:noFill/>
          <a:ln w="952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1069419087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7D4775-6481-7622-3783-E2EB14E2D6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C55645A-FCE3-30F4-4AF9-A83445C9B10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847021A-87E6-4278-7DD6-6F2B7C5F40B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EA06AF2-94C5-6A3C-5918-83919A5C0028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7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기계 판독 인터페이스 제공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5FD2852-CEC1-7178-F50A-8CD0DFDB1BD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7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 err="1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머신리더블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정보 서비스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86BF958-D52C-94DC-7043-67224D24F0E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기계 판독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시스템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·AI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에이전트가 데이터 상태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버전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권리를 자동 판별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(FR-020)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하고 활용정보를 활용도 기반 탐색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(FR-021)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직접 쓸 수 있도록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 API·MCP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인터페이스를 제공하며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안전한 외부연계 통제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(DR-021)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적용함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92A626C-E67B-E421-4188-8D007BAB869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B00AEC4-6AE7-E991-AC2E-9EFC8FAC4E48}"/>
              </a:ext>
            </a:extLst>
          </p:cNvPr>
          <p:cNvSpPr txBox="1"/>
          <p:nvPr/>
        </p:nvSpPr>
        <p:spPr>
          <a:xfrm>
            <a:off x="335011" y="2371141"/>
            <a:ext cx="45322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REST API·MCP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인터페이스 제공 및 안전한 외부연계 통제 적용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DC8DF7F-0F1A-F25B-D116-F6D4468BFDC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FR-020, FR-021, DR-021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EB54D320-8B49-07FC-62BB-5CB778027D04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72DE91-9190-F861-3591-AABDD8C16219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구현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 중심 조회 기능을 기계 호출 가능 구조로 전환하여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시스템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·AI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에이전트가 데이터를 자동 탐색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판별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활용할 수 있도록 </a:t>
            </a:r>
            <a:r>
              <a:rPr kumimoji="1" lang="ko-KR" altLang="en-US" sz="1200" spc="-8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인터페이스를 제공함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(FR-020·FR-021)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정보 표준화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(2.7.1)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공통 스키마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표준 응답 구조를 기반으로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REST API·MCP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방식 제공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포털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챗봇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업무시스템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·AI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에이전트가 직접 호출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재사용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D10C79-F8E9-7811-83D9-36CFF433FBB3}"/>
              </a:ext>
            </a:extLst>
          </p:cNvPr>
          <p:cNvSpPr/>
          <p:nvPr/>
        </p:nvSpPr>
        <p:spPr>
          <a:xfrm>
            <a:off x="31589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C5D9CF44-88F8-E867-85A8-982307B1E8E5}"/>
              </a:ext>
            </a:extLst>
          </p:cNvPr>
          <p:cNvSpPr/>
          <p:nvPr/>
        </p:nvSpPr>
        <p:spPr>
          <a:xfrm>
            <a:off x="315897" y="8642221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인터페이스 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B3E9B8E-B5F3-92C8-2B65-3B7745C70C82}"/>
              </a:ext>
            </a:extLst>
          </p:cNvPr>
          <p:cNvSpPr/>
          <p:nvPr/>
        </p:nvSpPr>
        <p:spPr>
          <a:xfrm>
            <a:off x="189650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635D0E1D-98C5-A949-5600-E61760B3871B}"/>
              </a:ext>
            </a:extLst>
          </p:cNvPr>
          <p:cNvSpPr/>
          <p:nvPr/>
        </p:nvSpPr>
        <p:spPr>
          <a:xfrm>
            <a:off x="1896507" y="8642221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상태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 판별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64CDB12-9C2D-EA39-B10D-5D35D4B40B4D}"/>
              </a:ext>
            </a:extLst>
          </p:cNvPr>
          <p:cNvSpPr/>
          <p:nvPr/>
        </p:nvSpPr>
        <p:spPr>
          <a:xfrm>
            <a:off x="347711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BF484D5B-5122-9C1C-8C7A-0E2D370AED96}"/>
              </a:ext>
            </a:extLst>
          </p:cNvPr>
          <p:cNvSpPr/>
          <p:nvPr/>
        </p:nvSpPr>
        <p:spPr>
          <a:xfrm>
            <a:off x="3477117" y="8642221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활용정보 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4588D3B9-0F56-6506-EE11-B1E059C920D7}"/>
              </a:ext>
            </a:extLst>
          </p:cNvPr>
          <p:cNvSpPr/>
          <p:nvPr/>
        </p:nvSpPr>
        <p:spPr>
          <a:xfrm>
            <a:off x="505772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B08E8580-07E3-B4FA-C08A-1DB5CF4C9CCD}"/>
              </a:ext>
            </a:extLst>
          </p:cNvPr>
          <p:cNvSpPr/>
          <p:nvPr/>
        </p:nvSpPr>
        <p:spPr>
          <a:xfrm>
            <a:off x="5057727" y="8642221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안전 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B5205340-993B-03B5-8437-3D00BF9D9CFA}"/>
              </a:ext>
            </a:extLst>
          </p:cNvPr>
          <p:cNvSpPr/>
          <p:nvPr/>
        </p:nvSpPr>
        <p:spPr>
          <a:xfrm rot="5400000">
            <a:off x="1801098" y="897262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572AFCFF-D29E-758A-D859-6C278AF3023B}"/>
              </a:ext>
            </a:extLst>
          </p:cNvPr>
          <p:cNvSpPr/>
          <p:nvPr/>
        </p:nvSpPr>
        <p:spPr>
          <a:xfrm rot="5400000">
            <a:off x="3386287" y="897262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1CCE4B30-AB2A-251E-7916-9F3ABBD916A5}"/>
              </a:ext>
            </a:extLst>
          </p:cNvPr>
          <p:cNvSpPr/>
          <p:nvPr/>
        </p:nvSpPr>
        <p:spPr>
          <a:xfrm rot="5400000">
            <a:off x="4966713" y="897263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9028B830-3D79-F8D8-8520-D56A59875B7E}"/>
              </a:ext>
            </a:extLst>
          </p:cNvPr>
          <p:cNvSpPr/>
          <p:nvPr/>
        </p:nvSpPr>
        <p:spPr>
          <a:xfrm rot="5400000">
            <a:off x="1801098" y="897262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6BF777F0-16E1-344E-B353-1ED8590A3A7B}"/>
              </a:ext>
            </a:extLst>
          </p:cNvPr>
          <p:cNvSpPr/>
          <p:nvPr/>
        </p:nvSpPr>
        <p:spPr>
          <a:xfrm rot="5400000">
            <a:off x="3386287" y="897262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EAD5B107-3758-D811-EAEA-2DD08BCB8766}"/>
              </a:ext>
            </a:extLst>
          </p:cNvPr>
          <p:cNvSpPr/>
          <p:nvPr/>
        </p:nvSpPr>
        <p:spPr>
          <a:xfrm rot="5400000">
            <a:off x="4966713" y="897263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13FC0B9-E569-C770-764C-8E24E31FFB0B}"/>
              </a:ext>
            </a:extLst>
          </p:cNvPr>
          <p:cNvSpPr txBox="1"/>
          <p:nvPr/>
        </p:nvSpPr>
        <p:spPr>
          <a:xfrm>
            <a:off x="34285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REST API·MCP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기계 호출 구조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735FFE0-10C9-6AA6-E996-F9A088F43178}"/>
              </a:ext>
            </a:extLst>
          </p:cNvPr>
          <p:cNvSpPr txBox="1"/>
          <p:nvPr/>
        </p:nvSpPr>
        <p:spPr>
          <a:xfrm>
            <a:off x="1923466" y="891103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권리 자동 판별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A749A9D-603C-676A-993A-CDFBF8CC52B4}"/>
              </a:ext>
            </a:extLst>
          </p:cNvPr>
          <p:cNvSpPr txBox="1"/>
          <p:nvPr/>
        </p:nvSpPr>
        <p:spPr>
          <a:xfrm>
            <a:off x="3504076" y="891103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 통계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유효지표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추세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6537B21-1C1A-A1C0-DDC4-651B9C7566C8}"/>
              </a:ext>
            </a:extLst>
          </p:cNvPr>
          <p:cNvSpPr txBox="1"/>
          <p:nvPr/>
        </p:nvSpPr>
        <p:spPr>
          <a:xfrm>
            <a:off x="508468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게이트웨이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통제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2E6BEEA-D38F-692B-E101-D9C2A807C736}"/>
              </a:ext>
            </a:extLst>
          </p:cNvPr>
          <p:cNvSpPr/>
          <p:nvPr/>
        </p:nvSpPr>
        <p:spPr>
          <a:xfrm>
            <a:off x="316309" y="378196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조건 제공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데이터셋의 상태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방식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권리 조건을 기계가 판별할 수 있는 구조화 정보로 제공함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(FR-020)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 여부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가능 여부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중단 여부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 버전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 갱신일을 구조화 상태정보로 제공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연계하여 상태 변경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갱신을 준실시간 반영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버전 번호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변경일시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 코드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E289942-DEBF-CEE6-7D1A-5A6E4910E279}"/>
              </a:ext>
            </a:extLst>
          </p:cNvPr>
          <p:cNvSpPr/>
          <p:nvPr/>
        </p:nvSpPr>
        <p:spPr>
          <a:xfrm>
            <a:off x="316309" y="487514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메타조회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복합 조건 검색과 데이터셋 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단일 호출 통합 조회를 제공함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(FR-020)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키워드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최신성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목적 복합 조건 정밀 검색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ID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단일 호출로 메타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제공방식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권리조건 통합 조회 → 에이전트 자동 탐색 효율 향상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DAF4792-C3F4-5C22-0C44-5F032C1B75A2}"/>
              </a:ext>
            </a:extLst>
          </p:cNvPr>
          <p:cNvSpPr/>
          <p:nvPr/>
        </p:nvSpPr>
        <p:spPr>
          <a:xfrm>
            <a:off x="316309" y="7910252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API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명세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외부연계 정의서로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정보 표준화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(2.7.1)·API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온톨로지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지식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DB(2.5.3)·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라이프사이클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(2.3)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6541294A-048A-CD5E-0760-4BA4A8B27CDB}"/>
              </a:ext>
            </a:extLst>
          </p:cNvPr>
          <p:cNvSpPr/>
          <p:nvPr/>
        </p:nvSpPr>
        <p:spPr>
          <a:xfrm>
            <a:off x="316309" y="5709385"/>
            <a:ext cx="6286697" cy="105758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활용정보 제공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통계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 활용지표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 연계 정보를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구조화하여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제공함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(FR-021)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통계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전송량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순위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증감률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유효 활용지표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Effective Use·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성과등록 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재사용 빈도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단순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조회량이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아닌 실제 활용도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추천 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기간별 증감률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시계열 추세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인기 순위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도메인별 편차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2736F8BB-9C39-9193-AAD1-7EED1F15E9FF}"/>
              </a:ext>
            </a:extLst>
          </p:cNvPr>
          <p:cNvSpPr/>
          <p:nvPr/>
        </p:nvSpPr>
        <p:spPr>
          <a:xfrm>
            <a:off x="316309" y="6765222"/>
            <a:ext cx="6286697" cy="101911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외부연계 설계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연계 대상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방식을 정의하고 안전한 연계 통제를 적용함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(DR-021)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연계 대상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에이전트 서비스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카탈로그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저작권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라이선스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 플랫폼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인증기관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안전 통제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게이트웨이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인증키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·IP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호출량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제한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암호화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 재시도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비식별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메타 중심 연계 우선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6DEFF019-80F3-8F3D-436D-3A2335266135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4278519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81AF4D-FDCF-570D-F658-74D7DB0306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2A8BF60-F36B-66F1-4D5F-A66A20936CF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C99B962-132F-E50B-AC60-A6F25D4AE22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042DFE4-F4C5-B58C-446B-5CC1D945311A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7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접근 권한 관리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1A89FDA-5AC0-B231-E8BD-468F315F67E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7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 err="1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머신리더블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정보 서비스 구현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8F04725-AA9F-2D48-8BD9-6CDA8348327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역할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등급 통제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역할기반 접근제어와 데이터 등급별 차등 통제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(FR-015)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적용하고 신청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회수의 권한 생애주기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(DR-024)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관리하며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물리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기술 보안통제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(SR-002)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안전한 접근 권한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C289605-52D6-574D-D879-2A2EFE9CDB3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7F1BFA2-7A56-3879-BCA9-8A2119381F1B}"/>
              </a:ext>
            </a:extLst>
          </p:cNvPr>
          <p:cNvSpPr txBox="1"/>
          <p:nvPr/>
        </p:nvSpPr>
        <p:spPr>
          <a:xfrm>
            <a:off x="335012" y="2371141"/>
            <a:ext cx="33225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역할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등급별 통제 및 접근 권한체계 구현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BAAF6485-4742-4CFB-CDB8-2E0B2719964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FR-015, DR-024, SR-002</a:t>
            </a:r>
          </a:p>
        </p:txBody>
      </p:sp>
      <p:sp>
        <p:nvSpPr>
          <p:cNvPr id="8" name="모서리가 둥근 직사각형 222">
            <a:extLst>
              <a:ext uri="{FF2B5EF4-FFF2-40B4-BE49-F238E27FC236}">
                <a16:creationId xmlns:a16="http://schemas.microsoft.com/office/drawing/2014/main" id="{65584EA1-E0A7-7ABC-A3A8-AD1E6500424E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0D0980F-5CDC-972D-CD09-C0664341DE85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접근을 역할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등급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목적에 따라 차등 통제하여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인가된 주체만 적정 범위의 데이터에 접근하도록 보안을 확보함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(FR-015·DR-024·SR-002)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최소 권한 원칙을 적용하여 과다 권한 부여를 방지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인증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(2.7.2)·API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의 접근 통제 계층 담당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3E83356-5CCD-699B-F7E1-0BB8B3DB3766}"/>
              </a:ext>
            </a:extLst>
          </p:cNvPr>
          <p:cNvSpPr/>
          <p:nvPr/>
        </p:nvSpPr>
        <p:spPr>
          <a:xfrm>
            <a:off x="31589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D24E6311-F720-D941-A8E7-7E9531EB2ABA}"/>
              </a:ext>
            </a:extLst>
          </p:cNvPr>
          <p:cNvSpPr/>
          <p:nvPr/>
        </p:nvSpPr>
        <p:spPr>
          <a:xfrm>
            <a:off x="315897" y="8642221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인터페이스 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290C7AC-9109-5474-A054-B29A92FA9FE4}"/>
              </a:ext>
            </a:extLst>
          </p:cNvPr>
          <p:cNvSpPr/>
          <p:nvPr/>
        </p:nvSpPr>
        <p:spPr>
          <a:xfrm>
            <a:off x="189650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36859CCC-0AF3-0C20-485A-FA4E190D2CAC}"/>
              </a:ext>
            </a:extLst>
          </p:cNvPr>
          <p:cNvSpPr/>
          <p:nvPr/>
        </p:nvSpPr>
        <p:spPr>
          <a:xfrm>
            <a:off x="1896507" y="8642221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상태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조건 판별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07569BF4-6C68-BAEF-0B86-65D50F7C9118}"/>
              </a:ext>
            </a:extLst>
          </p:cNvPr>
          <p:cNvSpPr/>
          <p:nvPr/>
        </p:nvSpPr>
        <p:spPr>
          <a:xfrm>
            <a:off x="347711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59D903BD-3E28-0C48-672E-0A1DC5C86997}"/>
              </a:ext>
            </a:extLst>
          </p:cNvPr>
          <p:cNvSpPr/>
          <p:nvPr/>
        </p:nvSpPr>
        <p:spPr>
          <a:xfrm>
            <a:off x="3477117" y="8642221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활용정보 제공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0A030055-7E37-4E84-3551-00CBF7AA00FA}"/>
              </a:ext>
            </a:extLst>
          </p:cNvPr>
          <p:cNvSpPr/>
          <p:nvPr/>
        </p:nvSpPr>
        <p:spPr>
          <a:xfrm>
            <a:off x="5057727" y="864222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37369C03-E990-36F8-14A5-D528CF3B045C}"/>
              </a:ext>
            </a:extLst>
          </p:cNvPr>
          <p:cNvSpPr/>
          <p:nvPr/>
        </p:nvSpPr>
        <p:spPr>
          <a:xfrm>
            <a:off x="5057727" y="8642221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안전 연계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DE9573A3-1D41-DC60-F12C-DE3F82F503DE}"/>
              </a:ext>
            </a:extLst>
          </p:cNvPr>
          <p:cNvSpPr/>
          <p:nvPr/>
        </p:nvSpPr>
        <p:spPr>
          <a:xfrm rot="5400000">
            <a:off x="1801098" y="897262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26BA2749-FA43-2442-65AD-435BD73F973A}"/>
              </a:ext>
            </a:extLst>
          </p:cNvPr>
          <p:cNvSpPr/>
          <p:nvPr/>
        </p:nvSpPr>
        <p:spPr>
          <a:xfrm rot="5400000">
            <a:off x="3386287" y="897262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A63780EC-869A-34AC-CC09-9C07E2725AD1}"/>
              </a:ext>
            </a:extLst>
          </p:cNvPr>
          <p:cNvSpPr/>
          <p:nvPr/>
        </p:nvSpPr>
        <p:spPr>
          <a:xfrm rot="5400000">
            <a:off x="4966713" y="897263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3823C7B1-2A9D-31A0-C7A5-F98E44D261C9}"/>
              </a:ext>
            </a:extLst>
          </p:cNvPr>
          <p:cNvSpPr/>
          <p:nvPr/>
        </p:nvSpPr>
        <p:spPr>
          <a:xfrm rot="5400000">
            <a:off x="1801098" y="897262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D7BB6B58-E6FB-5427-2F44-E0224D0B9E2B}"/>
              </a:ext>
            </a:extLst>
          </p:cNvPr>
          <p:cNvSpPr/>
          <p:nvPr/>
        </p:nvSpPr>
        <p:spPr>
          <a:xfrm rot="5400000">
            <a:off x="3386287" y="897262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C7D42405-99CF-73FA-49A5-C2EABEDCC0A9}"/>
              </a:ext>
            </a:extLst>
          </p:cNvPr>
          <p:cNvSpPr/>
          <p:nvPr/>
        </p:nvSpPr>
        <p:spPr>
          <a:xfrm rot="5400000">
            <a:off x="4966713" y="897263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3C1A174-FF4A-9788-D689-F5AAE3EB1C57}"/>
              </a:ext>
            </a:extLst>
          </p:cNvPr>
          <p:cNvSpPr txBox="1"/>
          <p:nvPr/>
        </p:nvSpPr>
        <p:spPr>
          <a:xfrm>
            <a:off x="34285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REST API·MCP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기계 호출 구조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F5A6E1C-027E-5487-501F-996D5FE51A04}"/>
              </a:ext>
            </a:extLst>
          </p:cNvPr>
          <p:cNvSpPr txBox="1"/>
          <p:nvPr/>
        </p:nvSpPr>
        <p:spPr>
          <a:xfrm>
            <a:off x="1923466" y="891103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권리 자동 판별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20D4826-7384-1800-0449-AFDB3E7375CF}"/>
              </a:ext>
            </a:extLst>
          </p:cNvPr>
          <p:cNvSpPr txBox="1"/>
          <p:nvPr/>
        </p:nvSpPr>
        <p:spPr>
          <a:xfrm>
            <a:off x="3504076" y="891103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 통계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유효지표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추세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398C2AA-ABAD-2A3A-ADD6-A0B905EFEC01}"/>
              </a:ext>
            </a:extLst>
          </p:cNvPr>
          <p:cNvSpPr txBox="1"/>
          <p:nvPr/>
        </p:nvSpPr>
        <p:spPr>
          <a:xfrm>
            <a:off x="5084686" y="891103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게이트웨이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통제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BBAB0AC-E4BF-AB9E-79BD-528360BB10D8}"/>
              </a:ext>
            </a:extLst>
          </p:cNvPr>
          <p:cNvSpPr/>
          <p:nvPr/>
        </p:nvSpPr>
        <p:spPr>
          <a:xfrm>
            <a:off x="316309" y="378196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역할기반 접근제어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일반사용자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기관담당자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검토자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승인자 등 역할별로 기능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접근범위를 차등 부여함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역할별 접근 가능 기능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범위를 사전 정의하고 데이터셋별 이용정책과 연계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역할 변경 시 권한을 즉시 조정하여 권한 잔존을 방지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F661F63-4237-BEDE-8623-D44D054B5034}"/>
              </a:ext>
            </a:extLst>
          </p:cNvPr>
          <p:cNvSpPr/>
          <p:nvPr/>
        </p:nvSpPr>
        <p:spPr>
          <a:xfrm>
            <a:off x="316309" y="487514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등급별 차등 통제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 데이터와 제한 데이터에 서로 다른 통제 수준을 적용함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(FR-015·SR-002)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공개 데이터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기본 인증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자유 조회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다운로드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제한 데이터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강화 인증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반출 통제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목적 확인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59DE87B-B0CE-244B-5A60-6A90CBE08086}"/>
              </a:ext>
            </a:extLst>
          </p:cNvPr>
          <p:cNvSpPr/>
          <p:nvPr/>
        </p:nvSpPr>
        <p:spPr>
          <a:xfrm>
            <a:off x="316309" y="785002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권한체계 설계서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접근 통제 정책서로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인증활용 계정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(DR-024)·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인터페이스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(2.7.2)·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외부제공 운영지원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(2.6.4)·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기반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(Module 4)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F3EBDF7-9BA2-0C9D-1A95-06AED44EA5A0}"/>
              </a:ext>
            </a:extLst>
          </p:cNvPr>
          <p:cNvSpPr/>
          <p:nvPr/>
        </p:nvSpPr>
        <p:spPr>
          <a:xfrm>
            <a:off x="316309" y="5709385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생애주기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이용신청→승인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부여→이용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모니터링→회수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만료의 권한 생애주기를 통합 관리함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(FR-015·DR-024)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인증활용 계정 기반으로 신청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승인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부여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 만료 처리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호출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활용 이력을 계정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데이터셋 단위로 모니터링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388D48B-7327-205B-EEBD-C58BD90FCE8C}"/>
              </a:ext>
            </a:extLst>
          </p:cNvPr>
          <p:cNvSpPr/>
          <p:nvPr/>
        </p:nvSpPr>
        <p:spPr>
          <a:xfrm>
            <a:off x="316309" y="6765222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정기 점검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보안통제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권한을 정기 점검하고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물리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기술 보안통제를 적용함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(FR-015·SR-002)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정기 점검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반기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권한 보유자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사유 적정성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장기 미사용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(90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비활성화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퇴직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직무변경자 회수 이행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점검 결과 문서화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정보보안 담당관 보고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별첨 보안 준수사항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국가 정보보안 기본지침 준용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133011264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3C9047-1D1A-81AA-7A98-6D322B75A4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6D15AD9-4306-41ED-BBAB-F16508D4675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6D6D367-B414-1356-5D4E-72DC4E7965A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66F33C-280B-4DD7-4970-D4D0FE33E84B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8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개발 방법론 적용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49E44F8-B974-158B-2C22-4C7E098201C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8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개발 방법론 적용 및 시험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F3C28B7-2C02-23DA-70DF-5497523E444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병렬 개발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사업기간에 대응하여 반복형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개발 방법론과 모듈별 병렬 개발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(DR-016)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적용하고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사업수행계획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보고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인수인계의 체계적 프로젝트 관리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(OR-001)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완성도와 일정 준수를 확보함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460883E-0F10-8134-DD70-927E926378F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CAF9DE8-46A9-44F8-FC36-65304034CF88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일정 준수 확보를 위한 모듈별 병렬 개발 적용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0C70F34-D351-0BA7-A61C-25F21B97C8B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DR-016, OR-001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218D577E-5322-A4DE-4078-A7EA9B8A7689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58989A-4FB8-B45A-5DEE-F9A68AF7CB71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방법론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짧은 사업기간 내 대규모 통합체계를 안정적으로 구축하기 위해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반복형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개발과 모듈별 병렬 개발을 결합하고 체계적 프로젝트 관리를 적용함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(DR-016·OR-001)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 기능 우선 구축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조기 검증으로 서비스 개시 리스크 최소화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컨소시엄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사의 병렬 개발을 인터페이스 기반으로 통합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3A259AB-2EA8-5F4D-4510-CADA4E499B90}"/>
              </a:ext>
            </a:extLst>
          </p:cNvPr>
          <p:cNvSpPr/>
          <p:nvPr/>
        </p:nvSpPr>
        <p:spPr>
          <a:xfrm>
            <a:off x="315897" y="84643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24D9A036-1F69-B830-A72D-1E950E25B606}"/>
              </a:ext>
            </a:extLst>
          </p:cNvPr>
          <p:cNvSpPr/>
          <p:nvPr/>
        </p:nvSpPr>
        <p:spPr>
          <a:xfrm>
            <a:off x="315897" y="8464371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분석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7B0AB0A-2EC8-A2B8-BA2E-32E42AA7EABD}"/>
              </a:ext>
            </a:extLst>
          </p:cNvPr>
          <p:cNvSpPr/>
          <p:nvPr/>
        </p:nvSpPr>
        <p:spPr>
          <a:xfrm>
            <a:off x="1896507" y="84643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7CEDD2F8-93C0-292E-7A74-69EDDA262B3A}"/>
              </a:ext>
            </a:extLst>
          </p:cNvPr>
          <p:cNvSpPr/>
          <p:nvPr/>
        </p:nvSpPr>
        <p:spPr>
          <a:xfrm>
            <a:off x="1896507" y="8464371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반복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병렬 개발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CE5DBD24-DC51-47A3-FEC4-B61AAB2DB9B2}"/>
              </a:ext>
            </a:extLst>
          </p:cNvPr>
          <p:cNvSpPr/>
          <p:nvPr/>
        </p:nvSpPr>
        <p:spPr>
          <a:xfrm>
            <a:off x="3477117" y="84643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CFD463E8-729D-BD0B-E97D-DBC616EFB374}"/>
              </a:ext>
            </a:extLst>
          </p:cNvPr>
          <p:cNvSpPr/>
          <p:nvPr/>
        </p:nvSpPr>
        <p:spPr>
          <a:xfrm>
            <a:off x="3477117" y="8464371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시험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AFAC2179-2BBC-91F5-6A93-87A96B4C4578}"/>
              </a:ext>
            </a:extLst>
          </p:cNvPr>
          <p:cNvSpPr/>
          <p:nvPr/>
        </p:nvSpPr>
        <p:spPr>
          <a:xfrm>
            <a:off x="5057727" y="8464370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08BC9865-58A1-B711-7CCA-C10C38F2A325}"/>
              </a:ext>
            </a:extLst>
          </p:cNvPr>
          <p:cNvSpPr/>
          <p:nvPr/>
        </p:nvSpPr>
        <p:spPr>
          <a:xfrm>
            <a:off x="5057727" y="8464371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시범운영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C65C8100-437E-CA00-7DD3-708BA10F322E}"/>
              </a:ext>
            </a:extLst>
          </p:cNvPr>
          <p:cNvSpPr/>
          <p:nvPr/>
        </p:nvSpPr>
        <p:spPr>
          <a:xfrm rot="5400000">
            <a:off x="1801098" y="879477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8EAE6059-5D60-8483-B00E-09F68E66A2E7}"/>
              </a:ext>
            </a:extLst>
          </p:cNvPr>
          <p:cNvSpPr/>
          <p:nvPr/>
        </p:nvSpPr>
        <p:spPr>
          <a:xfrm rot="5400000">
            <a:off x="3386287" y="879477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E58963B1-539E-AD71-FBB3-D762212ED044}"/>
              </a:ext>
            </a:extLst>
          </p:cNvPr>
          <p:cNvSpPr/>
          <p:nvPr/>
        </p:nvSpPr>
        <p:spPr>
          <a:xfrm rot="5400000">
            <a:off x="4966713" y="879478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50CD78C9-3AB1-A42F-C951-E69D092B03F5}"/>
              </a:ext>
            </a:extLst>
          </p:cNvPr>
          <p:cNvSpPr/>
          <p:nvPr/>
        </p:nvSpPr>
        <p:spPr>
          <a:xfrm rot="5400000">
            <a:off x="1801098" y="8794778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385E0699-3E64-B74C-25A2-9F62BEE7717E}"/>
              </a:ext>
            </a:extLst>
          </p:cNvPr>
          <p:cNvSpPr/>
          <p:nvPr/>
        </p:nvSpPr>
        <p:spPr>
          <a:xfrm rot="5400000">
            <a:off x="3386287" y="8794779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6D827812-3472-7F3A-64C2-23A8DE7AE3C6}"/>
              </a:ext>
            </a:extLst>
          </p:cNvPr>
          <p:cNvSpPr/>
          <p:nvPr/>
        </p:nvSpPr>
        <p:spPr>
          <a:xfrm rot="5400000">
            <a:off x="4966713" y="8794780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92D43D8-0898-02E2-E709-31DC0EA34A37}"/>
              </a:ext>
            </a:extLst>
          </p:cNvPr>
          <p:cNvSpPr txBox="1"/>
          <p:nvPr/>
        </p:nvSpPr>
        <p:spPr>
          <a:xfrm>
            <a:off x="342856" y="873318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요구사항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아키텍처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2D474F1-1C83-B472-4A33-C2105D7ECDC4}"/>
              </a:ext>
            </a:extLst>
          </p:cNvPr>
          <p:cNvSpPr txBox="1"/>
          <p:nvPr/>
        </p:nvSpPr>
        <p:spPr>
          <a:xfrm>
            <a:off x="1923466" y="873318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모듈별 반복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컨소시엄 병렬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9958EC6-ECED-6BFA-F081-A75D93CCDE47}"/>
              </a:ext>
            </a:extLst>
          </p:cNvPr>
          <p:cNvSpPr txBox="1"/>
          <p:nvPr/>
        </p:nvSpPr>
        <p:spPr>
          <a:xfrm>
            <a:off x="3504076" y="8733184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 시험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F71A494-6E0F-3414-91A4-A5A6DAB30788}"/>
              </a:ext>
            </a:extLst>
          </p:cNvPr>
          <p:cNvSpPr txBox="1"/>
          <p:nvPr/>
        </p:nvSpPr>
        <p:spPr>
          <a:xfrm>
            <a:off x="5084686" y="8733184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안정화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정기 보고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인수인계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C264CE9-04DD-7068-9B54-FF6B3C0E0423}"/>
              </a:ext>
            </a:extLst>
          </p:cNvPr>
          <p:cNvSpPr/>
          <p:nvPr/>
        </p:nvSpPr>
        <p:spPr>
          <a:xfrm>
            <a:off x="316309" y="3781961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반복형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 개발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분석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설계→반복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개발→시험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통합→시범운영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안정화의 단계로 진행하되 모듈별 반복 구현을 적용함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분석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요구사항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아키텍처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 개발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모듈별 반복 구현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시험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시범운영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각 반복 주기마다 검증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피드백을 반영하여 품질을 점진 향상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1E92B88-1931-163A-F5C7-8BDD1F2A0387}"/>
              </a:ext>
            </a:extLst>
          </p:cNvPr>
          <p:cNvSpPr/>
          <p:nvPr/>
        </p:nvSpPr>
        <p:spPr>
          <a:xfrm>
            <a:off x="316309" y="487514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모듈별 병렬 개발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독립성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 기반 연계를 활용하여 컨소시엄 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사가 모듈을 병렬 개발함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공통 모듈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필수 우선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머신리더블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모듈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차 고도화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 표준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(DR-017)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으로 통합 지점을 최소화하고 병렬 개발 효율 확보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B402F69-4B8B-F69D-EE02-14EF7658D8C5}"/>
              </a:ext>
            </a:extLst>
          </p:cNvPr>
          <p:cNvSpPr/>
          <p:nvPr/>
        </p:nvSpPr>
        <p:spPr>
          <a:xfrm>
            <a:off x="316309" y="7615046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사업수행계획서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 방법론 정의서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·WBS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프로토타입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(2.8.2)·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성능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시험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(2.8.3)·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안정성 우선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(2.8.4)·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 구조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(2.1.1)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와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72DCF96-04D0-DB2C-2EB0-D4BC71DAA5D7}"/>
              </a:ext>
            </a:extLst>
          </p:cNvPr>
          <p:cNvSpPr/>
          <p:nvPr/>
        </p:nvSpPr>
        <p:spPr>
          <a:xfrm>
            <a:off x="316309" y="5709385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프로젝트 관리 체계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사업수행계획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일정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진도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정기 보고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인수인계의 프로젝트 관리를 수행함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(OR-001)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계약 후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10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일 내 사업수행계획서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세부 산출내역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추진일정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PM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도구 기반 세부일정 관리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주간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월간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중간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최종 정기 회의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사업 종료 전 인수인계 계획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문서화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5BE9BED-D231-18DD-AF8B-7BD957F7B2DC}"/>
              </a:ext>
            </a:extLst>
          </p:cNvPr>
          <p:cNvSpPr/>
          <p:nvPr/>
        </p:nvSpPr>
        <p:spPr>
          <a:xfrm>
            <a:off x="316309" y="6610488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리스크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규정 준수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품질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리스크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이슈 관리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감리 협조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범정부 정보자원관리시스템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(IRM)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원격지 개발 시 보안관리대책을 적용함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(OR-001)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이슈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문제점 내용보고서 작성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사업 종료 전 정보자원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IRM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등록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현행화ㅎ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8" name="Google Shape;4558;p82">
            <a:extLst>
              <a:ext uri="{FF2B5EF4-FFF2-40B4-BE49-F238E27FC236}">
                <a16:creationId xmlns:a16="http://schemas.microsoft.com/office/drawing/2014/main" id="{D796527A-9DC4-F618-E73F-9871C7AC8163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68718233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A4498D-19BE-1499-659B-02BF218D56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ADCD105-53FF-8D6E-DF54-90DA42E417E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A1C5735-2961-C314-F39A-6BACDBBA475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ADADF1-A79C-DD0E-A179-EBEE26D0207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8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개발 방법론 적용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D918C1-E639-B6D5-5BE5-806511F64E4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8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개발 방법론 적용 및 시험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4E1A91D-9227-0183-A2A3-F7662C12D7F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반복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병렬 개발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사업기간에 대응하여 반복형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개발 방법론과 모듈별 병렬 개발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(DR-016)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적용하고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사업수행계획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보고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인수인계의 체계적 프로젝트 관리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(OR-001)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로 완성도와 일정 준수를 확보함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33EFCC3-4646-9978-9D6F-5837DF1050B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EDB89CE-F4E9-8657-54DF-9404825923A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방법론 및 프로젝트 관리 구조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40699B1-55D9-F25F-7012-3805066500E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DR-016, OR-001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17E0DF41-8181-4B4D-590A-96AB837EB24E}"/>
              </a:ext>
            </a:extLst>
          </p:cNvPr>
          <p:cNvSpPr/>
          <p:nvPr/>
        </p:nvSpPr>
        <p:spPr bwMode="gray">
          <a:xfrm>
            <a:off x="258881" y="2666394"/>
            <a:ext cx="6331426" cy="4358520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F87E027C-4FD4-DAE2-1361-A14697C5C732}"/>
              </a:ext>
            </a:extLst>
          </p:cNvPr>
          <p:cNvCxnSpPr>
            <a:cxnSpLocks/>
          </p:cNvCxnSpPr>
          <p:nvPr/>
        </p:nvCxnSpPr>
        <p:spPr>
          <a:xfrm>
            <a:off x="312925" y="714419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30B24B06-EA5A-4BDB-EBCC-DAC578DF51DE}"/>
              </a:ext>
            </a:extLst>
          </p:cNvPr>
          <p:cNvSpPr txBox="1"/>
          <p:nvPr/>
        </p:nvSpPr>
        <p:spPr>
          <a:xfrm>
            <a:off x="335011" y="711811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방법론 핵심 요소</a:t>
            </a:r>
          </a:p>
        </p:txBody>
      </p:sp>
      <p:sp>
        <p:nvSpPr>
          <p:cNvPr id="19" name="모서리가 둥근 직사각형 222">
            <a:extLst>
              <a:ext uri="{FF2B5EF4-FFF2-40B4-BE49-F238E27FC236}">
                <a16:creationId xmlns:a16="http://schemas.microsoft.com/office/drawing/2014/main" id="{1D5BC8A1-396B-B9BD-43EA-0245A5F9BEC4}"/>
              </a:ext>
            </a:extLst>
          </p:cNvPr>
          <p:cNvSpPr/>
          <p:nvPr/>
        </p:nvSpPr>
        <p:spPr bwMode="gray">
          <a:xfrm>
            <a:off x="258881" y="7416571"/>
            <a:ext cx="6331426" cy="226002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75ACD2-D00A-7900-537C-128B283F73BE}"/>
              </a:ext>
            </a:extLst>
          </p:cNvPr>
          <p:cNvSpPr/>
          <p:nvPr/>
        </p:nvSpPr>
        <p:spPr>
          <a:xfrm>
            <a:off x="316309" y="911611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단계별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반복형 개발로 품질을 점진 향상하고 모듈 독립성을 활용해 컨소시엄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사가 병렬 개발함으로써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4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개월의 짧은 기간에도 대규모 통합체계를 안정적으로 구축하고 일정을 준수함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24" name="Table 0">
            <a:extLst>
              <a:ext uri="{FF2B5EF4-FFF2-40B4-BE49-F238E27FC236}">
                <a16:creationId xmlns:a16="http://schemas.microsoft.com/office/drawing/2014/main" id="{033145BD-A179-306D-3C3F-2F81806515C1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498585"/>
          <a:ext cx="6154318" cy="1580336"/>
        </p:xfrm>
        <a:graphic>
          <a:graphicData uri="http://schemas.openxmlformats.org/drawingml/2006/table">
            <a:tbl>
              <a:tblPr/>
              <a:tblGrid>
                <a:gridCol w="116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60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3261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8821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 대응 효과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단계별 개발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분석→개발→시험→시범운영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단계별 리스크 조기 관리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DR-016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37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반복 개발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모듈별 반복 구현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 점진 향상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DR-016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 병렬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컨소시엄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 병렬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기간 단축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DR-016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우선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 기능 우선 구축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개시 리스크↓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DR-018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PM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체계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계획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인수인계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일정 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완성도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OR-001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149473"/>
                  </a:ext>
                </a:extLst>
              </a:tr>
            </a:tbl>
          </a:graphicData>
        </a:graphic>
      </p:graphicFrame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E1740E90-7F64-FB18-119B-9A68561FE78A}"/>
              </a:ext>
            </a:extLst>
          </p:cNvPr>
          <p:cNvSpPr/>
          <p:nvPr/>
        </p:nvSpPr>
        <p:spPr>
          <a:xfrm>
            <a:off x="312925" y="2744233"/>
            <a:ext cx="6221225" cy="1058147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093620EE-C9FD-3922-0D75-384FF7464196}"/>
              </a:ext>
            </a:extLst>
          </p:cNvPr>
          <p:cNvSpPr/>
          <p:nvPr/>
        </p:nvSpPr>
        <p:spPr>
          <a:xfrm>
            <a:off x="306574" y="2723132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반복형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개발 방법론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(4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사업 대응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AE4A6F3A-B2AA-AE77-EFD7-C3AA75DE4810}"/>
              </a:ext>
            </a:extLst>
          </p:cNvPr>
          <p:cNvSpPr/>
          <p:nvPr/>
        </p:nvSpPr>
        <p:spPr>
          <a:xfrm>
            <a:off x="431064" y="3062028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</a:t>
            </a:r>
            <a:r>
              <a:rPr lang="en-US" altLang="ko-KR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아키텍처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2AB73EC2-C783-FCE7-6905-156803FEC89E}"/>
              </a:ext>
            </a:extLst>
          </p:cNvPr>
          <p:cNvSpPr/>
          <p:nvPr/>
        </p:nvSpPr>
        <p:spPr>
          <a:xfrm>
            <a:off x="5044637" y="3062028"/>
            <a:ext cx="1365986" cy="44873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시범운영</a:t>
            </a:r>
            <a:endParaRPr lang="en-US" altLang="ko-KR" sz="12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안정화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F3057B9-0C64-9489-ACE1-730E65A19241}"/>
              </a:ext>
            </a:extLst>
          </p:cNvPr>
          <p:cNvSpPr/>
          <p:nvPr/>
        </p:nvSpPr>
        <p:spPr>
          <a:xfrm>
            <a:off x="1969233" y="3062028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반복 개발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모듈별 반복 구현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F522FC6-BA01-A1B4-24D9-11FDB42B44B2}"/>
              </a:ext>
            </a:extLst>
          </p:cNvPr>
          <p:cNvSpPr/>
          <p:nvPr/>
        </p:nvSpPr>
        <p:spPr>
          <a:xfrm>
            <a:off x="3507402" y="3062028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 시험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40CF8AB-B803-F24E-1DB1-73523F74CE0C}"/>
              </a:ext>
            </a:extLst>
          </p:cNvPr>
          <p:cNvSpPr/>
          <p:nvPr/>
        </p:nvSpPr>
        <p:spPr>
          <a:xfrm>
            <a:off x="312925" y="3963092"/>
            <a:ext cx="6221225" cy="889221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사각형: 둥근 위쪽 모서리 56">
            <a:extLst>
              <a:ext uri="{FF2B5EF4-FFF2-40B4-BE49-F238E27FC236}">
                <a16:creationId xmlns:a16="http://schemas.microsoft.com/office/drawing/2014/main" id="{013634F5-DB1C-AF2C-E26B-3A53FDB6FB4D}"/>
              </a:ext>
            </a:extLst>
          </p:cNvPr>
          <p:cNvSpPr/>
          <p:nvPr/>
        </p:nvSpPr>
        <p:spPr>
          <a:xfrm>
            <a:off x="306574" y="3941502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모듈별 병렬 개발 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(DR-016)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B2CC4ED-5A2E-CE34-BEF7-7A2451A7F79D}"/>
              </a:ext>
            </a:extLst>
          </p:cNvPr>
          <p:cNvSpPr/>
          <p:nvPr/>
        </p:nvSpPr>
        <p:spPr>
          <a:xfrm>
            <a:off x="431064" y="425134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공통 모듈</a:t>
            </a: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필수 우선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2C7DC9F-CD60-F0AF-8630-4E9C5DE7F2DA}"/>
              </a:ext>
            </a:extLst>
          </p:cNvPr>
          <p:cNvSpPr/>
          <p:nvPr/>
        </p:nvSpPr>
        <p:spPr>
          <a:xfrm>
            <a:off x="2555428" y="425134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머신리더블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모듈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차 고도화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66CEFFD5-CB79-F195-5D24-CA730F42FA31}"/>
              </a:ext>
            </a:extLst>
          </p:cNvPr>
          <p:cNvSpPr/>
          <p:nvPr/>
        </p:nvSpPr>
        <p:spPr>
          <a:xfrm>
            <a:off x="4631887" y="4251346"/>
            <a:ext cx="1778736" cy="512067"/>
          </a:xfrm>
          <a:prstGeom prst="roundRect">
            <a:avLst>
              <a:gd name="adj" fmla="val 699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컨소시엄 병렬 개발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인터페이스 기반 통합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F7737C-E88E-0BB1-1895-F248CAB64658}"/>
              </a:ext>
            </a:extLst>
          </p:cNvPr>
          <p:cNvSpPr/>
          <p:nvPr/>
        </p:nvSpPr>
        <p:spPr>
          <a:xfrm>
            <a:off x="349464" y="5970513"/>
            <a:ext cx="6147888" cy="470988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활동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품질</a:t>
            </a:r>
            <a:r>
              <a:rPr kumimoji="0" lang="en-US" altLang="ko-KR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리스크</a:t>
            </a:r>
            <a:r>
              <a:rPr kumimoji="0" lang="en-US" altLang="ko-KR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이슈 관리 </a:t>
            </a:r>
            <a:r>
              <a:rPr kumimoji="0" lang="en-US" altLang="ko-KR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감리 협조 </a:t>
            </a:r>
            <a:r>
              <a:rPr kumimoji="0" lang="en-US" altLang="ko-KR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범정부 정보자원관리시스템</a:t>
            </a:r>
            <a:r>
              <a:rPr kumimoji="0" lang="en-US" altLang="ko-KR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(IRM) </a:t>
            </a: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</a:t>
            </a:r>
            <a:endParaRPr kumimoji="0" lang="en-US" altLang="ko-KR" sz="1200" b="0" i="0" u="none" strike="noStrike" kern="1200" cap="none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원격지 개발 시 보안관리대책 제시 </a:t>
            </a:r>
            <a:r>
              <a:rPr kumimoji="0" lang="en-US" altLang="ko-KR" sz="1200" b="0" i="0" u="none" strike="noStrike" kern="1200" cap="none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(OR-001)</a:t>
            </a:r>
            <a:endParaRPr kumimoji="0" lang="en-US" altLang="ko-KR" sz="900" b="0" i="0" u="none" strike="noStrike" kern="1200" cap="none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C9E60503-2FD3-0EFC-B065-58A01E27F39F}"/>
              </a:ext>
            </a:extLst>
          </p:cNvPr>
          <p:cNvSpPr/>
          <p:nvPr/>
        </p:nvSpPr>
        <p:spPr>
          <a:xfrm>
            <a:off x="498656" y="3577214"/>
            <a:ext cx="5849504" cy="203545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산출물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리스크 조기 </a:t>
            </a:r>
            <a:r>
              <a:rPr kumimoji="0" lang="ko-KR" altLang="en-US" sz="11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식별→마감압박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대응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D3D176F-DBF8-053D-F950-362A9C6ACBF9}"/>
              </a:ext>
            </a:extLst>
          </p:cNvPr>
          <p:cNvSpPr/>
          <p:nvPr/>
        </p:nvSpPr>
        <p:spPr>
          <a:xfrm>
            <a:off x="316309" y="6569231"/>
            <a:ext cx="6286697" cy="43434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모듈 독립성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인터페이스 기반 연계로 컨소시엄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 병렬 개발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지점 최소화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(DR-016)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프로토타입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(2.8.2)·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 성능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보안 시험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(2.8.3)·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안정성 우선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(2.8.4)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4725FBF-3C48-42E3-B286-B76843BEB068}"/>
              </a:ext>
            </a:extLst>
          </p:cNvPr>
          <p:cNvSpPr/>
          <p:nvPr/>
        </p:nvSpPr>
        <p:spPr>
          <a:xfrm>
            <a:off x="312925" y="4992696"/>
            <a:ext cx="6221225" cy="839613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4" name="사각형: 둥근 위쪽 모서리 73">
            <a:extLst>
              <a:ext uri="{FF2B5EF4-FFF2-40B4-BE49-F238E27FC236}">
                <a16:creationId xmlns:a16="http://schemas.microsoft.com/office/drawing/2014/main" id="{F601FD98-2218-2DD4-4A26-8B89345A67DE}"/>
              </a:ext>
            </a:extLst>
          </p:cNvPr>
          <p:cNvSpPr/>
          <p:nvPr/>
        </p:nvSpPr>
        <p:spPr>
          <a:xfrm>
            <a:off x="306574" y="4971595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프로젝트 관리 체계 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(OR-001)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4CFFC427-8900-C039-267E-E018B4570875}"/>
              </a:ext>
            </a:extLst>
          </p:cNvPr>
          <p:cNvSpPr/>
          <p:nvPr/>
        </p:nvSpPr>
        <p:spPr>
          <a:xfrm>
            <a:off x="431064" y="5310491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사업수행계획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계약 후 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10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 내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ECDFC9EA-1206-E4F3-F511-AD20F4E8AA56}"/>
              </a:ext>
            </a:extLst>
          </p:cNvPr>
          <p:cNvSpPr/>
          <p:nvPr/>
        </p:nvSpPr>
        <p:spPr>
          <a:xfrm>
            <a:off x="5044637" y="5310491"/>
            <a:ext cx="1365986" cy="44873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인수인계</a:t>
            </a:r>
            <a:endParaRPr lang="en-US" altLang="ko-KR" sz="12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문서화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419031E8-5BAB-28AB-EE6D-3D5E0C39BACB}"/>
              </a:ext>
            </a:extLst>
          </p:cNvPr>
          <p:cNvSpPr/>
          <p:nvPr/>
        </p:nvSpPr>
        <p:spPr>
          <a:xfrm>
            <a:off x="1969233" y="5310491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일정</a:t>
            </a:r>
            <a:r>
              <a:rPr lang="en-US" altLang="ko-KR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진도 관리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PM 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도구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세부일정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9C1D6E0E-10A3-C008-FF55-2871E7F4038A}"/>
              </a:ext>
            </a:extLst>
          </p:cNvPr>
          <p:cNvSpPr/>
          <p:nvPr/>
        </p:nvSpPr>
        <p:spPr>
          <a:xfrm>
            <a:off x="3507402" y="5310491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보고</a:t>
            </a:r>
            <a:r>
              <a:rPr lang="en-US" altLang="ko-KR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회의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중간</a:t>
            </a:r>
            <a:r>
              <a:rPr lang="en-US" altLang="ko-KR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4D5F34E8-B614-1A72-A29A-028992497664}"/>
              </a:ext>
            </a:extLst>
          </p:cNvPr>
          <p:cNvCxnSpPr>
            <a:cxnSpLocks/>
          </p:cNvCxnSpPr>
          <p:nvPr/>
        </p:nvCxnSpPr>
        <p:spPr>
          <a:xfrm>
            <a:off x="4631887" y="3802380"/>
            <a:ext cx="0" cy="16071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D5FC61CD-CA3F-820C-B259-3058F22A945F}"/>
              </a:ext>
            </a:extLst>
          </p:cNvPr>
          <p:cNvCxnSpPr>
            <a:cxnSpLocks/>
          </p:cNvCxnSpPr>
          <p:nvPr/>
        </p:nvCxnSpPr>
        <p:spPr>
          <a:xfrm>
            <a:off x="4631887" y="4852313"/>
            <a:ext cx="0" cy="140383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2E1277D6-BAE6-8E60-4F23-561891838121}"/>
              </a:ext>
            </a:extLst>
          </p:cNvPr>
          <p:cNvCxnSpPr>
            <a:cxnSpLocks/>
            <a:stCxn id="73" idx="2"/>
            <a:endCxn id="68" idx="0"/>
          </p:cNvCxnSpPr>
          <p:nvPr/>
        </p:nvCxnSpPr>
        <p:spPr>
          <a:xfrm flipH="1">
            <a:off x="3423408" y="5832309"/>
            <a:ext cx="130" cy="138204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0C13F88B-D744-B1CF-25E9-005963BBE6AD}"/>
              </a:ext>
            </a:extLst>
          </p:cNvPr>
          <p:cNvCxnSpPr>
            <a:stCxn id="37" idx="3"/>
          </p:cNvCxnSpPr>
          <p:nvPr/>
        </p:nvCxnSpPr>
        <p:spPr>
          <a:xfrm flipV="1">
            <a:off x="1797050" y="3284220"/>
            <a:ext cx="172183" cy="2178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14ADA6F3-4B70-9457-98D1-D38C9AC24153}"/>
              </a:ext>
            </a:extLst>
          </p:cNvPr>
          <p:cNvCxnSpPr>
            <a:stCxn id="45" idx="3"/>
            <a:endCxn id="49" idx="1"/>
          </p:cNvCxnSpPr>
          <p:nvPr/>
        </p:nvCxnSpPr>
        <p:spPr>
          <a:xfrm>
            <a:off x="3335219" y="3286398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CD45D028-2A46-1D40-1C67-AFC99A263C14}"/>
              </a:ext>
            </a:extLst>
          </p:cNvPr>
          <p:cNvCxnSpPr>
            <a:stCxn id="49" idx="3"/>
            <a:endCxn id="41" idx="1"/>
          </p:cNvCxnSpPr>
          <p:nvPr/>
        </p:nvCxnSpPr>
        <p:spPr>
          <a:xfrm>
            <a:off x="4873388" y="3286398"/>
            <a:ext cx="17124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E55C9125-ACD6-5056-D40B-2D4AB0C28E65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6307459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70AAD3-369E-E49F-B811-662385A95C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4703C936-B130-C7D9-51A0-2BEDB46F14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CF735A7-8E41-2A42-FECF-EFE0A36B012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89665B-60FE-370D-AC74-AB6C81BD76E7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8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프로토타입 확인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079841C-8CEC-7DDF-3521-F618402520F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8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개발 방법론 적용 및 시험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8A9FA49-7C37-4C54-0FA8-8DC1F3652E3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이용 시나리오의 화면 흐름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상호작용을 개발 착수 전 프로토타입으로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(IR-002)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하고 발주기관 검토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피드백을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설계에 반영하여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후반 재작업을 최소화하는 사전 검증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4DA5F9C-C4B0-B856-3880-77657D1FDD7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E204C87-138B-D763-8518-219B23820721}"/>
              </a:ext>
            </a:extLst>
          </p:cNvPr>
          <p:cNvSpPr txBox="1"/>
          <p:nvPr/>
        </p:nvSpPr>
        <p:spPr>
          <a:xfrm>
            <a:off x="335012" y="2371141"/>
            <a:ext cx="35588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프로토 타입 개발을 통해 완성도와 일정 준수 확보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D74FD4B-0228-09CF-7567-5F7DB9FB7E5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IR-002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5820B429-1DC9-1032-1105-244C65C7A742}"/>
              </a:ext>
            </a:extLst>
          </p:cNvPr>
          <p:cNvSpPr/>
          <p:nvPr/>
        </p:nvSpPr>
        <p:spPr bwMode="gray">
          <a:xfrm>
            <a:off x="258881" y="2666394"/>
            <a:ext cx="6331426" cy="701019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0620DA0-0E83-B67A-4DE4-49C1B239130D}"/>
              </a:ext>
            </a:extLst>
          </p:cNvPr>
          <p:cNvSpPr/>
          <p:nvPr/>
        </p:nvSpPr>
        <p:spPr>
          <a:xfrm>
            <a:off x="316309" y="2672177"/>
            <a:ext cx="6286697" cy="103758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목적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기능의 화면 흐름과 상호작용을 개발 이전에 프로토타입으로 검증하여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요구사항 오해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 결함을 조기에 발견하고 개발 리스크를 낮춤</a:t>
            </a:r>
            <a:r>
              <a:rPr kumimoji="1" lang="en-US" altLang="ko-KR" sz="1200" spc="-8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만든 뒤 수정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 아닌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후 개발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"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구조로 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4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개월 사업의 재작업 리스크 최소화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 방법론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(2.8.1)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 주기의 초기 검증 지점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683947F-B6D7-2AB4-9DC1-DBA0F239A568}"/>
              </a:ext>
            </a:extLst>
          </p:cNvPr>
          <p:cNvSpPr/>
          <p:nvPr/>
        </p:nvSpPr>
        <p:spPr>
          <a:xfrm>
            <a:off x="315897" y="8502516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사각형: 둥근 위쪽 모서리 17">
            <a:extLst>
              <a:ext uri="{FF2B5EF4-FFF2-40B4-BE49-F238E27FC236}">
                <a16:creationId xmlns:a16="http://schemas.microsoft.com/office/drawing/2014/main" id="{17C3B710-BB9F-27D1-61BD-12A8C8C8C7ED}"/>
              </a:ext>
            </a:extLst>
          </p:cNvPr>
          <p:cNvSpPr/>
          <p:nvPr/>
        </p:nvSpPr>
        <p:spPr>
          <a:xfrm>
            <a:off x="315897" y="8502517"/>
            <a:ext cx="1468628" cy="261996"/>
          </a:xfrm>
          <a:prstGeom prst="round2SameRect">
            <a:avLst>
              <a:gd name="adj1" fmla="val 10344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①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프로토타입 구현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11B10CF-5AA3-AC19-8D27-ECE60E2886DF}"/>
              </a:ext>
            </a:extLst>
          </p:cNvPr>
          <p:cNvSpPr/>
          <p:nvPr/>
        </p:nvSpPr>
        <p:spPr>
          <a:xfrm>
            <a:off x="1896507" y="8502516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사각형: 둥근 위쪽 모서리 21">
            <a:extLst>
              <a:ext uri="{FF2B5EF4-FFF2-40B4-BE49-F238E27FC236}">
                <a16:creationId xmlns:a16="http://schemas.microsoft.com/office/drawing/2014/main" id="{D2BA3EF9-7F40-9154-7934-904987C4821C}"/>
              </a:ext>
            </a:extLst>
          </p:cNvPr>
          <p:cNvSpPr/>
          <p:nvPr/>
        </p:nvSpPr>
        <p:spPr>
          <a:xfrm>
            <a:off x="1896507" y="8502517"/>
            <a:ext cx="1468628" cy="261996"/>
          </a:xfrm>
          <a:prstGeom prst="round2SameRect">
            <a:avLst>
              <a:gd name="adj1" fmla="val 8311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② 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</a:t>
            </a:r>
            <a:r>
              <a:rPr lang="en-US" altLang="ko-KR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 b="1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시연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42D05549-B803-24D2-0D83-10D5E81D862C}"/>
              </a:ext>
            </a:extLst>
          </p:cNvPr>
          <p:cNvSpPr/>
          <p:nvPr/>
        </p:nvSpPr>
        <p:spPr>
          <a:xfrm>
            <a:off x="3477117" y="8502516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위쪽 모서리 26">
            <a:extLst>
              <a:ext uri="{FF2B5EF4-FFF2-40B4-BE49-F238E27FC236}">
                <a16:creationId xmlns:a16="http://schemas.microsoft.com/office/drawing/2014/main" id="{27478B5F-73C9-F822-04CA-1EA21684FFA3}"/>
              </a:ext>
            </a:extLst>
          </p:cNvPr>
          <p:cNvSpPr/>
          <p:nvPr/>
        </p:nvSpPr>
        <p:spPr>
          <a:xfrm>
            <a:off x="3477117" y="8502517"/>
            <a:ext cx="1468628" cy="261996"/>
          </a:xfrm>
          <a:prstGeom prst="round2SameRect">
            <a:avLst>
              <a:gd name="adj1" fmla="val 11473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③ 피드백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7EEDB85C-34E0-F659-8B01-440C4EF2EA5F}"/>
              </a:ext>
            </a:extLst>
          </p:cNvPr>
          <p:cNvSpPr/>
          <p:nvPr/>
        </p:nvSpPr>
        <p:spPr>
          <a:xfrm>
            <a:off x="5057727" y="8502516"/>
            <a:ext cx="1468628" cy="814233"/>
          </a:xfrm>
          <a:prstGeom prst="roundRect">
            <a:avLst>
              <a:gd name="adj" fmla="val 3612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BB5B47B5-021E-A929-9DB2-2008DC08E516}"/>
              </a:ext>
            </a:extLst>
          </p:cNvPr>
          <p:cNvSpPr/>
          <p:nvPr/>
        </p:nvSpPr>
        <p:spPr>
          <a:xfrm>
            <a:off x="5057727" y="8502517"/>
            <a:ext cx="1468628" cy="261996"/>
          </a:xfrm>
          <a:prstGeom prst="round2SameRect">
            <a:avLst>
              <a:gd name="adj1" fmla="val 11698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④ 설계 반영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이등변 삼각형 33">
            <a:extLst>
              <a:ext uri="{FF2B5EF4-FFF2-40B4-BE49-F238E27FC236}">
                <a16:creationId xmlns:a16="http://schemas.microsoft.com/office/drawing/2014/main" id="{E66149C2-CE8E-75C9-5031-34CC0DEE1394}"/>
              </a:ext>
            </a:extLst>
          </p:cNvPr>
          <p:cNvSpPr/>
          <p:nvPr/>
        </p:nvSpPr>
        <p:spPr>
          <a:xfrm rot="5400000">
            <a:off x="1801098" y="883292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6" name="이등변 삼각형 35">
            <a:extLst>
              <a:ext uri="{FF2B5EF4-FFF2-40B4-BE49-F238E27FC236}">
                <a16:creationId xmlns:a16="http://schemas.microsoft.com/office/drawing/2014/main" id="{8F4FD094-1D80-9072-8469-A6411C51569A}"/>
              </a:ext>
            </a:extLst>
          </p:cNvPr>
          <p:cNvSpPr/>
          <p:nvPr/>
        </p:nvSpPr>
        <p:spPr>
          <a:xfrm rot="5400000">
            <a:off x="3386287" y="883292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2D18DCD5-89D1-005B-F16B-4E61541C52DC}"/>
              </a:ext>
            </a:extLst>
          </p:cNvPr>
          <p:cNvSpPr/>
          <p:nvPr/>
        </p:nvSpPr>
        <p:spPr>
          <a:xfrm rot="5400000">
            <a:off x="4966713" y="883292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이등변 삼각형 39">
            <a:extLst>
              <a:ext uri="{FF2B5EF4-FFF2-40B4-BE49-F238E27FC236}">
                <a16:creationId xmlns:a16="http://schemas.microsoft.com/office/drawing/2014/main" id="{C84D96A8-D6D1-AF0C-DAAC-6F5BF3FE8700}"/>
              </a:ext>
            </a:extLst>
          </p:cNvPr>
          <p:cNvSpPr/>
          <p:nvPr/>
        </p:nvSpPr>
        <p:spPr>
          <a:xfrm rot="5400000">
            <a:off x="1801098" y="8832924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이등변 삼각형 41">
            <a:extLst>
              <a:ext uri="{FF2B5EF4-FFF2-40B4-BE49-F238E27FC236}">
                <a16:creationId xmlns:a16="http://schemas.microsoft.com/office/drawing/2014/main" id="{DA5B67E5-2B6B-5B2B-FCA8-BBAB194E1B6E}"/>
              </a:ext>
            </a:extLst>
          </p:cNvPr>
          <p:cNvSpPr/>
          <p:nvPr/>
        </p:nvSpPr>
        <p:spPr>
          <a:xfrm rot="5400000">
            <a:off x="3386287" y="8832925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4" name="이등변 삼각형 43">
            <a:extLst>
              <a:ext uri="{FF2B5EF4-FFF2-40B4-BE49-F238E27FC236}">
                <a16:creationId xmlns:a16="http://schemas.microsoft.com/office/drawing/2014/main" id="{6038891D-4138-91C3-13E3-7C5E7F5B1CA3}"/>
              </a:ext>
            </a:extLst>
          </p:cNvPr>
          <p:cNvSpPr/>
          <p:nvPr/>
        </p:nvSpPr>
        <p:spPr>
          <a:xfrm rot="5400000">
            <a:off x="4966713" y="8832926"/>
            <a:ext cx="86858" cy="7487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2C17150-4D15-9BF9-1C46-55A0AADFF93E}"/>
              </a:ext>
            </a:extLst>
          </p:cNvPr>
          <p:cNvSpPr txBox="1"/>
          <p:nvPr/>
        </p:nvSpPr>
        <p:spPr>
          <a:xfrm>
            <a:off x="342856" y="8771330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 기능 화면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흐름 구현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DA42F33-090E-FE7E-422A-04BB57F2FC93}"/>
              </a:ext>
            </a:extLst>
          </p:cNvPr>
          <p:cNvSpPr txBox="1"/>
          <p:nvPr/>
        </p:nvSpPr>
        <p:spPr>
          <a:xfrm>
            <a:off x="1923466" y="8771330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발주기관 검토회의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시연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555CF90-9C3E-40B1-B7BB-B75B915D8412}"/>
              </a:ext>
            </a:extLst>
          </p:cNvPr>
          <p:cNvSpPr txBox="1"/>
          <p:nvPr/>
        </p:nvSpPr>
        <p:spPr>
          <a:xfrm>
            <a:off x="3504076" y="8771330"/>
            <a:ext cx="1468627" cy="261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피드백 수렴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보완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5217120-E032-0A40-10E9-27408C0B44B1}"/>
              </a:ext>
            </a:extLst>
          </p:cNvPr>
          <p:cNvSpPr txBox="1"/>
          <p:nvPr/>
        </p:nvSpPr>
        <p:spPr>
          <a:xfrm>
            <a:off x="5084686" y="8771330"/>
            <a:ext cx="1468627" cy="442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8900" indent="-88900" algn="l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스토리보드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·UI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설계서 반영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이력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7063A6C-E292-10E7-960E-CF1D99182512}"/>
              </a:ext>
            </a:extLst>
          </p:cNvPr>
          <p:cNvSpPr/>
          <p:nvPr/>
        </p:nvSpPr>
        <p:spPr>
          <a:xfrm>
            <a:off x="316309" y="3781961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기능 프로토타입 구현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주요 이용 시나리오 중심으로 핵심 기능 프로토타입을 구현함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대상 기능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: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통합검색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데이터 상세조회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반입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/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제공 신청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워크스페이스 연계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관리자 승인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통계조회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사용자별 권한 차이를 반영한 화면 전환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상태표시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오류처리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입력검증 흐름 포함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D8B4248-CD2E-4D1F-4A39-1A00DB60DEDD}"/>
              </a:ext>
            </a:extLst>
          </p:cNvPr>
          <p:cNvSpPr/>
          <p:nvPr/>
        </p:nvSpPr>
        <p:spPr>
          <a:xfrm>
            <a:off x="316309" y="4700675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검토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개선 절차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발주기관과 검토회의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시연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피드백 수렴을 거쳐 프로토타입을 보완함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검토회의→시연→피드백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 수렴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개선사항 도출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)→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보완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반영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발주기관 관점의 사용성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업무 적합성을 사전 확인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BE8BF41-9BDF-B70F-4C32-B0C500C5EDBB}"/>
              </a:ext>
            </a:extLst>
          </p:cNvPr>
          <p:cNvSpPr/>
          <p:nvPr/>
        </p:nvSpPr>
        <p:spPr>
          <a:xfrm>
            <a:off x="316309" y="7685480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프로토타입 검증 결과서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스토리보드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·UI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설계서로 구체화하며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 방법론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(2.8.1)·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 구조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(2.1.1)·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 체계 전환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(1.2.3)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과 </a:t>
            </a:r>
            <a:r>
              <a:rPr kumimoji="1" lang="ko-KR" altLang="en-US" sz="1200" spc="-9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정합됨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741924D-5023-B116-AF40-0FBB17FE8644}"/>
              </a:ext>
            </a:extLst>
          </p:cNvPr>
          <p:cNvSpPr/>
          <p:nvPr/>
        </p:nvSpPr>
        <p:spPr>
          <a:xfrm>
            <a:off x="316309" y="5653203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 반영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이력 관리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프로토타입 검증 결과를 스토리보드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·UI </a:t>
            </a:r>
            <a:r>
              <a:rPr kumimoji="1" lang="ko-KR" altLang="en-US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설계서에 반영하고 이력을 관리함</a:t>
            </a:r>
            <a:r>
              <a:rPr kumimoji="1" lang="en-US" altLang="ko-KR" sz="1200" spc="-11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(IR-002)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검증 결과 반영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변경 이력 관리로 설계 일관성 확보</a:t>
            </a:r>
            <a:endParaRPr kumimoji="1" lang="en-US" altLang="ko-KR" sz="1100" spc="-5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산출물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페르소나정의서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사용자여정맵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서비스대상자분석서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FB58961-8E38-328E-4205-82B14932D933}"/>
              </a:ext>
            </a:extLst>
          </p:cNvPr>
          <p:cNvSpPr/>
          <p:nvPr/>
        </p:nvSpPr>
        <p:spPr>
          <a:xfrm>
            <a:off x="316309" y="6640812"/>
            <a:ext cx="6286697" cy="79597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 리스크 조기 해소</a:t>
            </a:r>
            <a:r>
              <a:rPr kumimoji="1" lang="en-US" altLang="ko-KR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) </a:t>
            </a:r>
            <a:r>
              <a:rPr kumimoji="1" lang="ko-KR" altLang="en-US" sz="1200" spc="-9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사전 검증으로 개발 후반 재작업을 최소화하여 짧은 사업기간의 개발 리스크를 조기에 해소함</a:t>
            </a:r>
            <a:endParaRPr kumimoji="1" lang="en-US" altLang="ko-KR" sz="1200" spc="-9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흐름 확정으로 병렬 개발</a:t>
            </a:r>
            <a:r>
              <a:rPr kumimoji="1" lang="en-US" altLang="ko-KR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(2.8.1) </a:t>
            </a:r>
            <a:r>
              <a:rPr kumimoji="1" lang="ko-KR" altLang="en-US" sz="11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 통합 오류를 예방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3A497851-929B-6B1E-3766-2F14094B0354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8248795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C258CD-B3CE-9F6A-04E7-D74982005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113241B-8A4E-91B9-7D4E-18AB937CBB5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8C3F928-736F-8B55-F41B-AC288749341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D8F374F-7497-E854-0CB2-A41714CB245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8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프로토타입 확인</a:t>
            </a:r>
            <a:endParaRPr kumimoji="0" lang="ko-KR" altLang="en-US" sz="1400" b="0" i="0" u="none" strike="noStrike" kern="1200" cap="none" spc="-19" normalizeH="0" baseline="0" noProof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F0883C8-DB58-5C32-F104-97454C34786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8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개발 방법론 적용 및 시험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263096D-19A5-05FA-233A-95C5BCD25ED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사전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주요 이용 시나리오의 화면 흐름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상호작용을 개발 착수 전 프로토타입으로 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(IR-002)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하고 발주기관 검토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피드백을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설계에 반영하여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 후반 재작업을 최소화하는 사전 검증 체계를 구현함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516BD30-89FD-F641-8252-71A06014752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DA4DB26-C1E2-2D71-DC2F-71FE8BB24317}"/>
              </a:ext>
            </a:extLst>
          </p:cNvPr>
          <p:cNvSpPr txBox="1"/>
          <p:nvPr/>
        </p:nvSpPr>
        <p:spPr>
          <a:xfrm>
            <a:off x="335012" y="2371141"/>
            <a:ext cx="35588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핵심 기능 프로토타입 개발 및 검증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322FD4B-6F97-FECD-611E-4E089B33154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IR-002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31CB0CA5-53D6-6359-673D-BD06723151A5}"/>
              </a:ext>
            </a:extLst>
          </p:cNvPr>
          <p:cNvSpPr/>
          <p:nvPr/>
        </p:nvSpPr>
        <p:spPr bwMode="gray">
          <a:xfrm>
            <a:off x="258881" y="2666394"/>
            <a:ext cx="6331426" cy="4363407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EA22507-327C-6BD5-1C94-33301F78B0BA}"/>
              </a:ext>
            </a:extLst>
          </p:cNvPr>
          <p:cNvCxnSpPr>
            <a:cxnSpLocks/>
          </p:cNvCxnSpPr>
          <p:nvPr/>
        </p:nvCxnSpPr>
        <p:spPr>
          <a:xfrm>
            <a:off x="312925" y="7144196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2749D65-03F6-7B41-7953-2A00729AD5DD}"/>
              </a:ext>
            </a:extLst>
          </p:cNvPr>
          <p:cNvSpPr txBox="1"/>
          <p:nvPr/>
        </p:nvSpPr>
        <p:spPr>
          <a:xfrm>
            <a:off x="335011" y="7118119"/>
            <a:ext cx="3558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프로토타입 대상 및 검증 항목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265F2D29-F86C-9D6D-D7FD-954AB25C36FD}"/>
              </a:ext>
            </a:extLst>
          </p:cNvPr>
          <p:cNvSpPr/>
          <p:nvPr/>
        </p:nvSpPr>
        <p:spPr bwMode="gray">
          <a:xfrm>
            <a:off x="258881" y="7416571"/>
            <a:ext cx="6331426" cy="2260021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00EB1B5-6B58-3A17-8FA7-1F4269B6CFC4}"/>
              </a:ext>
            </a:extLst>
          </p:cNvPr>
          <p:cNvSpPr/>
          <p:nvPr/>
        </p:nvSpPr>
        <p:spPr>
          <a:xfrm>
            <a:off x="316309" y="911611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핵심 기능을 개발 전 프로토타입으로 구현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시연하고 발주기관 피드백을 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UI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설계에 반영함으로써</a:t>
            </a:r>
            <a:r>
              <a:rPr kumimoji="1" lang="en-US" altLang="ko-KR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요구사항 오해를 조기에 해소하고 개발 후반 재작업과 통합 오류를 예방함</a:t>
            </a:r>
            <a:endParaRPr kumimoji="1" lang="ko-KR" altLang="en-US" sz="1100" b="1" spc="-70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7025427C-0651-1188-3303-968E0E359570}"/>
              </a:ext>
            </a:extLst>
          </p:cNvPr>
          <p:cNvGraphicFramePr>
            <a:graphicFrameLocks noGrp="1"/>
          </p:cNvGraphicFramePr>
          <p:nvPr/>
        </p:nvGraphicFramePr>
        <p:xfrm>
          <a:off x="341732" y="7498585"/>
          <a:ext cx="6154318" cy="1580336"/>
        </p:xfrm>
        <a:graphic>
          <a:graphicData uri="http://schemas.openxmlformats.org/drawingml/2006/table">
            <a:tbl>
              <a:tblPr/>
              <a:tblGrid>
                <a:gridCol w="1163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60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32610">
                  <a:extLst>
                    <a:ext uri="{9D8B030D-6E8A-4147-A177-3AD203B41FA5}">
                      <a16:colId xmlns:a16="http://schemas.microsoft.com/office/drawing/2014/main" val="18177189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8821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 기능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항목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관점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통합검색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상세조회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흐름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결과 표시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탐색 편의성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IR-002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37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신청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흐름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절차 명확성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IR-002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연계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분석환경 진입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연계의 자연스러움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IR-002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승인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권한별 화면 전환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통제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IR-002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832403"/>
                  </a:ext>
                </a:extLst>
              </a:tr>
              <a:tr h="25618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통계조회</a:t>
                      </a:r>
                      <a:endParaRPr lang="en-US" altLang="ko-KR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표시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가독성</a:t>
                      </a: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1200" spc="-50" baseline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IR-002</a:t>
                      </a:r>
                      <a:endParaRPr lang="ko-KR" altLang="en-US" sz="1000" kern="1200" spc="-50" baseline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149473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A0F96EF-DB30-A2BA-41ED-8899B93948FE}"/>
              </a:ext>
            </a:extLst>
          </p:cNvPr>
          <p:cNvSpPr/>
          <p:nvPr/>
        </p:nvSpPr>
        <p:spPr>
          <a:xfrm>
            <a:off x="312925" y="2769359"/>
            <a:ext cx="6221225" cy="1055492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사각형: 둥근 위쪽 모서리 16">
            <a:extLst>
              <a:ext uri="{FF2B5EF4-FFF2-40B4-BE49-F238E27FC236}">
                <a16:creationId xmlns:a16="http://schemas.microsoft.com/office/drawing/2014/main" id="{3FF936C3-6B2A-47CC-100F-EA757E7ACF69}"/>
              </a:ext>
            </a:extLst>
          </p:cNvPr>
          <p:cNvSpPr/>
          <p:nvPr/>
        </p:nvSpPr>
        <p:spPr>
          <a:xfrm>
            <a:off x="306574" y="2748258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핵심 기능 프로토타입 구현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592327-3C92-49D3-0540-72A610F9838C}"/>
              </a:ext>
            </a:extLst>
          </p:cNvPr>
          <p:cNvSpPr/>
          <p:nvPr/>
        </p:nvSpPr>
        <p:spPr>
          <a:xfrm>
            <a:off x="431064" y="3087154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통합검색</a:t>
            </a:r>
            <a:r>
              <a:rPr lang="en-US" altLang="ko-KR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상세조회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C137A093-871C-7A26-D7A3-A64B7BB41965}"/>
              </a:ext>
            </a:extLst>
          </p:cNvPr>
          <p:cNvSpPr/>
          <p:nvPr/>
        </p:nvSpPr>
        <p:spPr>
          <a:xfrm>
            <a:off x="5044637" y="3087154"/>
            <a:ext cx="1365986" cy="44873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 승인</a:t>
            </a:r>
            <a:r>
              <a:rPr lang="en-US" altLang="ko-KR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통계조회</a:t>
            </a:r>
            <a:endParaRPr lang="en-US" altLang="ko-KR" sz="12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통계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4BD6D39E-AFDA-314D-6668-BC7A8C6B518A}"/>
              </a:ext>
            </a:extLst>
          </p:cNvPr>
          <p:cNvSpPr/>
          <p:nvPr/>
        </p:nvSpPr>
        <p:spPr>
          <a:xfrm>
            <a:off x="1969233" y="3087154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반입</a:t>
            </a:r>
            <a:r>
              <a:rPr lang="en-US" altLang="ko-KR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신청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신청 흐름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0A0F4162-FAB9-8E06-5050-61F31DB9D447}"/>
              </a:ext>
            </a:extLst>
          </p:cNvPr>
          <p:cNvSpPr/>
          <p:nvPr/>
        </p:nvSpPr>
        <p:spPr>
          <a:xfrm>
            <a:off x="3507402" y="3087154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워크스페이스 연계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분석환경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E55AECC9-EDD6-9295-96CA-7476E045C522}"/>
              </a:ext>
            </a:extLst>
          </p:cNvPr>
          <p:cNvSpPr/>
          <p:nvPr/>
        </p:nvSpPr>
        <p:spPr>
          <a:xfrm>
            <a:off x="312925" y="3998765"/>
            <a:ext cx="6221225" cy="832981"/>
          </a:xfrm>
          <a:prstGeom prst="roundRect">
            <a:avLst>
              <a:gd name="adj" fmla="val 4241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위쪽 모서리 34">
            <a:extLst>
              <a:ext uri="{FF2B5EF4-FFF2-40B4-BE49-F238E27FC236}">
                <a16:creationId xmlns:a16="http://schemas.microsoft.com/office/drawing/2014/main" id="{7ACCF95C-C51B-5D46-A24A-6CA4D51688E2}"/>
              </a:ext>
            </a:extLst>
          </p:cNvPr>
          <p:cNvSpPr/>
          <p:nvPr/>
        </p:nvSpPr>
        <p:spPr>
          <a:xfrm>
            <a:off x="306574" y="3977664"/>
            <a:ext cx="302864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 절차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9E0EB14-443A-DF3B-C47D-051066652C41}"/>
              </a:ext>
            </a:extLst>
          </p:cNvPr>
          <p:cNvSpPr/>
          <p:nvPr/>
        </p:nvSpPr>
        <p:spPr>
          <a:xfrm>
            <a:off x="431064" y="4316560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검토회의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발주기관 검토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FEC17CB-2DBF-E9EE-ADFB-FB09242AFC51}"/>
              </a:ext>
            </a:extLst>
          </p:cNvPr>
          <p:cNvSpPr/>
          <p:nvPr/>
        </p:nvSpPr>
        <p:spPr>
          <a:xfrm>
            <a:off x="5044637" y="4316560"/>
            <a:ext cx="1365986" cy="448739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반영</a:t>
            </a:r>
            <a:endParaRPr lang="en-US" altLang="ko-KR" sz="1200" b="1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endParaRPr lang="en-US" altLang="ko-KR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en-US" altLang="ko-KR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UI </a:t>
            </a:r>
            <a:r>
              <a:rPr lang="ko-KR" altLang="en-US" sz="9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반영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0AEC88D1-4677-7703-E42C-2CBA44E8F657}"/>
              </a:ext>
            </a:extLst>
          </p:cNvPr>
          <p:cNvSpPr/>
          <p:nvPr/>
        </p:nvSpPr>
        <p:spPr>
          <a:xfrm>
            <a:off x="1969233" y="4316560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 b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시연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프로토타입 시연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E3457CD8-4782-DE29-DCF8-D7BAB1A4FF04}"/>
              </a:ext>
            </a:extLst>
          </p:cNvPr>
          <p:cNvSpPr/>
          <p:nvPr/>
        </p:nvSpPr>
        <p:spPr>
          <a:xfrm>
            <a:off x="3507402" y="4316560"/>
            <a:ext cx="1365986" cy="448739"/>
          </a:xfrm>
          <a:prstGeom prst="roundRect">
            <a:avLst>
              <a:gd name="adj" fmla="val 699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algn="ctr"/>
            <a:r>
              <a:rPr lang="ko-KR" altLang="en-US" sz="12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피드백 수렴</a:t>
            </a:r>
          </a:p>
          <a:p>
            <a:pPr algn="ctr"/>
            <a:endParaRPr lang="ko-KR" altLang="en-US" sz="3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/>
            <a:r>
              <a:rPr lang="ko-KR" altLang="en-US" sz="9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개선사항 도출</a:t>
            </a:r>
            <a:endParaRPr lang="en-US" altLang="ko-KR" sz="9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D808260-6662-6494-6CEE-561BF3D0A99F}"/>
              </a:ext>
            </a:extLst>
          </p:cNvPr>
          <p:cNvSpPr/>
          <p:nvPr/>
        </p:nvSpPr>
        <p:spPr>
          <a:xfrm>
            <a:off x="498656" y="3593885"/>
            <a:ext cx="5849504" cy="203545"/>
          </a:xfrm>
          <a:prstGeom prst="roundRect">
            <a:avLst>
              <a:gd name="adj" fmla="val 699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※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사용자별 권한 차이 반영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: 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전환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상태표시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오류처리</a:t>
            </a:r>
            <a:r>
              <a:rPr kumimoji="0" lang="en-US" altLang="ko-KR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입력검증 흐름 포함</a:t>
            </a:r>
            <a:endParaRPr kumimoji="0" lang="en-US" altLang="ko-KR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4152E292-2D05-D328-4B45-C88594CEC864}"/>
              </a:ext>
            </a:extLst>
          </p:cNvPr>
          <p:cNvCxnSpPr>
            <a:stCxn id="37" idx="3"/>
          </p:cNvCxnSpPr>
          <p:nvPr/>
        </p:nvCxnSpPr>
        <p:spPr>
          <a:xfrm flipV="1">
            <a:off x="1797050" y="4538752"/>
            <a:ext cx="172183" cy="2178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DBF462B3-43C3-1AEE-7831-498AA526FECE}"/>
              </a:ext>
            </a:extLst>
          </p:cNvPr>
          <p:cNvCxnSpPr>
            <a:stCxn id="41" idx="3"/>
            <a:endCxn id="43" idx="1"/>
          </p:cNvCxnSpPr>
          <p:nvPr/>
        </p:nvCxnSpPr>
        <p:spPr>
          <a:xfrm>
            <a:off x="3335219" y="4540930"/>
            <a:ext cx="17218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BC7E0567-AF1A-85E0-68F8-43FE8DAB89C5}"/>
              </a:ext>
            </a:extLst>
          </p:cNvPr>
          <p:cNvCxnSpPr>
            <a:stCxn id="43" idx="3"/>
            <a:endCxn id="39" idx="1"/>
          </p:cNvCxnSpPr>
          <p:nvPr/>
        </p:nvCxnSpPr>
        <p:spPr>
          <a:xfrm>
            <a:off x="4873388" y="4540930"/>
            <a:ext cx="171249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3E5B2975-6CFE-597C-4F35-9648CC23299F}"/>
              </a:ext>
            </a:extLst>
          </p:cNvPr>
          <p:cNvSpPr/>
          <p:nvPr/>
        </p:nvSpPr>
        <p:spPr>
          <a:xfrm>
            <a:off x="312925" y="5030671"/>
            <a:ext cx="6221225" cy="746926"/>
          </a:xfrm>
          <a:prstGeom prst="roundRect">
            <a:avLst>
              <a:gd name="adj" fmla="val 6990"/>
            </a:avLst>
          </a:prstGeom>
          <a:solidFill>
            <a:schemeClr val="bg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 altLang="ko-KR" sz="8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사각형: 둥근 위쪽 모서리 54">
            <a:extLst>
              <a:ext uri="{FF2B5EF4-FFF2-40B4-BE49-F238E27FC236}">
                <a16:creationId xmlns:a16="http://schemas.microsoft.com/office/drawing/2014/main" id="{E431C085-35BD-4015-1350-89D72F6BA6DE}"/>
              </a:ext>
            </a:extLst>
          </p:cNvPr>
          <p:cNvSpPr/>
          <p:nvPr/>
        </p:nvSpPr>
        <p:spPr>
          <a:xfrm>
            <a:off x="306574" y="5009080"/>
            <a:ext cx="3033905" cy="261996"/>
          </a:xfrm>
          <a:prstGeom prst="round2SameRect">
            <a:avLst>
              <a:gd name="adj1" fmla="val 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반영</a:t>
            </a:r>
            <a:r>
              <a:rPr kumimoji="0" lang="en-US" altLang="ko-KR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관리</a:t>
            </a:r>
            <a:endParaRPr kumimoji="0" lang="en-US" altLang="ko-KR" sz="11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27DB5F3E-AC54-A1F6-9EC1-88F058449369}"/>
              </a:ext>
            </a:extLst>
          </p:cNvPr>
          <p:cNvSpPr/>
          <p:nvPr/>
        </p:nvSpPr>
        <p:spPr>
          <a:xfrm>
            <a:off x="498656" y="5309334"/>
            <a:ext cx="282216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스토리보드</a:t>
            </a:r>
            <a:r>
              <a:rPr kumimoji="0" lang="en-US" altLang="ko-KR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·UI </a:t>
            </a: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설계서 반영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 결과 반영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이력 관리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9D11390-9C82-D2C7-211B-04AFBD38F7E4}"/>
              </a:ext>
            </a:extLst>
          </p:cNvPr>
          <p:cNvSpPr/>
          <p:nvPr/>
        </p:nvSpPr>
        <p:spPr>
          <a:xfrm>
            <a:off x="3588463" y="5309334"/>
            <a:ext cx="2822160" cy="416344"/>
          </a:xfrm>
          <a:prstGeom prst="roundRect">
            <a:avLst>
              <a:gd name="adj" fmla="val 6990"/>
            </a:avLst>
          </a:prstGeom>
          <a:solidFill>
            <a:srgbClr val="9DC3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algn="ctr"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페르소나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사용자여정맵</a:t>
            </a:r>
            <a:r>
              <a:rPr kumimoji="0" lang="en-US" altLang="ko-K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대상자분석서</a:t>
            </a:r>
            <a:endParaRPr kumimoji="0" lang="en-US" altLang="ko-KR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97B25C7-E28E-8C95-BB09-75E263F5A888}"/>
              </a:ext>
            </a:extLst>
          </p:cNvPr>
          <p:cNvSpPr/>
          <p:nvPr/>
        </p:nvSpPr>
        <p:spPr>
          <a:xfrm>
            <a:off x="349464" y="5970513"/>
            <a:ext cx="6147888" cy="470988"/>
          </a:xfrm>
          <a:prstGeom prst="roundRect">
            <a:avLst>
              <a:gd name="adj" fmla="val 699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/>
          <a:lstStyle/>
          <a:p>
            <a:pPr lvl="0" algn="ctr">
              <a:defRPr/>
            </a:pP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효과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사전 검증으로 개발 후반 재작업 최소화 → </a:t>
            </a:r>
            <a:r>
              <a:rPr lang="en-US" altLang="ko-KR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사업의 개발 리스크 조기 해소</a:t>
            </a:r>
            <a:endParaRPr kumimoji="0" lang="en-US" altLang="ko-KR" sz="900" b="0" i="0" u="none" strike="noStrike" kern="1200" cap="none" normalizeH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2C7671C-48FB-6A66-4FAC-4EF6A75FD726}"/>
              </a:ext>
            </a:extLst>
          </p:cNvPr>
          <p:cNvSpPr/>
          <p:nvPr/>
        </p:nvSpPr>
        <p:spPr>
          <a:xfrm>
            <a:off x="316309" y="6569231"/>
            <a:ext cx="6286697" cy="43434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주요 이용 시나리오의 화면 흐름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상호작용을 개발 착수 전 검증 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(IR-002) </a:t>
            </a:r>
          </a:p>
          <a:p>
            <a:pPr marL="108000" lvl="1" indent="-108000" defTabSz="914400" eaLnBrk="0" fontAlgn="base" hangingPunc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개발 방법론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(2.8.1)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반복 주기의 초기 검증 지점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, 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계층 구조</a:t>
            </a:r>
            <a:r>
              <a:rPr kumimoji="1" lang="en-US" altLang="ko-KR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(2.1.1)·</a:t>
            </a:r>
            <a:r>
              <a:rPr kumimoji="1" lang="ko-KR" altLang="en-US" sz="1200" spc="-5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 pitchFamily="2" charset="2"/>
              </a:rPr>
              <a:t>화면 체계와 연계</a:t>
            </a:r>
            <a:endParaRPr kumimoji="1" lang="ko-KR" altLang="en-US" sz="1100" b="1">
              <a:solidFill>
                <a:srgbClr val="0070C0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 pitchFamily="2" charset="2"/>
            </a:endParaRPr>
          </a:p>
        </p:txBody>
      </p:sp>
      <p:sp>
        <p:nvSpPr>
          <p:cNvPr id="18" name="Google Shape;4558;p82">
            <a:extLst>
              <a:ext uri="{FF2B5EF4-FFF2-40B4-BE49-F238E27FC236}">
                <a16:creationId xmlns:a16="http://schemas.microsoft.com/office/drawing/2014/main" id="{C0DDEA6E-43EA-B12F-7169-88E857A03050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84713235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8072CD-1E48-C6DA-E486-90867FDCB8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66C6596-6CA9-B6AD-F94D-E2CB441EFDA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5D93AFA-28C7-2844-555B-BE848B732C24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D3BF96-11F9-D861-0F5D-4E8EADF089A1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8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통합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성능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보안 시험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FAFD459-2530-ED98-BFD3-5DB2E3BC213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8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개발 방법론 적용 및 시험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EE4CE3-BBF8-8B02-EF48-45C76BBE43E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종 시험을 순차 수행하고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요구사항별 테스트케이스 추적표로 시험 </a:t>
            </a:r>
            <a:r>
              <a:rPr lang="ko-KR" altLang="en-US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커버리지를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확인하는 절차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C274F3B2-8FFE-4E12-FEFB-52461989015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TR-001, PR-001, PR-003</a:t>
            </a: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267AF53-F741-119E-DD40-BCB1C65098C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120B5992-F1F2-E2CB-55CD-1D0517945E12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통합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성능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시험 방법론</a:t>
            </a:r>
          </a:p>
        </p:txBody>
      </p:sp>
      <p:sp>
        <p:nvSpPr>
          <p:cNvPr id="26" name="모서리가 둥근 직사각형 222">
            <a:extLst>
              <a:ext uri="{FF2B5EF4-FFF2-40B4-BE49-F238E27FC236}">
                <a16:creationId xmlns:a16="http://schemas.microsoft.com/office/drawing/2014/main" id="{C59217B2-3118-8129-6C92-19D27F618313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00C08A0-8137-3B5E-196E-3E03BF3709B8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시험 유형 정의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시험 대상과 판정 기준을 유형별로 고정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8" name="Table 0">
            <a:extLst>
              <a:ext uri="{FF2B5EF4-FFF2-40B4-BE49-F238E27FC236}">
                <a16:creationId xmlns:a16="http://schemas.microsoft.com/office/drawing/2014/main" id="{FC8DB0FF-0C0D-CE62-82A5-075A66CE6268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48741"/>
          <a:ext cx="6144769" cy="1226820"/>
        </p:xfrm>
        <a:graphic>
          <a:graphicData uri="http://schemas.openxmlformats.org/drawingml/2006/table">
            <a:tbl>
              <a:tblPr/>
              <a:tblGrid>
                <a:gridCol w="1279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367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171701">
                  <a:extLst>
                    <a:ext uri="{9D8B030D-6E8A-4147-A177-3AD203B41FA5}">
                      <a16:colId xmlns:a16="http://schemas.microsoft.com/office/drawing/2014/main" val="270705181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시험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단위시험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개별 기능 모듈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(3.1.1~3.3.3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에서 구현한 각 기능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 단위 입력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출력 기대값 일치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 간 연계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등록→검수→카탈로그→검색 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구간 데이터 정합성 일치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9078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PR-001·PR-003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 전 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아래 성능 판정 공식 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75996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SR-001~SR-010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 보안 통제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취약점 점검 결과 이상없음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7957271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891FE907-1205-043E-EA0E-5EF3A0EF6EE6}"/>
              </a:ext>
            </a:extLst>
          </p:cNvPr>
          <p:cNvSpPr txBox="1"/>
          <p:nvPr/>
        </p:nvSpPr>
        <p:spPr>
          <a:xfrm>
            <a:off x="1093656" y="297918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 유형 정의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0B477DF-B672-D7BF-8E5D-D3122BD0855F}"/>
              </a:ext>
            </a:extLst>
          </p:cNvPr>
          <p:cNvSpPr/>
          <p:nvPr/>
        </p:nvSpPr>
        <p:spPr>
          <a:xfrm>
            <a:off x="316309" y="4505619"/>
            <a:ext cx="6286697" cy="225176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(요구사항-테스트케이스 추적 규칙) TR-001 기준 전체 요구사항에 테스트케이스를 연결해 누락 방지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추적률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(%) = 테스트케이스가 연결된 요구사항 수 ÷ 전체 요구사항 수 × 100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추적률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100% 미만이면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미연결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요구사항에 대해 테스트케이스 추가 작성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(성능시험 판정 공식) PR-001·PR-003 수치 기준을 그대로 판정식으로 사용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응답시간 판정 = 일반 조회 응답시간 ≤ 3초 AND 오류 메시지 응답시간 ≤ 3초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안정성 판정 = 결함 지속시간 ≤ 3시간(24시간 무중단은 평가 제외 항목으로 별도 표기)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둘 중 하나라도 기준 초과 시 해당 기능은 불합격 판정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(보안시험 항목 구성) 3개 항목으로 보안시험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진행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40" name="Table 0">
            <a:extLst>
              <a:ext uri="{FF2B5EF4-FFF2-40B4-BE49-F238E27FC236}">
                <a16:creationId xmlns:a16="http://schemas.microsoft.com/office/drawing/2014/main" id="{B27E30F4-51D9-844D-039B-BF08350EB171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7009390"/>
          <a:ext cx="6144769" cy="982980"/>
        </p:xfrm>
        <a:graphic>
          <a:graphicData uri="http://schemas.openxmlformats.org/drawingml/2006/table">
            <a:tbl>
              <a:tblPr/>
              <a:tblGrid>
                <a:gridCol w="17365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0817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점검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취약점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SW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보안약점 진단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알려진 취약점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접근통제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 잠금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실패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비밀번호 정책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(90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재사용금지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9078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암호화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 구간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AES-256·TLS 1.2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 적용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7599632"/>
                  </a:ext>
                </a:extLst>
              </a:tr>
            </a:tbl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C1BE940D-B3DB-EC6E-2A2D-A3C86FA953F6}"/>
              </a:ext>
            </a:extLst>
          </p:cNvPr>
          <p:cNvSpPr txBox="1"/>
          <p:nvPr/>
        </p:nvSpPr>
        <p:spPr>
          <a:xfrm>
            <a:off x="1093656" y="673983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보안시험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293186C-65DB-DDE9-B6E8-9D281ADA2CAC}"/>
              </a:ext>
            </a:extLst>
          </p:cNvPr>
          <p:cNvSpPr/>
          <p:nvPr/>
        </p:nvSpPr>
        <p:spPr>
          <a:xfrm>
            <a:off x="316309" y="799237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결함 심각도 판정 및 재시험 규칙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TR-001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 심각도별 재시험 절차 진행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43" name="Table 0">
            <a:extLst>
              <a:ext uri="{FF2B5EF4-FFF2-40B4-BE49-F238E27FC236}">
                <a16:creationId xmlns:a16="http://schemas.microsoft.com/office/drawing/2014/main" id="{D0C38B87-F181-188A-CEAB-9DCD015E0B2F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8590336"/>
          <a:ext cx="6144769" cy="982980"/>
        </p:xfrm>
        <a:graphic>
          <a:graphicData uri="http://schemas.openxmlformats.org/drawingml/2006/table">
            <a:tbl>
              <a:tblPr/>
              <a:tblGrid>
                <a:gridCol w="17365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0408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204085">
                  <a:extLst>
                    <a:ext uri="{9D8B030D-6E8A-4147-A177-3AD203B41FA5}">
                      <a16:colId xmlns:a16="http://schemas.microsoft.com/office/drawing/2014/main" val="331838622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심각도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재시험 범위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치명적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전체 중단 또는 데이터 손실 유발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재시험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기능 오류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일부 영향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기능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모듈 재시험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9078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사용에 지장 없는 오류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기능만 재시험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7599632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A9338158-B25F-FE86-11EF-7E05C79C03B5}"/>
              </a:ext>
            </a:extLst>
          </p:cNvPr>
          <p:cNvSpPr txBox="1"/>
          <p:nvPr/>
        </p:nvSpPr>
        <p:spPr>
          <a:xfrm>
            <a:off x="1093656" y="832077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결함 심각도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재시험 규칙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Google Shape;4558;p82">
            <a:extLst>
              <a:ext uri="{FF2B5EF4-FFF2-40B4-BE49-F238E27FC236}">
                <a16:creationId xmlns:a16="http://schemas.microsoft.com/office/drawing/2014/main" id="{83A29E90-95A7-F1B1-B2BF-B76F1AFE5227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58188270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3DC606-8F26-9E88-D845-8788CBCBC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7A57D7E-561C-0AFA-86D8-09B0378FC0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2. </a:t>
            </a:r>
            <a:r>
              <a:rPr lang="ko-KR" altLang="en-US" b="1"/>
              <a:t>개발 및 구축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73DD64D-BAEA-A4BA-0FE6-AC8F8005921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BEE48EC-0A9A-8F68-CED0-777109BEEA6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8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.4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안정성 우선 확보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1863013-E274-FBA0-3BE4-9FF0BF66707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8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개발 방법론 적용 및 시험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1CCA832-8EB2-BE3F-72C5-A9A6971D268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업무분류를 핵심기능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필수업무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과 확장기능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선택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고도화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연계확장업무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2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그룹으로 재구분하고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핵심기능에 안정성 확보 자원을 집중하는 개발 원칙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50561AE-C99C-EC6B-5C46-BC36507F871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77545CA-45D7-25D7-7185-058DE57464F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안정성 우선 확보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DBDB01A-8944-2638-4189-532F61E2BE4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QUR-001, PR-003, DR-018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6B20D94F-B0B5-BDD0-50A1-815D28847D1F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67C0BEF-829A-A64D-71C8-96E091969683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 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재구분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규칙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DR-018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분류를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그룹으로 통합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D1E73518-5BF5-CBBA-E82A-1285AE465FDE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48741"/>
          <a:ext cx="6144769" cy="891540"/>
        </p:xfrm>
        <a:graphic>
          <a:graphicData uri="http://schemas.openxmlformats.org/drawingml/2006/table">
            <a:tbl>
              <a:tblPr/>
              <a:tblGrid>
                <a:gridCol w="1279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367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171701">
                  <a:extLst>
                    <a:ext uri="{9D8B030D-6E8A-4147-A177-3AD203B41FA5}">
                      <a16:colId xmlns:a16="http://schemas.microsoft.com/office/drawing/2014/main" val="270705181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그룹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DR-018 </a:t>
                      </a: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이번 사업 범위 처리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구현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시험 완료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선택업무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고도화업무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연계확장업무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설계까지만 수행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구현은 후속 로드맵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(4.2.2·5.3.2)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9078202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17E149D-5A14-0A6B-13BC-66D99A7FC6B7}"/>
              </a:ext>
            </a:extLst>
          </p:cNvPr>
          <p:cNvSpPr txBox="1"/>
          <p:nvPr/>
        </p:nvSpPr>
        <p:spPr>
          <a:xfrm>
            <a:off x="1093656" y="297918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핵심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</a:t>
            </a:r>
            <a:r>
              <a:rPr lang="ko-KR" altLang="en-US" sz="1200" dirty="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재구분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08921CE-4224-6CB9-F432-887EBFD6A8FE}"/>
              </a:ext>
            </a:extLst>
          </p:cNvPr>
          <p:cNvSpPr/>
          <p:nvPr/>
        </p:nvSpPr>
        <p:spPr>
          <a:xfrm>
            <a:off x="316309" y="4165919"/>
            <a:ext cx="6286697" cy="486786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(결합도 분리 규칙) 핵심기능 모듈과 확장기능 모듈이 직접 참조하지 않도록 통제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결합 방식 = 핵심기능과 확장기능은 표준 인터페이스로만 연결, 직접 함수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호출·DB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직접 참조 금지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확장기능 설계 변경이 발생해도 핵심기능 코드는 수정하지 않는 구조로 고정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(시험 자원 배분 규칙) 2.8.3 시험 커버리지 목표를 그룹별로 차등 적용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핵심기능 시험 커버리지 목표 = 100%(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단위·통합·성능·보안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4종 전부 적용)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확장기능 시험 커버리지 목표 = 설계 검토 수준(구현 없으므로 시험 대상에서 제외)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(장애 격리 규칙) 확장기능 영역에서 발생한 문제가 핵심기능으로 전파되지 않도록 통제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 격리 조건 = 확장기능 모듈 장애 시 핵심기능 서비스는 정상 유지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격리 검증 방법 = 확장기능 모듈을 의도적으로 중단시킨 상태에서 핵심기능 정상 동작 여부 확인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(핵심기능 안정성 판정 공식) PR-003·QUR-001 기준을 핵심기능에만 엄격 적용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핵심기능 안정성 판정 = 결함 지속시간 ≤ 3시간 AND 데이터 정합성 검증 통과(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등록·이관·개방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전 구간)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미충족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 확장기능 설계 착수를 보류하고 핵심기능 안정화를 우선 수행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(확장기능 설계 범위 규칙) 이번 사업에서는 구현 대신 설계 산출물만 작성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설계 산출물 범위 = 확장 포인트 정의(인터페이스 명세), 향후 구현 시 필요한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자원·일정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개요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실제 코드 구현, 데이터 적재는 이번 사업 범위에서 제외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(우선순위 재조정 규칙) 일정 지연 발생 시 확장기능 설계를 후순위로 미루고 핵심기능에 자원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재배정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재조정 조건 = 개발 일정이 지연될 경우, 확장기능 설계 작업 인력을 핵심기능 안정화로 우선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재배정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7536B814-B793-D56F-ECAF-4AB6DC7D8EB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0645851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10F048-BB71-3DF2-B558-16D04FC2EC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id="{500608FE-C7FB-6026-D471-07CDE08245DE}"/>
              </a:ext>
            </a:extLst>
          </p:cNvPr>
          <p:cNvCxnSpPr>
            <a:cxnSpLocks/>
            <a:stCxn id="105" idx="2"/>
            <a:endCxn id="67" idx="0"/>
          </p:cNvCxnSpPr>
          <p:nvPr/>
        </p:nvCxnSpPr>
        <p:spPr>
          <a:xfrm>
            <a:off x="3397839" y="4489371"/>
            <a:ext cx="0" cy="1043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0761328-00CC-9F8A-1EB4-A67CBBDB292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E7B3A64-A4CA-6A24-B0E4-FF5FAC278484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C03FEF3-224B-F3BA-ABFD-C364BCB78FD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구조 정의 및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6D7D3B4-08FA-D397-0BB1-C4309B562AB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3.1.0 Module 3.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추진 프로세스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14B6A37-F947-6D1F-3A87-C9F3C524823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구조와 표준을 정의해 카탈로그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등록기능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저장공간을 먼저 갖추고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위에서 기존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데이터 이관까지 수행하며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소재정보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개방목록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채널로 외부 데이터와 연계하는 단계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1403BAD-F4A7-65A0-B727-4A06688E5016}"/>
              </a:ext>
            </a:extLst>
          </p:cNvPr>
          <p:cNvSpPr/>
          <p:nvPr/>
        </p:nvSpPr>
        <p:spPr>
          <a:xfrm>
            <a:off x="5589352" y="2745682"/>
            <a:ext cx="995758" cy="1242511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표준화 및 카탈로그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FA06B52F-2E42-9C36-BFC5-74C613A141BC}"/>
              </a:ext>
            </a:extLst>
          </p:cNvPr>
          <p:cNvCxnSpPr>
            <a:cxnSpLocks/>
          </p:cNvCxnSpPr>
          <p:nvPr/>
        </p:nvCxnSpPr>
        <p:spPr>
          <a:xfrm>
            <a:off x="312925" y="23464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D350018C-C628-A0E9-6EB6-75359D1BCC7A}"/>
              </a:ext>
            </a:extLst>
          </p:cNvPr>
          <p:cNvSpPr txBox="1"/>
          <p:nvPr/>
        </p:nvSpPr>
        <p:spPr>
          <a:xfrm>
            <a:off x="335011" y="23330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ko-KR" altLang="en-US" sz="11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추진 프로세스</a:t>
            </a:r>
            <a:endParaRPr lang="en-US" altLang="ko-KR" sz="11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5CB0239-8466-E09B-0CBA-2E90F9C1FDBA}"/>
              </a:ext>
            </a:extLst>
          </p:cNvPr>
          <p:cNvSpPr/>
          <p:nvPr/>
        </p:nvSpPr>
        <p:spPr>
          <a:xfrm>
            <a:off x="333477" y="2664250"/>
            <a:ext cx="5152923" cy="1378920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4BDD1EB2-5E4B-0AFB-D5F9-720B39DAF229}"/>
              </a:ext>
            </a:extLst>
          </p:cNvPr>
          <p:cNvCxnSpPr>
            <a:cxnSpLocks/>
          </p:cNvCxnSpPr>
          <p:nvPr/>
        </p:nvCxnSpPr>
        <p:spPr>
          <a:xfrm>
            <a:off x="1178023" y="2761292"/>
            <a:ext cx="0" cy="1226901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3B2B7F16-13B2-9987-6053-A58586666F69}"/>
              </a:ext>
            </a:extLst>
          </p:cNvPr>
          <p:cNvSpPr txBox="1"/>
          <p:nvPr/>
        </p:nvSpPr>
        <p:spPr>
          <a:xfrm flipH="1">
            <a:off x="328468" y="2914505"/>
            <a:ext cx="85314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1.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 정의 및 구축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668FFE0B-F78E-559C-9288-C289E76301AB}"/>
              </a:ext>
            </a:extLst>
          </p:cNvPr>
          <p:cNvSpPr/>
          <p:nvPr/>
        </p:nvSpPr>
        <p:spPr>
          <a:xfrm>
            <a:off x="1317932" y="2768966"/>
            <a:ext cx="1850716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 및 표준 정의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9FF4275-EE15-70FC-10AD-DB42DBBA6B1F}"/>
              </a:ext>
            </a:extLst>
          </p:cNvPr>
          <p:cNvSpPr/>
          <p:nvPr/>
        </p:nvSpPr>
        <p:spPr>
          <a:xfrm>
            <a:off x="3629024" y="2768966"/>
            <a:ext cx="1780381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분류체계 및 카탈로그 설계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7EAD3E5-1BCF-F266-E701-C82C0C84C5C7}"/>
              </a:ext>
            </a:extLst>
          </p:cNvPr>
          <p:cNvSpPr/>
          <p:nvPr/>
        </p:nvSpPr>
        <p:spPr>
          <a:xfrm>
            <a:off x="2406650" y="3502329"/>
            <a:ext cx="1914036" cy="377376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기능 및 적재 공간 확보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0D9A0FF-8660-E7D3-D385-3D8A2E339CC1}"/>
              </a:ext>
            </a:extLst>
          </p:cNvPr>
          <p:cNvSpPr/>
          <p:nvPr/>
        </p:nvSpPr>
        <p:spPr>
          <a:xfrm>
            <a:off x="333477" y="4147515"/>
            <a:ext cx="5152923" cy="1792950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26F2C63F-2B70-AEDF-E479-55E16EAE0C22}"/>
              </a:ext>
            </a:extLst>
          </p:cNvPr>
          <p:cNvCxnSpPr>
            <a:cxnSpLocks/>
          </p:cNvCxnSpPr>
          <p:nvPr/>
        </p:nvCxnSpPr>
        <p:spPr>
          <a:xfrm>
            <a:off x="1178023" y="4244558"/>
            <a:ext cx="0" cy="1650444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54449CE-43C0-F665-4DC1-7FF664E3BD4A}"/>
              </a:ext>
            </a:extLst>
          </p:cNvPr>
          <p:cNvSpPr txBox="1"/>
          <p:nvPr/>
        </p:nvSpPr>
        <p:spPr>
          <a:xfrm flipH="1">
            <a:off x="328468" y="4687856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2.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데이터 이관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CB2D23E-53CE-2CA6-2B3A-D6FEF68F4285}"/>
              </a:ext>
            </a:extLst>
          </p:cNvPr>
          <p:cNvSpPr/>
          <p:nvPr/>
        </p:nvSpPr>
        <p:spPr>
          <a:xfrm>
            <a:off x="2419956" y="4593716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 대상 및 규모 산정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5D3AC9C8-7E6B-0689-9E15-D750655DBEF5}"/>
              </a:ext>
            </a:extLst>
          </p:cNvPr>
          <p:cNvSpPr/>
          <p:nvPr/>
        </p:nvSpPr>
        <p:spPr>
          <a:xfrm>
            <a:off x="2419956" y="5026166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전량 이관 방안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35B923B0-B7A9-7A22-2649-852FA9AC29F8}"/>
              </a:ext>
            </a:extLst>
          </p:cNvPr>
          <p:cNvSpPr/>
          <p:nvPr/>
        </p:nvSpPr>
        <p:spPr>
          <a:xfrm>
            <a:off x="1403192" y="5542121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화면 및 체계 전환 범위 설정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CB9647F1-F7F3-DF99-1053-D4BECDCFD3D5}"/>
              </a:ext>
            </a:extLst>
          </p:cNvPr>
          <p:cNvSpPr/>
          <p:nvPr/>
        </p:nvSpPr>
        <p:spPr>
          <a:xfrm>
            <a:off x="5589352" y="4194200"/>
            <a:ext cx="995758" cy="1700802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이관 및 </a:t>
            </a: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기관 데이터 등록 지원 체계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A18F58A-75CD-964F-F900-990C36B5C5FC}"/>
              </a:ext>
            </a:extLst>
          </p:cNvPr>
          <p:cNvSpPr/>
          <p:nvPr/>
        </p:nvSpPr>
        <p:spPr>
          <a:xfrm>
            <a:off x="333477" y="5988762"/>
            <a:ext cx="5152923" cy="1480056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B167DB2-0991-2107-ED15-5A0D504F8DF3}"/>
              </a:ext>
            </a:extLst>
          </p:cNvPr>
          <p:cNvCxnSpPr>
            <a:cxnSpLocks/>
          </p:cNvCxnSpPr>
          <p:nvPr/>
        </p:nvCxnSpPr>
        <p:spPr>
          <a:xfrm>
            <a:off x="1178023" y="6085803"/>
            <a:ext cx="0" cy="1331327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AF4FFCE2-0614-6663-22C5-9A0B602373A3}"/>
              </a:ext>
            </a:extLst>
          </p:cNvPr>
          <p:cNvSpPr txBox="1"/>
          <p:nvPr/>
        </p:nvSpPr>
        <p:spPr>
          <a:xfrm flipH="1">
            <a:off x="328468" y="6089356"/>
            <a:ext cx="853140" cy="1279477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3.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데이터 연계</a:t>
            </a: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41234A61-C69C-36A9-4250-E09AB89646D1}"/>
              </a:ext>
            </a:extLst>
          </p:cNvPr>
          <p:cNvSpPr/>
          <p:nvPr/>
        </p:nvSpPr>
        <p:spPr>
          <a:xfrm>
            <a:off x="1448594" y="6305972"/>
            <a:ext cx="1571625" cy="288000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데이터 제공 기관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83ABC54F-51FF-49E1-4D10-3BA3DB9D126B}"/>
              </a:ext>
            </a:extLst>
          </p:cNvPr>
          <p:cNvSpPr/>
          <p:nvPr/>
        </p:nvSpPr>
        <p:spPr>
          <a:xfrm>
            <a:off x="3453641" y="6068077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소재정보 연계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32F1E04A-F16B-F0B8-0F05-4AE279ACAC55}"/>
              </a:ext>
            </a:extLst>
          </p:cNvPr>
          <p:cNvSpPr/>
          <p:nvPr/>
        </p:nvSpPr>
        <p:spPr>
          <a:xfrm>
            <a:off x="3453641" y="6995281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권리정보 연계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9A9AA8E-FA7F-3072-502B-F3F7587F6060}"/>
              </a:ext>
            </a:extLst>
          </p:cNvPr>
          <p:cNvSpPr/>
          <p:nvPr/>
        </p:nvSpPr>
        <p:spPr>
          <a:xfrm>
            <a:off x="3453641" y="6519435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목록 연계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5E9E1048-3310-AA7C-C28D-E99B4013DBED}"/>
              </a:ext>
            </a:extLst>
          </p:cNvPr>
          <p:cNvSpPr/>
          <p:nvPr/>
        </p:nvSpPr>
        <p:spPr>
          <a:xfrm>
            <a:off x="5589352" y="6039270"/>
            <a:ext cx="995758" cy="1377860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데이터 연계 체계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2737491-E9A6-34D1-164A-14D7E57A3D44}"/>
              </a:ext>
            </a:extLst>
          </p:cNvPr>
          <p:cNvSpPr txBox="1"/>
          <p:nvPr/>
        </p:nvSpPr>
        <p:spPr>
          <a:xfrm>
            <a:off x="4850304" y="7637599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 </a:t>
            </a:r>
            <a:r>
              <a:rPr lang="ko-KR" altLang="en-US" sz="1000" dirty="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결과물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0806DC9D-0100-5EB0-EC51-E3D9D18E4258}"/>
              </a:ext>
            </a:extLst>
          </p:cNvPr>
          <p:cNvSpPr txBox="1"/>
          <p:nvPr/>
        </p:nvSpPr>
        <p:spPr>
          <a:xfrm>
            <a:off x="5614752" y="7637599"/>
            <a:ext cx="110479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전략 산출물</a:t>
            </a:r>
          </a:p>
        </p:txBody>
      </p:sp>
      <p:sp>
        <p:nvSpPr>
          <p:cNvPr id="98" name="더하기 기호 97">
            <a:extLst>
              <a:ext uri="{FF2B5EF4-FFF2-40B4-BE49-F238E27FC236}">
                <a16:creationId xmlns:a16="http://schemas.microsoft.com/office/drawing/2014/main" id="{EAF03283-D621-6FEB-9573-15A8AF3D6BEE}"/>
              </a:ext>
            </a:extLst>
          </p:cNvPr>
          <p:cNvSpPr/>
          <p:nvPr/>
        </p:nvSpPr>
        <p:spPr>
          <a:xfrm>
            <a:off x="3243650" y="2789758"/>
            <a:ext cx="308379" cy="308379"/>
          </a:xfrm>
          <a:prstGeom prst="mathPlus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B1B78743-CB3C-B6E5-5208-23BCF8F8E29A}"/>
              </a:ext>
            </a:extLst>
          </p:cNvPr>
          <p:cNvSpPr/>
          <p:nvPr/>
        </p:nvSpPr>
        <p:spPr>
          <a:xfrm>
            <a:off x="3444796" y="554174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기관 데이터 등록 지원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4106F16-91CA-59DA-5AE4-9AFEE7C287E5}"/>
              </a:ext>
            </a:extLst>
          </p:cNvPr>
          <p:cNvSpPr/>
          <p:nvPr/>
        </p:nvSpPr>
        <p:spPr>
          <a:xfrm>
            <a:off x="1448594" y="7033727"/>
            <a:ext cx="1571625" cy="288000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위원회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E0894B95-E4A2-39F1-370D-0C78569C6BB4}"/>
              </a:ext>
            </a:extLst>
          </p:cNvPr>
          <p:cNvSpPr/>
          <p:nvPr/>
        </p:nvSpPr>
        <p:spPr>
          <a:xfrm>
            <a:off x="2612026" y="4206536"/>
            <a:ext cx="1571625" cy="282835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HUB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</a:t>
            </a: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8C2F4716-85BB-4422-71CA-952558BE73DD}"/>
              </a:ext>
            </a:extLst>
          </p:cNvPr>
          <p:cNvCxnSpPr>
            <a:cxnSpLocks/>
            <a:stCxn id="82" idx="3"/>
            <a:endCxn id="83" idx="1"/>
          </p:cNvCxnSpPr>
          <p:nvPr/>
        </p:nvCxnSpPr>
        <p:spPr>
          <a:xfrm flipV="1">
            <a:off x="3020219" y="6244706"/>
            <a:ext cx="433422" cy="205266"/>
          </a:xfrm>
          <a:prstGeom prst="bentConnector3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108">
            <a:extLst>
              <a:ext uri="{FF2B5EF4-FFF2-40B4-BE49-F238E27FC236}">
                <a16:creationId xmlns:a16="http://schemas.microsoft.com/office/drawing/2014/main" id="{FEB8B834-D1F6-2A30-21BA-BFBE6801541D}"/>
              </a:ext>
            </a:extLst>
          </p:cNvPr>
          <p:cNvCxnSpPr>
            <a:cxnSpLocks/>
            <a:stCxn id="82" idx="3"/>
            <a:endCxn id="85" idx="1"/>
          </p:cNvCxnSpPr>
          <p:nvPr/>
        </p:nvCxnSpPr>
        <p:spPr>
          <a:xfrm>
            <a:off x="3020219" y="6449972"/>
            <a:ext cx="433422" cy="246092"/>
          </a:xfrm>
          <a:prstGeom prst="bentConnector3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4599E42E-1C23-75FB-1511-880C6D78A5C7}"/>
              </a:ext>
            </a:extLst>
          </p:cNvPr>
          <p:cNvCxnSpPr>
            <a:stCxn id="104" idx="3"/>
            <a:endCxn id="84" idx="1"/>
          </p:cNvCxnSpPr>
          <p:nvPr/>
        </p:nvCxnSpPr>
        <p:spPr>
          <a:xfrm flipV="1">
            <a:off x="3020219" y="7171910"/>
            <a:ext cx="433422" cy="5817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이등변 삼각형 118">
            <a:extLst>
              <a:ext uri="{FF2B5EF4-FFF2-40B4-BE49-F238E27FC236}">
                <a16:creationId xmlns:a16="http://schemas.microsoft.com/office/drawing/2014/main" id="{FA032E37-E9DF-CCFE-6FC7-B7E48910DE4C}"/>
              </a:ext>
            </a:extLst>
          </p:cNvPr>
          <p:cNvSpPr/>
          <p:nvPr/>
        </p:nvSpPr>
        <p:spPr>
          <a:xfrm rot="10800000">
            <a:off x="2342685" y="3250890"/>
            <a:ext cx="2041963" cy="170339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cxnSp>
        <p:nvCxnSpPr>
          <p:cNvPr id="124" name="직선 화살표 연결선 123">
            <a:extLst>
              <a:ext uri="{FF2B5EF4-FFF2-40B4-BE49-F238E27FC236}">
                <a16:creationId xmlns:a16="http://schemas.microsoft.com/office/drawing/2014/main" id="{D0DEFE74-D41E-F910-BB6C-D8575E9A1480}"/>
              </a:ext>
            </a:extLst>
          </p:cNvPr>
          <p:cNvCxnSpPr>
            <a:cxnSpLocks/>
          </p:cNvCxnSpPr>
          <p:nvPr/>
        </p:nvCxnSpPr>
        <p:spPr>
          <a:xfrm>
            <a:off x="3397839" y="4934376"/>
            <a:ext cx="0" cy="1043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125">
            <a:extLst>
              <a:ext uri="{FF2B5EF4-FFF2-40B4-BE49-F238E27FC236}">
                <a16:creationId xmlns:a16="http://schemas.microsoft.com/office/drawing/2014/main" id="{AED1F4E5-115D-8ED6-688B-295858DEDFE6}"/>
              </a:ext>
            </a:extLst>
          </p:cNvPr>
          <p:cNvCxnSpPr>
            <a:stCxn id="68" idx="2"/>
            <a:endCxn id="69" idx="0"/>
          </p:cNvCxnSpPr>
          <p:nvPr/>
        </p:nvCxnSpPr>
        <p:spPr>
          <a:xfrm rot="5400000">
            <a:off x="2808109" y="4952390"/>
            <a:ext cx="162697" cy="1016764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연결선: 꺾임 129">
            <a:extLst>
              <a:ext uri="{FF2B5EF4-FFF2-40B4-BE49-F238E27FC236}">
                <a16:creationId xmlns:a16="http://schemas.microsoft.com/office/drawing/2014/main" id="{611A2108-03A2-8B55-FB54-3B51CC9F6234}"/>
              </a:ext>
            </a:extLst>
          </p:cNvPr>
          <p:cNvCxnSpPr>
            <a:stCxn id="68" idx="2"/>
            <a:endCxn id="100" idx="0"/>
          </p:cNvCxnSpPr>
          <p:nvPr/>
        </p:nvCxnSpPr>
        <p:spPr>
          <a:xfrm rot="16200000" flipH="1">
            <a:off x="3829099" y="4948164"/>
            <a:ext cx="162320" cy="1024840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340018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FA7CE8-54E5-E5EF-4E03-EAAAB3CB5A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A701D0A-DCAE-73CE-C578-5032F2FC080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4EBDDB-7FC4-6041-8509-C1A9C2163A94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855A472-3973-0F5E-E3CF-4065AEE3E620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구조 및 표준 정의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4BED55A-1226-0863-5839-09AC6294D78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구조 정의 및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4017C1C-CEC6-054A-CC07-3152244032E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형식 파악 → 표준 선정 → 형태적 표준화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표기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숫자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단위 통일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→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용어 표준화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 흐름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41EDCAA-8C31-656C-AC4A-0C3BD23EEC3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4F94112-090F-AC19-A07A-2826BF5BA95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구조 및 표준 정의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C6C31C70-5B24-6746-DE1A-EF4D1CB7499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DTR-001, DTR-002, DR-004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550E031D-586F-8185-9CAD-5CD247519A95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46310B2-E911-BBB6-1C24-A33CB87A49BB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구조 파악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도메인별 데이터 특성과 저장 위치를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영역으로 구분해 파악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7BE3359A-6C0D-7ED0-4931-D5BB8FD253D1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10646247"/>
          <a:ext cx="6144768" cy="1821760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 대상 장비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요구사항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경계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IDS/IPS, API Gateway, DDoS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SR-009, DR-020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WAS,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오브젝트스토리지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로드밸런서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DR-022, FR-027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노드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벡터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색인서버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원격분석 세션서버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DR-022, DR-020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메시지브로커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통계집계서버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DR-022, PR-003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CD938F8B-2775-0BDD-6537-C26D6FE5B2F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48741"/>
          <a:ext cx="6144768" cy="1227360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텍스트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인코딩 방식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확장자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771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이미지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해상도 표기 방식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확장자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9078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재생시간 표기 방식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: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프레임률 표기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75996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샘플링레이트 표기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재생시간 표기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7957271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5ED6A927-2DF8-6541-2FD6-A83335911F5A}"/>
              </a:ext>
            </a:extLst>
          </p:cNvPr>
          <p:cNvSpPr txBox="1"/>
          <p:nvPr/>
        </p:nvSpPr>
        <p:spPr>
          <a:xfrm>
            <a:off x="1093656" y="297918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도메인별 형식 파악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6F75C37-E770-4E5D-6E1D-D8BF465D00AA}"/>
              </a:ext>
            </a:extLst>
          </p:cNvPr>
          <p:cNvSpPr/>
          <p:nvPr/>
        </p:nvSpPr>
        <p:spPr>
          <a:xfrm>
            <a:off x="316309" y="4508360"/>
            <a:ext cx="6286697" cy="7775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표준 선정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불일치가 확인된 항목마다 하나의 표기 방식을 표준으로 선정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표준 선정 기준 = 공공데이터 공통표준에 해당 항목이 있으면 그것을 채택, 없으면 발주기관과 협의해 하나로 확정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36" name="Table 0">
            <a:extLst>
              <a:ext uri="{FF2B5EF4-FFF2-40B4-BE49-F238E27FC236}">
                <a16:creationId xmlns:a16="http://schemas.microsoft.com/office/drawing/2014/main" id="{623D4E2B-5884-9376-1181-A0F8319C565B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5587686"/>
          <a:ext cx="6144769" cy="1467937"/>
        </p:xfrm>
        <a:graphic>
          <a:graphicData uri="http://schemas.openxmlformats.org/drawingml/2006/table">
            <a:tbl>
              <a:tblPr/>
              <a:tblGrid>
                <a:gridCol w="14222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12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341246">
                  <a:extLst>
                    <a:ext uri="{9D8B030D-6E8A-4147-A177-3AD203B41FA5}">
                      <a16:colId xmlns:a16="http://schemas.microsoft.com/office/drawing/2014/main" val="2884208074"/>
                    </a:ext>
                  </a:extLst>
                </a:gridCol>
              </a:tblGrid>
              <a:tr h="27921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우선순위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 후보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공공데이터 공통표준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행안부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표준화지침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공통표준용어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항목의 공통표준이 존재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 기관표준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기관표준용어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공통표준 미존재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기관표준 존재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국내외 산업표준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공통표준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기관표준 모두 미존재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37" name="TextBox 36">
            <a:extLst>
              <a:ext uri="{FF2B5EF4-FFF2-40B4-BE49-F238E27FC236}">
                <a16:creationId xmlns:a16="http://schemas.microsoft.com/office/drawing/2014/main" id="{855E2CA4-328E-735D-8B1F-E6B7A65D8715}"/>
              </a:ext>
            </a:extLst>
          </p:cNvPr>
          <p:cNvSpPr txBox="1"/>
          <p:nvPr/>
        </p:nvSpPr>
        <p:spPr>
          <a:xfrm>
            <a:off x="1093656" y="531813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표준 후보 우선순위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47" name="Table 0">
            <a:extLst>
              <a:ext uri="{FF2B5EF4-FFF2-40B4-BE49-F238E27FC236}">
                <a16:creationId xmlns:a16="http://schemas.microsoft.com/office/drawing/2014/main" id="{4B9AC776-E663-A2F3-F7C5-3F28C6C493BA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734903"/>
          <a:ext cx="6144769" cy="1165533"/>
        </p:xfrm>
        <a:graphic>
          <a:graphicData uri="http://schemas.openxmlformats.org/drawingml/2006/table">
            <a:tbl>
              <a:tblPr/>
              <a:tblGrid>
                <a:gridCol w="14222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125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341246">
                  <a:extLst>
                    <a:ext uri="{9D8B030D-6E8A-4147-A177-3AD203B41FA5}">
                      <a16:colId xmlns:a16="http://schemas.microsoft.com/office/drawing/2014/main" val="2884208074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 전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제각각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 dirty="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표준화 후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하나로 통일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 dirty="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45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재생시간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 00:01:30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단위 정수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(90)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45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해상도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1920x1080 / FHD / 1080p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x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세로 픽셀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(1920x1080)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045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파일용량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2MB / 2048KB / 2097152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바이트 단위 정수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E2007A77-C0D2-9A66-C6A9-DCC0DA550552}"/>
              </a:ext>
            </a:extLst>
          </p:cNvPr>
          <p:cNvSpPr txBox="1"/>
          <p:nvPr/>
        </p:nvSpPr>
        <p:spPr>
          <a:xfrm>
            <a:off x="1093656" y="746534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형태적 표준화 예시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2E3216F-97E6-93A3-6A52-86F8903FFD67}"/>
              </a:ext>
            </a:extLst>
          </p:cNvPr>
          <p:cNvSpPr txBox="1"/>
          <p:nvPr/>
        </p:nvSpPr>
        <p:spPr>
          <a:xfrm>
            <a:off x="279082" y="7134745"/>
            <a:ext cx="6144769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08000" marR="0" lvl="1" indent="-108000" algn="l" defTabSz="914400" rtl="0" eaLnBrk="0" fontAlgn="base" latinLnBrk="0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ClrTx/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형태적 표준화</a:t>
            </a: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선정된 표준 형식에 맞춰 표기</a:t>
            </a: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숫자</a:t>
            </a:r>
            <a:r>
              <a:rPr kumimoji="1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단위를 하나로 통일</a:t>
            </a:r>
            <a:endParaRPr kumimoji="1" lang="ko-KR" altLang="ko-KR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37B1C576-9BA7-51AA-E75E-0B1B4DF71AF7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52429737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9D9130-A842-9423-DEDB-7ABD28DEF4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68567BD-80BE-2391-597F-C93832F2C96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7E5F2B7-27A4-D2E1-111F-8AC3DF60E60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00B0179-D34F-59F0-4F5F-B391D0B425C2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분류체계 및 카탈로그 설계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203401D-52BA-2A0D-8635-CD9A545379C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구조 정의 및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C344B58-6265-A43E-9B9E-BE1B1E3C079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필터로 쓸 분류 기준을 먼저 정하고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분류 기준을 내부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카탈로그 항목 구조에 반영하며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품질기준도 같은 분류체계를 기준으로 정의하는 순서로 설계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C8E0D6C-783A-D22A-B750-407995F5ED6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2804B0A-BF92-91E3-02AA-DD9100D1502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 체계 및 카탈로그 설계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FE7A911-8EB0-2147-FC76-76F02EFF630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FR-026, DTR-006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5E0D2980-81B8-5DEC-C6BC-401FA0D617EE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2AD171D-04E4-9EF0-6EB7-AD9BCD736158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분류 기준 항목 확정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 시 필터로 쓸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7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분류 기준을 정의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7DF070A8-EDA5-AEB1-B176-7F2C16432BFE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40022"/>
          <a:ext cx="6144768" cy="2366909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4262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 예시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의료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금융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제조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공공행정 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텍스트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이미지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제공형태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스트리밍형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21130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공공누리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자체 라이선스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상업적이용가능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33789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공공기관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민간기업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연구기관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9743897"/>
                  </a:ext>
                </a:extLst>
              </a:tr>
              <a:tr h="28918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최신성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등록일 기준 최근순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791938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E5C20FB-BB2B-0366-F6F6-25E921C645B0}"/>
              </a:ext>
            </a:extLst>
          </p:cNvPr>
          <p:cNvSpPr txBox="1"/>
          <p:nvPr/>
        </p:nvSpPr>
        <p:spPr>
          <a:xfrm>
            <a:off x="1093656" y="297046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분류 기준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F4C8D6-D7A6-0D94-6231-EECB5D2D4BA2}"/>
              </a:ext>
            </a:extLst>
          </p:cNvPr>
          <p:cNvSpPr/>
          <p:nvPr/>
        </p:nvSpPr>
        <p:spPr>
          <a:xfrm>
            <a:off x="316309" y="5649938"/>
            <a:ext cx="6286697" cy="195475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분류 계층구조 구성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 기준으로 대분류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-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중분류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-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소분류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 계층 구성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계층구조 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=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대분류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&gt;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중분류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하위주제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&gt;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소분류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세부유형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카탈로그 상세항목 구성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하나의 카탈로그 항목이 담아야 할 정보를 고정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내부 카탈로그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는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우리 시스템에 직접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등록·검수해서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관리하는 데이터의 목록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카탈로그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는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다른 시스템(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원윈도우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등)이 이미 갖고 있는 데이터 목록을 그대로 가져와 보여주기만 하는 목록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3784DAF3-23AD-E1B5-C931-BEA1B8A83E3A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548161"/>
          <a:ext cx="6144768" cy="1954758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8669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0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기본정보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데이터명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설명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구축배경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0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분류 기준값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80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품질등급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이력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780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출처표시 의무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상업적 이용 가능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21130"/>
                  </a:ext>
                </a:extLst>
              </a:tr>
              <a:tr h="2780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접근방법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직접 다운로드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이동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 필요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33789"/>
                  </a:ext>
                </a:extLst>
              </a:tr>
              <a:tr h="2780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관련정보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유사 데이터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연관 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9743897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D23F2840-B84D-716F-E283-27914F6CE47A}"/>
              </a:ext>
            </a:extLst>
          </p:cNvPr>
          <p:cNvSpPr txBox="1"/>
          <p:nvPr/>
        </p:nvSpPr>
        <p:spPr>
          <a:xfrm>
            <a:off x="1093656" y="725290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 상세항목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C02D7C8F-C136-C8EA-A8B6-373943239C69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9854394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744F8F-E678-7D59-FA29-98AFD48979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4F3BD5D5-1382-DCDB-4651-D77564722CD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C3B5E2A-CEFF-139D-D8FB-B26DA378317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C0CD4F-F895-31B0-9287-200D3C7656DF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분류체계 및 카탈로그 설계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F283AC7-AC46-0C39-C81E-2E559F3E2A9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구조 정의 및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FB8E50E-0824-CBBD-4BEC-48840B5EC82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흉부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CT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영상 데이터셋 카탈로그를 예시로 제시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54EBCE6-D006-FBD0-78E6-F0F3E854024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5F0E775-0C34-184A-F940-A5FC9AAEA4A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6FC7198-8ABD-1F10-EFA6-CCBDD75689D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FR-026, DTR-006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CEA5A10D-829D-1A9B-4F91-958744CE3DB3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ABAD86AA-E12D-AD78-ED7C-691F4CE27E91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141482"/>
          <a:ext cx="6144769" cy="6345414"/>
        </p:xfrm>
        <a:graphic>
          <a:graphicData uri="http://schemas.openxmlformats.org/drawingml/2006/table">
            <a:tbl>
              <a:tblPr/>
              <a:tblGrid>
                <a:gridCol w="12603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100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3233421">
                  <a:extLst>
                    <a:ext uri="{9D8B030D-6E8A-4147-A177-3AD203B41FA5}">
                      <a16:colId xmlns:a16="http://schemas.microsoft.com/office/drawing/2014/main" val="2937790702"/>
                    </a:ext>
                  </a:extLst>
                </a:gridCol>
              </a:tblGrid>
              <a:tr h="33666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 dirty="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6250">
                <a:tc rowSpan="4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기본정보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흉부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CT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 데이터셋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폐질환 진단 학습을 위한 흉부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CT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 및 판독 라벨 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구축배경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폐질환 조기진단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개발 지원 목적으로 구축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8793893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 의료기관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0804926"/>
                  </a:ext>
                </a:extLst>
              </a:tr>
              <a:tr h="316250">
                <a:tc rowSpan="6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의료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&gt;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영상진단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&gt; CT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0691639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이미지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9280360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제공형태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729123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3207283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공공누리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2825765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최신성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등록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363589"/>
                  </a:ext>
                </a:extLst>
              </a:tr>
              <a:tr h="316250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상태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2758606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 이력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→ 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라벨정확도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→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5807252"/>
                  </a:ext>
                </a:extLst>
              </a:tr>
              <a:tr h="316250">
                <a:tc rowSpan="3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출처표시 의무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있음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9497060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상업적 이용 가능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4593762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 허용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461942"/>
                  </a:ext>
                </a:extLst>
              </a:tr>
              <a:tr h="316250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접근방법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직접 다운로드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4366698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이용신청 후 승인 시 다운로드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16250">
                <a:tc rowSpan="2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관련정보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유사 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흉부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X-ray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영상 데이터셋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21130"/>
                  </a:ext>
                </a:extLst>
              </a:tr>
              <a:tr h="316250"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연관 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타 공공 의료기관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곳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33789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87B5E40-F047-E695-0EE8-D8D5D962F85F}"/>
              </a:ext>
            </a:extLst>
          </p:cNvPr>
          <p:cNvSpPr txBox="1"/>
          <p:nvPr/>
        </p:nvSpPr>
        <p:spPr>
          <a:xfrm>
            <a:off x="1093656" y="277936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흉부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CT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영상 데이터셋 예시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" name="Google Shape;4558;p82">
            <a:extLst>
              <a:ext uri="{FF2B5EF4-FFF2-40B4-BE49-F238E27FC236}">
                <a16:creationId xmlns:a16="http://schemas.microsoft.com/office/drawing/2014/main" id="{ECA50524-2755-975B-790B-425320142CC6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4445696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FBA8C9-D273-E338-5A7A-C0E0BC858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4409C2E-4241-7AC8-81D1-4D4BEE892B0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202CC80-5FB5-3521-63F7-8B02364E70C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DA690B8-2F98-CBBC-064B-0C98DDA0F66C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등록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관리 기능 및 적재 공간 확보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FACB155-C66B-5FE9-0A05-26D0DA73317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구조 정의 및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359998B-7BAB-7D2F-C1B5-0C84C219B81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이관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 기능이 그 위에서 동작할 수 있도록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기능과 적재 공간을 다른 기능보다 먼저 확보하는 순서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F82D562-90AD-D8AB-0328-655ED8802A5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0C84912-7821-5E7A-DB21-6BB506D2CA36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기능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9546213-AC34-3EF9-69BC-EF4A24125AE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FR-031, DTR-002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A32A2800-C39D-0D98-50C7-8EB302D0F620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DD63542-CBA1-1122-BA54-066737D71912}"/>
              </a:ext>
            </a:extLst>
          </p:cNvPr>
          <p:cNvSpPr/>
          <p:nvPr/>
        </p:nvSpPr>
        <p:spPr>
          <a:xfrm>
            <a:off x="316309" y="2672177"/>
            <a:ext cx="6286697" cy="135613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선확보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순서 규칙) 뒤 단계 기능이 앞 단계 산출물에 의존하는 순서로 배치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선확보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순서 = 등록 기능 + 적재 공간 확보 → 데이터 이관 → 카탈로그 연동 → 검색 서비스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앞 단계가 없으면 뒤 단계는 시작할 수 없음(이관할 곳이 없으면 이관 불가, 등록된 데이터가 없으면 카탈로그 노출 불가)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(등록 대상 6개 객체 정의)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등록·관리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기능이 다뤄야 할 데이터 단위를 6개로 고정</a:t>
            </a:r>
            <a:endParaRPr kumimoji="1" lang="ko-KR" altLang="en-US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724BFE07-7FCC-6B9C-D33C-9DEAC9B7B42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337264"/>
          <a:ext cx="6144768" cy="2035696"/>
        </p:xfrm>
        <a:graphic>
          <a:graphicData uri="http://schemas.openxmlformats.org/drawingml/2006/table">
            <a:tbl>
              <a:tblPr/>
              <a:tblGrid>
                <a:gridCol w="1733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17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객체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최상위 등록 단위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데이터셋의 변경 시점별 버전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446351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파일세트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 파일 묶음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8090218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패키지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배포용으로 묶은 파일세트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989156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샘플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미리보기용 일부 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객체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3.1.1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에서 정의한 메타모델 인스턴스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B34999D3-6F7C-E6F5-1062-6472640DF1C8}"/>
              </a:ext>
            </a:extLst>
          </p:cNvPr>
          <p:cNvSpPr txBox="1"/>
          <p:nvPr/>
        </p:nvSpPr>
        <p:spPr>
          <a:xfrm>
            <a:off x="1093656" y="406770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대상 객체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75A899F-0895-B37E-8C52-398E2B0473B1}"/>
              </a:ext>
            </a:extLst>
          </p:cNvPr>
          <p:cNvSpPr/>
          <p:nvPr/>
        </p:nvSpPr>
        <p:spPr>
          <a:xfrm>
            <a:off x="316309" y="6372960"/>
            <a:ext cx="6286697" cy="115299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(등록 승인 연계 규칙) 승인이 끝난 데이터만 운영 저장소에 실제로 들어가도록 제한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 저장소 반영 조건 = 등록 승인 완료 AND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품질검수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완료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둘 중 하나라도 미완료면 임시 저장영역에만 존재, 운영 저장소에는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미반영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(변경이력 6개 유형 정의) 데이터셋 변경 시 유형을 6가지로 구분해 이력 관리</a:t>
            </a:r>
          </a:p>
        </p:txBody>
      </p:sp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5779E1EC-7BFE-1A51-7327-A9D2DC59758F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795516"/>
          <a:ext cx="6144768" cy="1758698"/>
        </p:xfrm>
        <a:graphic>
          <a:graphicData uri="http://schemas.openxmlformats.org/drawingml/2006/table">
            <a:tbl>
              <a:tblPr/>
              <a:tblGrid>
                <a:gridCol w="1733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17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85074"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버전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새로운 버전 생성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마이너 수정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경미한 내용 수정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446351"/>
                  </a:ext>
                </a:extLst>
              </a:tr>
              <a:tr h="2456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재가공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가공 방식 변경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8090218"/>
                  </a:ext>
                </a:extLst>
              </a:tr>
              <a:tr h="2456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 갱신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 정보만 갱신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989156"/>
                  </a:ext>
                </a:extLst>
              </a:tr>
              <a:tr h="2456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종료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456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재배포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이후 재등록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8FAF34C3-5CE6-490C-11F8-2C48B8DAF01A}"/>
              </a:ext>
            </a:extLst>
          </p:cNvPr>
          <p:cNvSpPr txBox="1"/>
          <p:nvPr/>
        </p:nvSpPr>
        <p:spPr>
          <a:xfrm>
            <a:off x="1093656" y="752595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변경이력 유형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76DD55AC-6738-6BC1-D943-07F739485DAD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70095770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0C3B9F-C5EA-9B49-DC85-352DA85114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BD7B174-90F4-4975-F385-1EF69B1E2F9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DC9DCF8-7F01-BF8B-550E-EE83A1F3F87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83B9682-3CB2-00BE-CE52-7557728E58BE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등록</a:t>
            </a: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관리 기능 및 적재 공간 확보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2E681C5-2254-562D-8775-C17D9D0CE90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구조 정의 및 구축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3252E8C-0593-2D23-5AB1-2A5C574F10A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기능과 저장공간을 다른 기능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검색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보다 먼저 만들어서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데이터를 받을 준비 완료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65ADD9D-93EE-37F4-E860-CD4161300E5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177B706-7C68-ACBC-BECC-3491E67F607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적재 공간 확보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B237240-84D4-A8E3-5B0A-DFB521D7045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FR-031, DTR-002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4AB6C324-B660-7BB8-BCD6-A4296A161B48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DA2219B-3895-C244-B571-739DCF16ECB9}"/>
              </a:ext>
            </a:extLst>
          </p:cNvPr>
          <p:cNvSpPr/>
          <p:nvPr/>
        </p:nvSpPr>
        <p:spPr>
          <a:xfrm>
            <a:off x="316309" y="2672177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적재 공간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영역 우선 확보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DTR-002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의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저장영역 중 등록 기능에 반드시 필요한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개만 이 단계에서 우선 확보</a:t>
            </a: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565A4B8E-D41D-27E9-32B5-9E4D0EC81134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450193"/>
          <a:ext cx="6144768" cy="2035696"/>
        </p:xfrm>
        <a:graphic>
          <a:graphicData uri="http://schemas.openxmlformats.org/drawingml/2006/table">
            <a:tbl>
              <a:tblPr/>
              <a:tblGrid>
                <a:gridCol w="1733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183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2769870">
                  <a:extLst>
                    <a:ext uri="{9D8B030D-6E8A-4147-A177-3AD203B41FA5}">
                      <a16:colId xmlns:a16="http://schemas.microsoft.com/office/drawing/2014/main" val="4026316172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 단계 확보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동작 필수 영역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kumimoji="0"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22222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데이터 저장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동작 필수 영역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kumimoji="0"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22222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객체 저장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446351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파일저장소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동작 필수 영역</a:t>
                      </a:r>
                      <a:r>
                        <a:rPr kumimoji="0" lang="en-US" altLang="ko-K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kumimoji="0"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22222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 파일 적재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8090218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동작 필수 영역</a:t>
                      </a: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22222"/>
                          </a:solidFill>
                          <a:effectLst/>
                          <a:uLnTx/>
                          <a:uFillTx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kumimoji="0"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22222"/>
                        </a:solidFill>
                        <a:effectLst/>
                        <a:uLnTx/>
                        <a:uFillTx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장애 대비 필수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989156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검색색인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다음 단계로 이연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연동 이후 필요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428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로그저장소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다음 단계로 이연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운영 단계에서 확장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0A14524F-EBDE-4030-EB7A-202F5F54CD30}"/>
              </a:ext>
            </a:extLst>
          </p:cNvPr>
          <p:cNvSpPr txBox="1"/>
          <p:nvPr/>
        </p:nvSpPr>
        <p:spPr>
          <a:xfrm>
            <a:off x="1093656" y="318063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적재 공간 확보 범위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B0BE5B-2579-D7F8-6E75-F24D27FB7F4B}"/>
              </a:ext>
            </a:extLst>
          </p:cNvPr>
          <p:cNvSpPr/>
          <p:nvPr/>
        </p:nvSpPr>
        <p:spPr>
          <a:xfrm>
            <a:off x="316309" y="5497705"/>
            <a:ext cx="6286697" cy="167468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(적재 공간 규모 산정 공식) 데이터 규모에 안전여유율을 곱해 우선 확보 용량 산출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우선 확보 용량 = 전체 데이터 규모 × (1 + 안전여유율)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안전여유율은 이관 중 임시 중복 저장분을 고려해 산정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(명칭 정비 규칙) 기존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AI허브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데이터의 하위 상세데이터명을 의미 기반 표준명칭으로 정비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정비 대상 판정 = 기존 명칭이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파일명·코드성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명칭이라 데이터 특성을 알 수 없는 경우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정비 방식 =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도메인·유형·주요내용을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확인해 표준 명칭으로 교체 후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카탈로그·검색·통계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전체에 일괄 반영</a:t>
            </a:r>
          </a:p>
        </p:txBody>
      </p:sp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6E1E1232-5AA2-2755-717F-81BC0AFBF1C6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499074"/>
          <a:ext cx="6144768" cy="1969345"/>
        </p:xfrm>
        <a:graphic>
          <a:graphicData uri="http://schemas.openxmlformats.org/drawingml/2006/table">
            <a:tbl>
              <a:tblPr/>
              <a:tblGrid>
                <a:gridCol w="1733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1708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1" indent="0" algn="ctr" defTabSz="685800" rtl="0" eaLnBrk="1" fontAlgn="ctr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ts val="300"/>
                        </a:spcAft>
                        <a:buSzPct val="100000"/>
                        <a:buFont typeface="KoPubWorld돋움체 Medium" panose="00000600000000000000" pitchFamily="2" charset="-127"/>
                        <a:buNone/>
                        <a:tabLst>
                          <a:tab pos="5648325" algn="l"/>
                        </a:tabLst>
                        <a:defRPr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86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선확보 순서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공간 → 이관 → 카탈로그 → 검색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186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객체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1446351"/>
                  </a:ext>
                </a:extLst>
              </a:tr>
              <a:tr h="32186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반영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승인완료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AND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8090218"/>
                  </a:ext>
                </a:extLst>
              </a:tr>
              <a:tr h="32186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적재 공간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파일저장소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백업영역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우선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4989156"/>
                  </a:ext>
                </a:extLst>
              </a:tr>
              <a:tr h="32186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명칭 정비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의미기반 표준명칭으로 일괄 교체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C931A1C6-9A26-96EF-58CA-487213B44080}"/>
              </a:ext>
            </a:extLst>
          </p:cNvPr>
          <p:cNvSpPr txBox="1"/>
          <p:nvPr/>
        </p:nvSpPr>
        <p:spPr>
          <a:xfrm>
            <a:off x="1093656" y="7163951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 요약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03BEBFE5-0460-07BB-3A8B-646D8966D4D1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99728445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0B07BA-16A1-1635-159E-0D179B50F1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8E8C07F-C62A-8C7F-A5DD-E03430346B6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75DF080-4D84-E2EB-1648-76B07E5CA64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E10C39-A957-12EF-A169-12AB86ECDA32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이관 대상 및 규모 산정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C109A3-1FFA-FAD6-4577-E9624856021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데이터 이관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11F5E9A-50F4-05CD-2365-49AD6F6A4A6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전체 데이터 규모에서 원천데이터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가공 후 폐기 대상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제외해 실제 이관 대상 규모를 산정하는 절차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D938D1F-7E8F-AB1B-B7BA-E1199DEA001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E1BB13D-3ECA-BFCE-283B-078D42A51EF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 대상 및 규모 산정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8AB3C44-CB79-7CEB-47E4-A7B6D3D82CE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DTR-004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320AAE22-2346-84A7-D256-656F10301D83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D92D92-BC2F-7BDE-D746-D25D414E3BD8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원천데이터 판정 기준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최종산출물과 원천데이터를 구분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1E95BB5E-1DD2-22B8-B568-568724C7EB92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36036"/>
          <a:ext cx="6144768" cy="1060338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대상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최종산출물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라벨링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완료 후 카탈로그에 등록되는 데이터셋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최종산출물 제작에 쓰인 원본 소스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가공 전 원본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제외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완료분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E3FF587C-89DE-B4F5-EBFA-B375EF8F2824}"/>
              </a:ext>
            </a:extLst>
          </p:cNvPr>
          <p:cNvSpPr txBox="1"/>
          <p:nvPr/>
        </p:nvSpPr>
        <p:spPr>
          <a:xfrm>
            <a:off x="1093656" y="296647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원천데이터와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최종산출물 구분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CE1ED92-9A3A-C355-6824-E7355510E751}"/>
              </a:ext>
            </a:extLst>
          </p:cNvPr>
          <p:cNvSpPr/>
          <p:nvPr/>
        </p:nvSpPr>
        <p:spPr>
          <a:xfrm>
            <a:off x="316309" y="4339021"/>
            <a:ext cx="6286697" cy="176855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(제외 판정 공식) 원천데이터 중 이미 폐기 처리가 끝난 항목만 제외 대상으로 확정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제외 대상 판정 = 원천데이터 AND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스테이징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단계에서 폐기 완료 처리됨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폐기가 아직 안 끝난 원천데이터는 제외 대상이 아니라 이관 대상에 그대로 포함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(이관 대상 규모 산정 공식) 전체 규모에서 확정된 제외분을 뺀 값을 이관 대상 규모로 확정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 대상 규모 = 전체 데이터 규모(약 1,000종·3.9PB) - 원천데이터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제외분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(이관 대상 5종 구분) DTR-004 기준 이관 대상을 5가지 항목으로 구분해 각각 규모 산정</a:t>
            </a: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F241BD31-74A0-97D5-D781-30B7639C91D7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6377130"/>
          <a:ext cx="6144768" cy="1628540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1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테이블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내 등록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1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최종산출물 원본 파일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3018923"/>
                  </a:ext>
                </a:extLst>
              </a:tr>
              <a:tr h="2681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3.1.1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에서 정의한 메타모델 인스턴스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5178330"/>
                  </a:ext>
                </a:extLst>
              </a:tr>
              <a:tr h="2681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버전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변경이력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계보정보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3593275"/>
                  </a:ext>
                </a:extLst>
              </a:tr>
              <a:tr h="2681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분류체계 코드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91198AB-CA84-0E45-B597-5D0A39FB28F9}"/>
              </a:ext>
            </a:extLst>
          </p:cNvPr>
          <p:cNvSpPr txBox="1"/>
          <p:nvPr/>
        </p:nvSpPr>
        <p:spPr>
          <a:xfrm>
            <a:off x="1093656" y="610757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 대상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종 구분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68E634F-1492-E997-763F-1766BA4096F1}"/>
              </a:ext>
            </a:extLst>
          </p:cNvPr>
          <p:cNvSpPr/>
          <p:nvPr/>
        </p:nvSpPr>
        <p:spPr>
          <a:xfrm>
            <a:off x="316309" y="8005670"/>
            <a:ext cx="6286697" cy="1674680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(발주기관 협의 확정 규칙) 예비 목록을 만들어 발주기관 검토를 거쳐 최종 확정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확정 절차 = 예비 이관목록 작성 → 발주기관 검토 →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이관대상·제외대상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최종 확정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검토 중 제외 요청된 항목은 이관 대상 규모에서 다시 차감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(검증건수 산정 규칙) 이관 검증에 쓸 비교 대상 건수를 확정된 이관 대상 규모 기준으로 산정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검증건수 = 확정된 이관 대상 규모의 전체 건수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전수 검증이 어려운 대용량 파일은 표본 검증 비율을 별도 지정</a:t>
            </a: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A079DD62-2C47-FEC1-3B41-3B3C899EF113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631696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07D623-3831-BCF1-F8A1-D9A26FDDC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6A7305F-E6E1-149A-9360-F518FC2E10D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35B9247-7A03-A2E4-AB9D-ED1EF48F1BE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27E328-A0C6-7A9B-DE4A-A2ABE6780FF7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전량 이관 방안 수립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6C15DC2-E107-F7E4-F726-78530867BAA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데이터 이관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74D12FF-D076-8344-82AA-7C191ED6EEB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3.2.1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에서 확정된 이관 대상을 병렬 전송으로 이동시키고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전송 전후 건수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정합성을 비교 검증하는 절차로 전량 이관을 수행하는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E16B7C1-0929-081B-D61A-388854ADF11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1A5A304-8FC5-F2F4-1056-F8AB53B81568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전량 이관 방안 수립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910D064-CE56-C8FD-C873-9C39604069D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DTR-004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5C4F84DF-C22F-8C48-A269-D4E832AEE647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B5120F7-0FB6-ECC2-95CA-0196B97E90A9}"/>
              </a:ext>
            </a:extLst>
          </p:cNvPr>
          <p:cNvSpPr/>
          <p:nvPr/>
        </p:nvSpPr>
        <p:spPr>
          <a:xfrm>
            <a:off x="316309" y="2672177"/>
            <a:ext cx="6286697" cy="115299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(병렬 전송 단위 분할 규칙) 전체 이관 대상을 도메인별로 나눠 동시에 여러 경로로 전송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병렬 전송 단위 = 도메인(텍스트/이미지/영상/음성)별로 분할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각 단위는 독립적으로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전송·검증되며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한 단위의 실패가 다른 단위 전송을 막지 않음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(전송 절차 4단계) DTR-004 기준 사전점검-시범이관-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본이관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-검증 순서로 진행</a:t>
            </a: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252C7BEE-817E-3D4E-454A-09A0C284CD2F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056261"/>
          <a:ext cx="6144768" cy="1226820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1714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완료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396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 대상 목록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용량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무결성 사전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목록과 실제 파일 수 일치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396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일부 표본만 우선 전송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표본 전송 성공 및 검증 통과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3396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대상 병렬 전송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대상 전송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3396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전송 전후 비교 검증 수행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아래 검증 공식 통과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7451BB8F-98CC-0B46-1F05-360AA2F8A517}"/>
              </a:ext>
            </a:extLst>
          </p:cNvPr>
          <p:cNvSpPr txBox="1"/>
          <p:nvPr/>
        </p:nvSpPr>
        <p:spPr>
          <a:xfrm>
            <a:off x="1093656" y="378670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전송 절차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1BC94FA-0F49-C7B7-5CF0-7EB293F8B3CB}"/>
              </a:ext>
            </a:extLst>
          </p:cNvPr>
          <p:cNvSpPr/>
          <p:nvPr/>
        </p:nvSpPr>
        <p:spPr>
          <a:xfrm>
            <a:off x="316309" y="5301335"/>
            <a:ext cx="6286697" cy="201169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(정합성 검증 공식) 전송 전후 건수와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체크섬을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비교해 정합성 판정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정합성 검증 통과 조건 = 전송 전 건수와 전송 후 건수 일치 AND 파일별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체크섬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해시값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전송 전후 일치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하나라도 불일치하면 해당 파일만 재전송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(재전송 규칙) 불일치 항목만 선별해 반복 재전송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재전송 대상 = 검증 실패 파일만(전체 재전송 아님)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재전송 후 동일 검증 공식 재적용, 통과할 때까지 반복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(전송 중 오류 처리 규칙) 전송 도중 발생하는 오류를 3가지로 구분해 처리</a:t>
            </a: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CF848D30-BF4D-24E2-C79F-12C8434DB6A5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605282"/>
          <a:ext cx="6144768" cy="982980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12232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86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네트워크 단절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자동 재시도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이어받기 방식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86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 손상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파일만 재전송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186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용량 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병렬 전송 단위를 더 잘게 분할 후 재시도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3A6DCE4-E04A-6E22-1ED0-BAE78A1044BF}"/>
              </a:ext>
            </a:extLst>
          </p:cNvPr>
          <p:cNvSpPr txBox="1"/>
          <p:nvPr/>
        </p:nvSpPr>
        <p:spPr>
          <a:xfrm>
            <a:off x="1093656" y="733572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전송 중 오류 처리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9B3F1317-AF23-AAB4-A723-9CD9A84D8B4D}"/>
              </a:ext>
            </a:extLst>
          </p:cNvPr>
          <p:cNvSpPr/>
          <p:nvPr/>
        </p:nvSpPr>
        <p:spPr>
          <a:xfrm>
            <a:off x="316309" y="8619829"/>
            <a:ext cx="6286697" cy="7775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(서비스 연속성 확보 규칙) 이관 작업이 현행 시스템 서비스에 영향을 주지 않도록 시간대 분리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작업 시간대 = 현행 시스템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이용량이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낮은 시간대에 병렬 전송 집중 배치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이용량이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높은 시간대는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검증·재전송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저부하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작업만 수행</a:t>
            </a: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BCF1203F-68F3-9CAC-6106-0650C5F31EC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53639258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5D6F92-77E4-6915-0AAC-88AE0B326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1DAFADC-9F2D-5D65-894A-1DBFEDBF3BF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C588DA5-7092-0518-E654-3995016F7B1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5D981B9-2F08-4BF2-1AE1-198DD32F40B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우선순위 기반 단계 이관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BDE6EBC-5C00-A985-5F4B-2544D4B1491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데이터 이관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117DE2A-68CA-6E80-7E22-A9383B7388C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전량 이관 진행률이 특정 시점까지 목표에 못 미치면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판정이 끝난 데이터부터 우선 이관하는 방식으로 전환하는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210C68E-3BBF-32F3-C4DA-8FBD415E033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3650C92-DF0C-C1EA-5E39-1C3CF7F369C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우선순위 기반 단계 이관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70A23B0-9EB2-B732-0C37-86B524B22009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DTR-004, OR-010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E588C8CF-D35C-883E-BB22-CC9595158631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755C53-7CCA-7786-9745-2DB14C57206A}"/>
              </a:ext>
            </a:extLst>
          </p:cNvPr>
          <p:cNvSpPr/>
          <p:nvPr/>
        </p:nvSpPr>
        <p:spPr>
          <a:xfrm>
            <a:off x="316309" y="2672177"/>
            <a:ext cx="6286697" cy="193321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확정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안에서도 활용도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도메인커버리지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이관난이도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요소로 점수를 매겨 이관 순서를 정하는 체계 수립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(세부 우선순위 점수 공식) 3개 요소를 더하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여 하나의 점수로 산출하여 높은 점수부터 우선 이관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동점인 경우 용량이 작은 데이터셋을 먼저 이관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세부 우선순위 점수 = 활용도 점수 +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도메인커버리지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점수 - 이관난이도 점수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 매겨 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점수가 높은 데이터셋부터 먼저 이관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B08755DC-746A-7B02-0B4A-579FC088C8EE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452828"/>
          <a:ext cx="6144768" cy="1914358"/>
        </p:xfrm>
        <a:graphic>
          <a:graphicData uri="http://schemas.openxmlformats.org/drawingml/2006/table">
            <a:tbl>
              <a:tblPr/>
              <a:tblGrid>
                <a:gridCol w="16870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1752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44018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 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+3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20~50%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47407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35409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재사용 빈도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(Effective Use)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재사용 이력 있음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5200873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재사용 이력 없음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757680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최근 활용 추세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 내 조회 증가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A1573C04-FE75-5CF7-BFD8-6E98CF528A07}"/>
              </a:ext>
            </a:extLst>
          </p:cNvPr>
          <p:cNvSpPr txBox="1"/>
          <p:nvPr/>
        </p:nvSpPr>
        <p:spPr>
          <a:xfrm>
            <a:off x="1093656" y="4183271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활용도 점수 기준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E773C699-6704-4268-D2DB-2BC0A0F3308E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6711398"/>
          <a:ext cx="6144768" cy="1122166"/>
        </p:xfrm>
        <a:graphic>
          <a:graphicData uri="http://schemas.openxmlformats.org/drawingml/2006/table">
            <a:tbl>
              <a:tblPr/>
              <a:tblGrid>
                <a:gridCol w="38987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4599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도메인 기이관 데이터셋 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미커버 도메인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+3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1~5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47407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 이상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35409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6115FFEB-4B7D-5E9C-C667-35313081B536}"/>
              </a:ext>
            </a:extLst>
          </p:cNvPr>
          <p:cNvSpPr txBox="1"/>
          <p:nvPr/>
        </p:nvSpPr>
        <p:spPr>
          <a:xfrm>
            <a:off x="1093656" y="6441841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도메인커버리지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점수 기준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24" name="Table 0">
            <a:extLst>
              <a:ext uri="{FF2B5EF4-FFF2-40B4-BE49-F238E27FC236}">
                <a16:creationId xmlns:a16="http://schemas.microsoft.com/office/drawing/2014/main" id="{6D565A65-B625-33C3-D74F-34CF95B3061D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8177777"/>
          <a:ext cx="6144768" cy="1345782"/>
        </p:xfrm>
        <a:graphic>
          <a:graphicData uri="http://schemas.openxmlformats.org/drawingml/2006/table">
            <a:tbl>
              <a:tblPr/>
              <a:tblGrid>
                <a:gridCol w="38987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45995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03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용량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100GB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03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</a:t>
                      </a:r>
                      <a:r>
                        <a:rPr lang="en-US" altLang="ko-KR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민감정보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포함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비식별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처리 필요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6471884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불완전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 필요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47407"/>
                  </a:ext>
                </a:extLst>
              </a:tr>
              <a:tr h="2640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없음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935409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0B075999-3EAA-C2DC-B5C4-85CF762551AB}"/>
              </a:ext>
            </a:extLst>
          </p:cNvPr>
          <p:cNvSpPr txBox="1"/>
          <p:nvPr/>
        </p:nvSpPr>
        <p:spPr>
          <a:xfrm>
            <a:off x="1093656" y="790822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이관난이도 점수 기준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0FA44B42-83D2-FCA8-B4AA-BDA285431826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5527140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934384-F261-846C-1F58-35C6B6E15C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C5C640C-3C6D-C9D8-981A-62A5C031F68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18E6DB9-ADA4-52D3-4E80-29B87F92C3E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B8AEB4A-C5B5-DAB8-BCC3-F4E3C04EBEF5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.2.4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외부 기관 데이터 등록 지원</a:t>
            </a:r>
            <a:endParaRPr kumimoji="0" lang="ko-KR" altLang="en-US" sz="1400" b="0" i="0" u="none" strike="noStrike" kern="1200" cap="none" spc="-19" normalizeH="0" baseline="0" noProof="0" dirty="0">
              <a:ln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F708936-E9FE-91E6-A8A2-80AC1ABED90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AI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허브 데이터 이관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74D3A9E-816E-C516-75F0-C71E10DED0B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기관이 직접 요청하는 경우와 등록 진행 중 어려움이 관찰되는 경우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가지 경로로 지원 대상을 식별해 지원하는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276E149-363D-4BDA-ACE6-987A23F1D55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CCD87AF-A466-BA84-92BF-E6652EC0A98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기관 데이터 등록 지원 방안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AF979A0-FAF4-DFBF-648B-43B834E87EA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FR-001, FR-002, OR-010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BE5C1358-FC0D-AF08-1069-9AD212AC6830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1B66682-A03E-27DA-4A28-DC4F1CF66B03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지원 발생 경로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종 구분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요청 기반과 관찰 기반으로 지원 진입 경로를 구분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EFBF6499-4EF5-FDE7-9FA3-C80C9F1E4CBF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696199"/>
          <a:ext cx="6144768" cy="1518694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대상 상황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작성 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메타정보 누락으로 반려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담당자가 메타데이터 초안 작성을 대신 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비식별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검토 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비식별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검토에서 지연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전문 검토자를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1:1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 배정해 검토 병행 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품질기준 이해 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품질검수에서 동일 오류 반복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품질기준 설명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체크리스트 사용법 안내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577F6DC2-CB06-0EA1-7B01-BA1B31C23960}"/>
              </a:ext>
            </a:extLst>
          </p:cNvPr>
          <p:cNvSpPr txBox="1"/>
          <p:nvPr/>
        </p:nvSpPr>
        <p:spPr>
          <a:xfrm>
            <a:off x="1093656" y="742664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 유형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769116AE-10EA-C46C-FA48-9283AF4E2568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54290"/>
          <a:ext cx="6144768" cy="1060338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발생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요청 기반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기관이 등록 진행 중 직접 지원을 요청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관찰 기반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시스템이 등록 진행 현황을 모니터링해 어려움 징후를 자동 식별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BBC68147-3680-7EB6-C7A6-83C76BD22731}"/>
              </a:ext>
            </a:extLst>
          </p:cNvPr>
          <p:cNvSpPr txBox="1"/>
          <p:nvPr/>
        </p:nvSpPr>
        <p:spPr>
          <a:xfrm>
            <a:off x="1093656" y="298473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 발생 경로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F58C1A6-FED8-2C69-CD5F-B836CE91CCD1}"/>
              </a:ext>
            </a:extLst>
          </p:cNvPr>
          <p:cNvSpPr/>
          <p:nvPr/>
        </p:nvSpPr>
        <p:spPr>
          <a:xfrm>
            <a:off x="316309" y="4417127"/>
            <a:ext cx="6286697" cy="279344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(요청 기반 지원 절차) 기관이 신청하면 담당자가 즉시 배정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요청 기반 절차 = 기관의 지원 요청 접수 → 요청 내용 확인 → 담당자 배정 → 지원 수행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(관찰 기반 어려움 판정 공식)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반려·소요기간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지표로 자동 식별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어려움 판정 = 동일 단계 반려 2회 이상 발생 OR 보완 요청 후 재제출까지 소요기간이 평균 대비 2배 이상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둘 중 하나만 충족해도 어려움으로 판정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(관찰 기반 지원 절차) 판정된 기관에 먼저 안내하고 기관의 동의를 받아 지원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관찰 기반 절차 = 어려움 판정 → 기관에 자동 안내 → 기관의 지원 수락 여부 확인 → 수락 시 담당자 배정 → 지원 수행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기관이 지원을 원하지 않으면 등록 절차 재도전으로 복귀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(지원 유형 3종 구성) 어려움을 겪는 지점에 따라 다른 지원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을 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</a:t>
            </a: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FD39E7DA-52CE-8C7D-ED24-1C644A07CF6C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9009127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7EEB23-06CB-84E9-CD66-AA86D7FAA1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AA524E9-CF43-E3E2-E3E0-5B8BAC428FD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C472443-E891-CE46-8888-FFBAE64BA73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13321A3-401C-0C11-07A2-6DB39AA1DF53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소재정보 연계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71CD77D-F809-5E45-4F00-F2B1F3C1A1B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외부 데이터 연계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5FE917C-E849-27E4-40B5-44EB151A888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외부 기관 데이터 파일 자체를 가져오지 않고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"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어떤 데이터가 어디에 있는지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대한 설명 정보만 받아와 우리 검색 결과에 안내판처럼 같이 띄우는 방식으로 연계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8252934-400E-22BA-9827-C09C4557846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0F5A5BE-312B-5505-6E53-41CBDA31027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소재정보 연계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0ED077A6-C008-1A7E-5AE9-756DEE59A10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FR-013, FR-038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3C787995-2FD3-E1EE-61C3-74B4B2E1B0BF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14846A-3209-FA29-1692-A142A3FE2C42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받아오는 것의 범위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파일이 아니라 데이터를 설명하는 정보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가지만 수신 대상으로 한정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6" name="Table 0">
            <a:extLst>
              <a:ext uri="{FF2B5EF4-FFF2-40B4-BE49-F238E27FC236}">
                <a16:creationId xmlns:a16="http://schemas.microsoft.com/office/drawing/2014/main" id="{28A2A8EC-CA2B-CE65-639F-C64FBD766509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3254290"/>
          <a:ext cx="6144768" cy="1793014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해당 데이터의 이름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97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어떤 데이터인지에 대한 소개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7833674"/>
                  </a:ext>
                </a:extLst>
              </a:tr>
              <a:tr h="1221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 데이터를 보유한 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6257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원윈도우 등 어느 경로로 확인했는지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4068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제공형태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신청형 등 받는 방법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8766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 여부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133476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4349F390-C385-4A63-B3D0-4147289132BE}"/>
              </a:ext>
            </a:extLst>
          </p:cNvPr>
          <p:cNvSpPr txBox="1"/>
          <p:nvPr/>
        </p:nvSpPr>
        <p:spPr>
          <a:xfrm>
            <a:off x="1093656" y="298473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수신 대상 정보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59B486E-C691-CCF3-30B4-30995E4920C1}"/>
              </a:ext>
            </a:extLst>
          </p:cNvPr>
          <p:cNvSpPr/>
          <p:nvPr/>
        </p:nvSpPr>
        <p:spPr>
          <a:xfrm>
            <a:off x="316309" y="5060237"/>
            <a:ext cx="6286697" cy="439542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(받아오는 방식)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원윈도우로부터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정기적으로 또는 변경 발생 시 수신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수신 방식 = 정기 배치(예: 매일 1회 전체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갱신분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수신) + 이벤트 기반(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원윈도우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쪽에서 변경 발생 시 바로 통보)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(표기 맞추기)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원윈도우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표기 방식이 우리와 다르므로 3.1.1 표준 용어로 치환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표기 변환 =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원윈도우가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쓰는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용어·형식을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3.1.1에서 만든 표준 용어사전 항목명과 형태로 바꿔서 저장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변환 규칙이 없는 새로운 표현은 별도로 모아두고 담당자가 확인 후 규칙 추가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(같이 보여주기) 이용자가 검색하면 우리 데이터와 외부 데이터가 한 화면에 같이 노출되되, 출처를 명확히 구분 표시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노출 방식 = 검색 결과 목록에 "우리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데이터"와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"외부 데이터(제공기관명)"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나란히 표시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데이터임을 이용자가 한눈에 알 수 있도록 출처 배지를 항상 함께 표시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(클릭했을 때 연결) 외부 데이터를 클릭하면 우리 시스템이 아니라 실제 보유 기관으로 안내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연결 방식 =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공개형이면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해당 기관 페이지로 바로 이동, 승인이 필요한 형태면 이용조건을 먼저 보여준 뒤 신청 페이지로 이동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다운로드·승인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처리는 우리 시스템이 아니라 해당 기관에서 발생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(안내판이 틀렸을 때 처리) 링크가 끊기거나 정보가 바뀌었을 때 대응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marR="0" lvl="1" indent="-180975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ClrTx/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링크가 끊기는 경우 담당자에게 안내가 가고</a:t>
            </a:r>
            <a:r>
              <a:rPr kumimoji="1" lang="en-US" altLang="ko-KR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해당 기관이 제공을 중단하는 경우 자동으로 결과를 숨김</a:t>
            </a:r>
            <a:endParaRPr kumimoji="1" lang="en-US" altLang="ko-KR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8CC57C73-BA8B-E3BC-FFF4-64F1D1D81EF4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86304835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982F45-4269-6E38-FE58-434556F327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0891CA3-0D3B-06AA-EB3C-A7E17310BCC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E79EFAC-EB22-CD3E-2AC2-5BEA95A7458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8373E0A-9C63-BC8D-7FC0-93CDEC83C24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저작권 권리정보 연계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D375C78-41A6-7FC2-78C3-6B510C9E6D6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외부 데이터 연계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7EF2291-4EA3-3782-89D7-DFDFE982A58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등록 절차의 저작권검토 단계에서 저작권위원회 등 외부 저작권 정보원에 조회를 요청하고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응답 결과를 저작권 메타데이터로 확정해 등록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카탈로그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메타관리체계에 동시 반영하는 연계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74DE1C7-0504-096A-4F37-B385A52CC54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2E4D3C8-49A5-FC97-8ED7-60C4334ECA2A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권리정보 연계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C6CA5D2-9242-5548-B9EE-042F74AE11F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FR-028, DR-021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4E7EEF58-2E43-B33E-A341-DAD5C04AFC3A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A60B594-3B3D-FBD7-D995-DBCCE3B300C9}"/>
              </a:ext>
            </a:extLst>
          </p:cNvPr>
          <p:cNvSpPr/>
          <p:nvPr/>
        </p:nvSpPr>
        <p:spPr>
          <a:xfrm>
            <a:off x="316309" y="2672177"/>
            <a:ext cx="6286697" cy="115299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(조회 시점 정의) 3.1.3 등록지원 절차 중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비식별·저작권검토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단계 진입 시점을 조회 트리거로 고정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조회 트리거 = 등록지원 9단계 절차 중 "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비식별·저작권검토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 단계 진입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조회 미완료 상태에서는 후속 단계(심의)로 전이 불가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(조회 요청 항목 정의) 저작물 식별에 필요한 항목으로 요청 범위를 한정</a:t>
            </a: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6BD5A8EC-A0BC-5194-1E01-C700EB316860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5870199"/>
          <a:ext cx="6144768" cy="1623060"/>
        </p:xfrm>
        <a:graphic>
          <a:graphicData uri="http://schemas.openxmlformats.org/drawingml/2006/table">
            <a:tbl>
              <a:tblPr/>
              <a:tblGrid>
                <a:gridCol w="22826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6207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상태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승인 여부 판정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권리자 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출처표시 이행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2692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공공누리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 표시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7294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상업적 이용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차가공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재배포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 허용 여부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 정책 적용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출처표시 필요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 상세화면 고지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09DEFD2A-38B3-E41C-58D5-020EE1ABFC0F}"/>
              </a:ext>
            </a:extLst>
          </p:cNvPr>
          <p:cNvSpPr txBox="1"/>
          <p:nvPr/>
        </p:nvSpPr>
        <p:spPr>
          <a:xfrm>
            <a:off x="1093656" y="560064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응답 확인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77E715C9-E330-B6A3-48B0-88F74EB53052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4094733"/>
          <a:ext cx="6144768" cy="1226820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저작물명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 대상 저작물의 명칭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내부 데이터셋 </a:t>
                      </a:r>
                      <a:r>
                        <a:rPr lang="ko-KR" altLang="en-US" sz="1000" kern="1200" dirty="0" err="1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식별명</a:t>
                      </a: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권리자명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확인된 경우 기재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미확인 시 공란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식별정보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원본 링크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 등 식별 보조정보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B4AC4CE2-C63D-EB1D-6F24-33B2EF8FE869}"/>
              </a:ext>
            </a:extLst>
          </p:cNvPr>
          <p:cNvSpPr txBox="1"/>
          <p:nvPr/>
        </p:nvSpPr>
        <p:spPr>
          <a:xfrm>
            <a:off x="1093656" y="382517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조회 요청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5B315BF-A852-EBC2-9ABB-CAD59E5762A1}"/>
              </a:ext>
            </a:extLst>
          </p:cNvPr>
          <p:cNvSpPr/>
          <p:nvPr/>
        </p:nvSpPr>
        <p:spPr>
          <a:xfrm>
            <a:off x="316309" y="5323822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 항목 정의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저작권 상태 판정에 필요한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항목을 응답 확인 대상으로 고정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0594DC1-EA46-531B-D338-3B175581ABB8}"/>
              </a:ext>
            </a:extLst>
          </p:cNvPr>
          <p:cNvSpPr/>
          <p:nvPr/>
        </p:nvSpPr>
        <p:spPr>
          <a:xfrm>
            <a:off x="316309" y="7522101"/>
            <a:ext cx="6286697" cy="208094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(결과 반영 규칙) 조회 결과를 3개 시스템에 동일 값으로 동기화 반영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 대상 = 등록시스템(승인 판정 근거) + 카탈로그(이용조건 노출) + 저작권 메타 관리체계(3.1.1 메타모델 필드)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3개 시스템 간 값 불일치 시 저작권 메타 관리체계 값을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기준값으로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재동기화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재조회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판정 규칙) 데이터 갱신 시점과 정기 주기를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재조회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트리거로 정의하고 결과 변경 이력을 관리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재조회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트리거 = 데이터셋 갱신 발생 시점 OR 정기 주기 도래 시점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재조회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결과 판정 = 직전 조회 결과와 최신 조회 결과 비교하여 상이할 경우 변경이력으로 기록, 이용조건 표시 즉시 갱신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FBD24762-622B-0AEC-2320-0AF02F4B0207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4283286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68FCCD-6E65-B3FD-C138-7FFC3CD8D3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DAB3621-0368-7A7C-2EB6-76E7CCA5D5C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3. </a:t>
            </a:r>
            <a:r>
              <a:rPr lang="ko-KR" altLang="en-US" b="1"/>
              <a:t>데이터 구성 및 마이그레이션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5D9E7D1-69DD-7F1D-D70D-5C1D33BDBF0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7C83A1C-EFA8-D96C-317F-31F0B984504C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개방 목록 연계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4DCA7C4-46C1-C2AC-3D0B-F331AE8AB49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외부 데이터 연계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1CB8CF5-6A35-CF10-D12A-2F62A06FF57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 개방목록을 </a:t>
            </a:r>
            <a:r>
              <a:rPr lang="ko-KR" altLang="en-US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공공데이터포털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표준 형식으로 변환해 등록하고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상태가 바뀔 때마다 자동으로 다시 동기화하는 절차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57789EA-FBC7-A2F3-8835-A3C97CB70FF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47E9A2D-9ED7-2AB8-B15D-CC3AED9A3D9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목록 연계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4E99C31-FDF8-78CE-FF0C-6062A33F5A9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DTR-006, FR-038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AB41B1A9-46E0-3431-C39C-107D4B641C4D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B6C11F0-CE48-44F9-E2E7-9D03EBE06A95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개방목록 확정 항목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DTR-006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 개방목록에 포함할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항목 고정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F213D504-6C22-82E6-348C-65AC16722222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6431309"/>
          <a:ext cx="6144766" cy="1470660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399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 메타모델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공공데이터포털 표준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데이터셋명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도메인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분류체계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표준분류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제공형태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60870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소관기관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 주기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갱신주기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D10D94E3-1BD4-9B13-14A2-6421026C9BFF}"/>
              </a:ext>
            </a:extLst>
          </p:cNvPr>
          <p:cNvSpPr txBox="1"/>
          <p:nvPr/>
        </p:nvSpPr>
        <p:spPr>
          <a:xfrm>
            <a:off x="1093656" y="613605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 항목 → </a:t>
            </a:r>
            <a:r>
              <a:rPr lang="ko-KR" altLang="en-US" sz="1200" dirty="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공공데이터포털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표준 항목 매핑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02D83908-4C6E-30A3-4F2F-1F6C6DD855AB}"/>
              </a:ext>
            </a:extLst>
          </p:cNvPr>
          <p:cNvGraphicFramePr>
            <a:graphicFrameLocks noGrp="1"/>
          </p:cNvGraphicFramePr>
          <p:nvPr/>
        </p:nvGraphicFramePr>
        <p:xfrm>
          <a:off x="339851" y="3254290"/>
          <a:ext cx="6144767" cy="1470660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0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2139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61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비공개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1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제한 사유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비공개인 경우 사유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961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다운로드형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/API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스트리밍형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7645184"/>
                  </a:ext>
                </a:extLst>
              </a:tr>
              <a:tr h="1961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상업적 이용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재배포 가능 여부 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975497"/>
                  </a:ext>
                </a:extLst>
              </a:tr>
              <a:tr h="1961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 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3.3.2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에서 확정된 저작권 메타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D2C5A577-61BA-44FB-61EA-82A60474F374}"/>
              </a:ext>
            </a:extLst>
          </p:cNvPr>
          <p:cNvSpPr txBox="1"/>
          <p:nvPr/>
        </p:nvSpPr>
        <p:spPr>
          <a:xfrm>
            <a:off x="1093656" y="298473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개방목록 구성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90418FE-26A7-7980-C932-AAB02C8FCBAA}"/>
              </a:ext>
            </a:extLst>
          </p:cNvPr>
          <p:cNvSpPr/>
          <p:nvPr/>
        </p:nvSpPr>
        <p:spPr>
          <a:xfrm>
            <a:off x="316309" y="4743204"/>
            <a:ext cx="6286697" cy="137459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공공데이터포털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등록 대상 판정 공식) 개방목록 중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공공데이터·공동활용데이터로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분류된 항목만 등록 대상으로 선정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 대상 = 개방목록 중 "개방 여부=공개" AND "공공데이터 또는 공동활용데이터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분류"에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해당하는 항목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제한형·비공개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항목은 등록 대상에서 제외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(표준 항목 매핑 규칙) 내부 메타모델 항목을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공공데이터포털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표준 항목으로 치환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154DC65-DCEF-7622-0A29-89994E2A660F}"/>
              </a:ext>
            </a:extLst>
          </p:cNvPr>
          <p:cNvSpPr/>
          <p:nvPr/>
        </p:nvSpPr>
        <p:spPr>
          <a:xfrm>
            <a:off x="316309" y="7901969"/>
            <a:ext cx="6286697" cy="143307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(등록 방식 규칙) API 연계와 파일 업로드 방식을 상황에 따라 구분 적용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등록 방식 =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공공데이터포털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API 연계 우선 적용, API 미지원 항목은 표준 양식 파일로 수동 업로드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(현행화 트리거 규칙) 데이터 상태가 바뀌는 3가지 경우 즉시 재동기화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현행화 트리거 = 데이터 변경 발생 OR 폐기 처리 발생 OR 비공개 전환 발생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트리거 발생 즉시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공공데이터포털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등록 정보를 갱신, 정기 주기를 기다리지 않음</a:t>
            </a: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407900D8-68A5-1B6C-7B07-D0F06D64F9FA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67478154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BDE41-A214-235B-A915-565459B9E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62AFC15-5A45-A440-51FF-0764FA622D0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DF8AC76-07F4-8277-9423-145CE31EF107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6853972-81FA-8786-BE26-CE01DD3BA1A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E45FA68-7BBE-828D-A46B-E7A02F2FD67E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4.1.0 Module 4.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추진 프로세스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70EC680-17F5-1B89-B2BF-D50CCB01276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dirty="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Moduel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4.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는 신규로 필요한 인프라 규모를 산정해 설계하고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 환경과 향후 확장 방안을 마련한 뒤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Hub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중 재활용 가능한 부분을 분석해 활용하면서 </a:t>
            </a:r>
            <a:r>
              <a:rPr kumimoji="1" lang="ko-KR" altLang="en-US" sz="1200" dirty="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망분리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 체계까지 갖추는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설계 과정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47B81-CB94-8F8D-5552-59DF356EBC95}"/>
              </a:ext>
            </a:extLst>
          </p:cNvPr>
          <p:cNvSpPr/>
          <p:nvPr/>
        </p:nvSpPr>
        <p:spPr>
          <a:xfrm>
            <a:off x="5589352" y="2745682"/>
            <a:ext cx="995758" cy="995723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구축 설계서</a:t>
            </a:r>
            <a:endParaRPr lang="ko-KR" altLang="en-US" sz="12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C0000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6C1F1E6A-FD7E-4DB6-1F0B-C338E2FA429A}"/>
              </a:ext>
            </a:extLst>
          </p:cNvPr>
          <p:cNvCxnSpPr>
            <a:cxnSpLocks/>
          </p:cNvCxnSpPr>
          <p:nvPr/>
        </p:nvCxnSpPr>
        <p:spPr>
          <a:xfrm>
            <a:off x="312925" y="23464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FDB624FE-1DF8-19DA-6AEC-2DEFB48CD815}"/>
              </a:ext>
            </a:extLst>
          </p:cNvPr>
          <p:cNvSpPr txBox="1"/>
          <p:nvPr/>
        </p:nvSpPr>
        <p:spPr>
          <a:xfrm>
            <a:off x="335011" y="23330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ko-KR" altLang="en-US" sz="11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추진 프로세스</a:t>
            </a:r>
            <a:endParaRPr lang="en-US" altLang="ko-KR" sz="11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71346F9-5385-BF58-3E04-41B855197D13}"/>
              </a:ext>
            </a:extLst>
          </p:cNvPr>
          <p:cNvSpPr/>
          <p:nvPr/>
        </p:nvSpPr>
        <p:spPr>
          <a:xfrm>
            <a:off x="333477" y="2664250"/>
            <a:ext cx="5152923" cy="1118982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F0669F46-A921-BB07-0AD2-3ED421BF39BC}"/>
              </a:ext>
            </a:extLst>
          </p:cNvPr>
          <p:cNvCxnSpPr>
            <a:cxnSpLocks/>
          </p:cNvCxnSpPr>
          <p:nvPr/>
        </p:nvCxnSpPr>
        <p:spPr>
          <a:xfrm>
            <a:off x="1178023" y="2761292"/>
            <a:ext cx="0" cy="883608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DD9BD0FE-A455-8CF0-C5D3-A6DC4CD65EF5}"/>
              </a:ext>
            </a:extLst>
          </p:cNvPr>
          <p:cNvSpPr txBox="1"/>
          <p:nvPr/>
        </p:nvSpPr>
        <p:spPr>
          <a:xfrm flipH="1">
            <a:off x="328468" y="2881847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1.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구성 설계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A37A3EC-461E-001A-FCD1-DDA0FE1EE536}"/>
              </a:ext>
            </a:extLst>
          </p:cNvPr>
          <p:cNvSpPr/>
          <p:nvPr/>
        </p:nvSpPr>
        <p:spPr>
          <a:xfrm>
            <a:off x="1317932" y="2768966"/>
            <a:ext cx="1850716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영역별 인프라 구성 설계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35A4D6B-C13C-DB5A-2D57-763C905AAC0D}"/>
              </a:ext>
            </a:extLst>
          </p:cNvPr>
          <p:cNvSpPr/>
          <p:nvPr/>
        </p:nvSpPr>
        <p:spPr>
          <a:xfrm>
            <a:off x="3629024" y="2768966"/>
            <a:ext cx="1780381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연산 자원 규모 산정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4B3DAA5-F302-2577-E09D-252141E3AE6C}"/>
              </a:ext>
            </a:extLst>
          </p:cNvPr>
          <p:cNvSpPr/>
          <p:nvPr/>
        </p:nvSpPr>
        <p:spPr>
          <a:xfrm>
            <a:off x="1317935" y="3316057"/>
            <a:ext cx="1850713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산정서 및 후속 제안요청서 작성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BDD33CC-BEF8-AF60-A09A-D092DAA8870A}"/>
              </a:ext>
            </a:extLst>
          </p:cNvPr>
          <p:cNvSpPr/>
          <p:nvPr/>
        </p:nvSpPr>
        <p:spPr>
          <a:xfrm>
            <a:off x="333477" y="3888443"/>
            <a:ext cx="5152923" cy="657358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58FA1056-8E5F-96F1-97EC-2580D861826F}"/>
              </a:ext>
            </a:extLst>
          </p:cNvPr>
          <p:cNvCxnSpPr>
            <a:cxnSpLocks/>
          </p:cNvCxnSpPr>
          <p:nvPr/>
        </p:nvCxnSpPr>
        <p:spPr>
          <a:xfrm>
            <a:off x="1178023" y="3934325"/>
            <a:ext cx="0" cy="537946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530024DB-FAE7-1DAF-D266-DC06F4BF64C0}"/>
              </a:ext>
            </a:extLst>
          </p:cNvPr>
          <p:cNvSpPr txBox="1"/>
          <p:nvPr/>
        </p:nvSpPr>
        <p:spPr>
          <a:xfrm flipH="1">
            <a:off x="328468" y="3865179"/>
            <a:ext cx="853140" cy="3317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2.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지연 대비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7BE940B4-B1D9-068A-E221-A84B20C08A05}"/>
              </a:ext>
            </a:extLst>
          </p:cNvPr>
          <p:cNvSpPr/>
          <p:nvPr/>
        </p:nvSpPr>
        <p:spPr>
          <a:xfrm>
            <a:off x="1317932" y="400852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 환경 운영 방안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28D8C0DD-D8B5-0A35-1877-BB15958A6A00}"/>
              </a:ext>
            </a:extLst>
          </p:cNvPr>
          <p:cNvSpPr/>
          <p:nvPr/>
        </p:nvSpPr>
        <p:spPr>
          <a:xfrm>
            <a:off x="3453641" y="4008524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단계 확장 방안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0BD6D59-2869-5FB6-0E6A-389F93791F36}"/>
              </a:ext>
            </a:extLst>
          </p:cNvPr>
          <p:cNvSpPr/>
          <p:nvPr/>
        </p:nvSpPr>
        <p:spPr>
          <a:xfrm>
            <a:off x="5589352" y="3934325"/>
            <a:ext cx="995758" cy="569650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시험 및 확장 방안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223CEFA-73A3-5BA8-563D-EADB8EC19113}"/>
              </a:ext>
            </a:extLst>
          </p:cNvPr>
          <p:cNvSpPr/>
          <p:nvPr/>
        </p:nvSpPr>
        <p:spPr>
          <a:xfrm>
            <a:off x="333477" y="4638751"/>
            <a:ext cx="5152923" cy="1677711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0A240498-8E14-6D7A-FE80-5F56541A5EBA}"/>
              </a:ext>
            </a:extLst>
          </p:cNvPr>
          <p:cNvCxnSpPr>
            <a:cxnSpLocks/>
          </p:cNvCxnSpPr>
          <p:nvPr/>
        </p:nvCxnSpPr>
        <p:spPr>
          <a:xfrm>
            <a:off x="1178023" y="4735793"/>
            <a:ext cx="0" cy="1465674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B0EA8327-79DA-D99B-18C4-CF63BCB33326}"/>
              </a:ext>
            </a:extLst>
          </p:cNvPr>
          <p:cNvSpPr txBox="1"/>
          <p:nvPr/>
        </p:nvSpPr>
        <p:spPr>
          <a:xfrm flipH="1">
            <a:off x="328468" y="4984130"/>
            <a:ext cx="85314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3.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인프라 재활용 및 운영 설계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7DFD5B1F-C30C-F669-B034-50DD5CB0E39F}"/>
              </a:ext>
            </a:extLst>
          </p:cNvPr>
          <p:cNvSpPr/>
          <p:nvPr/>
        </p:nvSpPr>
        <p:spPr>
          <a:xfrm>
            <a:off x="1371600" y="5746130"/>
            <a:ext cx="1188380" cy="455337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 분리 및 안심 구역 설계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81A2F5E2-8CEE-6A04-E94C-8F17C6ECB521}"/>
              </a:ext>
            </a:extLst>
          </p:cNvPr>
          <p:cNvSpPr/>
          <p:nvPr/>
        </p:nvSpPr>
        <p:spPr>
          <a:xfrm>
            <a:off x="2771758" y="5746130"/>
            <a:ext cx="1188380" cy="455337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기반 설계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B02829A7-81D5-4798-637A-B5B9DC465EB9}"/>
              </a:ext>
            </a:extLst>
          </p:cNvPr>
          <p:cNvSpPr/>
          <p:nvPr/>
        </p:nvSpPr>
        <p:spPr>
          <a:xfrm>
            <a:off x="4171916" y="5746130"/>
            <a:ext cx="1188380" cy="455337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 및 백업 설계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7D6EE1-ECFF-F04B-A500-F15BC53E5D27}"/>
              </a:ext>
            </a:extLst>
          </p:cNvPr>
          <p:cNvSpPr/>
          <p:nvPr/>
        </p:nvSpPr>
        <p:spPr>
          <a:xfrm>
            <a:off x="5589352" y="4718067"/>
            <a:ext cx="995758" cy="1483400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재활용 방안 및 </a:t>
            </a:r>
            <a:r>
              <a:rPr lang="ko-KR" altLang="en-US" sz="1200" dirty="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보안 운영 설계</a:t>
            </a: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AEBF38F3-DB6F-CF73-6AB4-0A7CA30C4700}"/>
              </a:ext>
            </a:extLst>
          </p:cNvPr>
          <p:cNvCxnSpPr>
            <a:stCxn id="29" idx="3"/>
            <a:endCxn id="31" idx="1"/>
          </p:cNvCxnSpPr>
          <p:nvPr/>
        </p:nvCxnSpPr>
        <p:spPr>
          <a:xfrm>
            <a:off x="3273697" y="4185153"/>
            <a:ext cx="179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5F0AB9BA-706C-089D-2261-A06498B72ABC}"/>
              </a:ext>
            </a:extLst>
          </p:cNvPr>
          <p:cNvSpPr txBox="1"/>
          <p:nvPr/>
        </p:nvSpPr>
        <p:spPr>
          <a:xfrm>
            <a:off x="4850304" y="6341582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 </a:t>
            </a:r>
            <a:r>
              <a:rPr lang="ko-KR" altLang="en-US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결과물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E31FC8C-1B28-8C22-8FDA-639BC2C6AE90}"/>
              </a:ext>
            </a:extLst>
          </p:cNvPr>
          <p:cNvSpPr txBox="1"/>
          <p:nvPr/>
        </p:nvSpPr>
        <p:spPr>
          <a:xfrm>
            <a:off x="5614752" y="6341582"/>
            <a:ext cx="110479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전략 산출물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3BA51972-5C57-B37A-761B-F3E633090F8F}"/>
              </a:ext>
            </a:extLst>
          </p:cNvPr>
          <p:cNvSpPr/>
          <p:nvPr/>
        </p:nvSpPr>
        <p:spPr>
          <a:xfrm>
            <a:off x="3626029" y="3316057"/>
            <a:ext cx="1780381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사양 및 제공 시점 구체화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6C0EF1A-1826-65F5-9D00-7B4D63E18E55}"/>
              </a:ext>
            </a:extLst>
          </p:cNvPr>
          <p:cNvSpPr/>
          <p:nvPr/>
        </p:nvSpPr>
        <p:spPr>
          <a:xfrm>
            <a:off x="2405899" y="5129646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인프라 분석 및 재활용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78F32F29-283C-9884-8684-465860867648}"/>
              </a:ext>
            </a:extLst>
          </p:cNvPr>
          <p:cNvSpPr/>
          <p:nvPr/>
        </p:nvSpPr>
        <p:spPr>
          <a:xfrm>
            <a:off x="2604270" y="4712708"/>
            <a:ext cx="1559022" cy="260111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Hub </a:t>
            </a: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인프라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8C130F6F-ECCB-19C7-BD64-3E6D8931BA12}"/>
              </a:ext>
            </a:extLst>
          </p:cNvPr>
          <p:cNvCxnSpPr>
            <a:stCxn id="19" idx="3"/>
            <a:endCxn id="20" idx="1"/>
          </p:cNvCxnSpPr>
          <p:nvPr/>
        </p:nvCxnSpPr>
        <p:spPr>
          <a:xfrm>
            <a:off x="3168648" y="2945595"/>
            <a:ext cx="46037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2">
            <a:extLst>
              <a:ext uri="{FF2B5EF4-FFF2-40B4-BE49-F238E27FC236}">
                <a16:creationId xmlns:a16="http://schemas.microsoft.com/office/drawing/2014/main" id="{A0D3A229-B1A9-79A2-D36D-DAFE854D94E1}"/>
              </a:ext>
            </a:extLst>
          </p:cNvPr>
          <p:cNvCxnSpPr>
            <a:stCxn id="20" idx="2"/>
            <a:endCxn id="21" idx="0"/>
          </p:cNvCxnSpPr>
          <p:nvPr/>
        </p:nvCxnSpPr>
        <p:spPr>
          <a:xfrm rot="5400000">
            <a:off x="3284338" y="2081179"/>
            <a:ext cx="193833" cy="2275923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037A6055-834C-ED8C-EA45-C386E04C8B64}"/>
              </a:ext>
            </a:extLst>
          </p:cNvPr>
          <p:cNvCxnSpPr>
            <a:stCxn id="21" idx="3"/>
            <a:endCxn id="59" idx="1"/>
          </p:cNvCxnSpPr>
          <p:nvPr/>
        </p:nvCxnSpPr>
        <p:spPr>
          <a:xfrm>
            <a:off x="3168648" y="3492686"/>
            <a:ext cx="45738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C4D64287-0C19-4BCB-297B-ECC664F9E1C4}"/>
              </a:ext>
            </a:extLst>
          </p:cNvPr>
          <p:cNvCxnSpPr>
            <a:stCxn id="65" idx="2"/>
            <a:endCxn id="64" idx="0"/>
          </p:cNvCxnSpPr>
          <p:nvPr/>
        </p:nvCxnSpPr>
        <p:spPr>
          <a:xfrm>
            <a:off x="3383781" y="4972819"/>
            <a:ext cx="1" cy="15682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연결선: 꺾임 79">
            <a:extLst>
              <a:ext uri="{FF2B5EF4-FFF2-40B4-BE49-F238E27FC236}">
                <a16:creationId xmlns:a16="http://schemas.microsoft.com/office/drawing/2014/main" id="{F5411CC6-F8B8-9461-4243-6993A318E66B}"/>
              </a:ext>
            </a:extLst>
          </p:cNvPr>
          <p:cNvCxnSpPr>
            <a:stCxn id="64" idx="2"/>
            <a:endCxn id="46" idx="0"/>
          </p:cNvCxnSpPr>
          <p:nvPr/>
        </p:nvCxnSpPr>
        <p:spPr>
          <a:xfrm rot="5400000">
            <a:off x="2543173" y="4905521"/>
            <a:ext cx="263226" cy="1417992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15A506F6-7F4F-1CC8-36FC-8F837D6A253F}"/>
              </a:ext>
            </a:extLst>
          </p:cNvPr>
          <p:cNvCxnSpPr>
            <a:stCxn id="64" idx="2"/>
            <a:endCxn id="48" idx="0"/>
          </p:cNvCxnSpPr>
          <p:nvPr/>
        </p:nvCxnSpPr>
        <p:spPr>
          <a:xfrm rot="16200000" flipH="1">
            <a:off x="3943331" y="4923355"/>
            <a:ext cx="263226" cy="1382324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3DEB2A9A-E7C8-DD8B-BEF1-30A5B82C9CC3}"/>
              </a:ext>
            </a:extLst>
          </p:cNvPr>
          <p:cNvCxnSpPr>
            <a:cxnSpLocks/>
          </p:cNvCxnSpPr>
          <p:nvPr/>
        </p:nvCxnSpPr>
        <p:spPr>
          <a:xfrm flipH="1">
            <a:off x="3384998" y="5482904"/>
            <a:ext cx="0" cy="2632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0843542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70F564-A61A-0A72-5961-D848DF4DE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EF0C48A-E818-5C00-489A-DB84C82096D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DF34912-F32A-5EB0-3DC0-14494ED6879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7621833-963F-B5AC-1FD0-93940F4C5BB5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영역별 인프라 구성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56DD42C-69EA-919B-30BC-1F7786DE81A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52C86D2-019C-5143-BDE0-C66C06066BD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경계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영역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안심 구역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 영역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구역별로 배치 대상 장비 유형과 도입 기준을 정의하여 별도 사업으로 진행되는 실제 구축 시 그대로 적용 가능한 기준 마련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4DC77B9-52AB-4921-7D6D-07600FD90CE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BC0A364-3F63-81C8-C531-C272E865BDB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영역별 인프라 구성 설계 방법론</a:t>
            </a: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95BD96C6-68FE-AA93-CC77-9738C712F84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2D0A80-6569-316F-ECE8-1D7DF681BA2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SR-009</a:t>
            </a:r>
          </a:p>
        </p:txBody>
      </p:sp>
      <p:sp>
        <p:nvSpPr>
          <p:cNvPr id="13" name="모서리가 둥근 직사각형 222">
            <a:extLst>
              <a:ext uri="{FF2B5EF4-FFF2-40B4-BE49-F238E27FC236}">
                <a16:creationId xmlns:a16="http://schemas.microsoft.com/office/drawing/2014/main" id="{085B8F77-362A-7741-9BDB-BAEFF906DF43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B3F8980-F305-06C4-3F99-0DCF66B30CA1}"/>
              </a:ext>
            </a:extLst>
          </p:cNvPr>
          <p:cNvSpPr/>
          <p:nvPr/>
        </p:nvSpPr>
        <p:spPr>
          <a:xfrm>
            <a:off x="316309" y="2672177"/>
            <a:ext cx="6286697" cy="480784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(보안 경계 설계) 제안요청서(2026) SR-009가 요구하는 국가정보원 검증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침입차단·탐지시스템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도입 기준과 DR-020의 외부연계구간 통제 요구를 근거로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방화벽·IDS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/IPS·API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Gateway를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최전방 구역의 배치 대상 장비로 정의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(설계 기준) 로그인 실패 5회 이상 시 계정 잠금과 접속기록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위변조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방지 기능 탑재를 4개월(2026년 8월~12월) 사업 기간 내 도입 조건으로 확정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(개방 영역 설계) DR-022가 명시한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웹서버·WAS·오브젝트스토리지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자원 유형과 FR-027 대용량 다운로드 요구를 근거로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웹서버·WAS·오브젝트스토리지·로드밸런서를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이용자 접점 서비스 구역의 배치 대상 장비로 정의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(설계 기준) 약 1,000종·3.9페타바이트 규모(제안요청서 및 발주처 사업설명회 자료 기준, 확인 필요) 데이터 제공을 전제로 용량 산정 기준 수립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(안심 구역 설계) DR-022의 분석계 자원 구분과 DR-020의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내부망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처리 요구를 근거로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GPU노드·벡터DB·색인서버·원격분석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세션서버·배치노드를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내부망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격리 구역의 배치 대상 장비로 정의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(설계 기준) 원문 데이터 비공개 원칙과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저장·전송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구간 AES-256·TLS 1.2 이상 암호화 수준을 도입 조건으로 명시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(관리 영역 설계) DR-022 운영관리체계와 PR-003 시스템 안정성 요구를 근거로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모니터링서버·메시지브로커·통계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집계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서버·백업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스토리지를 서비스 구역과 분리된 운영 구역의 배치 대상 장비로 정의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(설계 기준) 결함 지속시간 최대 3시간 이내 목표와 로그 최소 1년 이상 보존 기준 반영</a:t>
            </a: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16EE223F-F1C7-B1D6-CC9F-780B8CCCB5DF}"/>
              </a:ext>
            </a:extLst>
          </p:cNvPr>
          <p:cNvGraphicFramePr>
            <a:graphicFrameLocks noGrp="1"/>
          </p:cNvGraphicFramePr>
          <p:nvPr/>
        </p:nvGraphicFramePr>
        <p:xfrm>
          <a:off x="339852" y="7696199"/>
          <a:ext cx="6144768" cy="1821760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2997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 대상 장비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 요구사항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경계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IDS/IPS, API Gateway, DDoS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SR-009, DR-020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WAS,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오브젝트스토리지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로드밸런서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DR-022, FR-027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벡터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색인서버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원격분석 세션서버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DR-022, DR-020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6518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메시지브로커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통계집계서버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DR-022, PR-003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93CA7A71-8071-CE85-89CE-3E33C97366BF}"/>
              </a:ext>
            </a:extLst>
          </p:cNvPr>
          <p:cNvSpPr txBox="1"/>
          <p:nvPr/>
        </p:nvSpPr>
        <p:spPr>
          <a:xfrm>
            <a:off x="1093656" y="742664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구역별 설계 대상 장비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66105801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48998D-4837-A397-1642-3A3F5E7479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3B1ED71-7AD2-DAAD-BC59-C91195C7497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23AFB81-1682-0D3C-73C0-B243F00D7BF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F19431-28EC-B1A3-02F2-C42279C1246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영역별 인프라 구성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F2A19B9-78DC-5476-9365-3F4DD76A822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EAD6AE8-7E18-60AC-B37F-1622233CD85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 요청 하나가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구역을 통과하는 경로를 예시로 제시하여 구역 간 연계 구조의 타당성 검증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BC358AB-F41A-2E3C-C6D4-711067AA4FE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8D44D58-B49E-6CDD-EC7C-1D398FC0EA3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영역별 인프라 구성 설계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5D4A317-D492-9D5E-AEBF-F29516E0AF2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C1238B0-66D5-193F-DB26-286977C1010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SR-009</a:t>
            </a:r>
          </a:p>
        </p:txBody>
      </p:sp>
      <p:sp>
        <p:nvSpPr>
          <p:cNvPr id="13" name="모서리가 둥근 직사각형 222">
            <a:extLst>
              <a:ext uri="{FF2B5EF4-FFF2-40B4-BE49-F238E27FC236}">
                <a16:creationId xmlns:a16="http://schemas.microsoft.com/office/drawing/2014/main" id="{AFF802AF-B9B2-09B9-B799-322E180DF54A}"/>
              </a:ext>
            </a:extLst>
          </p:cNvPr>
          <p:cNvSpPr/>
          <p:nvPr/>
        </p:nvSpPr>
        <p:spPr bwMode="gray">
          <a:xfrm>
            <a:off x="258881" y="2666395"/>
            <a:ext cx="6331426" cy="525840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E7F59B2-EC0B-ADCD-26B2-36341D7FD111}"/>
              </a:ext>
            </a:extLst>
          </p:cNvPr>
          <p:cNvSpPr/>
          <p:nvPr/>
        </p:nvSpPr>
        <p:spPr>
          <a:xfrm>
            <a:off x="316309" y="2672177"/>
            <a:ext cx="6286697" cy="313815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(진입 단계 설계) 이용자 요청이 개방 영역 웹서버에 도달하기 전 보안 경계 영역의 API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Gateway와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방화벽을 경유하도록 경로를 설계하여 인증 토큰 검증과 비정상 트래픽 차단이 이 구간에서 수행되도록 구성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(경유 대상) API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Gateway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방화벽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(처리 단계 설계) 개방 영역의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웹서버·WAS가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요청을 처리하고 실제 파일 조회는 안심 구역의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오브젝트스토리지로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연결되도록 경로를 설계하여 권한 확인 이후에만 조회가 이루어지고 트래픽은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로드밸런서로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분산되도록 구성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(경유 대상) 웹서버, WAS,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오브젝트스토리지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로드밸런서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(기록 단계 설계) 요청 전 구간의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접속·행위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이력이 관리 영역의 모니터링서버와 메시지브로커를 거쳐 통계 집계 서버에 적재되도록 경로를 설계하여 제안요청서(2026) DR-020 기준에 따라 로그가 최소 1년 이상 보존되고 장기 보관본은 주기적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해시값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검증을 거치도록 구성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(경유 대상) 메시지브로커, 모니터링서버, 통계 집계 서버</a:t>
            </a: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F1567E8B-84ED-772F-BAE1-44814204597B}"/>
              </a:ext>
            </a:extLst>
          </p:cNvPr>
          <p:cNvGraphicFramePr>
            <a:graphicFrameLocks noGrp="1"/>
          </p:cNvGraphicFramePr>
          <p:nvPr/>
        </p:nvGraphicFramePr>
        <p:xfrm>
          <a:off x="352552" y="6285827"/>
          <a:ext cx="6144768" cy="1546758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5803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경유 대상 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Gateway,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 토큰 검증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트래픽 차단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WAS,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오브젝트스토리지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로드밸런서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확인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트래픽 분산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메시지브로커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통계집계서버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비동기 수집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이상 보존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973A5D0F-C853-2948-B115-44AFB9A9C627}"/>
              </a:ext>
            </a:extLst>
          </p:cNvPr>
          <p:cNvSpPr txBox="1"/>
          <p:nvPr/>
        </p:nvSpPr>
        <p:spPr>
          <a:xfrm>
            <a:off x="1093656" y="596547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다운로드 요청 처리 경로 설계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5185179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AB2B1A-49D1-8F30-5C75-C878B89EFF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40076CE-1568-5CD0-D050-0ADF16D2E7D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05F145A-827F-EB60-4CAD-C028B1A3E9E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18BB513-BB59-601F-B633-A9E40BF7F080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연산 자원 규모 산정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944F25B-619C-27E7-9A60-FB34D9A3ADD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92A361C-3C35-CFED-4544-8334FC13433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처리량 트랙과 서비스 동시처리 트랙 두 개의 계산식으로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GPU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 연산 자원 규모 도출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2BF089B-0E38-1D0C-0CC0-23C98761E41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D4937BA-2E93-8025-EE55-B2E4E9393373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연산 인프라 자원 규모 산정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1F5D275-E0CB-80F0-1E84-DC14AFAE9AE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C1E095AF-210D-92E9-359D-B5F547AA60EC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DFCB3-995C-5995-40A0-E597EB0EE94B}"/>
              </a:ext>
            </a:extLst>
          </p:cNvPr>
          <p:cNvSpPr/>
          <p:nvPr/>
        </p:nvSpPr>
        <p:spPr>
          <a:xfrm>
            <a:off x="316309" y="2672177"/>
            <a:ext cx="6286697" cy="81598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트랙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공식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처리량 기준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GPU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대수 산출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GPU 대수(범위) = 총 처리소요시간 ÷ 목표 처리기간 ÷ GPU 1대당 처리성능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총 처리소요시간 = 총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데이터량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(단위처리부하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환산값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× 유형별 표준처리시간</a:t>
            </a: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DEC163FF-3A45-CB65-EE02-BE46178B889D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3487091"/>
          <a:ext cx="6144768" cy="1514119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880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총 데이터량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텍스트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=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토큰수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이미지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=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픽셀수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=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프레임수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×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재생시간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=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재생시간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FR-005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3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표준처리시간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유형별 단위당 벤치마크 처리시간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 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863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처리기간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 일정상 배치 목표 일수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사업일정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863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대당 처리성능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단위시간당 처리 가능량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 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4E4D6A8-E0A9-E9E5-4C28-ADB10307E096}"/>
              </a:ext>
            </a:extLst>
          </p:cNvPr>
          <p:cNvSpPr/>
          <p:nvPr/>
        </p:nvSpPr>
        <p:spPr>
          <a:xfrm>
            <a:off x="316309" y="507111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트랙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공식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필요 성능 산출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C85459AF-3691-4E29-C0F2-19319612BFFA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5422521"/>
          <a:ext cx="6144768" cy="1525850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88869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85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 발생건수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접속자수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호출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배치작업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승인처리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PR-004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280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세션당 자원점유량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CPU·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메모리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·GPU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점유율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0280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응답시간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PR-001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0280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학습세션 소요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 동시 학습 세션수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FR-032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51EE5C47-5711-4054-3F7A-909C4C80C167}"/>
              </a:ext>
            </a:extLst>
          </p:cNvPr>
          <p:cNvSpPr/>
          <p:nvPr/>
        </p:nvSpPr>
        <p:spPr>
          <a:xfrm>
            <a:off x="316309" y="7063326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 판단 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두 트랙 결과를 단순 합산하지 않고 용도별로 분리 배정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4" name="Table 0">
            <a:extLst>
              <a:ext uri="{FF2B5EF4-FFF2-40B4-BE49-F238E27FC236}">
                <a16:creationId xmlns:a16="http://schemas.microsoft.com/office/drawing/2014/main" id="{2CB30A1A-5E64-3344-8318-14BF2C741FEB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7472584"/>
          <a:ext cx="6144768" cy="1325396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300256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배정 자원군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 처리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55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처리량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배치노드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분석계 전용 계상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229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동시처리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원격분석 세션서버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처리자원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실시간계 전용 계상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3229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유휴 시간대 공유 가능 자원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별도 판정 후 중복 제외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705095B2-18CC-142D-F493-EF946DD5E558}"/>
              </a:ext>
            </a:extLst>
          </p:cNvPr>
          <p:cNvSpPr/>
          <p:nvPr/>
        </p:nvSpPr>
        <p:spPr>
          <a:xfrm>
            <a:off x="316309" y="8793431"/>
            <a:ext cx="6286697" cy="7775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보정 절차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이론치와 실측치 오차율 기준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재산정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오차율 = │실측치 -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이론치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│ ÷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이론치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오차율이 기준치 초과 시 해당 항목 단위처리부하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재산정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41547383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58B29C-84D4-207C-869D-9BD42D918A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C805C09-838A-9A4D-5C84-288CAA7D06E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B5BCE02-B7A7-8535-C560-50128AECDAB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5181E8F-D107-BD87-9B97-5F64CC8B0CCA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연산 자원 규모 산정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1E8F793-CB37-CD80-3496-8796223D24B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3B347CE-3681-FA13-515D-0C4435D45EF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실제 사업 데이터를 두 공식에 대입해 확정 가능 값과 착수 후 확보 값 구분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2603A84-C785-1DAC-023C-26F7C207737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7182437-FAB5-B570-F297-CA1F1912900A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연산 인프라 자원 규모 산정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4D36CD9-1CE9-3779-3E3F-A19B249D288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39B0E55C-8393-333F-7DCA-723C6282262C}"/>
              </a:ext>
            </a:extLst>
          </p:cNvPr>
          <p:cNvSpPr/>
          <p:nvPr/>
        </p:nvSpPr>
        <p:spPr bwMode="gray">
          <a:xfrm>
            <a:off x="258881" y="2666395"/>
            <a:ext cx="6331426" cy="6033106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2AE7E5BF-24C2-AC71-ABA1-32A648CCD7B1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3010841"/>
          <a:ext cx="6144768" cy="1655457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대입값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880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총 데이터량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1,000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·3.9PB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처리기간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(2026.8~11)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4838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표준처리시간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 필요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2803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대당 처리성능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 필요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1282410"/>
                  </a:ext>
                </a:extLst>
              </a:tr>
              <a:tr h="2863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 불가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미확정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998C916D-B2B9-5594-E148-B3D9DF1BD167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5042444"/>
          <a:ext cx="6144768" cy="1614261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3818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대입값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0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응답시간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0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결함 지속시간 한계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0971540"/>
                  </a:ext>
                </a:extLst>
              </a:tr>
              <a:tr h="26359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 발생건수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부하시험 필요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359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세션당 자원점유량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부하시험 필요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6359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병렬 자원 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 불가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미확정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graphicFrame>
        <p:nvGraphicFramePr>
          <p:cNvPr id="24" name="Table 0">
            <a:extLst>
              <a:ext uri="{FF2B5EF4-FFF2-40B4-BE49-F238E27FC236}">
                <a16:creationId xmlns:a16="http://schemas.microsoft.com/office/drawing/2014/main" id="{9924B378-6D15-8DF4-BBEE-441CE769E4A4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7171691"/>
          <a:ext cx="6144768" cy="1362710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7067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 방법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503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표준처리시간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GPU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대당 처리성능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 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착수 초기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5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 발생건수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세션당 자원점유량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중기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9955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공식 재대입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부하시험 완료 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2C4A72D-4DEC-DA97-66A4-4975676663AF}"/>
              </a:ext>
            </a:extLst>
          </p:cNvPr>
          <p:cNvSpPr txBox="1"/>
          <p:nvPr/>
        </p:nvSpPr>
        <p:spPr>
          <a:xfrm>
            <a:off x="1090769" y="269933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트랙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대입값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7A8651E-1F74-4AF1-AAD5-83969D6B3700}"/>
              </a:ext>
            </a:extLst>
          </p:cNvPr>
          <p:cNvSpPr txBox="1"/>
          <p:nvPr/>
        </p:nvSpPr>
        <p:spPr>
          <a:xfrm>
            <a:off x="1090769" y="475141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트랙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 </a:t>
            </a:r>
            <a:r>
              <a:rPr lang="ko-KR" altLang="en-US" sz="12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대입값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5F8CC78-F930-8F52-5AC3-93782C50550E}"/>
              </a:ext>
            </a:extLst>
          </p:cNvPr>
          <p:cNvSpPr txBox="1"/>
          <p:nvPr/>
        </p:nvSpPr>
        <p:spPr>
          <a:xfrm>
            <a:off x="1090769" y="686821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변수 확보 일정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0012195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54E64C-9E2E-936B-34E3-90E7A90121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9F1222B4-A9B6-82BE-CD77-E4A994C4B2F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D14BB36-D91A-7BEC-1FD3-9A7DF762F5D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6B42A4B-9862-26EB-63FF-E95C3E52E570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자원 산정서 및 후속 제안요청서 작성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83E3677-2E16-EA3C-EF55-0D376EF5C7E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A65B8EC-F95C-61ED-232F-74CDD1E56B4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자원산정서를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확정값과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잠정범위로 구분한 이원 구조로 작성하고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각 항목을 인프라사업 제안요청서 조항으로 그대로 대응시키는 변환 절차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134F993-7616-5965-DDDA-91A53DA25C6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240C214-DBD5-7573-AB6B-06C5270EC8C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산정서 및 후속 제안요청서 작성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2619822-3377-0DA8-5745-3560AC52161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OR-012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3DFECC4A-D2B8-7650-253A-73D65619CC55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7944AD9-C85D-3AF4-C9EF-DC1D979952B2}"/>
              </a:ext>
            </a:extLst>
          </p:cNvPr>
          <p:cNvSpPr/>
          <p:nvPr/>
        </p:nvSpPr>
        <p:spPr>
          <a:xfrm>
            <a:off x="316309" y="267217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자원산정서 구성 규칙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항목으로 구성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47CCA07C-C236-B42B-DC76-94A7A497D936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3279831"/>
          <a:ext cx="6144768" cy="1496683"/>
        </p:xfrm>
        <a:graphic>
          <a:graphicData uri="http://schemas.openxmlformats.org/drawingml/2006/table">
            <a:tbl>
              <a:tblPr/>
              <a:tblGrid>
                <a:gridCol w="12581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496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  <a:gridCol w="1853170">
                  <a:extLst>
                    <a:ext uri="{9D8B030D-6E8A-4147-A177-3AD203B41FA5}">
                      <a16:colId xmlns:a16="http://schemas.microsoft.com/office/drawing/2014/main" val="1563635541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기재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출처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(4.1.2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94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산정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처리량 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동시처리 트랙 계산식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94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데이터규모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목표기간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응답시간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안정성 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현재 확정 가능 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094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잠정범위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병렬자원 대수의 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하한 범위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미확정 변수 대입 전 범위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3094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확보계획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벤치마크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부하시험 일정과 재대입 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 확보 일정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0ED15718-72FF-D804-5E43-DD128B26082B}"/>
              </a:ext>
            </a:extLst>
          </p:cNvPr>
          <p:cNvSpPr txBox="1"/>
          <p:nvPr/>
        </p:nvSpPr>
        <p:spPr>
          <a:xfrm>
            <a:off x="1090769" y="298552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자원산정서 구성 항목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C3B69AC-4CFC-D1CE-3E8B-98C6BEB7ADCD}"/>
              </a:ext>
            </a:extLst>
          </p:cNvPr>
          <p:cNvSpPr/>
          <p:nvPr/>
        </p:nvSpPr>
        <p:spPr>
          <a:xfrm>
            <a:off x="316309" y="4861633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조항 매핑 규칙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자원산정서 항목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개당 인프라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조항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개를 고정 대응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E9F96BA1-E912-6152-9624-CE55CD9F5CC4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5469287"/>
          <a:ext cx="6144768" cy="1518763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자원산정서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대응 조항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산정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과업범위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네트워크 규모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기술규격서 확정 사양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835640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잠정범위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기술규격서 옵션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증설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확보계획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납품 일정 및 단계별 증설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사업 성능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안정성 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서비스수준기준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(SLA)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6AAB1773-AE06-BED7-8567-F54345B8F090}"/>
              </a:ext>
            </a:extLst>
          </p:cNvPr>
          <p:cNvSpPr txBox="1"/>
          <p:nvPr/>
        </p:nvSpPr>
        <p:spPr>
          <a:xfrm>
            <a:off x="1090769" y="517498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자원산정서 → 인프라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RFP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조항 매핑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B5E86C8-5AB9-33FE-EB24-E185240FF826}"/>
              </a:ext>
            </a:extLst>
          </p:cNvPr>
          <p:cNvSpPr/>
          <p:nvPr/>
        </p:nvSpPr>
        <p:spPr>
          <a:xfrm>
            <a:off x="316309" y="708150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(SLA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승계 규칙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 요구사항 수치를 인프라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 SLA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조항에 그대로 이관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6" name="Table 0">
            <a:extLst>
              <a:ext uri="{FF2B5EF4-FFF2-40B4-BE49-F238E27FC236}">
                <a16:creationId xmlns:a16="http://schemas.microsoft.com/office/drawing/2014/main" id="{3BE941A9-17E0-D717-6DCA-1320903873A1}"/>
              </a:ext>
            </a:extLst>
          </p:cNvPr>
          <p:cNvGraphicFramePr>
            <a:graphicFrameLocks noGrp="1"/>
          </p:cNvGraphicFramePr>
          <p:nvPr/>
        </p:nvGraphicFramePr>
        <p:xfrm>
          <a:off x="349377" y="7689159"/>
          <a:ext cx="6144768" cy="1014763"/>
        </p:xfrm>
        <a:graphic>
          <a:graphicData uri="http://schemas.openxmlformats.org/drawingml/2006/table">
            <a:tbl>
              <a:tblPr/>
              <a:tblGrid>
                <a:gridCol w="1801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401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사업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RFP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SLA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응답시간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 네트워크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 응답 지연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결함 지속시간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 장애복구시간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(RTO)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835640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 보존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이상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 스토리지 보존용량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291D3477-0C75-6CA2-BC3E-AE605FE4D0A6}"/>
              </a:ext>
            </a:extLst>
          </p:cNvPr>
          <p:cNvSpPr txBox="1"/>
          <p:nvPr/>
        </p:nvSpPr>
        <p:spPr>
          <a:xfrm>
            <a:off x="1090769" y="739485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SLA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승계 항목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9E8A25B-98D3-D3EE-A19B-C8A2FAE67AAF}"/>
              </a:ext>
            </a:extLst>
          </p:cNvPr>
          <p:cNvSpPr/>
          <p:nvPr/>
        </p:nvSpPr>
        <p:spPr>
          <a:xfrm>
            <a:off x="316309" y="8792498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정합성 검토 절차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초안 확정 이후 검토를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 진행하여 최종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RFP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 확정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66234769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28A43-8F30-F12C-77AF-7E56756921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A27FE65-28F9-C778-C23F-60EC32B1A44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C6D6183-09D6-2F8E-A21B-8A7FA3CEC16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4C85AE-B982-04DC-830C-517698C5BD4F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자원 산정서 및 후속 제안요청서 작성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D540CB7-5E99-6CD8-B13E-0532FABA67D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711F7C6-60F0-22DE-84A9-764925B8FAA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자원산정서를 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확정값과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잠정범위로 구분한 이원 구조로 작성하고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각 항목을 인프라사업 제안요청서 조항으로 그대로 대응시키는 변환 절차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5B2B1A1-53B4-4BF9-0EA1-B31E51BBBCC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7F20866-51DC-3FB3-1F79-A74747EE940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산정서 및 후속 제안요청서 작성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469B7A0D-841D-517F-6F07-40FEC4DAEF1A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OR-012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E5824BDD-E7CE-FE80-C077-E395AA733AB1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B18A78AD-2812-BBE4-870B-B4BE4B604C13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213156"/>
          <a:ext cx="6127623" cy="1918723"/>
        </p:xfrm>
        <a:graphic>
          <a:graphicData uri="http://schemas.openxmlformats.org/drawingml/2006/table">
            <a:tbl>
              <a:tblPr/>
              <a:tblGrid>
                <a:gridCol w="17963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31282">
                  <a:extLst>
                    <a:ext uri="{9D8B030D-6E8A-4147-A177-3AD203B41FA5}">
                      <a16:colId xmlns:a16="http://schemas.microsoft.com/office/drawing/2014/main" val="3595297346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총 데이터량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3.9PB(1,000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처리기간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표준처리시간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1GB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당 처리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총 처리소요시간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3,900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만 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 계산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대당 처리성능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시간당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500GB(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08878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45~60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 범위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435186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A4365C08-228F-E45F-CB35-513093F8F27F}"/>
              </a:ext>
            </a:extLst>
          </p:cNvPr>
          <p:cNvSpPr txBox="1"/>
          <p:nvPr/>
        </p:nvSpPr>
        <p:spPr>
          <a:xfrm>
            <a:off x="1090769" y="295695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트랙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계산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0" name="Table 0">
            <a:extLst>
              <a:ext uri="{FF2B5EF4-FFF2-40B4-BE49-F238E27FC236}">
                <a16:creationId xmlns:a16="http://schemas.microsoft.com/office/drawing/2014/main" id="{53BF23D5-FC07-F726-AE39-C3677B086CEC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35100"/>
          <a:ext cx="6127622" cy="1365403"/>
        </p:xfrm>
        <a:graphic>
          <a:graphicData uri="http://schemas.openxmlformats.org/drawingml/2006/table">
            <a:tbl>
              <a:tblPr/>
              <a:tblGrid>
                <a:gridCol w="21080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19548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 응답시간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동시 접속자 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세션당 자원점유량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0.1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상당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 병렬자원 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50~70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 범위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21F9680E-6817-1BC2-1A1B-A0CD58D4B75C}"/>
              </a:ext>
            </a:extLst>
          </p:cNvPr>
          <p:cNvSpPr txBox="1"/>
          <p:nvPr/>
        </p:nvSpPr>
        <p:spPr>
          <a:xfrm>
            <a:off x="1090769" y="514079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트랙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계산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46C1F0B-35E1-8FF1-E10A-136AA2689D37}"/>
              </a:ext>
            </a:extLst>
          </p:cNvPr>
          <p:cNvSpPr/>
          <p:nvPr/>
        </p:nvSpPr>
        <p:spPr>
          <a:xfrm>
            <a:off x="316309" y="267695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자원산정서 작성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앞선 트랙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1, 2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계산을 통해 자원 산정서를 작성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CCA489E-820D-A1A0-30B9-2BD3475941EA}"/>
              </a:ext>
            </a:extLst>
          </p:cNvPr>
          <p:cNvSpPr/>
          <p:nvPr/>
        </p:nvSpPr>
        <p:spPr>
          <a:xfrm>
            <a:off x="316309" y="6774938"/>
            <a:ext cx="6286697" cy="318894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(RFP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작성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자원산정서를 기반으로 과업범위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수준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납품 일정 등을 명시하여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RFP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 반영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과업범위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GPU 서버 약 45~70대(트랙1·트랙2 예시 계산 기준, 실제 대수는 부하시험 완료 후 확정) 규모의 연산 자원 도입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오브젝트스토리지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5PB 이상(3.9PB 데이터규모에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여유율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반영,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예시값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규모의 저장 자원 도입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서비스수준기준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일반 조회 응답시간 3초 이내를 유지하고, 결함 지속시간은 3시간 이하로 관리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로그는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접속·행위·API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호출 이력을 최소 1년 이상 보존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납품일정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1차 납품은 예시 범위 하한(45대)을 기준으로 우선 도입하고, 부하시험 확정치에 따라 2차 증설 여부 결정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18322634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35FDDB-16FB-E7F3-95F0-49AB52870C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E4359123-C35F-38F4-66BD-FE7BA61615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9C2C284-C60B-056F-C6E7-206B6214F4E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94C14A-AC49-CDB9-B067-69B497496A64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인프라 사양 및 제공 시점 구체화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465B8EA-1C7B-009B-C4F0-E801AC28584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D7B895C-191C-4278-9B3A-3423B395A2C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 일정의 마일스톤 단계를 축으로 각 단계에 필요한 인프라 사양의 최소 범위와 제공 요청 시점을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대응시키는 시점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사양 매핑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5F74989-76FE-EF4C-7BAE-4BABBBE82F04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0A2A0F-B6DE-A320-A13D-CC2411C36BE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사양 및 제공 시점 구체화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82DB8276-C7F7-7D3A-35C1-71F0C3847A09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OR-012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FD2FFF92-0BE3-8CDF-9E0F-5D3969BE5A8C}"/>
              </a:ext>
            </a:extLst>
          </p:cNvPr>
          <p:cNvSpPr/>
          <p:nvPr/>
        </p:nvSpPr>
        <p:spPr bwMode="gray">
          <a:xfrm>
            <a:off x="258881" y="2666394"/>
            <a:ext cx="6331426" cy="6941029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E814CF9E-6CA7-39B6-038F-8B487BCC83C5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278228"/>
          <a:ext cx="6127623" cy="1820263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58763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 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착수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상세설계 착수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PoC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핵심기능 프로토타입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516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2~4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개발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 연계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3~4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이관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 승인 병행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3~4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보안성능 검증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500906"/>
                  </a:ext>
                </a:extLst>
              </a:tr>
              <a:tr h="2766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오픈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 전환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5532386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8FE61C43-F136-4086-9D92-E59D49CEF82A}"/>
              </a:ext>
            </a:extLst>
          </p:cNvPr>
          <p:cNvSpPr txBox="1"/>
          <p:nvPr/>
        </p:nvSpPr>
        <p:spPr>
          <a:xfrm>
            <a:off x="1090769" y="298392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마일스톤 단계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06FE8B5-2520-6EA8-76FE-ED62F1DE4273}"/>
              </a:ext>
            </a:extLst>
          </p:cNvPr>
          <p:cNvSpPr/>
          <p:nvPr/>
        </p:nvSpPr>
        <p:spPr>
          <a:xfrm>
            <a:off x="316309" y="267695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마일스톤 축 정의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사업 일정을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단계로 산정 축으로 사용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547C0F3-ED72-E129-393D-C0BCC709B6C7}"/>
              </a:ext>
            </a:extLst>
          </p:cNvPr>
          <p:cNvSpPr/>
          <p:nvPr/>
        </p:nvSpPr>
        <p:spPr>
          <a:xfrm>
            <a:off x="316309" y="5141694"/>
            <a:ext cx="6286697" cy="267649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(단계별 필요사양 산출 공식) 자원산정서 최종 산정치 대비 각 단계에서 필요한 비율을 곱해 단계별 필요사양을 산출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단계별 필요사양 = 자원산정서 최종 산정치 × 단계별 소요비율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필수·대체가능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구분 규칙) 소요비율이 기준치 이상인 단계는 필수 자원으로, 기준치 미만인 단계는 대체가능 자원으로 분류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분류 기준: 소요비율 50% 이상 → 필수, 50% 미만 → 대체가능(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개발·시험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환경으로 임시 대응)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(제공 시점 여유일수 계산 공식) 마일스톤 목표일에서 자원 셋업 소요일을 역산해 제공 요청일과 여유일수를 산출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제공 요청일 = 마일스톤 목표일 - 셋업 소요일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여유일수 = 제공 요청일 - 실제 제공 확정일</a:t>
            </a:r>
          </a:p>
        </p:txBody>
      </p:sp>
      <p:graphicFrame>
        <p:nvGraphicFramePr>
          <p:cNvPr id="24" name="Table 0">
            <a:extLst>
              <a:ext uri="{FF2B5EF4-FFF2-40B4-BE49-F238E27FC236}">
                <a16:creationId xmlns:a16="http://schemas.microsoft.com/office/drawing/2014/main" id="{B6BA8A4F-B7CD-A301-40C6-2E26F44F7C52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126086"/>
          <a:ext cx="6127623" cy="1389388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8377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계산식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39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단계별 필요사양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산정치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×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소요비율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대체가능 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소요비율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50%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요청일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셋업 소요일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여유일수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제공요청일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확정일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음수면 지연 위험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49F0F1F8-F72E-9D07-CA58-671609F7E7D2}"/>
              </a:ext>
            </a:extLst>
          </p:cNvPr>
          <p:cNvSpPr txBox="1"/>
          <p:nvPr/>
        </p:nvSpPr>
        <p:spPr>
          <a:xfrm>
            <a:off x="1090769" y="783178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매핑 규칙 요약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567368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411A80-870C-C5F7-0ACF-86583392A4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50960DDC-A393-1BAD-2ECA-2B32AC6C6A0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7469155-A594-9058-E8D0-6BFCF45484E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CC50BE-2019-DE02-A701-1EA7A8C40F39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인프라 사양 및 제공 시점 구체화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8F144DE-B840-A786-2ED0-3F58117A9AA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구성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7A7C57F-9A9B-3F76-4AD3-9D9C101F60E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자원산정서 예시 산정치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(GPU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약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45~70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스토리지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5PB)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6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매핑 규칙에 대입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72D9407-29FA-06AD-F0EB-3542FE203E5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4D0156A-D6DA-2B49-A42E-C64FB97D833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인프라 사양 및 제공 시점 구체화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454D54AD-0398-2CFC-6EA5-5CCEB801F73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OR-012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B74BDD79-5B56-18CD-D31C-398FA03E9903}"/>
              </a:ext>
            </a:extLst>
          </p:cNvPr>
          <p:cNvSpPr/>
          <p:nvPr/>
        </p:nvSpPr>
        <p:spPr bwMode="gray">
          <a:xfrm>
            <a:off x="258881" y="2666395"/>
            <a:ext cx="6331426" cy="65415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13" name="Table 0">
            <a:extLst>
              <a:ext uri="{FF2B5EF4-FFF2-40B4-BE49-F238E27FC236}">
                <a16:creationId xmlns:a16="http://schemas.microsoft.com/office/drawing/2014/main" id="{09BC3897-F4F1-5FEC-AB1E-BA7461BC3FFA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278228"/>
          <a:ext cx="6127623" cy="1752658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3489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1381877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  <a:gridCol w="996891">
                  <a:extLst>
                    <a:ext uri="{9D8B030D-6E8A-4147-A177-3AD203B41FA5}">
                      <a16:colId xmlns:a16="http://schemas.microsoft.com/office/drawing/2014/main" val="3483100277"/>
                    </a:ext>
                  </a:extLst>
                </a:gridCol>
                <a:gridCol w="996891">
                  <a:extLst>
                    <a:ext uri="{9D8B030D-6E8A-4147-A177-3AD203B41FA5}">
                      <a16:colId xmlns:a16="http://schemas.microsoft.com/office/drawing/2014/main" val="1912587297"/>
                    </a:ext>
                  </a:extLst>
                </a:gridCol>
              </a:tblGrid>
              <a:tr h="28961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소요비율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 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필요 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72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착수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16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PoC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10~14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0.5PB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716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27~42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900598"/>
                  </a:ext>
                </a:extLst>
              </a:tr>
              <a:tr h="1716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36~56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803909"/>
                  </a:ext>
                </a:extLst>
              </a:tr>
              <a:tr h="1716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45~70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1716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45~70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4D1F7B86-8519-14DD-3A45-B0957DBEF50A}"/>
              </a:ext>
            </a:extLst>
          </p:cNvPr>
          <p:cNvSpPr txBox="1"/>
          <p:nvPr/>
        </p:nvSpPr>
        <p:spPr>
          <a:xfrm>
            <a:off x="1090769" y="298392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단계별 필요사양 대입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567E0DD-EAD8-1E18-1CA1-0014C2AADC17}"/>
              </a:ext>
            </a:extLst>
          </p:cNvPr>
          <p:cNvSpPr/>
          <p:nvPr/>
        </p:nvSpPr>
        <p:spPr>
          <a:xfrm>
            <a:off x="316309" y="267695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마일스톤 축 정의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사업 일정을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6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단계로 산정 축으로 사용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EC180E8-0B1E-214A-576B-5EF2C6D26CDE}"/>
              </a:ext>
            </a:extLst>
          </p:cNvPr>
          <p:cNvSpPr/>
          <p:nvPr/>
        </p:nvSpPr>
        <p:spPr>
          <a:xfrm>
            <a:off x="316309" y="6869269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지연 위험 판단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통합시험 단계의 제공 요청일이 직전 단계와 겹치는 구간은 여유일수가 가장 좁아 지연 위험이 가장 높은 구간으로 식별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4" name="Table 0">
            <a:extLst>
              <a:ext uri="{FF2B5EF4-FFF2-40B4-BE49-F238E27FC236}">
                <a16:creationId xmlns:a16="http://schemas.microsoft.com/office/drawing/2014/main" id="{C2D9CCF3-3276-F232-B9CF-93E835114902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7689550"/>
          <a:ext cx="6127623" cy="1389388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8377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여유일수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위험도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39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PoC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진입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낮음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진입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진입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0~5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높음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요청 중복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 진입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낮음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17030611-6254-26B1-07BE-49908602EC74}"/>
              </a:ext>
            </a:extLst>
          </p:cNvPr>
          <p:cNvSpPr txBox="1"/>
          <p:nvPr/>
        </p:nvSpPr>
        <p:spPr>
          <a:xfrm>
            <a:off x="1090769" y="740342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매핑 규칙 요약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6BE7E57-297C-6803-7650-BF80BC1C90BE}"/>
              </a:ext>
            </a:extLst>
          </p:cNvPr>
          <p:cNvSpPr txBox="1"/>
          <p:nvPr/>
        </p:nvSpPr>
        <p:spPr>
          <a:xfrm>
            <a:off x="1090769" y="5116611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제공 시점 여유일수 계산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C16313AA-8D52-13E4-16C3-846968417AE6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19671"/>
          <a:ext cx="6127622" cy="1389388"/>
        </p:xfrm>
        <a:graphic>
          <a:graphicData uri="http://schemas.openxmlformats.org/drawingml/2006/table">
            <a:tbl>
              <a:tblPr/>
              <a:tblGrid>
                <a:gridCol w="10373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7395">
                  <a:extLst>
                    <a:ext uri="{9D8B030D-6E8A-4147-A177-3AD203B41FA5}">
                      <a16:colId xmlns:a16="http://schemas.microsoft.com/office/drawing/2014/main" val="2081405226"/>
                    </a:ext>
                  </a:extLst>
                </a:gridCol>
                <a:gridCol w="1037395">
                  <a:extLst>
                    <a:ext uri="{9D8B030D-6E8A-4147-A177-3AD203B41FA5}">
                      <a16:colId xmlns:a16="http://schemas.microsoft.com/office/drawing/2014/main" val="4170660837"/>
                    </a:ext>
                  </a:extLst>
                </a:gridCol>
                <a:gridCol w="103739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1978042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8377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셋업 소요일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요청일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여유일수 판단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39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PoC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착수 직후 요청 필요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PoC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완료 직후 요청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착수 시점과 중복 요청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통합시험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개월차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진행 중 요청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787787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70AB0-BFA2-E216-1498-5F086CCF9F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AD8A6E18-03F9-3750-C05E-F1675571E85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F4012F-DF5B-6D54-39F2-EF5D5BBE092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6102E9B-1489-4407-AAF8-672F839089B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개발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시험 환경 운영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11EF15D-C52B-3B1E-368C-20649BFE76A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지연 대비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54588F8-8C01-88F3-EF0C-5667740B6C5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여유일수 기준 지연 판정 규칙과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대응 수준을 정의해 인프라 지연 발생 시 개발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 환경을 단계적으로 전환하는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6570E0D-FA87-AA20-AC63-E4C1C22062B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3DFEE08-E5A4-203C-4FED-44282C83B1D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 환경 운영 방안 수립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8238AAD-C398-B8AE-E520-25804083A48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OR-012, DR-022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9A8B6495-FC19-8F72-7CA8-6634EDA0B0A9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8E3C866-ED98-8C7E-E0BC-E07512503D0B}"/>
              </a:ext>
            </a:extLst>
          </p:cNvPr>
          <p:cNvSpPr/>
          <p:nvPr/>
        </p:nvSpPr>
        <p:spPr>
          <a:xfrm>
            <a:off x="316309" y="2739301"/>
            <a:ext cx="6286697" cy="111452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(지연 판정 공식) 실제 제공확정일에서 제공요청일을 뺀 값을 지연일수로 정의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지연일수 = 실제 제공확정일 - 제공요청일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지연일수가 0 초과이면 지연 발생으로 판정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(대응 단계 분류 규칙) 지연일수 구간에 따라 3단계로 분류</a:t>
            </a: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7E220370-2BB9-B82D-EC9F-4615396948C0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094218"/>
          <a:ext cx="6127623" cy="1470660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50949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108199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4006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계산식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발동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03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실제확정일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제공요청일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03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 분류 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0~5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10788"/>
                  </a:ext>
                </a:extLst>
              </a:tr>
              <a:tr h="1203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물량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재활용 가능분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6~15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8970709"/>
                  </a:ext>
                </a:extLst>
              </a:tr>
              <a:tr h="13199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조정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 우선배치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 이상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3199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복귀 소요일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재적재일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완료 시 정규 전환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BC49797-9BF4-CF96-09E0-5ED38DAF5E73}"/>
              </a:ext>
            </a:extLst>
          </p:cNvPr>
          <p:cNvSpPr txBox="1"/>
          <p:nvPr/>
        </p:nvSpPr>
        <p:spPr>
          <a:xfrm>
            <a:off x="1090769" y="781721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대응 체계 요약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0EA9B9C8-7F6C-E41E-43D7-99E8F7F9B33B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4093794"/>
          <a:ext cx="6127623" cy="982980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2544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지연일수 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12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0~5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 자원만 클라우드 단기 임대로 충당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6~15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기존 인프라 재활용 자원 추가 투입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 이상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 범위를 필수 기능 우선순위로 축소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F35A4AD5-0E44-FFAA-CF85-59069A2DFADE}"/>
              </a:ext>
            </a:extLst>
          </p:cNvPr>
          <p:cNvSpPr txBox="1"/>
          <p:nvPr/>
        </p:nvSpPr>
        <p:spPr>
          <a:xfrm>
            <a:off x="1090769" y="379949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지연일수별 대응 단계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5E222E0-3E1B-9A37-C311-CB0FAB6A7B2E}"/>
              </a:ext>
            </a:extLst>
          </p:cNvPr>
          <p:cNvSpPr/>
          <p:nvPr/>
        </p:nvSpPr>
        <p:spPr>
          <a:xfrm>
            <a:off x="316309" y="5025974"/>
            <a:ext cx="6286697" cy="2850387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(1단계 대응 공식) 4.1.4에서 분류한 필수 자원 물량만 임대로 충당하고 대체가능 자원은 제외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1단계 임대물량 = 해당 단계 필요사양 중 필수 분류 물량만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(2단계 대응 공식) 기존 인프라 재활용 가능 물량을 임대물량에서 차감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2단계 부족물량 = 1단계 임대물량 - 기존 인프라 재활용 가능 물량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(3단계 대응 공식) DR-018 기준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필수업무·선택업무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구분에 따라 개발 우선순위를 재조정하고 선택업무를 후순위로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3단계 재조정 = 전체 개발항목 중 필수업무 우선 배치, 선택업무는 정규 인프라 도착 이후로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(복귀 절차 공식) 임시환경에서 정규 인프라로 전환하는 소요일 산출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복귀 소요일 = 데이터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재적재일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+ 설정 이관일 + 검증일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완료 전까지 임시환경과 정규환경 병행 운영</a:t>
            </a:r>
          </a:p>
        </p:txBody>
      </p:sp>
    </p:spTree>
    <p:extLst>
      <p:ext uri="{BB962C8B-B14F-4D97-AF65-F5344CB8AC3E}">
        <p14:creationId xmlns:p14="http://schemas.microsoft.com/office/powerpoint/2010/main" val="104505994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E9DA4A-7B9C-35B4-4E9C-C2E69D25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EE809DA5-743B-4548-9BEA-FFF9E9ED33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DDEAD54-6610-217F-F5FF-8543BEB5EEA3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EB616B-A4F9-D4C2-9357-93D28AC43842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개발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시험 환경 운영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BE4AE26-B5CC-9D27-D757-5199E2AB960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지연 대비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7CF299A-C3CC-00F7-DC30-AE479D56408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4.1.4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에서 위험도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높음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"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 식별된 이관 단계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여유일수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0~5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 대응 규칙을 대입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BEA5AD2-7D09-56F3-2123-01DEB85ECED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CAC7E21-F15F-5DEF-C991-0BC57089FD4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시험 환경 운영 방안 수립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84E4728B-D4DF-5BF0-EA8E-694842C90C1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OR-012, DR-022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0BD9C6BE-0029-2BFD-CAD2-E18F98B8F5CA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65E308B-0F49-CF07-813F-069A612AD3F2}"/>
              </a:ext>
            </a:extLst>
          </p:cNvPr>
          <p:cNvSpPr/>
          <p:nvPr/>
        </p:nvSpPr>
        <p:spPr>
          <a:xfrm>
            <a:off x="316309" y="2739301"/>
            <a:ext cx="6286697" cy="91139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(지연 판정 대입) 이관 단계 제공요청일이 개발 단계와 겹쳐 실제확정일이 5일 지연된 경우를 가정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지연일수 = 5일 - 0일 = 5일(1단계 해당)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(1단계 물량 산출) 이관 단계 필수 분류 물량(GPU 36~56대) 중 임대 가능 물량만 산출</a:t>
            </a: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BA5044B9-8CC7-F1DD-383D-DDBF4A77709A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944997"/>
          <a:ext cx="6140324" cy="982980"/>
        </p:xfrm>
        <a:graphic>
          <a:graphicData uri="http://schemas.openxmlformats.org/drawingml/2006/table">
            <a:tbl>
              <a:tblPr/>
              <a:tblGrid>
                <a:gridCol w="24319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8400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2544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12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단계 필요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GPU(4.1.4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36~56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 분류 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36~56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전량 필수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임대물량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36~56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212F5D3E-0960-C37C-16C2-300802257B40}"/>
              </a:ext>
            </a:extLst>
          </p:cNvPr>
          <p:cNvSpPr txBox="1"/>
          <p:nvPr/>
        </p:nvSpPr>
        <p:spPr>
          <a:xfrm>
            <a:off x="1090769" y="365069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1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임대물량 산출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1B47E90-5185-A79C-6177-AAC5C4A87110}"/>
              </a:ext>
            </a:extLst>
          </p:cNvPr>
          <p:cNvSpPr/>
          <p:nvPr/>
        </p:nvSpPr>
        <p:spPr>
          <a:xfrm>
            <a:off x="316309" y="498769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전환 판단 예시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지연일수가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일에서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10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일로 늘어난 가정 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단계로 전환되는 사례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E205E3AC-478F-38E6-551D-6907BC1225A0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636021"/>
          <a:ext cx="6140324" cy="982980"/>
        </p:xfrm>
        <a:graphic>
          <a:graphicData uri="http://schemas.openxmlformats.org/drawingml/2006/table">
            <a:tbl>
              <a:tblPr/>
              <a:tblGrid>
                <a:gridCol w="24319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8400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2544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12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지연일수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해당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기존 인프라 재활용 가능분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부족물량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=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임대물량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재활용분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21~41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8D6AA97C-1A01-30E9-A627-15DC1B07D8B1}"/>
              </a:ext>
            </a:extLst>
          </p:cNvPr>
          <p:cNvSpPr txBox="1"/>
          <p:nvPr/>
        </p:nvSpPr>
        <p:spPr>
          <a:xfrm>
            <a:off x="1090769" y="534171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2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 전환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E10C700-456D-2F98-1962-F4F0A292D376}"/>
              </a:ext>
            </a:extLst>
          </p:cNvPr>
          <p:cNvSpPr/>
          <p:nvPr/>
        </p:nvSpPr>
        <p:spPr>
          <a:xfrm>
            <a:off x="316309" y="67041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복귀 절차 예시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정규 인프라 도착 후 정상 전환까지 소요일 산출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2" name="Table 0">
            <a:extLst>
              <a:ext uri="{FF2B5EF4-FFF2-40B4-BE49-F238E27FC236}">
                <a16:creationId xmlns:a16="http://schemas.microsoft.com/office/drawing/2014/main" id="{223CE686-D4DF-2DB9-AACC-816C26AA74B0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7352445"/>
          <a:ext cx="6140324" cy="1226820"/>
        </p:xfrm>
        <a:graphic>
          <a:graphicData uri="http://schemas.openxmlformats.org/drawingml/2006/table">
            <a:tbl>
              <a:tblPr/>
              <a:tblGrid>
                <a:gridCol w="24319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8400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25445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12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재적재일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412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설정 이관일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770952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1821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복귀 소요일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A0B87022-5CD0-9866-260C-532EAB545438}"/>
              </a:ext>
            </a:extLst>
          </p:cNvPr>
          <p:cNvSpPr txBox="1"/>
          <p:nvPr/>
        </p:nvSpPr>
        <p:spPr>
          <a:xfrm>
            <a:off x="1090769" y="705814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복귀 소요일 산출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1D51FB6-F5E6-F44E-06D5-0247389776AF}"/>
              </a:ext>
            </a:extLst>
          </p:cNvPr>
          <p:cNvSpPr/>
          <p:nvPr/>
        </p:nvSpPr>
        <p:spPr>
          <a:xfrm>
            <a:off x="316309" y="8677808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판단 결과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지연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일까지는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임대만으로 대응 가능하지만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10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일을 넘어서면 재활용 자원 투입이 필요한 것으로 예시 계산상 확인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8420083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87610C-764F-45CC-D44B-95FFACD5E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26812C7-2A4F-D5F3-60EC-B8B4E29C089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99B2625-E6D1-DE55-651A-CDC41F69EEC2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51C452-6CFA-6394-A836-613684CA03F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자원 단계 확장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7133EF9-8787-DF3D-9801-4576404A3BD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지연 대비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A53E1ED-F187-45A6-35D1-932CD6F58FB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실시간 점유율 기준 단기 증설 규칙과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개년 로드맵 기준 장기 확장 단계를 결합한 이원 확장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CC0AEC5-8B4D-E89E-649A-C9F1BA7F1F6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0FEB3DF-3E2E-52D3-9DCE-404F50E9391F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단계 확장 방안 수립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A187608-AC7F-68DE-B7DF-7C6C6C2EEDF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DR-018, DR-022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A0B2D535-22E9-B5A6-2F38-0E92F69AE5D5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E67AF8B-CACE-8975-E3EA-C354C8235D5A}"/>
              </a:ext>
            </a:extLst>
          </p:cNvPr>
          <p:cNvSpPr/>
          <p:nvPr/>
        </p:nvSpPr>
        <p:spPr>
          <a:xfrm>
            <a:off x="316309" y="2785021"/>
            <a:ext cx="6286697" cy="23487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(점유율 산출 공식) 사용 중 자원을 전체 배정 자원으로 나눠 백분율로 산출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점유율(%) =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사용중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자원량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÷ 전체 배정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자원량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× 100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(단기 증설 판정 공식) 점유율이 임계치를 초과한 지속시간이 기준을 넘으면 증설 실행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증설 조건: 점유율 80% 이상 상태가 연속 3일 이상 지속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(단기 증설 단위 산출 공식) 임계치 초과율에 비례해 증설 단위 계산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증설 단위 = 전체 배정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자원량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× (평균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초과율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÷ 100)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평균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초과율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= 지속기간 중 평균 점유율 - 임계치(80%)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(장기 확장 단계 정의) 3개년 로드맵 연차를 확장 축으로 고정</a:t>
            </a: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9E0D1B77-4F6F-FD3A-091F-7787E8D46C08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46289"/>
          <a:ext cx="6127623" cy="1194216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9569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 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배율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기준선 대비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2026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기본 구축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1.0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2027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가공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합성 기능 확장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1.0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신규기능 소요분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2028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 통합 활용 고도화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2027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배율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 소요분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53530A8-C3B4-CD8D-2838-E428F2C29159}"/>
              </a:ext>
            </a:extLst>
          </p:cNvPr>
          <p:cNvSpPr txBox="1"/>
          <p:nvPr/>
        </p:nvSpPr>
        <p:spPr>
          <a:xfrm>
            <a:off x="1090769" y="515198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연차별 확장 단계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7E79B4E-D2CE-07F1-5A2D-6225837E738A}"/>
              </a:ext>
            </a:extLst>
          </p:cNvPr>
          <p:cNvSpPr/>
          <p:nvPr/>
        </p:nvSpPr>
        <p:spPr>
          <a:xfrm>
            <a:off x="316309" y="6708608"/>
            <a:ext cx="6286697" cy="113299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(신규기능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소요분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산출 공식) 확장 대상 기능이 필요로 하는 자원을 기준선 대비 추가 배율로 환산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신규기능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소요분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(배율) = 신규기능 예상 처리량 ÷ 기준선 처리량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필수·선택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확장 구분 규칙) DR-018 기준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필수업무·선택업무·고도화업무·연계확장업무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4개 범주로 나눠 확장 우선순위 결정</a:t>
            </a:r>
          </a:p>
        </p:txBody>
      </p:sp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5E231184-A877-9E57-AC57-2E9FB4C9E6F1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173769"/>
          <a:ext cx="6127623" cy="1344492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9569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범주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확장 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우선순위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즉시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 시점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선택업무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단기 증설 여력 확인 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 확장 시점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(2027)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4032517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연계확장업무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 확장 시점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(2028)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852FE400-6DC9-C9EE-CDC5-A53A97FBB689}"/>
              </a:ext>
            </a:extLst>
          </p:cNvPr>
          <p:cNvSpPr txBox="1"/>
          <p:nvPr/>
        </p:nvSpPr>
        <p:spPr>
          <a:xfrm>
            <a:off x="1090769" y="787946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우선순위 규칙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7590935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98A5D-8B69-DE08-5785-DC3B404A28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1EF8F20-C0F6-6CE3-3921-4EED8DF2E3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73BC744-EDF2-8677-B42A-56C37091327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9C08EA1-943F-5D90-191F-9ECA9F1493B1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자원 단계 확장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204BB09-2636-0C4C-AB94-51BB2165F32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인프라 지연 대비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9C2C627-27F9-B6E3-F995-E5D00E03275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후 점유율이 임계치를 초과한 상황을 가정해 단기 증설 계산 대입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662B91B-4544-AA2E-D7A6-231528CE9A2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128C9F7-69C4-C1EC-130A-71A6E1F0B0B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단계 확장 방안 수립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D9BEBE48-FEB0-669F-A482-6D66EE09F34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DR-018, DR-022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93D2222A-986A-4BE4-BA7D-06487181E471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2292A3-09A8-0737-D6B8-6968C675E98A}"/>
              </a:ext>
            </a:extLst>
          </p:cNvPr>
          <p:cNvSpPr/>
          <p:nvPr/>
        </p:nvSpPr>
        <p:spPr>
          <a:xfrm>
            <a:off x="316309" y="27850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점유율 추이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오픈 후 점유율이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 연속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80%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초과로 관측된 경우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9C1DF4BF-CA12-283F-65B9-7C613375931B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448700"/>
          <a:ext cx="6127623" cy="1344492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990673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9569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점유율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임계치 초과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82%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85%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88%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1973935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연속 </a:t>
                      </a: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 초과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증설 조건 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5627640F-E2BE-BE39-85CC-8574B021297C}"/>
              </a:ext>
            </a:extLst>
          </p:cNvPr>
          <p:cNvSpPr txBox="1"/>
          <p:nvPr/>
        </p:nvSpPr>
        <p:spPr>
          <a:xfrm>
            <a:off x="1090769" y="315439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단기 증설 판정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9127DDA-231A-7826-1452-7A366ABA8D23}"/>
              </a:ext>
            </a:extLst>
          </p:cNvPr>
          <p:cNvSpPr/>
          <p:nvPr/>
        </p:nvSpPr>
        <p:spPr>
          <a:xfrm>
            <a:off x="316309" y="483442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증설 단위 산출 예시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평균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초과율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5%p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를 기준선에 대입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87652840-1D58-9649-D4A0-6EACA19843B5}"/>
              </a:ext>
            </a:extLst>
          </p:cNvPr>
          <p:cNvGraphicFramePr>
            <a:graphicFrameLocks noGrp="1"/>
          </p:cNvGraphicFramePr>
          <p:nvPr/>
        </p:nvGraphicFramePr>
        <p:xfrm>
          <a:off x="349375" y="5498106"/>
          <a:ext cx="6127624" cy="1344492"/>
        </p:xfrm>
        <a:graphic>
          <a:graphicData uri="http://schemas.openxmlformats.org/drawingml/2006/table">
            <a:tbl>
              <a:tblPr/>
              <a:tblGrid>
                <a:gridCol w="2355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1899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9569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배정 자원량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45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하한 기준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평균 점유율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85%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평균 초과율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85% - 80% = 5%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1973935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증설 단위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</a:t>
                      </a: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× 5% ≈ 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2~3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8D41AB2A-3C57-7EDC-3B64-B228C76DD4C3}"/>
              </a:ext>
            </a:extLst>
          </p:cNvPr>
          <p:cNvSpPr txBox="1"/>
          <p:nvPr/>
        </p:nvSpPr>
        <p:spPr>
          <a:xfrm>
            <a:off x="1090769" y="520380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증설 단위 계산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6D5770-B988-76DF-182E-61BC7528D64C}"/>
              </a:ext>
            </a:extLst>
          </p:cNvPr>
          <p:cNvSpPr/>
          <p:nvPr/>
        </p:nvSpPr>
        <p:spPr>
          <a:xfrm>
            <a:off x="316309" y="689438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장기 확장 배율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2027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년 생산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가공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합성 기능의 예상 처리량이 기준선의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1.3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배인 경우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2" name="Table 0">
            <a:extLst>
              <a:ext uri="{FF2B5EF4-FFF2-40B4-BE49-F238E27FC236}">
                <a16:creationId xmlns:a16="http://schemas.microsoft.com/office/drawing/2014/main" id="{E94258DF-5C40-5050-BB64-B2D6CF0505C2}"/>
              </a:ext>
            </a:extLst>
          </p:cNvPr>
          <p:cNvGraphicFramePr>
            <a:graphicFrameLocks noGrp="1"/>
          </p:cNvGraphicFramePr>
          <p:nvPr/>
        </p:nvGraphicFramePr>
        <p:xfrm>
          <a:off x="349375" y="7558066"/>
          <a:ext cx="6127624" cy="1071234"/>
        </p:xfrm>
        <a:graphic>
          <a:graphicData uri="http://schemas.openxmlformats.org/drawingml/2006/table">
            <a:tbl>
              <a:tblPr/>
              <a:tblGrid>
                <a:gridCol w="2355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1899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95697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기준선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45~70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신규기능 소요분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1.3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예시값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325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2027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년 목표 자원량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약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59~91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1973935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20F24DAF-662B-D15F-5C7A-B4640E0AAD15}"/>
              </a:ext>
            </a:extLst>
          </p:cNvPr>
          <p:cNvSpPr txBox="1"/>
          <p:nvPr/>
        </p:nvSpPr>
        <p:spPr>
          <a:xfrm>
            <a:off x="1090769" y="726376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2027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장기 확장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2274633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F6D5C1-B1A7-65DC-099A-36244727B0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212AC8D7-6272-E555-BB3E-0A97C5C6A6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576ACD0-C5AD-27BC-B76A-37E80EEAB81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0A7459-1178-7A43-662B-93B9A2AA9053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인프라 분석 및 재활용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9C9C3E1-66C8-B87E-258F-B7A09FE6223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59379E8-A634-8029-0095-6A18640ACD7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인프라 자산을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기준으로 판정해 재활용 가능 물량을 산출하고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4.1.3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 산정치에서 차감해 신규 조달 물량을 확정하는 계산 구조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FEBC4F8-1637-6C23-9A74-9040450D68C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C005757-F12D-FD2B-5367-8C6345FE95C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인프라 분석 및 재활용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F6E18928-9FAE-CB33-CA94-AAE76DD5928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OR-012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BFE52745-014B-BE53-3592-76B4726831B3}"/>
              </a:ext>
            </a:extLst>
          </p:cNvPr>
          <p:cNvSpPr/>
          <p:nvPr/>
        </p:nvSpPr>
        <p:spPr bwMode="gray">
          <a:xfrm>
            <a:off x="258881" y="2666395"/>
            <a:ext cx="6331426" cy="65415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15E9116-E006-F365-D04C-958EE4ECC388}"/>
              </a:ext>
            </a:extLst>
          </p:cNvPr>
          <p:cNvSpPr/>
          <p:nvPr/>
        </p:nvSpPr>
        <p:spPr>
          <a:xfrm>
            <a:off x="316309" y="27850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재활용 판단기준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기준 모두 충족해야 재활용 판정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80F7A0B6-B2B9-EB23-DDA6-CC9E1B4F43AE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373625"/>
          <a:ext cx="6127623" cy="1121982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20874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1438274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8377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39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산정치 대비 처리성능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80%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4.1.2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트랙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지원기준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제조사 기술지원 종료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(EOL)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전이고 라이선스 이전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COR-001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SR-009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클라우드 보안 분류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 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SR-009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1EFB9F03-DD49-982B-C11F-DA95424E8F0C}"/>
              </a:ext>
            </a:extLst>
          </p:cNvPr>
          <p:cNvSpPr txBox="1"/>
          <p:nvPr/>
        </p:nvSpPr>
        <p:spPr>
          <a:xfrm>
            <a:off x="1090769" y="307932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재활용 판단기준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E0D1B2B-F9C5-A5D1-2587-79502D170770}"/>
              </a:ext>
            </a:extLst>
          </p:cNvPr>
          <p:cNvSpPr/>
          <p:nvPr/>
        </p:nvSpPr>
        <p:spPr>
          <a:xfrm>
            <a:off x="316309" y="4580188"/>
            <a:ext cx="6286697" cy="173161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(재활용 가능 물량 산출 공식) 자산목록 중 3개 기준을 모두 충족한 항목만 합산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재활용 가능 물량 =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Σ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(자산목록 중 3개 기준 모두 충족 항목의 규모)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(신규 조달 물량 차감 공식) 최종 산정치에서 재활용 가능 물량을 차감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신규 조달 물량 = 4.1.3 최종 산정치 - 재활용 가능 물량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신규 조달 물량이 음수이면 0으로 처리(과잉 재활용 방지)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(자산 분류 규칙) COR-001 기준 기존 자산을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유지·이관·제외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3분류로 구분</a:t>
            </a:r>
          </a:p>
        </p:txBody>
      </p:sp>
      <p:graphicFrame>
        <p:nvGraphicFramePr>
          <p:cNvPr id="20" name="Table 0">
            <a:extLst>
              <a:ext uri="{FF2B5EF4-FFF2-40B4-BE49-F238E27FC236}">
                <a16:creationId xmlns:a16="http://schemas.microsoft.com/office/drawing/2014/main" id="{95BBB52D-8D75-FB74-3400-3EF496D6EBD6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6606109"/>
          <a:ext cx="6127623" cy="1121982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20874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1438274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28377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39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기준 모두 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재활용 가능 물량에 산입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일부 기준 미충족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 자산으로 전환 필요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조달 물량에 산입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모든 기준 미충족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목록에서 제거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3BFC8078-E90B-E26E-3F67-B4250543FD22}"/>
              </a:ext>
            </a:extLst>
          </p:cNvPr>
          <p:cNvSpPr txBox="1"/>
          <p:nvPr/>
        </p:nvSpPr>
        <p:spPr>
          <a:xfrm>
            <a:off x="1090769" y="631180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자산 분류 규칙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F0F1AEF-CF01-C530-FAFE-6FC5653E1C6D}"/>
              </a:ext>
            </a:extLst>
          </p:cNvPr>
          <p:cNvSpPr/>
          <p:nvPr/>
        </p:nvSpPr>
        <p:spPr>
          <a:xfrm>
            <a:off x="316309" y="7812672"/>
            <a:ext cx="6286697" cy="7775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안심존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마이그레이션 검증 공식) 이관 전후 건수를 비교해 누락 여부 판정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검증률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(%) = 이관 후 건수 ÷ 이관 전 건수 × 100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통과 조건: 이관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검증률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100% 이상</a:t>
            </a:r>
          </a:p>
        </p:txBody>
      </p:sp>
    </p:spTree>
    <p:extLst>
      <p:ext uri="{BB962C8B-B14F-4D97-AF65-F5344CB8AC3E}">
        <p14:creationId xmlns:p14="http://schemas.microsoft.com/office/powerpoint/2010/main" val="1097300760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FC7-68C6-83B1-936B-DA5E165385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46D50173-13C6-0CA5-5035-7569A522973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C4E41C6-ECA8-8983-C409-9CA849F87ACE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F5B1417-1031-0604-1430-DDFE31D52295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기존 인프라 분석 및 재활용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EDF6FA9-55D5-D072-0A1A-AE5D783E26B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BC84ACA-1115-006E-ACC7-4A85997F58F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허브 자산목록에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3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판단기준을 대입해 재활용 가능 물량 산출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EE3BFC4-5D7D-16FB-8FAC-F8872EF329B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2151B94-398F-E95A-89A0-35F9A334586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기존 인프라 분석 및 재활용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106B3B5-ED12-54C3-A64F-671EE04DC4BD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DR-022, OR-012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F6898934-E14E-978F-1428-EECCF4EF97EF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C6E8EE-A7FE-3411-0615-CD7BDE999D84}"/>
              </a:ext>
            </a:extLst>
          </p:cNvPr>
          <p:cNvSpPr/>
          <p:nvPr/>
        </p:nvSpPr>
        <p:spPr>
          <a:xfrm>
            <a:off x="316309" y="27850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자산목록 판정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가상 자산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항목에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기준 적용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EF8D0BA3-428D-1D78-EB40-36A176221C8C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373625"/>
          <a:ext cx="6127623" cy="1470660"/>
        </p:xfrm>
        <a:graphic>
          <a:graphicData uri="http://schemas.openxmlformats.org/drawingml/2006/table">
            <a:tbl>
              <a:tblPr/>
              <a:tblGrid>
                <a:gridCol w="14317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956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  <a:gridCol w="1173956">
                  <a:extLst>
                    <a:ext uri="{9D8B030D-6E8A-4147-A177-3AD203B41FA5}">
                      <a16:colId xmlns:a16="http://schemas.microsoft.com/office/drawing/2014/main" val="1237342937"/>
                    </a:ext>
                  </a:extLst>
                </a:gridCol>
                <a:gridCol w="1173956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1173956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4114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라이선스기준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4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A(10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B(8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A(2PB)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B(1PB)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미충족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(EOL)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934592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네트워크 장비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미충족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보안분류 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791466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92E9D475-244C-523B-4252-5AB1DA41DA81}"/>
              </a:ext>
            </a:extLst>
          </p:cNvPr>
          <p:cNvSpPr txBox="1"/>
          <p:nvPr/>
        </p:nvSpPr>
        <p:spPr>
          <a:xfrm>
            <a:off x="1090769" y="307932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자산 판정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A6E3A9B-9A3A-D3A5-99AD-B11A8B941DDA}"/>
              </a:ext>
            </a:extLst>
          </p:cNvPr>
          <p:cNvSpPr/>
          <p:nvPr/>
        </p:nvSpPr>
        <p:spPr>
          <a:xfrm>
            <a:off x="316309" y="485416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재활용 가능 물량 산출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유지 판정 항목만 합산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5" name="Table 0">
            <a:extLst>
              <a:ext uri="{FF2B5EF4-FFF2-40B4-BE49-F238E27FC236}">
                <a16:creationId xmlns:a16="http://schemas.microsoft.com/office/drawing/2014/main" id="{A2041B96-BB90-123E-6B57-0478CADA2930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42771"/>
          <a:ext cx="6127623" cy="739140"/>
        </p:xfrm>
        <a:graphic>
          <a:graphicData uri="http://schemas.openxmlformats.org/drawingml/2006/table">
            <a:tbl>
              <a:tblPr/>
              <a:tblGrid>
                <a:gridCol w="21461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81449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재활용 가능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(GPU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만 유지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재활용 가능 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2PB(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만 유지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61B4129C-7B05-9FC8-D4D3-8EE743A7B086}"/>
              </a:ext>
            </a:extLst>
          </p:cNvPr>
          <p:cNvSpPr txBox="1"/>
          <p:nvPr/>
        </p:nvSpPr>
        <p:spPr>
          <a:xfrm>
            <a:off x="1090769" y="514846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재활용 가능 물량 계산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7365771-FF8C-33AC-9EED-4DAD398AA72B}"/>
              </a:ext>
            </a:extLst>
          </p:cNvPr>
          <p:cNvSpPr/>
          <p:nvPr/>
        </p:nvSpPr>
        <p:spPr>
          <a:xfrm>
            <a:off x="316309" y="6199214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신규 조달 물량 계산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4.1.3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최종치에서 차감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5" name="Table 0">
            <a:extLst>
              <a:ext uri="{FF2B5EF4-FFF2-40B4-BE49-F238E27FC236}">
                <a16:creationId xmlns:a16="http://schemas.microsoft.com/office/drawing/2014/main" id="{41091B32-BA64-4106-E7A1-EDC02BAEB999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6787818"/>
          <a:ext cx="6127622" cy="739140"/>
        </p:xfrm>
        <a:graphic>
          <a:graphicData uri="http://schemas.openxmlformats.org/drawingml/2006/table">
            <a:tbl>
              <a:tblPr/>
              <a:tblGrid>
                <a:gridCol w="1262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2090">
                  <a:extLst>
                    <a:ext uri="{9D8B030D-6E8A-4147-A177-3AD203B41FA5}">
                      <a16:colId xmlns:a16="http://schemas.microsoft.com/office/drawing/2014/main" val="3275367554"/>
                    </a:ext>
                  </a:extLst>
                </a:gridCol>
                <a:gridCol w="1262090">
                  <a:extLst>
                    <a:ext uri="{9D8B030D-6E8A-4147-A177-3AD203B41FA5}">
                      <a16:colId xmlns:a16="http://schemas.microsoft.com/office/drawing/2014/main" val="3901943455"/>
                    </a:ext>
                  </a:extLst>
                </a:gridCol>
                <a:gridCol w="2341352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산정치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재활용 가능 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조달 물량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45~70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35~60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3PB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FD31D8C6-4277-5E28-4BB7-093FF71D28E4}"/>
              </a:ext>
            </a:extLst>
          </p:cNvPr>
          <p:cNvSpPr txBox="1"/>
          <p:nvPr/>
        </p:nvSpPr>
        <p:spPr>
          <a:xfrm>
            <a:off x="1090769" y="6493516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신규 조달 물량 계산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09BDDBF4-050F-FD39-95AF-71BE5000856E}"/>
              </a:ext>
            </a:extLst>
          </p:cNvPr>
          <p:cNvSpPr/>
          <p:nvPr/>
        </p:nvSpPr>
        <p:spPr>
          <a:xfrm>
            <a:off x="316309" y="7517228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안심존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검증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 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100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만 건 중 이관 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99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만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천 건 확인된 경우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8" name="Table 0">
            <a:extLst>
              <a:ext uri="{FF2B5EF4-FFF2-40B4-BE49-F238E27FC236}">
                <a16:creationId xmlns:a16="http://schemas.microsoft.com/office/drawing/2014/main" id="{A6EC0E91-C055-104D-00F5-C5EF32D12B25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120580"/>
          <a:ext cx="6127622" cy="1226820"/>
        </p:xfrm>
        <a:graphic>
          <a:graphicData uri="http://schemas.openxmlformats.org/drawingml/2006/table">
            <a:tbl>
              <a:tblPr/>
              <a:tblGrid>
                <a:gridCol w="2609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7898">
                  <a:extLst>
                    <a:ext uri="{9D8B030D-6E8A-4147-A177-3AD203B41FA5}">
                      <a16:colId xmlns:a16="http://schemas.microsoft.com/office/drawing/2014/main" val="327536755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전 건수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1,000,000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7901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후 건수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998,000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9268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검증률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99.8%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100% 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미만</a:t>
                      </a: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재검증 필요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86E74D38-5855-8B5F-90F7-9715E31438F7}"/>
              </a:ext>
            </a:extLst>
          </p:cNvPr>
          <p:cNvSpPr txBox="1"/>
          <p:nvPr/>
        </p:nvSpPr>
        <p:spPr>
          <a:xfrm>
            <a:off x="1090769" y="782627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 검증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55102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B0B328-2DC8-E48E-FF7F-09C1DA24B5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49934CA-960A-9129-379D-45EFD0600CA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CCA6286-5CC7-4041-E3D7-B45EB7643516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B0C0811-78C8-6B31-1A1F-3CC412DB3A59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망 분리 및 안심 구역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A688E30-7CAB-76E3-E2A3-A420130BCE6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4DE1AC0-F36B-2A83-A7F7-EE9C0AF898D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망 구간과 데이터 등급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단계를 교차한 접근통제 매트릭스로 안심구역 배치 기준과 구간 간 통신 허용 여부를 판정하는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B27F7E3-59D4-079F-213F-8F6AE91F1D5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4E6E057-AA01-1470-27BF-013503EFF52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 분리 및 안심 구역 설계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372C370E-431E-0A18-0592-5F37D26BCF6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5E5C3314-1A1A-D316-2C59-4AB9C5609829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DR-020, SR-007</a:t>
            </a:r>
          </a:p>
        </p:txBody>
      </p:sp>
      <p:sp>
        <p:nvSpPr>
          <p:cNvPr id="8" name="모서리가 둥근 직사각형 222">
            <a:extLst>
              <a:ext uri="{FF2B5EF4-FFF2-40B4-BE49-F238E27FC236}">
                <a16:creationId xmlns:a16="http://schemas.microsoft.com/office/drawing/2014/main" id="{BBD7C216-09E2-F880-94F7-16930E7340C0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114F8AD-1514-6AED-C72F-A42F2084E8CA}"/>
              </a:ext>
            </a:extLst>
          </p:cNvPr>
          <p:cNvSpPr/>
          <p:nvPr/>
        </p:nvSpPr>
        <p:spPr>
          <a:xfrm>
            <a:off x="316309" y="278502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망 구간 정의 및 대응관계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망 구간을 정의하고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4.1.1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에서 정의한 개방영역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안심구역과 대응관계 고정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2" name="Table 0">
            <a:extLst>
              <a:ext uri="{FF2B5EF4-FFF2-40B4-BE49-F238E27FC236}">
                <a16:creationId xmlns:a16="http://schemas.microsoft.com/office/drawing/2014/main" id="{C9E0D105-5EA1-06EE-371C-DC13693C2B29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595224"/>
          <a:ext cx="6127624" cy="1226820"/>
        </p:xfrm>
        <a:graphic>
          <a:graphicData uri="http://schemas.openxmlformats.org/drawingml/2006/table">
            <a:tbl>
              <a:tblPr/>
              <a:tblGrid>
                <a:gridCol w="1641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3071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  <a:gridCol w="1903204">
                  <a:extLst>
                    <a:ext uri="{9D8B030D-6E8A-4147-A177-3AD203B41FA5}">
                      <a16:colId xmlns:a16="http://schemas.microsoft.com/office/drawing/2014/main" val="1237342937"/>
                    </a:ext>
                  </a:extLst>
                </a:gridCol>
              </a:tblGrid>
              <a:tr h="14114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망 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4.1.1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구역 대응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4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DMZ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 이용자 접점 서비스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외부시스템 연계 전용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원격접속구간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인증활용 계정의 원격분석 세션 전용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 자원 보관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934592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FF410096-C7DE-2003-0C77-D00548C6A761}"/>
              </a:ext>
            </a:extLst>
          </p:cNvPr>
          <p:cNvSpPr txBox="1"/>
          <p:nvPr/>
        </p:nvSpPr>
        <p:spPr>
          <a:xfrm>
            <a:off x="1090769" y="330092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 구간 대응관계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460D335-8FA2-4807-4B64-F0EB28DF75F5}"/>
              </a:ext>
            </a:extLst>
          </p:cNvPr>
          <p:cNvSpPr/>
          <p:nvPr/>
        </p:nvSpPr>
        <p:spPr>
          <a:xfrm>
            <a:off x="316309" y="485839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등급 판정 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등급을 정의해 배치 판정의 </a:t>
            </a:r>
            <a:r>
              <a:rPr kumimoji="1" lang="ko-KR" altLang="en-US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입력값으로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사용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FD4255BC-FA4E-ABA4-E740-B7EFD9D36D55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65254"/>
          <a:ext cx="6127624" cy="1226820"/>
        </p:xfrm>
        <a:graphic>
          <a:graphicData uri="http://schemas.openxmlformats.org/drawingml/2006/table">
            <a:tbl>
              <a:tblPr/>
              <a:tblGrid>
                <a:gridCol w="23808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46807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</a:tblGrid>
              <a:tr h="14114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41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공개 승인 완료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민감정보 없음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 검토 완료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제한 조건 없음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 승인 절차 필요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반출 통제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13686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개인정보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민감정보 포함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원문 비공개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93459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B6BEA424-1A51-883A-00A1-90D6D3504EF3}"/>
              </a:ext>
            </a:extLst>
          </p:cNvPr>
          <p:cNvSpPr txBox="1"/>
          <p:nvPr/>
        </p:nvSpPr>
        <p:spPr>
          <a:xfrm>
            <a:off x="1090769" y="517095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등급 판정 기준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7736731-4C29-1A58-CBFD-76C31BD85AEF}"/>
              </a:ext>
            </a:extLst>
          </p:cNvPr>
          <p:cNvSpPr/>
          <p:nvPr/>
        </p:nvSpPr>
        <p:spPr>
          <a:xfrm>
            <a:off x="316309" y="6709377"/>
            <a:ext cx="6286697" cy="91139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(안심구역 배치 판정 공식) 등급이 제한 이상이면 안심구역 배치를 의무화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안심구역 배치 여부 = 데이터 등급이 '제한' 또는 '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민감'이면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배치, '공개' 또는 '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일반'이면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개방영역 배치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(구간별 접근통제 매트릭스) 구간과 등급을 교차해 허용 여부 결정</a:t>
            </a:r>
          </a:p>
        </p:txBody>
      </p:sp>
      <p:graphicFrame>
        <p:nvGraphicFramePr>
          <p:cNvPr id="25" name="Table 0">
            <a:extLst>
              <a:ext uri="{FF2B5EF4-FFF2-40B4-BE49-F238E27FC236}">
                <a16:creationId xmlns:a16="http://schemas.microsoft.com/office/drawing/2014/main" id="{A233DCCC-DB8A-8FE0-0520-335E6C814676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7950630"/>
          <a:ext cx="6127623" cy="1574368"/>
        </p:xfrm>
        <a:graphic>
          <a:graphicData uri="http://schemas.openxmlformats.org/drawingml/2006/table">
            <a:tbl>
              <a:tblPr/>
              <a:tblGrid>
                <a:gridCol w="10993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9372">
                  <a:extLst>
                    <a:ext uri="{9D8B030D-6E8A-4147-A177-3AD203B41FA5}">
                      <a16:colId xmlns:a16="http://schemas.microsoft.com/office/drawing/2014/main" val="659190889"/>
                    </a:ext>
                  </a:extLst>
                </a:gridCol>
                <a:gridCol w="1099372">
                  <a:extLst>
                    <a:ext uri="{9D8B030D-6E8A-4147-A177-3AD203B41FA5}">
                      <a16:colId xmlns:a16="http://schemas.microsoft.com/office/drawing/2014/main" val="3239983797"/>
                    </a:ext>
                  </a:extLst>
                </a:gridCol>
                <a:gridCol w="1099372">
                  <a:extLst>
                    <a:ext uri="{9D8B030D-6E8A-4147-A177-3AD203B41FA5}">
                      <a16:colId xmlns:a16="http://schemas.microsoft.com/office/drawing/2014/main" val="1769623033"/>
                    </a:ext>
                  </a:extLst>
                </a:gridCol>
                <a:gridCol w="1730135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</a:tblGrid>
              <a:tr h="28704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34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DMZ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불허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불허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230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외부연계구간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메타정보 한정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불허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불허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7834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원격접속구간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불허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불허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 내 한정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 내 한정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27834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93459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9E75C19A-ECF0-94BD-32AA-391456B051F2}"/>
              </a:ext>
            </a:extLst>
          </p:cNvPr>
          <p:cNvSpPr txBox="1"/>
          <p:nvPr/>
        </p:nvSpPr>
        <p:spPr>
          <a:xfrm>
            <a:off x="1090769" y="765632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×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등급 접근통제 매트릭스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8450478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3B2326-4959-985E-264A-50D71913B5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2A74B225-197E-DBE4-F101-83E61DA7E70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F1E3482-A848-22E8-BAA5-4C0176E24258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717BDF-4D51-E61D-68A6-306DAE7F662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망 분리 및 안심 구역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8C3765E-ED75-7564-94EA-48CA2E948CA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7315C6E-ADC7-C26C-D8E5-8B591045D6F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망 구간과 데이터 등급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단계를 교차한 접근통제 매트릭스로 안심구역 배치 기준과 구간 간 통신 허용 여부를 판정하는 체계 수립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1B90834-2420-BEA4-087B-C58D4EA554B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0F8C8F8-DC87-F79C-8420-512241998F53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망 분리 및 안심 구역 설계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667D7E06-1F8F-C298-5F8C-E11DD112D59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A584C852-19C9-6475-4CE7-E23EA00D1AC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DR-020, SR-007</a:t>
            </a:r>
          </a:p>
        </p:txBody>
      </p:sp>
      <p:sp>
        <p:nvSpPr>
          <p:cNvPr id="8" name="모서리가 둥근 직사각형 222">
            <a:extLst>
              <a:ext uri="{FF2B5EF4-FFF2-40B4-BE49-F238E27FC236}">
                <a16:creationId xmlns:a16="http://schemas.microsoft.com/office/drawing/2014/main" id="{461ECB78-ECEA-6F39-E4A6-BEDEFEE208F9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E99CD357-ED30-1FEC-9AA6-5CFFD3FC34CC}"/>
              </a:ext>
            </a:extLst>
          </p:cNvPr>
          <p:cNvSpPr/>
          <p:nvPr/>
        </p:nvSpPr>
        <p:spPr>
          <a:xfrm>
            <a:off x="316309" y="2785021"/>
            <a:ext cx="6286697" cy="221482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(구간 간 통신 허용 규칙) 게이트웨이 구간 간 직접 통신을 금지하고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내부망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경유를 강제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허용 조건: 모든 통신은 내부망을 경유해야 하며,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DMZ·외부연계구간·원격접속구간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상호 간 직접 통신은 금지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(원격접속 세션 통제 공식) 세션 종료 시 원격접속구간에 남는 데이터를 자동 소거</a:t>
            </a: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세션 잔존 데이터 = 세션 종료 시점에 원격접속구간에 남아있는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제한·민감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등급 데이터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세션 잔존 데이터는 0이어야 하며, 0 초과 시 소거 실패로 판정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안심존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이관 판정 연계) 4.3.1에서 유지 판정된 기존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안심존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자산만 안심구역 이관 대상으로 채택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2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 대상 = 4.3.1 자산 분류 결과 중 '유지' 판정 항목에 한정</a:t>
            </a:r>
          </a:p>
        </p:txBody>
      </p:sp>
      <p:graphicFrame>
        <p:nvGraphicFramePr>
          <p:cNvPr id="12" name="Table 0">
            <a:extLst>
              <a:ext uri="{FF2B5EF4-FFF2-40B4-BE49-F238E27FC236}">
                <a16:creationId xmlns:a16="http://schemas.microsoft.com/office/drawing/2014/main" id="{0F7E2FD9-414E-A7F1-85D2-6FDDB299C98B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56606"/>
          <a:ext cx="6127624" cy="1547460"/>
        </p:xfrm>
        <a:graphic>
          <a:graphicData uri="http://schemas.openxmlformats.org/drawingml/2006/table">
            <a:tbl>
              <a:tblPr/>
              <a:tblGrid>
                <a:gridCol w="1641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3071">
                  <a:extLst>
                    <a:ext uri="{9D8B030D-6E8A-4147-A177-3AD203B41FA5}">
                      <a16:colId xmlns:a16="http://schemas.microsoft.com/office/drawing/2014/main" val="581903642"/>
                    </a:ext>
                  </a:extLst>
                </a:gridCol>
                <a:gridCol w="1903204">
                  <a:extLst>
                    <a:ext uri="{9D8B030D-6E8A-4147-A177-3AD203B41FA5}">
                      <a16:colId xmlns:a16="http://schemas.microsoft.com/office/drawing/2014/main" val="1237342937"/>
                    </a:ext>
                  </a:extLst>
                </a:gridCol>
              </a:tblGrid>
              <a:tr h="14114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안심구역 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 제한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민감만 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구간 간 통신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내부망 경유 강제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게이트웨이 간 직접통신 금지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SR-007, SR-009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 잔존 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세션 종료 시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이어야 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DR-020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4.3.1 '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'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항목만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DTR-004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934592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3895A8F-33D0-93B9-1EBC-3AFB58FCA374}"/>
              </a:ext>
            </a:extLst>
          </p:cNvPr>
          <p:cNvSpPr txBox="1"/>
          <p:nvPr/>
        </p:nvSpPr>
        <p:spPr>
          <a:xfrm>
            <a:off x="1090769" y="516230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방법론 요약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64708255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AE751B-F9AC-1801-D966-9324B89F25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7BAFE7A-2F2E-1CF9-54A6-53D4D895F87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2BFFEDC-B0F8-029E-1184-68A82640A86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65071B3-E79A-7479-277B-AED360B92111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보안 기반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9AD657B-4764-E806-4007-398D86F073E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122FC37-31F9-D573-A841-41A5137F23D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 시스템 중요도 등급에 따라 보안장비 도입수준과 점검주기를 차등 적용하는 매핑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A38C3EA-DC54-51BC-D1A5-F3E1E31D42C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44CCEE2-3CB7-61EC-2B3C-0EEEF339F378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기반 설계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C1B31E2-7A73-FC1A-E259-3170214E590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DR-020, SR-009, SR-010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EB9A654B-AB0D-D2A1-FD83-E483C1B12863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CE1CCF8-7D04-21E4-954E-E33382A63A91}"/>
              </a:ext>
            </a:extLst>
          </p:cNvPr>
          <p:cNvSpPr/>
          <p:nvPr/>
        </p:nvSpPr>
        <p:spPr>
          <a:xfrm>
            <a:off x="316309" y="27850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중요도 판정기준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기밀성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무결성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가용성 훼손 시 영향도를 기준으로 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판정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AE038042-63AE-892F-0D85-2C94E4ED54B0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027165"/>
          <a:ext cx="6127622" cy="982980"/>
        </p:xfrm>
        <a:graphic>
          <a:graphicData uri="http://schemas.openxmlformats.org/drawingml/2006/table">
            <a:tbl>
              <a:tblPr/>
              <a:tblGrid>
                <a:gridCol w="1555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1998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 도입 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IDS/IPS, DDoS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대응장비 전체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9FB90643-283C-00DC-CC10-4684DE8259A4}"/>
              </a:ext>
            </a:extLst>
          </p:cNvPr>
          <p:cNvSpPr txBox="1"/>
          <p:nvPr/>
        </p:nvSpPr>
        <p:spPr>
          <a:xfrm>
            <a:off x="1090769" y="473286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중요도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-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보안장비 매핑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26" name="Table 0">
            <a:extLst>
              <a:ext uri="{FF2B5EF4-FFF2-40B4-BE49-F238E27FC236}">
                <a16:creationId xmlns:a16="http://schemas.microsoft.com/office/drawing/2014/main" id="{8B0D4FE9-AFDE-86CE-F8A8-820248150856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395107"/>
          <a:ext cx="6127622" cy="982980"/>
        </p:xfrm>
        <a:graphic>
          <a:graphicData uri="http://schemas.openxmlformats.org/drawingml/2006/table">
            <a:tbl>
              <a:tblPr/>
              <a:tblGrid>
                <a:gridCol w="1568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59298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개인정보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민감정보 대량 유출 또는 서비스 전면 중단 초래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일부 기능 중단 또는 제한적 정보 노출 초래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서비스 영향 경미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0E2B06D3-A0E6-4657-6434-A586C79881FC}"/>
              </a:ext>
            </a:extLst>
          </p:cNvPr>
          <p:cNvSpPr txBox="1"/>
          <p:nvPr/>
        </p:nvSpPr>
        <p:spPr>
          <a:xfrm>
            <a:off x="1090769" y="310080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클라우드 시스템 중요도 판정기준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EF7ACFD-9CB1-D6AF-3D39-017E4727E77B}"/>
              </a:ext>
            </a:extLst>
          </p:cNvPr>
          <p:cNvSpPr/>
          <p:nvPr/>
        </p:nvSpPr>
        <p:spPr>
          <a:xfrm>
            <a:off x="316309" y="442177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중요도별 보안장비 매핑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등급별 도입 보안장비를 고정 배정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C54D677-2E0A-0FDA-57AE-1A86FD199CBA}"/>
              </a:ext>
            </a:extLst>
          </p:cNvPr>
          <p:cNvSpPr/>
          <p:nvPr/>
        </p:nvSpPr>
        <p:spPr>
          <a:xfrm>
            <a:off x="316309" y="6010145"/>
            <a:ext cx="6286697" cy="357212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1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(클라우드 사업자 검증 규칙) 사업자 자격을 2개 조건 동시 충족으로 판정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조건 = 국가사이버안보센터 도입가능목록 등재 여부 AND 국가정보원 도입요건 확인 완료 여부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둘 중 하나라도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미충족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 사업자 부적격 판정</a:t>
            </a:r>
          </a:p>
          <a:p>
            <a:pPr marL="108000" lvl="1" indent="-108000" defTabSz="914400" eaLnBrk="0" fontAlgn="base" hangingPunct="0">
              <a:lnSpc>
                <a:spcPct val="11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(인증체계 강도 규칙) 계정 잠금과 비밀번호 정책을 수치 조건으로 고정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계정 잠금 조건 = 로그인 실패 횟수 ≥ 5회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비밀번호 재설정 주기 ≤ 90일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비밀번호 재사용 금지 = 최근 5회 이내 사용 이력과 중복 시 거부</a:t>
            </a:r>
          </a:p>
          <a:p>
            <a:pPr marL="108000" lvl="1" indent="-108000" defTabSz="914400" eaLnBrk="0" fontAlgn="base" hangingPunct="0">
              <a:lnSpc>
                <a:spcPct val="11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(암호화 수준 규칙)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저장·전송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구간과 키 관리 방식을 고정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저장·전송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암호화 = AES-256 이상, TLS 1.2 이상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암호키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보관 위치 = HSM 또는 KMS(물리적으로 분리된 서버)</a:t>
            </a:r>
          </a:p>
          <a:p>
            <a:pPr marL="108000" lvl="1" indent="-108000" defTabSz="914400" eaLnBrk="0" fontAlgn="base" hangingPunct="0">
              <a:lnSpc>
                <a:spcPct val="11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(점검주기 규칙) 점검 항목별 최소 주기를 고정</a:t>
            </a:r>
            <a:endParaRPr kumimoji="1" lang="en-US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1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보안SLA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데이터소유권 조항 규칙) 4개 항목 전부 포함 여부로 SLA 적합성 판정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SLA 적합 조건 = 데이터소유권 귀속 명시 AND 제3자 제공 금지 명시 AND 계약종료 시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삭제증빙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의무화 AND 분쟁해결 절차 포함</a:t>
            </a:r>
          </a:p>
        </p:txBody>
      </p:sp>
    </p:spTree>
    <p:extLst>
      <p:ext uri="{BB962C8B-B14F-4D97-AF65-F5344CB8AC3E}">
        <p14:creationId xmlns:p14="http://schemas.microsoft.com/office/powerpoint/2010/main" val="1404865287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5FA7D9-DDB8-737D-912D-F3A0BB42D8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6DBA663A-7511-BA6B-F2B6-CF442A46FE7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EB1DF6-F40C-6030-D491-C1F01E2902C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CE7FD6F-129D-CE9A-BAF1-644A5FD4D52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보안 기반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B547166-BF83-9A5C-89EF-1C8E4185D3B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DCCC048-2B25-5DE4-5C94-EB2802C7EF6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4.1.1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에서 정의한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구역에 중요도 판정과 보안장비 매핑을 대입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C5DF001-FAE9-AB4B-6ADE-57F392AAD8F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BB46CFE-7E92-B8E0-DB14-19CA46A4046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 기반 설계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EADAE73-7ECE-2F39-D195-96A2BCBF7CB7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DR-020, SR-009, SR-010</a:t>
            </a:r>
          </a:p>
        </p:txBody>
      </p:sp>
      <p:sp>
        <p:nvSpPr>
          <p:cNvPr id="9" name="모서리가 둥근 직사각형 222">
            <a:extLst>
              <a:ext uri="{FF2B5EF4-FFF2-40B4-BE49-F238E27FC236}">
                <a16:creationId xmlns:a16="http://schemas.microsoft.com/office/drawing/2014/main" id="{D9A7C12C-1A21-CBE0-DF6A-940B2E071972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A2A48C5-D455-9841-E431-6E9E0FFE20B6}"/>
              </a:ext>
            </a:extLst>
          </p:cNvPr>
          <p:cNvSpPr/>
          <p:nvPr/>
        </p:nvSpPr>
        <p:spPr>
          <a:xfrm>
            <a:off x="316309" y="26961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구역별 중요도 판정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4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구역에 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 적용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6" name="Table 0">
            <a:extLst>
              <a:ext uri="{FF2B5EF4-FFF2-40B4-BE49-F238E27FC236}">
                <a16:creationId xmlns:a16="http://schemas.microsoft.com/office/drawing/2014/main" id="{E50291D6-BB09-B496-1C26-D30780DB3894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306207"/>
          <a:ext cx="6127622" cy="1226820"/>
        </p:xfrm>
        <a:graphic>
          <a:graphicData uri="http://schemas.openxmlformats.org/drawingml/2006/table">
            <a:tbl>
              <a:tblPr/>
              <a:tblGrid>
                <a:gridCol w="1248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48722">
                  <a:extLst>
                    <a:ext uri="{9D8B030D-6E8A-4147-A177-3AD203B41FA5}">
                      <a16:colId xmlns:a16="http://schemas.microsoft.com/office/drawing/2014/main" val="2435686935"/>
                    </a:ext>
                  </a:extLst>
                </a:gridCol>
                <a:gridCol w="3630178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중요도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 판정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경계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전체 서비스 중단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일부 서비스 중단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민감정보 대량 유출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77561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훼손 시 운영 기능 제한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EE90098E-62FA-3853-744B-A95B7BE3C0C1}"/>
              </a:ext>
            </a:extLst>
          </p:cNvPr>
          <p:cNvSpPr txBox="1"/>
          <p:nvPr/>
        </p:nvSpPr>
        <p:spPr>
          <a:xfrm>
            <a:off x="1090769" y="301190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구역별 중요도 판정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0181017-555E-C03D-AD11-416B926EAE7B}"/>
              </a:ext>
            </a:extLst>
          </p:cNvPr>
          <p:cNvSpPr/>
          <p:nvPr/>
        </p:nvSpPr>
        <p:spPr>
          <a:xfrm>
            <a:off x="316309" y="4589053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보안장비 배정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매핑을 판정 결과에 대입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682C2239-1314-2ABE-C57B-40A7E7D8EE64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199139"/>
          <a:ext cx="6127622" cy="1226820"/>
        </p:xfrm>
        <a:graphic>
          <a:graphicData uri="http://schemas.openxmlformats.org/drawingml/2006/table">
            <a:tbl>
              <a:tblPr/>
              <a:tblGrid>
                <a:gridCol w="12487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48722">
                  <a:extLst>
                    <a:ext uri="{9D8B030D-6E8A-4147-A177-3AD203B41FA5}">
                      <a16:colId xmlns:a16="http://schemas.microsoft.com/office/drawing/2014/main" val="2435686935"/>
                    </a:ext>
                  </a:extLst>
                </a:gridCol>
                <a:gridCol w="3630178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67169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중요도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배정 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210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경계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IDS/IPS, DDoS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210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6210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IDS/IPS, DDoS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대응장비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7756138"/>
                  </a:ext>
                </a:extLst>
              </a:tr>
              <a:tr h="16210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웹방화벽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IDS/IPS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C30D5E8-1F0F-2B4E-1EAA-6BDFA01BC0E7}"/>
              </a:ext>
            </a:extLst>
          </p:cNvPr>
          <p:cNvSpPr txBox="1"/>
          <p:nvPr/>
        </p:nvSpPr>
        <p:spPr>
          <a:xfrm>
            <a:off x="1090769" y="490483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구역별 보안장비 배정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2295308-BE46-1530-7B8E-234F808C2CFF}"/>
              </a:ext>
            </a:extLst>
          </p:cNvPr>
          <p:cNvSpPr/>
          <p:nvPr/>
        </p:nvSpPr>
        <p:spPr>
          <a:xfrm>
            <a:off x="316309" y="648198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사업자 검증 적용 예시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후보 클라우드 사업자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곳을 검증 조건에 대입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2" name="Table 0">
            <a:extLst>
              <a:ext uri="{FF2B5EF4-FFF2-40B4-BE49-F238E27FC236}">
                <a16:creationId xmlns:a16="http://schemas.microsoft.com/office/drawing/2014/main" id="{E4EA6796-2C6F-8A50-0BB7-070B21347B28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7092071"/>
          <a:ext cx="6127622" cy="739140"/>
        </p:xfrm>
        <a:graphic>
          <a:graphicData uri="http://schemas.openxmlformats.org/drawingml/2006/table">
            <a:tbl>
              <a:tblPr/>
              <a:tblGrid>
                <a:gridCol w="1037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7329">
                  <a:extLst>
                    <a:ext uri="{9D8B030D-6E8A-4147-A177-3AD203B41FA5}">
                      <a16:colId xmlns:a16="http://schemas.microsoft.com/office/drawing/2014/main" val="2561241040"/>
                    </a:ext>
                  </a:extLst>
                </a:gridCol>
                <a:gridCol w="1037329">
                  <a:extLst>
                    <a:ext uri="{9D8B030D-6E8A-4147-A177-3AD203B41FA5}">
                      <a16:colId xmlns:a16="http://schemas.microsoft.com/office/drawing/2014/main" val="2435686935"/>
                    </a:ext>
                  </a:extLst>
                </a:gridCol>
                <a:gridCol w="301563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41128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사업자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목록 등재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국정원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85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사업자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5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사업자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부적격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재확인 필요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C717890C-CE49-5486-A05A-49C060110B47}"/>
              </a:ext>
            </a:extLst>
          </p:cNvPr>
          <p:cNvSpPr txBox="1"/>
          <p:nvPr/>
        </p:nvSpPr>
        <p:spPr>
          <a:xfrm>
            <a:off x="1090769" y="679776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사업자 검증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graphicFrame>
        <p:nvGraphicFramePr>
          <p:cNvPr id="15" name="Table 0">
            <a:extLst>
              <a:ext uri="{FF2B5EF4-FFF2-40B4-BE49-F238E27FC236}">
                <a16:creationId xmlns:a16="http://schemas.microsoft.com/office/drawing/2014/main" id="{787743A0-A0E0-E270-E76C-78998AC9D245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125513"/>
          <a:ext cx="6127622" cy="1470660"/>
        </p:xfrm>
        <a:graphic>
          <a:graphicData uri="http://schemas.openxmlformats.org/drawingml/2006/table">
            <a:tbl>
              <a:tblPr/>
              <a:tblGrid>
                <a:gridCol w="2567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59627">
                  <a:extLst>
                    <a:ext uri="{9D8B030D-6E8A-4147-A177-3AD203B41FA5}">
                      <a16:colId xmlns:a16="http://schemas.microsoft.com/office/drawing/2014/main" val="2561241040"/>
                    </a:ext>
                  </a:extLst>
                </a:gridCol>
              </a:tblGrid>
              <a:tr h="182454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 여부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69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데이터소유권 귀속 명시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9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 제공 금지 명시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51130"/>
                  </a:ext>
                </a:extLst>
              </a:tr>
              <a:tr h="1769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계약종료 시 삭제증빙 의무화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3163097"/>
                  </a:ext>
                </a:extLst>
              </a:tr>
              <a:tr h="1769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분쟁해결 절차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8445699"/>
                  </a:ext>
                </a:extLst>
              </a:tr>
              <a:tr h="176925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b="1" kern="1200">
                          <a:solidFill>
                            <a:srgbClr val="C0000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부적합</a:t>
                      </a: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분쟁해결 절차 보완 필요</a:t>
                      </a:r>
                      <a:r>
                        <a:rPr lang="en-US" altLang="ko-KR" sz="1000" b="1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b="1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45A7EC3-961A-10C9-5564-883BD8677018}"/>
              </a:ext>
            </a:extLst>
          </p:cNvPr>
          <p:cNvSpPr txBox="1"/>
          <p:nvPr/>
        </p:nvSpPr>
        <p:spPr>
          <a:xfrm>
            <a:off x="1090769" y="7831211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SLA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적합성 점검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3200027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2075F-7B66-6105-955E-5D09DF7F2A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B77FE8A-A766-1743-FB0C-37A8203DF81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F1866A-F2BC-50F7-18D7-3A01D0E5456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404BC1B-ED32-DD72-099B-FDD4264EE984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이중화 및 백업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151ED11-04E1-42FA-F43F-6B2A2756CC6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ECF1E10-19DA-AC95-FE7F-DAE132E7C79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 유형별 이중화 방식과 백업 대상별 백업 유형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주기를 업무영향도 등급에 매핑하고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이를 근거로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RPO·RTO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산출하는 이중화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백업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1F5952E-CB4B-5683-8343-81BD3F0576F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7D06990-52C3-F88F-C587-8522C46A22B2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 및 백업 설계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763A4B9-7B9B-D589-98AA-C759D5483A8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DR-019, QUR-001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DDD32A8-8AAC-F5F4-FF67-92453FE080CC}"/>
              </a:ext>
            </a:extLst>
          </p:cNvPr>
          <p:cNvSpPr/>
          <p:nvPr/>
        </p:nvSpPr>
        <p:spPr>
          <a:xfrm>
            <a:off x="316309" y="278502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이중화 방식 매핑 규칙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 유형에 따라 이중화 방식을 고정 배정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68BEBC38-3651-25C7-8BC9-C83520FE2014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7324874"/>
          <a:ext cx="6127624" cy="1121982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4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1495337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  <a:gridCol w="1495337">
                  <a:extLst>
                    <a:ext uri="{9D8B030D-6E8A-4147-A177-3AD203B41FA5}">
                      <a16:colId xmlns:a16="http://schemas.microsoft.com/office/drawing/2014/main" val="1579099129"/>
                    </a:ext>
                  </a:extLst>
                </a:gridCol>
              </a:tblGrid>
              <a:tr h="283772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RTO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339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중단 시 서비스 전체 영향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0~1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(PR-003)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중단 시 일부 기능 영향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 복구 절차 적용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267406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참고성업무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중단 시 영향 경미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후순위 복구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F3304C66-7E6C-ACD0-349C-93667326E5B3}"/>
              </a:ext>
            </a:extLst>
          </p:cNvPr>
          <p:cNvSpPr txBox="1"/>
          <p:nvPr/>
        </p:nvSpPr>
        <p:spPr>
          <a:xfrm>
            <a:off x="1090769" y="703057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업무영향도 등급 판정기준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모서리가 둥근 직사각형 222">
            <a:extLst>
              <a:ext uri="{FF2B5EF4-FFF2-40B4-BE49-F238E27FC236}">
                <a16:creationId xmlns:a16="http://schemas.microsoft.com/office/drawing/2014/main" id="{421B612F-5098-3C99-1B65-7C0DF55A8730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037C6869-A2DB-8E23-5527-2CFB2C9DB96D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373625"/>
          <a:ext cx="6127623" cy="1226820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30249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628899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844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이중화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웹서버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·WAS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Active-Active(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부하분산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무중단 서비스 요구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(PR-003)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38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Active-Standby(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장애조치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정합성 우선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(QUR-001)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738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(Replication)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대용량 데이터 보존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(DR-019)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1738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예비자원 확보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(Cold Standby)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비용 대비 효율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D2FCB65D-2CCC-6846-B52F-EB0CCFE5AA22}"/>
              </a:ext>
            </a:extLst>
          </p:cNvPr>
          <p:cNvSpPr txBox="1"/>
          <p:nvPr/>
        </p:nvSpPr>
        <p:spPr>
          <a:xfrm>
            <a:off x="1090769" y="307932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자원유형별 이중화 방식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F169183-F102-0B0B-066F-84042E107B03}"/>
              </a:ext>
            </a:extLst>
          </p:cNvPr>
          <p:cNvSpPr/>
          <p:nvPr/>
        </p:nvSpPr>
        <p:spPr>
          <a:xfrm>
            <a:off x="316309" y="464331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 유형 매핑 규칙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 대상별로 백업 유형과 백업 방식을 고정 배정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5" name="Table 0">
            <a:extLst>
              <a:ext uri="{FF2B5EF4-FFF2-40B4-BE49-F238E27FC236}">
                <a16:creationId xmlns:a16="http://schemas.microsoft.com/office/drawing/2014/main" id="{382B5A72-3BD6-129C-7345-04690629FDDD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231915"/>
          <a:ext cx="6127623" cy="1470660"/>
        </p:xfrm>
        <a:graphic>
          <a:graphicData uri="http://schemas.openxmlformats.org/drawingml/2006/table">
            <a:tbl>
              <a:tblPr/>
              <a:tblGrid>
                <a:gridCol w="156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30249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  <a:gridCol w="2628899">
                  <a:extLst>
                    <a:ext uri="{9D8B030D-6E8A-4147-A177-3AD203B41FA5}">
                      <a16:colId xmlns:a16="http://schemas.microsoft.com/office/drawing/2014/main" val="4108977382"/>
                    </a:ext>
                  </a:extLst>
                </a:gridCol>
              </a:tblGrid>
              <a:tr h="1844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 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전체백업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증분백업 조합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DR-019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38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파일저장소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스냅샷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DR-019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738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전체백업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DR-019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  <a:tr h="1219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로그백업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DR-019, OR-006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853655"/>
                  </a:ext>
                </a:extLst>
              </a:tr>
              <a:tr h="1219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설정정보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변경시점 백업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DR-019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57656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2BD15D0C-A703-B02D-C15C-708579CC92FC}"/>
              </a:ext>
            </a:extLst>
          </p:cNvPr>
          <p:cNvSpPr txBox="1"/>
          <p:nvPr/>
        </p:nvSpPr>
        <p:spPr>
          <a:xfrm>
            <a:off x="1090769" y="493761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백업대상별 백업 유형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163D030-BA14-96ED-EC7B-D3E560E50BFB}"/>
              </a:ext>
            </a:extLst>
          </p:cNvPr>
          <p:cNvSpPr/>
          <p:nvPr/>
        </p:nvSpPr>
        <p:spPr>
          <a:xfrm>
            <a:off x="316309" y="673627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업무영향도 등급 판정 공식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 중단 시 영향 범위를 기준으로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 판정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04658983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1E734-A32D-6C18-C40C-C65C6ACB48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1CC16855-ACA1-4AAC-49BA-701063FF071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670FF6A-D429-8FA5-0B2A-8AF47CDE40AC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A2FD5A-79CB-5B8C-2D89-2D615442244F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이중화 및 백업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C1B7ED4-43C7-C9A9-E6B1-CFB50239606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724481-15D0-0439-AF09-3C0183D1E2B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RPO·RTO·</a:t>
            </a:r>
            <a:r>
              <a:rPr lang="ko-KR" altLang="en-US" sz="120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무결성검증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분리보관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복구훈련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 규칙을 정량 기준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검증방식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담당주체로 구체화해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DR-019·OR-007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요구사항을 직접 충족시켜 설계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7758375-4160-0E6A-EBF7-D328149161C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C02271D-F8B2-EFE4-1C32-8982C6EC9435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 및 백업 설계 방법론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9DCA495-37DE-1C7E-10A3-D9B0DBB8326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DR-019, QUR-001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4FED496-CA57-2410-35E6-0B4A4EEE00D6}"/>
              </a:ext>
            </a:extLst>
          </p:cNvPr>
          <p:cNvSpPr/>
          <p:nvPr/>
        </p:nvSpPr>
        <p:spPr>
          <a:xfrm>
            <a:off x="316309" y="2785021"/>
            <a:ext cx="6286697" cy="364291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(RPO 산출 공식) 백업주기를 RPO 목표로 직결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RPO = 마지막 백업 시점부터 장애 발생 시점까지 경과시간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RPO 목표 충족 조건: 백업주기 ≤ RPO 목표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(RTO 산출 및 우선순위 규칙) 결함 지속시간 상한과 하자보수기간 기준을 구분 적용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RTO = 장애 발생시각부터 복구 완료시각까지 경과시간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정상운영 기준: RTO ≤ 3시간(PR-003)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하자보수기간 기준: RTO ≤ 2시간(OR-007, 검사완료일로부터 12개월)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복구 우선순위 = 업무영향도 등급이 높은 자원부터 순차 복구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백업본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무결성 검증 공식)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해시값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비교로 무결성 확인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무결성 검증 통과 조건 = 백업 시점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해시값과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복구 시점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해시값이</a:t>
            </a: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일치</a:t>
            </a:r>
            <a:b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불일치 시 직전 백업본으로 </a:t>
            </a:r>
            <a:r>
              <a:rPr kumimoji="1" lang="ko-KR" altLang="ko-KR" sz="11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재검증</a:t>
            </a:r>
            <a:endParaRPr kumimoji="1" lang="ko-KR" altLang="ko-KR" sz="11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백업본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분리보관 규칙) </a:t>
            </a:r>
            <a:r>
              <a:rPr kumimoji="1" lang="ko-KR" altLang="ko-KR" sz="120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랜섬웨어·위변조</a:t>
            </a: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대비 원본과 물리적으로 분리된 저장소에 최소 1부 보관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분리보관 조건 = 원본 저장소와 백업 저장소의 물리적 위치 또는 접근권한 체계가 상이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(복구훈련 주기 규칙) 업무영향도 등급별로 복구훈련 주기를 차등 적용</a:t>
            </a:r>
          </a:p>
        </p:txBody>
      </p:sp>
      <p:sp>
        <p:nvSpPr>
          <p:cNvPr id="20" name="모서리가 둥근 직사각형 222">
            <a:extLst>
              <a:ext uri="{FF2B5EF4-FFF2-40B4-BE49-F238E27FC236}">
                <a16:creationId xmlns:a16="http://schemas.microsoft.com/office/drawing/2014/main" id="{0E6DE372-3741-932A-3ED8-F58B6B6F9C02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D834B842-3477-6244-0DA0-D0B1BFE3DBB3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6975092"/>
          <a:ext cx="6142864" cy="982980"/>
        </p:xfrm>
        <a:graphic>
          <a:graphicData uri="http://schemas.openxmlformats.org/drawingml/2006/table">
            <a:tbl>
              <a:tblPr/>
              <a:tblGrid>
                <a:gridCol w="27538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89023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8445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복구훈련 주기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가장 짧은 주기 우선 적용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3813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 대비 낮은 빈도 적용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750639"/>
                  </a:ext>
                </a:extLst>
              </a:tr>
              <a:tr h="186261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참고성업무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 기간 내 최소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이상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09735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C7516EB2-A7AA-60F3-960F-97B03E206512}"/>
              </a:ext>
            </a:extLst>
          </p:cNvPr>
          <p:cNvSpPr txBox="1"/>
          <p:nvPr/>
        </p:nvSpPr>
        <p:spPr>
          <a:xfrm>
            <a:off x="1090769" y="640805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복구훈련 주기 규칙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9590269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E1423-1281-45D3-9A89-91AD4BCE1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8736D218-DFB4-008A-FBDE-C868EE0B323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4. </a:t>
            </a:r>
            <a:r>
              <a:rPr lang="ko-KR" altLang="en-US" b="1"/>
              <a:t>인프라 설계 및 지연 대비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1A2564B-1BC7-0550-1979-F3EC92B0F60F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CFE72A7-8940-F4F0-55A2-E2FDE26CB844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이중화 및 백업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91295EB-B963-DB6F-62B0-03A119C6CAE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기존 인프라 재활용 및 운영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C8F4B82-E4B5-DD7C-FD01-3AB85C4F27C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앞에서 정의한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4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구역의 핵심 자원에 등급 판정과 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RPO·RTO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를 대입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2B86366-F6B1-C615-590F-0C972132DC5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A274581-EDE9-DE12-311C-164F6935ED4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이중화 및 백업 설계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예시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DE054E1-0CAB-B937-3673-85D9E998635E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DR-019, QUR-001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CBA62A5-F6EA-D8C9-6F0B-7C1750A07E26}"/>
              </a:ext>
            </a:extLst>
          </p:cNvPr>
          <p:cNvSpPr/>
          <p:nvPr/>
        </p:nvSpPr>
        <p:spPr>
          <a:xfrm>
            <a:off x="316309" y="263988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등급 판정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구역별 핵심 자원에 판정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 적용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0" name="모서리가 둥근 직사각형 222">
            <a:extLst>
              <a:ext uri="{FF2B5EF4-FFF2-40B4-BE49-F238E27FC236}">
                <a16:creationId xmlns:a16="http://schemas.microsoft.com/office/drawing/2014/main" id="{D4EE33B9-6606-9E1C-901E-5D154860FA3F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9C4F26D5-2B46-2AC1-99DC-7B3590177CA5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247692"/>
          <a:ext cx="6142863" cy="1226820"/>
        </p:xfrm>
        <a:graphic>
          <a:graphicData uri="http://schemas.openxmlformats.org/drawingml/2006/table">
            <a:tbl>
              <a:tblPr/>
              <a:tblGrid>
                <a:gridCol w="1174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4397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174397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  <a:gridCol w="1174397">
                  <a:extLst>
                    <a:ext uri="{9D8B030D-6E8A-4147-A177-3AD203B41FA5}">
                      <a16:colId xmlns:a16="http://schemas.microsoft.com/office/drawing/2014/main" val="30264969"/>
                    </a:ext>
                  </a:extLst>
                </a:gridCol>
                <a:gridCol w="1445275">
                  <a:extLst>
                    <a:ext uri="{9D8B030D-6E8A-4147-A177-3AD203B41FA5}">
                      <a16:colId xmlns:a16="http://schemas.microsoft.com/office/drawing/2014/main" val="3878803600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소속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등급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RTO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오브젝트스토리지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안심 구역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 절차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697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통계집계서버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 영역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참고성업무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후순위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1143525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C5D73772-11A7-3165-2885-51020DAA37AB}"/>
              </a:ext>
            </a:extLst>
          </p:cNvPr>
          <p:cNvSpPr txBox="1"/>
          <p:nvPr/>
        </p:nvSpPr>
        <p:spPr>
          <a:xfrm>
            <a:off x="1090769" y="295243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자원별 업무영향도 판정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2E55D1-BE82-064B-8E82-F626C7445EB7}"/>
              </a:ext>
            </a:extLst>
          </p:cNvPr>
          <p:cNvSpPr/>
          <p:nvPr/>
        </p:nvSpPr>
        <p:spPr>
          <a:xfrm>
            <a:off x="316309" y="4516090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백업주기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RPO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목표를 충족하는 백업주기를 역산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8" name="Table 0">
            <a:extLst>
              <a:ext uri="{FF2B5EF4-FFF2-40B4-BE49-F238E27FC236}">
                <a16:creationId xmlns:a16="http://schemas.microsoft.com/office/drawing/2014/main" id="{AB5438F0-F408-DFD4-105A-D112A9661609}"/>
              </a:ext>
            </a:extLst>
          </p:cNvPr>
          <p:cNvGraphicFramePr>
            <a:graphicFrameLocks noGrp="1"/>
          </p:cNvGraphicFramePr>
          <p:nvPr/>
        </p:nvGraphicFramePr>
        <p:xfrm>
          <a:off x="349375" y="5123901"/>
          <a:ext cx="6142864" cy="1226820"/>
        </p:xfrm>
        <a:graphic>
          <a:graphicData uri="http://schemas.openxmlformats.org/drawingml/2006/table">
            <a:tbl>
              <a:tblPr/>
              <a:tblGrid>
                <a:gridCol w="1535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5716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535716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  <a:gridCol w="1535716">
                  <a:extLst>
                    <a:ext uri="{9D8B030D-6E8A-4147-A177-3AD203B41FA5}">
                      <a16:colId xmlns:a16="http://schemas.microsoft.com/office/drawing/2014/main" val="30264969"/>
                    </a:ext>
                  </a:extLst>
                </a:gridCol>
              </a:tblGrid>
              <a:tr h="1311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백업주기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71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 간격 증분백업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 ≤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71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오브젝트스토리지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스냅샷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 간격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 ≤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  <a:tr h="1271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GPU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노드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전체백업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 ≤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697635"/>
                  </a:ext>
                </a:extLst>
              </a:tr>
              <a:tr h="12713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통계집계서버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전체백업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 ≤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RPO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114352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475630B0-F0DB-F1BA-FF1D-7D29618F5551}"/>
              </a:ext>
            </a:extLst>
          </p:cNvPr>
          <p:cNvSpPr txBox="1"/>
          <p:nvPr/>
        </p:nvSpPr>
        <p:spPr>
          <a:xfrm>
            <a:off x="1090769" y="482864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백업주기 산출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574017D-82D6-47B4-842F-48C6736A5687}"/>
              </a:ext>
            </a:extLst>
          </p:cNvPr>
          <p:cNvSpPr/>
          <p:nvPr/>
        </p:nvSpPr>
        <p:spPr>
          <a:xfrm>
            <a:off x="316309" y="6369928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 시나리오 대입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DB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 발생 후 복구 과정을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RTO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기준으로 검증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1" name="Table 0">
            <a:extLst>
              <a:ext uri="{FF2B5EF4-FFF2-40B4-BE49-F238E27FC236}">
                <a16:creationId xmlns:a16="http://schemas.microsoft.com/office/drawing/2014/main" id="{968966D9-1358-D872-2E54-5DD4C87A15F4}"/>
              </a:ext>
            </a:extLst>
          </p:cNvPr>
          <p:cNvGraphicFramePr>
            <a:graphicFrameLocks noGrp="1"/>
          </p:cNvGraphicFramePr>
          <p:nvPr/>
        </p:nvGraphicFramePr>
        <p:xfrm>
          <a:off x="349375" y="6977739"/>
          <a:ext cx="6142863" cy="1226820"/>
        </p:xfrm>
        <a:graphic>
          <a:graphicData uri="http://schemas.openxmlformats.org/drawingml/2006/table">
            <a:tbl>
              <a:tblPr/>
              <a:tblGrid>
                <a:gridCol w="20476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47621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2047621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시각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경과 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09:00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장애 발생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09:40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원인 분석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정상 진행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10:30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백업본 복구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정상 진행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697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11:50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무결성 검증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RTO 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 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114352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933B988-D9A7-CC19-CB43-C927B2DB89A9}"/>
              </a:ext>
            </a:extLst>
          </p:cNvPr>
          <p:cNvSpPr txBox="1"/>
          <p:nvPr/>
        </p:nvSpPr>
        <p:spPr>
          <a:xfrm>
            <a:off x="1090769" y="668248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 복구 예시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95D4CA5-39A3-09BD-B15C-4FEF3AB2588B}"/>
              </a:ext>
            </a:extLst>
          </p:cNvPr>
          <p:cNvSpPr/>
          <p:nvPr/>
        </p:nvSpPr>
        <p:spPr>
          <a:xfrm>
            <a:off x="316309" y="8223766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하자보수기간 비교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동일 장애가 하자보수기간 중 발생한 경우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RTO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기준 재판정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352C5D9C-700D-0644-E01F-C2800B46421B}"/>
              </a:ext>
            </a:extLst>
          </p:cNvPr>
          <p:cNvGraphicFramePr>
            <a:graphicFrameLocks noGrp="1"/>
          </p:cNvGraphicFramePr>
          <p:nvPr/>
        </p:nvGraphicFramePr>
        <p:xfrm>
          <a:off x="349375" y="8831577"/>
          <a:ext cx="6142864" cy="739140"/>
        </p:xfrm>
        <a:graphic>
          <a:graphicData uri="http://schemas.openxmlformats.org/drawingml/2006/table">
            <a:tbl>
              <a:tblPr/>
              <a:tblGrid>
                <a:gridCol w="20476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2354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352550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  <a:gridCol w="1450339">
                  <a:extLst>
                    <a:ext uri="{9D8B030D-6E8A-4147-A177-3AD203B41FA5}">
                      <a16:colId xmlns:a16="http://schemas.microsoft.com/office/drawing/2014/main" val="409492981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RTO 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예시 소요시간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정상운영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충족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하자보수기간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미충족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 초과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8A3DAF3E-53DA-4E7D-0E96-D9FE5DC466E2}"/>
              </a:ext>
            </a:extLst>
          </p:cNvPr>
          <p:cNvSpPr txBox="1"/>
          <p:nvPr/>
        </p:nvSpPr>
        <p:spPr>
          <a:xfrm>
            <a:off x="1090769" y="853632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하자보수기간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RTO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비교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56059032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E61D1F-3B16-5935-86CA-927B9AD3E8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4EB4D266-2F28-BD32-460C-A671EE2FF3F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58A26F5-2874-1D5C-38F8-17993E27D35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526D13C-29D6-910D-02E0-207D021345B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시범 운영 및 서비스 개시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ACB35C-25B0-5521-5299-D718DD3592AD}"/>
              </a:ext>
            </a:extLst>
          </p:cNvPr>
          <p:cNvSpPr/>
          <p:nvPr/>
        </p:nvSpPr>
        <p:spPr bwMode="auto">
          <a:xfrm>
            <a:off x="588602" y="1003444"/>
            <a:ext cx="3305218" cy="215442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5.1.0 Module 5.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추진 프로세스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2C2DC635-B03A-C615-E678-B46248CFAF8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Module 5.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는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'26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시범운영 계획수립과 이용자 검증을 거쳐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'27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서비스를 개시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안정화하고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연관 사업과의 협업 및 유지관리 방안을 수립한 뒤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시범운영 결과를 반영해 서비스 확장 방안을 설계하는</a:t>
            </a:r>
            <a:r>
              <a:rPr kumimoji="1" lang="en-US" altLang="ko-KR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kumimoji="1" lang="ko-KR" altLang="en-US" sz="1200" dirty="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단계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DB7E9C9-AE0F-C6AD-C8FD-67A2D90FC9F4}"/>
              </a:ext>
            </a:extLst>
          </p:cNvPr>
          <p:cNvSpPr/>
          <p:nvPr/>
        </p:nvSpPr>
        <p:spPr>
          <a:xfrm>
            <a:off x="5589352" y="2693432"/>
            <a:ext cx="995758" cy="1330881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및 </a:t>
            </a:r>
            <a:r>
              <a:rPr lang="ko-KR" altLang="en-US" sz="12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본개방</a:t>
            </a: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운영 방안</a:t>
            </a:r>
            <a:endParaRPr lang="ko-KR" altLang="en-US" sz="12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rgbClr val="C0000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6194EDBC-F124-ACD1-F680-9397CF560830}"/>
              </a:ext>
            </a:extLst>
          </p:cNvPr>
          <p:cNvCxnSpPr>
            <a:cxnSpLocks/>
          </p:cNvCxnSpPr>
          <p:nvPr/>
        </p:nvCxnSpPr>
        <p:spPr>
          <a:xfrm>
            <a:off x="312925" y="23464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C6C33BFE-7558-C294-F640-C779C46008D9}"/>
              </a:ext>
            </a:extLst>
          </p:cNvPr>
          <p:cNvSpPr txBox="1"/>
          <p:nvPr/>
        </p:nvSpPr>
        <p:spPr>
          <a:xfrm>
            <a:off x="335011" y="2333041"/>
            <a:ext cx="609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ko-KR" altLang="en-US" sz="1100">
                <a:solidFill>
                  <a:schemeClr val="dk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Arial"/>
              </a:rPr>
              <a:t>추진 프로세스</a:t>
            </a:r>
            <a:endParaRPr lang="en-US" altLang="ko-KR" sz="1100">
              <a:solidFill>
                <a:schemeClr val="dk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Arial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B0CCC1-9825-F598-4FA2-68A31CC6E9E3}"/>
              </a:ext>
            </a:extLst>
          </p:cNvPr>
          <p:cNvSpPr/>
          <p:nvPr/>
        </p:nvSpPr>
        <p:spPr>
          <a:xfrm>
            <a:off x="333477" y="2664250"/>
            <a:ext cx="5152923" cy="1403680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07C0403-1539-CED7-0AF9-8CB8C924544B}"/>
              </a:ext>
            </a:extLst>
          </p:cNvPr>
          <p:cNvCxnSpPr>
            <a:cxnSpLocks/>
          </p:cNvCxnSpPr>
          <p:nvPr/>
        </p:nvCxnSpPr>
        <p:spPr>
          <a:xfrm>
            <a:off x="1178023" y="2761292"/>
            <a:ext cx="0" cy="1226901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215A120A-B3EA-3BF7-DF48-3B4110243FC5}"/>
              </a:ext>
            </a:extLst>
          </p:cNvPr>
          <p:cNvSpPr txBox="1"/>
          <p:nvPr/>
        </p:nvSpPr>
        <p:spPr>
          <a:xfrm flipH="1">
            <a:off x="328468" y="2933403"/>
            <a:ext cx="85314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1.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및 서비스 개시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9CECCFB6-283F-E254-FDC4-1174FB73CFC8}"/>
              </a:ext>
            </a:extLst>
          </p:cNvPr>
          <p:cNvSpPr/>
          <p:nvPr/>
        </p:nvSpPr>
        <p:spPr>
          <a:xfrm>
            <a:off x="2146313" y="2761085"/>
            <a:ext cx="1563486" cy="324000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계획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5C17F28-F20E-A953-D615-C6CDCC77498E}"/>
              </a:ext>
            </a:extLst>
          </p:cNvPr>
          <p:cNvSpPr/>
          <p:nvPr/>
        </p:nvSpPr>
        <p:spPr>
          <a:xfrm>
            <a:off x="2944247" y="3484832"/>
            <a:ext cx="1568313" cy="324000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 개시 및 안정화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801CC410-90D0-555F-BB64-E5E605A148E5}"/>
              </a:ext>
            </a:extLst>
          </p:cNvPr>
          <p:cNvSpPr/>
          <p:nvPr/>
        </p:nvSpPr>
        <p:spPr>
          <a:xfrm>
            <a:off x="3780504" y="2761085"/>
            <a:ext cx="1571449" cy="324000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이용자 검증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AF62C80-CD55-CEBF-951E-B7062DEBD0BA}"/>
              </a:ext>
            </a:extLst>
          </p:cNvPr>
          <p:cNvSpPr/>
          <p:nvPr/>
        </p:nvSpPr>
        <p:spPr>
          <a:xfrm>
            <a:off x="333477" y="4172506"/>
            <a:ext cx="5152923" cy="1529246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1514EFBC-9E3C-3664-E317-1DBA2286D52E}"/>
              </a:ext>
            </a:extLst>
          </p:cNvPr>
          <p:cNvCxnSpPr>
            <a:cxnSpLocks/>
          </p:cNvCxnSpPr>
          <p:nvPr/>
        </p:nvCxnSpPr>
        <p:spPr>
          <a:xfrm>
            <a:off x="1178023" y="4297680"/>
            <a:ext cx="0" cy="1341408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B2545649-9C48-0D82-3074-1E9CB12BDE64}"/>
              </a:ext>
            </a:extLst>
          </p:cNvPr>
          <p:cNvSpPr txBox="1"/>
          <p:nvPr/>
        </p:nvSpPr>
        <p:spPr>
          <a:xfrm flipH="1">
            <a:off x="328468" y="4571839"/>
            <a:ext cx="853140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2. </a:t>
            </a:r>
            <a:b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연관 사업 협업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073C8261-0925-1404-991D-AF3E2345C017}"/>
              </a:ext>
            </a:extLst>
          </p:cNvPr>
          <p:cNvSpPr/>
          <p:nvPr/>
        </p:nvSpPr>
        <p:spPr>
          <a:xfrm>
            <a:off x="1263328" y="4598503"/>
            <a:ext cx="1955765" cy="324000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연관 사업 협업 방안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3AB7403A-8996-890A-6CDD-EA29E5E5D5E0}"/>
              </a:ext>
            </a:extLst>
          </p:cNvPr>
          <p:cNvSpPr/>
          <p:nvPr/>
        </p:nvSpPr>
        <p:spPr>
          <a:xfrm>
            <a:off x="3374864" y="4598503"/>
            <a:ext cx="1955765" cy="324000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운영 사업자 역할 정의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50C1E034-B501-BE51-FDBB-083B8B4B1211}"/>
              </a:ext>
            </a:extLst>
          </p:cNvPr>
          <p:cNvSpPr/>
          <p:nvPr/>
        </p:nvSpPr>
        <p:spPr>
          <a:xfrm>
            <a:off x="2342686" y="5224636"/>
            <a:ext cx="1967408" cy="324000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 관리 방안 수립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C567EC4-34C7-56B4-3ED3-8D422B6F9222}"/>
              </a:ext>
            </a:extLst>
          </p:cNvPr>
          <p:cNvSpPr/>
          <p:nvPr/>
        </p:nvSpPr>
        <p:spPr>
          <a:xfrm>
            <a:off x="5589352" y="4222240"/>
            <a:ext cx="995758" cy="1427567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 협업 방안 및 유지 관리 방안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3ECD52D2-CC69-6917-070D-E30BE8F2A834}"/>
              </a:ext>
            </a:extLst>
          </p:cNvPr>
          <p:cNvSpPr/>
          <p:nvPr/>
        </p:nvSpPr>
        <p:spPr>
          <a:xfrm>
            <a:off x="333477" y="5896858"/>
            <a:ext cx="5152923" cy="981724"/>
          </a:xfrm>
          <a:prstGeom prst="rect">
            <a:avLst/>
          </a:prstGeom>
          <a:noFill/>
          <a:ln>
            <a:solidFill>
              <a:srgbClr val="BADBE8"/>
            </a:solidFill>
          </a:ln>
          <a:effectLst>
            <a:outerShdw blurRad="241300" dist="38100" dir="5400000" algn="t" rotWithShape="0">
              <a:srgbClr val="9DCCDF">
                <a:alpha val="1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E2B27C5C-7F56-5149-3E64-5410BFA2A816}"/>
              </a:ext>
            </a:extLst>
          </p:cNvPr>
          <p:cNvCxnSpPr>
            <a:cxnSpLocks/>
          </p:cNvCxnSpPr>
          <p:nvPr/>
        </p:nvCxnSpPr>
        <p:spPr>
          <a:xfrm>
            <a:off x="1178023" y="5993899"/>
            <a:ext cx="0" cy="805433"/>
          </a:xfrm>
          <a:prstGeom prst="line">
            <a:avLst/>
          </a:prstGeom>
          <a:ln w="12700">
            <a:solidFill>
              <a:srgbClr val="9DCCD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B2340AF4-D0B4-4C04-86DA-345BA87BC37C}"/>
              </a:ext>
            </a:extLst>
          </p:cNvPr>
          <p:cNvSpPr txBox="1"/>
          <p:nvPr/>
        </p:nvSpPr>
        <p:spPr>
          <a:xfrm flipH="1">
            <a:off x="328468" y="5942050"/>
            <a:ext cx="85314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Step 3. </a:t>
            </a:r>
            <a:r>
              <a:rPr lang="ko-KR" altLang="en-US" sz="11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 반영 및 확장 설계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91A90E4-DCF5-B0D9-E7BC-68B9333DCD92}"/>
              </a:ext>
            </a:extLst>
          </p:cNvPr>
          <p:cNvSpPr/>
          <p:nvPr/>
        </p:nvSpPr>
        <p:spPr>
          <a:xfrm>
            <a:off x="2354329" y="596855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결과 반영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B04554A-CEDD-A899-C79A-6B260C7B7C3F}"/>
              </a:ext>
            </a:extLst>
          </p:cNvPr>
          <p:cNvSpPr/>
          <p:nvPr/>
        </p:nvSpPr>
        <p:spPr>
          <a:xfrm>
            <a:off x="2342684" y="6452683"/>
            <a:ext cx="1955765" cy="353258"/>
          </a:xfrm>
          <a:prstGeom prst="roundRect">
            <a:avLst>
              <a:gd name="adj" fmla="val 2315"/>
            </a:avLst>
          </a:prstGeom>
          <a:solidFill>
            <a:srgbClr val="D7EAF2"/>
          </a:solidFill>
          <a:ln w="12700">
            <a:solidFill>
              <a:srgbClr val="215F9A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10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방안 설계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57BE21E-629D-824D-6A6F-613D3FDAB4BF}"/>
              </a:ext>
            </a:extLst>
          </p:cNvPr>
          <p:cNvSpPr/>
          <p:nvPr/>
        </p:nvSpPr>
        <p:spPr>
          <a:xfrm>
            <a:off x="5589352" y="5976173"/>
            <a:ext cx="995758" cy="823159"/>
          </a:xfrm>
          <a:prstGeom prst="roundRect">
            <a:avLst>
              <a:gd name="adj" fmla="val 0"/>
            </a:avLst>
          </a:prstGeom>
          <a:solidFill>
            <a:srgbClr val="D7EAF2"/>
          </a:solidFill>
          <a:ln>
            <a:solidFill>
              <a:srgbClr val="BADBE8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r>
              <a:rPr lang="ko-KR" altLang="en-US" sz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194EA7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 확장 방안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B888A53C-2637-2E5C-A9DE-1631E527F461}"/>
              </a:ext>
            </a:extLst>
          </p:cNvPr>
          <p:cNvSpPr txBox="1"/>
          <p:nvPr/>
        </p:nvSpPr>
        <p:spPr>
          <a:xfrm>
            <a:off x="4850304" y="7002587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SW </a:t>
            </a:r>
            <a:r>
              <a:rPr lang="ko-KR" altLang="en-US" sz="1000">
                <a:solidFill>
                  <a:srgbClr val="C000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결과물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9F9E69B-4CD1-5909-1D1D-7333F7478EC8}"/>
              </a:ext>
            </a:extLst>
          </p:cNvPr>
          <p:cNvSpPr txBox="1"/>
          <p:nvPr/>
        </p:nvSpPr>
        <p:spPr>
          <a:xfrm>
            <a:off x="5614752" y="7002587"/>
            <a:ext cx="110479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전략 산출물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E7035CD-A1CE-3E1B-0722-90A6C3BAE92D}"/>
              </a:ext>
            </a:extLst>
          </p:cNvPr>
          <p:cNvSpPr txBox="1"/>
          <p:nvPr/>
        </p:nvSpPr>
        <p:spPr>
          <a:xfrm>
            <a:off x="1178023" y="2794954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`26</a:t>
            </a:r>
            <a:r>
              <a:rPr lang="ko-KR" altLang="en-US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lang="ko-KR" altLang="en-US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1746E75-0CBE-576A-2F2F-04220F91296B}"/>
              </a:ext>
            </a:extLst>
          </p:cNvPr>
          <p:cNvSpPr txBox="1"/>
          <p:nvPr/>
        </p:nvSpPr>
        <p:spPr>
          <a:xfrm>
            <a:off x="1970407" y="3543715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`27</a:t>
            </a:r>
            <a:r>
              <a:rPr lang="ko-KR" altLang="en-US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</a:t>
            </a:r>
            <a:r>
              <a:rPr lang="en-US" altLang="ko-KR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0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</a:t>
            </a:r>
          </a:p>
        </p:txBody>
      </p:sp>
      <p:sp>
        <p:nvSpPr>
          <p:cNvPr id="77" name="이등변 삼각형 76">
            <a:extLst>
              <a:ext uri="{FF2B5EF4-FFF2-40B4-BE49-F238E27FC236}">
                <a16:creationId xmlns:a16="http://schemas.microsoft.com/office/drawing/2014/main" id="{CDF5DFB1-C863-F7AD-B755-BB6163FA728F}"/>
              </a:ext>
            </a:extLst>
          </p:cNvPr>
          <p:cNvSpPr/>
          <p:nvPr/>
        </p:nvSpPr>
        <p:spPr>
          <a:xfrm rot="10800000">
            <a:off x="2707423" y="3202333"/>
            <a:ext cx="2041963" cy="170339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BA2832DA-9040-8703-47CB-0EA6C71CA4CA}"/>
              </a:ext>
            </a:extLst>
          </p:cNvPr>
          <p:cNvCxnSpPr>
            <a:stCxn id="49" idx="2"/>
            <a:endCxn id="50" idx="0"/>
          </p:cNvCxnSpPr>
          <p:nvPr/>
        </p:nvCxnSpPr>
        <p:spPr>
          <a:xfrm flipH="1">
            <a:off x="3320567" y="6321811"/>
            <a:ext cx="0" cy="13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1B0BA70E-8CFF-A7D8-BA32-D4588DE0D6F1}"/>
              </a:ext>
            </a:extLst>
          </p:cNvPr>
          <p:cNvSpPr/>
          <p:nvPr/>
        </p:nvSpPr>
        <p:spPr>
          <a:xfrm>
            <a:off x="3738204" y="4271634"/>
            <a:ext cx="1229084" cy="260111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8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 Hub </a:t>
            </a:r>
            <a:r>
              <a: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사업자</a:t>
            </a: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C0964079-16B5-C924-B80A-0A7D5AD00CFD}"/>
              </a:ext>
            </a:extLst>
          </p:cNvPr>
          <p:cNvSpPr/>
          <p:nvPr/>
        </p:nvSpPr>
        <p:spPr>
          <a:xfrm>
            <a:off x="1263328" y="4271634"/>
            <a:ext cx="961712" cy="260111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800" dirty="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고속도로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2F600186-3648-04DA-992F-F8851DB752C1}"/>
              </a:ext>
            </a:extLst>
          </p:cNvPr>
          <p:cNvSpPr/>
          <p:nvPr/>
        </p:nvSpPr>
        <p:spPr>
          <a:xfrm>
            <a:off x="2260063" y="4271634"/>
            <a:ext cx="961712" cy="260111"/>
          </a:xfrm>
          <a:prstGeom prst="roundRect">
            <a:avLst>
              <a:gd name="adj" fmla="val 2315"/>
            </a:avLst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7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800">
                <a:solidFill>
                  <a:prstClr val="black">
                    <a:lumMod val="75000"/>
                    <a:lumOff val="25000"/>
                  </a:prst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 위원회</a:t>
            </a:r>
            <a:endParaRPr lang="ko-KR" altLang="en-US" sz="800" dirty="0">
              <a:solidFill>
                <a:prstClr val="black">
                  <a:lumMod val="75000"/>
                  <a:lumOff val="25000"/>
                </a:prstClr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5" name="이등변 삼각형 84">
            <a:extLst>
              <a:ext uri="{FF2B5EF4-FFF2-40B4-BE49-F238E27FC236}">
                <a16:creationId xmlns:a16="http://schemas.microsoft.com/office/drawing/2014/main" id="{788D923F-B0BD-F7FA-4C0E-0BC0715DC024}"/>
              </a:ext>
            </a:extLst>
          </p:cNvPr>
          <p:cNvSpPr/>
          <p:nvPr/>
        </p:nvSpPr>
        <p:spPr>
          <a:xfrm rot="10800000">
            <a:off x="2299583" y="4994197"/>
            <a:ext cx="2054119" cy="170339"/>
          </a:xfrm>
          <a:prstGeom prst="triangle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6200000" scaled="0"/>
          </a:gradFill>
          <a:ln w="635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spcBef>
                <a:spcPts val="600"/>
              </a:spcBef>
            </a:pPr>
            <a:endParaRPr lang="ko-KR" altLang="en-US" sz="1200" err="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7168089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14B754-6FB5-C5AE-348E-719AB9A5C7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DB87F6C-FB3F-08C7-008F-DAA7E0B3D87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0E71DD5-AB08-72C6-3FCB-93E90964B199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AB7977A-EEBC-334F-827E-B2B392A277A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시범 운영 계획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C8E95F-22A6-A9AB-09AE-4FE4A48D9AA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시범 운영 및 서비스 개시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CA5EB58-F25E-A947-B575-0CC24D3AFAD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 인원만을 대상으로 단일 범위의 시범 운영을 실시하고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안정화 확인 후에만 일반 서비스로 전환하는 계획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4F483E3-4E4B-3E1C-2950-2057B631EB2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9BDF6D5-76AE-BD6E-2D18-A06414A59B6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계획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1535078-0D91-EC0C-6C01-731766A68B93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TR-002, DR-011</a:t>
            </a:r>
          </a:p>
        </p:txBody>
      </p:sp>
      <p:sp>
        <p:nvSpPr>
          <p:cNvPr id="14" name="모서리가 둥근 직사각형 222">
            <a:extLst>
              <a:ext uri="{FF2B5EF4-FFF2-40B4-BE49-F238E27FC236}">
                <a16:creationId xmlns:a16="http://schemas.microsoft.com/office/drawing/2014/main" id="{C1526932-0539-76A6-B73B-1252E62D45B8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2902548-6231-5EC1-CB4D-08C301D64366}"/>
              </a:ext>
            </a:extLst>
          </p:cNvPr>
          <p:cNvSpPr/>
          <p:nvPr/>
        </p:nvSpPr>
        <p:spPr>
          <a:xfrm>
            <a:off x="316309" y="2639881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대상자 정의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시범 운영 대상을 내부 인원으로 한정하고 외부 일반이용자는 제외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5" name="Table 0">
            <a:extLst>
              <a:ext uri="{FF2B5EF4-FFF2-40B4-BE49-F238E27FC236}">
                <a16:creationId xmlns:a16="http://schemas.microsoft.com/office/drawing/2014/main" id="{6EE95EA3-AF1C-786D-7168-B9E668B75BDA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247692"/>
          <a:ext cx="6142863" cy="1226820"/>
        </p:xfrm>
        <a:graphic>
          <a:graphicData uri="http://schemas.openxmlformats.org/drawingml/2006/table">
            <a:tbl>
              <a:tblPr/>
              <a:tblGrid>
                <a:gridCol w="1906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6360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2880359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 여부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 담당자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업무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운영인력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일상 운영 업무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 참여인력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 오류 점검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697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 일반이용자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정식 오픈 이후 공개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114352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A0DF532D-A71C-4B60-3196-A4C39EF760F3}"/>
              </a:ext>
            </a:extLst>
          </p:cNvPr>
          <p:cNvSpPr txBox="1"/>
          <p:nvPr/>
        </p:nvSpPr>
        <p:spPr>
          <a:xfrm>
            <a:off x="1090769" y="295243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대상자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0727600-27B6-CB3E-CCE2-AC007918E81B}"/>
              </a:ext>
            </a:extLst>
          </p:cNvPr>
          <p:cNvSpPr/>
          <p:nvPr/>
        </p:nvSpPr>
        <p:spPr>
          <a:xfrm>
            <a:off x="316309" y="4506413"/>
            <a:ext cx="6286697" cy="190243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(공개 범위 정의) 개발 완료된 기능과 이관 완료된 데이터를 전체 공개하되 외부 반출 경로만 차단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공개 판단기준 = 개발 완료 여부 AND 이관 완료 여부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두 조건을 모두 충족한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기능·데이터만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시범 운영에 포함, 복잡한 등급 구분 없이 이 기준 하나로 판정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(외부 경로 차단 규칙) 시범 운영 기간 중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다운로드·API·스트리밍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 외부 제공 경로는 비활성화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제공 활성화 여부 = 시범 운영 종료 이후로 고정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(일정 구조) 1개월을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준비·수행·집중조치·판정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4단계로 나누고,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대상자·공개범위는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전 기간 고정한 상태로 오류 조치만 주차별로 누적 관리하는 일정 구성</a:t>
            </a: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251E3C65-7745-4B97-AF7C-96D32118E6A3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6754258"/>
          <a:ext cx="6142863" cy="1714500"/>
        </p:xfrm>
        <a:graphic>
          <a:graphicData uri="http://schemas.openxmlformats.org/drawingml/2006/table">
            <a:tbl>
              <a:tblPr/>
              <a:tblGrid>
                <a:gridCol w="1212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1100">
                  <a:extLst>
                    <a:ext uri="{9D8B030D-6E8A-4147-A177-3AD203B41FA5}">
                      <a16:colId xmlns:a16="http://schemas.microsoft.com/office/drawing/2014/main" val="3946658942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2967989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핵심 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사전준비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D-3~D-1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준비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 인원 계정 발급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접근권한 부여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접수창구 개설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1~7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기능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공개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수행 시작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일일점검 개시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8~14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 병행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주간보고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697635"/>
                  </a:ext>
                </a:extLst>
              </a:tr>
              <a:tr h="1950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15~21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 병행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주간보고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8421375"/>
                  </a:ext>
                </a:extLst>
              </a:tr>
              <a:tr h="1463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22~28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집중조치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잔여 오류 집중 조치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오류 최소화 집중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15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29~30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점검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여부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0117441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1FB25655-9127-73FE-AF4D-B93CEBB78493}"/>
              </a:ext>
            </a:extLst>
          </p:cNvPr>
          <p:cNvSpPr txBox="1"/>
          <p:nvPr/>
        </p:nvSpPr>
        <p:spPr>
          <a:xfrm>
            <a:off x="1090769" y="645900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전체 일정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52F85FA-BCA5-5958-9542-40C82FFB345A}"/>
              </a:ext>
            </a:extLst>
          </p:cNvPr>
          <p:cNvSpPr/>
          <p:nvPr/>
        </p:nvSpPr>
        <p:spPr>
          <a:xfrm>
            <a:off x="316309" y="8534401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 체계 정의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시범 운영 중 상시 오류 접수를 진행하고 매일 플랫폼 기능에 대한 일일 점검을 진행하여 피드백을 수집하는 체계 운영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0" name="Google Shape;4558;p82">
            <a:extLst>
              <a:ext uri="{FF2B5EF4-FFF2-40B4-BE49-F238E27FC236}">
                <a16:creationId xmlns:a16="http://schemas.microsoft.com/office/drawing/2014/main" id="{B40E70A3-98B1-F9B7-F054-30A947773D3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48803763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9E265C-C1BF-7170-9534-5637FC559B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1876439-6217-290C-1085-75F655249CC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8914C57-ED30-013D-5D55-6EAD17DAE77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D2FFA06-ABA3-A044-12EE-2D77B66BC1FA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서비스 개시 및 안정화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55DE4CD-C962-10F1-5FA9-A6C60870923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시범 운영 및 서비스 개시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9BB746B-34CB-EF97-82C8-DA8FDE71601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한 달간 시범운영을 계속 수행하면서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결과물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오류 조치 이력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실제 이용 데이터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점검 결과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을 그대로 개방 준비 자료로 전환하는 병행 체계 수립</a:t>
            </a:r>
            <a:endParaRPr lang="en-US" altLang="ko-KR" sz="120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1F0A758-53F3-D74A-27D3-AC07CCDA657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098E309-80A4-1EBE-E3A7-75A0977E9C2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 개시 및 안정화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CD13AE-73F6-EEA8-9BD1-C2E6684848D8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TR-002, OR-007</a:t>
            </a:r>
          </a:p>
        </p:txBody>
      </p:sp>
      <p:sp>
        <p:nvSpPr>
          <p:cNvPr id="11" name="모서리가 둥근 직사각형 222">
            <a:extLst>
              <a:ext uri="{FF2B5EF4-FFF2-40B4-BE49-F238E27FC236}">
                <a16:creationId xmlns:a16="http://schemas.microsoft.com/office/drawing/2014/main" id="{9A8570F0-64DD-FD2F-E2D8-9793CB237151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C616AD-2433-6605-302F-2DDA9E82D0E1}"/>
              </a:ext>
            </a:extLst>
          </p:cNvPr>
          <p:cNvSpPr/>
          <p:nvPr/>
        </p:nvSpPr>
        <p:spPr>
          <a:xfrm>
            <a:off x="316309" y="268274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준비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12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월을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시범운영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 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개방준비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"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두 개로 나누되 서로 다른 활동이 아니라 같은 활동의 결과를 다른 목적으로 재사용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5" name="Table 0">
            <a:extLst>
              <a:ext uri="{FF2B5EF4-FFF2-40B4-BE49-F238E27FC236}">
                <a16:creationId xmlns:a16="http://schemas.microsoft.com/office/drawing/2014/main" id="{7D88BD63-38F9-4AE5-AA8E-0968912A73EC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480549"/>
          <a:ext cx="6142864" cy="1043940"/>
        </p:xfrm>
        <a:graphic>
          <a:graphicData uri="http://schemas.openxmlformats.org/drawingml/2006/table">
            <a:tbl>
              <a:tblPr/>
              <a:tblGrid>
                <a:gridCol w="8469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34540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737360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3565293434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 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 결과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재사용 목적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내부 인원 업무 수행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발견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조치 이력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 건수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개방준비 축의 완료조건 판정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개방준비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 결과를 매뉴얼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자료로 전환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매뉴얼 확정본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점검결과서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개방 게이트 통과 근거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6E75FFCA-0286-E3A0-4F54-75272EBC87F0}"/>
              </a:ext>
            </a:extLst>
          </p:cNvPr>
          <p:cNvSpPr txBox="1"/>
          <p:nvPr/>
        </p:nvSpPr>
        <p:spPr>
          <a:xfrm>
            <a:off x="1090769" y="318529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 준비 주요 활동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656B438-999A-30BD-D7A4-1DB2F65A1E2B}"/>
              </a:ext>
            </a:extLst>
          </p:cNvPr>
          <p:cNvSpPr/>
          <p:nvPr/>
        </p:nvSpPr>
        <p:spPr>
          <a:xfrm>
            <a:off x="316309" y="456674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주차별 병행 배치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매주 시범운영을 계속하면서</a:t>
            </a:r>
            <a:r>
              <a:rPr kumimoji="1" lang="en-US" altLang="ko-KR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그 주에 쌓인 결과를 개방준비 산출물로 동시 전환</a:t>
            </a:r>
            <a:endParaRPr kumimoji="1" lang="ko-KR" altLang="ko-KR" sz="120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1EADE5AE-DFAB-B073-FF54-E1D3E7F825E4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174625"/>
          <a:ext cx="6142865" cy="1280160"/>
        </p:xfrm>
        <a:graphic>
          <a:graphicData uri="http://schemas.openxmlformats.org/drawingml/2006/table">
            <a:tbl>
              <a:tblPr/>
              <a:tblGrid>
                <a:gridCol w="11264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08222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2508222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 축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계속 진행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개방준비 축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병행 전환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수행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 누적 오류를 매뉴얼 초안에 반영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1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수행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누적 오류 패턴을 운영전환계획서에 반영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851663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수행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오류접수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누적 처리 데이터로 보안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성능점검 실시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528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 수행 마무리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 오류 최소화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매뉴얼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계획서 확정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리허설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32962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438DE7D-0BBE-D83B-0EAD-0BBCCF338215}"/>
              </a:ext>
            </a:extLst>
          </p:cNvPr>
          <p:cNvSpPr txBox="1"/>
          <p:nvPr/>
        </p:nvSpPr>
        <p:spPr>
          <a:xfrm>
            <a:off x="1090769" y="4879371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12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 주차별 병행 활동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7C06088-CA00-665E-EDE4-387C8ED2FB40}"/>
              </a:ext>
            </a:extLst>
          </p:cNvPr>
          <p:cNvSpPr/>
          <p:nvPr/>
        </p:nvSpPr>
        <p:spPr>
          <a:xfrm>
            <a:off x="316309" y="6532652"/>
            <a:ext cx="6286697" cy="1152999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개방준비 완료조건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시범운영의 결과를 근거로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조건을 판정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게이트 공식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4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조건 전부 충족 시에만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월 개방으로 전환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 게이트 통과 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=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오류조건 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AND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매뉴얼조건 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AND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점검조건 </a:t>
            </a:r>
            <a:r>
              <a:rPr kumimoji="1" lang="en-US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AND 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승인조건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하나라도 </a:t>
            </a:r>
            <a:r>
              <a:rPr kumimoji="1" lang="ko-KR" altLang="en-US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미충족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 시범운영을 유지한 채 개방을 다음 주기로 연기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51DAFDA3-7786-FFAD-0D00-289757CC94B0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197907"/>
          <a:ext cx="6142864" cy="1280160"/>
        </p:xfrm>
        <a:graphic>
          <a:graphicData uri="http://schemas.openxmlformats.org/drawingml/2006/table">
            <a:tbl>
              <a:tblPr/>
              <a:tblGrid>
                <a:gridCol w="18127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30065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판정 기준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 축 근거</a:t>
                      </a:r>
                      <a:r>
                        <a:rPr lang="en-US" altLang="ko-KR" sz="1050" b="1" kern="120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50" b="1" kern="1200">
                        <a:solidFill>
                          <a:srgbClr val="FFFFFF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주차 종료 시점 미조치 오류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0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1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매뉴얼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 중 발견된 오류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문의사항이 매뉴얼에 반영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7851663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점검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 누적 데이터 기준 보안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성능점검 통과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528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조건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 조건과 리허설 결과를 발주기관이 확인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32962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AB86BA8E-4D4E-A7B8-7780-BCB9DCF5C533}"/>
              </a:ext>
            </a:extLst>
          </p:cNvPr>
          <p:cNvSpPr txBox="1"/>
          <p:nvPr/>
        </p:nvSpPr>
        <p:spPr>
          <a:xfrm>
            <a:off x="1090769" y="790265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개방준비 완료조건 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Google Shape;4558;p82">
            <a:extLst>
              <a:ext uri="{FF2B5EF4-FFF2-40B4-BE49-F238E27FC236}">
                <a16:creationId xmlns:a16="http://schemas.microsoft.com/office/drawing/2014/main" id="{968741CD-8FAB-FC68-8290-79F5F265B55F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726060980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F295C0-A972-2140-4EC5-7F6D1AB93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CB304E65-E31A-72B4-DD74-325766B36BA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669CD2D-4537-7D4F-6C9C-1658EB2CCA81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EE8AAF7-52C7-DF4A-966B-FFE88EB3FF6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이용자 검증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F476046-D150-FD5B-1DFB-26ED3C2E605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 dirty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lang="ko-KR" altLang="en-US" sz="1500" spc="-19" dirty="0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시범 운영 및 서비스 개시</a:t>
            </a:r>
            <a:endParaRPr kumimoji="0" lang="ko-KR" altLang="en-US" sz="1500" b="0" i="0" u="none" strike="noStrike" kern="1200" cap="none" spc="-19" normalizeH="0" baseline="0" noProof="0" dirty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4980B4A-0F1C-1AAF-E9C3-5FF334B5375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 유형별로 실제 업무를 처음부터 끝까지 직접 수행하게 하면서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과정에서 겪는 불편함과 시스템 반응 속도를 동시에 측정하는 검증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3B0FD08-9E6F-00BB-0FC5-329063C1C60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6FD1DA4-5DBE-93C9-AA97-156878C3E14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이용자 검증 방법론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F4581DE-73C0-344F-6BCD-0BC60956D0FC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TR-002, QUR-002</a:t>
            </a:r>
          </a:p>
        </p:txBody>
      </p:sp>
      <p:sp>
        <p:nvSpPr>
          <p:cNvPr id="8" name="모서리가 둥근 직사각형 222">
            <a:extLst>
              <a:ext uri="{FF2B5EF4-FFF2-40B4-BE49-F238E27FC236}">
                <a16:creationId xmlns:a16="http://schemas.microsoft.com/office/drawing/2014/main" id="{4BC03525-3BA8-60D9-E567-BBCD9A4289AA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1B67ACD-7522-5F0E-FE9D-15E31DF53A0E}"/>
              </a:ext>
            </a:extLst>
          </p:cNvPr>
          <p:cNvSpPr/>
          <p:nvPr/>
        </p:nvSpPr>
        <p:spPr>
          <a:xfrm>
            <a:off x="316309" y="268274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사용자 유형별 실행 과제 정의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5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 사용자 유형에 각각 실제로 시켜볼 업무를 구체적으로 지정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2" name="Table 0">
            <a:extLst>
              <a:ext uri="{FF2B5EF4-FFF2-40B4-BE49-F238E27FC236}">
                <a16:creationId xmlns:a16="http://schemas.microsoft.com/office/drawing/2014/main" id="{ECE1328E-63E5-82CB-2995-056614AF0D8C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3277349"/>
          <a:ext cx="6114924" cy="1524000"/>
        </p:xfrm>
        <a:graphic>
          <a:graphicData uri="http://schemas.openxmlformats.org/drawingml/2006/table">
            <a:tbl>
              <a:tblPr/>
              <a:tblGrid>
                <a:gridCol w="13524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81400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181100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실제로 시켜볼 업무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완료 기준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5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일반이용자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검색 → 상세조회 → 다운로드 신청 → 다운로드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중단 없이 끝까지 완료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5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기관담당자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제공기관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 → 메타데이터 입력 → 승인 요청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  <a:tr h="2545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등록된 데이터 품질검수 → 보완 요청 → 재검수 → 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870954"/>
                  </a:ext>
                </a:extLst>
              </a:tr>
              <a:tr h="2545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이용신청 승인 → 이용현황 모니터링 화면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007285"/>
                  </a:ext>
                </a:extLst>
              </a:tr>
              <a:tr h="25450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 변경 → 통계 대시보드 조회 → 장애 알림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endParaRPr lang="ko-KR" altLang="en-US" sz="1000" kern="1200" dirty="0">
                        <a:solidFill>
                          <a:srgbClr val="222222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7772310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C17BB878-327A-7813-1050-36AA2215DEE7}"/>
              </a:ext>
            </a:extLst>
          </p:cNvPr>
          <p:cNvSpPr txBox="1"/>
          <p:nvPr/>
        </p:nvSpPr>
        <p:spPr>
          <a:xfrm>
            <a:off x="1090769" y="298209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 유형별 실행 과제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BDDC424-0907-9CF0-8A19-675E23514EFE}"/>
              </a:ext>
            </a:extLst>
          </p:cNvPr>
          <p:cNvSpPr/>
          <p:nvPr/>
        </p:nvSpPr>
        <p:spPr>
          <a:xfrm>
            <a:off x="316309" y="4819604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수행 중 관찰 항목 정의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과제 수행 중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가지를 직접 관찰하고 기록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6" name="Table 0">
            <a:extLst>
              <a:ext uri="{FF2B5EF4-FFF2-40B4-BE49-F238E27FC236}">
                <a16:creationId xmlns:a16="http://schemas.microsoft.com/office/drawing/2014/main" id="{A92FE6E8-BC1C-9B01-42B8-94BFE3174328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5414208"/>
          <a:ext cx="6114924" cy="1036320"/>
        </p:xfrm>
        <a:graphic>
          <a:graphicData uri="http://schemas.openxmlformats.org/drawingml/2006/table">
            <a:tbl>
              <a:tblPr/>
              <a:tblGrid>
                <a:gridCol w="1806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08553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</a:tblGrid>
              <a:tr h="12001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관찰 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기록 방법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이탈 발생 지점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어느 화면에서 멈췄는지 화면명 기록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718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재질문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재확인 발생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이용자가 되묻거나 헤맨 지점 기록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과제 완료까지 걸린 시간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시작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완료 시각 기록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870954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155028E0-3DBB-7328-64F9-83C3EF3AFC76}"/>
              </a:ext>
            </a:extLst>
          </p:cNvPr>
          <p:cNvSpPr txBox="1"/>
          <p:nvPr/>
        </p:nvSpPr>
        <p:spPr>
          <a:xfrm>
            <a:off x="1090769" y="5118954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수행 중 관찰 항목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4441626-1562-66B2-EBCF-F5C99C800A5F}"/>
              </a:ext>
            </a:extLst>
          </p:cNvPr>
          <p:cNvSpPr/>
          <p:nvPr/>
        </p:nvSpPr>
        <p:spPr>
          <a:xfrm>
            <a:off x="316309" y="6532947"/>
            <a:ext cx="6286697" cy="276882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(문제 심각도 판정 공식) 관찰된 문제를 3단계로 분류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심각 = 과제를 끝내지 못하고 중단한 경우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보통 = 끝냈지만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재질문·재확인이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2회 이상 발생한 경우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경미 = 끝냈고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재질문·재확인이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1회 이하인 경우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(안정성 지표 산출 공식) 과제 수행 중 시스템 반응을 자동 측정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오류율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(%) = 과제 수행 중 오류 발생 횟수 ÷ 전체 과제 수행 횟수 × 100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평균 응답시간 = 화면 요청부터 결과 표시까지 걸린 시간의 평균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처리 성공률(%) = 정상 완료 건수 ÷ 전체 시도 건수 × 100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웹·모바일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호환성 점검 항목) 주요 환경 조합에서 동일 과제를 반복 수행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완료 판정 공식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전체 유형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전체 과제가 심각 등급 없이 끝나야 검증 완료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40652223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03322-B9B9-1465-4F38-DE8C51728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483F695E-63F3-7A9A-4C27-CDFB72B0EFB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FDAF756-E9D8-1B86-F0F7-08684E6C0C12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01CBAF-5280-5B0A-F61F-5DE75742A80C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연관 사업 협업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8AA295A-8D5E-6805-8DBE-C33C316A16A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연관 사업 협업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29A32C1-22A0-7116-3A9E-AEAAC36A32F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고속도로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저작권위원회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등 본 사업과 연계하기 위한 사업을 도출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DFE62EB-D33F-E716-A1B9-8243162A4B2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C672F92-DF01-7A42-CD91-87B287775A9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연관 사업 협업 방안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CB052E9-0BE3-6C18-024C-8FB8AEDD54D0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OR-011, OR-012</a:t>
            </a:r>
          </a:p>
        </p:txBody>
      </p:sp>
      <p:sp>
        <p:nvSpPr>
          <p:cNvPr id="10" name="모서리가 둥근 직사각형 222">
            <a:extLst>
              <a:ext uri="{FF2B5EF4-FFF2-40B4-BE49-F238E27FC236}">
                <a16:creationId xmlns:a16="http://schemas.microsoft.com/office/drawing/2014/main" id="{CCFDEB8E-135D-6D30-3225-F5608F84DEDB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B9928B4-2020-2F2D-546F-393532D7C8B0}"/>
              </a:ext>
            </a:extLst>
          </p:cNvPr>
          <p:cNvSpPr/>
          <p:nvPr/>
        </p:nvSpPr>
        <p:spPr>
          <a:xfrm>
            <a:off x="316309" y="2682745"/>
            <a:ext cx="6286697" cy="5029445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거버넌스 연관사업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2026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월 데이터관계부처가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'AI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대전환 시대 데이터 정책 추진방향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'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을 발표하며 민간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공공 데이터를 연계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개방하는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'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고속도로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'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구축을 추진하고 있으며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국가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기본계획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(2026~2028)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에서도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거버넌스 정립을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조성의 전제조건으로 명시하고 있어 이 상위 거버넌스 정책과의 정합성 확보가 협업 대상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협업 방식: 정책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발표·개정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시점마다 본 시스템 데이터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등급·개방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기준과 대조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실행 항목: 불일치 발견 시 발주기관 통해 소관부처 확인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저작권위원회 연관사업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문체부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저작권위원회가 권리정보 제공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유통 기반을 구축해 학습데이터 권리자 확인 거래비용을 낮추는 사업을 추진 중이며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과기정통부는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본 통합제공체계를 통해 저작권 권리정보체계와 민간 데이터 거래소를 연계하는 방향을 정책적으로 확정한 상태라 저작권위원회 시스템과의 연계가 협업 대상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협업 방식: 본 시스템 저작권 메타데이터 항목과 권리정보체계 항목 매핑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실행 항목: 실시간 연동 항목과 주기적 동기화 항목 구분 확정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인프라 연관사업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 산출물인 자원산정서를 넘겨받아 실제 장비를 조달하는 별도 인프라 사업이 협업 대상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(4.1.3·4.1.4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에서 다룬 산출물 인수 대상과 동일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협업 방식: 조달 낙찰 후 실제 사양과 자원산정서 사양 대조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실행 항목: 불일치 시 설계 영향도 평가 후 재계산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(ISP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연관사업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 착수 전 수행된 선행 정보화전략계획 산출물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목표모델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기능요구사항 초안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과의 정합성 확인이 협업 대상</a:t>
            </a:r>
            <a:endParaRPr kumimoji="1" lang="en-US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협업 방식: 착수 초기 ISP 산출물-요구사항 대조표 작성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실행 항목: 불일치 항목만 발주기관과 협의해 반영 결정</a:t>
            </a:r>
          </a:p>
        </p:txBody>
      </p:sp>
      <p:graphicFrame>
        <p:nvGraphicFramePr>
          <p:cNvPr id="14" name="Table 0">
            <a:extLst>
              <a:ext uri="{FF2B5EF4-FFF2-40B4-BE49-F238E27FC236}">
                <a16:creationId xmlns:a16="http://schemas.microsoft.com/office/drawing/2014/main" id="{77E07744-F4FE-7E34-9200-03388F698267}"/>
              </a:ext>
            </a:extLst>
          </p:cNvPr>
          <p:cNvGraphicFramePr>
            <a:graphicFrameLocks noGrp="1"/>
          </p:cNvGraphicFramePr>
          <p:nvPr/>
        </p:nvGraphicFramePr>
        <p:xfrm>
          <a:off x="349376" y="8090659"/>
          <a:ext cx="6114924" cy="1446646"/>
        </p:xfrm>
        <a:graphic>
          <a:graphicData uri="http://schemas.openxmlformats.org/drawingml/2006/table">
            <a:tbl>
              <a:tblPr/>
              <a:tblGrid>
                <a:gridCol w="13524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2400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2070100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28655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연관사업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지점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거버넌스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데이터관계부처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과기정통부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행안부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문체부 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고속도로 정책과의 정합성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저작권위원회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한국저작권위원회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문체부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권리정보체계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민간데이터거래소 연계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인프라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후속 인프라 조달 사업자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자원산정서 인수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장비 발주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870954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ISP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선행 컨설팅 수행 조직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목표모델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 정합성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4007285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855C8F6E-DD49-A7F5-133F-835DAB9CA4DF}"/>
              </a:ext>
            </a:extLst>
          </p:cNvPr>
          <p:cNvSpPr txBox="1"/>
          <p:nvPr/>
        </p:nvSpPr>
        <p:spPr>
          <a:xfrm>
            <a:off x="1090769" y="7728540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연관 사업 요약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93460213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BBA5D1-9D60-91C2-3F20-1273A2C40E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0C321789-57A4-7882-0453-9F5C28BA2E0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ADF83B7-E868-7273-70DD-CED38FF1EF03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2E4D35-488F-1830-A0B3-FAC99C8441D2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연관 사업 협업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C2C012-A128-EA48-9389-C2EA76CD415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연관 사업 협업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E91F158-723F-7B62-0175-1DB895FCDCC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협의체를 구성하여 월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 이상 회의를 통해 정책과 본 사업의 정합성을 주기적으로 검증하고 본 사업에 반영할 수 있도록 운영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C83776F-6259-0933-7C48-6065537EE26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041B39F-D2EE-E917-A503-ADF6E06BB316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저작권위원회 협업 방안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(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예시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)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82715CD5-38D2-9A53-9481-27D4D199F226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OR-011, OR-012</a:t>
            </a:r>
          </a:p>
        </p:txBody>
      </p:sp>
      <p:sp>
        <p:nvSpPr>
          <p:cNvPr id="10" name="모서리가 둥근 직사각형 222">
            <a:extLst>
              <a:ext uri="{FF2B5EF4-FFF2-40B4-BE49-F238E27FC236}">
                <a16:creationId xmlns:a16="http://schemas.microsoft.com/office/drawing/2014/main" id="{C7C07636-9EE6-2AAB-A9BC-D958B2E88901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0C01BF6-7B7E-2B09-542E-F1E00BC16532}"/>
              </a:ext>
            </a:extLst>
          </p:cNvPr>
          <p:cNvSpPr/>
          <p:nvPr/>
        </p:nvSpPr>
        <p:spPr>
          <a:xfrm>
            <a:off x="316309" y="268274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추진체계 구성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저작권위원회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발주기관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자로 추진체계를 구축하고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각 주체의 역할과 결정권한을 미리 나눠 협의가 공전되지 않도록 구성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5" name="Table 0">
            <a:extLst>
              <a:ext uri="{FF2B5EF4-FFF2-40B4-BE49-F238E27FC236}">
                <a16:creationId xmlns:a16="http://schemas.microsoft.com/office/drawing/2014/main" id="{EB288966-30F4-5354-1A4E-7B47801B7449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3565879"/>
          <a:ext cx="6114924" cy="1475270"/>
        </p:xfrm>
        <a:graphic>
          <a:graphicData uri="http://schemas.openxmlformats.org/drawingml/2006/table">
            <a:tbl>
              <a:tblPr/>
              <a:tblGrid>
                <a:gridCol w="10507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3050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1825894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695181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28655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참여 인원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결정권한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사업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기능 설계 담당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PM 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메타데이터 항목 제시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연동방식 제안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시스템 설계 반영 여부 결정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저작권위원회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권리정보체계 담당자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 담당자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권리정보체계 항목 제시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정책 정합성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권리정보체계 항목 공개범위 결정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 담당자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양측 이견 발생 시 조정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이견 조정 및 최종 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870954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4BFC1B98-B462-414D-09D9-CDE2E328EECC}"/>
              </a:ext>
            </a:extLst>
          </p:cNvPr>
          <p:cNvSpPr txBox="1"/>
          <p:nvPr/>
        </p:nvSpPr>
        <p:spPr>
          <a:xfrm>
            <a:off x="1090769" y="327062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추진체계 구성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3821EFD-E4C6-BCE5-2E0E-D40B33B41343}"/>
              </a:ext>
            </a:extLst>
          </p:cNvPr>
          <p:cNvSpPr/>
          <p:nvPr/>
        </p:nvSpPr>
        <p:spPr>
          <a:xfrm>
            <a:off x="316309" y="5059404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회의 운영 규칙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정기회의 월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회를 기본 축으로 하고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이견 발생 시에만 수시회의를 추가하는 이원 운영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90C03397-5883-F990-112E-A6E9DD05BAF7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5870559"/>
          <a:ext cx="6114924" cy="972814"/>
        </p:xfrm>
        <a:graphic>
          <a:graphicData uri="http://schemas.openxmlformats.org/drawingml/2006/table">
            <a:tbl>
              <a:tblPr/>
              <a:tblGrid>
                <a:gridCol w="10507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3050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1825894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  <a:gridCol w="1695181">
                  <a:extLst>
                    <a:ext uri="{9D8B030D-6E8A-4147-A177-3AD203B41FA5}">
                      <a16:colId xmlns:a16="http://schemas.microsoft.com/office/drawing/2014/main" val="3376586317"/>
                    </a:ext>
                  </a:extLst>
                </a:gridCol>
              </a:tblGrid>
              <a:tr h="28655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정기회의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매핑 진행상황 점검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다음달 목표 확정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회의록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진행상황표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수시회의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이견 발생 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특정 항목 이견 조정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이견조정결과서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D33EC415-A1F3-4836-C62C-43AC1AA7E871}"/>
              </a:ext>
            </a:extLst>
          </p:cNvPr>
          <p:cNvSpPr txBox="1"/>
          <p:nvPr/>
        </p:nvSpPr>
        <p:spPr>
          <a:xfrm>
            <a:off x="1090769" y="557530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회의 운영 규칙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920D0C7-4B3B-55E8-B0AF-6E32D9A5BEDA}"/>
              </a:ext>
            </a:extLst>
          </p:cNvPr>
          <p:cNvSpPr/>
          <p:nvPr/>
        </p:nvSpPr>
        <p:spPr>
          <a:xfrm>
            <a:off x="316309" y="6901907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 체계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확정된 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매핑표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연동방식확정서를 본 사업의 구체적 설계 문서 항목에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1:1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 반영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FC98214B-BF14-81E8-710B-541EFC56B6C0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7713062"/>
          <a:ext cx="6114924" cy="1582550"/>
        </p:xfrm>
        <a:graphic>
          <a:graphicData uri="http://schemas.openxmlformats.org/drawingml/2006/table">
            <a:tbl>
              <a:tblPr/>
              <a:tblGrid>
                <a:gridCol w="14538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8969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3032125">
                  <a:extLst>
                    <a:ext uri="{9D8B030D-6E8A-4147-A177-3AD203B41FA5}">
                      <a16:colId xmlns:a16="http://schemas.microsoft.com/office/drawing/2014/main" val="384687337"/>
                    </a:ext>
                  </a:extLst>
                </a:gridCol>
              </a:tblGrid>
              <a:tr h="286550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협의 결과물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 대상 문서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매핑표 확정본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저작권 메타데이터 설계서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권리정보체계 항목명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형식에 맞춰 메타데이터 스키마 항목 수정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연동방식확정서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 명세서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방식이면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명세 추가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배치방식이면 배치 스케줄 정의 추가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39907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테스트결과서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테스트케이스목록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연동 시나리오를 정식 테스트케이스로 등록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31C9517B-3F27-14F2-3287-3C0DFFB27F8C}"/>
              </a:ext>
            </a:extLst>
          </p:cNvPr>
          <p:cNvSpPr txBox="1"/>
          <p:nvPr/>
        </p:nvSpPr>
        <p:spPr>
          <a:xfrm>
            <a:off x="1090769" y="7417808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협의 결과 → 본 사업 설계 반영 매핑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65412962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10BADF-7B7A-BC90-5461-0B0B70A9C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FDBB5F70-F02E-7B45-798B-7CAD77E5173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C1EDD94-31B6-1545-66DA-2365E17A32AB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1BDC1F8-A8FE-7A81-161D-695A1F62E02C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현행 운영 사업자 역할 정의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964C7E1-7B68-4573-7363-B141D083F93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연관 사업 협업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A02BA89-98D1-D4EC-A55A-AB2108F6870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운영사업자의 역할을 이관 준비기간에 한정하고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 기간 동안 담당할 업무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인터페이스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장애대응 범위를 지정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7722D43-9F8E-C02B-202E-671354D57C3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3F3B47E-7AFB-9A7D-489F-6C61A7AA6D5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운영 사업자 역할 정의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68CD823A-0566-4AE0-9959-A7777C3F0F5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OR-011, COR-003</a:t>
            </a:r>
          </a:p>
        </p:txBody>
      </p:sp>
      <p:sp>
        <p:nvSpPr>
          <p:cNvPr id="10" name="모서리가 둥근 직사각형 222">
            <a:extLst>
              <a:ext uri="{FF2B5EF4-FFF2-40B4-BE49-F238E27FC236}">
                <a16:creationId xmlns:a16="http://schemas.microsoft.com/office/drawing/2014/main" id="{B5F7B645-623B-D9CA-DC51-BA359322ECF3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4497BA2-D4B6-A83D-8086-21C796726883}"/>
              </a:ext>
            </a:extLst>
          </p:cNvPr>
          <p:cNvSpPr/>
          <p:nvPr/>
        </p:nvSpPr>
        <p:spPr>
          <a:xfrm>
            <a:off x="316309" y="268274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역할 정의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현행 운영사업자가 이관 준비기간 동안 담당할 업무를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가지로 한정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4" name="Table 0">
            <a:extLst>
              <a:ext uri="{FF2B5EF4-FFF2-40B4-BE49-F238E27FC236}">
                <a16:creationId xmlns:a16="http://schemas.microsoft.com/office/drawing/2014/main" id="{803AE81A-2581-3A05-12B2-B63462EE4601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3291739"/>
          <a:ext cx="6114289" cy="982980"/>
        </p:xfrm>
        <a:graphic>
          <a:graphicData uri="http://schemas.openxmlformats.org/drawingml/2006/table">
            <a:tbl>
              <a:tblPr/>
              <a:tblGrid>
                <a:gridCol w="16822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32063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142591"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85800" rtl="0" eaLnBrk="1" fontAlgn="ctr" latinLnBrk="0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구체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기존 서비스 유지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완료 시점까지 현행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허브 서비스를 계속 운영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대상 데이터 제공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이력정보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계정정보를 본 사업에 추출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1443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검증 협조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 사업이 수행하는 이관 전후 건수 비교 시 원본 자료 대조 협조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3ED712DB-F8CE-021A-137C-A423284FD8D5}"/>
              </a:ext>
            </a:extLst>
          </p:cNvPr>
          <p:cNvSpPr txBox="1"/>
          <p:nvPr/>
        </p:nvSpPr>
        <p:spPr>
          <a:xfrm>
            <a:off x="1090769" y="299648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운영사업자 역할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2C3E08F-DF8C-A185-73B5-B499BE64FF1E}"/>
              </a:ext>
            </a:extLst>
          </p:cNvPr>
          <p:cNvSpPr/>
          <p:nvPr/>
        </p:nvSpPr>
        <p:spPr>
          <a:xfrm>
            <a:off x="316309" y="4269352"/>
            <a:ext cx="6286697" cy="111914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(역할 미포함 항목 명시) 아래 3가지는 현행 운영사업자 역할에서 제외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제외 항목 = 신규 시스템 개발 참여, 이관 작업 직접 수행, 이관 검증 판정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이관 작업과 검증 판정은 전적으로 본 사업이 수행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(인터페이스 정의) 현행 운영사업자와 본 사업 간 연계 지점을 3개로 한정</a:t>
            </a: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5730B193-A26E-0A94-F324-ADB782E7F67F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5683749"/>
          <a:ext cx="6114290" cy="1064254"/>
        </p:xfrm>
        <a:graphic>
          <a:graphicData uri="http://schemas.openxmlformats.org/drawingml/2006/table">
            <a:tbl>
              <a:tblPr/>
              <a:tblGrid>
                <a:gridCol w="16822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16032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2216032">
                  <a:extLst>
                    <a:ext uri="{9D8B030D-6E8A-4147-A177-3AD203B41FA5}">
                      <a16:colId xmlns:a16="http://schemas.microsoft.com/office/drawing/2014/main" val="557664256"/>
                    </a:ext>
                  </a:extLst>
                </a:gridCol>
              </a:tblGrid>
              <a:tr h="286550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인터페이스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방향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제공 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추출 제공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운영사업자 → 본 사업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준비기간 중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또는 분할 제공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1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계정정보 제공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운영사업자 → 본 사업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준비기간 중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29002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자산 인계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현행 운영사업자 → 본 사업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완료 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CAE619EC-E08C-CBBE-2E6D-9A80295C7CE9}"/>
              </a:ext>
            </a:extLst>
          </p:cNvPr>
          <p:cNvSpPr txBox="1"/>
          <p:nvPr/>
        </p:nvSpPr>
        <p:spPr>
          <a:xfrm>
            <a:off x="1090769" y="538849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현행 운영사업자 인터페이스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65381E1-8661-920F-350F-5D8F0546547B}"/>
              </a:ext>
            </a:extLst>
          </p:cNvPr>
          <p:cNvSpPr/>
          <p:nvPr/>
        </p:nvSpPr>
        <p:spPr>
          <a:xfrm>
            <a:off x="316309" y="6748003"/>
            <a:ext cx="6286697" cy="160235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(장애대응 역할 정의) 이관 준비기간과 전환 이후로 나눠 담당을 완전히 분리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장애대응 담당 = 이관 준비기간 중 현행 시스템 장애는 현행 운영사업자, 전환 이후 모든 장애는 본 사업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 사업은 전환 이후 현행 운영사업자에게 장애대응을 요청하지 않음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(역할 종료 시점 정의) 자산 인계 완료를 기준으로 현행 운영사업자 역할 종료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역할 종료 조건 = 자산 인계 완료 확인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종료 이후 현행 운영사업자는 본 사업과 관련한 어떠한 역할도 수행하지 않음</a:t>
            </a:r>
          </a:p>
        </p:txBody>
      </p:sp>
      <p:graphicFrame>
        <p:nvGraphicFramePr>
          <p:cNvPr id="22" name="Table 0">
            <a:extLst>
              <a:ext uri="{FF2B5EF4-FFF2-40B4-BE49-F238E27FC236}">
                <a16:creationId xmlns:a16="http://schemas.microsoft.com/office/drawing/2014/main" id="{3A097652-B023-437F-02B6-682B73AD4695}"/>
              </a:ext>
            </a:extLst>
          </p:cNvPr>
          <p:cNvGraphicFramePr>
            <a:graphicFrameLocks noGrp="1"/>
          </p:cNvGraphicFramePr>
          <p:nvPr/>
        </p:nvGraphicFramePr>
        <p:xfrm>
          <a:off x="377950" y="8609043"/>
          <a:ext cx="6114289" cy="982980"/>
        </p:xfrm>
        <a:graphic>
          <a:graphicData uri="http://schemas.openxmlformats.org/drawingml/2006/table">
            <a:tbl>
              <a:tblPr/>
              <a:tblGrid>
                <a:gridCol w="1831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82439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153202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855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서비스유지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데이터제공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검증협조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가지만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855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 제외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개발참여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이관작업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검증판정은 미포함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147625"/>
                  </a:ext>
                </a:extLst>
              </a:tr>
              <a:tr h="148559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 종료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자산 인계 완료 시점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A212275F-69CB-A465-52C4-15D0AAD7EA0D}"/>
              </a:ext>
            </a:extLst>
          </p:cNvPr>
          <p:cNvSpPr txBox="1"/>
          <p:nvPr/>
        </p:nvSpPr>
        <p:spPr>
          <a:xfrm>
            <a:off x="1090769" y="8313789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요약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3615457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5842D6-F4A8-2CE6-AD02-5B02543368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DE0B700E-50CC-3157-E265-BA7D0B8436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185F927-E829-12E4-8CCB-959B85CB7D8D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D034B0-72C5-861A-617D-AB041223FB7E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유지 관리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655BEE2-EE1D-DD6D-C866-0E8C0301162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연관 사업 협업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42FC5A6-BC60-031F-E8FD-FF74F891372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기능을 모듈 단위로 나눠 변경 영향범위를 판정하고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하자보수기간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(12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동안 결함 심각도별로 담당 인력유형과 조치기한을 매핑하는 유지관리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83589D6-A8F1-6E7A-09FF-C37FB1550EA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1878A87-06B2-3231-6447-8A059A8E7E9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 관리 방안 수립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E05636A-6F29-C065-E3B0-2F8D7B5A7F7F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OR-007, QUR-003</a:t>
            </a:r>
          </a:p>
        </p:txBody>
      </p:sp>
      <p:sp>
        <p:nvSpPr>
          <p:cNvPr id="13" name="모서리가 둥근 직사각형 222">
            <a:extLst>
              <a:ext uri="{FF2B5EF4-FFF2-40B4-BE49-F238E27FC236}">
                <a16:creationId xmlns:a16="http://schemas.microsoft.com/office/drawing/2014/main" id="{E344FCFE-D75F-0C67-1F81-57BE5454D105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A82002E-C185-A3C7-D23F-DCA1ED876826}"/>
              </a:ext>
            </a:extLst>
          </p:cNvPr>
          <p:cNvSpPr/>
          <p:nvPr/>
        </p:nvSpPr>
        <p:spPr>
          <a:xfrm>
            <a:off x="316309" y="268274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모듈 구분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8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기능모듈로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나눠 모듈 간 결합도를 낮추는 구조로 설계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7" name="Table 0">
            <a:extLst>
              <a:ext uri="{FF2B5EF4-FFF2-40B4-BE49-F238E27FC236}">
                <a16:creationId xmlns:a16="http://schemas.microsoft.com/office/drawing/2014/main" id="{392B9828-B030-A59D-267B-0810DD24B1D7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3291739"/>
          <a:ext cx="6114289" cy="2202180"/>
        </p:xfrm>
        <a:graphic>
          <a:graphicData uri="http://schemas.openxmlformats.org/drawingml/2006/table">
            <a:tbl>
              <a:tblPr/>
              <a:tblGrid>
                <a:gridCol w="16822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32063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1425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주요 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등록관리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등록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사전진단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라이프사이클관리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생성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폐기 전주기 상태관리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895940"/>
                  </a:ext>
                </a:extLst>
              </a:tr>
              <a:tr h="16256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카탈로그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탐색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지능형 검색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67219"/>
                  </a:ext>
                </a:extLst>
              </a:tr>
              <a:tr h="1219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외부제공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스트리밍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78045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워크스페이스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사용자별 작업공간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학습 세션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72252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로그 수집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통계 대시보드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6137802"/>
                  </a:ext>
                </a:extLst>
              </a:tr>
              <a:tr h="14432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운영지원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모니터링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형상관리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617983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7C923CF2-C6A8-86E6-B5E8-5BD226BDAECF}"/>
              </a:ext>
            </a:extLst>
          </p:cNvPr>
          <p:cNvSpPr txBox="1"/>
          <p:nvPr/>
        </p:nvSpPr>
        <p:spPr>
          <a:xfrm>
            <a:off x="1090769" y="299648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8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 </a:t>
            </a:r>
            <a:r>
              <a:rPr lang="ko-KR" altLang="en-US" sz="1200" dirty="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기능모듈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A594E1-06C5-DC77-C48D-BCA2A2093478}"/>
              </a:ext>
            </a:extLst>
          </p:cNvPr>
          <p:cNvSpPr/>
          <p:nvPr/>
        </p:nvSpPr>
        <p:spPr>
          <a:xfrm>
            <a:off x="316309" y="5525047"/>
            <a:ext cx="6286697" cy="1119143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(변경 영향도 판정 공식) 변경 대상 모듈과 직접 연계된 모듈 수로 영향범위 산정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영향 모듈 수 = 변경 대상 모듈과 표준 인터페이스로 직접 연계된 모듈 수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영향범위 = 낮음(0개) / 중간(1~2개) / 높음(3개 이상)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(영향범위별 승인 절차 규칙) 영향범위에 따라 승인 단계 수를 차등 적용</a:t>
            </a: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8A218A3C-EA99-CE89-3299-247CD6DA3E3C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6940829"/>
          <a:ext cx="6114290" cy="982980"/>
        </p:xfrm>
        <a:graphic>
          <a:graphicData uri="http://schemas.openxmlformats.org/drawingml/2006/table">
            <a:tbl>
              <a:tblPr/>
              <a:tblGrid>
                <a:gridCol w="1203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5059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2216032">
                  <a:extLst>
                    <a:ext uri="{9D8B030D-6E8A-4147-A177-3AD203B41FA5}">
                      <a16:colId xmlns:a16="http://schemas.microsoft.com/office/drawing/2014/main" val="3825897378"/>
                    </a:ext>
                  </a:extLst>
                </a:gridCol>
              </a:tblGrid>
              <a:tr h="1425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영향범위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절차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 전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낮음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검토 후 즉시 적용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이력 기록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검토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모듈 담당자 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 모듈 재검증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높음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검토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모듈 확인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 승인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회귀시험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895940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91A5714F-DB7C-CB13-86B7-F7ADDE1F93D5}"/>
              </a:ext>
            </a:extLst>
          </p:cNvPr>
          <p:cNvSpPr txBox="1"/>
          <p:nvPr/>
        </p:nvSpPr>
        <p:spPr>
          <a:xfrm>
            <a:off x="1090769" y="664557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영향범위별 승인 절차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19887D7-75F8-674A-9554-CA1998218CB0}"/>
              </a:ext>
            </a:extLst>
          </p:cNvPr>
          <p:cNvSpPr/>
          <p:nvPr/>
        </p:nvSpPr>
        <p:spPr>
          <a:xfrm>
            <a:off x="316309" y="7923809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결함 심각도별 담당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기한 매핑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하자보수기간 중 심각도 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3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단계에 담당 인력유형과 조치기한을 매핑</a:t>
            </a:r>
            <a:endParaRPr kumimoji="1" lang="ko-KR" altLang="ko-KR" sz="12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5" name="Table 0">
            <a:extLst>
              <a:ext uri="{FF2B5EF4-FFF2-40B4-BE49-F238E27FC236}">
                <a16:creationId xmlns:a16="http://schemas.microsoft.com/office/drawing/2014/main" id="{0F4612B0-2034-95D9-DDC1-C1910773AE49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8534401"/>
          <a:ext cx="6114290" cy="982980"/>
        </p:xfrm>
        <a:graphic>
          <a:graphicData uri="http://schemas.openxmlformats.org/drawingml/2006/table">
            <a:tbl>
              <a:tblPr/>
              <a:tblGrid>
                <a:gridCol w="1203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5059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2216032">
                  <a:extLst>
                    <a:ext uri="{9D8B030D-6E8A-4147-A177-3AD203B41FA5}">
                      <a16:colId xmlns:a16="http://schemas.microsoft.com/office/drawing/2014/main" val="3825897378"/>
                    </a:ext>
                  </a:extLst>
                </a:gridCol>
              </a:tblGrid>
              <a:tr h="1425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심각도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 인력유형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조치기한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긴급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하자보수 전담인력 즉시 투입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하자보수 전담인력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정기 유지보수 인력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 이내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895940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2DA898F4-F412-A23E-479D-B10EA0C28AED}"/>
              </a:ext>
            </a:extLst>
          </p:cNvPr>
          <p:cNvSpPr txBox="1"/>
          <p:nvPr/>
        </p:nvSpPr>
        <p:spPr>
          <a:xfrm>
            <a:off x="1090769" y="823914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심각도별 담당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기한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4485217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7CC9D0-788B-2F3F-E2FA-3C4492AE21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3D981BC8-B478-3E62-A71E-F22971BAC94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34F9197-1847-5212-4B28-605B00386495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5DB2374-9EB6-A6CD-576B-805BB8D8CCB8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.2.3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유지 관리 방안 수립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78843EF-7F11-DB81-49AB-4084B79DAB6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연관 사업 협업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C1B4C3F-C6C9-EDDC-ADA8-12584D3CF5F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월간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분기 단위로 유지관리 활동을 반복하고 누적 오류 및 재발 유형에 대한 대책을 마련한 이후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12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개월 종료 시점에 유지관리체계를 정기 운영 체계로 전환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4AA85C86-E93E-8950-736B-362C37BE8F3B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ADDD7F90-2F54-9CF2-D4AC-B2BA6ED1345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 관리 방안 수립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0EAE59C-4110-792C-A462-38BE9B69878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OR-007, QUR-003</a:t>
            </a:r>
          </a:p>
        </p:txBody>
      </p:sp>
      <p:sp>
        <p:nvSpPr>
          <p:cNvPr id="13" name="모서리가 둥근 직사각형 222">
            <a:extLst>
              <a:ext uri="{FF2B5EF4-FFF2-40B4-BE49-F238E27FC236}">
                <a16:creationId xmlns:a16="http://schemas.microsoft.com/office/drawing/2014/main" id="{06956BB3-8759-83DE-5F99-5F14E206458C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7B6E61A-00B7-7BC0-9001-B7BDB6C22A75}"/>
              </a:ext>
            </a:extLst>
          </p:cNvPr>
          <p:cNvSpPr/>
          <p:nvPr/>
        </p:nvSpPr>
        <p:spPr>
          <a:xfrm>
            <a:off x="316309" y="2682745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정기 유지관리 활동 규칙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월간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분기 단위로 반복 활동을 고정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7" name="Table 0">
            <a:extLst>
              <a:ext uri="{FF2B5EF4-FFF2-40B4-BE49-F238E27FC236}">
                <a16:creationId xmlns:a16="http://schemas.microsoft.com/office/drawing/2014/main" id="{CCAD5A39-91E8-FB69-220B-0F6D37711683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3291739"/>
          <a:ext cx="6114289" cy="982980"/>
        </p:xfrm>
        <a:graphic>
          <a:graphicData uri="http://schemas.openxmlformats.org/drawingml/2006/table">
            <a:tbl>
              <a:tblPr/>
              <a:tblGrid>
                <a:gridCol w="16822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32063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1425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모듈별 변경 이력 정리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 권한 재검토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분기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형상 현황 점검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회귀시험 결과 재확인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하자보수기간 종료 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누적 결함 유형 분석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재발방지 대책 정리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895940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7A52C81C-4093-45E1-DC37-3E356906724F}"/>
              </a:ext>
            </a:extLst>
          </p:cNvPr>
          <p:cNvSpPr txBox="1"/>
          <p:nvPr/>
        </p:nvSpPr>
        <p:spPr>
          <a:xfrm>
            <a:off x="1090769" y="299648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정기 유지관리 활동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43B6468-23A3-803D-7A35-9C8922B50705}"/>
              </a:ext>
            </a:extLst>
          </p:cNvPr>
          <p:cNvSpPr/>
          <p:nvPr/>
        </p:nvSpPr>
        <p:spPr>
          <a:xfrm>
            <a:off x="316309" y="5889420"/>
            <a:ext cx="6286697" cy="782128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(하자보수기간 종료 전환 공식) 12개월 종료 시점에 유지관리 체계를 정기 운영 체계로 전환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전환 조건 = 검사완료일 + 12개월 도달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전환 이후 = 조치기한을 정기 운영계약 기준으로 재설정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1" name="Table 0">
            <a:extLst>
              <a:ext uri="{FF2B5EF4-FFF2-40B4-BE49-F238E27FC236}">
                <a16:creationId xmlns:a16="http://schemas.microsoft.com/office/drawing/2014/main" id="{3EDB7B58-B20D-6287-7556-2473565A01F0}"/>
              </a:ext>
            </a:extLst>
          </p:cNvPr>
          <p:cNvGraphicFramePr>
            <a:graphicFrameLocks noGrp="1"/>
          </p:cNvGraphicFramePr>
          <p:nvPr/>
        </p:nvGraphicFramePr>
        <p:xfrm>
          <a:off x="377950" y="7022341"/>
          <a:ext cx="6114289" cy="1714500"/>
        </p:xfrm>
        <a:graphic>
          <a:graphicData uri="http://schemas.openxmlformats.org/drawingml/2006/table">
            <a:tbl>
              <a:tblPr/>
              <a:tblGrid>
                <a:gridCol w="1887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27111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142591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규칙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38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모듈 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8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 모듈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결합도 최소화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변경 영향도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모듈 수 기준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195072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승인 절차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영향범위별 차등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즉시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재검증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전체회귀시험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218537"/>
                  </a:ext>
                </a:extLst>
              </a:tr>
              <a:tr h="146304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결함 대응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긴급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중요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경미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7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3543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정기 활동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분기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고정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15498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기간 종료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12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개월 후 정기 운영체계 전환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33886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47CDB3A4-F5E1-60AB-90FF-864F3016A211}"/>
              </a:ext>
            </a:extLst>
          </p:cNvPr>
          <p:cNvSpPr txBox="1"/>
          <p:nvPr/>
        </p:nvSpPr>
        <p:spPr>
          <a:xfrm>
            <a:off x="1090769" y="672708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요약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4192B5-1AF7-308F-DEF5-614CE5105F9D}"/>
              </a:ext>
            </a:extLst>
          </p:cNvPr>
          <p:cNvSpPr/>
          <p:nvPr/>
        </p:nvSpPr>
        <p:spPr>
          <a:xfrm>
            <a:off x="316309" y="4332892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하자보수기간 종료 전환 대입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12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개월 도달 시점 누적 현황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10" name="Table 0">
            <a:extLst>
              <a:ext uri="{FF2B5EF4-FFF2-40B4-BE49-F238E27FC236}">
                <a16:creationId xmlns:a16="http://schemas.microsoft.com/office/drawing/2014/main" id="{EF7D707B-EFB1-4D4A-7108-073E78B32C19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4953746"/>
          <a:ext cx="6114290" cy="894603"/>
        </p:xfrm>
        <a:graphic>
          <a:graphicData uri="http://schemas.openxmlformats.org/drawingml/2006/table">
            <a:tbl>
              <a:tblPr/>
              <a:tblGrid>
                <a:gridCol w="16822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16032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2216032">
                  <a:extLst>
                    <a:ext uri="{9D8B030D-6E8A-4147-A177-3AD203B41FA5}">
                      <a16:colId xmlns:a16="http://schemas.microsoft.com/office/drawing/2014/main" val="1924377552"/>
                    </a:ext>
                  </a:extLst>
                </a:gridCol>
              </a:tblGrid>
              <a:tr h="304349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값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512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누적 긴급 결함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전건 기한 내 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정기 운영 전환 가능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5127"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누적 재발 결함 유형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동일 오류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 이상 반복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재발방지 대책 필요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전환 전 보완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9BBDF10E-FE9F-EAE0-B097-33DB62968B6D}"/>
              </a:ext>
            </a:extLst>
          </p:cNvPr>
          <p:cNvSpPr txBox="1"/>
          <p:nvPr/>
        </p:nvSpPr>
        <p:spPr>
          <a:xfrm>
            <a:off x="1090769" y="4658493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누적 결함 발생 시 대책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Google Shape;4558;p82">
            <a:extLst>
              <a:ext uri="{FF2B5EF4-FFF2-40B4-BE49-F238E27FC236}">
                <a16:creationId xmlns:a16="http://schemas.microsoft.com/office/drawing/2014/main" id="{C66E272E-343D-94A9-275F-C0118E90C855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00393047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72E31C-F74C-C972-BFC5-C58F513149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ED569CBB-8A50-A51A-AF4B-B9FDA46D09F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4EBF12C-C293-1BC8-5B49-F32E3A29235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9683FEC-BE98-7D29-9588-A5289B6A6D40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.3.1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시범 운영 결과 반영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850066B-B5A1-2ED5-8515-6B4BEA1A582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결과 반영 및 확장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E45DA91-A1B1-57F6-E5B7-4238710E69C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5.1.1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오류접수 목록과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5.1.3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의 이용자검증 결과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안정성 지표를 하나의 이슈목록으로 합치고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심각도 기준으로 </a:t>
            </a:r>
            <a:r>
              <a:rPr lang="ko-KR" altLang="en-US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본개방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전 반영 여부를 판정하는 체계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EADD9CE-B295-9B3B-2A89-8D98F0CFA7DD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BEA8958-1231-1968-BEAA-F8E4306F0A9F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시범 운영 결과 반영 방법론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109B2FE-7A86-CAC3-50B6-B8ED5C133C94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TR-002, OR-008</a:t>
            </a:r>
          </a:p>
        </p:txBody>
      </p:sp>
      <p:sp>
        <p:nvSpPr>
          <p:cNvPr id="10" name="모서리가 둥근 직사각형 222">
            <a:extLst>
              <a:ext uri="{FF2B5EF4-FFF2-40B4-BE49-F238E27FC236}">
                <a16:creationId xmlns:a16="http://schemas.microsoft.com/office/drawing/2014/main" id="{FB2EDEC9-4B57-4EE7-A3BD-68B31EC167A0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4619F36-1929-8774-A41E-B41F2BF8C0BE}"/>
              </a:ext>
            </a:extLst>
          </p:cNvPr>
          <p:cNvSpPr/>
          <p:nvPr/>
        </p:nvSpPr>
        <p:spPr>
          <a:xfrm>
            <a:off x="316309" y="2682745"/>
            <a:ext cx="6286697" cy="515901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 결과 수집 항목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5.1.1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오류접수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기능오류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발생화면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발생일시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), 5.1.3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이용자검증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사용성 문제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심각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보통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경미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관찰 화면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안정성 지표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오류율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응답시간 초과 항목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3EEBD05-98E7-5578-E48D-2B34B2B062AB}"/>
              </a:ext>
            </a:extLst>
          </p:cNvPr>
          <p:cNvSpPr/>
          <p:nvPr/>
        </p:nvSpPr>
        <p:spPr>
          <a:xfrm>
            <a:off x="316309" y="3214996"/>
            <a:ext cx="6286697" cy="29430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이슈 분류 매트릭스</a:t>
            </a:r>
            <a:r>
              <a:rPr kumimoji="1" lang="en-US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 </a:t>
            </a:r>
            <a:r>
              <a:rPr kumimoji="1" lang="ko-KR" altLang="en-US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유형과 심각도를 교차해 전체 이슈를 분류</a:t>
            </a:r>
            <a:endParaRPr kumimoji="1" lang="ko-KR" altLang="en-US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graphicFrame>
        <p:nvGraphicFramePr>
          <p:cNvPr id="27" name="Table 0">
            <a:extLst>
              <a:ext uri="{FF2B5EF4-FFF2-40B4-BE49-F238E27FC236}">
                <a16:creationId xmlns:a16="http://schemas.microsoft.com/office/drawing/2014/main" id="{72BB4523-EA45-7122-CC06-81C9FB5B43D6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3835850"/>
          <a:ext cx="6114290" cy="1087156"/>
        </p:xfrm>
        <a:graphic>
          <a:graphicData uri="http://schemas.openxmlformats.org/drawingml/2006/table">
            <a:tbl>
              <a:tblPr/>
              <a:tblGrid>
                <a:gridCol w="16822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5503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  <a:gridCol w="1508760">
                  <a:extLst>
                    <a:ext uri="{9D8B030D-6E8A-4147-A177-3AD203B41FA5}">
                      <a16:colId xmlns:a16="http://schemas.microsoft.com/office/drawing/2014/main" val="1924377552"/>
                    </a:ext>
                  </a:extLst>
                </a:gridCol>
                <a:gridCol w="1447801">
                  <a:extLst>
                    <a:ext uri="{9D8B030D-6E8A-4147-A177-3AD203B41FA5}">
                      <a16:colId xmlns:a16="http://schemas.microsoft.com/office/drawing/2014/main" val="3395688731"/>
                    </a:ext>
                  </a:extLst>
                </a:gridCol>
              </a:tblGrid>
              <a:tr h="304349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유형</a:t>
                      </a:r>
                      <a:r>
                        <a:rPr lang="en-US" altLang="ko-KR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\</a:t>
                      </a: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심각도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심각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보통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경미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564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기능오류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C0000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본개방 전 필수 반영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C0000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본개방 전 필수 반영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잔여기간 확인 후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564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사용성 문제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C0000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본개방 전 필수 반영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잔여기간 확인 후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309422"/>
                  </a:ext>
                </a:extLst>
              </a:tr>
              <a:tr h="295127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성능저하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C00000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본개방 전 필수 반영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잔여기간 확인 후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00E1D340-D153-6FA7-96A3-A82612055312}"/>
              </a:ext>
            </a:extLst>
          </p:cNvPr>
          <p:cNvSpPr txBox="1"/>
          <p:nvPr/>
        </p:nvSpPr>
        <p:spPr>
          <a:xfrm>
            <a:off x="1090769" y="3540597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이슈 분류 매트릭스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6C53325-130E-BD93-3FA8-EE1D8C8D0CFF}"/>
              </a:ext>
            </a:extLst>
          </p:cNvPr>
          <p:cNvSpPr/>
          <p:nvPr/>
        </p:nvSpPr>
        <p:spPr>
          <a:xfrm>
            <a:off x="316309" y="4973621"/>
            <a:ext cx="6286697" cy="344285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(반영 여부 판정 공식) 심각도와 남은 기간을 기준으로 3단계 판정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반영 여부 = 심각 등급이면 무조건 반영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보통 등급이면 (남은 기간 ≥ 예상 조치기간)일 때만 반영, 아니면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경미 등급이면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(우선순위 산출 공식) 반영 대상 이슈 중 처리 순서를 심각도와 영향 모듈 수로 산출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우선순위 점수 = 심각도 가중치(심각=3, 보통=2, 경미=1) × 영향 모듈 수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점수가 높은 이슈부터 순차 처리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(조치 검증 규칙) 조치 완료 후 동일 시나리오로 재현 테스트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검증 통과 조건 = 조치 전 문제를 발생시켰던 시나리오를 동일하게 재현했을 때 문제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재발생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0건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미통과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 = 원인 재분석 후 재조치, 우선순위 목록 최상단으로 재배치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항목 관리 규칙)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본개방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전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미반영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이슈는 별도 목록으로 이관하고 처리기한 지정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목록 전환 조건 = 반영 여부 판정에서 '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' 또는 '보통 등급 중 기간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부족'으로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판정된 항목</a:t>
            </a:r>
            <a:endParaRPr kumimoji="1" lang="en-US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항목 처리기한 = 5.2.3 유지관리 체계의 결함 심각도별 조치기한과 동일 규칙 적</a:t>
            </a:r>
            <a:r>
              <a:rPr kumimoji="1" lang="ko-KR" altLang="en-US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용</a:t>
            </a:r>
          </a:p>
        </p:txBody>
      </p:sp>
      <p:graphicFrame>
        <p:nvGraphicFramePr>
          <p:cNvPr id="32" name="Table 0">
            <a:extLst>
              <a:ext uri="{FF2B5EF4-FFF2-40B4-BE49-F238E27FC236}">
                <a16:creationId xmlns:a16="http://schemas.microsoft.com/office/drawing/2014/main" id="{1E879556-7287-E7AD-3220-FB8846B8C00E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8762346"/>
          <a:ext cx="6114290" cy="739140"/>
        </p:xfrm>
        <a:graphic>
          <a:graphicData uri="http://schemas.openxmlformats.org/drawingml/2006/table">
            <a:tbl>
              <a:tblPr/>
              <a:tblGrid>
                <a:gridCol w="20286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85591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문서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포함 내용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시범운영결과서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전체 이슈목록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분류 결과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안정성 지표 종합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개선반영내역서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반영 완료 이슈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검증 결과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이연 목록과 처리기한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309422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9A547A00-03D4-ADF0-DC86-97FD8F20CC95}"/>
              </a:ext>
            </a:extLst>
          </p:cNvPr>
          <p:cNvSpPr txBox="1"/>
          <p:nvPr/>
        </p:nvSpPr>
        <p:spPr>
          <a:xfrm>
            <a:off x="1090769" y="8467092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결과 문서 구성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895840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9A7BA0-7386-8F72-D1CD-AEB89D06E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B6965574-0FB8-7588-5F6A-7EE4C61B9D3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7B892CF-FCAD-4AF7-5CD6-A31ADAD8F09A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59D892-0577-3E50-0585-2015A4D4FE9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확장 방안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DC4DC23-1012-7F21-D22B-6D77AB4612E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결과 반영 및 확장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F453B83-5279-A20D-075C-B4B5E56185A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ko-KR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자원·기능·대상·데이터·AI적용</a:t>
            </a:r>
            <a:r>
              <a:rPr lang="ko-KR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5개 구분별로 연차별 계획을 세우고, </a:t>
            </a:r>
            <a:r>
              <a:rPr lang="ko-KR" altLang="ko-KR" sz="1200" dirty="0" err="1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필수업무·선택업무·고도화업무·연계확장업무</a:t>
            </a:r>
            <a:r>
              <a:rPr lang="ko-KR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분류를 연차에 대응시켜 로드맵 수립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03BFEEC-9ADA-EE5D-B4BF-E4A12CA8B82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E97B46D-91D4-A389-AAF8-3179938A1CBB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방안 설계 방법론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37F7298-50D6-109F-5963-B9A42B27A64A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DR-018</a:t>
            </a:r>
          </a:p>
        </p:txBody>
      </p:sp>
      <p:sp>
        <p:nvSpPr>
          <p:cNvPr id="13" name="모서리가 둥근 직사각형 222">
            <a:extLst>
              <a:ext uri="{FF2B5EF4-FFF2-40B4-BE49-F238E27FC236}">
                <a16:creationId xmlns:a16="http://schemas.microsoft.com/office/drawing/2014/main" id="{C131FD71-879F-7DF0-24A9-19049BE2E93C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AA840E-A0B4-D3E2-30DD-F4874368BFA3}"/>
              </a:ext>
            </a:extLst>
          </p:cNvPr>
          <p:cNvSpPr/>
          <p:nvPr/>
        </p:nvSpPr>
        <p:spPr>
          <a:xfrm>
            <a:off x="316309" y="2682745"/>
            <a:ext cx="6286697" cy="4923262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(자원 계획 수립 방식) 4.2.2에서 산출한 점유율 공식으로 증설 필요 시점을 판정하고, 그 시점을 기준으로 연차별 목표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자원량을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설정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증설 필요 시점 판정 = 점유율 80% 이상 상태가 연속 3일 이상 지속되는 시점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연차별 목표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자원량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= 직전 연차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자원량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+ 해당 연차 신규기능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소요분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(기능 계획 수립 방식) DR-018 분류에 따라 필수업무는 1차 연차, 고도화업무는 2차 연차, 연계확장업무는 3차 연차에 배치하고 선택업무는 여력 확인 후 수시 반영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(대상 계획 수립 방식) 연차별 목표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데이터종수·이용자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범위·제공기관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범위를 설정하고, 직전 연차 목표 달성 여부를 다음 연차 착수 조건으로 사용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다음 연차 착수 조건 = 직전 연차 목표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데이터종수·이용자범위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달성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(데이터 계획 수립 방식) 연차별로 새로 다뤄야 할 데이터 유형(원본 데이터, 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가공·합성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데이터, 통합 데이터셋 등)을 지정하고, 해당 유형 처리 기술 확보 여부를 연차 전환 조건으로 사용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kumimoji="1" lang="ko-KR" altLang="ko-KR" sz="12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AI적용</a:t>
            </a: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계획 수립 방식) 연차별로 적용할 AI 기술 수준을 지정하고, 직전 연차 AI 기능이 안정화 종료 판정을 받은 이후에만 다음 연차 기술을 적용</a:t>
            </a: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(구분 간 순서 규칙) 5개 구분의 계획은 서로 참고만 하고 동시에 확정하지 않음</a:t>
            </a:r>
          </a:p>
          <a:p>
            <a:pPr marL="361950" lvl="1" indent="-180975" defTabSz="914400" eaLnBrk="0" fontAlgn="base" hangingPunct="0">
              <a:lnSpc>
                <a:spcPct val="110000"/>
              </a:lnSpc>
              <a:spcBef>
                <a:spcPct val="0"/>
              </a:spcBef>
              <a:spcAft>
                <a:spcPts val="300"/>
              </a:spcAft>
              <a:buSzPct val="100000"/>
              <a:buFont typeface="KoPubWorld돋움체 Medium" panose="00000600000000000000" pitchFamily="2" charset="-127"/>
              <a:buChar char="–"/>
              <a:tabLst>
                <a:tab pos="5648325" algn="l"/>
              </a:tabLst>
              <a:defRPr/>
            </a:pP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순서 = 자원 계획을 먼저 세우고, 그 자원 범위 안에서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기능·대상·데이터·AI적용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계획을 세움</a:t>
            </a:r>
            <a:b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</a:b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 계획을 초과하는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기능·데이터·AI적용</a:t>
            </a:r>
            <a:r>
              <a:rPr kumimoji="1" lang="ko-KR" altLang="ko-KR" sz="11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계획은 다음 연차로 </a:t>
            </a:r>
            <a:r>
              <a:rPr kumimoji="1" lang="ko-KR" altLang="ko-KR" sz="1100" dirty="0" err="1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이연</a:t>
            </a:r>
            <a:endParaRPr kumimoji="1" lang="ko-KR" altLang="ko-KR" sz="1100" dirty="0"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lvl="1" indent="-108000" defTabSz="914400" eaLnBrk="0" fontAlgn="base" hangingPunct="0"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SzPct val="100000"/>
              <a:buFont typeface="Arial" panose="020B0604020202020204" pitchFamily="34" charset="0"/>
              <a:buChar char="•"/>
              <a:tabLst>
                <a:tab pos="5648325" algn="l"/>
              </a:tabLst>
              <a:defRPr/>
            </a:pPr>
            <a:r>
              <a:rPr kumimoji="1" lang="ko-KR" altLang="ko-KR" sz="1200" dirty="0"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(시범운영 결과 반영 방식) 5.3.1에서 필수 반영으로 판정된 이슈 중, 특정 구분 전체에 영향을 미치는 이슈만 로드맵 계획에 반영하고 개별 화면 오류 등은 반영하지 않음</a:t>
            </a:r>
          </a:p>
        </p:txBody>
      </p:sp>
      <p:graphicFrame>
        <p:nvGraphicFramePr>
          <p:cNvPr id="19" name="Table 0">
            <a:extLst>
              <a:ext uri="{FF2B5EF4-FFF2-40B4-BE49-F238E27FC236}">
                <a16:creationId xmlns:a16="http://schemas.microsoft.com/office/drawing/2014/main" id="{6AC30F4D-61C5-79A3-D7B9-09CDABF51B8A}"/>
              </a:ext>
            </a:extLst>
          </p:cNvPr>
          <p:cNvGraphicFramePr>
            <a:graphicFrameLocks noGrp="1"/>
          </p:cNvGraphicFramePr>
          <p:nvPr/>
        </p:nvGraphicFramePr>
        <p:xfrm>
          <a:off x="377951" y="7914746"/>
          <a:ext cx="6086349" cy="1523549"/>
        </p:xfrm>
        <a:graphic>
          <a:graphicData uri="http://schemas.openxmlformats.org/drawingml/2006/table">
            <a:tbl>
              <a:tblPr/>
              <a:tblGrid>
                <a:gridCol w="1565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1200">
                  <a:extLst>
                    <a:ext uri="{9D8B030D-6E8A-4147-A177-3AD203B41FA5}">
                      <a16:colId xmlns:a16="http://schemas.microsoft.com/office/drawing/2014/main" val="451924509"/>
                    </a:ext>
                  </a:extLst>
                </a:gridCol>
              </a:tblGrid>
              <a:tr h="304349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50" b="1" kern="1200" dirty="0">
                          <a:solidFill>
                            <a:srgbClr val="FFFFFF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연차별 계획 수립 방식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462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564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자원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점유율 공식으로 증설시점 판정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직전 자원량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+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신규소요분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7564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기능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필수업무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1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고도화업무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연계확장업무 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차 연차 배치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83094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대상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연차별 목표 데이터종수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이용자범위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달성 여부로 전환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7286344"/>
                  </a:ext>
                </a:extLst>
              </a:tr>
              <a:tr h="145464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연차별 신규 데이터유형 지정</a:t>
                      </a:r>
                      <a:r>
                        <a:rPr lang="en-US" altLang="ko-KR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 dirty="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처리기술 확보로 전환 판정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616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적용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>
                        <a:buNone/>
                      </a:pP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연차별 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기술수준 지정</a:t>
                      </a:r>
                      <a:r>
                        <a:rPr lang="en-US" altLang="ko-KR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rgbClr val="222222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안정화종료 판정 후 전환</a:t>
                      </a:r>
                    </a:p>
                  </a:txBody>
                  <a:tcPr anchor="ctr">
                    <a:lnL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0160" cap="flat" cmpd="sng" algn="ctr">
                      <a:solidFill>
                        <a:srgbClr val="C8D3E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897287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A9C30B8A-B96A-818B-89C4-2D8A7B565338}"/>
              </a:ext>
            </a:extLst>
          </p:cNvPr>
          <p:cNvSpPr txBox="1"/>
          <p:nvPr/>
        </p:nvSpPr>
        <p:spPr>
          <a:xfrm>
            <a:off x="1090769" y="7588305"/>
            <a:ext cx="4661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&lt; </a:t>
            </a:r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연차별 계획 수립 방식 </a:t>
            </a:r>
            <a:r>
              <a:rPr lang="en-US" altLang="ko-KR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&gt;</a:t>
            </a:r>
            <a:endParaRPr lang="ko-KR" altLang="en-US" sz="1200" dirty="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Google Shape;4558;p82">
            <a:extLst>
              <a:ext uri="{FF2B5EF4-FFF2-40B4-BE49-F238E27FC236}">
                <a16:creationId xmlns:a16="http://schemas.microsoft.com/office/drawing/2014/main" id="{71949957-4D97-F810-F9CF-C966D952A035}"/>
              </a:ext>
            </a:extLst>
          </p:cNvPr>
          <p:cNvSpPr/>
          <p:nvPr/>
        </p:nvSpPr>
        <p:spPr>
          <a:xfrm>
            <a:off x="3414400" y="34159"/>
            <a:ext cx="1937700" cy="325500"/>
          </a:xfrm>
          <a:prstGeom prst="rect">
            <a:avLst/>
          </a:prstGeom>
          <a:solidFill>
            <a:srgbClr val="F4CCCC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b="1">
                <a:latin typeface="Calibri"/>
                <a:ea typeface="Calibri"/>
                <a:cs typeface="Calibri"/>
                <a:sym typeface="Calibri"/>
              </a:rPr>
              <a:t>HNINE</a:t>
            </a:r>
            <a:endParaRPr b="1"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72578333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93D7F-70AE-8157-E029-B9A1F1BE42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텍스트 개체 틀 9">
            <a:extLst>
              <a:ext uri="{FF2B5EF4-FFF2-40B4-BE49-F238E27FC236}">
                <a16:creationId xmlns:a16="http://schemas.microsoft.com/office/drawing/2014/main" id="{73699BBD-F4DF-72DC-DE26-F30BB3E89FE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Module </a:t>
            </a:r>
            <a:r>
              <a:rPr lang="en-US" altLang="ko-KR">
                <a:solidFill>
                  <a:schemeClr val="tx1"/>
                </a:solidFill>
              </a:rPr>
              <a:t>5</a:t>
            </a:r>
            <a:r>
              <a:rPr lang="en-US" altLang="ko-KR" sz="1600">
                <a:solidFill>
                  <a:schemeClr val="tx1"/>
                </a:solidFill>
              </a:rPr>
              <a:t>. </a:t>
            </a:r>
            <a:r>
              <a:rPr lang="ko-KR" altLang="en-US"/>
              <a:t>시범 운영 계획</a:t>
            </a:r>
            <a:endParaRPr lang="ko-KR" altLang="en-US" b="1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CD50B47-430C-6A84-9F95-E9C0ED17F7C0}"/>
              </a:ext>
            </a:extLst>
          </p:cNvPr>
          <p:cNvSpPr txBox="1"/>
          <p:nvPr/>
        </p:nvSpPr>
        <p:spPr>
          <a:xfrm>
            <a:off x="5351954" y="298577"/>
            <a:ext cx="13675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Ⅱ.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설계 및 개발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399C38-D5F4-69EE-AAF8-692A4E86D6C2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</a:t>
            </a:r>
            <a:r>
              <a:rPr kumimoji="0" lang="en-US" altLang="ko-KR" sz="1400" b="0" i="0" u="none" strike="noStrike" kern="1200" cap="none" spc="-19" normalizeH="0" baseline="0" noProof="0" dirty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.3.2 </a:t>
            </a:r>
            <a:r>
              <a:rPr lang="ko-KR" altLang="en-US" sz="1400" spc="-19" dirty="0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확장 방안 설계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22E7FA8-6847-37D9-6333-A0A5A2761413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결과 반영 및 확장 설계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40B1CD3-7C9C-CBFD-BF4F-318C7843CEDB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2027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실사용 서비스 구축부터 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2030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 데이터</a:t>
            </a:r>
            <a:r>
              <a:rPr lang="en-US" altLang="ko-KR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 dirty="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모델 통합 활용 기반 운영을 위한 확장 로드맵을 제시</a:t>
            </a:r>
            <a:endParaRPr lang="en-US" altLang="ko-KR" sz="1200" dirty="0">
              <a:ln w="12700">
                <a:solidFill>
                  <a:schemeClr val="tx1">
                    <a:alpha val="0"/>
                  </a:schemeClr>
                </a:solidFill>
              </a:ln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16B2A03-B8C1-40B6-8169-0C43D227A06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C4290CA-EB7E-C566-CB31-DAE8A1AE03E6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확장 방안 설계 예시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AA7BCB8-945E-AC6E-6479-15CF5AAC71A1}"/>
              </a:ext>
            </a:extLst>
          </p:cNvPr>
          <p:cNvSpPr/>
          <p:nvPr/>
        </p:nvSpPr>
        <p:spPr>
          <a:xfrm>
            <a:off x="4381500" y="847033"/>
            <a:ext cx="2229009" cy="325619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algn="ctr">
              <a:lnSpc>
                <a:spcPts val="1700"/>
              </a:lnSpc>
            </a:pP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DR-018</a:t>
            </a:r>
          </a:p>
        </p:txBody>
      </p:sp>
      <p:sp>
        <p:nvSpPr>
          <p:cNvPr id="13" name="모서리가 둥근 직사각형 222">
            <a:extLst>
              <a:ext uri="{FF2B5EF4-FFF2-40B4-BE49-F238E27FC236}">
                <a16:creationId xmlns:a16="http://schemas.microsoft.com/office/drawing/2014/main" id="{196BFADD-6683-CF1A-7C05-7FD67762B77A}"/>
              </a:ext>
            </a:extLst>
          </p:cNvPr>
          <p:cNvSpPr/>
          <p:nvPr/>
        </p:nvSpPr>
        <p:spPr bwMode="gray">
          <a:xfrm>
            <a:off x="258881" y="2666395"/>
            <a:ext cx="6331426" cy="6941028"/>
          </a:xfrm>
          <a:prstGeom prst="roundRect">
            <a:avLst>
              <a:gd name="adj" fmla="val 0"/>
            </a:avLst>
          </a:prstGeom>
          <a:noFill/>
          <a:ln w="12700" cap="flat" cmpd="sng" algn="ctr">
            <a:solidFill>
              <a:srgbClr val="1D4E89"/>
            </a:solidFill>
            <a:prstDash val="solid"/>
            <a:miter lim="800000"/>
          </a:ln>
          <a:effectLst/>
        </p:spPr>
        <p:txBody>
          <a:bodyPr vert="horz" lIns="0" tIns="0" rIns="0" bIns="0" rtlCol="0" anchor="t"/>
          <a:lstStyle/>
          <a:p>
            <a:pPr marL="285750" marR="0" lvl="0" indent="-28575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ko-KR" altLang="en-US" sz="1000" b="0" i="0" u="none" strike="noStrike" kern="0" cap="none" normalizeH="0" baseline="0" noProof="0">
              <a:ln w="3175">
                <a:noFill/>
              </a:ln>
              <a:solidFill>
                <a:srgbClr val="44546A"/>
              </a:solidFill>
              <a:effectLst/>
              <a:uLnTx/>
              <a:uFillTx/>
              <a:latin typeface="Pretendard"/>
              <a:ea typeface="Pretendard"/>
              <a:cs typeface="Malgun Gothic" charset="-127"/>
            </a:endParaRPr>
          </a:p>
        </p:txBody>
      </p:sp>
      <p:sp>
        <p:nvSpPr>
          <p:cNvPr id="132" name="사각형: 둥근 위쪽 모서리 131">
            <a:extLst>
              <a:ext uri="{FF2B5EF4-FFF2-40B4-BE49-F238E27FC236}">
                <a16:creationId xmlns:a16="http://schemas.microsoft.com/office/drawing/2014/main" id="{D1108D38-F4F9-BB50-82FE-DF634EB1355D}"/>
              </a:ext>
            </a:extLst>
          </p:cNvPr>
          <p:cNvSpPr/>
          <p:nvPr/>
        </p:nvSpPr>
        <p:spPr>
          <a:xfrm rot="16200000">
            <a:off x="215043" y="3492699"/>
            <a:ext cx="1199249" cy="927245"/>
          </a:xfrm>
          <a:prstGeom prst="round2SameRect">
            <a:avLst/>
          </a:prstGeom>
          <a:solidFill>
            <a:srgbClr val="17406D"/>
          </a:solidFill>
          <a:ln w="12700"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39" name="사각형: 둥근 위쪽 모서리 138">
            <a:extLst>
              <a:ext uri="{FF2B5EF4-FFF2-40B4-BE49-F238E27FC236}">
                <a16:creationId xmlns:a16="http://schemas.microsoft.com/office/drawing/2014/main" id="{72BFC87F-7419-6533-3D3F-4557D760CBCA}"/>
              </a:ext>
            </a:extLst>
          </p:cNvPr>
          <p:cNvSpPr/>
          <p:nvPr/>
        </p:nvSpPr>
        <p:spPr>
          <a:xfrm rot="16200000">
            <a:off x="371768" y="4633800"/>
            <a:ext cx="885800" cy="927245"/>
          </a:xfrm>
          <a:prstGeom prst="round2SameRect">
            <a:avLst/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9475E7F-3624-4053-F682-F3075731A546}"/>
              </a:ext>
            </a:extLst>
          </p:cNvPr>
          <p:cNvSpPr txBox="1"/>
          <p:nvPr/>
        </p:nvSpPr>
        <p:spPr>
          <a:xfrm>
            <a:off x="351041" y="3771960"/>
            <a:ext cx="9272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en-US" altLang="ko-KR" sz="160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Goal</a:t>
            </a:r>
            <a:endParaRPr lang="ko-KR" altLang="en-US" sz="160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54E0B45D-0B13-D335-40F5-D53E8A5530C1}"/>
              </a:ext>
            </a:extLst>
          </p:cNvPr>
          <p:cNvSpPr txBox="1"/>
          <p:nvPr/>
        </p:nvSpPr>
        <p:spPr>
          <a:xfrm>
            <a:off x="351041" y="4866674"/>
            <a:ext cx="9272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en-US" altLang="ko-KR" sz="160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Vision</a:t>
            </a:r>
            <a:endParaRPr lang="ko-KR" altLang="en-US" sz="160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8" name="사각형: 둥근 위쪽 모서리 147">
            <a:extLst>
              <a:ext uri="{FF2B5EF4-FFF2-40B4-BE49-F238E27FC236}">
                <a16:creationId xmlns:a16="http://schemas.microsoft.com/office/drawing/2014/main" id="{AAA7419E-79CC-C2F3-3D31-4C92747943FA}"/>
              </a:ext>
            </a:extLst>
          </p:cNvPr>
          <p:cNvSpPr/>
          <p:nvPr/>
        </p:nvSpPr>
        <p:spPr>
          <a:xfrm rot="16200000">
            <a:off x="-1392084" y="7382028"/>
            <a:ext cx="3848004" cy="361741"/>
          </a:xfrm>
          <a:prstGeom prst="round2SameRect">
            <a:avLst>
              <a:gd name="adj1" fmla="val 16797"/>
              <a:gd name="adj2" fmla="val 0"/>
            </a:avLst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E14BB02-58F9-EF0F-9583-0183B53C7C2D}"/>
              </a:ext>
            </a:extLst>
          </p:cNvPr>
          <p:cNvSpPr txBox="1"/>
          <p:nvPr/>
        </p:nvSpPr>
        <p:spPr>
          <a:xfrm rot="16200000">
            <a:off x="-832602" y="7373877"/>
            <a:ext cx="27804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 latinLnBrk="1"/>
            <a:r>
              <a:rPr lang="en-US" altLang="ko-KR" sz="16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Roadmap Axes</a:t>
            </a:r>
            <a:endParaRPr lang="ko-KR" altLang="en-US" sz="16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3" name="사각형: 둥근 위쪽 모서리 132">
            <a:extLst>
              <a:ext uri="{FF2B5EF4-FFF2-40B4-BE49-F238E27FC236}">
                <a16:creationId xmlns:a16="http://schemas.microsoft.com/office/drawing/2014/main" id="{3B81DCD8-C9E0-1072-F955-B708DBE1DDCD}"/>
              </a:ext>
            </a:extLst>
          </p:cNvPr>
          <p:cNvSpPr/>
          <p:nvPr/>
        </p:nvSpPr>
        <p:spPr>
          <a:xfrm>
            <a:off x="1278289" y="2884216"/>
            <a:ext cx="1680647" cy="468916"/>
          </a:xfrm>
          <a:prstGeom prst="round2SameRect">
            <a:avLst/>
          </a:prstGeom>
          <a:solidFill>
            <a:srgbClr val="0F6FC6"/>
          </a:solidFill>
          <a:ln w="12700">
            <a:solidFill>
              <a:srgbClr val="0F6FC6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algn="ctr" defTabSz="914400" rtl="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2027</a:t>
            </a:r>
            <a:endParaRPr kumimoji="0" lang="ko-KR" altLang="en-US" sz="1400" b="0" i="0" u="none" strike="noStrike" kern="1200" cap="none" spc="0" normalizeH="0" baseline="0" noProof="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4" name="사각형: 둥근 위쪽 모서리 133">
            <a:extLst>
              <a:ext uri="{FF2B5EF4-FFF2-40B4-BE49-F238E27FC236}">
                <a16:creationId xmlns:a16="http://schemas.microsoft.com/office/drawing/2014/main" id="{40B23B11-67CA-A81A-697C-438810A0F72A}"/>
              </a:ext>
            </a:extLst>
          </p:cNvPr>
          <p:cNvSpPr/>
          <p:nvPr/>
        </p:nvSpPr>
        <p:spPr>
          <a:xfrm>
            <a:off x="3033650" y="2884216"/>
            <a:ext cx="1680647" cy="468916"/>
          </a:xfrm>
          <a:prstGeom prst="round2SameRect">
            <a:avLst/>
          </a:prstGeom>
          <a:solidFill>
            <a:srgbClr val="009DD9"/>
          </a:solidFill>
          <a:ln w="12700">
            <a:solidFill>
              <a:srgbClr val="009DD9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algn="ctr" defTabSz="914400" rtl="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2028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</a:t>
            </a:r>
          </a:p>
        </p:txBody>
      </p:sp>
      <p:sp>
        <p:nvSpPr>
          <p:cNvPr id="135" name="사각형: 둥근 위쪽 모서리 134">
            <a:extLst>
              <a:ext uri="{FF2B5EF4-FFF2-40B4-BE49-F238E27FC236}">
                <a16:creationId xmlns:a16="http://schemas.microsoft.com/office/drawing/2014/main" id="{0AD5CE34-7239-D735-1E9D-46D8751AAEE9}"/>
              </a:ext>
            </a:extLst>
          </p:cNvPr>
          <p:cNvSpPr/>
          <p:nvPr/>
        </p:nvSpPr>
        <p:spPr>
          <a:xfrm>
            <a:off x="4789012" y="2884216"/>
            <a:ext cx="1680647" cy="468916"/>
          </a:xfrm>
          <a:prstGeom prst="round2SameRect">
            <a:avLst/>
          </a:prstGeom>
          <a:solidFill>
            <a:srgbClr val="0BD0D9"/>
          </a:solidFill>
          <a:ln w="12700">
            <a:solidFill>
              <a:srgbClr val="0BD0D9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algn="ctr" defTabSz="914400" rtl="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2029~30</a:t>
            </a:r>
            <a:endParaRPr kumimoji="0" lang="ko-KR" altLang="en-US" sz="1400" b="0" i="0" u="none" strike="noStrike" kern="1200" cap="none" spc="0" normalizeH="0" baseline="0" noProof="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5AA2BEAD-8CEB-1531-1C3D-AFD3F5014D60}"/>
              </a:ext>
            </a:extLst>
          </p:cNvPr>
          <p:cNvSpPr/>
          <p:nvPr/>
        </p:nvSpPr>
        <p:spPr>
          <a:xfrm>
            <a:off x="1278288" y="3356696"/>
            <a:ext cx="1680648" cy="1199250"/>
          </a:xfrm>
          <a:prstGeom prst="rect">
            <a:avLst/>
          </a:prstGeom>
          <a:solidFill>
            <a:srgbClr val="0F6FC6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508649AA-7D44-F867-1ED0-3CCBFE537486}"/>
              </a:ext>
            </a:extLst>
          </p:cNvPr>
          <p:cNvSpPr/>
          <p:nvPr/>
        </p:nvSpPr>
        <p:spPr>
          <a:xfrm>
            <a:off x="3033649" y="3356696"/>
            <a:ext cx="1680648" cy="1199250"/>
          </a:xfrm>
          <a:prstGeom prst="rect">
            <a:avLst/>
          </a:prstGeom>
          <a:solidFill>
            <a:srgbClr val="009DD9">
              <a:lumMod val="20000"/>
              <a:lumOff val="80000"/>
              <a:alpha val="50000"/>
            </a:srgbClr>
          </a:solidFill>
          <a:ln w="12700">
            <a:solidFill>
              <a:srgbClr val="009DD9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1DAEE31F-1539-8C41-7765-CAD206CD83FA}"/>
              </a:ext>
            </a:extLst>
          </p:cNvPr>
          <p:cNvSpPr/>
          <p:nvPr/>
        </p:nvSpPr>
        <p:spPr>
          <a:xfrm>
            <a:off x="4789011" y="3356696"/>
            <a:ext cx="1680648" cy="1199250"/>
          </a:xfrm>
          <a:prstGeom prst="rect">
            <a:avLst/>
          </a:prstGeom>
          <a:solidFill>
            <a:srgbClr val="0BD0D9">
              <a:lumMod val="20000"/>
              <a:lumOff val="80000"/>
              <a:alpha val="50000"/>
            </a:srgbClr>
          </a:solidFill>
          <a:ln w="12700">
            <a:solidFill>
              <a:srgbClr val="0BD0D9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2A4F00C8-F0E8-076D-D95C-BF245DBE2674}"/>
              </a:ext>
            </a:extLst>
          </p:cNvPr>
          <p:cNvSpPr/>
          <p:nvPr/>
        </p:nvSpPr>
        <p:spPr>
          <a:xfrm>
            <a:off x="1278288" y="4654522"/>
            <a:ext cx="1680648" cy="885802"/>
          </a:xfrm>
          <a:prstGeom prst="rect">
            <a:avLst/>
          </a:prstGeom>
          <a:solidFill>
            <a:srgbClr val="0F6FC6"/>
          </a:solidFill>
          <a:ln w="12700">
            <a:solidFill>
              <a:srgbClr val="0F6FC6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EF9FFA4-1C73-32DD-6551-D3A68252EB1E}"/>
              </a:ext>
            </a:extLst>
          </p:cNvPr>
          <p:cNvSpPr/>
          <p:nvPr/>
        </p:nvSpPr>
        <p:spPr>
          <a:xfrm>
            <a:off x="3033649" y="4654522"/>
            <a:ext cx="1680648" cy="885802"/>
          </a:xfrm>
          <a:prstGeom prst="rect">
            <a:avLst/>
          </a:prstGeom>
          <a:solidFill>
            <a:srgbClr val="009DD9"/>
          </a:solidFill>
          <a:ln w="12700">
            <a:solidFill>
              <a:srgbClr val="009DD9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260D8CE5-288A-CEB8-AACF-DB6716A8CCD4}"/>
              </a:ext>
            </a:extLst>
          </p:cNvPr>
          <p:cNvSpPr/>
          <p:nvPr/>
        </p:nvSpPr>
        <p:spPr>
          <a:xfrm>
            <a:off x="4789011" y="4654522"/>
            <a:ext cx="1680648" cy="885802"/>
          </a:xfrm>
          <a:prstGeom prst="rect">
            <a:avLst/>
          </a:prstGeom>
          <a:solidFill>
            <a:srgbClr val="0BD0D9"/>
          </a:solidFill>
          <a:ln w="12700">
            <a:solidFill>
              <a:srgbClr val="0BD0D9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defTabSz="9144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2E9084A5-AFF8-646B-36BE-846F6747085D}"/>
              </a:ext>
            </a:extLst>
          </p:cNvPr>
          <p:cNvSpPr txBox="1"/>
          <p:nvPr/>
        </p:nvSpPr>
        <p:spPr>
          <a:xfrm>
            <a:off x="3429447" y="2908901"/>
            <a:ext cx="8890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endParaRPr lang="ko-KR" altLang="en-US" sz="14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C51F598-0F5C-19C2-E57C-3CCC11EB9A9B}"/>
              </a:ext>
            </a:extLst>
          </p:cNvPr>
          <p:cNvSpPr txBox="1"/>
          <p:nvPr/>
        </p:nvSpPr>
        <p:spPr>
          <a:xfrm>
            <a:off x="4995833" y="2908901"/>
            <a:ext cx="12848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endParaRPr lang="ko-KR" altLang="en-US" sz="14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2693EEBF-A251-7B34-FF12-52AD2A1D855D}"/>
              </a:ext>
            </a:extLst>
          </p:cNvPr>
          <p:cNvSpPr txBox="1"/>
          <p:nvPr/>
        </p:nvSpPr>
        <p:spPr>
          <a:xfrm>
            <a:off x="1397291" y="3428029"/>
            <a:ext cx="14426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기반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E4C91806-E34F-3765-D7A9-0FEBBFB227AE}"/>
              </a:ext>
            </a:extLst>
          </p:cNvPr>
          <p:cNvSpPr txBox="1"/>
          <p:nvPr/>
        </p:nvSpPr>
        <p:spPr>
          <a:xfrm flipH="1">
            <a:off x="1342767" y="3838635"/>
            <a:ext cx="1551687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>
              <a:lnSpc>
                <a:spcPct val="120000"/>
              </a:lnSpc>
              <a:spcBef>
                <a:spcPts val="400"/>
              </a:spcBef>
            </a:pP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</a:t>
            </a:r>
            <a:r>
              <a:rPr lang="ko-KR" altLang="en-US" sz="11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기능모듈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안정 운영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자원산정 기준 정착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운영전환 완료</a:t>
            </a:r>
            <a:endParaRPr lang="en-US" altLang="ko-KR" sz="11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C0BB6EA1-D2BC-F7E7-FA86-D53135887167}"/>
              </a:ext>
            </a:extLst>
          </p:cNvPr>
          <p:cNvSpPr txBox="1"/>
          <p:nvPr/>
        </p:nvSpPr>
        <p:spPr>
          <a:xfrm>
            <a:off x="1278287" y="4854064"/>
            <a:ext cx="16806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ko-KR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'구축 </a:t>
            </a:r>
            <a:r>
              <a:rPr lang="ko-KR" altLang="ko-KR" sz="14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산출물'에서</a:t>
            </a:r>
            <a:br>
              <a:rPr lang="ko-KR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ko-KR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실사용 </a:t>
            </a:r>
            <a:r>
              <a:rPr lang="ko-KR" altLang="ko-KR" sz="14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서비스</a:t>
            </a:r>
            <a:r>
              <a:rPr lang="ko-KR" altLang="ko-KR" sz="14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'로</a:t>
            </a:r>
            <a:endParaRPr lang="ko-KR" altLang="en-US" sz="14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C5437854-3CE8-97D4-8AB6-A5A8372AF107}"/>
              </a:ext>
            </a:extLst>
          </p:cNvPr>
          <p:cNvSpPr txBox="1"/>
          <p:nvPr/>
        </p:nvSpPr>
        <p:spPr>
          <a:xfrm>
            <a:off x="3152654" y="3428029"/>
            <a:ext cx="14426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ko-KR" altLang="en-US" sz="140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고도화</a:t>
            </a:r>
            <a:r>
              <a:rPr lang="en-US" altLang="ko-KR" sz="140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40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자동화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280886CA-C608-2DFF-DF12-AF3E79F517CC}"/>
              </a:ext>
            </a:extLst>
          </p:cNvPr>
          <p:cNvSpPr txBox="1"/>
          <p:nvPr/>
        </p:nvSpPr>
        <p:spPr>
          <a:xfrm flipH="1">
            <a:off x="3033645" y="3838635"/>
            <a:ext cx="1680656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>
              <a:lnSpc>
                <a:spcPct val="120000"/>
              </a:lnSpc>
              <a:spcBef>
                <a:spcPts val="400"/>
              </a:spcBef>
            </a:pP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생산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가공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합성 기능 확장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 </a:t>
            </a:r>
            <a:r>
              <a:rPr lang="ko-KR" altLang="en-US" sz="11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라벨링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체계 구축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민간 제공기관 확대</a:t>
            </a:r>
            <a:endParaRPr lang="en-US" altLang="ko-KR" sz="11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DDD6966B-3C9C-AC51-C0AD-FA3158B9C586}"/>
              </a:ext>
            </a:extLst>
          </p:cNvPr>
          <p:cNvSpPr txBox="1"/>
          <p:nvPr/>
        </p:nvSpPr>
        <p:spPr>
          <a:xfrm>
            <a:off x="4911094" y="3428029"/>
            <a:ext cx="14426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전면 확장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E7CD5308-91B3-AEEE-7A70-0DF2B1FCABDB}"/>
              </a:ext>
            </a:extLst>
          </p:cNvPr>
          <p:cNvSpPr txBox="1"/>
          <p:nvPr/>
        </p:nvSpPr>
        <p:spPr>
          <a:xfrm flipH="1">
            <a:off x="4856571" y="3838635"/>
            <a:ext cx="1551687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>
              <a:lnSpc>
                <a:spcPct val="120000"/>
              </a:lnSpc>
              <a:spcBef>
                <a:spcPts val="400"/>
              </a:spcBef>
            </a:pP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모델 통합 활용 체계 구축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국제</a:t>
            </a:r>
            <a:r>
              <a:rPr lang="en-US" altLang="ko-KR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1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민간 네트워크 확장</a:t>
            </a:r>
            <a:endParaRPr lang="en-US" altLang="ko-KR" sz="11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A8FFB643-2E33-D1C0-BE32-0EB7C050C5D3}"/>
              </a:ext>
            </a:extLst>
          </p:cNvPr>
          <p:cNvSpPr txBox="1"/>
          <p:nvPr/>
        </p:nvSpPr>
        <p:spPr>
          <a:xfrm>
            <a:off x="3033649" y="4854064"/>
            <a:ext cx="16806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수동 등록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검수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’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에서</a:t>
            </a:r>
            <a:b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자동 생산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가공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으로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8340234-5497-37D9-7ADC-6BFEA21A08F9}"/>
              </a:ext>
            </a:extLst>
          </p:cNvPr>
          <p:cNvSpPr txBox="1"/>
          <p:nvPr/>
        </p:nvSpPr>
        <p:spPr>
          <a:xfrm>
            <a:off x="4789009" y="4854064"/>
            <a:ext cx="16806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'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srgbClr val="FFFF0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모델 통합 활용 기반</a:t>
            </a:r>
            <a:r>
              <a:rPr lang="en-US" altLang="ko-KR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’ </a:t>
            </a:r>
            <a:r>
              <a:rPr lang="ko-KR" altLang="en-US" sz="14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D3A72684-6804-DFCE-C588-8C5453E2EA15}"/>
              </a:ext>
            </a:extLst>
          </p:cNvPr>
          <p:cNvSpPr/>
          <p:nvPr/>
        </p:nvSpPr>
        <p:spPr>
          <a:xfrm>
            <a:off x="741002" y="5638896"/>
            <a:ext cx="537285" cy="744539"/>
          </a:xfrm>
          <a:prstGeom prst="rect">
            <a:avLst/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algn="ctr" defTabSz="914400" rtl="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자원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3410B171-9483-9F74-0603-B5BDD62FC6E4}"/>
              </a:ext>
            </a:extLst>
          </p:cNvPr>
          <p:cNvSpPr/>
          <p:nvPr/>
        </p:nvSpPr>
        <p:spPr>
          <a:xfrm>
            <a:off x="741002" y="6414966"/>
            <a:ext cx="537285" cy="744539"/>
          </a:xfrm>
          <a:prstGeom prst="rect">
            <a:avLst/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0" marR="0" lvl="0" indent="0" algn="ctr" defTabSz="914400" rtl="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기능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7C6AFE0-CD87-6A19-9776-3989DBA02E37}"/>
              </a:ext>
            </a:extLst>
          </p:cNvPr>
          <p:cNvSpPr/>
          <p:nvPr/>
        </p:nvSpPr>
        <p:spPr>
          <a:xfrm>
            <a:off x="741002" y="7191035"/>
            <a:ext cx="537285" cy="744539"/>
          </a:xfrm>
          <a:prstGeom prst="rect">
            <a:avLst/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91436" tIns="91436" rIns="91436" bIns="91436" rtlCol="0" anchor="ctr"/>
          <a:lstStyle/>
          <a:p>
            <a:pPr algn="ctr" defTabSz="914400">
              <a:defRPr/>
            </a:pPr>
            <a:r>
              <a:rPr lang="ko-KR" altLang="ko-KR" sz="12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대상</a:t>
            </a:r>
            <a:endParaRPr lang="ko-KR" altLang="en-US" sz="12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FC650CF9-A1D3-96C1-4660-01D6237B1FAE}"/>
              </a:ext>
            </a:extLst>
          </p:cNvPr>
          <p:cNvSpPr/>
          <p:nvPr/>
        </p:nvSpPr>
        <p:spPr>
          <a:xfrm>
            <a:off x="741002" y="7967106"/>
            <a:ext cx="537285" cy="744539"/>
          </a:xfrm>
          <a:prstGeom prst="rect">
            <a:avLst/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36000" tIns="91436" rIns="36000" bIns="91436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30850FD9-7B8D-F4EE-5212-B569C6C6B236}"/>
              </a:ext>
            </a:extLst>
          </p:cNvPr>
          <p:cNvSpPr txBox="1"/>
          <p:nvPr/>
        </p:nvSpPr>
        <p:spPr>
          <a:xfrm>
            <a:off x="688729" y="5759901"/>
            <a:ext cx="6418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/>
            <a:endParaRPr lang="ko-KR" altLang="en-US" sz="12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1A8E63EB-34CB-0588-3424-2238B5311222}"/>
              </a:ext>
            </a:extLst>
          </p:cNvPr>
          <p:cNvSpPr/>
          <p:nvPr/>
        </p:nvSpPr>
        <p:spPr>
          <a:xfrm>
            <a:off x="1278288" y="5638896"/>
            <a:ext cx="1680648" cy="744539"/>
          </a:xfrm>
          <a:prstGeom prst="rect">
            <a:avLst/>
          </a:prstGeom>
          <a:solidFill>
            <a:srgbClr val="0F6FC6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marR="0" lvl="0" indent="-171450" algn="l" defTabSz="914400" rtl="0" eaLnBrk="1" fontAlgn="auto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GPU 45~70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배치</a:t>
            </a:r>
            <a:endParaRPr kumimoji="0" lang="en-US" altLang="ko-KR" sz="1000" b="0" i="0" u="none" strike="noStrike" kern="1200" cap="none" spc="0" normalizeH="0" baseline="0" noProof="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marR="0" lvl="0" indent="-171450" algn="l" defTabSz="914400" rtl="0" eaLnBrk="1" fontAlgn="auto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 구역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안정 운영</a:t>
            </a:r>
            <a:endParaRPr kumimoji="0" lang="en-US" altLang="ko-KR" sz="1000" b="0" i="0" u="none" strike="noStrike" kern="1200" cap="none" spc="0" normalizeH="0" baseline="0" noProof="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90C675AD-9A67-C1D4-6C78-D2244F4D42E1}"/>
              </a:ext>
            </a:extLst>
          </p:cNvPr>
          <p:cNvSpPr/>
          <p:nvPr/>
        </p:nvSpPr>
        <p:spPr>
          <a:xfrm>
            <a:off x="1278288" y="6414966"/>
            <a:ext cx="1680648" cy="744539"/>
          </a:xfrm>
          <a:prstGeom prst="rect">
            <a:avLst/>
          </a:prstGeom>
          <a:solidFill>
            <a:srgbClr val="0F6FC6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8대 모듈안정 운영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워크스페이스 학습세션 운영 안정화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C4E061A1-7845-9CA6-E548-4440E8609080}"/>
              </a:ext>
            </a:extLst>
          </p:cNvPr>
          <p:cNvSpPr/>
          <p:nvPr/>
        </p:nvSpPr>
        <p:spPr>
          <a:xfrm>
            <a:off x="1278288" y="7191036"/>
            <a:ext cx="1680648" cy="744539"/>
          </a:xfrm>
          <a:prstGeom prst="rect">
            <a:avLst/>
          </a:prstGeom>
          <a:solidFill>
            <a:srgbClr val="0F6FC6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약 1,000종 데이터, 공공기관 중심 운영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외부기관 100종 신규 등록 완료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B06A08F1-964B-1A94-4B2E-C37D125CF18B}"/>
              </a:ext>
            </a:extLst>
          </p:cNvPr>
          <p:cNvSpPr/>
          <p:nvPr/>
        </p:nvSpPr>
        <p:spPr>
          <a:xfrm>
            <a:off x="1278288" y="7967102"/>
            <a:ext cx="1680648" cy="744539"/>
          </a:xfrm>
          <a:prstGeom prst="rect">
            <a:avLst/>
          </a:prstGeom>
          <a:solidFill>
            <a:srgbClr val="0F6FC6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텍스트·이미지·영</a:t>
            </a:r>
            <a:r>
              <a:rPr lang="ko-KR" altLang="en-US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상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등 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표준 스키마 정착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메타데이터 </a:t>
            </a: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품질검수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체계 안정화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142C4E6-7F21-1977-3E59-E5ED96945F11}"/>
              </a:ext>
            </a:extLst>
          </p:cNvPr>
          <p:cNvSpPr/>
          <p:nvPr/>
        </p:nvSpPr>
        <p:spPr>
          <a:xfrm>
            <a:off x="3033649" y="5638896"/>
            <a:ext cx="1680648" cy="744539"/>
          </a:xfrm>
          <a:prstGeom prst="rect">
            <a:avLst/>
          </a:prstGeom>
          <a:solidFill>
            <a:srgbClr val="009D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점유율 공식 기준 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차 증설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약 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59~91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대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</a:p>
          <a:p>
            <a:pPr marL="17145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가공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합성 처리 전용 자원 별도 확보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AC045B81-CCFA-E52E-051C-4DD1FF1D5687}"/>
              </a:ext>
            </a:extLst>
          </p:cNvPr>
          <p:cNvSpPr/>
          <p:nvPr/>
        </p:nvSpPr>
        <p:spPr>
          <a:xfrm>
            <a:off x="3033649" y="6414966"/>
            <a:ext cx="1680648" cy="744539"/>
          </a:xfrm>
          <a:prstGeom prst="rect">
            <a:avLst/>
          </a:prstGeom>
          <a:solidFill>
            <a:srgbClr val="009D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비식별·자동라벨링</a:t>
            </a:r>
            <a:r>
              <a:rPr lang="en-US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추가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합성데이터 생성 기능 추가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E26786D2-1A4A-3476-AFB0-BF733BC475D5}"/>
              </a:ext>
            </a:extLst>
          </p:cNvPr>
          <p:cNvSpPr/>
          <p:nvPr/>
        </p:nvSpPr>
        <p:spPr>
          <a:xfrm>
            <a:off x="3033649" y="7191036"/>
            <a:ext cx="1680648" cy="744539"/>
          </a:xfrm>
          <a:prstGeom prst="rect">
            <a:avLst/>
          </a:prstGeom>
          <a:solidFill>
            <a:srgbClr val="009D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민간 제공기관 확대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신규 도메인 데이터 등록 확대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6DE7DD7E-8C7D-DDA7-B70F-4AE87D9FA3C3}"/>
              </a:ext>
            </a:extLst>
          </p:cNvPr>
          <p:cNvSpPr/>
          <p:nvPr/>
        </p:nvSpPr>
        <p:spPr>
          <a:xfrm>
            <a:off x="3033649" y="7967102"/>
            <a:ext cx="1680648" cy="744539"/>
          </a:xfrm>
          <a:prstGeom prst="rect">
            <a:avLst/>
          </a:prstGeom>
          <a:solidFill>
            <a:srgbClr val="009D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가공중간산출물 유형 추가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합성데이터 유형 추가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품질기준 자동판정 비율 확대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9E7BD201-54EC-38B7-6BF7-FB450134BA53}"/>
              </a:ext>
            </a:extLst>
          </p:cNvPr>
          <p:cNvSpPr/>
          <p:nvPr/>
        </p:nvSpPr>
        <p:spPr>
          <a:xfrm>
            <a:off x="4789010" y="5638896"/>
            <a:ext cx="1680648" cy="744539"/>
          </a:xfrm>
          <a:prstGeom prst="rect">
            <a:avLst/>
          </a:prstGeom>
          <a:solidFill>
            <a:srgbClr val="0BD0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누적 확장(약 70~109대)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모델 </a:t>
            </a: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학습·서빙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전용 자원 분리 배치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C8E9-1A57-7758-8940-AD6E64A5D2AD}"/>
              </a:ext>
            </a:extLst>
          </p:cNvPr>
          <p:cNvSpPr/>
          <p:nvPr/>
        </p:nvSpPr>
        <p:spPr>
          <a:xfrm>
            <a:off x="4789010" y="6414966"/>
            <a:ext cx="1680648" cy="744539"/>
          </a:xfrm>
          <a:prstGeom prst="rect">
            <a:avLst/>
          </a:prstGeom>
          <a:solidFill>
            <a:srgbClr val="0BD0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모델 학습-배포 연계 기능 추가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외부 </a:t>
            </a: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마켓플레이스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연계 기능 추</a:t>
            </a:r>
            <a:r>
              <a:rPr lang="ko-KR" altLang="en-US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9FB71B48-6ED3-96AD-FFAB-78DF9CCCC294}"/>
              </a:ext>
            </a:extLst>
          </p:cNvPr>
          <p:cNvSpPr/>
          <p:nvPr/>
        </p:nvSpPr>
        <p:spPr>
          <a:xfrm>
            <a:off x="4789010" y="7191036"/>
            <a:ext cx="1680648" cy="744539"/>
          </a:xfrm>
          <a:prstGeom prst="rect">
            <a:avLst/>
          </a:prstGeom>
          <a:solidFill>
            <a:srgbClr val="0BD0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데이터+모델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동시 활용 대상으로 확대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국제 연계 대상 검토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9E628C57-53D7-8350-617E-9B8EEA5B3E79}"/>
              </a:ext>
            </a:extLst>
          </p:cNvPr>
          <p:cNvSpPr/>
          <p:nvPr/>
        </p:nvSpPr>
        <p:spPr>
          <a:xfrm>
            <a:off x="4789010" y="7967102"/>
            <a:ext cx="1680648" cy="744539"/>
          </a:xfrm>
          <a:prstGeom prst="rect">
            <a:avLst/>
          </a:prstGeom>
          <a:solidFill>
            <a:srgbClr val="0BD0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멀티모달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통합 데이터셋 유형 확장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실시간 스트리밍 데이터 유형 추가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85F9E345-CC47-2206-B651-D01EE6063EA4}"/>
              </a:ext>
            </a:extLst>
          </p:cNvPr>
          <p:cNvSpPr/>
          <p:nvPr/>
        </p:nvSpPr>
        <p:spPr>
          <a:xfrm>
            <a:off x="741002" y="8742362"/>
            <a:ext cx="537285" cy="744539"/>
          </a:xfrm>
          <a:prstGeom prst="rect">
            <a:avLst/>
          </a:prstGeom>
          <a:solidFill>
            <a:srgbClr val="17406D"/>
          </a:solidFill>
          <a:ln w="12700">
            <a:solidFill>
              <a:srgbClr val="17406D"/>
            </a:solidFill>
            <a:miter lim="400000"/>
          </a:ln>
        </p:spPr>
        <p:txBody>
          <a:bodyPr lIns="36000" tIns="91436" rIns="36000" bIns="91436" rtlCol="0" anchor="ctr"/>
          <a:lstStyle/>
          <a:p>
            <a:pPr algn="ctr" defTabSz="914400" latinLnBrk="1">
              <a:defRPr/>
            </a:pPr>
            <a:r>
              <a:rPr lang="ko-KR" altLang="ko-KR" sz="12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AI적용</a:t>
            </a:r>
            <a:endParaRPr lang="ko-KR" altLang="en-US" sz="12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white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8A4C0988-2973-4E7D-F85F-FA9880E9F198}"/>
              </a:ext>
            </a:extLst>
          </p:cNvPr>
          <p:cNvSpPr/>
          <p:nvPr/>
        </p:nvSpPr>
        <p:spPr>
          <a:xfrm>
            <a:off x="1278288" y="8742359"/>
            <a:ext cx="1680648" cy="744539"/>
          </a:xfrm>
          <a:prstGeom prst="rect">
            <a:avLst/>
          </a:prstGeom>
          <a:solidFill>
            <a:srgbClr val="0F6FC6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벡터DB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기반 자연어 검색 안정 운영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온톨로지 기반 공통 용어체계 1차 구축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7842F97E-DCAE-0F65-8A98-921386BE8EF8}"/>
              </a:ext>
            </a:extLst>
          </p:cNvPr>
          <p:cNvSpPr/>
          <p:nvPr/>
        </p:nvSpPr>
        <p:spPr>
          <a:xfrm>
            <a:off x="3033649" y="8742359"/>
            <a:ext cx="1680648" cy="744539"/>
          </a:xfrm>
          <a:prstGeom prst="rect">
            <a:avLst/>
          </a:prstGeom>
          <a:solidFill>
            <a:srgbClr val="009D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자동 </a:t>
            </a: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라벨링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AI 적용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품질진단 AI 적용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 err="1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검색·추천</a:t>
            </a: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정확도 고도화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DBC4C3F8-01F6-28B5-3C7F-6DBE6ED6DA22}"/>
              </a:ext>
            </a:extLst>
          </p:cNvPr>
          <p:cNvSpPr/>
          <p:nvPr/>
        </p:nvSpPr>
        <p:spPr>
          <a:xfrm>
            <a:off x="4789010" y="8742359"/>
            <a:ext cx="1680648" cy="744539"/>
          </a:xfrm>
          <a:prstGeom prst="rect">
            <a:avLst/>
          </a:prstGeom>
          <a:solidFill>
            <a:srgbClr val="0BD0D9">
              <a:lumMod val="20000"/>
              <a:lumOff val="80000"/>
              <a:alpha val="50000"/>
            </a:srgbClr>
          </a:solidFill>
          <a:ln w="12700">
            <a:solidFill>
              <a:srgbClr val="0F6FC6">
                <a:lumMod val="20000"/>
                <a:lumOff val="80000"/>
                <a:alpha val="50000"/>
              </a:srgbClr>
            </a:solidFill>
            <a:miter lim="400000"/>
          </a:ln>
        </p:spPr>
        <p:txBody>
          <a:bodyPr lIns="91436" tIns="91436" rIns="91436" bIns="91436" rtlCol="0" anchor="ctr"/>
          <a:lstStyle/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데이터-모델 추천 자동연계 AI 적용</a:t>
            </a:r>
            <a:endParaRPr lang="en-US" altLang="ko-KR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lvl="0" indent="-171450" defTabSz="914400">
              <a:spcBef>
                <a:spcPts val="400"/>
              </a:spcBef>
              <a:buFont typeface="Arial" panose="020B0604020202020204" pitchFamily="34" charset="0"/>
              <a:buChar char="•"/>
              <a:defRPr/>
            </a:pPr>
            <a:r>
              <a:rPr lang="ko-KR" altLang="ko-KR" sz="1000" dirty="0">
                <a:ln>
                  <a:solidFill>
                    <a:srgbClr val="0F6FC6">
                      <a:alpha val="0"/>
                    </a:srgbClr>
                  </a:solidFill>
                </a:ln>
                <a:solidFill>
                  <a:prstClr val="black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에이전트 기반 활용지원 확대</a:t>
            </a:r>
            <a:endParaRPr lang="ko-KR" altLang="en-US" sz="1000" dirty="0">
              <a:ln>
                <a:solidFill>
                  <a:srgbClr val="0F6FC6">
                    <a:alpha val="0"/>
                  </a:srgbClr>
                </a:solidFill>
              </a:ln>
              <a:solidFill>
                <a:prstClr val="black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669638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FA4929-DAB3-8D0D-3041-CA7B1ADB95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7DEE02F-6E2D-06E4-FB79-C6DB9680ACEF}"/>
              </a:ext>
            </a:extLst>
          </p:cNvPr>
          <p:cNvSpPr txBox="1"/>
          <p:nvPr/>
        </p:nvSpPr>
        <p:spPr>
          <a:xfrm>
            <a:off x="1416060" y="1498812"/>
            <a:ext cx="43941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사업수행 및 관리</a:t>
            </a:r>
          </a:p>
        </p:txBody>
      </p:sp>
      <p:sp>
        <p:nvSpPr>
          <p:cNvPr id="6" name="TextBox 17">
            <a:extLst>
              <a:ext uri="{FF2B5EF4-FFF2-40B4-BE49-F238E27FC236}">
                <a16:creationId xmlns:a16="http://schemas.microsoft.com/office/drawing/2014/main" id="{B51AAA54-C925-5E3F-C50C-05CD28F495FF}"/>
              </a:ext>
            </a:extLst>
          </p:cNvPr>
          <p:cNvSpPr txBox="1"/>
          <p:nvPr/>
        </p:nvSpPr>
        <p:spPr>
          <a:xfrm>
            <a:off x="315018" y="1209008"/>
            <a:ext cx="1101042" cy="1142350"/>
          </a:xfrm>
          <a:prstGeom prst="rect">
            <a:avLst/>
          </a:prstGeom>
          <a:noFill/>
          <a:effectLst/>
        </p:spPr>
        <p:txBody>
          <a:bodyPr wrap="none" lIns="34022" tIns="17011" rIns="34022" bIns="17011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1" defTabSz="208696" latinLnBrk="0">
              <a:defRPr/>
            </a:pPr>
            <a:r>
              <a:rPr kumimoji="1" lang="en-US" altLang="ko-KR" sz="7200" b="1">
                <a:ln>
                  <a:solidFill>
                    <a:srgbClr val="4FD1FF">
                      <a:alpha val="0"/>
                    </a:srgbClr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ldhabi" panose="01000000000000000000" pitchFamily="2" charset="-78"/>
                <a:ea typeface="KoPubWorld바탕체 Bold" panose="00000800000000000000" pitchFamily="2" charset="-127"/>
                <a:cs typeface="Aldhabi" panose="01000000000000000000" pitchFamily="2" charset="-78"/>
              </a:rPr>
              <a:t>Ⅲ.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94A49CB0-14F9-C3F1-11A4-9FBED86B2399}"/>
              </a:ext>
            </a:extLst>
          </p:cNvPr>
          <p:cNvCxnSpPr>
            <a:cxnSpLocks/>
          </p:cNvCxnSpPr>
          <p:nvPr/>
        </p:nvCxnSpPr>
        <p:spPr>
          <a:xfrm>
            <a:off x="713137" y="2472264"/>
            <a:ext cx="3528663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A1A2C44D-B4B1-0E88-5B90-42212BF5A3AB}"/>
              </a:ext>
            </a:extLst>
          </p:cNvPr>
          <p:cNvSpPr txBox="1"/>
          <p:nvPr/>
        </p:nvSpPr>
        <p:spPr>
          <a:xfrm>
            <a:off x="729814" y="2593171"/>
            <a:ext cx="5080436" cy="43242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일정계획 및 산출물 내역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 관리 방안</a:t>
            </a:r>
            <a:endParaRPr lang="en-US" altLang="ko-KR" sz="2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안전관리</a:t>
            </a:r>
            <a:r>
              <a:rPr lang="en-US" altLang="ko-KR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재난관리 등 비상대책 수립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품질보증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수행조직 및 업무분장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하도급 계획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endParaRPr lang="ko-KR" altLang="en-US" sz="2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60401922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6F0730-8EF2-ECE8-A793-C20913D7DD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A65A34FB-AA35-36F1-5831-27B2EF1C3A1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 sz="1600">
                <a:solidFill>
                  <a:schemeClr val="tx1"/>
                </a:solidFill>
              </a:rPr>
              <a:t>일정계획 및 산출물 내역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B5D187D-6F08-B17D-2EDF-A088D3CECA37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7EBF23A-D812-07A2-3417-1747C636827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월별 추진일정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EFF73F7-A7C1-8E92-E197-F82368317FC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전체 일정계획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AF1E0082-5EDB-DBC0-6B93-611F56A7993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구축부터 품질관리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활용방안 수립까지 전 과업을 월별 추진일정으로 구체화하여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사업기간 내 안정적 수행과 성과 도출이 가능하도록 일정관리 체계를 마련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7181D13-71F7-B451-0AE5-0FCDFFCC802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78E7C7AA-57A2-4570-6293-FC16CD627630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추진일정표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926C489-C81B-DBB1-7FFE-C77F0D84CF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2359265"/>
              </p:ext>
            </p:extLst>
          </p:nvPr>
        </p:nvGraphicFramePr>
        <p:xfrm>
          <a:off x="288271" y="2666517"/>
          <a:ext cx="6360912" cy="6741685"/>
        </p:xfrm>
        <a:graphic>
          <a:graphicData uri="http://schemas.openxmlformats.org/drawingml/2006/table">
            <a:tbl>
              <a:tblPr/>
              <a:tblGrid>
                <a:gridCol w="2304000">
                  <a:extLst>
                    <a:ext uri="{9D8B030D-6E8A-4147-A177-3AD203B41FA5}">
                      <a16:colId xmlns:a16="http://schemas.microsoft.com/office/drawing/2014/main" val="2693016621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191545920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728478265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2779563992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2608785970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559326110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777788794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083795422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969760655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58204972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46046228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864382051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949235184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684264165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718799207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912986052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279989098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969369916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2807640600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188202754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586589560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1187482285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2954827930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3716826613"/>
                    </a:ext>
                  </a:extLst>
                </a:gridCol>
                <a:gridCol w="169038">
                  <a:extLst>
                    <a:ext uri="{9D8B030D-6E8A-4147-A177-3AD203B41FA5}">
                      <a16:colId xmlns:a16="http://schemas.microsoft.com/office/drawing/2014/main" val="4280621807"/>
                    </a:ext>
                  </a:extLst>
                </a:gridCol>
              </a:tblGrid>
              <a:tr h="242670">
                <a:tc rowSpan="3"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항목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gridSpan="2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추진 일정</a:t>
                      </a: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2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15" marR="36015" marT="9957" marB="9957" anchor="ctr">
                    <a:lnL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2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15" marR="36015" marT="9957" marB="9957" anchor="ctr">
                    <a:lnL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2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15" marR="36015" marT="9957" marB="9957" anchor="ctr">
                    <a:lnL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2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15" marR="36015" marT="9957" marB="9957" anchor="ctr">
                    <a:lnL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3711885"/>
                  </a:ext>
                </a:extLst>
              </a:tr>
              <a:tr h="2426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M+1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M+2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M+3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M+4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M+5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en-US" sz="1000" kern="0" spc="0">
                        <a:solidFill>
                          <a:srgbClr val="FFFFFF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15" marR="0" marT="9957" marB="9957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3178928"/>
                  </a:ext>
                </a:extLst>
              </a:tr>
              <a:tr h="242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15" marR="36015" marT="9957" marB="9957" anchor="ctr">
                    <a:lnL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F76B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4786924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205740" marR="0" indent="-20574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1 </a:t>
                      </a:r>
                      <a:r>
                        <a:rPr lang="en-US" sz="1000" b="1" kern="0" spc="0" err="1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개방DB</a:t>
                      </a: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 및 AI </a:t>
                      </a:r>
                      <a:r>
                        <a:rPr lang="en-US" sz="1000" b="1" kern="0" spc="0" err="1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데이터</a:t>
                      </a: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 </a:t>
                      </a:r>
                      <a:r>
                        <a:rPr lang="en-US" sz="1000" b="1" kern="0" spc="0" err="1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구축</a:t>
                      </a:r>
                      <a:endParaRPr lang="en-US" sz="1000" b="1" kern="0" spc="0">
                        <a:solidFill>
                          <a:srgbClr val="000000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165508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현황분석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및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요구사항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정의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5944456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DB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7630277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DB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08407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DB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684941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인공지능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정제·가공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6750566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개방포털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0729189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2. 품질 진단 및 개선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8498425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진단계획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수립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4191280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진단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7255223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개선계획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수립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1389950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수행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0548923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관리체계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수립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7512838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3. </a:t>
                      </a:r>
                      <a:r>
                        <a:rPr lang="en-US" sz="1000" b="1" kern="0" spc="0" err="1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오픈API</a:t>
                      </a: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 </a:t>
                      </a:r>
                      <a:r>
                        <a:rPr lang="en-US" sz="1000" b="1" kern="0" spc="0" err="1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개발</a:t>
                      </a:r>
                      <a:endParaRPr lang="en-US" sz="1000" b="1" kern="0" spc="0">
                        <a:solidFill>
                          <a:srgbClr val="000000"/>
                        </a:solidFill>
                        <a:effectLst/>
                        <a:latin typeface="KoPubWorld돋움체 Bold" panose="00000800000000000000" pitchFamily="2" charset="-127"/>
                        <a:ea typeface="KoPubWorld돋움체 Bold" panose="00000800000000000000" pitchFamily="2" charset="-127"/>
                        <a:cs typeface="KoPubWorld돋움체 Bold" panose="000008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6863001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235338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API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7842948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API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8814789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개방포털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152346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수요자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협의체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구성·운영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8335988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4. 성과계획 및 활용방안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422338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성과계획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수립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816726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비즈니스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시나리오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모델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7093514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20000"/>
                        </a:lnSpc>
                        <a:buNone/>
                      </a:pPr>
                      <a:r>
                        <a:rPr lang="en-US" sz="1000" b="1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5. 인프라(장비) 도입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2577541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도입장비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납품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1601156"/>
                  </a:ext>
                </a:extLst>
              </a:tr>
              <a:tr h="230467">
                <a:tc>
                  <a:txBody>
                    <a:bodyPr/>
                    <a:lstStyle/>
                    <a:p>
                      <a:pPr marL="0" marR="0" indent="0" algn="just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-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장비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설치</a:t>
                      </a:r>
                      <a:r>
                        <a:rPr 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및 </a:t>
                      </a:r>
                      <a:r>
                        <a:rPr 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시험</a:t>
                      </a:r>
                      <a:endParaRPr 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058211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착수보고▲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, </a:t>
                      </a: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중간보고</a:t>
                      </a:r>
                      <a:r>
                        <a:rPr lang="ko-KR" altLang="en-US" sz="1000" kern="0" spc="0">
                          <a:solidFill>
                            <a:srgbClr val="0000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▲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, </a:t>
                      </a: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최종보고</a:t>
                      </a:r>
                      <a:r>
                        <a:rPr lang="ko-KR" altLang="en-US" sz="1000" kern="0" spc="0">
                          <a:solidFill>
                            <a:srgbClr val="FF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▲</a:t>
                      </a:r>
                      <a:r>
                        <a:rPr lang="en-US" altLang="ko-KR" sz="1000" kern="0" spc="0">
                          <a:solidFill>
                            <a:srgbClr val="FF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, </a:t>
                      </a: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감리</a:t>
                      </a:r>
                      <a:r>
                        <a:rPr lang="ko-KR" altLang="en-US" sz="1000" kern="0" spc="0">
                          <a:solidFill>
                            <a:srgbClr val="FF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 </a:t>
                      </a:r>
                      <a:r>
                        <a:rPr lang="ko-KR" altLang="en-US" sz="1000" kern="0" spc="0">
                          <a:solidFill>
                            <a:srgbClr val="00B0F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■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10000"/>
                          <a:lumOff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▲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FF"/>
                        </a:solidFill>
                        <a:effectLst/>
                        <a:latin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900" kern="0" spc="0">
                          <a:solidFill>
                            <a:srgbClr val="0000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▲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0" spc="0">
                          <a:solidFill>
                            <a:srgbClr val="00B0F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■</a:t>
                      </a: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FF"/>
                        </a:solidFill>
                        <a:effectLst/>
                        <a:latin typeface="KoPubWorld돋움체 Medium" panose="00000600000000000000" pitchFamily="2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40000"/>
                        </a:lnSpc>
                        <a:spcBef>
                          <a:spcPts val="100"/>
                        </a:spcBef>
                        <a:spcAft>
                          <a:spcPts val="1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00B0F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■</a:t>
                      </a: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0" spc="0">
                          <a:solidFill>
                            <a:srgbClr val="FF0000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▲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함초롬바탕" panose="02030604000101010101" pitchFamily="18" charset="-127"/>
                      </a:endParaRPr>
                    </a:p>
                  </a:txBody>
                  <a:tcPr marL="36000" marR="36000" marT="0" marB="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54581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13923166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50D422-F5D2-22E8-FAE0-6B082CBE16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26C9F495-B89E-7E67-9EE9-37917F60168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 sz="1600">
                <a:solidFill>
                  <a:schemeClr val="tx1"/>
                </a:solidFill>
              </a:rPr>
              <a:t>일정계획 및 산출물 내역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6CD38B7-124B-055C-971F-6377874DCF65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B370F9E-0E9D-C5A4-97A7-96FC5E36E43E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</a:t>
            </a: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산출물 목록 및 제출계획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9F93CE0-7EE3-5B01-89F8-568A6689EA0E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단계별 산출물 내역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7203D737-529D-952C-2771-3BAE42BBFCF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보고서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개방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DB, AI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활용 데이터셋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API, API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조회 웹페이지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이행 프로그램 등 실제 운영 가능한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DB·SW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산출물을 포함하며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체계적인 제출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형상관리 절차를 통해 산출물의 완성도와 활용성을 확보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9BE1C16-7187-D167-C522-D96D1A765C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592316"/>
              </p:ext>
            </p:extLst>
          </p:nvPr>
        </p:nvGraphicFramePr>
        <p:xfrm>
          <a:off x="279083" y="2676950"/>
          <a:ext cx="6333117" cy="37258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3921">
                  <a:extLst>
                    <a:ext uri="{9D8B030D-6E8A-4147-A177-3AD203B41FA5}">
                      <a16:colId xmlns:a16="http://schemas.microsoft.com/office/drawing/2014/main" val="2689687822"/>
                    </a:ext>
                  </a:extLst>
                </a:gridCol>
                <a:gridCol w="1160146">
                  <a:extLst>
                    <a:ext uri="{9D8B030D-6E8A-4147-A177-3AD203B41FA5}">
                      <a16:colId xmlns:a16="http://schemas.microsoft.com/office/drawing/2014/main" val="1910730062"/>
                    </a:ext>
                  </a:extLst>
                </a:gridCol>
                <a:gridCol w="2228850">
                  <a:extLst>
                    <a:ext uri="{9D8B030D-6E8A-4147-A177-3AD203B41FA5}">
                      <a16:colId xmlns:a16="http://schemas.microsoft.com/office/drawing/2014/main" val="3502287164"/>
                    </a:ext>
                  </a:extLst>
                </a:gridCol>
                <a:gridCol w="981075">
                  <a:extLst>
                    <a:ext uri="{9D8B030D-6E8A-4147-A177-3AD203B41FA5}">
                      <a16:colId xmlns:a16="http://schemas.microsoft.com/office/drawing/2014/main" val="3966487349"/>
                    </a:ext>
                  </a:extLst>
                </a:gridCol>
                <a:gridCol w="1059125">
                  <a:extLst>
                    <a:ext uri="{9D8B030D-6E8A-4147-A177-3AD203B41FA5}">
                      <a16:colId xmlns:a16="http://schemas.microsoft.com/office/drawing/2014/main" val="1452577003"/>
                    </a:ext>
                  </a:extLst>
                </a:gridCol>
              </a:tblGrid>
              <a:tr h="269729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주요 산출물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주요 내용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제출 시점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제출 형태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86104"/>
                  </a:ext>
                </a:extLst>
              </a:tr>
              <a:tr h="400452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사업관리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착수계획서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월간 보고서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회의록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과업범위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추진일정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역할분담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리스크 및 조치사항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착수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수시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정기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HWP/PPT/PDF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23217"/>
                  </a:ext>
                </a:extLst>
              </a:tr>
              <a:tr h="280370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분석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원천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현황분석서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신재생에너지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복합발전 운전데이터 구조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보유현황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가능성 분석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HWP/XLSX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231191"/>
                  </a:ext>
                </a:extLst>
              </a:tr>
              <a:tr h="400452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표준화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표준정의서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정의서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 정의서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항목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단위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코드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명칭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메타데이터 등 표준화 기준 수립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HWP/XLSX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6793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품질진단 결과서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개선계획서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품질관리 체크리스트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결측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중복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형식 불일치 진단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개선방안 및 정기 점검 기준 제시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HWP/XLSX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1739894"/>
                  </a:ext>
                </a:extLst>
              </a:tr>
              <a:tr h="452628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구축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DB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설계서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테이블 정의서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적재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개방 대상 데이터 구조 설계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테이블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컬럼 정의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정제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가공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적재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HWP/XLSX/DB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2439653"/>
                  </a:ext>
                </a:extLst>
              </a:tr>
              <a:tr h="402336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데이터셋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데이터셋 명세서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예지정비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화재예측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발전량 예측 등 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목적별 데이터셋 구성 및 활용 기준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중간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/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HWP/XLSX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2141827"/>
                  </a:ext>
                </a:extLst>
              </a:tr>
              <a:tr h="352044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개발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명세서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테스트 결과서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결과서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항목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호출방식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응답값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오류코드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공공데이터포털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연계 및 테스트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HWP/XLSX/API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408397"/>
                  </a:ext>
                </a:extLst>
              </a:tr>
              <a:tr h="301752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시나리오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비즈니스 모델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성과계획서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민간 활용방안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서비스 모델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성과지표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확산전략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HWP/PPT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912166"/>
                  </a:ext>
                </a:extLst>
              </a:tr>
              <a:tr h="251460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운영관리 매뉴얼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안전관리 매뉴얼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교육자료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운영절차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장애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자료관리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담당자 교육자료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HWP/PPT/PDF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967150"/>
                  </a:ext>
                </a:extLst>
              </a:tr>
            </a:tbl>
          </a:graphicData>
        </a:graphic>
      </p:graphicFrame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0EC757B5-6ED9-BC28-6A63-75D3BE4ADDE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EAB508A-0813-5913-F53F-E438CA3DCFE6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요약표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0BAD6143-8DEC-8709-AFFC-4E9ACAC5BB9F}"/>
              </a:ext>
            </a:extLst>
          </p:cNvPr>
          <p:cNvCxnSpPr>
            <a:cxnSpLocks/>
          </p:cNvCxnSpPr>
          <p:nvPr/>
        </p:nvCxnSpPr>
        <p:spPr>
          <a:xfrm>
            <a:off x="312925" y="6558786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3F01EF4F-085D-B00B-56ED-A3C9A02C6BB8}"/>
              </a:ext>
            </a:extLst>
          </p:cNvPr>
          <p:cNvSpPr txBox="1"/>
          <p:nvPr/>
        </p:nvSpPr>
        <p:spPr>
          <a:xfrm>
            <a:off x="335012" y="6532709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 제출 및 관리방안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1C52E3-477F-0306-C572-69D44AB9C227}"/>
              </a:ext>
            </a:extLst>
          </p:cNvPr>
          <p:cNvSpPr txBox="1"/>
          <p:nvPr/>
        </p:nvSpPr>
        <p:spPr>
          <a:xfrm>
            <a:off x="279082" y="6845441"/>
            <a:ext cx="633142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산출물은 산출물 관리대장을 통해 작성자</a:t>
            </a:r>
            <a:r>
              <a:rPr lang="en-US" altLang="ko-KR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검토자</a:t>
            </a:r>
            <a:r>
              <a:rPr lang="en-US" altLang="ko-KR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제출일</a:t>
            </a:r>
            <a:r>
              <a:rPr lang="en-US" altLang="ko-KR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</a:t>
            </a:r>
            <a:r>
              <a:rPr lang="en-US" altLang="ko-KR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보완이력</a:t>
            </a:r>
            <a:r>
              <a:rPr lang="en-US" altLang="ko-KR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1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여부를 체계적으로 관리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6969F95-504D-4775-5694-B33485DEFF69}"/>
              </a:ext>
            </a:extLst>
          </p:cNvPr>
          <p:cNvSpPr/>
          <p:nvPr/>
        </p:nvSpPr>
        <p:spPr>
          <a:xfrm>
            <a:off x="335012" y="7206750"/>
            <a:ext cx="823228" cy="409575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작성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EDA1E71-D4B2-4D19-E595-C586EA784EAD}"/>
              </a:ext>
            </a:extLst>
          </p:cNvPr>
          <p:cNvSpPr/>
          <p:nvPr/>
        </p:nvSpPr>
        <p:spPr>
          <a:xfrm>
            <a:off x="335012" y="7692525"/>
            <a:ext cx="823228" cy="409575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내부검토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6DDCB1D6-50F6-2DD8-0574-77C547E9AF7A}"/>
              </a:ext>
            </a:extLst>
          </p:cNvPr>
          <p:cNvSpPr/>
          <p:nvPr/>
        </p:nvSpPr>
        <p:spPr>
          <a:xfrm>
            <a:off x="335012" y="8178300"/>
            <a:ext cx="823228" cy="409575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발주기관 검토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71C354A2-73A6-1AF9-D7E2-F8D123CD85B0}"/>
              </a:ext>
            </a:extLst>
          </p:cNvPr>
          <p:cNvSpPr/>
          <p:nvPr/>
        </p:nvSpPr>
        <p:spPr>
          <a:xfrm>
            <a:off x="335012" y="8664075"/>
            <a:ext cx="823228" cy="409575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보완</a:t>
            </a:r>
            <a:r>
              <a:rPr lang="en-US" altLang="ko-KR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확정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F626797-29A2-98D6-706A-725536C11C3B}"/>
              </a:ext>
            </a:extLst>
          </p:cNvPr>
          <p:cNvSpPr/>
          <p:nvPr/>
        </p:nvSpPr>
        <p:spPr>
          <a:xfrm>
            <a:off x="335012" y="9149850"/>
            <a:ext cx="823228" cy="409575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이관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61CC718-A1DB-99DD-D2AE-00A18DD42435}"/>
              </a:ext>
            </a:extLst>
          </p:cNvPr>
          <p:cNvSpPr/>
          <p:nvPr/>
        </p:nvSpPr>
        <p:spPr>
          <a:xfrm>
            <a:off x="1257032" y="7206750"/>
            <a:ext cx="5265956" cy="409575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산출물별 표준 양식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작성기준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파일명 규칙을 적용하여 문서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·SW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산출물의 일관성 확보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E2D9D6D4-A3E1-B3EB-DD9E-AAC1634E8325}"/>
              </a:ext>
            </a:extLst>
          </p:cNvPr>
          <p:cNvSpPr/>
          <p:nvPr/>
        </p:nvSpPr>
        <p:spPr>
          <a:xfrm>
            <a:off x="1257032" y="7692525"/>
            <a:ext cx="5265956" cy="409575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PM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및 분야별 책임자가 요구사항 충족 여부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정합성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 구현 여부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 수준을 사전 점검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ECB339D0-6DDC-CEF2-0D9F-B9098B526B01}"/>
              </a:ext>
            </a:extLst>
          </p:cNvPr>
          <p:cNvSpPr/>
          <p:nvPr/>
        </p:nvSpPr>
        <p:spPr>
          <a:xfrm>
            <a:off x="1257032" y="8178300"/>
            <a:ext cx="5265956" cy="409575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중간보고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수시회의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최종보고를 통해 발주기관 검토의견을 수렴하고 조치결과를 관리대장에 반영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13A75799-114C-7D8B-5F53-9C5031B850E2}"/>
              </a:ext>
            </a:extLst>
          </p:cNvPr>
          <p:cNvSpPr/>
          <p:nvPr/>
        </p:nvSpPr>
        <p:spPr>
          <a:xfrm>
            <a:off x="1257032" y="8664075"/>
            <a:ext cx="5265956" cy="409575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산출물별 수정이력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버전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승인 여부를 관리하고 최종 승인본을 기준으로 확정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E862C978-7FA0-5DB1-57CF-8EC9844C8C0C}"/>
              </a:ext>
            </a:extLst>
          </p:cNvPr>
          <p:cNvSpPr/>
          <p:nvPr/>
        </p:nvSpPr>
        <p:spPr>
          <a:xfrm>
            <a:off x="1257032" y="9149850"/>
            <a:ext cx="5265956" cy="409575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 산출물은 원본파일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PDF,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파일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소스코드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실행환경 정보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매뉴얼을 구분하여 제출하고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발주기관이 운영 가능한 폴더체계로 정리하여 이관</a:t>
            </a:r>
          </a:p>
        </p:txBody>
      </p:sp>
      <p:sp>
        <p:nvSpPr>
          <p:cNvPr id="25" name="이등변 삼각형 24">
            <a:extLst>
              <a:ext uri="{FF2B5EF4-FFF2-40B4-BE49-F238E27FC236}">
                <a16:creationId xmlns:a16="http://schemas.microsoft.com/office/drawing/2014/main" id="{41C34721-F420-64E2-3841-C02C5E9EEB5C}"/>
              </a:ext>
            </a:extLst>
          </p:cNvPr>
          <p:cNvSpPr/>
          <p:nvPr/>
        </p:nvSpPr>
        <p:spPr>
          <a:xfrm rot="10800000">
            <a:off x="718831" y="7630464"/>
            <a:ext cx="55589" cy="4792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6" name="이등변 삼각형 25">
            <a:extLst>
              <a:ext uri="{FF2B5EF4-FFF2-40B4-BE49-F238E27FC236}">
                <a16:creationId xmlns:a16="http://schemas.microsoft.com/office/drawing/2014/main" id="{FBC2F7DC-EAE7-166A-A111-74860FBD069F}"/>
              </a:ext>
            </a:extLst>
          </p:cNvPr>
          <p:cNvSpPr/>
          <p:nvPr/>
        </p:nvSpPr>
        <p:spPr>
          <a:xfrm rot="10800000">
            <a:off x="718831" y="8116239"/>
            <a:ext cx="55589" cy="4792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8D2DA1DC-47F6-D07D-178C-2F78D9A0AE89}"/>
              </a:ext>
            </a:extLst>
          </p:cNvPr>
          <p:cNvSpPr/>
          <p:nvPr/>
        </p:nvSpPr>
        <p:spPr>
          <a:xfrm rot="10800000">
            <a:off x="718831" y="8602014"/>
            <a:ext cx="55589" cy="4792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8" name="이등변 삼각형 27">
            <a:extLst>
              <a:ext uri="{FF2B5EF4-FFF2-40B4-BE49-F238E27FC236}">
                <a16:creationId xmlns:a16="http://schemas.microsoft.com/office/drawing/2014/main" id="{646C7102-068E-E206-A8A7-2D80EE70F6B5}"/>
              </a:ext>
            </a:extLst>
          </p:cNvPr>
          <p:cNvSpPr/>
          <p:nvPr/>
        </p:nvSpPr>
        <p:spPr>
          <a:xfrm rot="10800000">
            <a:off x="718831" y="9087789"/>
            <a:ext cx="55589" cy="4792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4627145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844E1-CA75-7C4E-FC86-10D6F04E0F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C22ADA01-F4D9-FB5A-30B0-B9C0AE12524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2161919-8D30-C5AD-1DD1-1B78C1513196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53F5967-48A3-29AC-FFF0-41C56F161EEC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2.1.1 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PM/PMO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운영방안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EA34966-00AA-C103-C604-58A4334BD72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사업관리 체계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5273FB9-BB3E-FBEA-86EC-AC8027A87DB5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64D9873-497E-FBDB-E442-B4608184B12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DFB4D05-777B-047B-D657-AD484D717513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085271910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1110D2-A571-0D74-3A44-E60769F5C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F96CE3B-78C1-0E2C-B98B-706E9A900FE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C163996-5B77-6F03-9C2A-5CF33D5E6255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9225E0-2056-55B6-0B24-476DD5ECD4F2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사용자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운영자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관리자 매뉴얼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20EC0B2-9FBF-9402-D725-3145617B7530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운영지원체계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AF09F9F-0D0D-3815-AD9A-8097564AE21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652E2F9-E12B-1DD7-DB0C-9E6B1EC4FC76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0D84EEC-28AE-378C-06D7-A05ECE1D3D7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520242994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56394B-C455-DC2D-7E23-6E52D4EF30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E7FE6AC0-155A-9FFB-A4CB-FCD5D34DDB6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9A5142C-201A-99A0-AC42-5DF040BE94A3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B790408-C87D-7B0E-9197-FA04DAC30E0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교육 및 훈련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74FC1DF-7B36-8624-2E0D-628DC4B20CD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운영지원체계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8C9E4466-3A0C-7644-178F-27A1482A2A2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본 과업 시스템 사용자와 시스템 관리자를 대상으로 역할과 활용 목적에 맞는 교육을 수행</a:t>
            </a:r>
          </a:p>
        </p:txBody>
      </p:sp>
      <p:sp>
        <p:nvSpPr>
          <p:cNvPr id="8" name="Shape 16">
            <a:extLst>
              <a:ext uri="{FF2B5EF4-FFF2-40B4-BE49-F238E27FC236}">
                <a16:creationId xmlns:a16="http://schemas.microsoft.com/office/drawing/2014/main" id="{1B1FB77E-9A3C-A99E-9A65-FBD4E11A7833}"/>
              </a:ext>
            </a:extLst>
          </p:cNvPr>
          <p:cNvSpPr/>
          <p:nvPr/>
        </p:nvSpPr>
        <p:spPr>
          <a:xfrm>
            <a:off x="279083" y="2729271"/>
            <a:ext cx="2007525" cy="1623654"/>
          </a:xfrm>
          <a:prstGeom prst="roundRect">
            <a:avLst>
              <a:gd name="adj" fmla="val 4615"/>
            </a:avLst>
          </a:prstGeom>
          <a:solidFill>
            <a:srgbClr val="FFFFFF"/>
          </a:solidFill>
          <a:ln w="8890">
            <a:solidFill>
              <a:srgbClr val="9DC3E6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Text 21">
            <a:extLst>
              <a:ext uri="{FF2B5EF4-FFF2-40B4-BE49-F238E27FC236}">
                <a16:creationId xmlns:a16="http://schemas.microsoft.com/office/drawing/2014/main" id="{830B4D8B-3208-A394-20AF-6FFDF79A410A}"/>
              </a:ext>
            </a:extLst>
          </p:cNvPr>
          <p:cNvSpPr/>
          <p:nvPr/>
        </p:nvSpPr>
        <p:spPr>
          <a:xfrm>
            <a:off x="433508" y="3488553"/>
            <a:ext cx="1698675" cy="18040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ko-KR" altLang="en-US" sz="1100" b="1">
                <a:solidFill>
                  <a:srgbClr val="00529B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 활용성 제고</a:t>
            </a:r>
            <a:endParaRPr 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Text 22">
            <a:extLst>
              <a:ext uri="{FF2B5EF4-FFF2-40B4-BE49-F238E27FC236}">
                <a16:creationId xmlns:a16="http://schemas.microsoft.com/office/drawing/2014/main" id="{BBD4DBEC-6338-6D6B-1BEB-DC4C34818318}"/>
              </a:ext>
            </a:extLst>
          </p:cNvPr>
          <p:cNvSpPr/>
          <p:nvPr/>
        </p:nvSpPr>
        <p:spPr>
          <a:xfrm>
            <a:off x="479836" y="3717219"/>
            <a:ext cx="1621463" cy="331153"/>
          </a:xfrm>
          <a:prstGeom prst="rect">
            <a:avLst/>
          </a:prstGeom>
          <a:noFill/>
          <a:ln/>
        </p:spPr>
        <p:txBody>
          <a:bodyPr wrap="square" lIns="0" tIns="127" rIns="127" bIns="127" rtlCol="0" anchor="t">
            <a:noAutofit/>
          </a:bodyPr>
          <a:lstStyle/>
          <a:p>
            <a:pPr marL="108000" indent="-1080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rgbClr val="11111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최종사용자가 시스템을 안정적으로 활용할 수 있도록 지원</a:t>
            </a:r>
            <a:endParaRPr 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2" name="Shape 23">
            <a:extLst>
              <a:ext uri="{FF2B5EF4-FFF2-40B4-BE49-F238E27FC236}">
                <a16:creationId xmlns:a16="http://schemas.microsoft.com/office/drawing/2014/main" id="{49971F4A-B961-927D-D5B0-B717FD4372E0}"/>
              </a:ext>
            </a:extLst>
          </p:cNvPr>
          <p:cNvSpPr/>
          <p:nvPr/>
        </p:nvSpPr>
        <p:spPr>
          <a:xfrm>
            <a:off x="2441033" y="2729271"/>
            <a:ext cx="2007525" cy="1623654"/>
          </a:xfrm>
          <a:prstGeom prst="roundRect">
            <a:avLst>
              <a:gd name="adj" fmla="val 4615"/>
            </a:avLst>
          </a:prstGeom>
          <a:solidFill>
            <a:srgbClr val="FFFFFF"/>
          </a:solidFill>
          <a:ln w="8890">
            <a:solidFill>
              <a:srgbClr val="9DC3E6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3" name="Text 28">
            <a:extLst>
              <a:ext uri="{FF2B5EF4-FFF2-40B4-BE49-F238E27FC236}">
                <a16:creationId xmlns:a16="http://schemas.microsoft.com/office/drawing/2014/main" id="{00BF3D37-5D7C-FC59-45A8-2FFEAB2963A5}"/>
              </a:ext>
            </a:extLst>
          </p:cNvPr>
          <p:cNvSpPr/>
          <p:nvPr/>
        </p:nvSpPr>
        <p:spPr>
          <a:xfrm>
            <a:off x="2595458" y="3488553"/>
            <a:ext cx="1698675" cy="18040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ko-KR" altLang="en-US" sz="1100" b="1">
                <a:solidFill>
                  <a:srgbClr val="00529B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 운영역량 확보</a:t>
            </a:r>
            <a:endParaRPr 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4" name="Text 29">
            <a:extLst>
              <a:ext uri="{FF2B5EF4-FFF2-40B4-BE49-F238E27FC236}">
                <a16:creationId xmlns:a16="http://schemas.microsoft.com/office/drawing/2014/main" id="{FB87B883-5491-1C74-54A2-DFBBFE353081}"/>
              </a:ext>
            </a:extLst>
          </p:cNvPr>
          <p:cNvSpPr/>
          <p:nvPr/>
        </p:nvSpPr>
        <p:spPr>
          <a:xfrm>
            <a:off x="2610901" y="3717219"/>
            <a:ext cx="1683233" cy="331153"/>
          </a:xfrm>
          <a:prstGeom prst="rect">
            <a:avLst/>
          </a:prstGeom>
          <a:noFill/>
          <a:ln/>
        </p:spPr>
        <p:txBody>
          <a:bodyPr wrap="square" lIns="0" tIns="127" rIns="127" bIns="127" rtlCol="0" anchor="t">
            <a:noAutofit/>
          </a:bodyPr>
          <a:lstStyle/>
          <a:p>
            <a:pPr marL="108000" indent="-1080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rgbClr val="11111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발주기관 담당자가 시스템을 자체 운영</a:t>
            </a:r>
            <a:r>
              <a:rPr lang="en-US" altLang="ko-KR" sz="1000">
                <a:solidFill>
                  <a:srgbClr val="11111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rgbClr val="11111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관리할 수 있도록 지원</a:t>
            </a:r>
            <a:endParaRPr 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15" name="Shape 30">
            <a:extLst>
              <a:ext uri="{FF2B5EF4-FFF2-40B4-BE49-F238E27FC236}">
                <a16:creationId xmlns:a16="http://schemas.microsoft.com/office/drawing/2014/main" id="{7BC28033-75FC-0FE7-AAF1-1FEB6DC19F88}"/>
              </a:ext>
            </a:extLst>
          </p:cNvPr>
          <p:cNvSpPr/>
          <p:nvPr/>
        </p:nvSpPr>
        <p:spPr>
          <a:xfrm>
            <a:off x="4602984" y="2729271"/>
            <a:ext cx="2007525" cy="1623654"/>
          </a:xfrm>
          <a:prstGeom prst="roundRect">
            <a:avLst>
              <a:gd name="adj" fmla="val 4615"/>
            </a:avLst>
          </a:prstGeom>
          <a:solidFill>
            <a:srgbClr val="FFFFFF"/>
          </a:solidFill>
          <a:ln w="8890">
            <a:solidFill>
              <a:srgbClr val="9DC3E6"/>
            </a:solidFill>
            <a:prstDash val="solid"/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6" name="Text 35">
            <a:extLst>
              <a:ext uri="{FF2B5EF4-FFF2-40B4-BE49-F238E27FC236}">
                <a16:creationId xmlns:a16="http://schemas.microsoft.com/office/drawing/2014/main" id="{ED2A8EF1-810B-F761-946C-0660277AE190}"/>
              </a:ext>
            </a:extLst>
          </p:cNvPr>
          <p:cNvSpPr/>
          <p:nvPr/>
        </p:nvSpPr>
        <p:spPr>
          <a:xfrm>
            <a:off x="4757409" y="3488553"/>
            <a:ext cx="1698675" cy="18040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ko-KR" altLang="en-US" sz="1100" b="1">
                <a:solidFill>
                  <a:srgbClr val="00529B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운영전환 안정화</a:t>
            </a:r>
            <a:endParaRPr lang="en-US" sz="11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Text 36">
            <a:extLst>
              <a:ext uri="{FF2B5EF4-FFF2-40B4-BE49-F238E27FC236}">
                <a16:creationId xmlns:a16="http://schemas.microsoft.com/office/drawing/2014/main" id="{CF3A4705-EB92-545E-5AC9-4E835447F7D2}"/>
              </a:ext>
            </a:extLst>
          </p:cNvPr>
          <p:cNvSpPr/>
          <p:nvPr/>
        </p:nvSpPr>
        <p:spPr>
          <a:xfrm>
            <a:off x="4757409" y="3717219"/>
            <a:ext cx="1714118" cy="331153"/>
          </a:xfrm>
          <a:prstGeom prst="rect">
            <a:avLst/>
          </a:prstGeom>
          <a:noFill/>
          <a:ln/>
        </p:spPr>
        <p:txBody>
          <a:bodyPr wrap="square" lIns="0" tIns="127" rIns="127" bIns="127" rtlCol="0" anchor="t">
            <a:noAutofit/>
          </a:bodyPr>
          <a:lstStyle/>
          <a:p>
            <a:pPr marL="108000" indent="-1080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rgbClr val="11111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매뉴얼 및 교육을 기반으로 사업 종료 후 자체 운영 기반 확보</a:t>
            </a:r>
            <a:endParaRPr lang="en-US" sz="10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67336920-F689-2283-5951-F933FBA73A6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C5B093C4-D369-AF61-1B8A-439149844110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교육훈련 목표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7002607E-5CA9-C788-A2B9-43671D198E2B}"/>
              </a:ext>
            </a:extLst>
          </p:cNvPr>
          <p:cNvSpPr/>
          <p:nvPr/>
        </p:nvSpPr>
        <p:spPr>
          <a:xfrm>
            <a:off x="963757" y="2808674"/>
            <a:ext cx="638175" cy="638175"/>
          </a:xfrm>
          <a:prstGeom prst="ellipse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21" name="그래픽 20" descr="막대 그래프 상향 추세 단색으로 채워진">
            <a:extLst>
              <a:ext uri="{FF2B5EF4-FFF2-40B4-BE49-F238E27FC236}">
                <a16:creationId xmlns:a16="http://schemas.microsoft.com/office/drawing/2014/main" id="{7A211865-E306-185F-8CB0-FA65CA67B8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078906" y="2927682"/>
            <a:ext cx="400159" cy="400159"/>
          </a:xfrm>
          <a:prstGeom prst="rect">
            <a:avLst/>
          </a:prstGeom>
        </p:spPr>
      </p:pic>
      <p:sp>
        <p:nvSpPr>
          <p:cNvPr id="22" name="타원 21">
            <a:extLst>
              <a:ext uri="{FF2B5EF4-FFF2-40B4-BE49-F238E27FC236}">
                <a16:creationId xmlns:a16="http://schemas.microsoft.com/office/drawing/2014/main" id="{C8F7E0EE-A0D0-9AD3-A779-ADB906773290}"/>
              </a:ext>
            </a:extLst>
          </p:cNvPr>
          <p:cNvSpPr/>
          <p:nvPr/>
        </p:nvSpPr>
        <p:spPr>
          <a:xfrm>
            <a:off x="3109911" y="2808674"/>
            <a:ext cx="638175" cy="638175"/>
          </a:xfrm>
          <a:prstGeom prst="ellipse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8FB1CD2-250B-A379-39C7-E9D9C831F67D}"/>
              </a:ext>
            </a:extLst>
          </p:cNvPr>
          <p:cNvSpPr/>
          <p:nvPr/>
        </p:nvSpPr>
        <p:spPr>
          <a:xfrm>
            <a:off x="5284641" y="2808674"/>
            <a:ext cx="638175" cy="638175"/>
          </a:xfrm>
          <a:prstGeom prst="ellipse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pic>
        <p:nvPicPr>
          <p:cNvPr id="24" name="그래픽 23" descr="악수 단색으로 채워진">
            <a:extLst>
              <a:ext uri="{FF2B5EF4-FFF2-40B4-BE49-F238E27FC236}">
                <a16:creationId xmlns:a16="http://schemas.microsoft.com/office/drawing/2014/main" id="{DFFE057B-B27E-2F04-5612-B982B7F2FC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403648" y="2931243"/>
            <a:ext cx="400159" cy="400159"/>
          </a:xfrm>
          <a:prstGeom prst="rect">
            <a:avLst/>
          </a:prstGeom>
        </p:spPr>
      </p:pic>
      <p:pic>
        <p:nvPicPr>
          <p:cNvPr id="25" name="그래픽 24" descr="클립보드 단색으로 채워진">
            <a:extLst>
              <a:ext uri="{FF2B5EF4-FFF2-40B4-BE49-F238E27FC236}">
                <a16:creationId xmlns:a16="http://schemas.microsoft.com/office/drawing/2014/main" id="{A03B3F59-F065-AF36-F277-569604A2B0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28918" y="2908833"/>
            <a:ext cx="400159" cy="400159"/>
          </a:xfrm>
          <a:prstGeom prst="rect">
            <a:avLst/>
          </a:prstGeom>
        </p:spPr>
      </p:pic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9F1551BB-FF2C-1456-900B-EBF21136E341}"/>
              </a:ext>
            </a:extLst>
          </p:cNvPr>
          <p:cNvCxnSpPr>
            <a:cxnSpLocks/>
          </p:cNvCxnSpPr>
          <p:nvPr/>
        </p:nvCxnSpPr>
        <p:spPr>
          <a:xfrm>
            <a:off x="312925" y="4475522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E84EE1A3-B4F8-3A20-85CB-93ABFE56E964}"/>
              </a:ext>
            </a:extLst>
          </p:cNvPr>
          <p:cNvSpPr txBox="1"/>
          <p:nvPr/>
        </p:nvSpPr>
        <p:spPr>
          <a:xfrm>
            <a:off x="335012" y="4449445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교육대상별 교육훈련 방안</a:t>
            </a:r>
          </a:p>
        </p:txBody>
      </p:sp>
      <p:sp>
        <p:nvSpPr>
          <p:cNvPr id="28" name="사각형: 둥근 위쪽 모서리 27">
            <a:extLst>
              <a:ext uri="{FF2B5EF4-FFF2-40B4-BE49-F238E27FC236}">
                <a16:creationId xmlns:a16="http://schemas.microsoft.com/office/drawing/2014/main" id="{07322239-F483-9B2F-941E-9B1C3B4ECACE}"/>
              </a:ext>
            </a:extLst>
          </p:cNvPr>
          <p:cNvSpPr/>
          <p:nvPr/>
        </p:nvSpPr>
        <p:spPr>
          <a:xfrm>
            <a:off x="3557496" y="4847936"/>
            <a:ext cx="3053011" cy="250018"/>
          </a:xfrm>
          <a:prstGeom prst="round2SameRect">
            <a:avLst>
              <a:gd name="adj1" fmla="val 34633"/>
              <a:gd name="adj2" fmla="val 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관리자</a:t>
            </a:r>
          </a:p>
        </p:txBody>
      </p:sp>
      <p:sp>
        <p:nvSpPr>
          <p:cNvPr id="30" name="사각형: 둥근 위쪽 모서리 29">
            <a:extLst>
              <a:ext uri="{FF2B5EF4-FFF2-40B4-BE49-F238E27FC236}">
                <a16:creationId xmlns:a16="http://schemas.microsoft.com/office/drawing/2014/main" id="{704B1D84-CF1D-8813-17FD-556F1FB47DA3}"/>
              </a:ext>
            </a:extLst>
          </p:cNvPr>
          <p:cNvSpPr/>
          <p:nvPr/>
        </p:nvSpPr>
        <p:spPr>
          <a:xfrm>
            <a:off x="275217" y="4847936"/>
            <a:ext cx="3053011" cy="250018"/>
          </a:xfrm>
          <a:prstGeom prst="round2SameRect">
            <a:avLst>
              <a:gd name="adj1" fmla="val 39350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 사용자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C7BBD972-3752-2FFA-2E6E-D37A660B7705}"/>
              </a:ext>
            </a:extLst>
          </p:cNvPr>
          <p:cNvSpPr/>
          <p:nvPr/>
        </p:nvSpPr>
        <p:spPr>
          <a:xfrm>
            <a:off x="275217" y="4847936"/>
            <a:ext cx="3053011" cy="2224377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CA592029-B616-B7D9-CC9E-910D9F174A57}"/>
              </a:ext>
            </a:extLst>
          </p:cNvPr>
          <p:cNvSpPr/>
          <p:nvPr/>
        </p:nvSpPr>
        <p:spPr>
          <a:xfrm>
            <a:off x="3557496" y="4847937"/>
            <a:ext cx="3053011" cy="222437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3" name="그래픽 32" descr="남성 사무직 근로자 단색으로 채워진">
            <a:extLst>
              <a:ext uri="{FF2B5EF4-FFF2-40B4-BE49-F238E27FC236}">
                <a16:creationId xmlns:a16="http://schemas.microsoft.com/office/drawing/2014/main" id="{5FD1521D-F6ED-7F5C-C8EF-C6B818B64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629077" y="5171074"/>
            <a:ext cx="525353" cy="525353"/>
          </a:xfrm>
          <a:prstGeom prst="rect">
            <a:avLst/>
          </a:prstGeom>
        </p:spPr>
      </p:pic>
      <p:pic>
        <p:nvPicPr>
          <p:cNvPr id="34" name="그래픽 33" descr="남자 집단 윤곽선">
            <a:extLst>
              <a:ext uri="{FF2B5EF4-FFF2-40B4-BE49-F238E27FC236}">
                <a16:creationId xmlns:a16="http://schemas.microsoft.com/office/drawing/2014/main" id="{5B820D44-8EA6-6515-8B97-EFB7B0780A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33508" y="5197355"/>
            <a:ext cx="507832" cy="507832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09DD9AD1-FB5C-E01B-DBC8-B2ADE310A3BF}"/>
              </a:ext>
            </a:extLst>
          </p:cNvPr>
          <p:cNvSpPr txBox="1"/>
          <p:nvPr/>
        </p:nvSpPr>
        <p:spPr>
          <a:xfrm>
            <a:off x="1056007" y="5135091"/>
            <a:ext cx="5078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목적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5DF7392-F44F-D067-78C6-4CA296CC2611}"/>
              </a:ext>
            </a:extLst>
          </p:cNvPr>
          <p:cNvSpPr txBox="1"/>
          <p:nvPr/>
        </p:nvSpPr>
        <p:spPr>
          <a:xfrm>
            <a:off x="1056007" y="5535432"/>
            <a:ext cx="5078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C30D1C3-3E88-7964-244A-0F0A932D0ED6}"/>
              </a:ext>
            </a:extLst>
          </p:cNvPr>
          <p:cNvSpPr txBox="1"/>
          <p:nvPr/>
        </p:nvSpPr>
        <p:spPr>
          <a:xfrm>
            <a:off x="1443941" y="5144900"/>
            <a:ext cx="1955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구축 시스템을 실제 업무와 데이터 활용에 적용할 수 있도록 지원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4C7C4C1-47F3-C67A-8ED4-12AE5839ED38}"/>
              </a:ext>
            </a:extLst>
          </p:cNvPr>
          <p:cNvSpPr txBox="1"/>
          <p:nvPr/>
        </p:nvSpPr>
        <p:spPr>
          <a:xfrm>
            <a:off x="1443941" y="5537405"/>
            <a:ext cx="1955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 시연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실습교육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FAQ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기반 질의응답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CF1BF25-1ED8-D493-8E4A-BCE2FB9F9E8E}"/>
              </a:ext>
            </a:extLst>
          </p:cNvPr>
          <p:cNvSpPr/>
          <p:nvPr/>
        </p:nvSpPr>
        <p:spPr>
          <a:xfrm>
            <a:off x="335013" y="5931909"/>
            <a:ext cx="2925850" cy="1088015"/>
          </a:xfrm>
          <a:prstGeom prst="roundRect">
            <a:avLst>
              <a:gd name="adj" fmla="val 9325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접속 및 메뉴 구성 이해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조회 및 검색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다운로드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오픈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API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활용 방법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파일 다운로드 및 활용 방법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 유의사항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18C3E02-7408-01C3-05CB-58C2EE1A4C8A}"/>
              </a:ext>
            </a:extLst>
          </p:cNvPr>
          <p:cNvSpPr txBox="1"/>
          <p:nvPr/>
        </p:nvSpPr>
        <p:spPr>
          <a:xfrm>
            <a:off x="4226011" y="5135091"/>
            <a:ext cx="5078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목적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FA8D6CC-5D9B-23D4-780B-E9053237667E}"/>
              </a:ext>
            </a:extLst>
          </p:cNvPr>
          <p:cNvSpPr txBox="1"/>
          <p:nvPr/>
        </p:nvSpPr>
        <p:spPr>
          <a:xfrm>
            <a:off x="4226011" y="5535432"/>
            <a:ext cx="50783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방법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446AFBA-E184-6D16-CF60-CFCA8D7DC8CE}"/>
              </a:ext>
            </a:extLst>
          </p:cNvPr>
          <p:cNvSpPr txBox="1"/>
          <p:nvPr/>
        </p:nvSpPr>
        <p:spPr>
          <a:xfrm>
            <a:off x="4613945" y="5144900"/>
            <a:ext cx="1955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운영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관리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장애대응 및 인수 후 자체 운영역량 확보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281B35E-D3EE-DFD3-A0B5-066DE688DCC9}"/>
              </a:ext>
            </a:extLst>
          </p:cNvPr>
          <p:cNvSpPr txBox="1"/>
          <p:nvPr/>
        </p:nvSpPr>
        <p:spPr>
          <a:xfrm>
            <a:off x="4613945" y="5537405"/>
            <a:ext cx="1955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운영자 실습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매뉴얼 기반 교육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 시나리오 교육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B301FB2E-7891-D6E8-D0EB-CEC75A241D08}"/>
              </a:ext>
            </a:extLst>
          </p:cNvPr>
          <p:cNvSpPr/>
          <p:nvPr/>
        </p:nvSpPr>
        <p:spPr>
          <a:xfrm>
            <a:off x="3629077" y="5931909"/>
            <a:ext cx="2907804" cy="1088015"/>
          </a:xfrm>
          <a:prstGeom prst="roundRect">
            <a:avLst>
              <a:gd name="adj" fmla="val 8012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구성 및 주요 기능 이해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계정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권한 관리 및 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API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관리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배치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 상태 및 로그 확인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감시 및 보안관리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비상복구 절차 및 장애 대응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0F842F90-5ADB-00DB-E065-F45E4E34B6B2}"/>
              </a:ext>
            </a:extLst>
          </p:cNvPr>
          <p:cNvCxnSpPr>
            <a:cxnSpLocks/>
          </p:cNvCxnSpPr>
          <p:nvPr/>
        </p:nvCxnSpPr>
        <p:spPr>
          <a:xfrm>
            <a:off x="312925" y="7229104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1762ADAE-37F7-5BFD-F748-0FF98DCFF3FC}"/>
              </a:ext>
            </a:extLst>
          </p:cNvPr>
          <p:cNvSpPr txBox="1"/>
          <p:nvPr/>
        </p:nvSpPr>
        <p:spPr>
          <a:xfrm>
            <a:off x="335012" y="7203027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교육훈련 조직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267D629-E3CB-A7F9-EB2C-14189558B690}"/>
              </a:ext>
            </a:extLst>
          </p:cNvPr>
          <p:cNvSpPr/>
          <p:nvPr/>
        </p:nvSpPr>
        <p:spPr>
          <a:xfrm>
            <a:off x="2887913" y="7508907"/>
            <a:ext cx="1082168" cy="261610"/>
          </a:xfrm>
          <a:prstGeom prst="round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발주기관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448EDB7-A2D7-5B53-C468-D04E1E6EFAF1}"/>
              </a:ext>
            </a:extLst>
          </p:cNvPr>
          <p:cNvSpPr txBox="1"/>
          <p:nvPr/>
        </p:nvSpPr>
        <p:spPr>
          <a:xfrm>
            <a:off x="4009593" y="7529884"/>
            <a:ext cx="1290340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105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교육대상자 확정 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560116C4-1F61-5E9E-AE8E-72C0CCE1E3F8}"/>
              </a:ext>
            </a:extLst>
          </p:cNvPr>
          <p:cNvSpPr/>
          <p:nvPr/>
        </p:nvSpPr>
        <p:spPr>
          <a:xfrm>
            <a:off x="2827020" y="7937581"/>
            <a:ext cx="1203954" cy="261610"/>
          </a:xfrm>
          <a:prstGeom prst="round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 </a:t>
            </a:r>
            <a:r>
              <a:rPr lang="en-US" altLang="ko-KR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PM</a:t>
            </a:r>
            <a:endParaRPr lang="ko-KR" altLang="en-US" sz="12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78581A1-CD92-0FFB-A614-C7B01C2ECBBC}"/>
              </a:ext>
            </a:extLst>
          </p:cNvPr>
          <p:cNvSpPr txBox="1"/>
          <p:nvPr/>
        </p:nvSpPr>
        <p:spPr>
          <a:xfrm>
            <a:off x="4030974" y="7958558"/>
            <a:ext cx="1599940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105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교육훈련 총괄 관리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29E6B692-D21D-1C61-FA77-9B97B8185E50}"/>
              </a:ext>
            </a:extLst>
          </p:cNvPr>
          <p:cNvSpPr/>
          <p:nvPr/>
        </p:nvSpPr>
        <p:spPr>
          <a:xfrm>
            <a:off x="398583" y="8724901"/>
            <a:ext cx="1800000" cy="703634"/>
          </a:xfrm>
          <a:prstGeom prst="roundRect">
            <a:avLst>
              <a:gd name="adj" fmla="val 6104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사용자 교육 설계 및 진행</a:t>
            </a:r>
            <a:endParaRPr lang="en-US" altLang="ko-KR" sz="105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활용 실습 지도</a:t>
            </a:r>
            <a:endParaRPr lang="en-US" altLang="ko-KR" sz="105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질의응답 및 보완 지원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A619CD3-3A85-B7F7-E10D-FFC74A5191EC}"/>
              </a:ext>
            </a:extLst>
          </p:cNvPr>
          <p:cNvSpPr/>
          <p:nvPr/>
        </p:nvSpPr>
        <p:spPr>
          <a:xfrm>
            <a:off x="398583" y="8534401"/>
            <a:ext cx="1800000" cy="261610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 교육 담당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7E8249-7B2D-D411-34F8-297577AE5442}"/>
              </a:ext>
            </a:extLst>
          </p:cNvPr>
          <p:cNvSpPr/>
          <p:nvPr/>
        </p:nvSpPr>
        <p:spPr>
          <a:xfrm>
            <a:off x="2526860" y="8724901"/>
            <a:ext cx="1800000" cy="703634"/>
          </a:xfrm>
          <a:prstGeom prst="roundRect">
            <a:avLst>
              <a:gd name="adj" fmla="val 6104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관리자 교육 설계 및 진행</a:t>
            </a:r>
            <a:endParaRPr lang="en-US" altLang="ko-KR" sz="105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</a:t>
            </a:r>
            <a:r>
              <a:rPr lang="en-US" altLang="ko-KR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장애대응 교육</a:t>
            </a:r>
            <a:endParaRPr lang="en-US" altLang="ko-KR" sz="105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실습 및 시나리오 제공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55266BED-9EAE-0713-9CD0-34F1E77B7CA6}"/>
              </a:ext>
            </a:extLst>
          </p:cNvPr>
          <p:cNvSpPr/>
          <p:nvPr/>
        </p:nvSpPr>
        <p:spPr>
          <a:xfrm>
            <a:off x="2526860" y="8534401"/>
            <a:ext cx="1800000" cy="261610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 교육 담당자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B014E1A9-2A66-D356-503E-B8A691E62E2A}"/>
              </a:ext>
            </a:extLst>
          </p:cNvPr>
          <p:cNvSpPr/>
          <p:nvPr/>
        </p:nvSpPr>
        <p:spPr>
          <a:xfrm>
            <a:off x="4668677" y="8724901"/>
            <a:ext cx="1800000" cy="703634"/>
          </a:xfrm>
          <a:prstGeom prst="roundRect">
            <a:avLst>
              <a:gd name="adj" fmla="val 6104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교육교재 작성</a:t>
            </a:r>
            <a:endParaRPr lang="en-US" altLang="ko-KR" sz="105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 운영 지원</a:t>
            </a:r>
            <a:endParaRPr lang="en-US" altLang="ko-KR" sz="105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참석자</a:t>
            </a:r>
            <a:r>
              <a:rPr lang="en-US" altLang="ko-KR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5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질의응답 관리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341F52C-70D4-755A-C25F-40D79F648037}"/>
              </a:ext>
            </a:extLst>
          </p:cNvPr>
          <p:cNvSpPr/>
          <p:nvPr/>
        </p:nvSpPr>
        <p:spPr>
          <a:xfrm>
            <a:off x="4668677" y="8534401"/>
            <a:ext cx="1800000" cy="261610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교육지원 담당자</a:t>
            </a: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F2102841-1D8E-8F32-3CBC-639BF20B8608}"/>
              </a:ext>
            </a:extLst>
          </p:cNvPr>
          <p:cNvCxnSpPr>
            <a:stCxn id="47" idx="2"/>
            <a:endCxn id="49" idx="0"/>
          </p:cNvCxnSpPr>
          <p:nvPr/>
        </p:nvCxnSpPr>
        <p:spPr>
          <a:xfrm>
            <a:off x="3428997" y="7770517"/>
            <a:ext cx="0" cy="1670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연결선: 꺾임 57">
            <a:extLst>
              <a:ext uri="{FF2B5EF4-FFF2-40B4-BE49-F238E27FC236}">
                <a16:creationId xmlns:a16="http://schemas.microsoft.com/office/drawing/2014/main" id="{79F5D22F-4A01-1D5B-CDF7-515C8FBFDEF9}"/>
              </a:ext>
            </a:extLst>
          </p:cNvPr>
          <p:cNvCxnSpPr>
            <a:stCxn id="49" idx="2"/>
            <a:endCxn id="52" idx="0"/>
          </p:cNvCxnSpPr>
          <p:nvPr/>
        </p:nvCxnSpPr>
        <p:spPr>
          <a:xfrm rot="5400000">
            <a:off x="2196185" y="7301589"/>
            <a:ext cx="335210" cy="2130414"/>
          </a:xfrm>
          <a:prstGeom prst="bentConnector3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연결선: 꺾임 58">
            <a:extLst>
              <a:ext uri="{FF2B5EF4-FFF2-40B4-BE49-F238E27FC236}">
                <a16:creationId xmlns:a16="http://schemas.microsoft.com/office/drawing/2014/main" id="{BFD1B33B-2CC5-2AB0-C07E-762525E37F03}"/>
              </a:ext>
            </a:extLst>
          </p:cNvPr>
          <p:cNvCxnSpPr>
            <a:stCxn id="49" idx="2"/>
            <a:endCxn id="56" idx="0"/>
          </p:cNvCxnSpPr>
          <p:nvPr/>
        </p:nvCxnSpPr>
        <p:spPr>
          <a:xfrm rot="16200000" flipH="1">
            <a:off x="4331232" y="7296956"/>
            <a:ext cx="335210" cy="2139680"/>
          </a:xfrm>
          <a:prstGeom prst="bentConnector3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연결선: 꺾임 59">
            <a:extLst>
              <a:ext uri="{FF2B5EF4-FFF2-40B4-BE49-F238E27FC236}">
                <a16:creationId xmlns:a16="http://schemas.microsoft.com/office/drawing/2014/main" id="{787C4A83-EFD1-DE1C-973E-6223F9CE5105}"/>
              </a:ext>
            </a:extLst>
          </p:cNvPr>
          <p:cNvCxnSpPr>
            <a:stCxn id="49" idx="2"/>
            <a:endCxn id="54" idx="0"/>
          </p:cNvCxnSpPr>
          <p:nvPr/>
        </p:nvCxnSpPr>
        <p:spPr>
          <a:xfrm rot="5400000">
            <a:off x="3260324" y="8365728"/>
            <a:ext cx="335210" cy="2137"/>
          </a:xfrm>
          <a:prstGeom prst="bentConnector3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9135857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EE8CC1-7940-4F66-89BA-F041F5469B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9159E774-364C-EDCF-20AA-61C137BB836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040AA71-2DA8-794C-6A69-25310C60C88A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89DE63-1AAB-83EF-041C-40D0911D6C2B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교육 및 훈련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E98A46D-1154-4751-87E9-ED330F077BF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운영지원체계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D2345ED-CE4A-5C8E-CE5F-6924DE93A554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관리자 대상 실무 중심 교육훈련을 수행하고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교육결과서와 사용자 매뉴얼을 배포하여 발주기관의 시스템 </a:t>
            </a:r>
            <a:r>
              <a:rPr kumimoji="1" lang="ko-KR" altLang="en-US" sz="1200" err="1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실활용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및 자체 운영 역량 확보를 지원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09E5DDB-BC23-DA2E-657C-D5B6D0BBD93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2F57BBE-0316-908F-1B09-20EBA09E27FC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교육일정 계획</a:t>
            </a: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A4E795B3-A28E-036C-4DDD-A6EF81BFB7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7809974"/>
              </p:ext>
            </p:extLst>
          </p:nvPr>
        </p:nvGraphicFramePr>
        <p:xfrm>
          <a:off x="312925" y="2676950"/>
          <a:ext cx="6297585" cy="1917330"/>
        </p:xfrm>
        <a:graphic>
          <a:graphicData uri="http://schemas.openxmlformats.org/drawingml/2006/table">
            <a:tbl>
              <a:tblPr/>
              <a:tblGrid>
                <a:gridCol w="1073915">
                  <a:extLst>
                    <a:ext uri="{9D8B030D-6E8A-4147-A177-3AD203B41FA5}">
                      <a16:colId xmlns:a16="http://schemas.microsoft.com/office/drawing/2014/main" val="2056794508"/>
                    </a:ext>
                  </a:extLst>
                </a:gridCol>
                <a:gridCol w="861060">
                  <a:extLst>
                    <a:ext uri="{9D8B030D-6E8A-4147-A177-3AD203B41FA5}">
                      <a16:colId xmlns:a16="http://schemas.microsoft.com/office/drawing/2014/main" val="632828739"/>
                    </a:ext>
                  </a:extLst>
                </a:gridCol>
                <a:gridCol w="933450">
                  <a:extLst>
                    <a:ext uri="{9D8B030D-6E8A-4147-A177-3AD203B41FA5}">
                      <a16:colId xmlns:a16="http://schemas.microsoft.com/office/drawing/2014/main" val="3444421321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1710406885"/>
                    </a:ext>
                  </a:extLst>
                </a:gridCol>
                <a:gridCol w="2152810">
                  <a:extLst>
                    <a:ext uri="{9D8B030D-6E8A-4147-A177-3AD203B41FA5}">
                      <a16:colId xmlns:a16="http://schemas.microsoft.com/office/drawing/2014/main" val="3124124203"/>
                    </a:ext>
                  </a:extLst>
                </a:gridCol>
              </a:tblGrid>
              <a:tr h="252360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b="1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b="1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실시 시점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b="1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대상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b="1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교육 목적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0" hangingPunct="1">
                        <a:lnSpc>
                          <a:spcPct val="160000"/>
                        </a:lnSpc>
                        <a:spcBef>
                          <a:spcPts val="500"/>
                        </a:spcBef>
                        <a:spcAft>
                          <a:spcPts val="300"/>
                        </a:spcAft>
                        <a:buNone/>
                      </a:pPr>
                      <a:r>
                        <a:rPr lang="ko-KR" altLang="en-US" sz="1000" b="1" kern="0" spc="0">
                          <a:solidFill>
                            <a:srgbClr val="FFFFFF"/>
                          </a:solidFill>
                          <a:effectLst/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주요 내용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7162624"/>
                  </a:ext>
                </a:extLst>
              </a:tr>
              <a:tr h="607393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사용자 교육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운용시험 전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(11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사용자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20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 내외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최종 사용자의 시스템 활용 및 운용시험 참여 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화면 조작 및 기능 사용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데이터 조회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검색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다운로드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활용 방법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오류 메시지 대응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보안 유의사항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6153283"/>
                  </a:ext>
                </a:extLst>
              </a:tr>
              <a:tr h="607393"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관리자 교육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인수</a:t>
                      </a:r>
                      <a:r>
                        <a:rPr lang="en-US" altLang="ko-KR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이관 전</a:t>
                      </a:r>
                      <a:b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</a:b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(11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~12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월 초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관리자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5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 내외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0" hangingPunct="1">
                        <a:buNone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발주기관의 자체 </a:t>
                      </a: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운영</a:t>
                      </a:r>
                      <a:r>
                        <a:rPr lang="en-US" altLang="ko-KR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및 장애대응 역량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시스템 구성 및 주요 기능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계정</a:t>
                      </a:r>
                      <a:r>
                        <a:rPr lang="en-US" altLang="ko-KR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권한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 및 </a:t>
                      </a:r>
                      <a:r>
                        <a:rPr lang="en-US" altLang="ko-KR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API 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관리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배치</a:t>
                      </a:r>
                      <a:r>
                        <a:rPr lang="en-US" altLang="ko-KR" sz="900" kern="0" spc="0" err="1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·</a:t>
                      </a: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연계 상태 및 로그 확인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백업 및 보안관리</a:t>
                      </a:r>
                      <a:endParaRPr lang="en-US" altLang="ko-KR" sz="900" kern="0" spc="0">
                        <a:solidFill>
                          <a:srgbClr val="000000"/>
                        </a:solidFill>
                        <a:effectLst/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  <a:p>
                      <a:pPr marL="171450" indent="-171450" algn="l" defTabSz="685800" rtl="0" eaLnBrk="1" fontAlgn="ctr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kern="0" spc="0">
                          <a:solidFill>
                            <a:srgbClr val="000000"/>
                          </a:solidFill>
                          <a:effectLst/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비상복구 및 장애 대응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791638"/>
                  </a:ext>
                </a:extLst>
              </a:tr>
            </a:tbl>
          </a:graphicData>
        </a:graphic>
      </p:graphicFrame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7F391619-59AF-9747-2368-9F85BA91283C}"/>
              </a:ext>
            </a:extLst>
          </p:cNvPr>
          <p:cNvSpPr/>
          <p:nvPr/>
        </p:nvSpPr>
        <p:spPr>
          <a:xfrm>
            <a:off x="312925" y="5002338"/>
            <a:ext cx="1445194" cy="676275"/>
          </a:xfrm>
          <a:prstGeom prst="roundRect">
            <a:avLst>
              <a:gd name="adj" fmla="val 842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01.</a:t>
            </a:r>
          </a:p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교육계획 수립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183F98A-374F-BBB1-CC31-A93955CA2993}"/>
              </a:ext>
            </a:extLst>
          </p:cNvPr>
          <p:cNvSpPr/>
          <p:nvPr/>
        </p:nvSpPr>
        <p:spPr>
          <a:xfrm>
            <a:off x="1930388" y="5002338"/>
            <a:ext cx="1445194" cy="676275"/>
          </a:xfrm>
          <a:prstGeom prst="roundRect">
            <a:avLst>
              <a:gd name="adj" fmla="val 8420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02.</a:t>
            </a:r>
          </a:p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교재</a:t>
            </a:r>
            <a:r>
              <a:rPr lang="en-US" altLang="ko-KR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매뉴얼 작성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E15BE10C-133E-90DF-F7DF-B93D560F477E}"/>
              </a:ext>
            </a:extLst>
          </p:cNvPr>
          <p:cNvSpPr/>
          <p:nvPr/>
        </p:nvSpPr>
        <p:spPr>
          <a:xfrm>
            <a:off x="3547851" y="5002338"/>
            <a:ext cx="1445194" cy="676275"/>
          </a:xfrm>
          <a:prstGeom prst="roundRect">
            <a:avLst>
              <a:gd name="adj" fmla="val 8420"/>
            </a:avLst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03.</a:t>
            </a:r>
          </a:p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대상별 교육 실시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1A293143-FEE3-59DF-6232-1180F08222BA}"/>
              </a:ext>
            </a:extLst>
          </p:cNvPr>
          <p:cNvSpPr/>
          <p:nvPr/>
        </p:nvSpPr>
        <p:spPr>
          <a:xfrm>
            <a:off x="5165315" y="5002338"/>
            <a:ext cx="1445194" cy="676275"/>
          </a:xfrm>
          <a:prstGeom prst="roundRect">
            <a:avLst>
              <a:gd name="adj" fmla="val 842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04.</a:t>
            </a:r>
          </a:p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교육결과 정리</a:t>
            </a:r>
          </a:p>
        </p:txBody>
      </p:sp>
      <p:sp>
        <p:nvSpPr>
          <p:cNvPr id="66" name="이등변 삼각형 65">
            <a:extLst>
              <a:ext uri="{FF2B5EF4-FFF2-40B4-BE49-F238E27FC236}">
                <a16:creationId xmlns:a16="http://schemas.microsoft.com/office/drawing/2014/main" id="{37C2695B-4D90-CB25-9F0A-4A98B3B95D6B}"/>
              </a:ext>
            </a:extLst>
          </p:cNvPr>
          <p:cNvSpPr/>
          <p:nvPr/>
        </p:nvSpPr>
        <p:spPr>
          <a:xfrm rot="5400000">
            <a:off x="1772215" y="5279743"/>
            <a:ext cx="164812" cy="142080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7" name="이등변 삼각형 66">
            <a:extLst>
              <a:ext uri="{FF2B5EF4-FFF2-40B4-BE49-F238E27FC236}">
                <a16:creationId xmlns:a16="http://schemas.microsoft.com/office/drawing/2014/main" id="{861C8BE4-D47F-4B7F-59AE-94C2C6F04EE1}"/>
              </a:ext>
            </a:extLst>
          </p:cNvPr>
          <p:cNvSpPr/>
          <p:nvPr/>
        </p:nvSpPr>
        <p:spPr>
          <a:xfrm rot="5400000">
            <a:off x="3394405" y="5279743"/>
            <a:ext cx="164812" cy="142080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8" name="이등변 삼각형 67">
            <a:extLst>
              <a:ext uri="{FF2B5EF4-FFF2-40B4-BE49-F238E27FC236}">
                <a16:creationId xmlns:a16="http://schemas.microsoft.com/office/drawing/2014/main" id="{D56BD8E8-40D4-FED3-F74F-39F0B274A2F6}"/>
              </a:ext>
            </a:extLst>
          </p:cNvPr>
          <p:cNvSpPr/>
          <p:nvPr/>
        </p:nvSpPr>
        <p:spPr>
          <a:xfrm rot="5400000">
            <a:off x="5016595" y="5279743"/>
            <a:ext cx="164812" cy="142080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bg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14836898-83A3-5435-E5A5-7B358EB1B5AD}"/>
              </a:ext>
            </a:extLst>
          </p:cNvPr>
          <p:cNvCxnSpPr>
            <a:cxnSpLocks/>
          </p:cNvCxnSpPr>
          <p:nvPr/>
        </p:nvCxnSpPr>
        <p:spPr>
          <a:xfrm>
            <a:off x="312925" y="4693581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0BFB9B1B-6D21-75E4-0C16-C9E145D6032D}"/>
              </a:ext>
            </a:extLst>
          </p:cNvPr>
          <p:cNvSpPr txBox="1"/>
          <p:nvPr/>
        </p:nvSpPr>
        <p:spPr>
          <a:xfrm>
            <a:off x="335012" y="4667504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교육훈련 수행절차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135EE0A-2665-9CA1-E651-DB7232AD906F}"/>
              </a:ext>
            </a:extLst>
          </p:cNvPr>
          <p:cNvSpPr/>
          <p:nvPr/>
        </p:nvSpPr>
        <p:spPr>
          <a:xfrm>
            <a:off x="312925" y="5699228"/>
            <a:ext cx="1445194" cy="1015897"/>
          </a:xfrm>
          <a:prstGeom prst="roundRect">
            <a:avLst>
              <a:gd name="adj" fmla="val 842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교육대상 정의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교육목표 설정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교육과정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방법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일정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장소 계획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4581D606-AF06-2AB1-F394-CAE8EF6971D3}"/>
              </a:ext>
            </a:extLst>
          </p:cNvPr>
          <p:cNvSpPr/>
          <p:nvPr/>
        </p:nvSpPr>
        <p:spPr>
          <a:xfrm>
            <a:off x="1930388" y="5699228"/>
            <a:ext cx="1445194" cy="1015897"/>
          </a:xfrm>
          <a:prstGeom prst="roundRect">
            <a:avLst>
              <a:gd name="adj" fmla="val 842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사용자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운영자 교재 작성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실습자료 준비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 전 사전제출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0B345A-09C0-8989-0F6C-F4AAC06EA51A}"/>
              </a:ext>
            </a:extLst>
          </p:cNvPr>
          <p:cNvSpPr/>
          <p:nvPr/>
        </p:nvSpPr>
        <p:spPr>
          <a:xfrm>
            <a:off x="3547851" y="5699228"/>
            <a:ext cx="1445194" cy="1015897"/>
          </a:xfrm>
          <a:prstGeom prst="roundRect">
            <a:avLst>
              <a:gd name="adj" fmla="val 842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차 사용자 교육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2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차 관리자 교육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실습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시연 중심 질의응답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9405C2CF-B1D6-62BB-42B5-4131D667FC2C}"/>
              </a:ext>
            </a:extLst>
          </p:cNvPr>
          <p:cNvSpPr/>
          <p:nvPr/>
        </p:nvSpPr>
        <p:spPr>
          <a:xfrm>
            <a:off x="5165315" y="5699228"/>
            <a:ext cx="1445194" cy="1015897"/>
          </a:xfrm>
          <a:prstGeom prst="roundRect">
            <a:avLst>
              <a:gd name="adj" fmla="val 842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참석자 관리교육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만족도 조사</a:t>
            </a:r>
            <a:endParaRPr lang="en-US" altLang="ko-KR" sz="1000">
              <a:solidFill>
                <a:schemeClr val="tx1"/>
              </a:solidFill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08000" indent="-108000">
              <a:lnSpc>
                <a:spcPct val="12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주요 질의</a:t>
            </a:r>
            <a:r>
              <a:rPr lang="en-US" altLang="ko-KR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1000">
                <a:solidFill>
                  <a:schemeClr val="tx1"/>
                </a:solidFill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보완사항 정리 및 보고</a:t>
            </a: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FFD91DEB-B41F-B442-18D9-E765C63821E4}"/>
              </a:ext>
            </a:extLst>
          </p:cNvPr>
          <p:cNvCxnSpPr>
            <a:cxnSpLocks/>
          </p:cNvCxnSpPr>
          <p:nvPr/>
        </p:nvCxnSpPr>
        <p:spPr>
          <a:xfrm>
            <a:off x="312925" y="6845672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TextBox 75">
            <a:extLst>
              <a:ext uri="{FF2B5EF4-FFF2-40B4-BE49-F238E27FC236}">
                <a16:creationId xmlns:a16="http://schemas.microsoft.com/office/drawing/2014/main" id="{4FB223A6-A1A8-77F7-C19A-C73669D4C110}"/>
              </a:ext>
            </a:extLst>
          </p:cNvPr>
          <p:cNvSpPr txBox="1"/>
          <p:nvPr/>
        </p:nvSpPr>
        <p:spPr>
          <a:xfrm>
            <a:off x="335012" y="6819595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교육훈련 산출물</a:t>
            </a:r>
          </a:p>
        </p:txBody>
      </p:sp>
      <p:sp>
        <p:nvSpPr>
          <p:cNvPr id="77" name="사다리꼴 76">
            <a:extLst>
              <a:ext uri="{FF2B5EF4-FFF2-40B4-BE49-F238E27FC236}">
                <a16:creationId xmlns:a16="http://schemas.microsoft.com/office/drawing/2014/main" id="{5D44D101-ED3B-EAD4-063C-4D300EF41A53}"/>
              </a:ext>
            </a:extLst>
          </p:cNvPr>
          <p:cNvSpPr/>
          <p:nvPr/>
        </p:nvSpPr>
        <p:spPr>
          <a:xfrm>
            <a:off x="2575749" y="6782455"/>
            <a:ext cx="3349844" cy="477998"/>
          </a:xfrm>
          <a:prstGeom prst="trapezoid">
            <a:avLst>
              <a:gd name="adj" fmla="val 216298"/>
            </a:avLst>
          </a:prstGeom>
          <a:gradFill>
            <a:gsLst>
              <a:gs pos="0">
                <a:schemeClr val="bg1"/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3608EA11-D31E-8BDD-E2D3-54FE4630EBF2}"/>
              </a:ext>
            </a:extLst>
          </p:cNvPr>
          <p:cNvSpPr/>
          <p:nvPr/>
        </p:nvSpPr>
        <p:spPr>
          <a:xfrm>
            <a:off x="3476811" y="7323670"/>
            <a:ext cx="1445194" cy="251366"/>
          </a:xfrm>
          <a:prstGeom prst="roundRect">
            <a:avLst>
              <a:gd name="adj" fmla="val 842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사용자 매뉴얼</a:t>
            </a:r>
          </a:p>
        </p:txBody>
      </p:sp>
      <p:pic>
        <p:nvPicPr>
          <p:cNvPr id="79" name="그림 78">
            <a:extLst>
              <a:ext uri="{FF2B5EF4-FFF2-40B4-BE49-F238E27FC236}">
                <a16:creationId xmlns:a16="http://schemas.microsoft.com/office/drawing/2014/main" id="{655E02E6-6246-6FA1-914D-1AE938DC53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060" t="45168" r="2689" b="15205"/>
          <a:stretch>
            <a:fillRect/>
          </a:stretch>
        </p:blipFill>
        <p:spPr>
          <a:xfrm>
            <a:off x="4572000" y="8534401"/>
            <a:ext cx="2051066" cy="1218750"/>
          </a:xfrm>
          <a:prstGeom prst="rect">
            <a:avLst/>
          </a:prstGeom>
        </p:spPr>
      </p:pic>
      <p:sp>
        <p:nvSpPr>
          <p:cNvPr id="80" name="TextBox 79">
            <a:extLst>
              <a:ext uri="{FF2B5EF4-FFF2-40B4-BE49-F238E27FC236}">
                <a16:creationId xmlns:a16="http://schemas.microsoft.com/office/drawing/2014/main" id="{61224BA3-B5C2-9A7C-122C-507E6BD2DD0F}"/>
              </a:ext>
            </a:extLst>
          </p:cNvPr>
          <p:cNvSpPr txBox="1"/>
          <p:nvPr/>
        </p:nvSpPr>
        <p:spPr>
          <a:xfrm>
            <a:off x="3476811" y="7613042"/>
            <a:ext cx="31336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 구성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운영절차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비상복구 등 운영 관리 방법</a:t>
            </a: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4896D6A2-1C5C-5887-9C5D-257E4B632E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221" t="7956" r="2527" b="55821"/>
          <a:stretch>
            <a:fillRect/>
          </a:stretch>
        </p:blipFill>
        <p:spPr>
          <a:xfrm>
            <a:off x="3448568" y="8112713"/>
            <a:ext cx="2188777" cy="1188847"/>
          </a:xfrm>
          <a:prstGeom prst="rect">
            <a:avLst/>
          </a:prstGeom>
        </p:spPr>
      </p:pic>
      <p:pic>
        <p:nvPicPr>
          <p:cNvPr id="82" name="그림 81">
            <a:extLst>
              <a:ext uri="{FF2B5EF4-FFF2-40B4-BE49-F238E27FC236}">
                <a16:creationId xmlns:a16="http://schemas.microsoft.com/office/drawing/2014/main" id="{AA2A81D5-B42E-19B6-337F-0269A5F97C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4130" y="8140342"/>
            <a:ext cx="2051066" cy="1538300"/>
          </a:xfrm>
          <a:prstGeom prst="rect">
            <a:avLst/>
          </a:prstGeom>
        </p:spPr>
      </p:pic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CC15363-D8FE-ED58-CEB5-1E1AA59FCED9}"/>
              </a:ext>
            </a:extLst>
          </p:cNvPr>
          <p:cNvSpPr/>
          <p:nvPr/>
        </p:nvSpPr>
        <p:spPr>
          <a:xfrm>
            <a:off x="335012" y="7323670"/>
            <a:ext cx="1445194" cy="251366"/>
          </a:xfrm>
          <a:prstGeom prst="roundRect">
            <a:avLst>
              <a:gd name="adj" fmla="val 842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교육훈련 결과서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08566FE-933B-2275-A317-A0AD94A2A8A4}"/>
              </a:ext>
            </a:extLst>
          </p:cNvPr>
          <p:cNvSpPr txBox="1"/>
          <p:nvPr/>
        </p:nvSpPr>
        <p:spPr>
          <a:xfrm>
            <a:off x="335012" y="7613042"/>
            <a:ext cx="28971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교육실시 내역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참석자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질의응답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만족도</a:t>
            </a:r>
            <a:r>
              <a:rPr lang="en-US" altLang="ko-KR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2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보완사항 등 결과 기록</a:t>
            </a:r>
          </a:p>
        </p:txBody>
      </p:sp>
    </p:spTree>
    <p:extLst>
      <p:ext uri="{BB962C8B-B14F-4D97-AF65-F5344CB8AC3E}">
        <p14:creationId xmlns:p14="http://schemas.microsoft.com/office/powerpoint/2010/main" val="536813343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696E1-697B-EEFE-5151-D197A3B759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EED5671-0774-B5E8-D01B-44A0F103892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851C7DF-9164-121B-DA39-0DCE307A688D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106A98-2996-2EF1-649A-519AC0C0B258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2.2.3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도움말 및 가이드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F9BBA-0A39-C526-7ED5-9000949B1CB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운영지원체계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5E863A2-ECEF-F9D8-8364-7C0D8B29632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8734DDF-EB3A-658E-117C-BC06EB5D0AE9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C7B95EA-2983-F162-1F11-E7AC1684D20A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232952244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3FF584-286C-3C5C-4773-A66F2A87C5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C76F743-4FE2-1947-2F5D-972EF2FB7DE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81EE124-8ECB-20C9-9C23-100FA4DC0D14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A22417D-BE6A-1821-0D42-7D6BCA5EAC29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2.3.1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시스템 형상관리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C2E609-B842-E0A7-C03B-27870B7094FC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형상관리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하자보수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후속운영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759CB35-C8E4-C2DA-3700-96E14F3FBCB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115F4C5-DF3A-4238-1211-DD321757EAA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BA44E16-353E-FD34-29ED-AD3767EC635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699288549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BCF62-0FE9-1788-2FD6-7D7151896A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D861377-A239-EEC8-48C1-AD6FCEAB01C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628CF82-3E1D-8A92-0A9F-98DDAAEE610F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FD37DB-584E-AFBD-2475-BE4516909903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2.3.2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하자보수 및 안정화 지원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DD35EF9-8206-76C4-6E93-84096B453F94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형상관리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하자보수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후속운영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1BD33AAF-635E-7954-46E6-4002DAC381C1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제안사는 과업 종료 이후 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년의 담보 책임 기간 중 컨설팅 결과물에 품질 이상이 있을 경우 제안사의 부담으로 결과물을 보완하여 제출</a:t>
            </a:r>
            <a:endParaRPr kumimoji="1" lang="en-US" altLang="ko-KR" sz="1200">
              <a:ln w="12700">
                <a:solidFill>
                  <a:prstClr val="black">
                    <a:alpha val="0"/>
                  </a:prstClr>
                </a:solidFill>
              </a:ln>
              <a:solidFill>
                <a:prstClr val="black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3BA6C81-3209-2AE1-6C10-F9F8B1C99FD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1DBA854B-B830-0650-F5E0-DBA626285886}"/>
              </a:ext>
            </a:extLst>
          </p:cNvPr>
          <p:cNvSpPr txBox="1"/>
          <p:nvPr/>
        </p:nvSpPr>
        <p:spPr>
          <a:xfrm>
            <a:off x="335012" y="2371141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유지관리 범위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EE78523-F40D-4153-A8BE-EBD0F899506A}"/>
              </a:ext>
            </a:extLst>
          </p:cNvPr>
          <p:cNvSpPr/>
          <p:nvPr/>
        </p:nvSpPr>
        <p:spPr>
          <a:xfrm>
            <a:off x="302559" y="2766902"/>
            <a:ext cx="1492904" cy="150804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E00D0BB-2008-A499-D0E3-819CDDB1E40C}"/>
              </a:ext>
            </a:extLst>
          </p:cNvPr>
          <p:cNvSpPr/>
          <p:nvPr/>
        </p:nvSpPr>
        <p:spPr>
          <a:xfrm>
            <a:off x="1907573" y="2766902"/>
            <a:ext cx="1492904" cy="150804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4F0DE0C8-11EB-2273-613D-2364CA08B22A}"/>
              </a:ext>
            </a:extLst>
          </p:cNvPr>
          <p:cNvSpPr/>
          <p:nvPr/>
        </p:nvSpPr>
        <p:spPr>
          <a:xfrm>
            <a:off x="3512587" y="2766902"/>
            <a:ext cx="1492904" cy="150804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BDB3A2F-3A0D-283F-207F-9903AEB6C0B7}"/>
              </a:ext>
            </a:extLst>
          </p:cNvPr>
          <p:cNvSpPr/>
          <p:nvPr/>
        </p:nvSpPr>
        <p:spPr>
          <a:xfrm>
            <a:off x="5117602" y="2766902"/>
            <a:ext cx="1492904" cy="150804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541F1AB-28ED-3181-EF6A-D19FE0B42554}"/>
              </a:ext>
            </a:extLst>
          </p:cNvPr>
          <p:cNvSpPr txBox="1"/>
          <p:nvPr/>
        </p:nvSpPr>
        <p:spPr>
          <a:xfrm>
            <a:off x="350539" y="3517151"/>
            <a:ext cx="1395712" cy="6982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화면 오류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기능 오류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권한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접속 등 오류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436765-B881-D11F-9557-8E5D353BBCCC}"/>
              </a:ext>
            </a:extLst>
          </p:cNvPr>
          <p:cNvSpPr txBox="1"/>
          <p:nvPr/>
        </p:nvSpPr>
        <p:spPr>
          <a:xfrm>
            <a:off x="1956169" y="3517151"/>
            <a:ext cx="1395712" cy="6982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 조회 오류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API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응답 오류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연계 기능 오류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8A5BE59-848C-BB28-9E38-9039200285D5}"/>
              </a:ext>
            </a:extLst>
          </p:cNvPr>
          <p:cNvSpPr txBox="1"/>
          <p:nvPr/>
        </p:nvSpPr>
        <p:spPr>
          <a:xfrm>
            <a:off x="3561799" y="3517151"/>
            <a:ext cx="1395712" cy="6982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설정 오류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로그 점검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백업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복구 지원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8F3804B-E24C-B501-D22A-36AF2E58BF23}"/>
              </a:ext>
            </a:extLst>
          </p:cNvPr>
          <p:cNvSpPr txBox="1"/>
          <p:nvPr/>
        </p:nvSpPr>
        <p:spPr>
          <a:xfrm>
            <a:off x="5167429" y="3517151"/>
            <a:ext cx="1395712" cy="6982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사용자 매뉴얼 보완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운영자 매뉴얼 보완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최종 보고서 보완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30A5D46-3E5A-A59C-F33A-3A0E264B3A0B}"/>
              </a:ext>
            </a:extLst>
          </p:cNvPr>
          <p:cNvSpPr txBox="1"/>
          <p:nvPr/>
        </p:nvSpPr>
        <p:spPr>
          <a:xfrm>
            <a:off x="301943" y="3335375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73EFA48-10DD-7CF7-C893-874FFD947F2D}"/>
              </a:ext>
            </a:extLst>
          </p:cNvPr>
          <p:cNvSpPr txBox="1"/>
          <p:nvPr/>
        </p:nvSpPr>
        <p:spPr>
          <a:xfrm>
            <a:off x="1907573" y="3335375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</a:t>
            </a:r>
            <a:r>
              <a:rPr lang="en-US" altLang="ko-KR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/API</a:t>
            </a:r>
            <a:endParaRPr lang="ko-KR" altLang="en-US" sz="1000">
              <a:solidFill>
                <a:srgbClr val="0070C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42BF9DE-6B5B-43FA-79B0-7C59DE37C460}"/>
              </a:ext>
            </a:extLst>
          </p:cNvPr>
          <p:cNvSpPr txBox="1"/>
          <p:nvPr/>
        </p:nvSpPr>
        <p:spPr>
          <a:xfrm>
            <a:off x="3513203" y="3335375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운영 환경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78FDC55-22D0-AAFA-7145-1D22E70DF0C8}"/>
              </a:ext>
            </a:extLst>
          </p:cNvPr>
          <p:cNvSpPr txBox="1"/>
          <p:nvPr/>
        </p:nvSpPr>
        <p:spPr>
          <a:xfrm>
            <a:off x="5118833" y="3335375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산출물</a:t>
            </a:r>
          </a:p>
        </p:txBody>
      </p:sp>
      <p:pic>
        <p:nvPicPr>
          <p:cNvPr id="23" name="그림 22">
            <a:extLst>
              <a:ext uri="{FF2B5EF4-FFF2-40B4-BE49-F238E27FC236}">
                <a16:creationId xmlns:a16="http://schemas.microsoft.com/office/drawing/2014/main" id="{CBCD4960-9CFB-CC95-763A-06C2F7D4C3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9172" t="46290" r="79986" b="47394"/>
          <a:stretch>
            <a:fillRect/>
          </a:stretch>
        </p:blipFill>
        <p:spPr>
          <a:xfrm>
            <a:off x="751699" y="2818378"/>
            <a:ext cx="593390" cy="488555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D3DC2D1C-ED21-E32C-9E95-1562AF67E5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2542" t="46290" r="56616" b="47394"/>
          <a:stretch>
            <a:fillRect/>
          </a:stretch>
        </p:blipFill>
        <p:spPr>
          <a:xfrm>
            <a:off x="2357329" y="2818378"/>
            <a:ext cx="593390" cy="488555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CC559BEB-330C-4E4D-F239-6F1C35B9801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4782" t="46259" r="34376" b="47425"/>
          <a:stretch>
            <a:fillRect/>
          </a:stretch>
        </p:blipFill>
        <p:spPr>
          <a:xfrm>
            <a:off x="3962344" y="2818378"/>
            <a:ext cx="593390" cy="488555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A1AB8C98-B5D1-33B6-6C89-BEA4387EC9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875" t="46290" r="11283" b="47394"/>
          <a:stretch>
            <a:fillRect/>
          </a:stretch>
        </p:blipFill>
        <p:spPr>
          <a:xfrm>
            <a:off x="5567359" y="2818378"/>
            <a:ext cx="593390" cy="488555"/>
          </a:xfrm>
          <a:prstGeom prst="rect">
            <a:avLst/>
          </a:prstGeom>
        </p:spPr>
      </p:pic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11F1418F-B1F7-4077-234A-FAFB23CC1B1F}"/>
              </a:ext>
            </a:extLst>
          </p:cNvPr>
          <p:cNvCxnSpPr>
            <a:cxnSpLocks/>
          </p:cNvCxnSpPr>
          <p:nvPr/>
        </p:nvCxnSpPr>
        <p:spPr>
          <a:xfrm>
            <a:off x="312925" y="4388279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904331D6-5B36-25B7-9F6D-CA3116C635C1}"/>
              </a:ext>
            </a:extLst>
          </p:cNvPr>
          <p:cNvSpPr txBox="1"/>
          <p:nvPr/>
        </p:nvSpPr>
        <p:spPr>
          <a:xfrm>
            <a:off x="335012" y="4362202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유지관리 대책</a:t>
            </a:r>
          </a:p>
        </p:txBody>
      </p:sp>
      <p:sp>
        <p:nvSpPr>
          <p:cNvPr id="30" name="사각형: 둥근 위쪽 모서리 29">
            <a:extLst>
              <a:ext uri="{FF2B5EF4-FFF2-40B4-BE49-F238E27FC236}">
                <a16:creationId xmlns:a16="http://schemas.microsoft.com/office/drawing/2014/main" id="{8433AE9E-FA85-21DE-AFC3-CB367F09BD6C}"/>
              </a:ext>
            </a:extLst>
          </p:cNvPr>
          <p:cNvSpPr/>
          <p:nvPr/>
        </p:nvSpPr>
        <p:spPr>
          <a:xfrm>
            <a:off x="1907573" y="4732563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지원대상</a:t>
            </a:r>
          </a:p>
        </p:txBody>
      </p:sp>
      <p:sp>
        <p:nvSpPr>
          <p:cNvPr id="31" name="사각형: 둥근 위쪽 모서리 30">
            <a:extLst>
              <a:ext uri="{FF2B5EF4-FFF2-40B4-BE49-F238E27FC236}">
                <a16:creationId xmlns:a16="http://schemas.microsoft.com/office/drawing/2014/main" id="{75FD54E9-8CA4-7E89-B394-48D58C492F95}"/>
              </a:ext>
            </a:extLst>
          </p:cNvPr>
          <p:cNvSpPr/>
          <p:nvPr/>
        </p:nvSpPr>
        <p:spPr>
          <a:xfrm>
            <a:off x="3512587" y="4732563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지원내용</a:t>
            </a:r>
          </a:p>
        </p:txBody>
      </p:sp>
      <p:sp>
        <p:nvSpPr>
          <p:cNvPr id="32" name="사각형: 둥근 위쪽 모서리 31">
            <a:extLst>
              <a:ext uri="{FF2B5EF4-FFF2-40B4-BE49-F238E27FC236}">
                <a16:creationId xmlns:a16="http://schemas.microsoft.com/office/drawing/2014/main" id="{FB9FBDA6-B69F-5AB8-2840-D6EC0B2A601C}"/>
              </a:ext>
            </a:extLst>
          </p:cNvPr>
          <p:cNvSpPr/>
          <p:nvPr/>
        </p:nvSpPr>
        <p:spPr>
          <a:xfrm>
            <a:off x="5117601" y="4732563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지원원칙</a:t>
            </a:r>
          </a:p>
        </p:txBody>
      </p:sp>
      <p:sp>
        <p:nvSpPr>
          <p:cNvPr id="33" name="사각형: 둥근 위쪽 모서리 32">
            <a:extLst>
              <a:ext uri="{FF2B5EF4-FFF2-40B4-BE49-F238E27FC236}">
                <a16:creationId xmlns:a16="http://schemas.microsoft.com/office/drawing/2014/main" id="{8B3D743A-789A-D3DF-CA58-0E4401B6DAD8}"/>
              </a:ext>
            </a:extLst>
          </p:cNvPr>
          <p:cNvSpPr/>
          <p:nvPr/>
        </p:nvSpPr>
        <p:spPr>
          <a:xfrm>
            <a:off x="302559" y="4732563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지원기간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CAB20269-8606-6B05-2D56-7D131A780731}"/>
              </a:ext>
            </a:extLst>
          </p:cNvPr>
          <p:cNvSpPr/>
          <p:nvPr/>
        </p:nvSpPr>
        <p:spPr>
          <a:xfrm>
            <a:off x="302559" y="4732565"/>
            <a:ext cx="1492904" cy="121230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7FF695CF-93BC-74B6-F621-F4EA1924CF38}"/>
              </a:ext>
            </a:extLst>
          </p:cNvPr>
          <p:cNvSpPr/>
          <p:nvPr/>
        </p:nvSpPr>
        <p:spPr>
          <a:xfrm>
            <a:off x="1907573" y="4732565"/>
            <a:ext cx="1492904" cy="121230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82754617-4B21-87BA-AFC5-0AE9E88600D6}"/>
              </a:ext>
            </a:extLst>
          </p:cNvPr>
          <p:cNvSpPr/>
          <p:nvPr/>
        </p:nvSpPr>
        <p:spPr>
          <a:xfrm>
            <a:off x="3512587" y="4732565"/>
            <a:ext cx="1492904" cy="121230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7966F3-DFD7-A8B3-B542-7B13CEFBDF7C}"/>
              </a:ext>
            </a:extLst>
          </p:cNvPr>
          <p:cNvSpPr/>
          <p:nvPr/>
        </p:nvSpPr>
        <p:spPr>
          <a:xfrm>
            <a:off x="5117602" y="4732565"/>
            <a:ext cx="1492904" cy="1212306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90F67D0-A221-6087-F1F2-3BE996728712}"/>
              </a:ext>
            </a:extLst>
          </p:cNvPr>
          <p:cNvSpPr txBox="1"/>
          <p:nvPr/>
        </p:nvSpPr>
        <p:spPr>
          <a:xfrm>
            <a:off x="301943" y="5206321"/>
            <a:ext cx="1492903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 검수 완료 후 </a:t>
            </a:r>
            <a:r>
              <a:rPr lang="en-US" altLang="ko-KR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  <a:r>
              <a:rPr lang="ko-KR" altLang="en-US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년</a:t>
            </a:r>
            <a:br>
              <a:rPr lang="en-US" altLang="ko-KR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준공검사 완료일 기준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)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D7D9A19-CB54-EB8D-8AA7-4F2450E81E95}"/>
              </a:ext>
            </a:extLst>
          </p:cNvPr>
          <p:cNvSpPr txBox="1"/>
          <p:nvPr/>
        </p:nvSpPr>
        <p:spPr>
          <a:xfrm>
            <a:off x="1907573" y="5206321"/>
            <a:ext cx="1492903" cy="424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시스템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데이터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/API,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 환경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 등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B9B218A-ACA6-530C-25E0-2E8CC67EEE43}"/>
              </a:ext>
            </a:extLst>
          </p:cNvPr>
          <p:cNvSpPr txBox="1"/>
          <p:nvPr/>
        </p:nvSpPr>
        <p:spPr>
          <a:xfrm>
            <a:off x="3513203" y="4994059"/>
            <a:ext cx="1492903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오류 수정 및 결함 보완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운영상 장애 </a:t>
            </a:r>
            <a:r>
              <a:rPr lang="ko-KR" altLang="en-US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원인 분석 및 조치</a:t>
            </a:r>
            <a:endParaRPr lang="en-US" altLang="ko-KR" sz="900">
              <a:solidFill>
                <a:srgbClr val="0070C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 </a:t>
            </a:r>
            <a:r>
              <a:rPr lang="ko-KR" altLang="en-US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이상 보완</a:t>
            </a:r>
            <a:endParaRPr lang="en-US" altLang="ko-KR" sz="900">
              <a:solidFill>
                <a:srgbClr val="0070C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45C28BF-892D-5CFD-7B1E-36C62AAD2487}"/>
              </a:ext>
            </a:extLst>
          </p:cNvPr>
          <p:cNvSpPr txBox="1"/>
          <p:nvPr/>
        </p:nvSpPr>
        <p:spPr>
          <a:xfrm>
            <a:off x="5118833" y="4994059"/>
            <a:ext cx="14929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제안사 부담으로 무상 조치</a:t>
            </a:r>
            <a:endParaRPr lang="en-US" altLang="ko-KR" sz="900">
              <a:solidFill>
                <a:srgbClr val="0070C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사업 참여인력 중점 지원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인력 변경 </a:t>
            </a:r>
            <a:r>
              <a:rPr lang="ko-KR" altLang="en-US" sz="900">
                <a:solidFill>
                  <a:srgbClr val="0070C0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 동급 이상 인원으로 대체</a:t>
            </a:r>
            <a:endParaRPr lang="en-US" altLang="ko-KR" sz="900">
              <a:solidFill>
                <a:srgbClr val="0070C0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  <a:p>
            <a:pPr marL="92075" indent="-92075" algn="l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공무원 근무시간 기준 지원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655A72F8-DB74-BA36-12AF-02E2184B3390}"/>
              </a:ext>
            </a:extLst>
          </p:cNvPr>
          <p:cNvCxnSpPr>
            <a:cxnSpLocks/>
          </p:cNvCxnSpPr>
          <p:nvPr/>
        </p:nvCxnSpPr>
        <p:spPr>
          <a:xfrm>
            <a:off x="312925" y="6130886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64E04244-C6EB-BA8B-A45E-0C2CDA3FB386}"/>
              </a:ext>
            </a:extLst>
          </p:cNvPr>
          <p:cNvSpPr txBox="1"/>
          <p:nvPr/>
        </p:nvSpPr>
        <p:spPr>
          <a:xfrm>
            <a:off x="335012" y="6104809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유지관리 지원체계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86889F8D-8FF6-A9B8-AA35-9EB22ACF0ED9}"/>
              </a:ext>
            </a:extLst>
          </p:cNvPr>
          <p:cNvSpPr/>
          <p:nvPr/>
        </p:nvSpPr>
        <p:spPr>
          <a:xfrm>
            <a:off x="705265" y="7184927"/>
            <a:ext cx="1551358" cy="366193"/>
          </a:xfrm>
          <a:prstGeom prst="ellipse">
            <a:avLst/>
          </a:prstGeom>
          <a:solidFill>
            <a:srgbClr val="D6E4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이상 발견</a:t>
            </a:r>
          </a:p>
        </p:txBody>
      </p:sp>
      <p:sp>
        <p:nvSpPr>
          <p:cNvPr id="45" name="다이아몬드 44">
            <a:extLst>
              <a:ext uri="{FF2B5EF4-FFF2-40B4-BE49-F238E27FC236}">
                <a16:creationId xmlns:a16="http://schemas.microsoft.com/office/drawing/2014/main" id="{A84AEDCB-D30D-06A7-C91E-68C89808F559}"/>
              </a:ext>
            </a:extLst>
          </p:cNvPr>
          <p:cNvSpPr/>
          <p:nvPr/>
        </p:nvSpPr>
        <p:spPr>
          <a:xfrm>
            <a:off x="3882946" y="8618002"/>
            <a:ext cx="2273215" cy="478955"/>
          </a:xfrm>
          <a:prstGeom prst="diamond">
            <a:avLst/>
          </a:prstGeom>
          <a:solidFill>
            <a:srgbClr val="D6E4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하자보수 조치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8DA4984-F850-5FC7-FEED-03E343F89C4B}"/>
              </a:ext>
            </a:extLst>
          </p:cNvPr>
          <p:cNvSpPr/>
          <p:nvPr/>
        </p:nvSpPr>
        <p:spPr>
          <a:xfrm>
            <a:off x="2473026" y="7093134"/>
            <a:ext cx="1115935" cy="2794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하자보수 요청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D3AD7BCA-C71C-42EA-3D34-2BACC00F720D}"/>
              </a:ext>
            </a:extLst>
          </p:cNvPr>
          <p:cNvSpPr/>
          <p:nvPr/>
        </p:nvSpPr>
        <p:spPr>
          <a:xfrm>
            <a:off x="720168" y="8620770"/>
            <a:ext cx="1551358" cy="366193"/>
          </a:xfrm>
          <a:prstGeom prst="ellipse">
            <a:avLst/>
          </a:prstGeom>
          <a:solidFill>
            <a:srgbClr val="D6E4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완료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7724D8F-1DE1-93BD-3FB7-095F848C56E5}"/>
              </a:ext>
            </a:extLst>
          </p:cNvPr>
          <p:cNvSpPr/>
          <p:nvPr/>
        </p:nvSpPr>
        <p:spPr>
          <a:xfrm>
            <a:off x="705265" y="7912370"/>
            <a:ext cx="1551358" cy="366193"/>
          </a:xfrm>
          <a:prstGeom prst="rect">
            <a:avLst/>
          </a:prstGeom>
          <a:solidFill>
            <a:srgbClr val="D6E4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최종검토</a:t>
            </a:r>
            <a:endParaRPr kumimoji="1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49" name="자유형 121">
            <a:extLst>
              <a:ext uri="{FF2B5EF4-FFF2-40B4-BE49-F238E27FC236}">
                <a16:creationId xmlns:a16="http://schemas.microsoft.com/office/drawing/2014/main" id="{2B4877EA-688A-D10F-5719-11E9F4E01574}"/>
              </a:ext>
            </a:extLst>
          </p:cNvPr>
          <p:cNvSpPr/>
          <p:nvPr/>
        </p:nvSpPr>
        <p:spPr>
          <a:xfrm>
            <a:off x="1495847" y="8279051"/>
            <a:ext cx="48505" cy="346235"/>
          </a:xfrm>
          <a:custGeom>
            <a:avLst/>
            <a:gdLst>
              <a:gd name="connsiteX0" fmla="*/ 0 w 0"/>
              <a:gd name="connsiteY0" fmla="*/ 0 h 323850"/>
              <a:gd name="connsiteX1" fmla="*/ 0 w 0"/>
              <a:gd name="connsiteY1" fmla="*/ 323850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noFill/>
          <a:ln w="6350">
            <a:solidFill>
              <a:srgbClr val="00206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2EE2592-0348-02CB-4F95-7DD6922B6597}"/>
              </a:ext>
            </a:extLst>
          </p:cNvPr>
          <p:cNvSpPr/>
          <p:nvPr/>
        </p:nvSpPr>
        <p:spPr>
          <a:xfrm>
            <a:off x="1537589" y="8258025"/>
            <a:ext cx="524687" cy="3661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승인</a:t>
            </a:r>
          </a:p>
        </p:txBody>
      </p:sp>
      <p:sp>
        <p:nvSpPr>
          <p:cNvPr id="51" name="모서리가 둥근 직사각형 5">
            <a:extLst>
              <a:ext uri="{FF2B5EF4-FFF2-40B4-BE49-F238E27FC236}">
                <a16:creationId xmlns:a16="http://schemas.microsoft.com/office/drawing/2014/main" id="{646941CB-336C-CB09-0971-4A7FE5790283}"/>
              </a:ext>
            </a:extLst>
          </p:cNvPr>
          <p:cNvSpPr/>
          <p:nvPr/>
        </p:nvSpPr>
        <p:spPr>
          <a:xfrm>
            <a:off x="450370" y="6654690"/>
            <a:ext cx="2061148" cy="2833689"/>
          </a:xfrm>
          <a:prstGeom prst="roundRect">
            <a:avLst>
              <a:gd name="adj" fmla="val 6658"/>
            </a:avLst>
          </a:prstGeom>
          <a:noFill/>
          <a:ln w="12700" cap="flat" cmpd="sng" algn="ctr">
            <a:solidFill>
              <a:srgbClr val="0A76C2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2" name="모서리가 둥근 직사각형 4">
            <a:extLst>
              <a:ext uri="{FF2B5EF4-FFF2-40B4-BE49-F238E27FC236}">
                <a16:creationId xmlns:a16="http://schemas.microsoft.com/office/drawing/2014/main" id="{6018C39A-C42E-E1FF-F3D7-B1F1197639CB}"/>
              </a:ext>
            </a:extLst>
          </p:cNvPr>
          <p:cNvSpPr/>
          <p:nvPr/>
        </p:nvSpPr>
        <p:spPr>
          <a:xfrm>
            <a:off x="854891" y="6488448"/>
            <a:ext cx="1252106" cy="321431"/>
          </a:xfrm>
          <a:prstGeom prst="roundRect">
            <a:avLst/>
          </a:prstGeom>
          <a:solidFill>
            <a:srgbClr val="00206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발주기관</a:t>
            </a:r>
            <a:endParaRPr kumimoji="0" lang="en-US" altLang="ko-KR" sz="14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3" name="모서리가 둥근 직사각형 5">
            <a:extLst>
              <a:ext uri="{FF2B5EF4-FFF2-40B4-BE49-F238E27FC236}">
                <a16:creationId xmlns:a16="http://schemas.microsoft.com/office/drawing/2014/main" id="{38B02D0B-291A-7B65-1BCA-F3F4643DDD1C}"/>
              </a:ext>
            </a:extLst>
          </p:cNvPr>
          <p:cNvSpPr/>
          <p:nvPr/>
        </p:nvSpPr>
        <p:spPr>
          <a:xfrm>
            <a:off x="3567160" y="6637548"/>
            <a:ext cx="2846539" cy="2850831"/>
          </a:xfrm>
          <a:prstGeom prst="roundRect">
            <a:avLst>
              <a:gd name="adj" fmla="val 6658"/>
            </a:avLst>
          </a:prstGeom>
          <a:noFill/>
          <a:ln w="12700" cap="flat" cmpd="sng" algn="ctr">
            <a:solidFill>
              <a:srgbClr val="0A76C2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4" name="모서리가 둥근 직사각형 4">
            <a:extLst>
              <a:ext uri="{FF2B5EF4-FFF2-40B4-BE49-F238E27FC236}">
                <a16:creationId xmlns:a16="http://schemas.microsoft.com/office/drawing/2014/main" id="{9E1889E8-EBA5-8D8D-8235-DFE04855F39F}"/>
              </a:ext>
            </a:extLst>
          </p:cNvPr>
          <p:cNvSpPr/>
          <p:nvPr/>
        </p:nvSpPr>
        <p:spPr>
          <a:xfrm>
            <a:off x="4125823" y="6470300"/>
            <a:ext cx="1729215" cy="323375"/>
          </a:xfrm>
          <a:prstGeom prst="roundRect">
            <a:avLst/>
          </a:prstGeom>
          <a:solidFill>
            <a:srgbClr val="00206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kern="0">
                <a:solidFill>
                  <a:prstClr val="white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제안사</a:t>
            </a:r>
            <a:endParaRPr kumimoji="0" lang="en-US" altLang="ko-KR" sz="14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5" name="화살표: 오른쪽 54">
            <a:extLst>
              <a:ext uri="{FF2B5EF4-FFF2-40B4-BE49-F238E27FC236}">
                <a16:creationId xmlns:a16="http://schemas.microsoft.com/office/drawing/2014/main" id="{EBECBFB3-613A-3FB5-9948-E5DBABC88E6F}"/>
              </a:ext>
            </a:extLst>
          </p:cNvPr>
          <p:cNvSpPr/>
          <p:nvPr/>
        </p:nvSpPr>
        <p:spPr>
          <a:xfrm>
            <a:off x="2409824" y="7259457"/>
            <a:ext cx="1371601" cy="217131"/>
          </a:xfrm>
          <a:prstGeom prst="rightArrow">
            <a:avLst>
              <a:gd name="adj1" fmla="val 36435"/>
              <a:gd name="adj2" fmla="val 74337"/>
            </a:avLst>
          </a:prstGeom>
          <a:solidFill>
            <a:srgbClr val="0070C0"/>
          </a:solidFill>
          <a:ln>
            <a:noFill/>
          </a:ln>
        </p:spPr>
        <p:txBody>
          <a:bodyPr vert="eaVert"/>
          <a:lstStyle/>
          <a:p>
            <a:endParaRPr lang="ko-KR" altLang="en-US" b="1" kern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E0BE1FD-D931-1BF9-35E7-6D06E2C0FA92}"/>
              </a:ext>
            </a:extLst>
          </p:cNvPr>
          <p:cNvSpPr/>
          <p:nvPr/>
        </p:nvSpPr>
        <p:spPr>
          <a:xfrm rot="866103">
            <a:off x="2780434" y="7974154"/>
            <a:ext cx="775118" cy="3661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검토 요청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E0AC319-4983-5C42-48D8-454607B961BE}"/>
              </a:ext>
            </a:extLst>
          </p:cNvPr>
          <p:cNvSpPr/>
          <p:nvPr/>
        </p:nvSpPr>
        <p:spPr>
          <a:xfrm rot="953091">
            <a:off x="2768651" y="8510654"/>
            <a:ext cx="631825" cy="3661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반려 시</a:t>
            </a:r>
          </a:p>
        </p:txBody>
      </p:sp>
      <p:sp>
        <p:nvSpPr>
          <p:cNvPr id="58" name="자유형 23">
            <a:extLst>
              <a:ext uri="{FF2B5EF4-FFF2-40B4-BE49-F238E27FC236}">
                <a16:creationId xmlns:a16="http://schemas.microsoft.com/office/drawing/2014/main" id="{B1E911D7-CA47-546D-9827-38154C738C92}"/>
              </a:ext>
            </a:extLst>
          </p:cNvPr>
          <p:cNvSpPr/>
          <p:nvPr/>
        </p:nvSpPr>
        <p:spPr>
          <a:xfrm>
            <a:off x="5019554" y="8213512"/>
            <a:ext cx="50887" cy="411774"/>
          </a:xfrm>
          <a:custGeom>
            <a:avLst/>
            <a:gdLst>
              <a:gd name="connsiteX0" fmla="*/ 0 w 0"/>
              <a:gd name="connsiteY0" fmla="*/ 0 h 352425"/>
              <a:gd name="connsiteX1" fmla="*/ 0 w 0"/>
              <a:gd name="connsiteY1" fmla="*/ 352425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52425">
                <a:moveTo>
                  <a:pt x="0" y="0"/>
                </a:moveTo>
                <a:lnTo>
                  <a:pt x="0" y="352425"/>
                </a:lnTo>
              </a:path>
            </a:pathLst>
          </a:custGeom>
          <a:noFill/>
          <a:ln w="6350">
            <a:solidFill>
              <a:srgbClr val="00206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4C95466-57B1-8E66-7204-6ECF27CDA65D}"/>
              </a:ext>
            </a:extLst>
          </p:cNvPr>
          <p:cNvSpPr/>
          <p:nvPr/>
        </p:nvSpPr>
        <p:spPr>
          <a:xfrm>
            <a:off x="3880516" y="7907370"/>
            <a:ext cx="2273170" cy="366193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전사 지원 또는 전문기관 자문 요청</a:t>
            </a:r>
          </a:p>
        </p:txBody>
      </p:sp>
      <p:sp>
        <p:nvSpPr>
          <p:cNvPr id="60" name="자유형 23">
            <a:extLst>
              <a:ext uri="{FF2B5EF4-FFF2-40B4-BE49-F238E27FC236}">
                <a16:creationId xmlns:a16="http://schemas.microsoft.com/office/drawing/2014/main" id="{D61EE41A-C688-2BFE-AE08-529F2373CED8}"/>
              </a:ext>
            </a:extLst>
          </p:cNvPr>
          <p:cNvSpPr/>
          <p:nvPr/>
        </p:nvSpPr>
        <p:spPr>
          <a:xfrm>
            <a:off x="5019554" y="7541177"/>
            <a:ext cx="50887" cy="366193"/>
          </a:xfrm>
          <a:custGeom>
            <a:avLst/>
            <a:gdLst>
              <a:gd name="connsiteX0" fmla="*/ 0 w 0"/>
              <a:gd name="connsiteY0" fmla="*/ 0 h 352425"/>
              <a:gd name="connsiteX1" fmla="*/ 0 w 0"/>
              <a:gd name="connsiteY1" fmla="*/ 352425 h 35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52425">
                <a:moveTo>
                  <a:pt x="0" y="0"/>
                </a:moveTo>
                <a:lnTo>
                  <a:pt x="0" y="352425"/>
                </a:lnTo>
              </a:path>
            </a:pathLst>
          </a:custGeom>
          <a:noFill/>
          <a:ln w="6350">
            <a:solidFill>
              <a:srgbClr val="00206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2ECDFEF-FF4C-F6E4-A421-E6A2E3202AF0}"/>
              </a:ext>
            </a:extLst>
          </p:cNvPr>
          <p:cNvSpPr/>
          <p:nvPr/>
        </p:nvSpPr>
        <p:spPr>
          <a:xfrm>
            <a:off x="3883883" y="7189454"/>
            <a:ext cx="2265264" cy="366193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하자보수 접수 </a:t>
            </a:r>
          </a:p>
        </p:txBody>
      </p:sp>
      <p:sp>
        <p:nvSpPr>
          <p:cNvPr id="62" name="화살표: 오른쪽 61">
            <a:extLst>
              <a:ext uri="{FF2B5EF4-FFF2-40B4-BE49-F238E27FC236}">
                <a16:creationId xmlns:a16="http://schemas.microsoft.com/office/drawing/2014/main" id="{84B3009F-D414-E51A-F304-8F21F66F511A}"/>
              </a:ext>
            </a:extLst>
          </p:cNvPr>
          <p:cNvSpPr/>
          <p:nvPr/>
        </p:nvSpPr>
        <p:spPr>
          <a:xfrm rot="11700000">
            <a:off x="2264855" y="8197495"/>
            <a:ext cx="1648185" cy="217131"/>
          </a:xfrm>
          <a:prstGeom prst="rightArrow">
            <a:avLst>
              <a:gd name="adj1" fmla="val 36435"/>
              <a:gd name="adj2" fmla="val 74337"/>
            </a:avLst>
          </a:prstGeom>
          <a:solidFill>
            <a:srgbClr val="0070C0"/>
          </a:solidFill>
          <a:ln>
            <a:noFill/>
          </a:ln>
        </p:spPr>
        <p:txBody>
          <a:bodyPr vert="eaVert"/>
          <a:lstStyle/>
          <a:p>
            <a:endParaRPr lang="ko-KR" altLang="en-US" b="1" kern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3" name="화살표: 오른쪽 62">
            <a:extLst>
              <a:ext uri="{FF2B5EF4-FFF2-40B4-BE49-F238E27FC236}">
                <a16:creationId xmlns:a16="http://schemas.microsoft.com/office/drawing/2014/main" id="{DA238764-861E-693D-4B63-55A5EBEBC26F}"/>
              </a:ext>
            </a:extLst>
          </p:cNvPr>
          <p:cNvSpPr/>
          <p:nvPr/>
        </p:nvSpPr>
        <p:spPr>
          <a:xfrm rot="900000">
            <a:off x="2264856" y="8430756"/>
            <a:ext cx="1648185" cy="217131"/>
          </a:xfrm>
          <a:prstGeom prst="rightArrow">
            <a:avLst>
              <a:gd name="adj1" fmla="val 36435"/>
              <a:gd name="adj2" fmla="val 74337"/>
            </a:avLst>
          </a:prstGeom>
          <a:solidFill>
            <a:srgbClr val="0070C0"/>
          </a:solidFill>
          <a:ln>
            <a:noFill/>
          </a:ln>
        </p:spPr>
        <p:txBody>
          <a:bodyPr vert="eaVert"/>
          <a:lstStyle/>
          <a:p>
            <a:endParaRPr lang="ko-KR" altLang="en-US" b="1" kern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7F5B0A8-1BEB-2DE8-B8AC-38A4A760AE18}"/>
              </a:ext>
            </a:extLst>
          </p:cNvPr>
          <p:cNvSpPr txBox="1"/>
          <p:nvPr/>
        </p:nvSpPr>
        <p:spPr>
          <a:xfrm>
            <a:off x="1345089" y="2372784"/>
            <a:ext cx="497077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DB,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시스템 등 최종 결과물의 무결성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신뢰성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</a:t>
            </a:r>
            <a:r>
              <a:rPr lang="en-US" altLang="ko-KR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, </a:t>
            </a:r>
            <a:r>
              <a:rPr lang="ko-KR" altLang="en-US" sz="10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호환성을 검증 및 지원</a:t>
            </a:r>
          </a:p>
        </p:txBody>
      </p:sp>
    </p:spTree>
    <p:extLst>
      <p:ext uri="{BB962C8B-B14F-4D97-AF65-F5344CB8AC3E}">
        <p14:creationId xmlns:p14="http://schemas.microsoft.com/office/powerpoint/2010/main" val="6001865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0706AC-0938-9DAA-ABCE-D78A507F7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BE2C3E28-24C5-A7E9-B272-FDB1BFC2236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F0A91E0-8BE7-70F6-ED0D-7490429C888D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124E69C-83CD-2271-19F9-C0493A0678FC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2.3.3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검사 대응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26D62DF-1CF2-C580-6626-68AD9A06CE2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형상관리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하자보수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후속운영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BE8593A-6D1F-A12B-7620-D7B3EF1D2E6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834C88B0-6319-3479-6483-F4672177EFB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9C112CB-9497-5F32-B09E-A0FC0A6F912C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51762506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8CA71-8DA8-F986-928F-3C139A703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9C34CB92-CED8-2055-19BC-307B2E7E68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A6FF175-C4A1-1AA5-C577-8CFFD7E92949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B829CC5-D964-0F72-978A-AF15656A85DD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2.3.4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후속 운영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인프라사업 지원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46E514A-E37B-3D74-ABF5-7DC46EB9A89D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2.3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형상관리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하자보수</a:t>
            </a:r>
            <a:r>
              <a:rPr lang="en-US" altLang="ko-KR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후속운영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117E91B-D32F-EDDC-5F70-E52881BAA1D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2E92A67-E778-1A6A-D391-96F2128578C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9575479-0913-28E6-3CD8-538E43F2B37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948926965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23D2EE-8803-346F-B5BB-C968146E25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B68BF3C7-3193-61A4-CB82-8A8072AE528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800573A-C6B8-EE32-3D29-BDE3E8C0C9CE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B0B6CC-B4FD-8137-1B6E-7AC332AB96E0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데이터 개방 및 활용 요구사항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DFE6C82-DDAC-29D4-318F-C9494C647F3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개방 및 제약사항 준수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9CE3B93-4894-C7C5-C494-32719F9C6A5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03C0D7D-0121-C7B2-2302-7C7E824167D2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37527E6-BCC3-21A8-CEF2-6D0C0108C75A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873636418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2B92A1-4B32-C296-3E81-508A2B934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7FEB52AF-0725-8750-1FC1-EA5DB25B4BC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A4EDAC5-CDC9-64B8-AD7C-EEA26AF88782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92F641-3E24-4945-4276-E46C734C821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법적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기술적 제약사항 준수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D747A4-98A4-F522-1500-8C9C7ECEE15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개방 및 제약사항 준수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77F1EC6-0A44-0C5E-E156-B60A53EA3EB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C0C9E34-A76D-72DD-EFE2-282189FA572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2BD4DCB-8EA0-2129-FEBB-B8C2F026560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426792972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105D5-A435-07F7-2949-CA69E5F090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D0CC32F-6289-9981-9C4E-8AF87560C7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B559004-002A-9E05-A83B-CA6FD9561EFB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30B353A-B5F7-206C-BB61-5AAF7CB52DEF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기술환경 제약사항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38D5EAB-B009-AC28-5C9C-DE13AD0BAA22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개방 및 제약사항 준수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B923743-2FBB-5354-E330-A5AAC9D4741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64F9E4E-43F1-AA4E-AFD7-293E36D2E77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71422167-9EF7-B2BC-E563-5EE81863A7E1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118465916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65529C-FF9C-8436-AA19-4EF754F3CD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F46C52C4-FBB7-737B-D107-1FB7159D46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1207ACC-D70C-1887-ABE1-B005FC994365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752A997-DF21-51E9-6B5E-411C54965B00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2.4.4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표준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상호운용성 제약사항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C1E5AF0-19D8-C701-78D0-247A9D18260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개방 및 제약사항 준수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01DBDEA-2434-6B7F-7977-4449F9A1123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D89E354-5058-8E3E-DD69-43DD6AE626F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CD8EE94-4A06-2CCF-F9D1-800536A543E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853243224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BF0CE-9347-4EFB-ACF4-10BCF5E6F7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A69CF375-8F26-7BCB-2447-32064B06208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C7E900A-98E0-F352-8E39-610132CE2B10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901EF4B-E655-64D7-8E87-695A51A3FA0B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2.4.5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업무절차 제약사항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3C5E851-1C12-538D-0210-D91070EC90C6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개방 및 제약사항 준수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3D7E38E-44D4-4A62-FF1D-8775A3AF535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8522E3C-665F-62E5-630E-23840249CD0E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77AC9ED-8A7E-7F1C-8C09-31531FA7E812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058261696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A75FF-083F-997E-41AD-5DBE7640E6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F0ACB7C1-F9F7-EA22-C305-3BAEBB970D4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사업 관리 방안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D8E55B1-41AA-C246-3066-2D162169AE57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828CE4-5E2D-15DB-966A-D1131110EC32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2.4.6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법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제도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보안 제약사항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2447ABB-C0E1-7E15-8D7B-8AFA7F60D91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2.4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데이터 개방 및 제약사항 준수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7E2EC95-E564-6758-3952-CC1D2594A5EE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53553872-9888-5EE6-83DD-F2C5DCE90E4F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E58B261-B101-623C-738F-A8E3906B325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1099881197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A3DDC7-15DC-1CAF-AD81-B5BD26A5CD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0D86BEDE-6484-FAFD-DD59-0990A95B93F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안전관리</a:t>
            </a:r>
            <a:r>
              <a:rPr lang="en-US" altLang="ko-KR" sz="1600">
                <a:solidFill>
                  <a:schemeClr val="tx1"/>
                </a:solidFill>
              </a:rPr>
              <a:t>, </a:t>
            </a:r>
            <a:r>
              <a:rPr lang="ko-KR" altLang="en-US" sz="1600">
                <a:solidFill>
                  <a:schemeClr val="tx1"/>
                </a:solidFill>
              </a:rPr>
              <a:t>재난관리 등 비상대책 수립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83A24CC-4C2D-0004-B066-D06C8FEA5A2B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C18521-C11B-B92C-858B-08295D9BFE71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안전보건관리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1DEB185-1ACD-0791-DCC7-C641560A8D4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3.1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안전보건관리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136CFA5-B44A-73CA-C666-15DBE74B8D39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71FCB27-346D-7E11-08A7-5E8956C0FE3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A5D8C33-23EC-6D63-69C8-6B69320C874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2899952464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F3CA7D-0528-31A6-51DF-220E293062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6DBD8A6A-5226-78A7-380E-86F32BB20B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안전관리</a:t>
            </a:r>
            <a:r>
              <a:rPr lang="en-US" altLang="ko-KR" sz="1600">
                <a:solidFill>
                  <a:schemeClr val="tx1"/>
                </a:solidFill>
              </a:rPr>
              <a:t>, </a:t>
            </a:r>
            <a:r>
              <a:rPr lang="ko-KR" altLang="en-US" sz="1600">
                <a:solidFill>
                  <a:schemeClr val="tx1"/>
                </a:solidFill>
              </a:rPr>
              <a:t>재난관리 등 비상대책 수립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578AF41-5F39-B985-37AD-5C23CCC0EDA8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CEA9687-0819-A501-F010-40DF58465495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인력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유고시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대체계획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678FC88-41D7-D6CE-27FC-D4CED43BC72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비상대책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7" name="사각형: 둥근 위쪽 모서리 6">
            <a:extLst>
              <a:ext uri="{FF2B5EF4-FFF2-40B4-BE49-F238E27FC236}">
                <a16:creationId xmlns:a16="http://schemas.microsoft.com/office/drawing/2014/main" id="{7FD07D16-CA4A-6516-79C3-0D0E31D3EB23}"/>
              </a:ext>
            </a:extLst>
          </p:cNvPr>
          <p:cNvSpPr/>
          <p:nvPr/>
        </p:nvSpPr>
        <p:spPr>
          <a:xfrm>
            <a:off x="1907573" y="3843707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유고 발생 즉시</a:t>
            </a:r>
          </a:p>
        </p:txBody>
      </p:sp>
      <p:sp>
        <p:nvSpPr>
          <p:cNvPr id="8" name="사각형: 둥근 위쪽 모서리 7">
            <a:extLst>
              <a:ext uri="{FF2B5EF4-FFF2-40B4-BE49-F238E27FC236}">
                <a16:creationId xmlns:a16="http://schemas.microsoft.com/office/drawing/2014/main" id="{8C98F5E4-29DE-C978-57D9-728D7DA01B8B}"/>
              </a:ext>
            </a:extLst>
          </p:cNvPr>
          <p:cNvSpPr/>
          <p:nvPr/>
        </p:nvSpPr>
        <p:spPr>
          <a:xfrm>
            <a:off x="3512587" y="3843707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대체인력 투입</a:t>
            </a:r>
          </a:p>
        </p:txBody>
      </p:sp>
      <p:sp>
        <p:nvSpPr>
          <p:cNvPr id="9" name="사각형: 둥근 위쪽 모서리 8">
            <a:extLst>
              <a:ext uri="{FF2B5EF4-FFF2-40B4-BE49-F238E27FC236}">
                <a16:creationId xmlns:a16="http://schemas.microsoft.com/office/drawing/2014/main" id="{3F36FFFE-59F0-A168-9F39-4C5590C3E8B0}"/>
              </a:ext>
            </a:extLst>
          </p:cNvPr>
          <p:cNvSpPr/>
          <p:nvPr/>
        </p:nvSpPr>
        <p:spPr>
          <a:xfrm>
            <a:off x="5117601" y="3843707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정상화</a:t>
            </a:r>
          </a:p>
        </p:txBody>
      </p:sp>
      <p:sp>
        <p:nvSpPr>
          <p:cNvPr id="11" name="사각형: 둥근 위쪽 모서리 10">
            <a:extLst>
              <a:ext uri="{FF2B5EF4-FFF2-40B4-BE49-F238E27FC236}">
                <a16:creationId xmlns:a16="http://schemas.microsoft.com/office/drawing/2014/main" id="{2EAA7BDA-5016-DAD5-E5A0-39302AF4FF73}"/>
              </a:ext>
            </a:extLst>
          </p:cNvPr>
          <p:cNvSpPr/>
          <p:nvPr/>
        </p:nvSpPr>
        <p:spPr>
          <a:xfrm>
            <a:off x="302559" y="3843707"/>
            <a:ext cx="1492904" cy="218705"/>
          </a:xfrm>
          <a:prstGeom prst="round2SameRect">
            <a:avLst>
              <a:gd name="adj1" fmla="val 34995"/>
              <a:gd name="adj2" fmla="val 0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 전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F2DE5A3-F6AA-05F4-1CC2-6512AEE77068}"/>
              </a:ext>
            </a:extLst>
          </p:cNvPr>
          <p:cNvSpPr/>
          <p:nvPr/>
        </p:nvSpPr>
        <p:spPr>
          <a:xfrm>
            <a:off x="279083" y="1371600"/>
            <a:ext cx="6331426" cy="689992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프로젝트 수행 중 핵심인력 유고 발생시에도 업무 연속성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일정 안정성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및 보안을 확보할 수 있도록 사전 지정된 대체인력 운영체계 마련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AE6E22DB-6A13-86F9-241E-57BB6F888788}"/>
              </a:ext>
            </a:extLst>
          </p:cNvPr>
          <p:cNvCxnSpPr>
            <a:cxnSpLocks/>
          </p:cNvCxnSpPr>
          <p:nvPr/>
        </p:nvCxnSpPr>
        <p:spPr>
          <a:xfrm>
            <a:off x="312925" y="2175333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B4138CF7-DB0C-8A30-343E-9C8B455D669A}"/>
              </a:ext>
            </a:extLst>
          </p:cNvPr>
          <p:cNvSpPr txBox="1"/>
          <p:nvPr/>
        </p:nvSpPr>
        <p:spPr>
          <a:xfrm>
            <a:off x="335012" y="2149256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추진 방향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1C1D77B-00DA-C7F5-DA34-D9C5B90B63B0}"/>
              </a:ext>
            </a:extLst>
          </p:cNvPr>
          <p:cNvSpPr/>
          <p:nvPr/>
        </p:nvSpPr>
        <p:spPr>
          <a:xfrm>
            <a:off x="279084" y="2473131"/>
            <a:ext cx="6331426" cy="261610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ko-KR" altLang="en-US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핵심인력 유고 발생 시 사전 지정된 대체인력을 즉시 투입하여 업무 공백 최소화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C6EAC74-DA32-4978-0C58-495E1D918271}"/>
              </a:ext>
            </a:extLst>
          </p:cNvPr>
          <p:cNvSpPr/>
          <p:nvPr/>
        </p:nvSpPr>
        <p:spPr>
          <a:xfrm>
            <a:off x="279084" y="2797006"/>
            <a:ext cx="6331426" cy="261610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ko-KR" altLang="ko-KR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공동 업무관리, 산출물 표준화, </a:t>
            </a:r>
            <a:r>
              <a:rPr lang="ko-KR" altLang="ko-KR" sz="1100" err="1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문서·데이터</a:t>
            </a:r>
            <a:r>
              <a:rPr lang="ko-KR" altLang="ko-KR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공유체계를 통해 신속한 인수인계 수행</a:t>
            </a:r>
            <a:endParaRPr lang="ko-KR" altLang="en-US" sz="1100">
              <a:solidFill>
                <a:schemeClr val="tx1"/>
              </a:solidFill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EA9692D7-30F8-5CE3-4A29-30D3CFA904DB}"/>
              </a:ext>
            </a:extLst>
          </p:cNvPr>
          <p:cNvSpPr/>
          <p:nvPr/>
        </p:nvSpPr>
        <p:spPr>
          <a:xfrm>
            <a:off x="279084" y="3120881"/>
            <a:ext cx="6331426" cy="261610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ko-KR" altLang="en-US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발주기관 사전보고 및 승인 절차를 준수하여 사업 일정</a:t>
            </a:r>
            <a:r>
              <a:rPr lang="en-US" altLang="ko-KR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</a:t>
            </a:r>
            <a:r>
              <a:rPr lang="en-US" altLang="ko-KR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100">
                <a:solidFill>
                  <a:schemeClr val="tx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보안의 연속성 확보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B794A311-4E51-8D89-255C-87358F354337}"/>
              </a:ext>
            </a:extLst>
          </p:cNvPr>
          <p:cNvCxnSpPr>
            <a:cxnSpLocks/>
          </p:cNvCxnSpPr>
          <p:nvPr/>
        </p:nvCxnSpPr>
        <p:spPr>
          <a:xfrm>
            <a:off x="312925" y="3495333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D53566CB-CF41-03DE-9CF6-0C4973D8DD37}"/>
              </a:ext>
            </a:extLst>
          </p:cNvPr>
          <p:cNvSpPr txBox="1"/>
          <p:nvPr/>
        </p:nvSpPr>
        <p:spPr>
          <a:xfrm>
            <a:off x="335012" y="3469256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유고 발생 대응 절차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D3679B6-2689-383B-B295-D865BBE3326E}"/>
              </a:ext>
            </a:extLst>
          </p:cNvPr>
          <p:cNvSpPr/>
          <p:nvPr/>
        </p:nvSpPr>
        <p:spPr>
          <a:xfrm>
            <a:off x="302559" y="3843708"/>
            <a:ext cx="1492904" cy="1714500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C55B02D2-BD33-A36B-56A8-4CB67DA5AAD8}"/>
              </a:ext>
            </a:extLst>
          </p:cNvPr>
          <p:cNvSpPr/>
          <p:nvPr/>
        </p:nvSpPr>
        <p:spPr>
          <a:xfrm>
            <a:off x="1907573" y="3843708"/>
            <a:ext cx="1492904" cy="1714500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F3FAEA0-C2F5-0638-8250-152E60275DFF}"/>
              </a:ext>
            </a:extLst>
          </p:cNvPr>
          <p:cNvSpPr/>
          <p:nvPr/>
        </p:nvSpPr>
        <p:spPr>
          <a:xfrm>
            <a:off x="3512587" y="3843708"/>
            <a:ext cx="1492904" cy="1714500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8DBB460F-E85F-D724-75DB-5F706AED5A8E}"/>
              </a:ext>
            </a:extLst>
          </p:cNvPr>
          <p:cNvSpPr/>
          <p:nvPr/>
        </p:nvSpPr>
        <p:spPr>
          <a:xfrm>
            <a:off x="5117602" y="3843708"/>
            <a:ext cx="1492904" cy="1714500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EDC83A68-F2B2-BA7F-75FF-CD1B302A1B7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1525" t="60411" r="79378" b="34110"/>
          <a:stretch>
            <a:fillRect/>
          </a:stretch>
        </p:blipFill>
        <p:spPr>
          <a:xfrm>
            <a:off x="736450" y="6187780"/>
            <a:ext cx="623887" cy="53102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9E79D20D-4CE4-D92F-01E5-D7B4356020A6}"/>
              </a:ext>
            </a:extLst>
          </p:cNvPr>
          <p:cNvSpPr txBox="1"/>
          <p:nvPr/>
        </p:nvSpPr>
        <p:spPr>
          <a:xfrm>
            <a:off x="301943" y="4624676"/>
            <a:ext cx="14929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핵심업무별 백업인력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(Pool) 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사전 지정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업무매뉴얼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산출물 양식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 err="1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공유폴더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 운영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주간 단위 업무현황 및 이슈 공유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D4128AE-5EED-7298-69EB-C3CFE4D7512F}"/>
              </a:ext>
            </a:extLst>
          </p:cNvPr>
          <p:cNvSpPr txBox="1"/>
          <p:nvPr/>
        </p:nvSpPr>
        <p:spPr>
          <a:xfrm>
            <a:off x="1907573" y="4624676"/>
            <a:ext cx="14929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발주기관 즉시 보고 및 대응계획 제출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업무영향도 확인 및 긴급도 분류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인수인계 자료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회의록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작업현황 점검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1836C4E-E055-8F6F-74CE-EFF1D0F1D89A}"/>
              </a:ext>
            </a:extLst>
          </p:cNvPr>
          <p:cNvSpPr txBox="1"/>
          <p:nvPr/>
        </p:nvSpPr>
        <p:spPr>
          <a:xfrm>
            <a:off x="3513203" y="4624676"/>
            <a:ext cx="14929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동급 이상 역량 보유 인력 우선 투입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48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시간 내 핵심업무 인수인계 완료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필요 시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PM·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전문가 추가 지원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19B907F-D62C-B168-9670-ECD868247193}"/>
              </a:ext>
            </a:extLst>
          </p:cNvPr>
          <p:cNvSpPr txBox="1"/>
          <p:nvPr/>
        </p:nvSpPr>
        <p:spPr>
          <a:xfrm>
            <a:off x="5118833" y="4624676"/>
            <a:ext cx="14929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투입 후 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1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주간 집중 모니터링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일정</a:t>
            </a:r>
            <a:r>
              <a:rPr lang="en-US" altLang="ko-KR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·</a:t>
            </a: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품질 리스크 점검 및 보완</a:t>
            </a:r>
            <a:endParaRPr lang="en-US" altLang="ko-KR" sz="900"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  <a:p>
            <a:pPr marL="92075" indent="-92075" algn="l">
              <a:buFont typeface="Arial" panose="020B0604020202020204" pitchFamily="34" charset="0"/>
              <a:buChar char="•"/>
            </a:pPr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발생 원인과 재발방지 대책 정리</a:t>
            </a: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77D12882-F3AC-731B-60DB-4DCADFE6CC2A}"/>
              </a:ext>
            </a:extLst>
          </p:cNvPr>
          <p:cNvCxnSpPr>
            <a:cxnSpLocks/>
          </p:cNvCxnSpPr>
          <p:nvPr/>
        </p:nvCxnSpPr>
        <p:spPr>
          <a:xfrm>
            <a:off x="312925" y="571786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DA38469-6BA2-F573-36A9-89E801358796}"/>
              </a:ext>
            </a:extLst>
          </p:cNvPr>
          <p:cNvSpPr txBox="1"/>
          <p:nvPr/>
        </p:nvSpPr>
        <p:spPr>
          <a:xfrm>
            <a:off x="335012" y="569179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대체인력 운영 원칙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4E13A133-E952-7DFE-ECBB-2226621B7DEC}"/>
              </a:ext>
            </a:extLst>
          </p:cNvPr>
          <p:cNvSpPr/>
          <p:nvPr/>
        </p:nvSpPr>
        <p:spPr>
          <a:xfrm>
            <a:off x="302559" y="6098583"/>
            <a:ext cx="1492904" cy="1440533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4F1D4AAA-39A1-BC98-1B2C-4A173E9B06F2}"/>
              </a:ext>
            </a:extLst>
          </p:cNvPr>
          <p:cNvSpPr/>
          <p:nvPr/>
        </p:nvSpPr>
        <p:spPr>
          <a:xfrm>
            <a:off x="1907573" y="6098583"/>
            <a:ext cx="1492904" cy="1440533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F69ADED6-457D-3773-7A4C-E524ABF0BC4D}"/>
              </a:ext>
            </a:extLst>
          </p:cNvPr>
          <p:cNvSpPr/>
          <p:nvPr/>
        </p:nvSpPr>
        <p:spPr>
          <a:xfrm>
            <a:off x="3512587" y="6098583"/>
            <a:ext cx="1492904" cy="1440533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C7F39013-7436-44DD-9CA3-78FE1E3233EB}"/>
              </a:ext>
            </a:extLst>
          </p:cNvPr>
          <p:cNvSpPr/>
          <p:nvPr/>
        </p:nvSpPr>
        <p:spPr>
          <a:xfrm>
            <a:off x="5117602" y="6098583"/>
            <a:ext cx="1492904" cy="1440533"/>
          </a:xfrm>
          <a:prstGeom prst="roundRect">
            <a:avLst>
              <a:gd name="adj" fmla="val 4588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0261157-B4A9-C8B5-99E9-8BE9E1A01535}"/>
              </a:ext>
            </a:extLst>
          </p:cNvPr>
          <p:cNvSpPr txBox="1"/>
          <p:nvPr/>
        </p:nvSpPr>
        <p:spPr>
          <a:xfrm>
            <a:off x="350539" y="7082639"/>
            <a:ext cx="13957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핵심업무의 중단 없는 연속성 보장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8838440-7864-B8E7-017B-A37C8DD93836}"/>
              </a:ext>
            </a:extLst>
          </p:cNvPr>
          <p:cNvSpPr txBox="1"/>
          <p:nvPr/>
        </p:nvSpPr>
        <p:spPr>
          <a:xfrm>
            <a:off x="1956169" y="7082639"/>
            <a:ext cx="13957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신속한 대응으로 일정 차질 최소화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F648A39-C1A4-42B1-1DE6-A71A0828FC23}"/>
              </a:ext>
            </a:extLst>
          </p:cNvPr>
          <p:cNvSpPr txBox="1"/>
          <p:nvPr/>
        </p:nvSpPr>
        <p:spPr>
          <a:xfrm>
            <a:off x="3561799" y="7082639"/>
            <a:ext cx="13957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동급 이상 역량의 전문인력 우선 투입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AE1102D-F335-AF4A-E376-AEDFC0F014B4}"/>
              </a:ext>
            </a:extLst>
          </p:cNvPr>
          <p:cNvSpPr txBox="1"/>
          <p:nvPr/>
        </p:nvSpPr>
        <p:spPr>
          <a:xfrm>
            <a:off x="5167429" y="7082639"/>
            <a:ext cx="13957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rPr>
              <a:t>보안 및 품질관리 기준 철저 준수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D1A383A-07C6-13B1-27E4-62B50D0992B7}"/>
              </a:ext>
            </a:extLst>
          </p:cNvPr>
          <p:cNvSpPr txBox="1"/>
          <p:nvPr/>
        </p:nvSpPr>
        <p:spPr>
          <a:xfrm>
            <a:off x="301943" y="6812648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err="1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업무연속성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확보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38BCA50-5D53-BD7B-AC50-24C821A24829}"/>
              </a:ext>
            </a:extLst>
          </p:cNvPr>
          <p:cNvSpPr txBox="1"/>
          <p:nvPr/>
        </p:nvSpPr>
        <p:spPr>
          <a:xfrm>
            <a:off x="1907573" y="6812648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일정지연 최소화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D4F6EA-CFD3-FDC7-A9FC-C030159484ED}"/>
              </a:ext>
            </a:extLst>
          </p:cNvPr>
          <p:cNvSpPr txBox="1"/>
          <p:nvPr/>
        </p:nvSpPr>
        <p:spPr>
          <a:xfrm>
            <a:off x="3513203" y="6812648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동급 이상 인력 투입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DDE122C-B4CB-D8FC-D94E-87EF6FBBA0E0}"/>
              </a:ext>
            </a:extLst>
          </p:cNvPr>
          <p:cNvSpPr txBox="1"/>
          <p:nvPr/>
        </p:nvSpPr>
        <p:spPr>
          <a:xfrm>
            <a:off x="5118833" y="6812648"/>
            <a:ext cx="14929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보안</a:t>
            </a:r>
            <a:r>
              <a:rPr lang="en-US" altLang="ko-KR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lang="ko-KR" altLang="en-US" sz="1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품질 기준 유지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DCC574E9-9EC0-B502-4E36-A8277A461D83}"/>
              </a:ext>
            </a:extLst>
          </p:cNvPr>
          <p:cNvCxnSpPr>
            <a:cxnSpLocks/>
          </p:cNvCxnSpPr>
          <p:nvPr/>
        </p:nvCxnSpPr>
        <p:spPr>
          <a:xfrm>
            <a:off x="312925" y="7754567"/>
            <a:ext cx="0" cy="184057"/>
          </a:xfrm>
          <a:prstGeom prst="line">
            <a:avLst/>
          </a:prstGeom>
          <a:ln w="2857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13E1D5C7-C823-E9F8-7245-A85002EC5EF0}"/>
              </a:ext>
            </a:extLst>
          </p:cNvPr>
          <p:cNvSpPr txBox="1"/>
          <p:nvPr/>
        </p:nvSpPr>
        <p:spPr>
          <a:xfrm>
            <a:off x="335012" y="7728490"/>
            <a:ext cx="289713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세부 대응기준</a:t>
            </a: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FDFB1A52-5767-D6DD-737F-35B7EAAAC6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91594"/>
              </p:ext>
            </p:extLst>
          </p:nvPr>
        </p:nvGraphicFramePr>
        <p:xfrm>
          <a:off x="279235" y="8072206"/>
          <a:ext cx="6307949" cy="1396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6600">
                  <a:extLst>
                    <a:ext uri="{9D8B030D-6E8A-4147-A177-3AD203B41FA5}">
                      <a16:colId xmlns:a16="http://schemas.microsoft.com/office/drawing/2014/main" val="1001012227"/>
                    </a:ext>
                  </a:extLst>
                </a:gridCol>
                <a:gridCol w="3657459">
                  <a:extLst>
                    <a:ext uri="{9D8B030D-6E8A-4147-A177-3AD203B41FA5}">
                      <a16:colId xmlns:a16="http://schemas.microsoft.com/office/drawing/2014/main" val="2294068731"/>
                    </a:ext>
                  </a:extLst>
                </a:gridCol>
                <a:gridCol w="1443890">
                  <a:extLst>
                    <a:ext uri="{9D8B030D-6E8A-4147-A177-3AD203B41FA5}">
                      <a16:colId xmlns:a16="http://schemas.microsoft.com/office/drawing/2014/main" val="3433788136"/>
                    </a:ext>
                  </a:extLst>
                </a:gridCol>
              </a:tblGrid>
              <a:tr h="279296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대응 내용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spcBef>
                          <a:spcPts val="1000"/>
                        </a:spcBef>
                        <a:spcAft>
                          <a:spcPts val="500"/>
                        </a:spcAft>
                        <a:buNone/>
                      </a:pPr>
                      <a:r>
                        <a:rPr lang="ko-KR" altLang="en-US" sz="1100" b="1" kern="1200">
                          <a:solidFill>
                            <a:schemeClr val="lt1"/>
                          </a:solidFill>
                          <a:latin typeface="KoPubWorld돋움체 Bold" panose="00000800000000000000" pitchFamily="2" charset="-127"/>
                          <a:ea typeface="KoPubWorld돋움체 Bold" panose="00000800000000000000" pitchFamily="2" charset="-127"/>
                          <a:cs typeface="KoPubWorld돋움체 Bold" panose="00000800000000000000" pitchFamily="2" charset="-127"/>
                        </a:rPr>
                        <a:t>목표 시간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500753"/>
                  </a:ext>
                </a:extLst>
              </a:tr>
              <a:tr h="279296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보고체계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유고 발생 즉시 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PM →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발주기관 보고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대체방안 공유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당일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4155366"/>
                  </a:ext>
                </a:extLst>
              </a:tr>
              <a:tr h="279296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인수인계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업무자료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산출물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일정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현안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연락체계 인계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24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 시작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(5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)</a:t>
                      </a:r>
                      <a:endParaRPr lang="ko-KR" altLang="en-US" sz="1000" kern="1200">
                        <a:solidFill>
                          <a:schemeClr val="dk1"/>
                        </a:solidFill>
                        <a:latin typeface="KoPubWorld돋움체 Medium" panose="00000600000000000000" pitchFamily="2" charset="-127"/>
                        <a:ea typeface="KoPubWorld돋움체 Medium" panose="00000600000000000000" pitchFamily="2" charset="-127"/>
                        <a:cs typeface="KoPubWorld돋움체 Medium" panose="00000600000000000000" pitchFamily="2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1199144"/>
                  </a:ext>
                </a:extLst>
              </a:tr>
              <a:tr h="279296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대체투입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사전 지정 대체인력 또는 유사과업 수행인력 투입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48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시간 이내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5375358"/>
                  </a:ext>
                </a:extLst>
              </a:tr>
              <a:tr h="279296"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안정화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주간회의 참여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품질확인</a:t>
                      </a: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, 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일정 정상화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base" latinLnBrk="1" hangingPunct="1">
                        <a:lnSpc>
                          <a:spcPct val="120000"/>
                        </a:lnSpc>
                        <a:buNone/>
                      </a:pPr>
                      <a:r>
                        <a:rPr lang="en-US" altLang="ko-KR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3</a:t>
                      </a:r>
                      <a:r>
                        <a:rPr lang="ko-KR" altLang="en-US" sz="1000" kern="1200">
                          <a:solidFill>
                            <a:schemeClr val="dk1"/>
                          </a:solidFill>
                          <a:latin typeface="KoPubWorld돋움체 Medium" panose="00000600000000000000" pitchFamily="2" charset="-127"/>
                          <a:ea typeface="KoPubWorld돋움체 Medium" panose="00000600000000000000" pitchFamily="2" charset="-127"/>
                          <a:cs typeface="KoPubWorld돋움체 Medium" panose="00000600000000000000" pitchFamily="2" charset="-127"/>
                        </a:rPr>
                        <a:t>영업일 이내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776670"/>
                  </a:ext>
                </a:extLst>
              </a:tr>
            </a:tbl>
          </a:graphicData>
        </a:graphic>
      </p:graphicFrame>
      <p:pic>
        <p:nvPicPr>
          <p:cNvPr id="47" name="그림 46">
            <a:extLst>
              <a:ext uri="{FF2B5EF4-FFF2-40B4-BE49-F238E27FC236}">
                <a16:creationId xmlns:a16="http://schemas.microsoft.com/office/drawing/2014/main" id="{EA17B2BF-07E2-8A76-E43A-B4CE102BBE3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4150" t="60411" r="56753" b="34110"/>
          <a:stretch>
            <a:fillRect/>
          </a:stretch>
        </p:blipFill>
        <p:spPr>
          <a:xfrm>
            <a:off x="2342080" y="6187780"/>
            <a:ext cx="623887" cy="531020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7C9B2E40-BB8E-B76E-669F-3C734D00D77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6742" t="60411" r="34161" b="34110"/>
          <a:stretch>
            <a:fillRect/>
          </a:stretch>
        </p:blipFill>
        <p:spPr>
          <a:xfrm>
            <a:off x="3947710" y="6187780"/>
            <a:ext cx="623887" cy="531020"/>
          </a:xfrm>
          <a:prstGeom prst="rect">
            <a:avLst/>
          </a:prstGeom>
        </p:spPr>
      </p:pic>
      <p:pic>
        <p:nvPicPr>
          <p:cNvPr id="49" name="그림 48">
            <a:extLst>
              <a:ext uri="{FF2B5EF4-FFF2-40B4-BE49-F238E27FC236}">
                <a16:creationId xmlns:a16="http://schemas.microsoft.com/office/drawing/2014/main" id="{12143F19-C20B-7B6C-68B8-0DA1815189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9108" t="60346" r="11795" b="34175"/>
          <a:stretch>
            <a:fillRect/>
          </a:stretch>
        </p:blipFill>
        <p:spPr>
          <a:xfrm>
            <a:off x="5553340" y="6187780"/>
            <a:ext cx="623887" cy="531020"/>
          </a:xfrm>
          <a:prstGeom prst="rect">
            <a:avLst/>
          </a:prstGeom>
        </p:spPr>
      </p:pic>
      <p:pic>
        <p:nvPicPr>
          <p:cNvPr id="50" name="그림 49">
            <a:extLst>
              <a:ext uri="{FF2B5EF4-FFF2-40B4-BE49-F238E27FC236}">
                <a16:creationId xmlns:a16="http://schemas.microsoft.com/office/drawing/2014/main" id="{59D0EDE5-17FA-E545-ACD7-F48B418887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1155" t="40297" r="79748" b="55391"/>
          <a:stretch>
            <a:fillRect/>
          </a:stretch>
        </p:blipFill>
        <p:spPr>
          <a:xfrm>
            <a:off x="736450" y="4128771"/>
            <a:ext cx="623887" cy="417968"/>
          </a:xfrm>
          <a:prstGeom prst="rect">
            <a:avLst/>
          </a:prstGeom>
        </p:spPr>
      </p:pic>
      <p:pic>
        <p:nvPicPr>
          <p:cNvPr id="51" name="그림 50">
            <a:extLst>
              <a:ext uri="{FF2B5EF4-FFF2-40B4-BE49-F238E27FC236}">
                <a16:creationId xmlns:a16="http://schemas.microsoft.com/office/drawing/2014/main" id="{DF02C455-0807-6CFB-905B-786B4222D8B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4091" t="40297" r="56812" b="55391"/>
          <a:stretch>
            <a:fillRect/>
          </a:stretch>
        </p:blipFill>
        <p:spPr>
          <a:xfrm>
            <a:off x="2337883" y="4128771"/>
            <a:ext cx="623887" cy="417968"/>
          </a:xfrm>
          <a:prstGeom prst="rect">
            <a:avLst/>
          </a:prstGeom>
        </p:spPr>
      </p:pic>
      <p:pic>
        <p:nvPicPr>
          <p:cNvPr id="52" name="그림 51">
            <a:extLst>
              <a:ext uri="{FF2B5EF4-FFF2-40B4-BE49-F238E27FC236}">
                <a16:creationId xmlns:a16="http://schemas.microsoft.com/office/drawing/2014/main" id="{2CD75E62-A827-E0D9-CAC5-716DF888E6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6812" t="40297" r="34091" b="55391"/>
          <a:stretch>
            <a:fillRect/>
          </a:stretch>
        </p:blipFill>
        <p:spPr>
          <a:xfrm>
            <a:off x="3939316" y="4128771"/>
            <a:ext cx="623887" cy="417968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FBE6000D-6BDD-DF25-67E5-26088EC60C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80561" t="40228" r="10342" b="55460"/>
          <a:stretch>
            <a:fillRect/>
          </a:stretch>
        </p:blipFill>
        <p:spPr>
          <a:xfrm>
            <a:off x="5540749" y="4128771"/>
            <a:ext cx="623887" cy="4179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9305342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C523C3-E6BC-1235-205D-CB310C5FE4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A48D89B7-4298-3DEE-D3BB-BA68C624E3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3. </a:t>
            </a:r>
            <a:r>
              <a:rPr lang="ko-KR" altLang="en-US" sz="1600">
                <a:solidFill>
                  <a:schemeClr val="tx1"/>
                </a:solidFill>
              </a:rPr>
              <a:t>안전관리</a:t>
            </a:r>
            <a:r>
              <a:rPr lang="en-US" altLang="ko-KR" sz="1600">
                <a:solidFill>
                  <a:schemeClr val="tx1"/>
                </a:solidFill>
              </a:rPr>
              <a:t>, </a:t>
            </a:r>
            <a:r>
              <a:rPr lang="ko-KR" altLang="en-US" sz="1600">
                <a:solidFill>
                  <a:schemeClr val="tx1"/>
                </a:solidFill>
              </a:rPr>
              <a:t>재난관리 등 비상대책 수립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EFA63FE-B03F-F430-3184-59C3E18D0744}"/>
              </a:ext>
            </a:extLst>
          </p:cNvPr>
          <p:cNvSpPr txBox="1"/>
          <p:nvPr/>
        </p:nvSpPr>
        <p:spPr>
          <a:xfrm>
            <a:off x="4343400" y="298577"/>
            <a:ext cx="237614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A7415D-30C7-086C-A386-9F85E686C09D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400" b="0" i="0" u="none" strike="noStrike" kern="1200" cap="none" spc="-19" normalizeH="0" baseline="0" noProof="0">
                <a:ln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3.2.2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비상상황</a:t>
            </a: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·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재난 대응방안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D1C35A3-CA6C-9C47-81A5-4295D9C4E34B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3.2 </a:t>
            </a:r>
            <a:r>
              <a:rPr lang="ko-KR" altLang="en-US" sz="1500" spc="-19">
                <a:ln w="3175">
                  <a:solidFill>
                    <a:srgbClr val="D0D5DB"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비상대책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F91EBFE-925E-4D25-3E4D-5FE34FE09DCC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E5BA0AA-13FA-3F10-23CE-C35525F0DAEA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20A0D47E-AABE-035D-12D2-F43406F7E20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4072775394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5557DC-8C50-7DFA-85A4-B9ABE4B6A3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4245A3B8-10E8-11A6-BE3A-4488B173437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품질보증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808E54C-29F3-BB1E-26C5-A664962C0EB5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59C5733-758F-AD1F-4752-8B241D40EF2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시스템 신뢰성 확보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F3C1165-BDBD-5756-82D6-CDA50849435F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시스템 품질 확보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4C44A9F-0744-DB9D-1831-2DBC73F04497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E49DC80-7D30-B526-EDA3-5AC283A64197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1379292-E24F-48D6-9B02-CB19D1A1C7A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</p:spTree>
    <p:extLst>
      <p:ext uri="{BB962C8B-B14F-4D97-AF65-F5344CB8AC3E}">
        <p14:creationId xmlns:p14="http://schemas.microsoft.com/office/powerpoint/2010/main" val="3466455527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E2E927-999B-17A4-B069-92A068A37C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B17B913-936C-CE02-D9A6-6E4560188D8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품질보증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9CB77F2-5BDD-B1ED-273D-1DD0C6C3374F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4.1.2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사용자 사용성 확보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97DA2E5-5BC7-8453-365B-C6B9286B3CA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시스템 품질 확보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0B11D11-D7FB-5982-8CA1-766E3426F0A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622F75F-E1F1-109B-252B-289E0E6F24F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3303447-ACCE-739C-D6BE-1BD7CCD61C27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490790-BAF7-98B6-D540-735A66F8E8B3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4198798012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952B93-4BCD-BA1C-D7EC-C6A8F9B5E3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031D84FA-48DE-D0A8-772F-B2776FFEC58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품질보증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08618F5-1A8F-5626-AF06-9A819991ECB9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4.2.1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유지관리성 확보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CC5E82F-09A0-B351-AB89-DD8EB760A0D5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유지관리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kumimoji="0" lang="ko-KR" altLang="en-US" sz="1500" b="0" i="0" u="none" strike="noStrike" kern="1200" cap="none" spc="-19" normalizeH="0" baseline="0" noProof="0" err="1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이식성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910CC6A-86DD-6AA9-B554-978ABEA4F972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0621D02-E98B-A483-71D1-29F0A3E2914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3ACA6D1-6961-95DB-E158-34ED8C67E480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6BAD811-5724-B248-DA47-90D659229FEC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3616575944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0E0F9-D47B-3600-3124-7308795615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023403D1-4481-5E0F-0DA6-2845DDFDCA5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품질보증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7B90B4D-BF62-952D-95BD-6203E2766A34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4.2.2 </a:t>
            </a:r>
            <a:r>
              <a:rPr lang="ko-KR" altLang="en-US" sz="1400" spc="-19" err="1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이식성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 및 호환성 확보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54EE71B-9838-7ADD-28C0-ED7118FB0289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유지관리</a:t>
            </a: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·</a:t>
            </a:r>
            <a:r>
              <a:rPr kumimoji="0" lang="ko-KR" altLang="en-US" sz="1500" b="0" i="0" u="none" strike="noStrike" kern="1200" cap="none" spc="-19" normalizeH="0" baseline="0" noProof="0" err="1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이식성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FCF8774-42E6-5FE0-0ED1-C098C8DE7AE3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AE534AC5-6971-3225-A5F2-3B3BC74112C1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154969D-D07C-A992-3236-C8231ED029ED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0DA54A8-DF95-4636-238D-DC786B331095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2160206906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38E507-D31C-873B-4760-1D34534078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5D28BADA-C8D6-1E18-CC2F-ABAAE00F1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4. </a:t>
            </a:r>
            <a:r>
              <a:rPr lang="ko-KR" altLang="en-US" sz="1600">
                <a:solidFill>
                  <a:schemeClr val="tx1"/>
                </a:solidFill>
              </a:rPr>
              <a:t>품질보증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75D7A3A-3124-B1BD-1244-BD00FF9108B7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4.3.3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품질관리 조직 및 절차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0810DB-3051-DE6A-44AC-BCBD3814CC4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4.3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품질관리 조직 및 절차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16372DC-200A-E634-8527-C95F7696676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8C056BA-C532-FD07-F045-0DFEC1AA50C0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81B88E4B-7E2D-BC3B-0999-7EBB660EEE1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39B095-1533-58E8-CA3F-A0ADDB9EB514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214742716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1BA1B5-932B-E7C8-B4A5-A75D51E3F4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B9D3C81A-8B2E-2C79-4A16-51555D0995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수행조직 및 업무분장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52BF500-CF6D-5729-92F4-268F5C104A3B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컨소시엄 구성 및 지분배분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8839813-0748-89D7-A5A2-E47A0DBA3C71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컨소시엄 구성 및 지분배분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F72B078-FFFC-7B39-2465-04905CBA7620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510CB65-2698-2D37-1594-831640BBBA2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6DE5E3C3-4359-BE33-9425-AFEA99C3404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BC12299-D79C-F5A4-0EA7-6EC91121FE16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244351565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BD9B8F-71A3-1EED-AD19-5D7CCFB426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8E70C0C2-3910-BD69-8889-C3E1D944379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수행조직 및 업무분장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2725907-AD3F-BAD1-374D-7EDFF11457D1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5.2.1 R&amp;R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매트릭스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EF2469-7C47-F43A-0C3E-F26541897EB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5.2 R&amp;R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매트릭스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A0A6DD4-892F-7E95-1B0A-A958D98A46BD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E9B2236-77E2-385B-5EA6-2ED9B37A3410}"/>
              </a:ext>
            </a:extLst>
          </p:cNvPr>
          <p:cNvSpPr/>
          <p:nvPr/>
        </p:nvSpPr>
        <p:spPr>
          <a:xfrm>
            <a:off x="152037" y="4833879"/>
            <a:ext cx="3220187" cy="4681596"/>
          </a:xfrm>
          <a:prstGeom prst="rect">
            <a:avLst/>
          </a:prstGeom>
          <a:solidFill>
            <a:schemeClr val="accent5">
              <a:lumMod val="20000"/>
              <a:lumOff val="80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314FEFC-3D5D-1C44-1E71-4CE12DFAE5A2}"/>
              </a:ext>
            </a:extLst>
          </p:cNvPr>
          <p:cNvSpPr/>
          <p:nvPr/>
        </p:nvSpPr>
        <p:spPr>
          <a:xfrm>
            <a:off x="3561612" y="4833878"/>
            <a:ext cx="3220187" cy="4681597"/>
          </a:xfrm>
          <a:prstGeom prst="rect">
            <a:avLst/>
          </a:prstGeom>
          <a:solidFill>
            <a:schemeClr val="accent5">
              <a:lumMod val="20000"/>
              <a:lumOff val="80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D36C8AD-26D1-1004-802C-27BEF11868C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 defTabSz="914400" fontAlgn="base">
              <a:lnSpc>
                <a:spcPts val="17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컨소시엄 내 기관의 역할을 명확히 분담하고 전문가 자문체계를 결합하여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개방전략 수립부터 품질진단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개방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DB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구축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오픈</a:t>
            </a:r>
            <a:r>
              <a:rPr kumimoji="1" lang="en-US" altLang="ko-KR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API </a:t>
            </a:r>
            <a:r>
              <a:rPr kumimoji="1" lang="ko-KR" altLang="en-US" sz="1200">
                <a:ln w="12700">
                  <a:solidFill>
                    <a:prstClr val="black">
                      <a:alpha val="0"/>
                    </a:prstClr>
                  </a:solidFill>
                </a:ln>
                <a:solidFill>
                  <a:prstClr val="black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개발까지 전 과업을 책임 있게 수행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6F14A70A-666D-5563-5DF1-52BB5E9F01E6}"/>
              </a:ext>
            </a:extLst>
          </p:cNvPr>
          <p:cNvCxnSpPr>
            <a:cxnSpLocks/>
          </p:cNvCxnSpPr>
          <p:nvPr/>
        </p:nvCxnSpPr>
        <p:spPr>
          <a:xfrm flipH="1">
            <a:off x="3431815" y="3399595"/>
            <a:ext cx="1281594" cy="0"/>
          </a:xfrm>
          <a:prstGeom prst="line">
            <a:avLst/>
          </a:prstGeom>
          <a:noFill/>
          <a:ln w="6350" cap="flat" cmpd="sng" algn="ctr">
            <a:solidFill>
              <a:srgbClr val="002060"/>
            </a:solidFill>
            <a:prstDash val="solid"/>
            <a:miter lim="800000"/>
          </a:ln>
          <a:effectLst/>
        </p:spPr>
      </p:cxn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316A0631-9147-DE57-7CFD-0FBACD64B055}"/>
              </a:ext>
            </a:extLst>
          </p:cNvPr>
          <p:cNvGrpSpPr/>
          <p:nvPr/>
        </p:nvGrpSpPr>
        <p:grpSpPr>
          <a:xfrm>
            <a:off x="2293678" y="2360829"/>
            <a:ext cx="2276273" cy="722119"/>
            <a:chOff x="4475970" y="989042"/>
            <a:chExt cx="2748936" cy="722119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B6145E03-642B-E930-96D0-92CBF6594D3A}"/>
                </a:ext>
              </a:extLst>
            </p:cNvPr>
            <p:cNvSpPr/>
            <p:nvPr/>
          </p:nvSpPr>
          <p:spPr>
            <a:xfrm>
              <a:off x="4476797" y="989042"/>
              <a:ext cx="2747282" cy="280882"/>
            </a:xfrm>
            <a:prstGeom prst="rect">
              <a:avLst/>
            </a:prstGeom>
            <a:solidFill>
              <a:srgbClr val="002060"/>
            </a:solidFill>
            <a:ln w="12700" cap="flat" cmpd="sng" algn="ctr">
              <a:solidFill>
                <a:srgbClr val="002060"/>
              </a:solidFill>
              <a:prstDash val="solid"/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사업</a:t>
              </a:r>
              <a:r>
                <a:rPr kumimoji="0" lang="en-US" altLang="ko-KR" sz="12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PM</a:t>
              </a:r>
              <a:endParaRPr kumimoji="0" lang="ko-KR" altLang="en-US" sz="12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1352FE0-FF26-28A8-F9F3-FB35410153B7}"/>
                </a:ext>
              </a:extLst>
            </p:cNvPr>
            <p:cNvSpPr/>
            <p:nvPr/>
          </p:nvSpPr>
          <p:spPr>
            <a:xfrm>
              <a:off x="4475970" y="1266487"/>
              <a:ext cx="2748936" cy="444674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테크노베이션파트너스</a:t>
              </a:r>
              <a:endParaRPr kumimoji="0" lang="en-US" altLang="ko-KR" sz="11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100" b="1" kern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윤홍권</a:t>
              </a:r>
              <a:r>
                <a:rPr lang="ko-KR" altLang="en-US" sz="11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 파트너</a:t>
              </a:r>
              <a:endParaRPr kumimoji="0" lang="en-US" altLang="ko-KR" sz="11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endParaRPr>
            </a:p>
          </p:txBody>
        </p: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CD5D3E2-51D7-3136-BC26-CA342CCF1750}"/>
              </a:ext>
            </a:extLst>
          </p:cNvPr>
          <p:cNvSpPr/>
          <p:nvPr/>
        </p:nvSpPr>
        <p:spPr>
          <a:xfrm>
            <a:off x="3750128" y="3220907"/>
            <a:ext cx="1309552" cy="357376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" lastClr="FFFFFF">
                <a:lumMod val="9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프로젝트 관리</a:t>
            </a:r>
            <a:r>
              <a:rPr kumimoji="0" lang="en-US" altLang="ko-KR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TNP)</a:t>
            </a:r>
            <a:endParaRPr kumimoji="0" lang="en-US" altLang="ko-KR" sz="1100" b="0" i="0" u="none" strike="noStrike" kern="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rgbClr val="171616">
                  <a:lumMod val="75000"/>
                  <a:lumOff val="25000"/>
                </a:srgb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0DDF7F-D09F-E634-8C48-D8B6D8C5080A}"/>
              </a:ext>
            </a:extLst>
          </p:cNvPr>
          <p:cNvSpPr/>
          <p:nvPr/>
        </p:nvSpPr>
        <p:spPr>
          <a:xfrm>
            <a:off x="5478000" y="3092967"/>
            <a:ext cx="1134029" cy="27024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-6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전문가 위원회 </a:t>
            </a:r>
            <a:r>
              <a:rPr lang="ko-KR" altLang="en-US" sz="1000" b="1" kern="0" spc="-6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구성</a:t>
            </a:r>
            <a:endParaRPr kumimoji="0" lang="en-US" altLang="ko-KR" sz="1000" b="1" i="0" u="none" strike="noStrike" kern="0" cap="none" spc="-6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rgbClr val="171616">
                  <a:lumMod val="75000"/>
                  <a:lumOff val="25000"/>
                </a:srgbClr>
              </a:solidFill>
              <a:effectLst/>
              <a:uLnTx/>
              <a:uFillTx/>
              <a:latin typeface="KoPub돋움체_Pro Medium" panose="00000600000000000000" pitchFamily="50" charset="-127"/>
              <a:ea typeface="KoPub돋움체_Pro Medium" panose="00000600000000000000" pitchFamily="50" charset="-127"/>
              <a:cs typeface="KoPubWorld돋움체 Medium" panose="00000600000000000000" pitchFamily="2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1F4901C-4CEF-8310-FD12-682B8AB68400}"/>
              </a:ext>
            </a:extLst>
          </p:cNvPr>
          <p:cNvSpPr/>
          <p:nvPr/>
        </p:nvSpPr>
        <p:spPr>
          <a:xfrm>
            <a:off x="5478000" y="3443159"/>
            <a:ext cx="1134029" cy="27024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-7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총괄 검수 및 자문</a:t>
            </a:r>
          </a:p>
        </p:txBody>
      </p:sp>
      <p:cxnSp>
        <p:nvCxnSpPr>
          <p:cNvPr id="19" name="연결선: 꺾임 18">
            <a:extLst>
              <a:ext uri="{FF2B5EF4-FFF2-40B4-BE49-F238E27FC236}">
                <a16:creationId xmlns:a16="http://schemas.microsoft.com/office/drawing/2014/main" id="{417ADB84-E21F-DAA9-1AC4-99247D539334}"/>
              </a:ext>
            </a:extLst>
          </p:cNvPr>
          <p:cNvCxnSpPr>
            <a:cxnSpLocks/>
            <a:stCxn id="16" idx="3"/>
            <a:endCxn id="17" idx="1"/>
          </p:cNvCxnSpPr>
          <p:nvPr/>
        </p:nvCxnSpPr>
        <p:spPr>
          <a:xfrm flipV="1">
            <a:off x="5059680" y="3228091"/>
            <a:ext cx="418320" cy="171504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cxnSp>
        <p:nvCxnSpPr>
          <p:cNvPr id="20" name="연결선: 꺾임 19">
            <a:extLst>
              <a:ext uri="{FF2B5EF4-FFF2-40B4-BE49-F238E27FC236}">
                <a16:creationId xmlns:a16="http://schemas.microsoft.com/office/drawing/2014/main" id="{8E3E93A9-D747-0701-D329-20E648C3A48E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5059680" y="3399595"/>
            <a:ext cx="418320" cy="178688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4FCB190-936B-D47D-D04F-643C6858FCA0}"/>
              </a:ext>
            </a:extLst>
          </p:cNvPr>
          <p:cNvSpPr/>
          <p:nvPr/>
        </p:nvSpPr>
        <p:spPr>
          <a:xfrm>
            <a:off x="797397" y="4110039"/>
            <a:ext cx="1895590" cy="490577"/>
          </a:xfrm>
          <a:prstGeom prst="rect">
            <a:avLst/>
          </a:prstGeom>
          <a:solidFill>
            <a:srgbClr val="002060"/>
          </a:solidFill>
          <a:ln w="3175" cap="flat" cmpd="sng" algn="ctr">
            <a:solidFill>
              <a:sysClr val="window" lastClr="FFFFFF">
                <a:lumMod val="9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err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테크노베이션파트너스</a:t>
            </a:r>
            <a:endParaRPr kumimoji="0" lang="en-US" altLang="ko-KR" sz="1100" b="0" i="0" u="none" strike="noStrike" kern="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02A429D-A325-CA8B-5E4D-9704FB18EB61}"/>
              </a:ext>
            </a:extLst>
          </p:cNvPr>
          <p:cNvSpPr/>
          <p:nvPr/>
        </p:nvSpPr>
        <p:spPr>
          <a:xfrm>
            <a:off x="4214608" y="4110039"/>
            <a:ext cx="1895590" cy="490577"/>
          </a:xfrm>
          <a:prstGeom prst="rect">
            <a:avLst/>
          </a:prstGeom>
          <a:solidFill>
            <a:srgbClr val="002060"/>
          </a:solidFill>
          <a:ln w="3175" cap="flat" cmpd="sng" algn="ctr">
            <a:solidFill>
              <a:sysClr val="window" lastClr="FFFFFF">
                <a:lumMod val="9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1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A421EFE-5C4E-FDE3-DCB5-956F78D73CC1}"/>
              </a:ext>
            </a:extLst>
          </p:cNvPr>
          <p:cNvGrpSpPr/>
          <p:nvPr/>
        </p:nvGrpSpPr>
        <p:grpSpPr>
          <a:xfrm>
            <a:off x="178150" y="4911189"/>
            <a:ext cx="1515404" cy="1942565"/>
            <a:chOff x="345567" y="4911189"/>
            <a:chExt cx="1959815" cy="1942565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87A416BC-EADA-1D56-48E0-39B9B6B24478}"/>
                </a:ext>
              </a:extLst>
            </p:cNvPr>
            <p:cNvSpPr/>
            <p:nvPr/>
          </p:nvSpPr>
          <p:spPr>
            <a:xfrm>
              <a:off x="345568" y="5072123"/>
              <a:ext cx="310611" cy="329643"/>
            </a:xfrm>
            <a:prstGeom prst="rect">
              <a:avLst/>
            </a:prstGeom>
            <a:solidFill>
              <a:srgbClr val="0070C0"/>
            </a:solidFill>
            <a:ln w="63500" cap="flat" cmpd="sng" algn="ctr">
              <a:noFill/>
              <a:prstDash val="solid"/>
              <a:miter lim="800000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DE295D5-0A2E-AD19-D678-87E418451916}"/>
                </a:ext>
              </a:extLst>
            </p:cNvPr>
            <p:cNvSpPr/>
            <p:nvPr/>
          </p:nvSpPr>
          <p:spPr>
            <a:xfrm>
              <a:off x="345567" y="4911189"/>
              <a:ext cx="1959815" cy="49057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9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lvl="0" algn="ctr" defTabSz="914400">
                <a:defRPr/>
              </a:pPr>
              <a:r>
                <a:rPr kumimoji="0" lang="ko-KR" altLang="en-US" sz="1100" b="0" i="0" u="none" strike="noStrike" kern="0" cap="none" spc="0" normalizeH="0" baseline="0" noProof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현황 분석 및 목표모델 정의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1100" kern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김의권</a:t>
              </a: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 수석 </a:t>
              </a:r>
              <a:r>
                <a:rPr lang="en-US" altLang="ko-KR" sz="1100" kern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Ph.D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  <a:endParaRPr kumimoji="0" lang="en-US" altLang="ko-KR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9D93DE2F-51CC-6448-60B7-95390787F3D3}"/>
                </a:ext>
              </a:extLst>
            </p:cNvPr>
            <p:cNvSpPr/>
            <p:nvPr/>
          </p:nvSpPr>
          <p:spPr>
            <a:xfrm>
              <a:off x="739674" y="5512605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대내외 환경분석</a:t>
              </a:r>
              <a:endParaRPr lang="en-US" altLang="ko-KR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0070C0"/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E1094212-BF0F-04D9-F3DB-B8DF5B20E098}"/>
                </a:ext>
              </a:extLst>
            </p:cNvPr>
            <p:cNvSpPr/>
            <p:nvPr/>
          </p:nvSpPr>
          <p:spPr>
            <a:xfrm>
              <a:off x="739674" y="6003178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kumimoji="0" lang="ko-KR" altLang="en-US" sz="800" b="1" i="0" u="none" strike="noStrike" kern="0" cap="none" spc="0" normalizeH="0" baseline="0" noProof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수요분석 및 요구사항 정의</a:t>
              </a:r>
            </a:p>
          </p:txBody>
        </p:sp>
        <p:cxnSp>
          <p:nvCxnSpPr>
            <p:cNvPr id="28" name="연결선: 꺾임 27">
              <a:extLst>
                <a:ext uri="{FF2B5EF4-FFF2-40B4-BE49-F238E27FC236}">
                  <a16:creationId xmlns:a16="http://schemas.microsoft.com/office/drawing/2014/main" id="{F0E5E738-8002-9FB1-4B90-E25A4857FF11}"/>
                </a:ext>
              </a:extLst>
            </p:cNvPr>
            <p:cNvCxnSpPr>
              <a:cxnSpLocks/>
              <a:endCxn id="26" idx="1"/>
            </p:cNvCxnSpPr>
            <p:nvPr/>
          </p:nvCxnSpPr>
          <p:spPr>
            <a:xfrm rot="16200000" flipH="1">
              <a:off x="466360" y="5419290"/>
              <a:ext cx="290839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29" name="연결선: 꺾임 28">
              <a:extLst>
                <a:ext uri="{FF2B5EF4-FFF2-40B4-BE49-F238E27FC236}">
                  <a16:creationId xmlns:a16="http://schemas.microsoft.com/office/drawing/2014/main" id="{90CD8FAA-9BF1-905D-D2A7-5ABFF23976C1}"/>
                </a:ext>
              </a:extLst>
            </p:cNvPr>
            <p:cNvCxnSpPr>
              <a:cxnSpLocks/>
              <a:endCxn id="27" idx="1"/>
            </p:cNvCxnSpPr>
            <p:nvPr/>
          </p:nvCxnSpPr>
          <p:spPr>
            <a:xfrm rot="16200000" flipH="1">
              <a:off x="221073" y="5664577"/>
              <a:ext cx="781412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B1A02E5-FA37-291B-6FE2-55648589D54A}"/>
                </a:ext>
              </a:extLst>
            </p:cNvPr>
            <p:cNvSpPr/>
            <p:nvPr/>
          </p:nvSpPr>
          <p:spPr>
            <a:xfrm>
              <a:off x="739674" y="6493754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kumimoji="0" lang="ko-KR" altLang="en-US" sz="800" b="1" i="0" u="none" strike="noStrike" kern="0" cap="none" spc="0" normalizeH="0" baseline="0" noProof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목표모델 정의 및 표준 설계</a:t>
              </a:r>
            </a:p>
          </p:txBody>
        </p:sp>
        <p:cxnSp>
          <p:nvCxnSpPr>
            <p:cNvPr id="31" name="연결선: 꺾임 30">
              <a:extLst>
                <a:ext uri="{FF2B5EF4-FFF2-40B4-BE49-F238E27FC236}">
                  <a16:creationId xmlns:a16="http://schemas.microsoft.com/office/drawing/2014/main" id="{2317DF13-9788-5929-32B2-A516F72C1FC0}"/>
                </a:ext>
              </a:extLst>
            </p:cNvPr>
            <p:cNvCxnSpPr>
              <a:endCxn id="30" idx="1"/>
            </p:cNvCxnSpPr>
            <p:nvPr/>
          </p:nvCxnSpPr>
          <p:spPr>
            <a:xfrm rot="16200000" flipH="1">
              <a:off x="-24215" y="5909865"/>
              <a:ext cx="1271988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EC459C4-4779-6294-1636-9739E97D31D9}"/>
              </a:ext>
            </a:extLst>
          </p:cNvPr>
          <p:cNvGrpSpPr/>
          <p:nvPr/>
        </p:nvGrpSpPr>
        <p:grpSpPr>
          <a:xfrm>
            <a:off x="3610181" y="4911189"/>
            <a:ext cx="1491425" cy="2413405"/>
            <a:chOff x="4266289" y="4911189"/>
            <a:chExt cx="1959815" cy="2413405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0511F35-04D9-385D-1FDE-77AAA3E9B522}"/>
                </a:ext>
              </a:extLst>
            </p:cNvPr>
            <p:cNvSpPr/>
            <p:nvPr/>
          </p:nvSpPr>
          <p:spPr>
            <a:xfrm>
              <a:off x="4266290" y="5072123"/>
              <a:ext cx="310611" cy="329643"/>
            </a:xfrm>
            <a:prstGeom prst="rect">
              <a:avLst/>
            </a:prstGeom>
            <a:solidFill>
              <a:srgbClr val="0070C0"/>
            </a:solidFill>
            <a:ln w="63500" cap="flat" cmpd="sng" algn="ctr">
              <a:noFill/>
              <a:prstDash val="solid"/>
              <a:miter lim="800000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5A0EF58-4523-54E8-9F4D-25B5EB24672A}"/>
                </a:ext>
              </a:extLst>
            </p:cNvPr>
            <p:cNvSpPr/>
            <p:nvPr/>
          </p:nvSpPr>
          <p:spPr>
            <a:xfrm>
              <a:off x="4266289" y="4911189"/>
              <a:ext cx="1959815" cy="49057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9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lvl="0" algn="ctr" defTabSz="914400">
                <a:defRPr/>
              </a:pP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개방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DB </a:t>
              </a: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구축</a:t>
              </a:r>
              <a:b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</a:b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정진영 이사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2023633E-7E6D-3D1F-D0E6-8A0E68EB2EDE}"/>
                </a:ext>
              </a:extLst>
            </p:cNvPr>
            <p:cNvSpPr/>
            <p:nvPr/>
          </p:nvSpPr>
          <p:spPr>
            <a:xfrm>
              <a:off x="4626419" y="5512605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개방</a:t>
              </a: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DB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분석 및 설계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646CBA85-EA68-4741-E029-6533C22DB25B}"/>
                </a:ext>
              </a:extLst>
            </p:cNvPr>
            <p:cNvSpPr/>
            <p:nvPr/>
          </p:nvSpPr>
          <p:spPr>
            <a:xfrm>
              <a:off x="4626419" y="6003178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개방</a:t>
              </a: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DB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이행 및 연계</a:t>
              </a:r>
            </a:p>
          </p:txBody>
        </p:sp>
        <p:cxnSp>
          <p:nvCxnSpPr>
            <p:cNvPr id="37" name="연결선: 꺾임 36">
              <a:extLst>
                <a:ext uri="{FF2B5EF4-FFF2-40B4-BE49-F238E27FC236}">
                  <a16:creationId xmlns:a16="http://schemas.microsoft.com/office/drawing/2014/main" id="{CAD147A0-7BC8-9969-B009-0CC54DA750D4}"/>
                </a:ext>
              </a:extLst>
            </p:cNvPr>
            <p:cNvCxnSpPr>
              <a:cxnSpLocks/>
              <a:endCxn id="35" idx="1"/>
            </p:cNvCxnSpPr>
            <p:nvPr/>
          </p:nvCxnSpPr>
          <p:spPr>
            <a:xfrm rot="16200000" flipH="1">
              <a:off x="4353105" y="5419290"/>
              <a:ext cx="290839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38" name="연결선: 꺾임 37">
              <a:extLst>
                <a:ext uri="{FF2B5EF4-FFF2-40B4-BE49-F238E27FC236}">
                  <a16:creationId xmlns:a16="http://schemas.microsoft.com/office/drawing/2014/main" id="{DE8B09B9-FE6F-1D32-D399-02991B9D4695}"/>
                </a:ext>
              </a:extLst>
            </p:cNvPr>
            <p:cNvCxnSpPr>
              <a:cxnSpLocks/>
              <a:endCxn id="36" idx="1"/>
            </p:cNvCxnSpPr>
            <p:nvPr/>
          </p:nvCxnSpPr>
          <p:spPr>
            <a:xfrm rot="16200000" flipH="1">
              <a:off x="4107818" y="5664577"/>
              <a:ext cx="781412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8FE03E7-5922-8398-400A-DDB164889F18}"/>
                </a:ext>
              </a:extLst>
            </p:cNvPr>
            <p:cNvSpPr/>
            <p:nvPr/>
          </p:nvSpPr>
          <p:spPr>
            <a:xfrm>
              <a:off x="4626419" y="6493754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데이터 변환 자동화 및 전환 실증</a:t>
              </a:r>
            </a:p>
          </p:txBody>
        </p:sp>
        <p:cxnSp>
          <p:nvCxnSpPr>
            <p:cNvPr id="40" name="연결선: 꺾임 39">
              <a:extLst>
                <a:ext uri="{FF2B5EF4-FFF2-40B4-BE49-F238E27FC236}">
                  <a16:creationId xmlns:a16="http://schemas.microsoft.com/office/drawing/2014/main" id="{FECA9D51-7B48-C95B-07EB-4220F931A8B5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rot="16200000" flipH="1">
              <a:off x="3862530" y="5909865"/>
              <a:ext cx="1271988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E23AEC25-55BD-3EC0-5EFA-23BF1026035A}"/>
                </a:ext>
              </a:extLst>
            </p:cNvPr>
            <p:cNvSpPr/>
            <p:nvPr/>
          </p:nvSpPr>
          <p:spPr>
            <a:xfrm>
              <a:off x="4626419" y="6964594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AI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학습용 데이터 가공</a:t>
              </a:r>
            </a:p>
          </p:txBody>
        </p:sp>
        <p:cxnSp>
          <p:nvCxnSpPr>
            <p:cNvPr id="42" name="연결선: 꺾임 41">
              <a:extLst>
                <a:ext uri="{FF2B5EF4-FFF2-40B4-BE49-F238E27FC236}">
                  <a16:creationId xmlns:a16="http://schemas.microsoft.com/office/drawing/2014/main" id="{91700993-5552-979D-20A6-87AD3FC84748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 rot="16200000" flipH="1">
              <a:off x="3627109" y="6145284"/>
              <a:ext cx="1742830" cy="255789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</p:grp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71BD7C1-F6DA-FA70-3231-6DFD5A29892C}"/>
              </a:ext>
            </a:extLst>
          </p:cNvPr>
          <p:cNvCxnSpPr>
            <a:cxnSpLocks/>
            <a:stCxn id="15" idx="2"/>
            <a:endCxn id="21" idx="0"/>
          </p:cNvCxnSpPr>
          <p:nvPr/>
        </p:nvCxnSpPr>
        <p:spPr>
          <a:xfrm rot="5400000">
            <a:off x="2074959" y="2753182"/>
            <a:ext cx="1027091" cy="1686623"/>
          </a:xfrm>
          <a:prstGeom prst="bentConnector3">
            <a:avLst>
              <a:gd name="adj1" fmla="val 68548"/>
            </a:avLst>
          </a:prstGeom>
          <a:noFill/>
          <a:ln w="6350" cap="flat" cmpd="sng" algn="ctr">
            <a:solidFill>
              <a:srgbClr val="002060"/>
            </a:solidFill>
            <a:prstDash val="solid"/>
            <a:miter lim="800000"/>
          </a:ln>
          <a:effectLst/>
        </p:spPr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20031E7B-2770-8F56-988C-612AD9E46D96}"/>
              </a:ext>
            </a:extLst>
          </p:cNvPr>
          <p:cNvCxnSpPr>
            <a:cxnSpLocks/>
            <a:stCxn id="15" idx="2"/>
            <a:endCxn id="22" idx="0"/>
          </p:cNvCxnSpPr>
          <p:nvPr/>
        </p:nvCxnSpPr>
        <p:spPr>
          <a:xfrm rot="16200000" flipH="1">
            <a:off x="3783564" y="2731199"/>
            <a:ext cx="1027091" cy="1730588"/>
          </a:xfrm>
          <a:prstGeom prst="bentConnector3">
            <a:avLst>
              <a:gd name="adj1" fmla="val 68548"/>
            </a:avLst>
          </a:prstGeom>
          <a:noFill/>
          <a:ln w="6350" cap="flat" cmpd="sng" algn="ctr">
            <a:solidFill>
              <a:srgbClr val="002060"/>
            </a:solidFill>
            <a:prstDash val="solid"/>
            <a:miter lim="800000"/>
          </a:ln>
          <a:effectLst/>
        </p:spPr>
      </p:cxnSp>
      <p:cxnSp>
        <p:nvCxnSpPr>
          <p:cNvPr id="45" name="연결선: 꺾임 44">
            <a:extLst>
              <a:ext uri="{FF2B5EF4-FFF2-40B4-BE49-F238E27FC236}">
                <a16:creationId xmlns:a16="http://schemas.microsoft.com/office/drawing/2014/main" id="{AB875E0E-42FC-A58B-792A-9D2139F397E9}"/>
              </a:ext>
            </a:extLst>
          </p:cNvPr>
          <p:cNvCxnSpPr>
            <a:cxnSpLocks/>
            <a:stCxn id="21" idx="2"/>
          </p:cNvCxnSpPr>
          <p:nvPr/>
        </p:nvCxnSpPr>
        <p:spPr>
          <a:xfrm rot="5400000">
            <a:off x="1185236" y="4351232"/>
            <a:ext cx="310573" cy="809340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002060"/>
            </a:solidFill>
            <a:prstDash val="solid"/>
            <a:miter lim="800000"/>
          </a:ln>
          <a:effectLst/>
        </p:spPr>
      </p:cxnSp>
      <p:cxnSp>
        <p:nvCxnSpPr>
          <p:cNvPr id="46" name="연결선: 꺾임 45">
            <a:extLst>
              <a:ext uri="{FF2B5EF4-FFF2-40B4-BE49-F238E27FC236}">
                <a16:creationId xmlns:a16="http://schemas.microsoft.com/office/drawing/2014/main" id="{9D399087-C426-B984-C176-6BB23E60D7A1}"/>
              </a:ext>
            </a:extLst>
          </p:cNvPr>
          <p:cNvCxnSpPr>
            <a:cxnSpLocks/>
            <a:stCxn id="22" idx="2"/>
          </p:cNvCxnSpPr>
          <p:nvPr/>
        </p:nvCxnSpPr>
        <p:spPr>
          <a:xfrm rot="5400000">
            <a:off x="4603863" y="4352648"/>
            <a:ext cx="310573" cy="806509"/>
          </a:xfrm>
          <a:prstGeom prst="bentConnector3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3D9F85A-E62A-100E-0CAE-30402F93EF11}"/>
              </a:ext>
            </a:extLst>
          </p:cNvPr>
          <p:cNvSpPr/>
          <p:nvPr/>
        </p:nvSpPr>
        <p:spPr>
          <a:xfrm>
            <a:off x="318539" y="3149479"/>
            <a:ext cx="1781670" cy="485316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cap="flat" cmpd="sng" algn="ctr">
            <a:solidFill>
              <a:sysClr val="window" lastClr="FFFFFF">
                <a:lumMod val="9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전문가 </a:t>
            </a:r>
            <a:r>
              <a:rPr lang="ko-KR" altLang="en-US" sz="12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자문 </a:t>
            </a:r>
            <a:r>
              <a:rPr kumimoji="0" lang="ko-KR" altLang="en-US" sz="12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그룹</a:t>
            </a:r>
            <a:endParaRPr kumimoji="0" lang="en-US" altLang="ko-KR" sz="1200" b="0" i="0" u="none" strike="noStrike" kern="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65372E27-1FA8-9CDC-46C9-C44E379A3B85}"/>
              </a:ext>
            </a:extLst>
          </p:cNvPr>
          <p:cNvCxnSpPr>
            <a:cxnSpLocks/>
            <a:endCxn id="47" idx="3"/>
          </p:cNvCxnSpPr>
          <p:nvPr/>
        </p:nvCxnSpPr>
        <p:spPr>
          <a:xfrm flipH="1" flipV="1">
            <a:off x="2100209" y="3392137"/>
            <a:ext cx="1365742" cy="7458"/>
          </a:xfrm>
          <a:prstGeom prst="line">
            <a:avLst/>
          </a:prstGeom>
          <a:noFill/>
          <a:ln w="6350" cap="flat" cmpd="sng" algn="ctr">
            <a:solidFill>
              <a:srgbClr val="002060"/>
            </a:solidFill>
            <a:prstDash val="solid"/>
            <a:miter lim="800000"/>
          </a:ln>
          <a:effectLst/>
        </p:spPr>
      </p:cxn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9C529EFD-6784-4017-E2C7-4948EB292232}"/>
              </a:ext>
            </a:extLst>
          </p:cNvPr>
          <p:cNvGrpSpPr/>
          <p:nvPr/>
        </p:nvGrpSpPr>
        <p:grpSpPr>
          <a:xfrm>
            <a:off x="5212085" y="4911189"/>
            <a:ext cx="1491425" cy="2421406"/>
            <a:chOff x="4266289" y="4911189"/>
            <a:chExt cx="1959815" cy="2421406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CDA96F8F-210B-E176-179C-5F6433C28F38}"/>
                </a:ext>
              </a:extLst>
            </p:cNvPr>
            <p:cNvSpPr/>
            <p:nvPr/>
          </p:nvSpPr>
          <p:spPr>
            <a:xfrm>
              <a:off x="4266290" y="5072123"/>
              <a:ext cx="310611" cy="329643"/>
            </a:xfrm>
            <a:prstGeom prst="rect">
              <a:avLst/>
            </a:prstGeom>
            <a:solidFill>
              <a:srgbClr val="0070C0"/>
            </a:solidFill>
            <a:ln w="63500" cap="flat" cmpd="sng" algn="ctr">
              <a:noFill/>
              <a:prstDash val="solid"/>
              <a:miter lim="800000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E7C4650A-00F0-9594-01CB-05314871BA1B}"/>
                </a:ext>
              </a:extLst>
            </p:cNvPr>
            <p:cNvSpPr/>
            <p:nvPr/>
          </p:nvSpPr>
          <p:spPr>
            <a:xfrm>
              <a:off x="4266289" y="4911189"/>
              <a:ext cx="1959815" cy="49057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9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lvl="0" algn="ctr" defTabSz="914400">
                <a:defRPr/>
              </a:pP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오픈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API </a:t>
              </a: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개발</a:t>
              </a:r>
              <a:b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</a:b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정진영 이사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ECBCC3ED-E551-7567-B361-7B91E6EECC2F}"/>
                </a:ext>
              </a:extLst>
            </p:cNvPr>
            <p:cNvSpPr/>
            <p:nvPr/>
          </p:nvSpPr>
          <p:spPr>
            <a:xfrm>
              <a:off x="4626419" y="5512605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오픈</a:t>
              </a: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API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설계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9104639C-6469-095D-C347-E91E7B8D606B}"/>
                </a:ext>
              </a:extLst>
            </p:cNvPr>
            <p:cNvSpPr/>
            <p:nvPr/>
          </p:nvSpPr>
          <p:spPr>
            <a:xfrm>
              <a:off x="4626419" y="6003178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오픈</a:t>
              </a: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API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개발 및 테스트</a:t>
              </a:r>
            </a:p>
          </p:txBody>
        </p:sp>
        <p:cxnSp>
          <p:nvCxnSpPr>
            <p:cNvPr id="54" name="연결선: 꺾임 53">
              <a:extLst>
                <a:ext uri="{FF2B5EF4-FFF2-40B4-BE49-F238E27FC236}">
                  <a16:creationId xmlns:a16="http://schemas.microsoft.com/office/drawing/2014/main" id="{A9324A83-2BFE-4C95-AE20-C11FC4979F58}"/>
                </a:ext>
              </a:extLst>
            </p:cNvPr>
            <p:cNvCxnSpPr>
              <a:cxnSpLocks/>
              <a:endCxn id="52" idx="1"/>
            </p:cNvCxnSpPr>
            <p:nvPr/>
          </p:nvCxnSpPr>
          <p:spPr>
            <a:xfrm rot="16200000" flipH="1">
              <a:off x="4353105" y="5419290"/>
              <a:ext cx="290839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55" name="연결선: 꺾임 54">
              <a:extLst>
                <a:ext uri="{FF2B5EF4-FFF2-40B4-BE49-F238E27FC236}">
                  <a16:creationId xmlns:a16="http://schemas.microsoft.com/office/drawing/2014/main" id="{99E4568A-A591-10AE-2F52-8218BAD73E9D}"/>
                </a:ext>
              </a:extLst>
            </p:cNvPr>
            <p:cNvCxnSpPr>
              <a:cxnSpLocks/>
              <a:endCxn id="53" idx="1"/>
            </p:cNvCxnSpPr>
            <p:nvPr/>
          </p:nvCxnSpPr>
          <p:spPr>
            <a:xfrm rot="16200000" flipH="1">
              <a:off x="4107818" y="5664577"/>
              <a:ext cx="781412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5EC5BA5A-0F64-EF05-3971-E674F0DD2FB6}"/>
                </a:ext>
              </a:extLst>
            </p:cNvPr>
            <p:cNvSpPr/>
            <p:nvPr/>
          </p:nvSpPr>
          <p:spPr>
            <a:xfrm>
              <a:off x="4626419" y="6493754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>
                <a:defRPr/>
              </a:pP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API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관리도구 및 </a:t>
              </a:r>
              <a:b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</a:br>
              <a:r>
                <a:rPr lang="ko-KR" altLang="en-US" sz="800" b="1" kern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공공데이터포털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 연계</a:t>
              </a:r>
            </a:p>
          </p:txBody>
        </p:sp>
        <p:cxnSp>
          <p:nvCxnSpPr>
            <p:cNvPr id="57" name="연결선: 꺾임 56">
              <a:extLst>
                <a:ext uri="{FF2B5EF4-FFF2-40B4-BE49-F238E27FC236}">
                  <a16:creationId xmlns:a16="http://schemas.microsoft.com/office/drawing/2014/main" id="{31556285-95B5-7BFC-E8BB-57DD03677C3F}"/>
                </a:ext>
              </a:extLst>
            </p:cNvPr>
            <p:cNvCxnSpPr>
              <a:cxnSpLocks/>
              <a:endCxn id="56" idx="1"/>
            </p:cNvCxnSpPr>
            <p:nvPr/>
          </p:nvCxnSpPr>
          <p:spPr>
            <a:xfrm rot="16200000" flipH="1">
              <a:off x="3862531" y="5909865"/>
              <a:ext cx="1271988" cy="255787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58" name="연결선: 꺾임 57">
              <a:extLst>
                <a:ext uri="{FF2B5EF4-FFF2-40B4-BE49-F238E27FC236}">
                  <a16:creationId xmlns:a16="http://schemas.microsoft.com/office/drawing/2014/main" id="{AACC35BA-9E51-7957-5D75-DBA8A009006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27109" y="6145284"/>
              <a:ext cx="1742830" cy="255789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29169F44-4AA8-B986-9454-0C1E06612589}"/>
                </a:ext>
              </a:extLst>
            </p:cNvPr>
            <p:cNvSpPr/>
            <p:nvPr/>
          </p:nvSpPr>
          <p:spPr>
            <a:xfrm>
              <a:off x="4626419" y="6972595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MCP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서버 및 </a:t>
              </a:r>
              <a:r>
                <a:rPr lang="en-US" altLang="ko-KR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AI </a:t>
              </a: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활용사례</a:t>
              </a: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74F4A74-B496-EF2E-C51B-B39836BC7D14}"/>
              </a:ext>
            </a:extLst>
          </p:cNvPr>
          <p:cNvSpPr/>
          <p:nvPr/>
        </p:nvSpPr>
        <p:spPr>
          <a:xfrm>
            <a:off x="1816406" y="5072123"/>
            <a:ext cx="240176" cy="329643"/>
          </a:xfrm>
          <a:prstGeom prst="rect">
            <a:avLst/>
          </a:prstGeom>
          <a:solidFill>
            <a:srgbClr val="0070C0"/>
          </a:solidFill>
          <a:ln w="63500" cap="flat" cmpd="sng" algn="ctr">
            <a:noFill/>
            <a:prstDash val="solid"/>
            <a:miter lim="800000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err="1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171616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0EED5765-AFEC-0727-3E35-F89A6F0A3707}"/>
              </a:ext>
            </a:extLst>
          </p:cNvPr>
          <p:cNvSpPr/>
          <p:nvPr/>
        </p:nvSpPr>
        <p:spPr>
          <a:xfrm>
            <a:off x="1816405" y="4911189"/>
            <a:ext cx="1515404" cy="490577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" lastClr="FFFFFF">
                <a:lumMod val="9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lvl="0" algn="ctr" defTabSz="914400"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데이터 품질 진단</a:t>
            </a:r>
            <a:r>
              <a:rPr kumimoji="0" lang="en-US" altLang="ko-KR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</a:t>
            </a:r>
            <a:r>
              <a:rPr kumimoji="0" lang="ko-KR" altLang="en-US" sz="1100" b="0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개선</a:t>
            </a:r>
            <a:b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 kern="0" err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송영석</a:t>
            </a:r>
            <a:r>
              <a:rPr lang="ko-KR" altLang="en-US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책임 </a:t>
            </a:r>
            <a:r>
              <a:rPr lang="en-US" altLang="ko-KR" sz="1100" kern="0" err="1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Ph.D</a:t>
            </a:r>
            <a: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  <a:endParaRPr kumimoji="0" lang="en-US" altLang="ko-KR" sz="1100" b="0" i="0" u="none" strike="noStrike" kern="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rgbClr val="171616">
                  <a:lumMod val="75000"/>
                  <a:lumOff val="25000"/>
                </a:srgbClr>
              </a:solidFill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FB42CC0-F30C-E330-93AA-721ADBFFBDCB}"/>
              </a:ext>
            </a:extLst>
          </p:cNvPr>
          <p:cNvSpPr/>
          <p:nvPr/>
        </p:nvSpPr>
        <p:spPr>
          <a:xfrm>
            <a:off x="2121144" y="5512605"/>
            <a:ext cx="1122022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품질진단 계획 수립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57B41A1-6E3F-4ED9-3601-2447A00ADBE4}"/>
              </a:ext>
            </a:extLst>
          </p:cNvPr>
          <p:cNvSpPr/>
          <p:nvPr/>
        </p:nvSpPr>
        <p:spPr>
          <a:xfrm>
            <a:off x="2121144" y="6003178"/>
            <a:ext cx="1122022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kumimoji="0" lang="ko-KR" altLang="en-US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품질 진단</a:t>
            </a:r>
          </a:p>
        </p:txBody>
      </p:sp>
      <p:cxnSp>
        <p:nvCxnSpPr>
          <p:cNvPr id="64" name="연결선: 꺾임 63">
            <a:extLst>
              <a:ext uri="{FF2B5EF4-FFF2-40B4-BE49-F238E27FC236}">
                <a16:creationId xmlns:a16="http://schemas.microsoft.com/office/drawing/2014/main" id="{C4F71137-953F-6B34-4899-58372201A74E}"/>
              </a:ext>
            </a:extLst>
          </p:cNvPr>
          <p:cNvCxnSpPr>
            <a:cxnSpLocks/>
            <a:endCxn id="62" idx="1"/>
          </p:cNvCxnSpPr>
          <p:nvPr/>
        </p:nvCxnSpPr>
        <p:spPr>
          <a:xfrm rot="16200000" flipH="1">
            <a:off x="1876831" y="5448291"/>
            <a:ext cx="290839" cy="197785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cxnSp>
        <p:nvCxnSpPr>
          <p:cNvPr id="65" name="연결선: 꺾임 64">
            <a:extLst>
              <a:ext uri="{FF2B5EF4-FFF2-40B4-BE49-F238E27FC236}">
                <a16:creationId xmlns:a16="http://schemas.microsoft.com/office/drawing/2014/main" id="{FFB54152-3D3E-46F6-FF59-4931C0B4847A}"/>
              </a:ext>
            </a:extLst>
          </p:cNvPr>
          <p:cNvCxnSpPr>
            <a:cxnSpLocks/>
            <a:endCxn id="63" idx="1"/>
          </p:cNvCxnSpPr>
          <p:nvPr/>
        </p:nvCxnSpPr>
        <p:spPr>
          <a:xfrm rot="16200000" flipH="1">
            <a:off x="1631544" y="5693578"/>
            <a:ext cx="781412" cy="197785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cxnSp>
        <p:nvCxnSpPr>
          <p:cNvPr id="66" name="연결선: 꺾임 65">
            <a:extLst>
              <a:ext uri="{FF2B5EF4-FFF2-40B4-BE49-F238E27FC236}">
                <a16:creationId xmlns:a16="http://schemas.microsoft.com/office/drawing/2014/main" id="{FAD45BF4-8A30-CC07-CEAF-724757B23CA1}"/>
              </a:ext>
            </a:extLst>
          </p:cNvPr>
          <p:cNvCxnSpPr>
            <a:cxnSpLocks/>
            <a:stCxn id="21" idx="2"/>
          </p:cNvCxnSpPr>
          <p:nvPr/>
        </p:nvCxnSpPr>
        <p:spPr>
          <a:xfrm rot="16200000" flipH="1">
            <a:off x="2004363" y="4341444"/>
            <a:ext cx="310573" cy="828915"/>
          </a:xfrm>
          <a:prstGeom prst="bentConnector3">
            <a:avLst/>
          </a:prstGeom>
          <a:noFill/>
          <a:ln w="6350" cap="flat" cmpd="sng" algn="ctr">
            <a:solidFill>
              <a:srgbClr val="002060"/>
            </a:solidFill>
            <a:prstDash val="solid"/>
            <a:miter lim="800000"/>
          </a:ln>
          <a:effectLst/>
        </p:spPr>
      </p:cxnSp>
      <p:cxnSp>
        <p:nvCxnSpPr>
          <p:cNvPr id="67" name="연결선: 꺾임 66">
            <a:extLst>
              <a:ext uri="{FF2B5EF4-FFF2-40B4-BE49-F238E27FC236}">
                <a16:creationId xmlns:a16="http://schemas.microsoft.com/office/drawing/2014/main" id="{EB572C6F-5F7F-B3C6-3ECF-0B828589850A}"/>
              </a:ext>
            </a:extLst>
          </p:cNvPr>
          <p:cNvCxnSpPr>
            <a:cxnSpLocks/>
            <a:stCxn id="22" idx="2"/>
          </p:cNvCxnSpPr>
          <p:nvPr/>
        </p:nvCxnSpPr>
        <p:spPr>
          <a:xfrm rot="16200000" flipH="1">
            <a:off x="5404814" y="4358204"/>
            <a:ext cx="310573" cy="795395"/>
          </a:xfrm>
          <a:prstGeom prst="bentConnector3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D0FB296-F2F9-8EA6-3AC4-337B51F8CF8F}"/>
              </a:ext>
            </a:extLst>
          </p:cNvPr>
          <p:cNvGrpSpPr/>
          <p:nvPr/>
        </p:nvGrpSpPr>
        <p:grpSpPr>
          <a:xfrm>
            <a:off x="178150" y="7484561"/>
            <a:ext cx="1515404" cy="1451989"/>
            <a:chOff x="345567" y="4911189"/>
            <a:chExt cx="1959815" cy="145198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5AE3F945-7B7D-6502-A5DB-7033DF23395C}"/>
                </a:ext>
              </a:extLst>
            </p:cNvPr>
            <p:cNvSpPr/>
            <p:nvPr/>
          </p:nvSpPr>
          <p:spPr>
            <a:xfrm>
              <a:off x="345568" y="5072123"/>
              <a:ext cx="310611" cy="329643"/>
            </a:xfrm>
            <a:prstGeom prst="rect">
              <a:avLst/>
            </a:prstGeom>
            <a:solidFill>
              <a:srgbClr val="0070C0"/>
            </a:solidFill>
            <a:ln w="63500" cap="flat" cmpd="sng" algn="ctr">
              <a:noFill/>
              <a:prstDash val="solid"/>
              <a:miter lim="800000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200" b="0" i="0" u="none" strike="noStrike" kern="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171616"/>
                </a:solidFill>
                <a:effectLst/>
                <a:uLnTx/>
                <a:uFillTx/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</a:endParaRP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674E0F12-C763-E51F-829F-12133C3D1D80}"/>
                </a:ext>
              </a:extLst>
            </p:cNvPr>
            <p:cNvSpPr/>
            <p:nvPr/>
          </p:nvSpPr>
          <p:spPr>
            <a:xfrm>
              <a:off x="345567" y="4911189"/>
              <a:ext cx="1959815" cy="49057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9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lvl="0" algn="ctr" defTabSz="914400">
                <a:defRPr/>
              </a:pP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성과계획 및 활용 방안</a:t>
              </a:r>
              <a:b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</a:b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(</a:t>
              </a:r>
              <a:r>
                <a:rPr lang="ko-KR" altLang="en-US" sz="1100" kern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조구상</a:t>
              </a:r>
              <a:r>
                <a:rPr lang="ko-KR" altLang="en-US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 책임 </a:t>
              </a:r>
              <a:r>
                <a:rPr lang="en-US" altLang="ko-KR" sz="1100" kern="0" err="1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Ph.D</a:t>
              </a:r>
              <a:r>
                <a:rPr lang="en-US" altLang="ko-KR" sz="1100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World돋움체 Bold" panose="00000800000000000000" pitchFamily="2" charset="-127"/>
                  <a:ea typeface="KoPubWorld돋움체 Bold" panose="00000800000000000000" pitchFamily="2" charset="-127"/>
                  <a:cs typeface="KoPubWorld돋움체 Bold" panose="00000800000000000000" pitchFamily="2" charset="-127"/>
                </a:rPr>
                <a:t>)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0A51DAE8-F10E-765E-7FCE-0152FF17E4B3}"/>
                </a:ext>
              </a:extLst>
            </p:cNvPr>
            <p:cNvSpPr/>
            <p:nvPr/>
          </p:nvSpPr>
          <p:spPr>
            <a:xfrm>
              <a:off x="739674" y="5512605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 defTabSz="914400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성과계획 수립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766604B1-D53F-2894-722D-F5D100C8DAC8}"/>
                </a:ext>
              </a:extLst>
            </p:cNvPr>
            <p:cNvSpPr/>
            <p:nvPr/>
          </p:nvSpPr>
          <p:spPr>
            <a:xfrm>
              <a:off x="739674" y="6003178"/>
              <a:ext cx="1451069" cy="360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  <p:txBody>
            <a:bodyPr lIns="36000" rIns="36000" rtlCol="0" anchor="ctr"/>
            <a:lstStyle/>
            <a:p>
              <a:pPr lvl="0" algn="ctr">
                <a:defRPr/>
              </a:pPr>
              <a:r>
                <a:rPr lang="ko-KR" altLang="en-US" sz="800" b="1" kern="0">
                  <a:ln>
                    <a:solidFill>
                      <a:prstClr val="white">
                        <a:lumMod val="85000"/>
                        <a:alpha val="0"/>
                      </a:prstClr>
                    </a:solidFill>
                  </a:ln>
                  <a:solidFill>
                    <a:srgbClr val="171616">
                      <a:lumMod val="75000"/>
                      <a:lumOff val="25000"/>
                    </a:srgbClr>
                  </a:solidFill>
                  <a:latin typeface="KoPub돋움체_Pro Medium" panose="00000600000000000000" pitchFamily="50" charset="-127"/>
                  <a:ea typeface="KoPub돋움체_Pro Medium" panose="00000600000000000000" pitchFamily="50" charset="-127"/>
                  <a:cs typeface="KoPubWorld돋움체 Medium" panose="00000600000000000000" pitchFamily="2" charset="-127"/>
                </a:rPr>
                <a:t>민간 활용 및 서비스 지원</a:t>
              </a:r>
            </a:p>
          </p:txBody>
        </p:sp>
        <p:cxnSp>
          <p:nvCxnSpPr>
            <p:cNvPr id="73" name="연결선: 꺾임 72">
              <a:extLst>
                <a:ext uri="{FF2B5EF4-FFF2-40B4-BE49-F238E27FC236}">
                  <a16:creationId xmlns:a16="http://schemas.microsoft.com/office/drawing/2014/main" id="{0C1BD820-FC4D-1DB0-1444-EB953F139EC2}"/>
                </a:ext>
              </a:extLst>
            </p:cNvPr>
            <p:cNvCxnSpPr>
              <a:cxnSpLocks/>
              <a:endCxn id="71" idx="1"/>
            </p:cNvCxnSpPr>
            <p:nvPr/>
          </p:nvCxnSpPr>
          <p:spPr>
            <a:xfrm rot="16200000" flipH="1">
              <a:off x="466360" y="5419290"/>
              <a:ext cx="290839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74" name="연결선: 꺾임 73">
              <a:extLst>
                <a:ext uri="{FF2B5EF4-FFF2-40B4-BE49-F238E27FC236}">
                  <a16:creationId xmlns:a16="http://schemas.microsoft.com/office/drawing/2014/main" id="{B745CD91-B880-2998-9E5B-C6631D9F380C}"/>
                </a:ext>
              </a:extLst>
            </p:cNvPr>
            <p:cNvCxnSpPr>
              <a:cxnSpLocks/>
              <a:endCxn id="72" idx="1"/>
            </p:cNvCxnSpPr>
            <p:nvPr/>
          </p:nvCxnSpPr>
          <p:spPr>
            <a:xfrm rot="16200000" flipH="1">
              <a:off x="221073" y="5664577"/>
              <a:ext cx="781412" cy="255788"/>
            </a:xfrm>
            <a:prstGeom prst="bentConnector2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</a:sysClr>
              </a:solidFill>
              <a:prstDash val="solid"/>
              <a:miter lim="800000"/>
            </a:ln>
            <a:effectLst/>
          </p:spPr>
        </p:cxnSp>
      </p:grp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DBC588F2-2626-079C-169D-B08A4DBA6AB9}"/>
              </a:ext>
            </a:extLst>
          </p:cNvPr>
          <p:cNvSpPr/>
          <p:nvPr/>
        </p:nvSpPr>
        <p:spPr>
          <a:xfrm>
            <a:off x="3610182" y="7645495"/>
            <a:ext cx="236376" cy="329643"/>
          </a:xfrm>
          <a:prstGeom prst="rect">
            <a:avLst/>
          </a:prstGeom>
          <a:solidFill>
            <a:srgbClr val="0070C0"/>
          </a:solidFill>
          <a:ln w="63500" cap="flat" cmpd="sng" algn="ctr">
            <a:noFill/>
            <a:prstDash val="solid"/>
            <a:miter lim="800000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err="1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171616"/>
              </a:solidFill>
              <a:effectLst/>
              <a:uLnTx/>
              <a:uFillTx/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CF575F9-3332-5A2F-2565-6FD309AE19B4}"/>
              </a:ext>
            </a:extLst>
          </p:cNvPr>
          <p:cNvSpPr/>
          <p:nvPr/>
        </p:nvSpPr>
        <p:spPr>
          <a:xfrm>
            <a:off x="3610181" y="7484561"/>
            <a:ext cx="1491425" cy="490577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" lastClr="FFFFFF">
                <a:lumMod val="9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lvl="0" algn="ctr" defTabSz="914400">
              <a:defRPr/>
            </a:pPr>
            <a:r>
              <a:rPr lang="ko-KR" altLang="en-US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시스템</a:t>
            </a:r>
            <a: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· </a:t>
            </a:r>
            <a:r>
              <a:rPr lang="ko-KR" altLang="en-US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장비 구성</a:t>
            </a:r>
            <a:b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</a:br>
            <a: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(</a:t>
            </a:r>
            <a:r>
              <a:rPr lang="ko-KR" altLang="en-US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정진영 이사</a:t>
            </a:r>
            <a:r>
              <a:rPr lang="en-US" altLang="ko-KR" sz="1100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)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C4319AD-94A2-9A96-6CC7-F681C28CBA1B}"/>
              </a:ext>
            </a:extLst>
          </p:cNvPr>
          <p:cNvSpPr/>
          <p:nvPr/>
        </p:nvSpPr>
        <p:spPr>
          <a:xfrm>
            <a:off x="3884241" y="8085977"/>
            <a:ext cx="1104268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lvl="0" algn="ctr" defTabSz="914400">
              <a:defRPr/>
            </a:pPr>
            <a:r>
              <a:rPr lang="en-US" altLang="ko-KR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HW/SW </a:t>
            </a:r>
            <a:r>
              <a:rPr lang="ko-KR" altLang="en-US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조달 </a:t>
            </a:r>
            <a:br>
              <a:rPr lang="en-US" altLang="ko-KR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</a:br>
            <a:r>
              <a:rPr lang="en-US" altLang="ko-KR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(TNP</a:t>
            </a:r>
            <a:r>
              <a:rPr lang="ko-KR" altLang="en-US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 협력</a:t>
            </a:r>
            <a:r>
              <a:rPr lang="en-US" altLang="ko-KR" sz="800" b="1" kern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)</a:t>
            </a:r>
            <a:endParaRPr lang="en-US" altLang="ko-KR" sz="800" b="1" kern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rgbClr val="0070C0"/>
              </a:solidFill>
              <a:latin typeface="KoPub돋움체_Pro Medium" panose="00000600000000000000" pitchFamily="50" charset="-127"/>
              <a:ea typeface="KoPub돋움체_Pro Medium" panose="00000600000000000000" pitchFamily="50" charset="-127"/>
              <a:cs typeface="KoPubWorld돋움체 Medium" panose="00000600000000000000" pitchFamily="2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A3AEFD22-98F5-48E3-FD93-DFC7AC5E0FC7}"/>
              </a:ext>
            </a:extLst>
          </p:cNvPr>
          <p:cNvSpPr/>
          <p:nvPr/>
        </p:nvSpPr>
        <p:spPr>
          <a:xfrm>
            <a:off x="3884241" y="8576550"/>
            <a:ext cx="1104268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kumimoji="0" lang="ko-KR" altLang="en-US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운영 환경 설치</a:t>
            </a:r>
            <a:endParaRPr kumimoji="0" lang="en-US" altLang="ko-KR" sz="800" b="1" i="0" u="none" strike="noStrike" kern="0" cap="none" spc="0" normalizeH="0" baseline="0" noProof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rgbClr val="171616">
                  <a:lumMod val="75000"/>
                  <a:lumOff val="25000"/>
                </a:srgbClr>
              </a:solidFill>
              <a:effectLst/>
              <a:uLnTx/>
              <a:uFillTx/>
              <a:latin typeface="KoPub돋움체_Pro Medium" panose="00000600000000000000" pitchFamily="50" charset="-127"/>
              <a:ea typeface="KoPub돋움체_Pro Medium" panose="00000600000000000000" pitchFamily="50" charset="-127"/>
              <a:cs typeface="KoPubWorld돋움체 Medium" panose="00000600000000000000" pitchFamily="2" charset="-127"/>
            </a:endParaRPr>
          </a:p>
        </p:txBody>
      </p:sp>
      <p:cxnSp>
        <p:nvCxnSpPr>
          <p:cNvPr id="79" name="연결선: 꺾임 78">
            <a:extLst>
              <a:ext uri="{FF2B5EF4-FFF2-40B4-BE49-F238E27FC236}">
                <a16:creationId xmlns:a16="http://schemas.microsoft.com/office/drawing/2014/main" id="{7FE64ED5-F468-7F1C-4AB6-9E89897A7729}"/>
              </a:ext>
            </a:extLst>
          </p:cNvPr>
          <p:cNvCxnSpPr>
            <a:cxnSpLocks/>
            <a:endCxn id="77" idx="1"/>
          </p:cNvCxnSpPr>
          <p:nvPr/>
        </p:nvCxnSpPr>
        <p:spPr>
          <a:xfrm rot="16200000" flipH="1">
            <a:off x="3641493" y="8023228"/>
            <a:ext cx="290839" cy="194655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cxnSp>
        <p:nvCxnSpPr>
          <p:cNvPr id="80" name="연결선: 꺾임 79">
            <a:extLst>
              <a:ext uri="{FF2B5EF4-FFF2-40B4-BE49-F238E27FC236}">
                <a16:creationId xmlns:a16="http://schemas.microsoft.com/office/drawing/2014/main" id="{CEA109AB-DE1C-E4F3-2F53-58E9EE7D22A4}"/>
              </a:ext>
            </a:extLst>
          </p:cNvPr>
          <p:cNvCxnSpPr>
            <a:cxnSpLocks/>
            <a:endCxn id="78" idx="1"/>
          </p:cNvCxnSpPr>
          <p:nvPr/>
        </p:nvCxnSpPr>
        <p:spPr>
          <a:xfrm rot="16200000" flipH="1">
            <a:off x="3396207" y="8268515"/>
            <a:ext cx="781412" cy="194655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16B3F32-5FD8-ACCB-7F4F-1007C1A45A96}"/>
              </a:ext>
            </a:extLst>
          </p:cNvPr>
          <p:cNvSpPr/>
          <p:nvPr/>
        </p:nvSpPr>
        <p:spPr>
          <a:xfrm>
            <a:off x="3884241" y="9074483"/>
            <a:ext cx="1104268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kumimoji="0" lang="ko-KR" altLang="en-US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테스트 및 성능</a:t>
            </a:r>
            <a:r>
              <a:rPr kumimoji="0" lang="en-US" altLang="ko-KR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·</a:t>
            </a:r>
            <a:r>
              <a:rPr kumimoji="0" lang="ko-KR" altLang="en-US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인터페이스 검증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6C11E2C4-7332-8C8B-9615-6FFB31C7D68F}"/>
              </a:ext>
            </a:extLst>
          </p:cNvPr>
          <p:cNvCxnSpPr>
            <a:endCxn id="81" idx="1"/>
          </p:cNvCxnSpPr>
          <p:nvPr/>
        </p:nvCxnSpPr>
        <p:spPr>
          <a:xfrm rot="16200000" flipH="1">
            <a:off x="3147240" y="8517481"/>
            <a:ext cx="1279347" cy="194656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B9D1C04B-EA2C-2867-A881-3DC453491E71}"/>
              </a:ext>
            </a:extLst>
          </p:cNvPr>
          <p:cNvSpPr/>
          <p:nvPr/>
        </p:nvSpPr>
        <p:spPr>
          <a:xfrm>
            <a:off x="2121144" y="6493752"/>
            <a:ext cx="1122022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kumimoji="0" lang="ko-KR" altLang="en-US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개선계획 수립 및 품질 개선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3104D469-0D08-0C2B-065F-D1A8BD774FDA}"/>
              </a:ext>
            </a:extLst>
          </p:cNvPr>
          <p:cNvSpPr/>
          <p:nvPr/>
        </p:nvSpPr>
        <p:spPr>
          <a:xfrm>
            <a:off x="2121144" y="6984326"/>
            <a:ext cx="1122022" cy="360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kumimoji="0" lang="ko-KR" altLang="en-US" sz="800" b="1" i="0" u="none" strike="noStrike" kern="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rgbClr val="171616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_Pro Medium" panose="00000600000000000000" pitchFamily="50" charset="-127"/>
                <a:ea typeface="KoPub돋움체_Pro Medium" panose="00000600000000000000" pitchFamily="50" charset="-127"/>
                <a:cs typeface="KoPubWorld돋움체 Medium" panose="00000600000000000000" pitchFamily="2" charset="-127"/>
              </a:rPr>
              <a:t>지속 품질관리 체계 수립</a:t>
            </a:r>
          </a:p>
        </p:txBody>
      </p:sp>
      <p:cxnSp>
        <p:nvCxnSpPr>
          <p:cNvPr id="85" name="연결선: 꺾임 84">
            <a:extLst>
              <a:ext uri="{FF2B5EF4-FFF2-40B4-BE49-F238E27FC236}">
                <a16:creationId xmlns:a16="http://schemas.microsoft.com/office/drawing/2014/main" id="{5CF23965-2F0F-6B5E-439C-706342102332}"/>
              </a:ext>
            </a:extLst>
          </p:cNvPr>
          <p:cNvCxnSpPr>
            <a:endCxn id="84" idx="1"/>
          </p:cNvCxnSpPr>
          <p:nvPr/>
        </p:nvCxnSpPr>
        <p:spPr>
          <a:xfrm rot="16200000" flipH="1">
            <a:off x="1140969" y="6184151"/>
            <a:ext cx="1762562" cy="197787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  <p:cxnSp>
        <p:nvCxnSpPr>
          <p:cNvPr id="86" name="연결선: 꺾임 85">
            <a:extLst>
              <a:ext uri="{FF2B5EF4-FFF2-40B4-BE49-F238E27FC236}">
                <a16:creationId xmlns:a16="http://schemas.microsoft.com/office/drawing/2014/main" id="{FC3E4F22-ACD5-7DE2-AE94-793D90A4D4E5}"/>
              </a:ext>
            </a:extLst>
          </p:cNvPr>
          <p:cNvCxnSpPr>
            <a:endCxn id="83" idx="1"/>
          </p:cNvCxnSpPr>
          <p:nvPr/>
        </p:nvCxnSpPr>
        <p:spPr>
          <a:xfrm rot="16200000" flipH="1">
            <a:off x="1386256" y="5938864"/>
            <a:ext cx="1271988" cy="197787"/>
          </a:xfrm>
          <a:prstGeom prst="bentConnector2">
            <a:avLst/>
          </a:pr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miter lim="800000"/>
          </a:ln>
          <a:effectLst/>
        </p:spPr>
      </p:cxnSp>
    </p:spTree>
    <p:extLst>
      <p:ext uri="{BB962C8B-B14F-4D97-AF65-F5344CB8AC3E}">
        <p14:creationId xmlns:p14="http://schemas.microsoft.com/office/powerpoint/2010/main" val="1439981241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4ED1DE-509A-024A-F51D-5C6A86C7E2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60F1027A-7DCB-11E4-6E31-2E284E99F61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5. </a:t>
            </a:r>
            <a:r>
              <a:rPr lang="ko-KR" altLang="en-US" sz="1600">
                <a:solidFill>
                  <a:schemeClr val="tx1"/>
                </a:solidFill>
              </a:rPr>
              <a:t>수행조직 및 업무분장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4863D-5C5D-2F51-143E-573C8268A026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5.3.1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조직체계 및 의사결정 구조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C990146-16F5-4D86-6324-1856FAD5E347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5.3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조직체계 및 의사결정 구조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F27AE0B-8DEA-B8F3-9EE2-6C4409FE948F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C7E00BDD-0AEB-C07D-55A9-A36F39E2F17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1A8F8AB5-8098-D03F-8CCA-84BBD2F62024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29F50BC-C8BC-541A-F5EF-5530664F359B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3828967887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FF70F-AF5F-DCA3-E4AA-E7EAF3DFCF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3B7AB761-EBA8-33E5-F398-98EA08D15E1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6. </a:t>
            </a:r>
            <a:r>
              <a:rPr lang="ko-KR" altLang="en-US" sz="1600">
                <a:solidFill>
                  <a:schemeClr val="tx1"/>
                </a:solidFill>
              </a:rPr>
              <a:t>하도급 계획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B9AC47-8E50-CF3D-C2E0-1B511D6E7FFE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6.1.1 </a:t>
            </a:r>
            <a:r>
              <a:rPr lang="ko-KR" altLang="en-US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하도급 계획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BE9DEB3-9BC1-82CB-4188-5F39BF8A293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6.1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하도급 계획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7778831-A563-525C-05D6-588B439E9016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3183ED2-94E2-F93A-9FA2-0B79D9F08778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77F44F9-7F79-7F08-B85F-0B10E9908749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E80CE96-BDA0-5D77-446C-786EC876863B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Ⅲ.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사업수행 및 관리</a:t>
            </a:r>
          </a:p>
        </p:txBody>
      </p:sp>
    </p:spTree>
    <p:extLst>
      <p:ext uri="{BB962C8B-B14F-4D97-AF65-F5344CB8AC3E}">
        <p14:creationId xmlns:p14="http://schemas.microsoft.com/office/powerpoint/2010/main" val="180746308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356889-B254-CF83-1DA7-4545727D54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7A9F757-4713-EBDA-3407-D4173C26F633}"/>
              </a:ext>
            </a:extLst>
          </p:cNvPr>
          <p:cNvSpPr txBox="1"/>
          <p:nvPr/>
        </p:nvSpPr>
        <p:spPr>
          <a:xfrm>
            <a:off x="1416060" y="1498812"/>
            <a:ext cx="43941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기타</a:t>
            </a:r>
          </a:p>
        </p:txBody>
      </p:sp>
      <p:sp>
        <p:nvSpPr>
          <p:cNvPr id="6" name="TextBox 17">
            <a:extLst>
              <a:ext uri="{FF2B5EF4-FFF2-40B4-BE49-F238E27FC236}">
                <a16:creationId xmlns:a16="http://schemas.microsoft.com/office/drawing/2014/main" id="{1598A1D4-8E14-8999-6F7B-37E3462B4515}"/>
              </a:ext>
            </a:extLst>
          </p:cNvPr>
          <p:cNvSpPr txBox="1"/>
          <p:nvPr/>
        </p:nvSpPr>
        <p:spPr>
          <a:xfrm>
            <a:off x="315018" y="1209008"/>
            <a:ext cx="1101042" cy="1142350"/>
          </a:xfrm>
          <a:prstGeom prst="rect">
            <a:avLst/>
          </a:prstGeom>
          <a:noFill/>
          <a:effectLst/>
        </p:spPr>
        <p:txBody>
          <a:bodyPr wrap="none" lIns="34022" tIns="17011" rIns="34022" bIns="17011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1" defTabSz="208696" latinLnBrk="0">
              <a:defRPr/>
            </a:pPr>
            <a:r>
              <a:rPr kumimoji="1" lang="en-US" altLang="ko-KR" sz="7200" b="1">
                <a:ln>
                  <a:solidFill>
                    <a:srgbClr val="4FD1FF">
                      <a:alpha val="0"/>
                    </a:srgbClr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ldhabi" panose="01000000000000000000" pitchFamily="2" charset="-78"/>
                <a:ea typeface="KoPubWorld바탕체 Bold" panose="00000800000000000000" pitchFamily="2" charset="-127"/>
                <a:cs typeface="Aldhabi" panose="01000000000000000000" pitchFamily="2" charset="-78"/>
              </a:rPr>
              <a:t>Ⅳ.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E3B601E6-C1EF-E97C-ED85-E85DB462A3E2}"/>
              </a:ext>
            </a:extLst>
          </p:cNvPr>
          <p:cNvCxnSpPr>
            <a:cxnSpLocks/>
          </p:cNvCxnSpPr>
          <p:nvPr/>
        </p:nvCxnSpPr>
        <p:spPr>
          <a:xfrm>
            <a:off x="713137" y="2472264"/>
            <a:ext cx="3528663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76C8E877-4E15-8937-601B-3FD0D54A3347}"/>
              </a:ext>
            </a:extLst>
          </p:cNvPr>
          <p:cNvSpPr txBox="1"/>
          <p:nvPr/>
        </p:nvSpPr>
        <p:spPr>
          <a:xfrm>
            <a:off x="729814" y="2593171"/>
            <a:ext cx="5899586" cy="12464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기타 제안 사항</a:t>
            </a:r>
          </a:p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사회적 가치 구현</a:t>
            </a:r>
            <a:r>
              <a:rPr lang="en-US" altLang="ko-KR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, </a:t>
            </a: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상생협력 및 일자리 창출</a:t>
            </a:r>
            <a:endParaRPr lang="en-US" altLang="ko-KR" sz="2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96353661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7D4E68-6C52-0DB1-BD89-1553339A31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1B35D697-D97F-48CF-A189-1F1530EAFD0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1. </a:t>
            </a:r>
            <a:r>
              <a:rPr lang="ko-KR" altLang="en-US" sz="1600">
                <a:solidFill>
                  <a:schemeClr val="tx1"/>
                </a:solidFill>
              </a:rPr>
              <a:t>기타 제안 사항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BD8D3BC-1899-1C96-EE5B-AA708B88F744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1.1.1 00</a:t>
            </a:r>
            <a:endParaRPr lang="ko-KR" altLang="en-US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2DF5169-6F00-5E7C-EC73-7521930E415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1.1 00</a:t>
            </a:r>
            <a:endParaRPr kumimoji="0" lang="ko-KR" altLang="en-US" sz="1500" b="0" i="0" u="none" strike="noStrike" kern="1200" cap="none" spc="-19" normalizeH="0" baseline="0" noProof="0">
              <a:ln w="3175">
                <a:solidFill>
                  <a:srgbClr val="D0D5DB">
                    <a:alpha val="0"/>
                  </a:srgbClr>
                </a:solidFill>
              </a:ln>
              <a:effectLst/>
              <a:uLnTx/>
              <a:uFillTx/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  <a:sym typeface="Monotype Sort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27654872-370E-40E8-8257-5763F07FDBCD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613695B-5766-ADC6-031F-D7CE53D8D3B3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685F22C-8992-182A-1044-0EBAD585EC72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08FA2AD-B9DB-7D46-7876-1763858ACDFF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Ⅳ.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기타</a:t>
            </a:r>
          </a:p>
        </p:txBody>
      </p:sp>
    </p:spTree>
    <p:extLst>
      <p:ext uri="{BB962C8B-B14F-4D97-AF65-F5344CB8AC3E}">
        <p14:creationId xmlns:p14="http://schemas.microsoft.com/office/powerpoint/2010/main" val="2237760985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A80E1-CBC4-D633-6614-0B1DAC03AD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06A38238-A068-45DB-654F-0EAF4DA8193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사회적 가치 구현</a:t>
            </a:r>
            <a:r>
              <a:rPr lang="en-US" altLang="ko-KR" sz="1600">
                <a:solidFill>
                  <a:schemeClr val="tx1"/>
                </a:solidFill>
              </a:rPr>
              <a:t>, </a:t>
            </a:r>
            <a:r>
              <a:rPr lang="ko-KR" altLang="en-US" sz="1600">
                <a:solidFill>
                  <a:schemeClr val="tx1"/>
                </a:solidFill>
              </a:rPr>
              <a:t>상생협력 및 일자리 창출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A7ED193-E559-EEB9-29AA-D2C634B267EC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2.1.1 00</a:t>
            </a:r>
            <a:endParaRPr lang="ko-KR" altLang="en-US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1DB0FD8-43EF-E697-E1D5-D9145B844B6A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2.1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사회적 가치 구현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C11ABCA-0EC6-C3C4-92C1-84BB6DE04E58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B5F121D-7717-A80D-91D7-0DADE0EF60C5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AC8DE28-592E-8767-5A77-2453A6D0897E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59F05D-CE5D-0C37-1EA8-8D151CC4A132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Ⅳ.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기타</a:t>
            </a:r>
          </a:p>
        </p:txBody>
      </p:sp>
    </p:spTree>
    <p:extLst>
      <p:ext uri="{BB962C8B-B14F-4D97-AF65-F5344CB8AC3E}">
        <p14:creationId xmlns:p14="http://schemas.microsoft.com/office/powerpoint/2010/main" val="1253234083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206DD6-736C-5824-2866-C8312C3662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2C679280-F93D-38CF-8DF0-B1CAB8EE379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2559" y="229408"/>
            <a:ext cx="5318423" cy="320088"/>
          </a:xfrm>
        </p:spPr>
        <p:txBody>
          <a:bodyPr/>
          <a:lstStyle/>
          <a:p>
            <a:r>
              <a:rPr lang="en-US" altLang="ko-KR" sz="1600">
                <a:solidFill>
                  <a:schemeClr val="tx1"/>
                </a:solidFill>
              </a:rPr>
              <a:t>2. </a:t>
            </a:r>
            <a:r>
              <a:rPr lang="ko-KR" altLang="en-US" sz="1600">
                <a:solidFill>
                  <a:schemeClr val="tx1"/>
                </a:solidFill>
              </a:rPr>
              <a:t>사회적 가치 구현</a:t>
            </a:r>
            <a:r>
              <a:rPr lang="en-US" altLang="ko-KR" sz="1600">
                <a:solidFill>
                  <a:schemeClr val="tx1"/>
                </a:solidFill>
              </a:rPr>
              <a:t>, </a:t>
            </a:r>
            <a:r>
              <a:rPr lang="ko-KR" altLang="en-US" sz="1600">
                <a:solidFill>
                  <a:schemeClr val="tx1"/>
                </a:solidFill>
              </a:rPr>
              <a:t>상생협력 및 일자리 창출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CCEDC89-86A7-FF3D-6306-846C98D0CC15}"/>
              </a:ext>
            </a:extLst>
          </p:cNvPr>
          <p:cNvSpPr/>
          <p:nvPr/>
        </p:nvSpPr>
        <p:spPr bwMode="auto">
          <a:xfrm>
            <a:off x="588602" y="1003442"/>
            <a:ext cx="3305218" cy="215444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ct val="0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lang="en-US" altLang="ko-KR" sz="1400" spc="-19">
                <a:ln>
                  <a:solidFill>
                    <a:srgbClr val="D0D5DB">
                      <a:alpha val="0"/>
                    </a:srgbClr>
                  </a:solidFill>
                </a:ln>
                <a:latin typeface="KoPubWorld돋움체 Medium" panose="00000600000000000000" pitchFamily="2" charset="-127"/>
                <a:ea typeface="KoPubWorld돋움체 Medium" panose="00000600000000000000" pitchFamily="2" charset="-127"/>
                <a:cs typeface="KoPubWorld돋움체 Medium" panose="00000600000000000000" pitchFamily="2" charset="-127"/>
                <a:sym typeface="Monotype Sorts"/>
              </a:rPr>
              <a:t>2.2.1 00</a:t>
            </a:r>
            <a:endParaRPr lang="ko-KR" altLang="en-US" sz="1400" spc="-19">
              <a:ln>
                <a:solidFill>
                  <a:srgbClr val="D0D5DB">
                    <a:alpha val="0"/>
                  </a:srgbClr>
                </a:solidFill>
              </a:ln>
              <a:latin typeface="KoPubWorld돋움체 Medium" panose="00000600000000000000" pitchFamily="2" charset="-127"/>
              <a:ea typeface="KoPubWorld돋움체 Medium" panose="00000600000000000000" pitchFamily="2" charset="-127"/>
              <a:cs typeface="KoPubWorld돋움체 Medium" panose="00000600000000000000" pitchFamily="2" charset="-127"/>
              <a:sym typeface="Monotype Sorts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01E9BED-A01B-237E-3941-59718FFC2C28}"/>
              </a:ext>
            </a:extLst>
          </p:cNvPr>
          <p:cNvSpPr/>
          <p:nvPr/>
        </p:nvSpPr>
        <p:spPr bwMode="auto">
          <a:xfrm>
            <a:off x="509839" y="698078"/>
            <a:ext cx="5838321" cy="230831"/>
          </a:xfrm>
          <a:prstGeom prst="rect">
            <a:avLst/>
          </a:prstGeom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marL="0" lvl="1" fontAlgn="base">
              <a:spcBef>
                <a:spcPts val="188"/>
              </a:spcBef>
              <a:buClr>
                <a:prstClr val="white">
                  <a:lumMod val="50000"/>
                </a:prstClr>
              </a:buClr>
              <a:buSzPct val="100000"/>
              <a:defRPr/>
            </a:pPr>
            <a:r>
              <a:rPr kumimoji="0" lang="en-US" altLang="ko-KR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2.2 </a:t>
            </a:r>
            <a:r>
              <a:rPr kumimoji="0" lang="ko-KR" altLang="en-US" sz="1500" b="0" i="0" u="none" strike="noStrike" kern="1200" cap="none" spc="-19" normalizeH="0" baseline="0" noProof="0">
                <a:ln w="3175">
                  <a:solidFill>
                    <a:srgbClr val="D0D5DB">
                      <a:alpha val="0"/>
                    </a:srgbClr>
                  </a:solidFill>
                </a:ln>
                <a:effectLst/>
                <a:uLnTx/>
                <a:uFillTx/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  <a:sym typeface="Monotype Sorts"/>
              </a:rPr>
              <a:t>상생협력 및 일자리 창출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4EFA35-4DB6-7A13-6F94-BE34307308EA}"/>
              </a:ext>
            </a:extLst>
          </p:cNvPr>
          <p:cNvSpPr/>
          <p:nvPr/>
        </p:nvSpPr>
        <p:spPr>
          <a:xfrm>
            <a:off x="279083" y="1371599"/>
            <a:ext cx="6331426" cy="862661"/>
          </a:xfrm>
          <a:prstGeom prst="roundRect">
            <a:avLst>
              <a:gd name="adj" fmla="val 5153"/>
            </a:avLst>
          </a:prstGeom>
          <a:solidFill>
            <a:schemeClr val="accent5">
              <a:lumMod val="20000"/>
              <a:lumOff val="80000"/>
              <a:alpha val="7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2000" tIns="72000" rIns="72000" bIns="72000" rtlCol="0" anchor="ctr"/>
          <a:lstStyle/>
          <a:p>
            <a:pPr>
              <a:lnSpc>
                <a:spcPts val="1700"/>
              </a:lnSpc>
            </a:pPr>
            <a:r>
              <a:rPr lang="ko-KR" altLang="en-US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내용기입</a:t>
            </a:r>
            <a:r>
              <a:rPr lang="en-US" altLang="ko-KR" sz="1200">
                <a:ln w="12700">
                  <a:solidFill>
                    <a:schemeClr val="tx1">
                      <a:alpha val="0"/>
                    </a:scheme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 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2F313D8-94F5-A44F-C638-9F835746B6EC}"/>
              </a:ext>
            </a:extLst>
          </p:cNvPr>
          <p:cNvCxnSpPr>
            <a:cxnSpLocks/>
          </p:cNvCxnSpPr>
          <p:nvPr/>
        </p:nvCxnSpPr>
        <p:spPr>
          <a:xfrm>
            <a:off x="312925" y="2397218"/>
            <a:ext cx="0" cy="18405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A4C3F82-C82D-2B47-6C01-DBA110533942}"/>
              </a:ext>
            </a:extLst>
          </p:cNvPr>
          <p:cNvSpPr txBox="1"/>
          <p:nvPr/>
        </p:nvSpPr>
        <p:spPr>
          <a:xfrm>
            <a:off x="335012" y="2371141"/>
            <a:ext cx="28971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제목 기입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F65F15-3FF6-79D6-F213-8081736D5AC4}"/>
              </a:ext>
            </a:extLst>
          </p:cNvPr>
          <p:cNvSpPr txBox="1"/>
          <p:nvPr/>
        </p:nvSpPr>
        <p:spPr>
          <a:xfrm>
            <a:off x="5057775" y="298577"/>
            <a:ext cx="16617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r" defTabSz="914400" rtl="0" eaLnBrk="1" fontAlgn="auto" latinLnBrk="1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Ⅳ. </a:t>
            </a:r>
            <a:r>
              <a:rPr lang="ko-KR" altLang="en-US" sz="1200">
                <a:ln>
                  <a:solidFill>
                    <a:srgbClr val="4472C4">
                      <a:shade val="50000"/>
                      <a:alpha val="0"/>
                    </a:srgbClr>
                  </a:solidFill>
                </a:ln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기타</a:t>
            </a:r>
          </a:p>
        </p:txBody>
      </p:sp>
    </p:spTree>
    <p:extLst>
      <p:ext uri="{BB962C8B-B14F-4D97-AF65-F5344CB8AC3E}">
        <p14:creationId xmlns:p14="http://schemas.microsoft.com/office/powerpoint/2010/main" val="3499441104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AC7B4C-189D-F333-A803-579E3081A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9BF640B6-3DEF-D278-289D-712E2103A858}"/>
              </a:ext>
            </a:extLst>
          </p:cNvPr>
          <p:cNvSpPr txBox="1"/>
          <p:nvPr/>
        </p:nvSpPr>
        <p:spPr>
          <a:xfrm>
            <a:off x="713137" y="1498812"/>
            <a:ext cx="43941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>
                <a:solidFill>
                  <a:srgbClr val="0070C0"/>
                </a:solidFill>
                <a:latin typeface="a옛날사진관5" panose="02020600000000000000" pitchFamily="18" charset="-127"/>
                <a:ea typeface="a옛날사진관5" panose="02020600000000000000" pitchFamily="18" charset="-127"/>
              </a:rPr>
              <a:t>증빙서류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6028538B-D734-EE48-D8B0-EFB60E27AAB9}"/>
              </a:ext>
            </a:extLst>
          </p:cNvPr>
          <p:cNvCxnSpPr>
            <a:cxnSpLocks/>
          </p:cNvCxnSpPr>
          <p:nvPr/>
        </p:nvCxnSpPr>
        <p:spPr>
          <a:xfrm>
            <a:off x="713137" y="2472264"/>
            <a:ext cx="3528663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96DEB3FB-FE7B-5956-9382-08C4338E7BDF}"/>
              </a:ext>
            </a:extLst>
          </p:cNvPr>
          <p:cNvSpPr txBox="1"/>
          <p:nvPr/>
        </p:nvSpPr>
        <p:spPr>
          <a:xfrm>
            <a:off x="729814" y="2593171"/>
            <a:ext cx="37278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1950" indent="-361950">
              <a:lnSpc>
                <a:spcPct val="200000"/>
              </a:lnSpc>
              <a:buFont typeface="+mj-lt"/>
              <a:buAutoNum type="arabicPeriod"/>
            </a:pPr>
            <a:r>
              <a:rPr lang="ko-KR" altLang="en-US" sz="2000">
                <a:latin typeface="KoPubWorld돋움체 Bold" panose="00000800000000000000" pitchFamily="2" charset="-127"/>
                <a:ea typeface="KoPubWorld돋움체 Bold" panose="00000800000000000000" pitchFamily="2" charset="-127"/>
                <a:cs typeface="KoPubWorld돋움체 Bold" panose="00000800000000000000" pitchFamily="2" charset="-127"/>
              </a:rPr>
              <a:t>실적 증명서</a:t>
            </a:r>
            <a:endParaRPr lang="en-US" altLang="ko-KR" sz="2000">
              <a:latin typeface="KoPubWorld돋움체 Bold" panose="00000800000000000000" pitchFamily="2" charset="-127"/>
              <a:ea typeface="KoPubWorld돋움체 Bold" panose="00000800000000000000" pitchFamily="2" charset="-127"/>
              <a:cs typeface="KoPubWorld돋움체 Bold" panose="000008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776025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2013 - 2022 테마">
  <a:themeElements>
    <a:clrScheme name="Office 2013 - 2022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2013 - 2022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2013 - 2022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sz="1200" dirty="0" smtClean="0">
            <a:latin typeface="KoPubWorld돋움체 Bold" panose="00000800000000000000" pitchFamily="2" charset="-127"/>
            <a:ea typeface="KoPubWorld돋움체 Bold" panose="00000800000000000000" pitchFamily="2" charset="-127"/>
            <a:cs typeface="KoPubWorld돋움체 Bold" panose="00000800000000000000" pitchFamily="2" charset="-127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 algn="l">
          <a:defRPr sz="1200" dirty="0" smtClean="0">
            <a:latin typeface="KoPubWorld돋움체 Medium" panose="00000600000000000000" pitchFamily="2" charset="-127"/>
            <a:ea typeface="KoPubWorld돋움체 Medium" panose="00000600000000000000" pitchFamily="2" charset="-127"/>
            <a:cs typeface="KoPubWorld돋움체 Medium" panose="00000600000000000000" pitchFamily="2" charset="-127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9D30EBE9304C2346AD8EC6952A85F23C" ma:contentTypeVersion="16" ma:contentTypeDescription="새 문서를 만듭니다." ma:contentTypeScope="" ma:versionID="0beda8d242283ca8ad5cd5bb1aa1bc86">
  <xsd:schema xmlns:xsd="http://www.w3.org/2001/XMLSchema" xmlns:xs="http://www.w3.org/2001/XMLSchema" xmlns:p="http://schemas.microsoft.com/office/2006/metadata/properties" xmlns:ns2="e7514280-9163-4412-ad0a-e8ade9193bee" xmlns:ns3="296b340d-c22f-4484-96dd-ad8bc868af40" targetNamespace="http://schemas.microsoft.com/office/2006/metadata/properties" ma:root="true" ma:fieldsID="c503c7f92b65afe15150ee6451e3405f" ns2:_="" ns3:_="">
    <xsd:import namespace="e7514280-9163-4412-ad0a-e8ade9193bee"/>
    <xsd:import namespace="296b340d-c22f-4484-96dd-ad8bc868af40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LengthInSeconds" minOccurs="0"/>
                <xsd:element ref="ns2:MediaServiceSearchProperties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7514280-9163-4412-ad0a-e8ade9193bee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lcf76f155ced4ddcb4097134ff3c332f" ma:index="14" nillable="true" ma:taxonomy="true" ma:internalName="lcf76f155ced4ddcb4097134ff3c332f" ma:taxonomyFieldName="MediaServiceImageTags" ma:displayName="이미지 태그" ma:readOnly="false" ma:fieldId="{5cf76f15-5ced-4ddc-b409-7134ff3c332f}" ma:taxonomyMulti="true" ma:sspId="dbb9d562-bd20-43bc-a33e-5cbb7cafe37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9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LengthInSeconds" ma:index="20" nillable="true" ma:displayName="MediaLengthInSeconds" ma:hidden="true" ma:internalName="MediaLengthInSeconds" ma:readOnly="true">
      <xsd:simpleType>
        <xsd:restriction base="dms:Unknown"/>
      </xsd:simpleType>
    </xsd:element>
    <xsd:element name="MediaServiceSearchProperties" ma:index="21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96b340d-c22f-4484-96dd-ad8bc868af40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공유 대상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세부 정보 공유" ma:internalName="SharedWithDetails" ma:readOnly="true">
      <xsd:simpleType>
        <xsd:restriction base="dms:Note">
          <xsd:maxLength value="255"/>
        </xsd:restriction>
      </xsd:simpleType>
    </xsd:element>
    <xsd:element name="TaxCatchAll" ma:index="15" nillable="true" ma:displayName="Taxonomy Catch All Column" ma:hidden="true" ma:list="{89e01bde-2108-4b34-9411-c6bd49ed7aa3}" ma:internalName="TaxCatchAll" ma:showField="CatchAllData" ma:web="296b340d-c22f-4484-96dd-ad8bc868af40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e7514280-9163-4412-ad0a-e8ade9193bee">
      <Terms xmlns="http://schemas.microsoft.com/office/infopath/2007/PartnerControls"/>
    </lcf76f155ced4ddcb4097134ff3c332f>
    <TaxCatchAll xmlns="296b340d-c22f-4484-96dd-ad8bc868af40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9D62CDAD-107A-43D7-A7FF-44C6CD012359}">
  <ds:schemaRefs>
    <ds:schemaRef ds:uri="296b340d-c22f-4484-96dd-ad8bc868af40"/>
    <ds:schemaRef ds:uri="e7514280-9163-4412-ad0a-e8ade9193bee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C756E700-2809-459B-84AD-EC3318970829}">
  <ds:schemaRefs>
    <ds:schemaRef ds:uri="296b340d-c22f-4484-96dd-ad8bc868af40"/>
    <ds:schemaRef ds:uri="e7514280-9163-4412-ad0a-e8ade9193bee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DBF8794B-BC40-4BF3-B2D9-ECCD52D4CB8A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c21f85bf-30cf-4a3f-b20f-fc38a03d9031}" enabled="0" method="" siteId="{c21f85bf-30cf-4a3f-b20f-fc38a03d9031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5876</TotalTime>
  <Words>54759</Words>
  <Application>Microsoft Office PowerPoint</Application>
  <PresentationFormat>A4 용지(210x297mm)</PresentationFormat>
  <Paragraphs>8851</Paragraphs>
  <Slides>220</Slides>
  <Notes>137</Notes>
  <HiddenSlides>0</HiddenSlides>
  <MMClips>0</MMClips>
  <ScaleCrop>false</ScaleCrop>
  <HeadingPairs>
    <vt:vector size="6" baseType="variant">
      <vt:variant>
        <vt:lpstr>사용한 글꼴</vt:lpstr>
      </vt:variant>
      <vt:variant>
        <vt:i4>22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220</vt:i4>
      </vt:variant>
    </vt:vector>
  </HeadingPairs>
  <TitlesOfParts>
    <vt:vector size="243" baseType="lpstr">
      <vt:lpstr>a옛날사진관5</vt:lpstr>
      <vt:lpstr>G마켓 산스 TTF Bold</vt:lpstr>
      <vt:lpstr>G마켓 산스 TTF Medium</vt:lpstr>
      <vt:lpstr>KoPubWorld돋움체 Bold</vt:lpstr>
      <vt:lpstr>KoPubWorld돋움체 Medium</vt:lpstr>
      <vt:lpstr>KoPubWorld바탕체 Light</vt:lpstr>
      <vt:lpstr>KoPub돋움체_Pro Medium</vt:lpstr>
      <vt:lpstr>KoPub바탕체 Bold</vt:lpstr>
      <vt:lpstr>Pretendard</vt:lpstr>
      <vt:lpstr>경기천년제목 Bold</vt:lpstr>
      <vt:lpstr>나눔스퀘어</vt:lpstr>
      <vt:lpstr>나눔스퀘어 Bold</vt:lpstr>
      <vt:lpstr>나눔스퀘어_ac</vt:lpstr>
      <vt:lpstr>나눔스퀘어_ac ExtraBold</vt:lpstr>
      <vt:lpstr>맑은 고딕</vt:lpstr>
      <vt:lpstr>맑은 고딕</vt:lpstr>
      <vt:lpstr>함초롬바탕</vt:lpstr>
      <vt:lpstr>Aldhabi</vt:lpstr>
      <vt:lpstr>Arial</vt:lpstr>
      <vt:lpstr>Calibri</vt:lpstr>
      <vt:lpstr>Calibri Light</vt:lpstr>
      <vt:lpstr>Wingdings</vt:lpstr>
      <vt:lpstr>Office 2013 - 2022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이동혁</dc:creator>
  <cp:lastModifiedBy>황보 정운</cp:lastModifiedBy>
  <cp:revision>239</cp:revision>
  <cp:lastPrinted>2026-06-25T07:15:15Z</cp:lastPrinted>
  <dcterms:created xsi:type="dcterms:W3CDTF">2021-09-24T12:12:26Z</dcterms:created>
  <dcterms:modified xsi:type="dcterms:W3CDTF">2026-07-27T02:17:50Z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0x0101009D30EBE9304C2346AD8EC6952A85F23C</vt:lpwstr>
  </property>
  <property fmtid="{D5CDD505-2E9C-101B-9397-08002B2CF9AE}" pid="3" name="MediaServiceImageTags">
    <vt:lpwstr/>
  </property>
</Properties>
</file>