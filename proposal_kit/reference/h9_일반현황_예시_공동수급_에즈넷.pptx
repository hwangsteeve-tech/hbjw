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648" r:id="rId1"/>
    <p:sldMasterId id="2147483670" r:id="rId2"/>
    <p:sldMasterId id="2147483692" r:id="rId3"/>
  </p:sldMasterIdLst>
  <p:notesMasterIdLst>
    <p:notesMasterId r:id="rId22"/>
  </p:notesMasterIdLst>
  <p:sldIdLst>
    <p:sldId id="257" r:id="rId4"/>
    <p:sldId id="539" r:id="rId5"/>
    <p:sldId id="258" r:id="rId6"/>
    <p:sldId id="259" r:id="rId7"/>
    <p:sldId id="260" r:id="rId8"/>
    <p:sldId id="261" r:id="rId9"/>
    <p:sldId id="262" r:id="rId10"/>
    <p:sldId id="536" r:id="rId11"/>
    <p:sldId id="537" r:id="rId12"/>
    <p:sldId id="265" r:id="rId13"/>
    <p:sldId id="266" r:id="rId14"/>
    <p:sldId id="516" r:id="rId15"/>
    <p:sldId id="517" r:id="rId16"/>
    <p:sldId id="267" r:id="rId17"/>
    <p:sldId id="269" r:id="rId18"/>
    <p:sldId id="270" r:id="rId19"/>
    <p:sldId id="538" r:id="rId20"/>
    <p:sldId id="272" r:id="rId21"/>
  </p:sldIdLst>
  <p:sldSz cx="6858000" cy="9906000" type="A4"/>
  <p:notesSz cx="7104063" cy="102346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name="오른쪽 페이지 왼쪽 기준" pos="464" userDrawn="1">
          <p15:clr>
            <a:srgbClr val="0070C0"/>
          </p15:clr>
        </p15:guide>
        <p15:guide id="2" name="오른쪽 페이지 오른쪽 기준" pos="3920" userDrawn="1">
          <p15:clr>
            <a:srgbClr val="0070C0"/>
          </p15:clr>
        </p15:guide>
        <p15:guide id="3" name="왼쪽 페이지 왼쪽 기준" pos="400" userDrawn="1">
          <p15:clr>
            <a:srgbClr val="BB7A28"/>
          </p15:clr>
        </p15:guide>
        <p15:guide id="4" name="왼쪽 페이지 오른쪽 기준" pos="3856" userDrawn="1">
          <p15:clr>
            <a:srgbClr val="BB7A28"/>
          </p15:clr>
        </p15:guide>
        <p15:guide id="5" name="제목 시작" orient="horz" pos="624" userDrawn="1">
          <p15:clr>
            <a:srgbClr val="888888"/>
          </p15:clr>
        </p15:guide>
        <p15:guide id="6" name="본문 하단" orient="horz" pos="5936" userDrawn="1">
          <p15:clr>
            <a:srgbClr val="888888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65C353C-D88D-4590-9C8D-17DC0CB4FA02}">
  <a:tblStyle styleId="{A65C353C-D88D-4590-9C8D-17DC0CB4FA0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13B6324-1511-4782-AEA2-9760A21EDC23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4472C4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4472C4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1F98FAA-D5B5-4779-BD7F-052A5046291F}" styleName="Table_2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D56A090-9AD4-4B8C-9AD8-B847F27114BE}" styleName="Table_3"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860F66F-7002-49A6-917D-D65E9CC5FBF9}" styleName="Table_4"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rgbClr val="FFFFFF"/>
      </a:tcTxStyle>
      <a:tcStyle>
        <a:tcBdr/>
        <a:fill>
          <a:solidFill>
            <a:srgbClr val="156082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rgbClr val="FFFFFF"/>
      </a:tcTxStyle>
      <a:tcStyle>
        <a:tcBdr/>
        <a:fill>
          <a:solidFill>
            <a:srgbClr val="156082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156082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156082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071A54A-264C-4C73-9450-8B49F495AFA3}" styleName="Table_5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1200E629-BCAE-4D16-894A-253EA2FE321B}" styleName="Table_6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266"/>
    <p:restoredTop sz="94658"/>
  </p:normalViewPr>
  <p:slideViewPr>
    <p:cSldViewPr snapToGrid="0" snapToObjects="1">
      <p:cViewPr varScale="1">
        <p:scale>
          <a:sx n="105" d="100"/>
          <a:sy n="105" d="100"/>
        </p:scale>
        <p:origin x="4332" y="120"/>
      </p:cViewPr>
      <p:guideLst>
        <p:guide pos="464"/>
        <p:guide pos="3920"/>
        <p:guide pos="400"/>
        <p:guide pos="3856"/>
        <p:guide orient="horz" pos="624"/>
        <p:guide orient="horz" pos="59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281" Type="http://customschemas.google.com/relationships/presentationmetadata" Target="metadata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3992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357438" y="1279525"/>
            <a:ext cx="2390775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75" tIns="49525" rIns="99075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90775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75" tIns="49525" rIns="99075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90775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75" tIns="49525" rIns="99075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90775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f9f6cb7583_0_55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spcFirstLastPara="1" wrap="square" lIns="99075" tIns="49525" rIns="99075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g3f9f6cb7583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90775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5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75" tIns="49525" rIns="99075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90775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>
          <a:extLst>
            <a:ext uri="{FF2B5EF4-FFF2-40B4-BE49-F238E27FC236}">
              <a16:creationId xmlns:a16="http://schemas.microsoft.com/office/drawing/2014/main" id="{30F58E7F-3A13-10FA-AC79-0E8D2D053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5:notes">
            <a:extLst>
              <a:ext uri="{FF2B5EF4-FFF2-40B4-BE49-F238E27FC236}">
                <a16:creationId xmlns:a16="http://schemas.microsoft.com/office/drawing/2014/main" id="{BCF7A5DE-7865-CA31-F242-2E91409DD6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75" tIns="49525" rIns="99075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5:notes">
            <a:extLst>
              <a:ext uri="{FF2B5EF4-FFF2-40B4-BE49-F238E27FC236}">
                <a16:creationId xmlns:a16="http://schemas.microsoft.com/office/drawing/2014/main" id="{3261A8F9-1379-1BD8-C7CA-B83CAB95A6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90775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911779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6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75" tIns="49525" rIns="99075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90775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f9f6cb7583_0_10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spcFirstLastPara="1" wrap="square" lIns="99075" tIns="49525" rIns="99075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g3f9f6cb758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90775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7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75" tIns="49525" rIns="99075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90775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f9f6cb7583_0_102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spcFirstLastPara="1" wrap="square" lIns="99075" tIns="49525" rIns="99075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g3f9f6cb7583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90775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7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75" tIns="49525" rIns="99075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90775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7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75" tIns="49525" rIns="99075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90775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f9f6cb7583_145_0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75" tIns="49525" rIns="99075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g3f9f6cb7583_14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90775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f9f6cb7583_0_44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spcFirstLastPara="1" wrap="square" lIns="99075" tIns="49525" rIns="99075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g3f9f6cb7583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90775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9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75" tIns="49525" rIns="99075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90775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fb1dc67910_2_0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75" tIns="49525" rIns="99075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g3fb1dc67910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90775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3fb1dc67910_3_4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spcFirstLastPara="1" wrap="square" lIns="99075" tIns="49525" rIns="99075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g3fb1dc67910_3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90775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표지">
  <p:cSld name="표지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6858000" cy="990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컨텐츠">
  <p:cSld name="컨텐츠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6858000" cy="990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간지">
  <p:cSld name="간지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6858000" cy="990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본문" userDrawn="1">
  <p:cSld name="1_본문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4"/>
          <p:cNvSpPr txBox="1"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4"/>
          <p:cNvSpPr txBox="1"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8" name="Google Shape;28;p44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4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5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5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45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5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6"/>
          <p:cNvSpPr txBox="1"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6"/>
          <p:cNvSpPr txBox="1"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46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6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7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47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47"/>
          <p:cNvSpPr txBox="1">
            <a:spLocks noGrp="1"/>
          </p:cNvSpPr>
          <p:nvPr>
            <p:ph type="body" idx="2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47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7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8"/>
          <p:cNvSpPr txBox="1"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8"/>
          <p:cNvSpPr txBox="1"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3" name="Google Shape;53;p48"/>
          <p:cNvSpPr txBox="1">
            <a:spLocks noGrp="1"/>
          </p:cNvSpPr>
          <p:nvPr>
            <p:ph type="body" idx="2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48"/>
          <p:cNvSpPr txBox="1">
            <a:spLocks noGrp="1"/>
          </p:cNvSpPr>
          <p:nvPr>
            <p:ph type="body" idx="3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5" name="Google Shape;55;p48"/>
          <p:cNvSpPr txBox="1">
            <a:spLocks noGrp="1"/>
          </p:cNvSpPr>
          <p:nvPr>
            <p:ph type="body" idx="4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48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48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9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49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49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0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0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1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1"/>
          <p:cNvSpPr txBox="1">
            <a:spLocks noGrp="1"/>
          </p:cNvSpPr>
          <p:nvPr>
            <p:ph type="body" idx="1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71" name="Google Shape;71;p51"/>
          <p:cNvSpPr txBox="1">
            <a:spLocks noGrp="1"/>
          </p:cNvSpPr>
          <p:nvPr>
            <p:ph type="body" idx="2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2" name="Google Shape;72;p51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1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2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2"/>
          <p:cNvSpPr>
            <a:spLocks noGrp="1"/>
          </p:cNvSpPr>
          <p:nvPr>
            <p:ph type="pic" idx="2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52"/>
          <p:cNvSpPr txBox="1">
            <a:spLocks noGrp="1"/>
          </p:cNvSpPr>
          <p:nvPr>
            <p:ph type="body" idx="1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9" name="Google Shape;79;p52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52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3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53"/>
          <p:cNvSpPr txBox="1">
            <a:spLocks noGrp="1"/>
          </p:cNvSpPr>
          <p:nvPr>
            <p:ph type="body" idx="1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53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53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4"/>
          <p:cNvSpPr txBox="1">
            <a:spLocks noGrp="1"/>
          </p:cNvSpPr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54"/>
          <p:cNvSpPr txBox="1">
            <a:spLocks noGrp="1"/>
          </p:cNvSpPr>
          <p:nvPr>
            <p:ph type="body" idx="1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54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54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빈화면">
  <p:cSld name="2_빈화면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본문">
  <p:cSld name="본문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6"/>
          <p:cNvSpPr txBox="1">
            <a:spLocks noGrp="1"/>
          </p:cNvSpPr>
          <p:nvPr>
            <p:ph type="body" idx="1"/>
          </p:nvPr>
        </p:nvSpPr>
        <p:spPr>
          <a:xfrm>
            <a:off x="294234" y="1453800"/>
            <a:ext cx="6109424" cy="18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A3838"/>
              </a:buClr>
              <a:buSzPts val="640"/>
              <a:buNone/>
              <a:defRPr sz="64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8086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23"/>
              <a:buChar char="•"/>
              <a:defRPr sz="823"/>
            </a:lvl2pPr>
            <a:lvl3pPr marL="1371600" lvl="2" indent="-28086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23"/>
              <a:buChar char="•"/>
              <a:defRPr sz="823"/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56"/>
          <p:cNvSpPr/>
          <p:nvPr/>
        </p:nvSpPr>
        <p:spPr>
          <a:xfrm>
            <a:off x="0" y="473287"/>
            <a:ext cx="524014" cy="852098"/>
          </a:xfrm>
          <a:prstGeom prst="round1Rect">
            <a:avLst>
              <a:gd name="adj" fmla="val 16667"/>
            </a:avLst>
          </a:prstGeom>
          <a:solidFill>
            <a:srgbClr val="008B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" name="Google Shape;98;p56"/>
          <p:cNvCxnSpPr/>
          <p:nvPr/>
        </p:nvCxnSpPr>
        <p:spPr>
          <a:xfrm>
            <a:off x="0" y="1325385"/>
            <a:ext cx="6608862" cy="0"/>
          </a:xfrm>
          <a:prstGeom prst="straightConnector1">
            <a:avLst/>
          </a:prstGeom>
          <a:noFill/>
          <a:ln w="19050" cap="flat" cmpd="sng">
            <a:solidFill>
              <a:srgbClr val="0074A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99" name="Google Shape;99;p56"/>
          <p:cNvSpPr txBox="1">
            <a:spLocks noGrp="1"/>
          </p:cNvSpPr>
          <p:nvPr>
            <p:ph type="body" idx="2"/>
          </p:nvPr>
        </p:nvSpPr>
        <p:spPr>
          <a:xfrm>
            <a:off x="569969" y="699426"/>
            <a:ext cx="5023588" cy="233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262A61"/>
              </a:buClr>
              <a:buSzPts val="914"/>
              <a:buNone/>
              <a:defRPr sz="914">
                <a:solidFill>
                  <a:srgbClr val="262A6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56"/>
          <p:cNvSpPr txBox="1">
            <a:spLocks noGrp="1"/>
          </p:cNvSpPr>
          <p:nvPr>
            <p:ph type="body" idx="3"/>
          </p:nvPr>
        </p:nvSpPr>
        <p:spPr>
          <a:xfrm>
            <a:off x="102769" y="655398"/>
            <a:ext cx="377293" cy="544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97"/>
              <a:buNone/>
              <a:defRPr sz="109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본문">
  <p:cSld name="2_본문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7"/>
          <p:cNvSpPr/>
          <p:nvPr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7"/>
          <p:cNvSpPr/>
          <p:nvPr/>
        </p:nvSpPr>
        <p:spPr>
          <a:xfrm>
            <a:off x="56168" y="2"/>
            <a:ext cx="291683" cy="832380"/>
          </a:xfrm>
          <a:custGeom>
            <a:avLst/>
            <a:gdLst/>
            <a:ahLst/>
            <a:cxnLst/>
            <a:rect l="l" t="t" r="r" b="b"/>
            <a:pathLst>
              <a:path w="545949" h="647701" extrusionOk="0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C0C0C">
              <a:alpha val="588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7"/>
          <p:cNvSpPr/>
          <p:nvPr/>
        </p:nvSpPr>
        <p:spPr>
          <a:xfrm>
            <a:off x="0" y="0"/>
            <a:ext cx="317814" cy="906949"/>
          </a:xfrm>
          <a:custGeom>
            <a:avLst/>
            <a:gdLst/>
            <a:ahLst/>
            <a:cxnLst/>
            <a:rect l="l" t="t" r="r" b="b"/>
            <a:pathLst>
              <a:path w="545949" h="647701" extrusionOk="0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7"/>
          <p:cNvSpPr/>
          <p:nvPr/>
        </p:nvSpPr>
        <p:spPr>
          <a:xfrm>
            <a:off x="-1749" y="0"/>
            <a:ext cx="283035" cy="846485"/>
          </a:xfrm>
          <a:custGeom>
            <a:avLst/>
            <a:gdLst/>
            <a:ahLst/>
            <a:cxnLst/>
            <a:rect l="l" t="t" r="r" b="b"/>
            <a:pathLst>
              <a:path w="545949" h="647701" extrusionOk="0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7"/>
          <p:cNvSpPr txBox="1">
            <a:spLocks noGrp="1"/>
          </p:cNvSpPr>
          <p:nvPr>
            <p:ph type="body" idx="1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71616"/>
              </a:buClr>
              <a:buSzPts val="823"/>
              <a:buNone/>
              <a:defRPr sz="823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23"/>
              <a:buNone/>
              <a:defRPr sz="823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23"/>
              <a:buNone/>
              <a:defRPr sz="823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57"/>
          <p:cNvSpPr/>
          <p:nvPr/>
        </p:nvSpPr>
        <p:spPr>
          <a:xfrm>
            <a:off x="244812" y="2693909"/>
            <a:ext cx="3125255" cy="663424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241300" dist="38100" dir="5400000" algn="t" rotWithShape="0">
              <a:srgbClr val="9DCCDF">
                <a:alpha val="1607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7"/>
          <p:cNvSpPr/>
          <p:nvPr/>
        </p:nvSpPr>
        <p:spPr>
          <a:xfrm>
            <a:off x="3487937" y="2693909"/>
            <a:ext cx="3125255" cy="663424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241300" dist="38100" dir="5400000" algn="t" rotWithShape="0">
              <a:srgbClr val="9DCCDF">
                <a:alpha val="1607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본문">
  <p:cSld name="4_본문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8"/>
          <p:cNvSpPr/>
          <p:nvPr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8"/>
          <p:cNvSpPr/>
          <p:nvPr/>
        </p:nvSpPr>
        <p:spPr>
          <a:xfrm>
            <a:off x="56168" y="2"/>
            <a:ext cx="291683" cy="832380"/>
          </a:xfrm>
          <a:custGeom>
            <a:avLst/>
            <a:gdLst/>
            <a:ahLst/>
            <a:cxnLst/>
            <a:rect l="l" t="t" r="r" b="b"/>
            <a:pathLst>
              <a:path w="545949" h="647701" extrusionOk="0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C0C0C">
              <a:alpha val="588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8"/>
          <p:cNvSpPr/>
          <p:nvPr/>
        </p:nvSpPr>
        <p:spPr>
          <a:xfrm>
            <a:off x="0" y="0"/>
            <a:ext cx="317814" cy="906949"/>
          </a:xfrm>
          <a:custGeom>
            <a:avLst/>
            <a:gdLst/>
            <a:ahLst/>
            <a:cxnLst/>
            <a:rect l="l" t="t" r="r" b="b"/>
            <a:pathLst>
              <a:path w="545949" h="647701" extrusionOk="0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8"/>
          <p:cNvSpPr/>
          <p:nvPr/>
        </p:nvSpPr>
        <p:spPr>
          <a:xfrm>
            <a:off x="-1749" y="0"/>
            <a:ext cx="283035" cy="846485"/>
          </a:xfrm>
          <a:custGeom>
            <a:avLst/>
            <a:gdLst/>
            <a:ahLst/>
            <a:cxnLst/>
            <a:rect l="l" t="t" r="r" b="b"/>
            <a:pathLst>
              <a:path w="545949" h="647701" extrusionOk="0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8"/>
          <p:cNvSpPr txBox="1">
            <a:spLocks noGrp="1"/>
          </p:cNvSpPr>
          <p:nvPr>
            <p:ph type="body" idx="1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71616"/>
              </a:buClr>
              <a:buSzPts val="823"/>
              <a:buNone/>
              <a:defRPr sz="823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23"/>
              <a:buNone/>
              <a:defRPr sz="823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23"/>
              <a:buNone/>
              <a:defRPr sz="823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58"/>
          <p:cNvSpPr/>
          <p:nvPr/>
        </p:nvSpPr>
        <p:spPr>
          <a:xfrm>
            <a:off x="244810" y="2693909"/>
            <a:ext cx="6368380" cy="663424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241300" dist="38100" dir="5400000" algn="t" rotWithShape="0">
              <a:srgbClr val="9DCCDF">
                <a:alpha val="1607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본문">
  <p:cSld name="3_본문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9"/>
          <p:cNvSpPr/>
          <p:nvPr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9"/>
          <p:cNvSpPr/>
          <p:nvPr/>
        </p:nvSpPr>
        <p:spPr>
          <a:xfrm>
            <a:off x="56168" y="2"/>
            <a:ext cx="291683" cy="832380"/>
          </a:xfrm>
          <a:custGeom>
            <a:avLst/>
            <a:gdLst/>
            <a:ahLst/>
            <a:cxnLst/>
            <a:rect l="l" t="t" r="r" b="b"/>
            <a:pathLst>
              <a:path w="545949" h="647701" extrusionOk="0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C0C0C">
              <a:alpha val="588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9"/>
          <p:cNvSpPr/>
          <p:nvPr/>
        </p:nvSpPr>
        <p:spPr>
          <a:xfrm>
            <a:off x="0" y="0"/>
            <a:ext cx="317814" cy="906949"/>
          </a:xfrm>
          <a:custGeom>
            <a:avLst/>
            <a:gdLst/>
            <a:ahLst/>
            <a:cxnLst/>
            <a:rect l="l" t="t" r="r" b="b"/>
            <a:pathLst>
              <a:path w="545949" h="647701" extrusionOk="0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9"/>
          <p:cNvSpPr/>
          <p:nvPr/>
        </p:nvSpPr>
        <p:spPr>
          <a:xfrm>
            <a:off x="-1749" y="0"/>
            <a:ext cx="283035" cy="846485"/>
          </a:xfrm>
          <a:custGeom>
            <a:avLst/>
            <a:gdLst/>
            <a:ahLst/>
            <a:cxnLst/>
            <a:rect l="l" t="t" r="r" b="b"/>
            <a:pathLst>
              <a:path w="545949" h="647701" extrusionOk="0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9"/>
          <p:cNvSpPr txBox="1">
            <a:spLocks noGrp="1"/>
          </p:cNvSpPr>
          <p:nvPr>
            <p:ph type="body" idx="1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71616"/>
              </a:buClr>
              <a:buSzPts val="823"/>
              <a:buNone/>
              <a:defRPr sz="823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23"/>
              <a:buNone/>
              <a:defRPr sz="823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23"/>
              <a:buNone/>
              <a:defRPr sz="823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59"/>
          <p:cNvSpPr/>
          <p:nvPr/>
        </p:nvSpPr>
        <p:spPr>
          <a:xfrm>
            <a:off x="244811" y="2693909"/>
            <a:ext cx="1989132" cy="663424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241300" dist="38100" dir="5400000" algn="t" rotWithShape="0">
              <a:srgbClr val="9DCCDF">
                <a:alpha val="1607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9"/>
          <p:cNvSpPr/>
          <p:nvPr/>
        </p:nvSpPr>
        <p:spPr>
          <a:xfrm>
            <a:off x="4624058" y="2693909"/>
            <a:ext cx="1989132" cy="663424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241300" dist="38100" dir="5400000" algn="t" rotWithShape="0">
              <a:srgbClr val="9DCCDF">
                <a:alpha val="1607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9"/>
          <p:cNvSpPr/>
          <p:nvPr/>
        </p:nvSpPr>
        <p:spPr>
          <a:xfrm>
            <a:off x="2434435" y="2693909"/>
            <a:ext cx="1989132" cy="663424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241300" dist="38100" dir="5400000" algn="t" rotWithShape="0">
              <a:srgbClr val="9DCCDF">
                <a:alpha val="1607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빈화면">
  <p:cSld name="1_빈화면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0"/>
          <p:cNvSpPr txBox="1"/>
          <p:nvPr/>
        </p:nvSpPr>
        <p:spPr>
          <a:xfrm flipH="1">
            <a:off x="489703" y="1285390"/>
            <a:ext cx="2125266" cy="227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731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템인트 프레젠테이션 템플릿 저작권</a:t>
            </a:r>
            <a:endParaRPr sz="731">
              <a:solidFill>
                <a:srgbClr val="3A38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0"/>
          <p:cNvSpPr txBox="1"/>
          <p:nvPr/>
        </p:nvSpPr>
        <p:spPr>
          <a:xfrm flipH="1">
            <a:off x="489703" y="2089168"/>
            <a:ext cx="5747149" cy="70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548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본 템플릿에 제공되는 디자인 재산권은 템인트(quiethee8) 이 소유하고 있습니다.</a:t>
            </a:r>
            <a:endParaRPr/>
          </a:p>
          <a:p>
            <a:pPr marL="0" marR="0" lvl="0" indent="0" algn="l" rtl="0">
              <a:lnSpc>
                <a:spcPct val="130000"/>
              </a:lnSpc>
              <a:spcBef>
                <a:spcPts val="275"/>
              </a:spcBef>
              <a:spcAft>
                <a:spcPts val="0"/>
              </a:spcAft>
              <a:buNone/>
            </a:pPr>
            <a:r>
              <a:rPr lang="ko-KR" sz="548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어떠한 경우에도 템인트 템플릿 및 디자인을 유료로 복제, 판매하는 것은 금지하며, 재배포를 금지합니다. </a:t>
            </a:r>
            <a:br>
              <a:rPr lang="ko-KR" sz="548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sz="548">
                <a:solidFill>
                  <a:srgbClr val="262A61"/>
                </a:solidFill>
                <a:latin typeface="Arial"/>
                <a:ea typeface="Arial"/>
                <a:cs typeface="Arial"/>
                <a:sym typeface="Arial"/>
              </a:rPr>
              <a:t>본 프레젠테이션은 비영리, 비상업적인 목적으로만 사용 가능합니다. 또한 홍보 목적이 아닌 내부 자료로는 사용 가능합니다.</a:t>
            </a:r>
            <a:br>
              <a:rPr lang="ko-KR" sz="548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sz="548">
                <a:solidFill>
                  <a:srgbClr val="262A61"/>
                </a:solidFill>
                <a:latin typeface="Arial"/>
                <a:ea typeface="Arial"/>
                <a:cs typeface="Arial"/>
                <a:sym typeface="Arial"/>
              </a:rPr>
              <a:t>상업적, 영리적, 홍보목적인 경우에는 구매 후 사용 가능합니다. 상업적, 영리목적일 시에는 블로그 혹은 메일로 연락 주시길 바랍니다.</a:t>
            </a:r>
            <a:endParaRPr/>
          </a:p>
          <a:p>
            <a:pPr marL="0" marR="0" lvl="0" indent="0" algn="l" rtl="0">
              <a:lnSpc>
                <a:spcPct val="130000"/>
              </a:lnSpc>
              <a:spcBef>
                <a:spcPts val="275"/>
              </a:spcBef>
              <a:spcAft>
                <a:spcPts val="0"/>
              </a:spcAft>
              <a:buNone/>
            </a:pPr>
            <a:r>
              <a:rPr lang="ko-KR" sz="548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이는 다운받는 블로그에도 기재되어 있으며 다운받고 사용시에 동의한 것으로 간주합니다. </a:t>
            </a:r>
            <a:endParaRPr/>
          </a:p>
        </p:txBody>
      </p:sp>
      <p:graphicFrame>
        <p:nvGraphicFramePr>
          <p:cNvPr id="132" name="Google Shape;132;p60"/>
          <p:cNvGraphicFramePr/>
          <p:nvPr/>
        </p:nvGraphicFramePr>
        <p:xfrm>
          <a:off x="489705" y="461525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{A65C353C-D88D-4590-9C8D-17DC0CB4FA02}</a:tableStyleId>
              </a:tblPr>
              <a:tblGrid>
                <a:gridCol w="63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2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7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분류</a:t>
                      </a:r>
                      <a:endParaRPr/>
                    </a:p>
                  </a:txBody>
                  <a:tcPr marL="51425" marR="51425" marT="66050" marB="66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허용범위</a:t>
                      </a:r>
                      <a:endParaRPr/>
                    </a:p>
                  </a:txBody>
                  <a:tcPr marL="51425" marR="51425" marT="66050" marB="66050" anchor="ctr">
                    <a:lnL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사용금지(예시)</a:t>
                      </a:r>
                      <a:endParaRPr sz="170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1425" marR="51425" marT="66050" marB="66050" anchor="ctr">
                    <a:lnL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DCC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7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학생</a:t>
                      </a:r>
                      <a:endParaRPr/>
                    </a:p>
                  </a:txBody>
                  <a:tcPr marL="51425" marR="51425" marT="66050" marB="66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학교 과제, 학교 내부 발표용</a:t>
                      </a:r>
                      <a:endParaRPr/>
                    </a:p>
                  </a:txBody>
                  <a:tcPr marL="51425" marR="51425" marT="66050" marB="66050" anchor="ctr">
                    <a:lnL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공모전 출품 금지[문의가능]</a:t>
                      </a:r>
                      <a:endParaRPr sz="170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1425" marR="51425" marT="66050" marB="66050" anchor="ctr">
                    <a:lnL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21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기업</a:t>
                      </a:r>
                      <a:endParaRPr/>
                    </a:p>
                  </a:txBody>
                  <a:tcPr marL="51425" marR="51425" marT="66050" marB="66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내부자료, 보안용 자료</a:t>
                      </a:r>
                      <a:endParaRPr/>
                    </a:p>
                  </a:txBody>
                  <a:tcPr marL="51425" marR="51425" marT="66050" marB="66050" anchor="ctr">
                    <a:lnL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대외용 발표, 방송, 행사, 프로모션 등의 홍보자료 사용 금지</a:t>
                      </a:r>
                      <a:endParaRPr/>
                    </a:p>
                  </a:txBody>
                  <a:tcPr marL="51425" marR="51425" marT="66050" marB="66050" anchor="ctr">
                    <a:lnL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학교</a:t>
                      </a:r>
                      <a:endParaRPr/>
                    </a:p>
                  </a:txBody>
                  <a:tcPr marL="51425" marR="51425" marT="66050" marB="66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학교 내부 강의자료</a:t>
                      </a:r>
                      <a:endParaRPr/>
                    </a:p>
                  </a:txBody>
                  <a:tcPr marL="51425" marR="51425" marT="66050" marB="66050" anchor="ctr">
                    <a:lnL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대외용 발표 자료 및 강의자료 </a:t>
                      </a:r>
                      <a:endParaRPr/>
                    </a:p>
                  </a:txBody>
                  <a:tcPr marL="51425" marR="51425" marT="66050" marB="66050" anchor="ctr">
                    <a:lnL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7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기업</a:t>
                      </a:r>
                      <a:endParaRPr/>
                    </a:p>
                  </a:txBody>
                  <a:tcPr marL="51425" marR="51425" marT="66050" marB="66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내부자료, 보안용 자료</a:t>
                      </a:r>
                      <a:endParaRPr/>
                    </a:p>
                  </a:txBody>
                  <a:tcPr marL="51425" marR="51425" marT="66050" marB="66050" anchor="ctr">
                    <a:lnL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대외용 발표, 방송, 행사, 프로모션 등 사용 금지</a:t>
                      </a:r>
                      <a:endParaRPr/>
                    </a:p>
                  </a:txBody>
                  <a:tcPr marL="51425" marR="51425" marT="66050" marB="66050" anchor="ctr">
                    <a:lnL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7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기타</a:t>
                      </a:r>
                      <a:endParaRPr/>
                    </a:p>
                  </a:txBody>
                  <a:tcPr marL="51425" marR="51425" marT="66050" marB="66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기타 사용 부분에는 문의 바랍니다</a:t>
                      </a:r>
                      <a:endParaRPr/>
                    </a:p>
                  </a:txBody>
                  <a:tcPr marL="51425" marR="51425" marT="66050" marB="66050" anchor="ctr">
                    <a:lnL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본문" userDrawn="1">
  <p:cSld name="1_본문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본문" userDrawn="1">
  <p:cSld name="5_본문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63766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컨텐츠">
  <p:cSld name="컨텐츠 · 우측 내지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6858000" cy="990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간지">
  <p:cSld name="간지 · 우측 내지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6858000" cy="990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본문" userDrawn="1">
  <p:cSld name="1_본문 · 좌측 내지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본문" userDrawn="1">
  <p:cSld name="1_본문 · 우측 내지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본문" userDrawn="1">
  <p:cSld name="5_본문 · 우측 내지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63766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표지">
  <p:cSld name="표지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g3f9f6cb7583_143_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6858000" cy="990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컨텐츠">
  <p:cSld name="컨텐츠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g3f9f6cb7583_143_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6858000" cy="990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간지">
  <p:cSld name="간지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g3f9f6cb7583_143_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6858000" cy="990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본문" userDrawn="1">
  <p:cSld name="1_본문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9f6cb7583_143_16"/>
          <p:cNvSpPr txBox="1"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g3f9f6cb7583_143_16"/>
          <p:cNvSpPr txBox="1"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52" name="Google Shape;152;g3f9f6cb7583_143_16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g3f9f6cb7583_143_16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9f6cb7583_143_22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g3f9f6cb7583_143_22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g3f9f6cb7583_143_22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g3f9f6cb7583_143_22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9f6cb7583_143_28"/>
          <p:cNvSpPr txBox="1"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g3f9f6cb7583_143_28"/>
          <p:cNvSpPr txBox="1"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4" name="Google Shape;164;g3f9f6cb7583_143_28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g3f9f6cb7583_143_28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9f6cb7583_143_34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g3f9f6cb7583_143_34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g3f9f6cb7583_143_34"/>
          <p:cNvSpPr txBox="1">
            <a:spLocks noGrp="1"/>
          </p:cNvSpPr>
          <p:nvPr>
            <p:ph type="body" idx="2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1" name="Google Shape;171;g3f9f6cb7583_143_34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g3f9f6cb7583_143_34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9f6cb7583_143_41"/>
          <p:cNvSpPr txBox="1"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g3f9f6cb7583_143_41"/>
          <p:cNvSpPr txBox="1"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77" name="Google Shape;177;g3f9f6cb7583_143_41"/>
          <p:cNvSpPr txBox="1">
            <a:spLocks noGrp="1"/>
          </p:cNvSpPr>
          <p:nvPr>
            <p:ph type="body" idx="2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8" name="Google Shape;178;g3f9f6cb7583_143_41"/>
          <p:cNvSpPr txBox="1">
            <a:spLocks noGrp="1"/>
          </p:cNvSpPr>
          <p:nvPr>
            <p:ph type="body" idx="3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79" name="Google Shape;179;g3f9f6cb7583_143_41"/>
          <p:cNvSpPr txBox="1">
            <a:spLocks noGrp="1"/>
          </p:cNvSpPr>
          <p:nvPr>
            <p:ph type="body" idx="4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0" name="Google Shape;180;g3f9f6cb7583_143_41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g3f9f6cb7583_143_41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9f6cb7583_143_50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g3f9f6cb7583_143_50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g3f9f6cb7583_143_50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9f6cb7583_143_55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g3f9f6cb7583_143_55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9f6cb7583_143_59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g3f9f6cb7583_143_59"/>
          <p:cNvSpPr txBox="1">
            <a:spLocks noGrp="1"/>
          </p:cNvSpPr>
          <p:nvPr>
            <p:ph type="body" idx="1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95" name="Google Shape;195;g3f9f6cb7583_143_59"/>
          <p:cNvSpPr txBox="1">
            <a:spLocks noGrp="1"/>
          </p:cNvSpPr>
          <p:nvPr>
            <p:ph type="body" idx="2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196" name="Google Shape;196;g3f9f6cb7583_143_59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g3f9f6cb7583_143_59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9f6cb7583_143_66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g3f9f6cb7583_143_66"/>
          <p:cNvSpPr>
            <a:spLocks noGrp="1"/>
          </p:cNvSpPr>
          <p:nvPr>
            <p:ph type="pic" idx="2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202" name="Google Shape;202;g3f9f6cb7583_143_66"/>
          <p:cNvSpPr txBox="1">
            <a:spLocks noGrp="1"/>
          </p:cNvSpPr>
          <p:nvPr>
            <p:ph type="body" idx="1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203" name="Google Shape;203;g3f9f6cb7583_143_66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g3f9f6cb7583_143_66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9f6cb7583_143_73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g3f9f6cb7583_143_73"/>
          <p:cNvSpPr txBox="1">
            <a:spLocks noGrp="1"/>
          </p:cNvSpPr>
          <p:nvPr>
            <p:ph type="body" idx="1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9" name="Google Shape;209;g3f9f6cb7583_143_73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g3f9f6cb7583_143_73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9f6cb7583_143_79"/>
          <p:cNvSpPr txBox="1">
            <a:spLocks noGrp="1"/>
          </p:cNvSpPr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g3f9f6cb7583_143_79"/>
          <p:cNvSpPr txBox="1">
            <a:spLocks noGrp="1"/>
          </p:cNvSpPr>
          <p:nvPr>
            <p:ph type="body" idx="1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5" name="Google Shape;215;g3f9f6cb7583_143_79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g3f9f6cb7583_143_79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빈화면">
  <p:cSld name="2_빈화면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본문">
  <p:cSld name="본문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9f6cb7583_143_86"/>
          <p:cNvSpPr txBox="1">
            <a:spLocks noGrp="1"/>
          </p:cNvSpPr>
          <p:nvPr>
            <p:ph type="body" idx="1"/>
          </p:nvPr>
        </p:nvSpPr>
        <p:spPr>
          <a:xfrm>
            <a:off x="294234" y="1453800"/>
            <a:ext cx="6109424" cy="18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A3838"/>
              </a:buClr>
              <a:buSzPts val="640"/>
              <a:buNone/>
              <a:defRPr sz="64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8086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23"/>
              <a:buChar char="•"/>
              <a:defRPr sz="823"/>
            </a:lvl2pPr>
            <a:lvl3pPr marL="1371600" lvl="2" indent="-28086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23"/>
              <a:buChar char="•"/>
              <a:defRPr sz="823"/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1" name="Google Shape;221;g3f9f6cb7583_143_86"/>
          <p:cNvSpPr/>
          <p:nvPr/>
        </p:nvSpPr>
        <p:spPr>
          <a:xfrm>
            <a:off x="0" y="473287"/>
            <a:ext cx="524014" cy="852098"/>
          </a:xfrm>
          <a:prstGeom prst="round1Rect">
            <a:avLst>
              <a:gd name="adj" fmla="val 16667"/>
            </a:avLst>
          </a:prstGeom>
          <a:solidFill>
            <a:srgbClr val="008B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2" name="Google Shape;222;g3f9f6cb7583_143_86"/>
          <p:cNvCxnSpPr/>
          <p:nvPr/>
        </p:nvCxnSpPr>
        <p:spPr>
          <a:xfrm>
            <a:off x="0" y="1325385"/>
            <a:ext cx="6608862" cy="0"/>
          </a:xfrm>
          <a:prstGeom prst="straightConnector1">
            <a:avLst/>
          </a:prstGeom>
          <a:noFill/>
          <a:ln w="19050" cap="flat" cmpd="sng">
            <a:solidFill>
              <a:srgbClr val="0074A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23" name="Google Shape;223;g3f9f6cb7583_143_86"/>
          <p:cNvSpPr txBox="1">
            <a:spLocks noGrp="1"/>
          </p:cNvSpPr>
          <p:nvPr>
            <p:ph type="body" idx="2"/>
          </p:nvPr>
        </p:nvSpPr>
        <p:spPr>
          <a:xfrm>
            <a:off x="569969" y="699426"/>
            <a:ext cx="5023588" cy="233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262A61"/>
              </a:buClr>
              <a:buSzPts val="914"/>
              <a:buNone/>
              <a:defRPr sz="914">
                <a:solidFill>
                  <a:srgbClr val="262A6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4" name="Google Shape;224;g3f9f6cb7583_143_86"/>
          <p:cNvSpPr txBox="1">
            <a:spLocks noGrp="1"/>
          </p:cNvSpPr>
          <p:nvPr>
            <p:ph type="body" idx="3"/>
          </p:nvPr>
        </p:nvSpPr>
        <p:spPr>
          <a:xfrm>
            <a:off x="102769" y="655398"/>
            <a:ext cx="377293" cy="544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97"/>
              <a:buNone/>
              <a:defRPr sz="109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본문">
  <p:cSld name="2_본문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9f6cb7583_143_93"/>
          <p:cNvSpPr/>
          <p:nvPr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g3f9f6cb7583_143_93"/>
          <p:cNvSpPr/>
          <p:nvPr/>
        </p:nvSpPr>
        <p:spPr>
          <a:xfrm>
            <a:off x="56168" y="2"/>
            <a:ext cx="291683" cy="832380"/>
          </a:xfrm>
          <a:custGeom>
            <a:avLst/>
            <a:gdLst/>
            <a:ahLst/>
            <a:cxnLst/>
            <a:rect l="l" t="t" r="r" b="b"/>
            <a:pathLst>
              <a:path w="545949" h="647701" extrusionOk="0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C0C0C">
              <a:alpha val="588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g3f9f6cb7583_143_93"/>
          <p:cNvSpPr/>
          <p:nvPr/>
        </p:nvSpPr>
        <p:spPr>
          <a:xfrm>
            <a:off x="0" y="0"/>
            <a:ext cx="317814" cy="906949"/>
          </a:xfrm>
          <a:custGeom>
            <a:avLst/>
            <a:gdLst/>
            <a:ahLst/>
            <a:cxnLst/>
            <a:rect l="l" t="t" r="r" b="b"/>
            <a:pathLst>
              <a:path w="545949" h="647701" extrusionOk="0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g3f9f6cb7583_143_93"/>
          <p:cNvSpPr/>
          <p:nvPr/>
        </p:nvSpPr>
        <p:spPr>
          <a:xfrm>
            <a:off x="-1749" y="0"/>
            <a:ext cx="283035" cy="846485"/>
          </a:xfrm>
          <a:custGeom>
            <a:avLst/>
            <a:gdLst/>
            <a:ahLst/>
            <a:cxnLst/>
            <a:rect l="l" t="t" r="r" b="b"/>
            <a:pathLst>
              <a:path w="545949" h="647701" extrusionOk="0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f9f6cb7583_143_93"/>
          <p:cNvSpPr txBox="1">
            <a:spLocks noGrp="1"/>
          </p:cNvSpPr>
          <p:nvPr>
            <p:ph type="body" idx="1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71616"/>
              </a:buClr>
              <a:buSzPts val="823"/>
              <a:buNone/>
              <a:defRPr sz="823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23"/>
              <a:buNone/>
              <a:defRPr sz="823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23"/>
              <a:buNone/>
              <a:defRPr sz="823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2" name="Google Shape;232;g3f9f6cb7583_143_93"/>
          <p:cNvSpPr/>
          <p:nvPr/>
        </p:nvSpPr>
        <p:spPr>
          <a:xfrm>
            <a:off x="244812" y="2693909"/>
            <a:ext cx="3125255" cy="663424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241300" dist="38100" dir="5400000" algn="t" rotWithShape="0">
              <a:srgbClr val="9DCCDF">
                <a:alpha val="1607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3f9f6cb7583_143_93"/>
          <p:cNvSpPr/>
          <p:nvPr/>
        </p:nvSpPr>
        <p:spPr>
          <a:xfrm>
            <a:off x="3487937" y="2693909"/>
            <a:ext cx="3125255" cy="663424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241300" dist="38100" dir="5400000" algn="t" rotWithShape="0">
              <a:srgbClr val="9DCCDF">
                <a:alpha val="1607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본문">
  <p:cSld name="4_본문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9f6cb7583_143_102"/>
          <p:cNvSpPr/>
          <p:nvPr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f9f6cb7583_143_102"/>
          <p:cNvSpPr/>
          <p:nvPr/>
        </p:nvSpPr>
        <p:spPr>
          <a:xfrm>
            <a:off x="56168" y="2"/>
            <a:ext cx="291683" cy="832380"/>
          </a:xfrm>
          <a:custGeom>
            <a:avLst/>
            <a:gdLst/>
            <a:ahLst/>
            <a:cxnLst/>
            <a:rect l="l" t="t" r="r" b="b"/>
            <a:pathLst>
              <a:path w="545949" h="647701" extrusionOk="0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C0C0C">
              <a:alpha val="588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g3f9f6cb7583_143_102"/>
          <p:cNvSpPr/>
          <p:nvPr/>
        </p:nvSpPr>
        <p:spPr>
          <a:xfrm>
            <a:off x="0" y="0"/>
            <a:ext cx="317814" cy="906949"/>
          </a:xfrm>
          <a:custGeom>
            <a:avLst/>
            <a:gdLst/>
            <a:ahLst/>
            <a:cxnLst/>
            <a:rect l="l" t="t" r="r" b="b"/>
            <a:pathLst>
              <a:path w="545949" h="647701" extrusionOk="0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g3f9f6cb7583_143_102"/>
          <p:cNvSpPr/>
          <p:nvPr/>
        </p:nvSpPr>
        <p:spPr>
          <a:xfrm>
            <a:off x="-1749" y="0"/>
            <a:ext cx="283035" cy="846485"/>
          </a:xfrm>
          <a:custGeom>
            <a:avLst/>
            <a:gdLst/>
            <a:ahLst/>
            <a:cxnLst/>
            <a:rect l="l" t="t" r="r" b="b"/>
            <a:pathLst>
              <a:path w="545949" h="647701" extrusionOk="0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g3f9f6cb7583_143_102"/>
          <p:cNvSpPr txBox="1">
            <a:spLocks noGrp="1"/>
          </p:cNvSpPr>
          <p:nvPr>
            <p:ph type="body" idx="1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71616"/>
              </a:buClr>
              <a:buSzPts val="823"/>
              <a:buNone/>
              <a:defRPr sz="823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23"/>
              <a:buNone/>
              <a:defRPr sz="823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23"/>
              <a:buNone/>
              <a:defRPr sz="823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1" name="Google Shape;241;g3f9f6cb7583_143_102"/>
          <p:cNvSpPr/>
          <p:nvPr/>
        </p:nvSpPr>
        <p:spPr>
          <a:xfrm>
            <a:off x="244810" y="2693909"/>
            <a:ext cx="6368380" cy="663424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241300" dist="38100" dir="5400000" algn="t" rotWithShape="0">
              <a:srgbClr val="9DCCDF">
                <a:alpha val="1607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본문">
  <p:cSld name="3_본문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9f6cb7583_143_110"/>
          <p:cNvSpPr/>
          <p:nvPr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3f9f6cb7583_143_110"/>
          <p:cNvSpPr/>
          <p:nvPr/>
        </p:nvSpPr>
        <p:spPr>
          <a:xfrm>
            <a:off x="56168" y="2"/>
            <a:ext cx="291683" cy="832380"/>
          </a:xfrm>
          <a:custGeom>
            <a:avLst/>
            <a:gdLst/>
            <a:ahLst/>
            <a:cxnLst/>
            <a:rect l="l" t="t" r="r" b="b"/>
            <a:pathLst>
              <a:path w="545949" h="647701" extrusionOk="0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C0C0C">
              <a:alpha val="588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3f9f6cb7583_143_110"/>
          <p:cNvSpPr/>
          <p:nvPr/>
        </p:nvSpPr>
        <p:spPr>
          <a:xfrm>
            <a:off x="0" y="0"/>
            <a:ext cx="317814" cy="906949"/>
          </a:xfrm>
          <a:custGeom>
            <a:avLst/>
            <a:gdLst/>
            <a:ahLst/>
            <a:cxnLst/>
            <a:rect l="l" t="t" r="r" b="b"/>
            <a:pathLst>
              <a:path w="545949" h="647701" extrusionOk="0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g3f9f6cb7583_143_110"/>
          <p:cNvSpPr/>
          <p:nvPr/>
        </p:nvSpPr>
        <p:spPr>
          <a:xfrm>
            <a:off x="-1749" y="0"/>
            <a:ext cx="283035" cy="846485"/>
          </a:xfrm>
          <a:custGeom>
            <a:avLst/>
            <a:gdLst/>
            <a:ahLst/>
            <a:cxnLst/>
            <a:rect l="l" t="t" r="r" b="b"/>
            <a:pathLst>
              <a:path w="545949" h="647701" extrusionOk="0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f9f6cb7583_143_110"/>
          <p:cNvSpPr txBox="1">
            <a:spLocks noGrp="1"/>
          </p:cNvSpPr>
          <p:nvPr>
            <p:ph type="body" idx="1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71616"/>
              </a:buClr>
              <a:buSzPts val="823"/>
              <a:buNone/>
              <a:defRPr sz="823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23"/>
              <a:buNone/>
              <a:defRPr sz="823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23"/>
              <a:buNone/>
              <a:defRPr sz="823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9" name="Google Shape;249;g3f9f6cb7583_143_110"/>
          <p:cNvSpPr/>
          <p:nvPr/>
        </p:nvSpPr>
        <p:spPr>
          <a:xfrm>
            <a:off x="244811" y="2693909"/>
            <a:ext cx="1989132" cy="663424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241300" dist="38100" dir="5400000" algn="t" rotWithShape="0">
              <a:srgbClr val="9DCCDF">
                <a:alpha val="1607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3f9f6cb7583_143_110"/>
          <p:cNvSpPr/>
          <p:nvPr/>
        </p:nvSpPr>
        <p:spPr>
          <a:xfrm>
            <a:off x="4624058" y="2693909"/>
            <a:ext cx="1989132" cy="663424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241300" dist="38100" dir="5400000" algn="t" rotWithShape="0">
              <a:srgbClr val="9DCCDF">
                <a:alpha val="1607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f9f6cb7583_143_110"/>
          <p:cNvSpPr/>
          <p:nvPr/>
        </p:nvSpPr>
        <p:spPr>
          <a:xfrm>
            <a:off x="2434435" y="2693909"/>
            <a:ext cx="1989132" cy="663424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241300" dist="38100" dir="5400000" algn="t" rotWithShape="0">
              <a:srgbClr val="9DCCDF">
                <a:alpha val="1607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빈화면">
  <p:cSld name="1_빈화면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f9f6cb7583_143_120"/>
          <p:cNvSpPr txBox="1"/>
          <p:nvPr/>
        </p:nvSpPr>
        <p:spPr>
          <a:xfrm flipH="1">
            <a:off x="489703" y="1285390"/>
            <a:ext cx="2125266" cy="227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731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템인트 프레젠테이션 템플릿 저작권</a:t>
            </a:r>
            <a:endParaRPr sz="731">
              <a:solidFill>
                <a:srgbClr val="3A38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g3f9f6cb7583_143_120"/>
          <p:cNvSpPr txBox="1"/>
          <p:nvPr/>
        </p:nvSpPr>
        <p:spPr>
          <a:xfrm flipH="1">
            <a:off x="489703" y="2089168"/>
            <a:ext cx="5747149" cy="70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548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본 템플릿에 제공되는 디자인 재산권은 템인트(quiethee8) 이 소유하고 있습니다.</a:t>
            </a:r>
            <a:endParaRPr/>
          </a:p>
          <a:p>
            <a:pPr marL="0" marR="0" lvl="0" indent="0" algn="l" rtl="0">
              <a:lnSpc>
                <a:spcPct val="130000"/>
              </a:lnSpc>
              <a:spcBef>
                <a:spcPts val="275"/>
              </a:spcBef>
              <a:spcAft>
                <a:spcPts val="0"/>
              </a:spcAft>
              <a:buNone/>
            </a:pPr>
            <a:r>
              <a:rPr lang="ko-KR" sz="548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어떠한 경우에도 템인트 템플릿 및 디자인을 유료로 복제, 판매하는 것은 금지하며, 재배포를 금지합니다. </a:t>
            </a:r>
            <a:br>
              <a:rPr lang="ko-KR" sz="548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sz="548">
                <a:solidFill>
                  <a:srgbClr val="262A61"/>
                </a:solidFill>
                <a:latin typeface="Arial"/>
                <a:ea typeface="Arial"/>
                <a:cs typeface="Arial"/>
                <a:sym typeface="Arial"/>
              </a:rPr>
              <a:t>본 프레젠테이션은 비영리, 비상업적인 목적으로만 사용 가능합니다. 또한 홍보 목적이 아닌 내부 자료로는 사용 가능합니다.</a:t>
            </a:r>
            <a:br>
              <a:rPr lang="ko-KR" sz="548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sz="548">
                <a:solidFill>
                  <a:srgbClr val="262A61"/>
                </a:solidFill>
                <a:latin typeface="Arial"/>
                <a:ea typeface="Arial"/>
                <a:cs typeface="Arial"/>
                <a:sym typeface="Arial"/>
              </a:rPr>
              <a:t>상업적, 영리적, 홍보목적인 경우에는 구매 후 사용 가능합니다. 상업적, 영리목적일 시에는 블로그 혹은 메일로 연락 주시길 바랍니다.</a:t>
            </a:r>
            <a:endParaRPr/>
          </a:p>
          <a:p>
            <a:pPr marL="0" marR="0" lvl="0" indent="0" algn="l" rtl="0">
              <a:lnSpc>
                <a:spcPct val="130000"/>
              </a:lnSpc>
              <a:spcBef>
                <a:spcPts val="275"/>
              </a:spcBef>
              <a:spcAft>
                <a:spcPts val="0"/>
              </a:spcAft>
              <a:buNone/>
            </a:pPr>
            <a:r>
              <a:rPr lang="ko-KR" sz="548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이는 다운받는 블로그에도 기재되어 있으며 다운받고 사용시에 동의한 것으로 간주합니다. </a:t>
            </a:r>
            <a:endParaRPr/>
          </a:p>
        </p:txBody>
      </p:sp>
      <p:graphicFrame>
        <p:nvGraphicFramePr>
          <p:cNvPr id="256" name="Google Shape;256;g3f9f6cb7583_143_120"/>
          <p:cNvGraphicFramePr/>
          <p:nvPr/>
        </p:nvGraphicFramePr>
        <p:xfrm>
          <a:off x="489705" y="461525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{A65C353C-D88D-4590-9C8D-17DC0CB4FA02}</a:tableStyleId>
              </a:tblPr>
              <a:tblGrid>
                <a:gridCol w="63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2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7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분류</a:t>
                      </a:r>
                      <a:endParaRPr/>
                    </a:p>
                  </a:txBody>
                  <a:tcPr marL="51425" marR="51425" marT="66050" marB="66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허용범위</a:t>
                      </a:r>
                      <a:endParaRPr/>
                    </a:p>
                  </a:txBody>
                  <a:tcPr marL="51425" marR="51425" marT="66050" marB="66050" anchor="ctr">
                    <a:lnL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사용금지(예시)</a:t>
                      </a:r>
                      <a:endParaRPr sz="170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1425" marR="51425" marT="66050" marB="66050" anchor="ctr">
                    <a:lnL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DCC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7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학생</a:t>
                      </a:r>
                      <a:endParaRPr/>
                    </a:p>
                  </a:txBody>
                  <a:tcPr marL="51425" marR="51425" marT="66050" marB="66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학교 과제, 학교 내부 발표용</a:t>
                      </a:r>
                      <a:endParaRPr/>
                    </a:p>
                  </a:txBody>
                  <a:tcPr marL="51425" marR="51425" marT="66050" marB="66050" anchor="ctr">
                    <a:lnL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공모전 출품 금지[문의가능]</a:t>
                      </a:r>
                      <a:endParaRPr sz="170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1425" marR="51425" marT="66050" marB="66050" anchor="ctr">
                    <a:lnL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21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기업</a:t>
                      </a:r>
                      <a:endParaRPr/>
                    </a:p>
                  </a:txBody>
                  <a:tcPr marL="51425" marR="51425" marT="66050" marB="66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내부자료, 보안용 자료</a:t>
                      </a:r>
                      <a:endParaRPr/>
                    </a:p>
                  </a:txBody>
                  <a:tcPr marL="51425" marR="51425" marT="66050" marB="66050" anchor="ctr">
                    <a:lnL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대외용 발표, 방송, 행사, 프로모션 등의 홍보자료 사용 금지</a:t>
                      </a:r>
                      <a:endParaRPr/>
                    </a:p>
                  </a:txBody>
                  <a:tcPr marL="51425" marR="51425" marT="66050" marB="66050" anchor="ctr">
                    <a:lnL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학교</a:t>
                      </a:r>
                      <a:endParaRPr/>
                    </a:p>
                  </a:txBody>
                  <a:tcPr marL="51425" marR="51425" marT="66050" marB="66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학교 내부 강의자료</a:t>
                      </a:r>
                      <a:endParaRPr/>
                    </a:p>
                  </a:txBody>
                  <a:tcPr marL="51425" marR="51425" marT="66050" marB="66050" anchor="ctr">
                    <a:lnL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대외용 발표 자료 및 강의자료 </a:t>
                      </a:r>
                      <a:endParaRPr/>
                    </a:p>
                  </a:txBody>
                  <a:tcPr marL="51425" marR="51425" marT="66050" marB="66050" anchor="ctr">
                    <a:lnL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7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기업</a:t>
                      </a:r>
                      <a:endParaRPr/>
                    </a:p>
                  </a:txBody>
                  <a:tcPr marL="51425" marR="51425" marT="66050" marB="66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내부자료, 보안용 자료</a:t>
                      </a:r>
                      <a:endParaRPr/>
                    </a:p>
                  </a:txBody>
                  <a:tcPr marL="51425" marR="51425" marT="66050" marB="66050" anchor="ctr">
                    <a:lnL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대외용 발표, 방송, 행사, 프로모션 등 사용 금지</a:t>
                      </a:r>
                      <a:endParaRPr/>
                    </a:p>
                  </a:txBody>
                  <a:tcPr marL="51425" marR="51425" marT="66050" marB="66050" anchor="ctr">
                    <a:lnL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7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기타</a:t>
                      </a:r>
                      <a:endParaRPr/>
                    </a:p>
                  </a:txBody>
                  <a:tcPr marL="51425" marR="51425" marT="66050" marB="66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기타 사용 부분에는 문의 바랍니다</a:t>
                      </a:r>
                      <a:endParaRPr/>
                    </a:p>
                  </a:txBody>
                  <a:tcPr marL="51425" marR="51425" marT="66050" marB="66050" anchor="ctr">
                    <a:lnL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본문" userDrawn="1">
  <p:cSld name="1_본문 · 좌측 내지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본문" userDrawn="1">
  <p:cSld name="1_본문 · 우측 내지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표지">
  <p:cSld name="표지"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g3fb2e44b770_1_877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6857999" cy="9906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컨텐츠">
  <p:cSld name="컨텐츠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g3fb2e44b770_1_877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6857999" cy="9906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간지">
  <p:cSld name="간지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g3fb2e44b770_1_877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6857999" cy="9906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본문">
  <p:cSld name="1_본문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g3fb2e44b770_1_8779"/>
          <p:cNvPicPr preferRelativeResize="0"/>
          <p:nvPr/>
        </p:nvPicPr>
        <p:blipFill rotWithShape="1">
          <a:blip r:embed="rId2">
            <a:alphaModFix/>
          </a:blip>
          <a:srcRect l="3359" t="1639" r="80900" b="92396"/>
          <a:stretch/>
        </p:blipFill>
        <p:spPr>
          <a:xfrm>
            <a:off x="0" y="0"/>
            <a:ext cx="1256671" cy="673101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g3fb2e44b770_1_8779"/>
          <p:cNvSpPr txBox="1">
            <a:spLocks noGrp="1"/>
          </p:cNvSpPr>
          <p:nvPr>
            <p:ph type="body" idx="1"/>
          </p:nvPr>
        </p:nvSpPr>
        <p:spPr>
          <a:xfrm>
            <a:off x="323850" y="257983"/>
            <a:ext cx="5318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71616"/>
              </a:buClr>
              <a:buSzPts val="1600"/>
              <a:buNone/>
              <a:defRPr sz="160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23"/>
              <a:buNone/>
              <a:defRPr sz="823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23"/>
              <a:buNone/>
              <a:defRPr sz="823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fb2e44b770_1_8783"/>
          <p:cNvSpPr txBox="1">
            <a:spLocks noGrp="1"/>
          </p:cNvSpPr>
          <p:nvPr>
            <p:ph type="ctrTitle"/>
          </p:nvPr>
        </p:nvSpPr>
        <p:spPr>
          <a:xfrm>
            <a:off x="514350" y="1621191"/>
            <a:ext cx="5829300" cy="34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g3fb2e44b770_1_8783"/>
          <p:cNvSpPr txBox="1"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76" name="Google Shape;276;g3fb2e44b770_1_8783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2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g3fb2e44b770_1_8783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fb2e44b770_1_8789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100" cy="19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1" name="Google Shape;281;g3fb2e44b770_1_8789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100" cy="62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2" name="Google Shape;282;g3fb2e44b770_1_8789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2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3" name="Google Shape;283;g3fb2e44b770_1_8789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fb2e44b770_1_8795"/>
          <p:cNvSpPr txBox="1">
            <a:spLocks noGrp="1"/>
          </p:cNvSpPr>
          <p:nvPr>
            <p:ph type="title"/>
          </p:nvPr>
        </p:nvSpPr>
        <p:spPr>
          <a:xfrm>
            <a:off x="467916" y="2469624"/>
            <a:ext cx="5915100" cy="41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g3fb2e44b770_1_8795"/>
          <p:cNvSpPr txBox="1">
            <a:spLocks noGrp="1"/>
          </p:cNvSpPr>
          <p:nvPr>
            <p:ph type="body" idx="1"/>
          </p:nvPr>
        </p:nvSpPr>
        <p:spPr>
          <a:xfrm>
            <a:off x="467916" y="6629226"/>
            <a:ext cx="5915100" cy="21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8" name="Google Shape;288;g3fb2e44b770_1_8795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2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g3fb2e44b770_1_8795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fb2e44b770_1_8801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100" cy="19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g3fb2e44b770_1_8801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2914800" cy="62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4" name="Google Shape;294;g3fb2e44b770_1_8801"/>
          <p:cNvSpPr txBox="1">
            <a:spLocks noGrp="1"/>
          </p:cNvSpPr>
          <p:nvPr>
            <p:ph type="body" idx="2"/>
          </p:nvPr>
        </p:nvSpPr>
        <p:spPr>
          <a:xfrm>
            <a:off x="3471863" y="2637014"/>
            <a:ext cx="2914800" cy="62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5" name="Google Shape;295;g3fb2e44b770_1_8801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2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g3fb2e44b770_1_8801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fb2e44b770_1_8808"/>
          <p:cNvSpPr txBox="1">
            <a:spLocks noGrp="1"/>
          </p:cNvSpPr>
          <p:nvPr>
            <p:ph type="title"/>
          </p:nvPr>
        </p:nvSpPr>
        <p:spPr>
          <a:xfrm>
            <a:off x="472381" y="527405"/>
            <a:ext cx="5915100" cy="19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g3fb2e44b770_1_8808"/>
          <p:cNvSpPr txBox="1">
            <a:spLocks noGrp="1"/>
          </p:cNvSpPr>
          <p:nvPr>
            <p:ph type="body" idx="1"/>
          </p:nvPr>
        </p:nvSpPr>
        <p:spPr>
          <a:xfrm>
            <a:off x="472381" y="2428347"/>
            <a:ext cx="2901300" cy="11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01" name="Google Shape;301;g3fb2e44b770_1_8808"/>
          <p:cNvSpPr txBox="1">
            <a:spLocks noGrp="1"/>
          </p:cNvSpPr>
          <p:nvPr>
            <p:ph type="body" idx="2"/>
          </p:nvPr>
        </p:nvSpPr>
        <p:spPr>
          <a:xfrm>
            <a:off x="472381" y="3618442"/>
            <a:ext cx="2901300" cy="53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2" name="Google Shape;302;g3fb2e44b770_1_8808"/>
          <p:cNvSpPr txBox="1">
            <a:spLocks noGrp="1"/>
          </p:cNvSpPr>
          <p:nvPr>
            <p:ph type="body" idx="3"/>
          </p:nvPr>
        </p:nvSpPr>
        <p:spPr>
          <a:xfrm>
            <a:off x="3471863" y="2428347"/>
            <a:ext cx="2915400" cy="11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03" name="Google Shape;303;g3fb2e44b770_1_8808"/>
          <p:cNvSpPr txBox="1">
            <a:spLocks noGrp="1"/>
          </p:cNvSpPr>
          <p:nvPr>
            <p:ph type="body" idx="4"/>
          </p:nvPr>
        </p:nvSpPr>
        <p:spPr>
          <a:xfrm>
            <a:off x="3471863" y="3618442"/>
            <a:ext cx="2915400" cy="53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4" name="Google Shape;304;g3fb2e44b770_1_8808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2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g3fb2e44b770_1_8808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fb2e44b770_1_8817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100" cy="19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9" name="Google Shape;309;g3fb2e44b770_1_8817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2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0" name="Google Shape;310;g3fb2e44b770_1_8817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fb2e44b770_1_8822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2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g3fb2e44b770_1_8822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fb2e44b770_1_8826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900" cy="23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g3fb2e44b770_1_8826"/>
          <p:cNvSpPr txBox="1">
            <a:spLocks noGrp="1"/>
          </p:cNvSpPr>
          <p:nvPr>
            <p:ph type="body" idx="1"/>
          </p:nvPr>
        </p:nvSpPr>
        <p:spPr>
          <a:xfrm>
            <a:off x="2915543" y="1426283"/>
            <a:ext cx="3471900" cy="70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319" name="Google Shape;319;g3fb2e44b770_1_8826"/>
          <p:cNvSpPr txBox="1">
            <a:spLocks noGrp="1"/>
          </p:cNvSpPr>
          <p:nvPr>
            <p:ph type="body" idx="2"/>
          </p:nvPr>
        </p:nvSpPr>
        <p:spPr>
          <a:xfrm>
            <a:off x="472381" y="2971800"/>
            <a:ext cx="2211900" cy="55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320" name="Google Shape;320;g3fb2e44b770_1_8826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2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g3fb2e44b770_1_8826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fb2e44b770_1_8833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900" cy="23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5" name="Google Shape;325;g3fb2e44b770_1_8833"/>
          <p:cNvSpPr>
            <a:spLocks noGrp="1"/>
          </p:cNvSpPr>
          <p:nvPr>
            <p:ph type="pic" idx="2"/>
          </p:nvPr>
        </p:nvSpPr>
        <p:spPr>
          <a:xfrm>
            <a:off x="2915543" y="1426283"/>
            <a:ext cx="3471900" cy="7039800"/>
          </a:xfrm>
          <a:prstGeom prst="rect">
            <a:avLst/>
          </a:prstGeom>
          <a:noFill/>
          <a:ln>
            <a:noFill/>
          </a:ln>
        </p:spPr>
      </p:sp>
      <p:sp>
        <p:nvSpPr>
          <p:cNvPr id="326" name="Google Shape;326;g3fb2e44b770_1_8833"/>
          <p:cNvSpPr txBox="1">
            <a:spLocks noGrp="1"/>
          </p:cNvSpPr>
          <p:nvPr>
            <p:ph type="body" idx="1"/>
          </p:nvPr>
        </p:nvSpPr>
        <p:spPr>
          <a:xfrm>
            <a:off x="472381" y="2971800"/>
            <a:ext cx="2211900" cy="55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327" name="Google Shape;327;g3fb2e44b770_1_8833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2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8" name="Google Shape;328;g3fb2e44b770_1_8833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fb2e44b770_1_8840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100" cy="19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2" name="Google Shape;332;g3fb2e44b770_1_8840"/>
          <p:cNvSpPr txBox="1">
            <a:spLocks noGrp="1"/>
          </p:cNvSpPr>
          <p:nvPr>
            <p:ph type="body" idx="1"/>
          </p:nvPr>
        </p:nvSpPr>
        <p:spPr>
          <a:xfrm rot="5400000">
            <a:off x="286313" y="2822114"/>
            <a:ext cx="6285300" cy="59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3" name="Google Shape;333;g3fb2e44b770_1_8840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2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4" name="Google Shape;334;g3fb2e44b770_1_8840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fb2e44b770_1_8846"/>
          <p:cNvSpPr txBox="1">
            <a:spLocks noGrp="1"/>
          </p:cNvSpPr>
          <p:nvPr>
            <p:ph type="title"/>
          </p:nvPr>
        </p:nvSpPr>
        <p:spPr>
          <a:xfrm rot="5400000">
            <a:off x="1449713" y="3985503"/>
            <a:ext cx="8394900" cy="1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g3fb2e44b770_1_8846"/>
          <p:cNvSpPr txBox="1">
            <a:spLocks noGrp="1"/>
          </p:cNvSpPr>
          <p:nvPr>
            <p:ph type="body" idx="1"/>
          </p:nvPr>
        </p:nvSpPr>
        <p:spPr>
          <a:xfrm rot="5400000">
            <a:off x="-1550718" y="2549553"/>
            <a:ext cx="8394900" cy="43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9" name="Google Shape;339;g3fb2e44b770_1_8846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2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0" name="Google Shape;340;g3fb2e44b770_1_8846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빈화면">
  <p:cSld name="2_빈화면"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본문">
  <p:cSld name="본문"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fb2e44b770_1_8853"/>
          <p:cNvSpPr txBox="1">
            <a:spLocks noGrp="1"/>
          </p:cNvSpPr>
          <p:nvPr>
            <p:ph type="body" idx="1"/>
          </p:nvPr>
        </p:nvSpPr>
        <p:spPr>
          <a:xfrm>
            <a:off x="294234" y="1453800"/>
            <a:ext cx="6109500" cy="1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A3838"/>
              </a:buClr>
              <a:buSzPts val="640"/>
              <a:buNone/>
              <a:defRPr sz="64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8086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23"/>
              <a:buChar char="•"/>
              <a:defRPr sz="823"/>
            </a:lvl2pPr>
            <a:lvl3pPr marL="1371600" lvl="2" indent="-28086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23"/>
              <a:buChar char="•"/>
              <a:defRPr sz="823"/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5" name="Google Shape;345;g3fb2e44b770_1_8853"/>
          <p:cNvSpPr/>
          <p:nvPr/>
        </p:nvSpPr>
        <p:spPr>
          <a:xfrm>
            <a:off x="0" y="473287"/>
            <a:ext cx="524100" cy="852000"/>
          </a:xfrm>
          <a:prstGeom prst="round1Rect">
            <a:avLst>
              <a:gd name="adj" fmla="val 16667"/>
            </a:avLst>
          </a:prstGeom>
          <a:solidFill>
            <a:srgbClr val="008B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6" name="Google Shape;346;g3fb2e44b770_1_8853"/>
          <p:cNvCxnSpPr/>
          <p:nvPr/>
        </p:nvCxnSpPr>
        <p:spPr>
          <a:xfrm>
            <a:off x="0" y="1325385"/>
            <a:ext cx="6609000" cy="0"/>
          </a:xfrm>
          <a:prstGeom prst="straightConnector1">
            <a:avLst/>
          </a:prstGeom>
          <a:noFill/>
          <a:ln w="19050" cap="flat" cmpd="sng">
            <a:solidFill>
              <a:srgbClr val="0074A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47" name="Google Shape;347;g3fb2e44b770_1_8853"/>
          <p:cNvSpPr txBox="1">
            <a:spLocks noGrp="1"/>
          </p:cNvSpPr>
          <p:nvPr>
            <p:ph type="body" idx="2"/>
          </p:nvPr>
        </p:nvSpPr>
        <p:spPr>
          <a:xfrm>
            <a:off x="569969" y="699426"/>
            <a:ext cx="5023500" cy="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262A61"/>
              </a:buClr>
              <a:buSzPts val="914"/>
              <a:buNone/>
              <a:defRPr sz="914">
                <a:solidFill>
                  <a:srgbClr val="262A6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8" name="Google Shape;348;g3fb2e44b770_1_8853"/>
          <p:cNvSpPr txBox="1">
            <a:spLocks noGrp="1"/>
          </p:cNvSpPr>
          <p:nvPr>
            <p:ph type="body" idx="3"/>
          </p:nvPr>
        </p:nvSpPr>
        <p:spPr>
          <a:xfrm>
            <a:off x="102769" y="655398"/>
            <a:ext cx="377400" cy="5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97"/>
              <a:buNone/>
              <a:defRPr sz="109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본문">
  <p:cSld name="2_본문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fb2e44b770_1_8860"/>
          <p:cNvSpPr/>
          <p:nvPr/>
        </p:nvSpPr>
        <p:spPr>
          <a:xfrm>
            <a:off x="0" y="0"/>
            <a:ext cx="6858000" cy="8169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g3fb2e44b770_1_8860"/>
          <p:cNvSpPr/>
          <p:nvPr/>
        </p:nvSpPr>
        <p:spPr>
          <a:xfrm>
            <a:off x="56168" y="2"/>
            <a:ext cx="292083" cy="832296"/>
          </a:xfrm>
          <a:custGeom>
            <a:avLst/>
            <a:gdLst/>
            <a:ahLst/>
            <a:cxnLst/>
            <a:rect l="l" t="t" r="r" b="b"/>
            <a:pathLst>
              <a:path w="545949" h="647701" extrusionOk="0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C0C0C">
              <a:alpha val="588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g3fb2e44b770_1_8860"/>
          <p:cNvSpPr/>
          <p:nvPr/>
        </p:nvSpPr>
        <p:spPr>
          <a:xfrm>
            <a:off x="0" y="0"/>
            <a:ext cx="318015" cy="906781"/>
          </a:xfrm>
          <a:custGeom>
            <a:avLst/>
            <a:gdLst/>
            <a:ahLst/>
            <a:cxnLst/>
            <a:rect l="l" t="t" r="r" b="b"/>
            <a:pathLst>
              <a:path w="545949" h="647701" extrusionOk="0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g3fb2e44b770_1_8860"/>
          <p:cNvSpPr/>
          <p:nvPr/>
        </p:nvSpPr>
        <p:spPr>
          <a:xfrm>
            <a:off x="-1749" y="0"/>
            <a:ext cx="282529" cy="846869"/>
          </a:xfrm>
          <a:custGeom>
            <a:avLst/>
            <a:gdLst/>
            <a:ahLst/>
            <a:cxnLst/>
            <a:rect l="l" t="t" r="r" b="b"/>
            <a:pathLst>
              <a:path w="545949" h="647701" extrusionOk="0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g3fb2e44b770_1_8860"/>
          <p:cNvSpPr txBox="1">
            <a:spLocks noGrp="1"/>
          </p:cNvSpPr>
          <p:nvPr>
            <p:ph type="body" idx="1"/>
          </p:nvPr>
        </p:nvSpPr>
        <p:spPr>
          <a:xfrm>
            <a:off x="317897" y="271413"/>
            <a:ext cx="5635500" cy="2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71616"/>
              </a:buClr>
              <a:buSzPts val="823"/>
              <a:buNone/>
              <a:defRPr sz="823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23"/>
              <a:buNone/>
              <a:defRPr sz="823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23"/>
              <a:buNone/>
              <a:defRPr sz="823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6" name="Google Shape;356;g3fb2e44b770_1_8860"/>
          <p:cNvSpPr/>
          <p:nvPr/>
        </p:nvSpPr>
        <p:spPr>
          <a:xfrm>
            <a:off x="244812" y="2693909"/>
            <a:ext cx="3125400" cy="66342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241300" dist="38100" dir="5400000" algn="t" rotWithShape="0">
              <a:srgbClr val="9DCCDF">
                <a:alpha val="1608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g3fb2e44b770_1_8860"/>
          <p:cNvSpPr/>
          <p:nvPr/>
        </p:nvSpPr>
        <p:spPr>
          <a:xfrm>
            <a:off x="3487937" y="2693909"/>
            <a:ext cx="3125400" cy="66342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241300" dist="38100" dir="5400000" algn="t" rotWithShape="0">
              <a:srgbClr val="9DCCDF">
                <a:alpha val="1608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본문">
  <p:cSld name="4_본문"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fb2e44b770_1_8869"/>
          <p:cNvSpPr/>
          <p:nvPr/>
        </p:nvSpPr>
        <p:spPr>
          <a:xfrm>
            <a:off x="0" y="0"/>
            <a:ext cx="6858000" cy="8169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g3fb2e44b770_1_8869"/>
          <p:cNvSpPr/>
          <p:nvPr/>
        </p:nvSpPr>
        <p:spPr>
          <a:xfrm>
            <a:off x="56168" y="2"/>
            <a:ext cx="292083" cy="832296"/>
          </a:xfrm>
          <a:custGeom>
            <a:avLst/>
            <a:gdLst/>
            <a:ahLst/>
            <a:cxnLst/>
            <a:rect l="l" t="t" r="r" b="b"/>
            <a:pathLst>
              <a:path w="545949" h="647701" extrusionOk="0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C0C0C">
              <a:alpha val="588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g3fb2e44b770_1_8869"/>
          <p:cNvSpPr/>
          <p:nvPr/>
        </p:nvSpPr>
        <p:spPr>
          <a:xfrm>
            <a:off x="0" y="0"/>
            <a:ext cx="318015" cy="906781"/>
          </a:xfrm>
          <a:custGeom>
            <a:avLst/>
            <a:gdLst/>
            <a:ahLst/>
            <a:cxnLst/>
            <a:rect l="l" t="t" r="r" b="b"/>
            <a:pathLst>
              <a:path w="545949" h="647701" extrusionOk="0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g3fb2e44b770_1_8869"/>
          <p:cNvSpPr/>
          <p:nvPr/>
        </p:nvSpPr>
        <p:spPr>
          <a:xfrm>
            <a:off x="-1749" y="0"/>
            <a:ext cx="282529" cy="846869"/>
          </a:xfrm>
          <a:custGeom>
            <a:avLst/>
            <a:gdLst/>
            <a:ahLst/>
            <a:cxnLst/>
            <a:rect l="l" t="t" r="r" b="b"/>
            <a:pathLst>
              <a:path w="545949" h="647701" extrusionOk="0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g3fb2e44b770_1_8869"/>
          <p:cNvSpPr txBox="1">
            <a:spLocks noGrp="1"/>
          </p:cNvSpPr>
          <p:nvPr>
            <p:ph type="body" idx="1"/>
          </p:nvPr>
        </p:nvSpPr>
        <p:spPr>
          <a:xfrm>
            <a:off x="317897" y="271413"/>
            <a:ext cx="5635500" cy="2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71616"/>
              </a:buClr>
              <a:buSzPts val="823"/>
              <a:buNone/>
              <a:defRPr sz="823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23"/>
              <a:buNone/>
              <a:defRPr sz="823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23"/>
              <a:buNone/>
              <a:defRPr sz="823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5" name="Google Shape;365;g3fb2e44b770_1_8869"/>
          <p:cNvSpPr/>
          <p:nvPr/>
        </p:nvSpPr>
        <p:spPr>
          <a:xfrm>
            <a:off x="244810" y="2693909"/>
            <a:ext cx="6368400" cy="66342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241300" dist="38100" dir="5400000" algn="t" rotWithShape="0">
              <a:srgbClr val="9DCCDF">
                <a:alpha val="1608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본문">
  <p:cSld name="3_본문"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fb2e44b770_1_8877"/>
          <p:cNvSpPr/>
          <p:nvPr/>
        </p:nvSpPr>
        <p:spPr>
          <a:xfrm>
            <a:off x="0" y="0"/>
            <a:ext cx="6858000" cy="8169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g3fb2e44b770_1_8877"/>
          <p:cNvSpPr/>
          <p:nvPr/>
        </p:nvSpPr>
        <p:spPr>
          <a:xfrm>
            <a:off x="56168" y="2"/>
            <a:ext cx="292083" cy="832296"/>
          </a:xfrm>
          <a:custGeom>
            <a:avLst/>
            <a:gdLst/>
            <a:ahLst/>
            <a:cxnLst/>
            <a:rect l="l" t="t" r="r" b="b"/>
            <a:pathLst>
              <a:path w="545949" h="647701" extrusionOk="0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C0C0C">
              <a:alpha val="588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g3fb2e44b770_1_8877"/>
          <p:cNvSpPr/>
          <p:nvPr/>
        </p:nvSpPr>
        <p:spPr>
          <a:xfrm>
            <a:off x="0" y="0"/>
            <a:ext cx="318015" cy="906781"/>
          </a:xfrm>
          <a:custGeom>
            <a:avLst/>
            <a:gdLst/>
            <a:ahLst/>
            <a:cxnLst/>
            <a:rect l="l" t="t" r="r" b="b"/>
            <a:pathLst>
              <a:path w="545949" h="647701" extrusionOk="0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g3fb2e44b770_1_8877"/>
          <p:cNvSpPr/>
          <p:nvPr/>
        </p:nvSpPr>
        <p:spPr>
          <a:xfrm>
            <a:off x="-1749" y="0"/>
            <a:ext cx="282529" cy="846869"/>
          </a:xfrm>
          <a:custGeom>
            <a:avLst/>
            <a:gdLst/>
            <a:ahLst/>
            <a:cxnLst/>
            <a:rect l="l" t="t" r="r" b="b"/>
            <a:pathLst>
              <a:path w="545949" h="647701" extrusionOk="0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g3fb2e44b770_1_8877"/>
          <p:cNvSpPr txBox="1">
            <a:spLocks noGrp="1"/>
          </p:cNvSpPr>
          <p:nvPr>
            <p:ph type="body" idx="1"/>
          </p:nvPr>
        </p:nvSpPr>
        <p:spPr>
          <a:xfrm>
            <a:off x="317897" y="271413"/>
            <a:ext cx="5635500" cy="2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71616"/>
              </a:buClr>
              <a:buSzPts val="823"/>
              <a:buNone/>
              <a:defRPr sz="823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23"/>
              <a:buNone/>
              <a:defRPr sz="823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23"/>
              <a:buNone/>
              <a:defRPr sz="823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3" name="Google Shape;373;g3fb2e44b770_1_8877"/>
          <p:cNvSpPr/>
          <p:nvPr/>
        </p:nvSpPr>
        <p:spPr>
          <a:xfrm>
            <a:off x="244811" y="2693909"/>
            <a:ext cx="1989000" cy="66342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241300" dist="38100" dir="5400000" algn="t" rotWithShape="0">
              <a:srgbClr val="9DCCDF">
                <a:alpha val="1608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g3fb2e44b770_1_8877"/>
          <p:cNvSpPr/>
          <p:nvPr/>
        </p:nvSpPr>
        <p:spPr>
          <a:xfrm>
            <a:off x="4624058" y="2693909"/>
            <a:ext cx="1989000" cy="66342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241300" dist="38100" dir="5400000" algn="t" rotWithShape="0">
              <a:srgbClr val="9DCCDF">
                <a:alpha val="1608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g3fb2e44b770_1_8877"/>
          <p:cNvSpPr/>
          <p:nvPr/>
        </p:nvSpPr>
        <p:spPr>
          <a:xfrm>
            <a:off x="2434435" y="2693909"/>
            <a:ext cx="1989000" cy="66342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241300" dist="38100" dir="5400000" algn="t" rotWithShape="0">
              <a:srgbClr val="9DCCDF">
                <a:alpha val="1608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빈화면">
  <p:cSld name="1_빈화면"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fb2e44b770_1_8887"/>
          <p:cNvSpPr txBox="1"/>
          <p:nvPr/>
        </p:nvSpPr>
        <p:spPr>
          <a:xfrm flipH="1">
            <a:off x="489769" y="1285390"/>
            <a:ext cx="2125200" cy="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731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템인트 프레젠테이션 템플릿 저작권</a:t>
            </a:r>
            <a:endParaRPr sz="731">
              <a:solidFill>
                <a:srgbClr val="3A38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g3fb2e44b770_1_8887"/>
          <p:cNvSpPr txBox="1"/>
          <p:nvPr/>
        </p:nvSpPr>
        <p:spPr>
          <a:xfrm flipH="1">
            <a:off x="489752" y="2089168"/>
            <a:ext cx="57471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548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본 템플릿에 제공되는 디자인 재산권은 템인트(quiethee8) 이 소유하고 있습니다.</a:t>
            </a:r>
            <a:endParaRPr/>
          </a:p>
          <a:p>
            <a:pPr marL="0" marR="0" lvl="0" indent="0" algn="l" rtl="0">
              <a:lnSpc>
                <a:spcPct val="130000"/>
              </a:lnSpc>
              <a:spcBef>
                <a:spcPts val="275"/>
              </a:spcBef>
              <a:spcAft>
                <a:spcPts val="0"/>
              </a:spcAft>
              <a:buNone/>
            </a:pPr>
            <a:r>
              <a:rPr lang="ko-KR" sz="548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어떠한 경우에도 템인트 템플릿 및 디자인을 유료로 복제, 판매하는 것은 금지하며, 재배포를 금지합니다. </a:t>
            </a:r>
            <a:br>
              <a:rPr lang="ko-KR" sz="548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sz="548">
                <a:solidFill>
                  <a:srgbClr val="262A61"/>
                </a:solidFill>
                <a:latin typeface="Arial"/>
                <a:ea typeface="Arial"/>
                <a:cs typeface="Arial"/>
                <a:sym typeface="Arial"/>
              </a:rPr>
              <a:t>본 프레젠테이션은 비영리, 비상업적인 목적으로만 사용 가능합니다. 또한 홍보 목적이 아닌 내부 자료로는 사용 가능합니다.</a:t>
            </a:r>
            <a:br>
              <a:rPr lang="ko-KR" sz="548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sz="548">
                <a:solidFill>
                  <a:srgbClr val="262A61"/>
                </a:solidFill>
                <a:latin typeface="Arial"/>
                <a:ea typeface="Arial"/>
                <a:cs typeface="Arial"/>
                <a:sym typeface="Arial"/>
              </a:rPr>
              <a:t>상업적, 영리적, 홍보목적인 경우에는 구매 후 사용 가능합니다. 상업적, 영리목적일 시에는 블로그 혹은 메일로 연락 주시길 바랍니다.</a:t>
            </a:r>
            <a:endParaRPr/>
          </a:p>
          <a:p>
            <a:pPr marL="0" marR="0" lvl="0" indent="0" algn="l" rtl="0">
              <a:lnSpc>
                <a:spcPct val="130000"/>
              </a:lnSpc>
              <a:spcBef>
                <a:spcPts val="275"/>
              </a:spcBef>
              <a:spcAft>
                <a:spcPts val="0"/>
              </a:spcAft>
              <a:buNone/>
            </a:pPr>
            <a:r>
              <a:rPr lang="ko-KR" sz="548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이는 다운받는 블로그에도 기재되어 있으며 다운받고 사용시에 동의한 것으로 간주합니다. </a:t>
            </a:r>
            <a:endParaRPr/>
          </a:p>
        </p:txBody>
      </p:sp>
      <p:graphicFrame>
        <p:nvGraphicFramePr>
          <p:cNvPr id="380" name="Google Shape;380;g3fb2e44b770_1_8887"/>
          <p:cNvGraphicFramePr/>
          <p:nvPr/>
        </p:nvGraphicFramePr>
        <p:xfrm>
          <a:off x="489705" y="461525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{A65C353C-D88D-4590-9C8D-17DC0CB4FA02}</a:tableStyleId>
              </a:tblPr>
              <a:tblGrid>
                <a:gridCol w="63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2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7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분류</a:t>
                      </a:r>
                      <a:endParaRPr/>
                    </a:p>
                  </a:txBody>
                  <a:tcPr marL="51425" marR="51425" marT="66050" marB="66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허용범위</a:t>
                      </a:r>
                      <a:endParaRPr/>
                    </a:p>
                  </a:txBody>
                  <a:tcPr marL="51425" marR="51425" marT="66050" marB="66050" anchor="ctr">
                    <a:lnL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사용금지(예시)</a:t>
                      </a:r>
                      <a:endParaRPr sz="170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1425" marR="51425" marT="66050" marB="66050" anchor="ctr">
                    <a:lnL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DCC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7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학생</a:t>
                      </a:r>
                      <a:endParaRPr/>
                    </a:p>
                  </a:txBody>
                  <a:tcPr marL="51425" marR="51425" marT="66050" marB="66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학교 과제, 학교 내부 발표용</a:t>
                      </a:r>
                      <a:endParaRPr/>
                    </a:p>
                  </a:txBody>
                  <a:tcPr marL="51425" marR="51425" marT="66050" marB="66050" anchor="ctr">
                    <a:lnL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공모전 출품 금지[문의가능]</a:t>
                      </a:r>
                      <a:endParaRPr sz="170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1425" marR="51425" marT="66050" marB="66050" anchor="ctr">
                    <a:lnL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21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기업</a:t>
                      </a:r>
                      <a:endParaRPr/>
                    </a:p>
                  </a:txBody>
                  <a:tcPr marL="51425" marR="51425" marT="66050" marB="66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내부자료, 보안용 자료</a:t>
                      </a:r>
                      <a:endParaRPr/>
                    </a:p>
                  </a:txBody>
                  <a:tcPr marL="51425" marR="51425" marT="66050" marB="66050" anchor="ctr">
                    <a:lnL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대외용 발표, 방송, 행사, 프로모션 등의 홍보자료 사용 금지</a:t>
                      </a:r>
                      <a:endParaRPr/>
                    </a:p>
                  </a:txBody>
                  <a:tcPr marL="51425" marR="51425" marT="66050" marB="66050" anchor="ctr">
                    <a:lnL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학교</a:t>
                      </a:r>
                      <a:endParaRPr/>
                    </a:p>
                  </a:txBody>
                  <a:tcPr marL="51425" marR="51425" marT="66050" marB="66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학교 내부 강의자료</a:t>
                      </a:r>
                      <a:endParaRPr/>
                    </a:p>
                  </a:txBody>
                  <a:tcPr marL="51425" marR="51425" marT="66050" marB="66050" anchor="ctr">
                    <a:lnL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대외용 발표 자료 및 강의자료 </a:t>
                      </a:r>
                      <a:endParaRPr/>
                    </a:p>
                  </a:txBody>
                  <a:tcPr marL="51425" marR="51425" marT="66050" marB="66050" anchor="ctr">
                    <a:lnL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7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기업</a:t>
                      </a:r>
                      <a:endParaRPr/>
                    </a:p>
                  </a:txBody>
                  <a:tcPr marL="51425" marR="51425" marT="66050" marB="66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내부자료, 보안용 자료</a:t>
                      </a:r>
                      <a:endParaRPr/>
                    </a:p>
                  </a:txBody>
                  <a:tcPr marL="51425" marR="51425" marT="66050" marB="66050" anchor="ctr">
                    <a:lnL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대외용 발표, 방송, 행사, 프로모션 등 사용 금지</a:t>
                      </a:r>
                      <a:endParaRPr/>
                    </a:p>
                  </a:txBody>
                  <a:tcPr marL="51425" marR="51425" marT="66050" marB="66050" anchor="ctr">
                    <a:lnL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7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기타</a:t>
                      </a:r>
                      <a:endParaRPr/>
                    </a:p>
                  </a:txBody>
                  <a:tcPr marL="51425" marR="51425" marT="66050" marB="66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기타 사용 부분에는 문의 바랍니다</a:t>
                      </a:r>
                      <a:endParaRPr/>
                    </a:p>
                  </a:txBody>
                  <a:tcPr marL="51425" marR="51425" marT="66050" marB="66050" anchor="ctr">
                    <a:lnL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ADB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본문">
  <p:cSld name="1_본문 (g3fb1dc67910_80_0)"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fb2e44b770_1_8891"/>
          <p:cNvSpPr txBox="1">
            <a:spLocks noGrp="1"/>
          </p:cNvSpPr>
          <p:nvPr>
            <p:ph type="body" idx="1"/>
          </p:nvPr>
        </p:nvSpPr>
        <p:spPr>
          <a:xfrm>
            <a:off x="323850" y="257983"/>
            <a:ext cx="5318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71616"/>
              </a:buClr>
              <a:buSzPts val="1600"/>
              <a:buNone/>
              <a:defRPr sz="160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23"/>
              <a:buNone/>
              <a:defRPr sz="823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23"/>
              <a:buNone/>
              <a:defRPr sz="823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본문 1">
  <p:cSld name="1_본문 (g3f9f6cb7583_104_0)"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fb2e44b770_1_8893"/>
          <p:cNvSpPr txBox="1">
            <a:spLocks noGrp="1"/>
          </p:cNvSpPr>
          <p:nvPr>
            <p:ph type="body" idx="1"/>
          </p:nvPr>
        </p:nvSpPr>
        <p:spPr>
          <a:xfrm>
            <a:off x="323850" y="257983"/>
            <a:ext cx="5318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71616"/>
              </a:buClr>
              <a:buSzPts val="1600"/>
              <a:buNone/>
              <a:defRPr sz="160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23"/>
              <a:buNone/>
              <a:defRPr sz="823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23"/>
              <a:buNone/>
              <a:defRPr sz="823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본문 1 1">
  <p:cSld name="1_본문 (g3fb1aaea0f1_55_0)"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fb2e44b770_1_8895"/>
          <p:cNvSpPr txBox="1">
            <a:spLocks noGrp="1"/>
          </p:cNvSpPr>
          <p:nvPr>
            <p:ph type="body" idx="1"/>
          </p:nvPr>
        </p:nvSpPr>
        <p:spPr>
          <a:xfrm>
            <a:off x="323850" y="257983"/>
            <a:ext cx="5318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71616"/>
              </a:buClr>
              <a:buSzPts val="1600"/>
              <a:buNone/>
              <a:defRPr sz="160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23"/>
              <a:buNone/>
              <a:defRPr sz="823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23"/>
              <a:buNone/>
              <a:defRPr sz="823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본문 1 1 1">
  <p:cSld name="1_본문 (g3fb1aaea0f1_47_0)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fb2e44b770_1_8897"/>
          <p:cNvSpPr txBox="1">
            <a:spLocks noGrp="1"/>
          </p:cNvSpPr>
          <p:nvPr>
            <p:ph type="body" idx="1"/>
          </p:nvPr>
        </p:nvSpPr>
        <p:spPr>
          <a:xfrm>
            <a:off x="323850" y="257983"/>
            <a:ext cx="5318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71616"/>
              </a:buClr>
              <a:buSzPts val="1600"/>
              <a:buNone/>
              <a:defRPr sz="160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23"/>
              <a:buNone/>
              <a:defRPr sz="823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23"/>
              <a:buNone/>
              <a:defRPr sz="823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본문 1 1 1 1">
  <p:cSld name="1_본문 (g3fb1aaea0f1_12_0)"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fb2e44b770_1_8899"/>
          <p:cNvSpPr txBox="1">
            <a:spLocks noGrp="1"/>
          </p:cNvSpPr>
          <p:nvPr>
            <p:ph type="body" idx="1"/>
          </p:nvPr>
        </p:nvSpPr>
        <p:spPr>
          <a:xfrm>
            <a:off x="323850" y="257983"/>
            <a:ext cx="5318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71616"/>
              </a:buClr>
              <a:buSzPts val="1600"/>
              <a:buNone/>
              <a:defRPr sz="160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23"/>
              <a:buNone/>
              <a:defRPr sz="823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23"/>
              <a:buNone/>
              <a:defRPr sz="823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본문 1 1 1 1 1">
  <p:cSld name="1_본문 (g3fb1aaea0f1_15_0)"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fb2e44b770_1_8901"/>
          <p:cNvSpPr txBox="1">
            <a:spLocks noGrp="1"/>
          </p:cNvSpPr>
          <p:nvPr>
            <p:ph type="body" idx="1"/>
          </p:nvPr>
        </p:nvSpPr>
        <p:spPr>
          <a:xfrm>
            <a:off x="323850" y="257983"/>
            <a:ext cx="5318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71616"/>
              </a:buClr>
              <a:buSzPts val="1600"/>
              <a:buNone/>
              <a:defRPr sz="160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23"/>
              <a:buNone/>
              <a:defRPr sz="823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23"/>
              <a:buNone/>
              <a:defRPr sz="823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본문 1 1 1 1 1 1">
  <p:cSld name="1_본문 (g3fb198ec776_271_0)"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fb2e44b770_1_8903"/>
          <p:cNvSpPr txBox="1">
            <a:spLocks noGrp="1"/>
          </p:cNvSpPr>
          <p:nvPr>
            <p:ph type="body" idx="1"/>
          </p:nvPr>
        </p:nvSpPr>
        <p:spPr>
          <a:xfrm>
            <a:off x="323850" y="257983"/>
            <a:ext cx="5318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71616"/>
              </a:buClr>
              <a:buSzPts val="1600"/>
              <a:buNone/>
              <a:defRPr sz="160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23"/>
              <a:buNone/>
              <a:defRPr sz="823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23"/>
              <a:buNone/>
              <a:defRPr sz="823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본문 1 1 1 1 1 1 1">
  <p:cSld name="1_본문 (g3fb198ec776_268_0)"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fb2e44b770_1_8905"/>
          <p:cNvSpPr txBox="1">
            <a:spLocks noGrp="1"/>
          </p:cNvSpPr>
          <p:nvPr>
            <p:ph type="body" idx="1"/>
          </p:nvPr>
        </p:nvSpPr>
        <p:spPr>
          <a:xfrm>
            <a:off x="323850" y="257983"/>
            <a:ext cx="5318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71616"/>
              </a:buClr>
              <a:buSzPts val="1600"/>
              <a:buNone/>
              <a:defRPr sz="160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23"/>
              <a:buNone/>
              <a:defRPr sz="823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23"/>
              <a:buNone/>
              <a:defRPr sz="823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본문 1 1 1 1 1 1 1 1">
  <p:cSld name="1_본문 (g3fb198ec776_238_0)"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fb2e44b770_1_8907"/>
          <p:cNvSpPr txBox="1">
            <a:spLocks noGrp="1"/>
          </p:cNvSpPr>
          <p:nvPr>
            <p:ph type="body" idx="1"/>
          </p:nvPr>
        </p:nvSpPr>
        <p:spPr>
          <a:xfrm>
            <a:off x="323850" y="257983"/>
            <a:ext cx="5318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71616"/>
              </a:buClr>
              <a:buSzPts val="1600"/>
              <a:buNone/>
              <a:defRPr sz="160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23"/>
              <a:buNone/>
              <a:defRPr sz="823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23"/>
              <a:buNone/>
              <a:defRPr sz="823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본문 1 1 1 1 1 1 1 1 1">
  <p:cSld name="1_본문 (g3fb198ec776_64_0)"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fb2e44b770_1_8909"/>
          <p:cNvSpPr txBox="1">
            <a:spLocks noGrp="1"/>
          </p:cNvSpPr>
          <p:nvPr>
            <p:ph type="body" idx="1"/>
          </p:nvPr>
        </p:nvSpPr>
        <p:spPr>
          <a:xfrm>
            <a:off x="323850" y="257983"/>
            <a:ext cx="5318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71616"/>
              </a:buClr>
              <a:buSzPts val="1600"/>
              <a:buNone/>
              <a:defRPr sz="160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23"/>
              <a:buNone/>
              <a:defRPr sz="823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23"/>
              <a:buNone/>
              <a:defRPr sz="823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fb2e44b770_1_8911"/>
          <p:cNvSpPr txBox="1">
            <a:spLocks noGrp="1"/>
          </p:cNvSpPr>
          <p:nvPr>
            <p:ph type="title"/>
          </p:nvPr>
        </p:nvSpPr>
        <p:spPr>
          <a:xfrm>
            <a:off x="233775" y="857085"/>
            <a:ext cx="6390300" cy="1102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g3fb2e44b770_1_8911"/>
          <p:cNvSpPr txBox="1">
            <a:spLocks noGrp="1"/>
          </p:cNvSpPr>
          <p:nvPr>
            <p:ph type="body" idx="1"/>
          </p:nvPr>
        </p:nvSpPr>
        <p:spPr>
          <a:xfrm>
            <a:off x="233775" y="2219581"/>
            <a:ext cx="6390300" cy="6579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1950">
              <a:spcBef>
                <a:spcPts val="75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42900"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23850">
              <a:spcBef>
                <a:spcPts val="375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lvl="3" indent="-314325">
              <a:spcBef>
                <a:spcPts val="375"/>
              </a:spcBef>
              <a:spcAft>
                <a:spcPts val="0"/>
              </a:spcAft>
              <a:buSzPts val="1350"/>
              <a:buChar char="•"/>
              <a:defRPr/>
            </a:lvl4pPr>
            <a:lvl5pPr marL="2286000" lvl="4" indent="-314325">
              <a:spcBef>
                <a:spcPts val="375"/>
              </a:spcBef>
              <a:spcAft>
                <a:spcPts val="0"/>
              </a:spcAft>
              <a:buSzPts val="1350"/>
              <a:buChar char="•"/>
              <a:defRPr/>
            </a:lvl5pPr>
            <a:lvl6pPr marL="2743200" lvl="5" indent="-314325">
              <a:spcBef>
                <a:spcPts val="375"/>
              </a:spcBef>
              <a:spcAft>
                <a:spcPts val="0"/>
              </a:spcAft>
              <a:buSzPts val="1350"/>
              <a:buChar char="•"/>
              <a:defRPr/>
            </a:lvl6pPr>
            <a:lvl7pPr marL="3200400" lvl="6" indent="-314325">
              <a:spcBef>
                <a:spcPts val="375"/>
              </a:spcBef>
              <a:spcAft>
                <a:spcPts val="0"/>
              </a:spcAft>
              <a:buSzPts val="1350"/>
              <a:buChar char="•"/>
              <a:defRPr/>
            </a:lvl7pPr>
            <a:lvl8pPr marL="3657600" lvl="7" indent="-314325">
              <a:spcBef>
                <a:spcPts val="375"/>
              </a:spcBef>
              <a:spcAft>
                <a:spcPts val="0"/>
              </a:spcAft>
              <a:buSzPts val="1350"/>
              <a:buChar char="•"/>
              <a:defRPr/>
            </a:lvl8pPr>
            <a:lvl9pPr marL="4114800" lvl="8" indent="-314325">
              <a:spcBef>
                <a:spcPts val="375"/>
              </a:spcBef>
              <a:spcAft>
                <a:spcPts val="0"/>
              </a:spcAft>
              <a:buSzPts val="135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본문 2">
  <p:cSld name="1_본문 (g3fb198ec776_116_0)"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fb2e44b770_1_8915"/>
          <p:cNvSpPr txBox="1">
            <a:spLocks noGrp="1"/>
          </p:cNvSpPr>
          <p:nvPr>
            <p:ph type="body" idx="1"/>
          </p:nvPr>
        </p:nvSpPr>
        <p:spPr>
          <a:xfrm>
            <a:off x="323850" y="257983"/>
            <a:ext cx="5318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71616"/>
              </a:buClr>
              <a:buSzPts val="1600"/>
              <a:buNone/>
              <a:defRPr sz="160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23"/>
              <a:buNone/>
              <a:defRPr sz="823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23"/>
              <a:buNone/>
              <a:defRPr sz="823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본문 3">
  <p:cSld name="1_본문 (g3fb198ec776_252_0)"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fb2e44b770_1_8917"/>
          <p:cNvSpPr txBox="1">
            <a:spLocks noGrp="1"/>
          </p:cNvSpPr>
          <p:nvPr>
            <p:ph type="body" idx="1"/>
          </p:nvPr>
        </p:nvSpPr>
        <p:spPr>
          <a:xfrm>
            <a:off x="323850" y="257983"/>
            <a:ext cx="5318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71616"/>
              </a:buClr>
              <a:buSzPts val="1600"/>
              <a:buNone/>
              <a:defRPr sz="160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23"/>
              <a:buNone/>
              <a:defRPr sz="823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23"/>
              <a:buNone/>
              <a:defRPr sz="823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본문 4">
  <p:cSld name="1_본문 (g3f9f6cb7583_161_0)"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fb2e44b770_1_8919"/>
          <p:cNvSpPr txBox="1">
            <a:spLocks noGrp="1"/>
          </p:cNvSpPr>
          <p:nvPr>
            <p:ph type="body" idx="1"/>
          </p:nvPr>
        </p:nvSpPr>
        <p:spPr>
          <a:xfrm>
            <a:off x="323850" y="257983"/>
            <a:ext cx="5318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71616"/>
              </a:buClr>
              <a:buSzPts val="1600"/>
              <a:buNone/>
              <a:defRPr sz="160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23"/>
              <a:buNone/>
              <a:defRPr sz="823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23"/>
              <a:buNone/>
              <a:defRPr sz="823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본문 5">
  <p:cSld name="1_본문 (g3f9f6cb7583_280_0)"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fb2e44b770_1_8921"/>
          <p:cNvSpPr txBox="1">
            <a:spLocks noGrp="1"/>
          </p:cNvSpPr>
          <p:nvPr>
            <p:ph type="body" idx="1"/>
          </p:nvPr>
        </p:nvSpPr>
        <p:spPr>
          <a:xfrm>
            <a:off x="323850" y="257983"/>
            <a:ext cx="5318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71616"/>
              </a:buClr>
              <a:buSzPts val="1600"/>
              <a:buNone/>
              <a:defRPr sz="160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23"/>
              <a:buNone/>
              <a:defRPr sz="823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23"/>
              <a:buNone/>
              <a:defRPr sz="823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18" Type="http://schemas.openxmlformats.org/officeDocument/2006/relationships/slideLayout" Target="../slideLayouts/slideLayout46.xml"/><Relationship Id="rId3" Type="http://schemas.openxmlformats.org/officeDocument/2006/relationships/slideLayout" Target="../slideLayouts/slideLayout31.xml"/><Relationship Id="rId21" Type="http://schemas.openxmlformats.org/officeDocument/2006/relationships/slideLayout" Target="../slideLayouts/slideLayout49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44.xml"/><Relationship Id="rId20" Type="http://schemas.openxmlformats.org/officeDocument/2006/relationships/slideLayout" Target="../slideLayouts/slideLayout48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24" Type="http://schemas.openxmlformats.org/officeDocument/2006/relationships/theme" Target="../theme/theme2.xml"/><Relationship Id="rId5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43.xml"/><Relationship Id="rId23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47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Relationship Id="rId22" Type="http://schemas.openxmlformats.org/officeDocument/2006/relationships/slideLayout" Target="../slideLayouts/slideLayout50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4.xml"/><Relationship Id="rId18" Type="http://schemas.openxmlformats.org/officeDocument/2006/relationships/slideLayout" Target="../slideLayouts/slideLayout69.xml"/><Relationship Id="rId26" Type="http://schemas.openxmlformats.org/officeDocument/2006/relationships/slideLayout" Target="../slideLayouts/slideLayout77.xml"/><Relationship Id="rId21" Type="http://schemas.openxmlformats.org/officeDocument/2006/relationships/slideLayout" Target="../slideLayouts/slideLayout72.xml"/><Relationship Id="rId34" Type="http://schemas.openxmlformats.org/officeDocument/2006/relationships/slideLayout" Target="../slideLayouts/slideLayout85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17" Type="http://schemas.openxmlformats.org/officeDocument/2006/relationships/slideLayout" Target="../slideLayouts/slideLayout68.xml"/><Relationship Id="rId25" Type="http://schemas.openxmlformats.org/officeDocument/2006/relationships/slideLayout" Target="../slideLayouts/slideLayout76.xml"/><Relationship Id="rId33" Type="http://schemas.openxmlformats.org/officeDocument/2006/relationships/slideLayout" Target="../slideLayouts/slideLayout84.xml"/><Relationship Id="rId2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71.xml"/><Relationship Id="rId29" Type="http://schemas.openxmlformats.org/officeDocument/2006/relationships/slideLayout" Target="../slideLayouts/slideLayout80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24" Type="http://schemas.openxmlformats.org/officeDocument/2006/relationships/slideLayout" Target="../slideLayouts/slideLayout75.xml"/><Relationship Id="rId32" Type="http://schemas.openxmlformats.org/officeDocument/2006/relationships/slideLayout" Target="../slideLayouts/slideLayout83.xml"/><Relationship Id="rId37" Type="http://schemas.openxmlformats.org/officeDocument/2006/relationships/theme" Target="../theme/theme3.xml"/><Relationship Id="rId5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66.xml"/><Relationship Id="rId23" Type="http://schemas.openxmlformats.org/officeDocument/2006/relationships/slideLayout" Target="../slideLayouts/slideLayout74.xml"/><Relationship Id="rId28" Type="http://schemas.openxmlformats.org/officeDocument/2006/relationships/slideLayout" Target="../slideLayouts/slideLayout79.xml"/><Relationship Id="rId36" Type="http://schemas.openxmlformats.org/officeDocument/2006/relationships/slideLayout" Target="../slideLayouts/slideLayout87.xml"/><Relationship Id="rId10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70.xml"/><Relationship Id="rId31" Type="http://schemas.openxmlformats.org/officeDocument/2006/relationships/slideLayout" Target="../slideLayouts/slideLayout82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5.xml"/><Relationship Id="rId22" Type="http://schemas.openxmlformats.org/officeDocument/2006/relationships/slideLayout" Target="../slideLayouts/slideLayout73.xml"/><Relationship Id="rId27" Type="http://schemas.openxmlformats.org/officeDocument/2006/relationships/slideLayout" Target="../slideLayouts/slideLayout78.xml"/><Relationship Id="rId30" Type="http://schemas.openxmlformats.org/officeDocument/2006/relationships/slideLayout" Target="../slideLayouts/slideLayout81.xml"/><Relationship Id="rId35" Type="http://schemas.openxmlformats.org/officeDocument/2006/relationships/slideLayout" Target="../slideLayouts/slideLayout86.xml"/><Relationship Id="rId8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9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9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9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9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99900" r:id="rId22"/>
    <p:sldLayoutId id="2147499901" r:id="rId23"/>
    <p:sldLayoutId id="2147499902" r:id="rId24"/>
    <p:sldLayoutId id="2147499903" r:id="rId25"/>
    <p:sldLayoutId id="2147499904" r:id="rId26"/>
    <p:sldLayoutId id="2147499905" r:id="rId27"/>
    <p:sldLayoutId id="2147499908" r:id="rId2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9f6cb7583_143_0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5" name="Google Shape;135;g3f9f6cb7583_143_0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6" name="Google Shape;136;g3f9f6cb7583_143_0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7" name="Google Shape;137;g3f9f6cb7583_143_0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  <p:sldLayoutId id="2147483689" r:id="rId19"/>
    <p:sldLayoutId id="2147483690" r:id="rId20"/>
    <p:sldLayoutId id="2147483691" r:id="rId21"/>
    <p:sldLayoutId id="2147499906" r:id="rId22"/>
    <p:sldLayoutId id="2147499907" r:id="rId2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fb2e44b770_1_8767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100" cy="19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9" name="Google Shape;259;g3fb2e44b770_1_8767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100" cy="62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0" name="Google Shape;260;g3fb2e44b770_1_8767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2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1" name="Google Shape;261;g3fb2e44b770_1_8767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  <p:sldLayoutId id="2147483714" r:id="rId22"/>
    <p:sldLayoutId id="2147483715" r:id="rId23"/>
    <p:sldLayoutId id="2147483716" r:id="rId24"/>
    <p:sldLayoutId id="2147483717" r:id="rId25"/>
    <p:sldLayoutId id="2147483718" r:id="rId26"/>
    <p:sldLayoutId id="2147483719" r:id="rId27"/>
    <p:sldLayoutId id="2147483720" r:id="rId28"/>
    <p:sldLayoutId id="2147483721" r:id="rId29"/>
    <p:sldLayoutId id="2147483722" r:id="rId30"/>
    <p:sldLayoutId id="2147483723" r:id="rId31"/>
    <p:sldLayoutId id="2147483724" r:id="rId32"/>
    <p:sldLayoutId id="2147483725" r:id="rId33"/>
    <p:sldLayoutId id="2147483726" r:id="rId34"/>
    <p:sldLayoutId id="2147483727" r:id="rId35"/>
    <p:sldLayoutId id="2147483728" r:id="rId3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"/>
          <p:cNvSpPr txBox="1"/>
          <p:nvPr/>
        </p:nvSpPr>
        <p:spPr>
          <a:xfrm>
            <a:off x="1193800" y="1892299"/>
            <a:ext cx="4178300" cy="5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ts val="3200"/>
              </a:lnSpc>
            </a:pPr>
            <a:r>
              <a:rPr lang="ko-KR" altLang="en-US" sz="2400" b="1" i="0" u="none" strike="noStrike" cap="none">
                <a:solidFill>
                  <a:srgbClr val="0070C0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목차</a:t>
            </a:r>
            <a:endParaRPr sz="2400" b="1">
              <a:latin typeface="Arial" panose="020B0604020202020204" pitchFamily="34" charset="0"/>
            </a:endParaRPr>
          </a:p>
        </p:txBody>
      </p:sp>
      <p:sp>
        <p:nvSpPr>
          <p:cNvPr id="426" name="Google Shape;426;p2"/>
          <p:cNvSpPr txBox="1"/>
          <p:nvPr/>
        </p:nvSpPr>
        <p:spPr>
          <a:xfrm>
            <a:off x="1988693" y="2778782"/>
            <a:ext cx="302701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ts val="2200"/>
              </a:lnSpc>
            </a:pPr>
            <a:r>
              <a:rPr lang="ko-KR" altLang="en-US" sz="1600" b="1" u="none">
                <a:solidFill>
                  <a:schemeClr val="dk1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일반 현황</a:t>
            </a:r>
            <a:endParaRPr sz="1600" b="1">
              <a:latin typeface="Arial" panose="020B0604020202020204" pitchFamily="34" charset="0"/>
            </a:endParaRPr>
          </a:p>
        </p:txBody>
      </p:sp>
      <p:sp>
        <p:nvSpPr>
          <p:cNvPr id="427" name="Google Shape;427;p2"/>
          <p:cNvSpPr/>
          <p:nvPr/>
        </p:nvSpPr>
        <p:spPr>
          <a:xfrm>
            <a:off x="1193800" y="2671265"/>
            <a:ext cx="463836" cy="463836"/>
          </a:xfrm>
          <a:prstGeom prst="ellipse">
            <a:avLst/>
          </a:prstGeom>
          <a:gradFill>
            <a:gsLst>
              <a:gs pos="0">
                <a:srgbClr val="F5F7FC"/>
              </a:gs>
              <a:gs pos="100000">
                <a:srgbClr val="DDEAF6"/>
              </a:gs>
            </a:gsLst>
            <a:lin ang="10800000" scaled="0"/>
          </a:gradFill>
          <a:ln w="12700" cap="flat" cmpd="sng">
            <a:solidFill>
              <a:srgbClr val="00B0F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8" name="Google Shape;428;p2"/>
          <p:cNvCxnSpPr/>
          <p:nvPr/>
        </p:nvCxnSpPr>
        <p:spPr>
          <a:xfrm>
            <a:off x="1653413" y="2893304"/>
            <a:ext cx="179070" cy="0"/>
          </a:xfrm>
          <a:prstGeom prst="straightConnector1">
            <a:avLst/>
          </a:prstGeom>
          <a:noFill/>
          <a:ln w="9525" cap="flat" cmpd="sng">
            <a:solidFill>
              <a:srgbClr val="00B0F0"/>
            </a:solidFill>
            <a:prstDash val="solid"/>
            <a:miter lim="8000"/>
            <a:headEnd type="none" w="sm" len="sm"/>
            <a:tailEnd type="oval" w="med" len="med"/>
          </a:ln>
        </p:spPr>
      </p:cxnSp>
      <p:sp>
        <p:nvSpPr>
          <p:cNvPr id="429" name="Google Shape;429;p2"/>
          <p:cNvSpPr txBox="1"/>
          <p:nvPr/>
        </p:nvSpPr>
        <p:spPr>
          <a:xfrm>
            <a:off x="1222121" y="2673089"/>
            <a:ext cx="4191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ts val="2200"/>
              </a:lnSpc>
              <a:buClr>
                <a:schemeClr val="dk1"/>
              </a:buClr>
              <a:buSzPts val="2400"/>
            </a:pPr>
            <a:r>
              <a:rPr lang="en-US" altLang="ko-KR" sz="1600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1</a:t>
            </a:r>
            <a:endParaRPr sz="1600" b="1" i="0" u="none" strike="noStrike" cap="none">
              <a:solidFill>
                <a:schemeClr val="dk1"/>
              </a:solidFill>
              <a:latin typeface="Arial" panose="020B0604020202020204" pitchFamily="34" charset="0"/>
              <a:ea typeface="Arial"/>
              <a:cs typeface="Arial"/>
              <a:sym typeface="Arial"/>
            </a:endParaRPr>
          </a:p>
        </p:txBody>
      </p:sp>
      <p:cxnSp>
        <p:nvCxnSpPr>
          <p:cNvPr id="430" name="Google Shape;430;p2"/>
          <p:cNvCxnSpPr/>
          <p:nvPr/>
        </p:nvCxnSpPr>
        <p:spPr>
          <a:xfrm>
            <a:off x="1988693" y="3168946"/>
            <a:ext cx="2715863" cy="0"/>
          </a:xfrm>
          <a:prstGeom prst="straightConnector1">
            <a:avLst/>
          </a:prstGeom>
          <a:noFill/>
          <a:ln w="9525" cap="flat" cmpd="sng">
            <a:solidFill>
              <a:srgbClr val="F2F2F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431" name="Google Shape;431;p2"/>
          <p:cNvSpPr txBox="1"/>
          <p:nvPr/>
        </p:nvSpPr>
        <p:spPr>
          <a:xfrm>
            <a:off x="1988693" y="3474108"/>
            <a:ext cx="377024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ts val="2200"/>
              </a:lnSpc>
            </a:pPr>
            <a:r>
              <a:rPr lang="ko-KR" altLang="en-US" sz="1600" b="1" u="none">
                <a:solidFill>
                  <a:schemeClr val="dk1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전략 및 방법론</a:t>
            </a:r>
            <a:endParaRPr sz="1600" b="1">
              <a:latin typeface="Arial" panose="020B0604020202020204" pitchFamily="34" charset="0"/>
            </a:endParaRPr>
          </a:p>
        </p:txBody>
      </p:sp>
      <p:sp>
        <p:nvSpPr>
          <p:cNvPr id="432" name="Google Shape;432;p2"/>
          <p:cNvSpPr/>
          <p:nvPr/>
        </p:nvSpPr>
        <p:spPr>
          <a:xfrm>
            <a:off x="1193800" y="3366590"/>
            <a:ext cx="463836" cy="463836"/>
          </a:xfrm>
          <a:prstGeom prst="ellipse">
            <a:avLst/>
          </a:prstGeom>
          <a:noFill/>
          <a:ln w="12700" cap="flat" cmpd="sng">
            <a:solidFill>
              <a:srgbClr val="00B0F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3" name="Google Shape;433;p2"/>
          <p:cNvCxnSpPr/>
          <p:nvPr/>
        </p:nvCxnSpPr>
        <p:spPr>
          <a:xfrm>
            <a:off x="1653413" y="3588629"/>
            <a:ext cx="179070" cy="0"/>
          </a:xfrm>
          <a:prstGeom prst="straightConnector1">
            <a:avLst/>
          </a:prstGeom>
          <a:noFill/>
          <a:ln w="9525" cap="flat" cmpd="sng">
            <a:solidFill>
              <a:srgbClr val="00B0F0"/>
            </a:solidFill>
            <a:prstDash val="solid"/>
            <a:miter lim="8000"/>
            <a:headEnd type="none" w="sm" len="sm"/>
            <a:tailEnd type="oval" w="med" len="med"/>
          </a:ln>
        </p:spPr>
      </p:cxnSp>
      <p:sp>
        <p:nvSpPr>
          <p:cNvPr id="434" name="Google Shape;434;p2"/>
          <p:cNvSpPr txBox="1"/>
          <p:nvPr/>
        </p:nvSpPr>
        <p:spPr>
          <a:xfrm>
            <a:off x="1222121" y="3368414"/>
            <a:ext cx="4191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ts val="2200"/>
              </a:lnSpc>
              <a:buClr>
                <a:schemeClr val="dk1"/>
              </a:buClr>
              <a:buSzPts val="2400"/>
            </a:pPr>
            <a:r>
              <a:rPr lang="en-US" altLang="ko-KR" sz="1600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2</a:t>
            </a:r>
            <a:endParaRPr sz="1600" b="1">
              <a:latin typeface="Arial" panose="020B0604020202020204" pitchFamily="34" charset="0"/>
            </a:endParaRPr>
          </a:p>
        </p:txBody>
      </p:sp>
      <p:cxnSp>
        <p:nvCxnSpPr>
          <p:cNvPr id="435" name="Google Shape;435;p2"/>
          <p:cNvCxnSpPr/>
          <p:nvPr/>
        </p:nvCxnSpPr>
        <p:spPr>
          <a:xfrm>
            <a:off x="1988693" y="3864271"/>
            <a:ext cx="2715863" cy="0"/>
          </a:xfrm>
          <a:prstGeom prst="straightConnector1">
            <a:avLst/>
          </a:prstGeom>
          <a:noFill/>
          <a:ln w="9525" cap="flat" cmpd="sng">
            <a:solidFill>
              <a:srgbClr val="F2F2F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436" name="Google Shape;436;p2"/>
          <p:cNvSpPr txBox="1"/>
          <p:nvPr/>
        </p:nvSpPr>
        <p:spPr>
          <a:xfrm>
            <a:off x="1988693" y="4169432"/>
            <a:ext cx="344743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ts val="2200"/>
              </a:lnSpc>
            </a:pPr>
            <a:r>
              <a:rPr lang="ko-KR" altLang="en-US" sz="1600" b="1" u="none">
                <a:solidFill>
                  <a:schemeClr val="dk1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기술 및 기능</a:t>
            </a:r>
            <a:endParaRPr sz="1600" b="1">
              <a:latin typeface="Arial" panose="020B0604020202020204" pitchFamily="34" charset="0"/>
            </a:endParaRPr>
          </a:p>
        </p:txBody>
      </p:sp>
      <p:sp>
        <p:nvSpPr>
          <p:cNvPr id="437" name="Google Shape;437;p2"/>
          <p:cNvSpPr/>
          <p:nvPr/>
        </p:nvSpPr>
        <p:spPr>
          <a:xfrm>
            <a:off x="1193800" y="4061915"/>
            <a:ext cx="463836" cy="463836"/>
          </a:xfrm>
          <a:prstGeom prst="ellipse">
            <a:avLst/>
          </a:prstGeom>
          <a:gradFill>
            <a:gsLst>
              <a:gs pos="0">
                <a:srgbClr val="F5F7FC"/>
              </a:gs>
              <a:gs pos="100000">
                <a:srgbClr val="DDEAF6"/>
              </a:gs>
            </a:gsLst>
            <a:lin ang="10800000" scaled="0"/>
          </a:gradFill>
          <a:ln w="12700" cap="flat" cmpd="sng">
            <a:solidFill>
              <a:srgbClr val="00B0F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8" name="Google Shape;438;p2"/>
          <p:cNvCxnSpPr/>
          <p:nvPr/>
        </p:nvCxnSpPr>
        <p:spPr>
          <a:xfrm>
            <a:off x="1653413" y="4283954"/>
            <a:ext cx="179070" cy="0"/>
          </a:xfrm>
          <a:prstGeom prst="straightConnector1">
            <a:avLst/>
          </a:prstGeom>
          <a:noFill/>
          <a:ln w="9525" cap="flat" cmpd="sng">
            <a:solidFill>
              <a:srgbClr val="00B0F0"/>
            </a:solidFill>
            <a:prstDash val="solid"/>
            <a:miter lim="8000"/>
            <a:headEnd type="none" w="sm" len="sm"/>
            <a:tailEnd type="oval" w="med" len="med"/>
          </a:ln>
        </p:spPr>
      </p:cxnSp>
      <p:sp>
        <p:nvSpPr>
          <p:cNvPr id="439" name="Google Shape;439;p2"/>
          <p:cNvSpPr txBox="1"/>
          <p:nvPr/>
        </p:nvSpPr>
        <p:spPr>
          <a:xfrm>
            <a:off x="1222121" y="4063739"/>
            <a:ext cx="4191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ts val="2200"/>
              </a:lnSpc>
              <a:buClr>
                <a:schemeClr val="dk1"/>
              </a:buClr>
              <a:buSzPts val="2400"/>
            </a:pPr>
            <a:r>
              <a:rPr lang="en-US" altLang="ko-KR" sz="1600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3</a:t>
            </a:r>
            <a:endParaRPr sz="1600" b="1">
              <a:latin typeface="Arial" panose="020B0604020202020204" pitchFamily="34" charset="0"/>
            </a:endParaRPr>
          </a:p>
        </p:txBody>
      </p:sp>
      <p:cxnSp>
        <p:nvCxnSpPr>
          <p:cNvPr id="440" name="Google Shape;440;p2"/>
          <p:cNvCxnSpPr/>
          <p:nvPr/>
        </p:nvCxnSpPr>
        <p:spPr>
          <a:xfrm>
            <a:off x="1988693" y="4559596"/>
            <a:ext cx="2715863" cy="0"/>
          </a:xfrm>
          <a:prstGeom prst="straightConnector1">
            <a:avLst/>
          </a:prstGeom>
          <a:noFill/>
          <a:ln w="9525" cap="flat" cmpd="sng">
            <a:solidFill>
              <a:srgbClr val="F2F2F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441" name="Google Shape;441;p2"/>
          <p:cNvSpPr txBox="1"/>
          <p:nvPr/>
        </p:nvSpPr>
        <p:spPr>
          <a:xfrm>
            <a:off x="1988693" y="4864757"/>
            <a:ext cx="302701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ts val="2200"/>
              </a:lnSpc>
            </a:pPr>
            <a:r>
              <a:rPr lang="ko-KR" altLang="en-US" sz="1600" b="1" u="none">
                <a:solidFill>
                  <a:schemeClr val="dk1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성능 및 품질</a:t>
            </a:r>
            <a:endParaRPr sz="1600" b="1">
              <a:latin typeface="Arial" panose="020B0604020202020204" pitchFamily="34" charset="0"/>
            </a:endParaRPr>
          </a:p>
        </p:txBody>
      </p:sp>
      <p:sp>
        <p:nvSpPr>
          <p:cNvPr id="442" name="Google Shape;442;p2"/>
          <p:cNvSpPr/>
          <p:nvPr/>
        </p:nvSpPr>
        <p:spPr>
          <a:xfrm>
            <a:off x="1193800" y="4757240"/>
            <a:ext cx="463836" cy="463836"/>
          </a:xfrm>
          <a:prstGeom prst="ellipse">
            <a:avLst/>
          </a:prstGeom>
          <a:noFill/>
          <a:ln w="12700" cap="flat" cmpd="sng">
            <a:solidFill>
              <a:srgbClr val="00B0F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3" name="Google Shape;443;p2"/>
          <p:cNvCxnSpPr/>
          <p:nvPr/>
        </p:nvCxnSpPr>
        <p:spPr>
          <a:xfrm>
            <a:off x="1653413" y="4979279"/>
            <a:ext cx="179070" cy="0"/>
          </a:xfrm>
          <a:prstGeom prst="straightConnector1">
            <a:avLst/>
          </a:prstGeom>
          <a:noFill/>
          <a:ln w="9525" cap="flat" cmpd="sng">
            <a:solidFill>
              <a:srgbClr val="00B0F0"/>
            </a:solidFill>
            <a:prstDash val="solid"/>
            <a:miter lim="8000"/>
            <a:headEnd type="none" w="sm" len="sm"/>
            <a:tailEnd type="oval" w="med" len="med"/>
          </a:ln>
        </p:spPr>
      </p:cxnSp>
      <p:sp>
        <p:nvSpPr>
          <p:cNvPr id="444" name="Google Shape;444;p2"/>
          <p:cNvSpPr txBox="1"/>
          <p:nvPr/>
        </p:nvSpPr>
        <p:spPr>
          <a:xfrm>
            <a:off x="1222121" y="4759064"/>
            <a:ext cx="4191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ts val="2200"/>
              </a:lnSpc>
              <a:buClr>
                <a:schemeClr val="dk1"/>
              </a:buClr>
              <a:buSzPts val="2400"/>
            </a:pPr>
            <a:r>
              <a:rPr lang="en-US" altLang="ko-KR" sz="1600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4</a:t>
            </a:r>
            <a:endParaRPr sz="1600" b="1">
              <a:latin typeface="Arial" panose="020B0604020202020204" pitchFamily="34" charset="0"/>
            </a:endParaRPr>
          </a:p>
        </p:txBody>
      </p:sp>
      <p:cxnSp>
        <p:nvCxnSpPr>
          <p:cNvPr id="445" name="Google Shape;445;p2"/>
          <p:cNvCxnSpPr/>
          <p:nvPr/>
        </p:nvCxnSpPr>
        <p:spPr>
          <a:xfrm>
            <a:off x="1988693" y="5195394"/>
            <a:ext cx="2715863" cy="0"/>
          </a:xfrm>
          <a:prstGeom prst="straightConnector1">
            <a:avLst/>
          </a:prstGeom>
          <a:noFill/>
          <a:ln w="9525" cap="flat" cmpd="sng">
            <a:solidFill>
              <a:srgbClr val="F2F2F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446" name="Google Shape;446;p2"/>
          <p:cNvSpPr txBox="1"/>
          <p:nvPr/>
        </p:nvSpPr>
        <p:spPr>
          <a:xfrm>
            <a:off x="1988693" y="5633406"/>
            <a:ext cx="302701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ts val="2200"/>
              </a:lnSpc>
            </a:pPr>
            <a:r>
              <a:rPr lang="ko-KR" altLang="en-US" sz="1600" b="1" u="none">
                <a:solidFill>
                  <a:schemeClr val="dk1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프로젝트 관리</a:t>
            </a:r>
            <a:endParaRPr sz="1600" b="1">
              <a:latin typeface="Arial" panose="020B0604020202020204" pitchFamily="34" charset="0"/>
            </a:endParaRPr>
          </a:p>
        </p:txBody>
      </p:sp>
      <p:sp>
        <p:nvSpPr>
          <p:cNvPr id="447" name="Google Shape;447;p2"/>
          <p:cNvSpPr/>
          <p:nvPr/>
        </p:nvSpPr>
        <p:spPr>
          <a:xfrm>
            <a:off x="1193800" y="5525889"/>
            <a:ext cx="463836" cy="463836"/>
          </a:xfrm>
          <a:prstGeom prst="ellipse">
            <a:avLst/>
          </a:prstGeom>
          <a:noFill/>
          <a:ln w="12700" cap="flat" cmpd="sng">
            <a:solidFill>
              <a:srgbClr val="00B0F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8" name="Google Shape;448;p2"/>
          <p:cNvCxnSpPr/>
          <p:nvPr/>
        </p:nvCxnSpPr>
        <p:spPr>
          <a:xfrm>
            <a:off x="1653413" y="5747928"/>
            <a:ext cx="179070" cy="0"/>
          </a:xfrm>
          <a:prstGeom prst="straightConnector1">
            <a:avLst/>
          </a:prstGeom>
          <a:noFill/>
          <a:ln w="9525" cap="flat" cmpd="sng">
            <a:solidFill>
              <a:srgbClr val="00B0F0"/>
            </a:solidFill>
            <a:prstDash val="solid"/>
            <a:miter lim="8000"/>
            <a:headEnd type="none" w="sm" len="sm"/>
            <a:tailEnd type="oval" w="med" len="med"/>
          </a:ln>
        </p:spPr>
      </p:cxnSp>
      <p:sp>
        <p:nvSpPr>
          <p:cNvPr id="449" name="Google Shape;449;p2"/>
          <p:cNvSpPr txBox="1"/>
          <p:nvPr/>
        </p:nvSpPr>
        <p:spPr>
          <a:xfrm>
            <a:off x="1222121" y="5527713"/>
            <a:ext cx="4191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ts val="2200"/>
              </a:lnSpc>
            </a:pPr>
            <a:r>
              <a:rPr lang="en-US" altLang="ko-KR" sz="1600" b="1">
                <a:solidFill>
                  <a:schemeClr val="dk1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5</a:t>
            </a:r>
            <a:endParaRPr sz="1600" b="1" i="0" u="none" strike="noStrike" cap="none">
              <a:solidFill>
                <a:schemeClr val="dk1"/>
              </a:solidFill>
              <a:latin typeface="Arial" panose="020B060402020202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2"/>
          <p:cNvSpPr txBox="1"/>
          <p:nvPr/>
        </p:nvSpPr>
        <p:spPr>
          <a:xfrm>
            <a:off x="1988693" y="6401707"/>
            <a:ext cx="302701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ts val="2200"/>
              </a:lnSpc>
            </a:pPr>
            <a:r>
              <a:rPr lang="ko-KR" altLang="en-US" sz="1600" b="1" u="none">
                <a:solidFill>
                  <a:schemeClr val="dk1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프로젝트 지원</a:t>
            </a:r>
            <a:endParaRPr sz="1600" b="1">
              <a:latin typeface="Arial" panose="020B0604020202020204" pitchFamily="34" charset="0"/>
            </a:endParaRPr>
          </a:p>
        </p:txBody>
      </p:sp>
      <p:sp>
        <p:nvSpPr>
          <p:cNvPr id="451" name="Google Shape;451;p2"/>
          <p:cNvSpPr/>
          <p:nvPr/>
        </p:nvSpPr>
        <p:spPr>
          <a:xfrm>
            <a:off x="1193800" y="6294190"/>
            <a:ext cx="463836" cy="463836"/>
          </a:xfrm>
          <a:prstGeom prst="ellipse">
            <a:avLst/>
          </a:prstGeom>
          <a:noFill/>
          <a:ln w="12700" cap="flat" cmpd="sng">
            <a:solidFill>
              <a:srgbClr val="00B0F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2" name="Google Shape;452;p2"/>
          <p:cNvCxnSpPr/>
          <p:nvPr/>
        </p:nvCxnSpPr>
        <p:spPr>
          <a:xfrm>
            <a:off x="1653413" y="6516229"/>
            <a:ext cx="179070" cy="0"/>
          </a:xfrm>
          <a:prstGeom prst="straightConnector1">
            <a:avLst/>
          </a:prstGeom>
          <a:noFill/>
          <a:ln w="9525" cap="flat" cmpd="sng">
            <a:solidFill>
              <a:srgbClr val="00B0F0"/>
            </a:solidFill>
            <a:prstDash val="solid"/>
            <a:miter lim="8000"/>
            <a:headEnd type="none" w="sm" len="sm"/>
            <a:tailEnd type="oval" w="med" len="med"/>
          </a:ln>
        </p:spPr>
      </p:cxnSp>
      <p:sp>
        <p:nvSpPr>
          <p:cNvPr id="453" name="Google Shape;453;p2"/>
          <p:cNvSpPr txBox="1"/>
          <p:nvPr/>
        </p:nvSpPr>
        <p:spPr>
          <a:xfrm>
            <a:off x="1222121" y="6296014"/>
            <a:ext cx="4191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ts val="2200"/>
              </a:lnSpc>
            </a:pPr>
            <a:r>
              <a:rPr lang="en-US" altLang="ko-KR" sz="1600" b="1">
                <a:solidFill>
                  <a:schemeClr val="dk1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6</a:t>
            </a:r>
            <a:endParaRPr sz="1600" b="1" i="0" u="none" strike="noStrike" cap="none">
              <a:solidFill>
                <a:schemeClr val="dk1"/>
              </a:solidFill>
              <a:latin typeface="Arial" panose="020B060402020202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2"/>
          <p:cNvSpPr txBox="1"/>
          <p:nvPr/>
        </p:nvSpPr>
        <p:spPr>
          <a:xfrm>
            <a:off x="1988693" y="7170008"/>
            <a:ext cx="302701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ts val="2200"/>
              </a:lnSpc>
            </a:pPr>
            <a:r>
              <a:rPr lang="ko-KR" altLang="en-US" sz="1600" b="1" u="none">
                <a:solidFill>
                  <a:schemeClr val="dk1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기타</a:t>
            </a:r>
            <a:endParaRPr sz="1600" b="1">
              <a:latin typeface="Arial" panose="020B0604020202020204" pitchFamily="34" charset="0"/>
            </a:endParaRPr>
          </a:p>
        </p:txBody>
      </p:sp>
      <p:sp>
        <p:nvSpPr>
          <p:cNvPr id="455" name="Google Shape;455;p2"/>
          <p:cNvSpPr/>
          <p:nvPr/>
        </p:nvSpPr>
        <p:spPr>
          <a:xfrm>
            <a:off x="1193800" y="7062491"/>
            <a:ext cx="463836" cy="463836"/>
          </a:xfrm>
          <a:prstGeom prst="ellipse">
            <a:avLst/>
          </a:prstGeom>
          <a:noFill/>
          <a:ln w="12700" cap="flat" cmpd="sng">
            <a:solidFill>
              <a:srgbClr val="00B0F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6" name="Google Shape;456;p2"/>
          <p:cNvCxnSpPr/>
          <p:nvPr/>
        </p:nvCxnSpPr>
        <p:spPr>
          <a:xfrm>
            <a:off x="1653413" y="7284530"/>
            <a:ext cx="179070" cy="0"/>
          </a:xfrm>
          <a:prstGeom prst="straightConnector1">
            <a:avLst/>
          </a:prstGeom>
          <a:noFill/>
          <a:ln w="9525" cap="flat" cmpd="sng">
            <a:solidFill>
              <a:srgbClr val="00B0F0"/>
            </a:solidFill>
            <a:prstDash val="solid"/>
            <a:miter lim="8000"/>
            <a:headEnd type="none" w="sm" len="sm"/>
            <a:tailEnd type="oval" w="med" len="med"/>
          </a:ln>
        </p:spPr>
      </p:cxnSp>
      <p:sp>
        <p:nvSpPr>
          <p:cNvPr id="457" name="Google Shape;457;p2"/>
          <p:cNvSpPr txBox="1"/>
          <p:nvPr/>
        </p:nvSpPr>
        <p:spPr>
          <a:xfrm>
            <a:off x="1222121" y="7064315"/>
            <a:ext cx="4191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ts val="2200"/>
              </a:lnSpc>
            </a:pPr>
            <a:r>
              <a:rPr lang="en-US" altLang="ko-KR" sz="1600" b="1">
                <a:solidFill>
                  <a:schemeClr val="dk1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7</a:t>
            </a:r>
            <a:endParaRPr sz="1600" b="1" i="0" u="none" strike="noStrike" cap="none">
              <a:solidFill>
                <a:schemeClr val="dk1"/>
              </a:solidFill>
              <a:latin typeface="Arial" panose="020B060402020202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458" name="ContentsPage1">
            <a:extLst>
              <a:ext uri="{FF2B5EF4-FFF2-40B4-BE49-F238E27FC236}">
                <a16:creationId xmlns:a16="http://schemas.microsoft.com/office/drawing/2014/main" id="{300FEA20-EF3F-44BF-B6CA-A79BC245A6CC}"/>
              </a:ext>
            </a:extLst>
          </p:cNvPr>
          <p:cNvSpPr>
            <a:spLocks noGrp="1"/>
          </p:cNvSpPr>
          <p:nvPr/>
        </p:nvSpPr>
        <p:spPr>
          <a:xfrm>
            <a:off x="5549900" y="2778785"/>
            <a:ext cx="673100" cy="27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4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59" name="ContentsPage2">
            <a:extLst>
              <a:ext uri="{FF2B5EF4-FFF2-40B4-BE49-F238E27FC236}">
                <a16:creationId xmlns:a16="http://schemas.microsoft.com/office/drawing/2014/main" id="{E2E28953-CF7B-48C6-97C6-1E29D657C66A}"/>
              </a:ext>
            </a:extLst>
          </p:cNvPr>
          <p:cNvSpPr>
            <a:spLocks noGrp="1"/>
          </p:cNvSpPr>
          <p:nvPr/>
        </p:nvSpPr>
        <p:spPr>
          <a:xfrm>
            <a:off x="5549900" y="3474110"/>
            <a:ext cx="673100" cy="27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4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60" name="ContentsPage3">
            <a:extLst>
              <a:ext uri="{FF2B5EF4-FFF2-40B4-BE49-F238E27FC236}">
                <a16:creationId xmlns:a16="http://schemas.microsoft.com/office/drawing/2014/main" id="{409C5F37-048B-4948-B477-26B18904767B}"/>
              </a:ext>
            </a:extLst>
          </p:cNvPr>
          <p:cNvSpPr>
            <a:spLocks noGrp="1"/>
          </p:cNvSpPr>
          <p:nvPr/>
        </p:nvSpPr>
        <p:spPr>
          <a:xfrm>
            <a:off x="5549900" y="4169435"/>
            <a:ext cx="673100" cy="27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4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  <p:sp>
        <p:nvSpPr>
          <p:cNvPr id="461" name="ContentsPage4">
            <a:extLst>
              <a:ext uri="{FF2B5EF4-FFF2-40B4-BE49-F238E27FC236}">
                <a16:creationId xmlns:a16="http://schemas.microsoft.com/office/drawing/2014/main" id="{B3A51104-1F5F-4251-A121-9F0A7C1CAD97}"/>
              </a:ext>
            </a:extLst>
          </p:cNvPr>
          <p:cNvSpPr>
            <a:spLocks noGrp="1"/>
          </p:cNvSpPr>
          <p:nvPr/>
        </p:nvSpPr>
        <p:spPr>
          <a:xfrm>
            <a:off x="5549900" y="4864760"/>
            <a:ext cx="673100" cy="27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4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171</a:t>
            </a:r>
          </a:p>
        </p:txBody>
      </p:sp>
      <p:sp>
        <p:nvSpPr>
          <p:cNvPr id="462" name="ContentsPage5">
            <a:extLst>
              <a:ext uri="{FF2B5EF4-FFF2-40B4-BE49-F238E27FC236}">
                <a16:creationId xmlns:a16="http://schemas.microsoft.com/office/drawing/2014/main" id="{1A69B70B-974B-44AE-8578-2C0AB869127C}"/>
              </a:ext>
            </a:extLst>
          </p:cNvPr>
          <p:cNvSpPr>
            <a:spLocks noGrp="1"/>
          </p:cNvSpPr>
          <p:nvPr/>
        </p:nvSpPr>
        <p:spPr>
          <a:xfrm>
            <a:off x="5549900" y="5633402"/>
            <a:ext cx="673100" cy="27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4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199</a:t>
            </a:r>
          </a:p>
        </p:txBody>
      </p:sp>
      <p:sp>
        <p:nvSpPr>
          <p:cNvPr id="463" name="ContentsPage6">
            <a:extLst>
              <a:ext uri="{FF2B5EF4-FFF2-40B4-BE49-F238E27FC236}">
                <a16:creationId xmlns:a16="http://schemas.microsoft.com/office/drawing/2014/main" id="{0BA6E3BE-FD9C-41A5-AD31-4A95BEE6C5FA}"/>
              </a:ext>
            </a:extLst>
          </p:cNvPr>
          <p:cNvSpPr>
            <a:spLocks noGrp="1"/>
          </p:cNvSpPr>
          <p:nvPr/>
        </p:nvSpPr>
        <p:spPr>
          <a:xfrm>
            <a:off x="5549900" y="6401702"/>
            <a:ext cx="673100" cy="27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4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219</a:t>
            </a:r>
          </a:p>
        </p:txBody>
      </p:sp>
      <p:sp>
        <p:nvSpPr>
          <p:cNvPr id="464" name="ContentsPage7">
            <a:extLst>
              <a:ext uri="{FF2B5EF4-FFF2-40B4-BE49-F238E27FC236}">
                <a16:creationId xmlns:a16="http://schemas.microsoft.com/office/drawing/2014/main" id="{9A406C77-5508-439C-9F1E-B016213F74CB}"/>
              </a:ext>
            </a:extLst>
          </p:cNvPr>
          <p:cNvSpPr>
            <a:spLocks noGrp="1"/>
          </p:cNvSpPr>
          <p:nvPr/>
        </p:nvSpPr>
        <p:spPr>
          <a:xfrm>
            <a:off x="5549900" y="7170014"/>
            <a:ext cx="673100" cy="27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4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247</a:t>
            </a:r>
          </a:p>
        </p:txBody>
      </p:sp>
      <p:sp>
        <p:nvSpPr>
          <p:cNvPr id="465" name="BookFolioOdd">
            <a:extLst>
              <a:ext uri="{FF2B5EF4-FFF2-40B4-BE49-F238E27FC236}">
                <a16:creationId xmlns:a16="http://schemas.microsoft.com/office/drawing/2014/main" id="{98F6B705-EE36-428A-A3A2-2CA4F014C2DA}"/>
              </a:ext>
            </a:extLst>
          </p:cNvPr>
          <p:cNvSpPr>
            <a:spLocks noGrp="1"/>
          </p:cNvSpPr>
          <p:nvPr/>
        </p:nvSpPr>
        <p:spPr>
          <a:xfrm>
            <a:off x="5715000" y="9575800"/>
            <a:ext cx="508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9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빈 페이지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ank page white background">
            <a:extLst>
              <a:ext uri="{FF2B5EF4-FFF2-40B4-BE49-F238E27FC236}">
                <a16:creationId xmlns:a16="http://schemas.microsoft.com/office/drawing/2014/main" id="{08948F3E-F21D-48C7-9D14-C745DDEFF7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9906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K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. 일반 현황">
            <a:extLst>
              <a:ext uri="{FF2B5EF4-FFF2-40B4-BE49-F238E27FC236}">
                <a16:creationId xmlns:a16="http://schemas.microsoft.com/office/drawing/2014/main" id="{44D68F8F-E036-6BC6-7F5F-A61FE5F2C5F0}"/>
              </a:ext>
            </a:extLst>
          </p:cNvPr>
          <p:cNvSpPr txBox="1"/>
          <p:nvPr/>
        </p:nvSpPr>
        <p:spPr>
          <a:xfrm>
            <a:off x="1295400" y="1587500"/>
            <a:ext cx="4927600" cy="4826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ts val="3200"/>
              </a:lnSpc>
            </a:pPr>
            <a:r>
              <a:rPr lang="en-US" altLang="ko-KR" sz="2400" b="1">
                <a:solidFill>
                  <a:srgbClr val="1F4E79"/>
                </a:solidFill>
                <a:latin typeface="Arial" panose="020B0604020202020204" pitchFamily="34" charset="0"/>
              </a:rPr>
              <a:t>1. </a:t>
            </a:r>
            <a:r>
              <a:rPr lang="ko-KR" altLang="en-US" sz="2400" b="1">
                <a:solidFill>
                  <a:srgbClr val="1F4E79"/>
                </a:solidFill>
                <a:latin typeface="Arial" panose="020B0604020202020204" pitchFamily="34" charset="0"/>
              </a:rPr>
              <a:t>일반 현황</a:t>
            </a:r>
            <a:endParaRPr lang="en-KR" sz="2400" b="1">
              <a:solidFill>
                <a:srgbClr val="1F4E79"/>
              </a:solidFill>
              <a:latin typeface="Arial" panose="020B0604020202020204" pitchFamily="34" charset="0"/>
            </a:endParaRPr>
          </a:p>
        </p:txBody>
      </p:sp>
      <p:sp>
        <p:nvSpPr>
          <p:cNvPr id="3" name="1.  제안사 일반 현황&#10;2.  수행 실적&#10;3.  제안">
            <a:extLst>
              <a:ext uri="{FF2B5EF4-FFF2-40B4-BE49-F238E27FC236}">
                <a16:creationId xmlns:a16="http://schemas.microsoft.com/office/drawing/2014/main" id="{6778076C-9ED3-722F-4832-4D12B366CD6A}"/>
              </a:ext>
            </a:extLst>
          </p:cNvPr>
          <p:cNvSpPr txBox="1"/>
          <p:nvPr/>
        </p:nvSpPr>
        <p:spPr>
          <a:xfrm>
            <a:off x="1295400" y="2768600"/>
            <a:ext cx="4927600" cy="24130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ts val="3200"/>
              </a:lnSpc>
            </a:pPr>
            <a:r>
              <a:rPr lang="en-US" altLang="ko-KR" sz="1600">
                <a:latin typeface="Arial" panose="020B0604020202020204" pitchFamily="34" charset="0"/>
              </a:rPr>
              <a:t>1.  </a:t>
            </a:r>
            <a:r>
              <a:rPr lang="ko-KR" altLang="en-US" sz="1600">
                <a:latin typeface="Arial" panose="020B0604020202020204" pitchFamily="34" charset="0"/>
              </a:rPr>
              <a:t>제안사 일반 현황</a:t>
            </a:r>
          </a:p>
          <a:p>
            <a:pPr>
              <a:lnSpc>
                <a:spcPts val="3200"/>
              </a:lnSpc>
            </a:pPr>
            <a:r>
              <a:rPr lang="en-US" altLang="ko-KR" sz="1600">
                <a:latin typeface="Arial" panose="020B0604020202020204" pitchFamily="34" charset="0"/>
              </a:rPr>
              <a:t>2.  </a:t>
            </a:r>
            <a:r>
              <a:rPr lang="ko-KR" altLang="en-US" sz="1600">
                <a:latin typeface="Arial" panose="020B0604020202020204" pitchFamily="34" charset="0"/>
              </a:rPr>
              <a:t>수행 실적</a:t>
            </a:r>
          </a:p>
          <a:p>
            <a:pPr>
              <a:lnSpc>
                <a:spcPts val="3200"/>
              </a:lnSpc>
            </a:pPr>
            <a:r>
              <a:rPr lang="en-US" altLang="ko-KR" sz="1600">
                <a:latin typeface="Arial" panose="020B0604020202020204" pitchFamily="34" charset="0"/>
              </a:rPr>
              <a:t>3.  </a:t>
            </a:r>
            <a:r>
              <a:rPr lang="ko-KR" altLang="en-US" sz="1600">
                <a:latin typeface="Arial" panose="020B0604020202020204" pitchFamily="34" charset="0"/>
              </a:rPr>
              <a:t>제안사의 조직 및 인원</a:t>
            </a:r>
          </a:p>
          <a:p>
            <a:pPr>
              <a:lnSpc>
                <a:spcPts val="3200"/>
              </a:lnSpc>
            </a:pPr>
            <a:r>
              <a:rPr lang="en-US" altLang="ko-KR" sz="1600">
                <a:latin typeface="Arial" panose="020B0604020202020204" pitchFamily="34" charset="0"/>
              </a:rPr>
              <a:t>4.  </a:t>
            </a:r>
            <a:r>
              <a:rPr lang="ko-KR" altLang="en-US" sz="1600">
                <a:latin typeface="Arial" panose="020B0604020202020204" pitchFamily="34" charset="0"/>
              </a:rPr>
              <a:t>수행조직 및 담당업무 </a:t>
            </a:r>
            <a:r>
              <a:rPr lang="en-US" altLang="ko-KR" sz="1600">
                <a:latin typeface="Arial" panose="020B0604020202020204" pitchFamily="34" charset="0"/>
              </a:rPr>
              <a:t>(</a:t>
            </a:r>
            <a:r>
              <a:rPr lang="en-US" sz="1600">
                <a:latin typeface="Arial" panose="020B0604020202020204" pitchFamily="34" charset="0"/>
              </a:rPr>
              <a:t>PM </a:t>
            </a:r>
            <a:r>
              <a:rPr lang="ko-KR" altLang="en-US" sz="1600">
                <a:latin typeface="Arial" panose="020B0604020202020204" pitchFamily="34" charset="0"/>
              </a:rPr>
              <a:t>이력 포함</a:t>
            </a:r>
            <a:r>
              <a:rPr lang="en-US" altLang="ko-KR" sz="1600">
                <a:latin typeface="Arial" panose="020B0604020202020204" pitchFamily="34" charset="0"/>
              </a:rPr>
              <a:t>)</a:t>
            </a:r>
            <a:endParaRPr lang="en-KR" sz="1600">
              <a:latin typeface="Arial" panose="020B0604020202020204" pitchFamily="34" charset="0"/>
            </a:endParaRPr>
          </a:p>
        </p:txBody>
      </p:sp>
      <p:sp>
        <p:nvSpPr>
          <p:cNvPr id="4" name="BookFolioOdd">
            <a:extLst>
              <a:ext uri="{FF2B5EF4-FFF2-40B4-BE49-F238E27FC236}">
                <a16:creationId xmlns:a16="http://schemas.microsoft.com/office/drawing/2014/main" id="{98F6B705-EE36-428A-A3A2-2CA4F014C2DA}"/>
              </a:ext>
            </a:extLst>
          </p:cNvPr>
          <p:cNvSpPr>
            <a:spLocks noGrp="1"/>
          </p:cNvSpPr>
          <p:nvPr/>
        </p:nvSpPr>
        <p:spPr>
          <a:xfrm>
            <a:off x="5715000" y="9575800"/>
            <a:ext cx="508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9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5" name="Google Shape;475;p4"/>
          <p:cNvGraphicFramePr/>
          <p:nvPr>
            <p:extLst>
              <p:ext uri="{D42A27DB-BD31-4B8C-83A1-F6EECF244321}">
                <p14:modId xmlns:p14="http://schemas.microsoft.com/office/powerpoint/2010/main" val="2793739914"/>
              </p:ext>
            </p:extLst>
          </p:nvPr>
        </p:nvGraphicFramePr>
        <p:xfrm>
          <a:off x="635000" y="2346602"/>
          <a:ext cx="5486400" cy="1645767"/>
        </p:xfrm>
        <a:graphic>
          <a:graphicData uri="http://schemas.openxmlformats.org/drawingml/2006/table">
            <a:tbl>
              <a:tblPr firstRow="1" bandRow="1">
                <a:noFill/>
                <a:tableStyleId>{A65C353C-D88D-4590-9C8D-17DC0CB4FA02}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319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97"/>
                        <a:buFontTx/>
                        <a:buNone/>
                      </a:pPr>
                      <a:r>
                        <a:rPr lang="ko-KR" altLang="en-US" sz="1047" b="0" u="none" strike="noStrike" cap="none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회사명</a:t>
                      </a:r>
                      <a:endParaRPr sz="1047" b="0">
                        <a:latin typeface="Arial" panose="020B0604020202020204" pitchFamily="34" charset="0"/>
                      </a:endParaRPr>
                    </a:p>
                  </a:txBody>
                  <a:tcPr marL="18990" marR="18990" marT="18990" marB="18990" anchor="ctr">
                    <a:lnR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6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7"/>
                        <a:buFontTx/>
                        <a:buNone/>
                      </a:pPr>
                      <a:r>
                        <a:rPr lang="ko-KR" altLang="en-US" sz="1047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주식회사 에이치나인</a:t>
                      </a:r>
                      <a:endParaRPr sz="1047" b="0" i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990" marR="18990" marT="18990" marB="18990" anchor="ctr">
                    <a:lnL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6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97"/>
                        <a:buFontTx/>
                        <a:buNone/>
                      </a:pPr>
                      <a:r>
                        <a:rPr lang="ko-KR" altLang="en-US" sz="1047" b="0" u="none" strike="noStrike" cap="none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대표자</a:t>
                      </a:r>
                      <a:endParaRPr sz="1047" b="0">
                        <a:latin typeface="Arial" panose="020B0604020202020204" pitchFamily="34" charset="0"/>
                      </a:endParaRPr>
                    </a:p>
                  </a:txBody>
                  <a:tcPr marL="18990" marR="18990" marT="18990" marB="18990" anchor="ctr">
                    <a:lnL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6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7"/>
                        <a:buFontTx/>
                        <a:buNone/>
                      </a:pPr>
                      <a:r>
                        <a:rPr lang="ko-KR" altLang="en-US" sz="1047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최우식</a:t>
                      </a:r>
                      <a:endParaRPr sz="1047" b="0">
                        <a:latin typeface="Arial" panose="020B0604020202020204" pitchFamily="34" charset="0"/>
                      </a:endParaRPr>
                    </a:p>
                  </a:txBody>
                  <a:tcPr marL="18990" marR="18990" marT="18990" marB="18990" anchor="ctr">
                    <a:lnL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6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19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19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97"/>
                        <a:buFontTx/>
                        <a:buNone/>
                      </a:pPr>
                      <a:r>
                        <a:rPr lang="ko-KR" altLang="en-US" sz="1047" b="0" u="none" strike="noStrike" cap="none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사업 분야</a:t>
                      </a:r>
                      <a:endParaRPr sz="1047" b="0">
                        <a:latin typeface="Arial" panose="020B0604020202020204" pitchFamily="34" charset="0"/>
                      </a:endParaRPr>
                    </a:p>
                  </a:txBody>
                  <a:tcPr marL="18990" marR="18990" marT="18990" marB="18990" anchor="ctr">
                    <a:lnL w="949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19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7"/>
                        <a:buFontTx/>
                        <a:buNone/>
                      </a:pPr>
                      <a:r>
                        <a:rPr lang="en-US" altLang="ko-KR" sz="1047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S/W</a:t>
                      </a:r>
                      <a:r>
                        <a:rPr lang="ko-KR" altLang="en-US" sz="1047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개발 및 공급업</a:t>
                      </a:r>
                      <a:r>
                        <a:rPr lang="en-US" altLang="ko-KR" sz="1047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ko-KR" altLang="en-US" sz="1047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서비스업</a:t>
                      </a:r>
                      <a:endParaRPr sz="1047" b="0" i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990" marR="18990" marT="18990" marB="18990" anchor="ctr">
                    <a:lnL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KR"/>
                    </a:p>
                  </a:txBody>
                  <a:tcPr marL="91150" marR="91150" marT="45575" marB="45575"/>
                </a:tc>
                <a:tc hMerge="1">
                  <a:txBody>
                    <a:bodyPr/>
                    <a:lstStyle/>
                    <a:p>
                      <a:endParaRPr lang="en-KR"/>
                    </a:p>
                  </a:txBody>
                  <a:tcPr marL="91150" marR="91150" marT="45575" marB="4557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79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19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97"/>
                        <a:buFontTx/>
                        <a:buNone/>
                      </a:pPr>
                      <a:r>
                        <a:rPr lang="ko-KR" altLang="en-US" sz="1047" b="0" u="none" strike="noStrike" cap="none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주소</a:t>
                      </a:r>
                      <a:endParaRPr sz="1047" b="0">
                        <a:latin typeface="Arial" panose="020B0604020202020204" pitchFamily="34" charset="0"/>
                      </a:endParaRPr>
                    </a:p>
                  </a:txBody>
                  <a:tcPr marL="18990" marR="18990" marT="18990" marB="18990" anchor="ctr">
                    <a:lnL w="949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19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7"/>
                        <a:buFontTx/>
                        <a:buNone/>
                      </a:pPr>
                      <a:r>
                        <a:rPr lang="ko-KR" altLang="en-US" sz="1047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서울특별시 성동구 뚝섬로</a:t>
                      </a:r>
                      <a:r>
                        <a:rPr lang="en-US" altLang="ko-KR" sz="1047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lang="ko-KR" altLang="en-US" sz="1047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길 </a:t>
                      </a:r>
                      <a:r>
                        <a:rPr lang="en-US" altLang="ko-KR" sz="1047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25, 10</a:t>
                      </a:r>
                      <a:r>
                        <a:rPr lang="ko-KR" altLang="en-US" sz="1047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층</a:t>
                      </a:r>
                      <a:r>
                        <a:rPr lang="en-US" altLang="ko-KR" sz="1047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ko-KR" altLang="en-US" sz="1047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성수동</a:t>
                      </a:r>
                      <a:r>
                        <a:rPr lang="en-US" altLang="ko-KR" sz="1047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lang="ko-KR" altLang="en-US" sz="1047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가</a:t>
                      </a:r>
                      <a:r>
                        <a:rPr lang="en-US" altLang="ko-KR" sz="1047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ko-KR" altLang="en-US" sz="1047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서울숲한라에코밸리</a:t>
                      </a:r>
                      <a:r>
                        <a:rPr lang="en-US" altLang="ko-KR" sz="1047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1047" b="0" i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990" marR="18990" marT="18990" marB="18990" anchor="ctr">
                    <a:lnL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KR"/>
                    </a:p>
                  </a:txBody>
                  <a:tcPr marL="91150" marR="91150" marT="45575" marB="45575"/>
                </a:tc>
                <a:tc hMerge="1">
                  <a:txBody>
                    <a:bodyPr/>
                    <a:lstStyle/>
                    <a:p>
                      <a:endParaRPr lang="en-KR"/>
                    </a:p>
                  </a:txBody>
                  <a:tcPr marL="91150" marR="91150" marT="45575" marB="4557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19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19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97"/>
                        <a:buFontTx/>
                        <a:buNone/>
                      </a:pPr>
                      <a:r>
                        <a:rPr lang="ko-KR" altLang="en-US" sz="1047" b="0" u="none" strike="noStrike" cap="none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전화번호</a:t>
                      </a:r>
                      <a:endParaRPr sz="1047" b="0">
                        <a:latin typeface="Arial" panose="020B0604020202020204" pitchFamily="34" charset="0"/>
                      </a:endParaRPr>
                    </a:p>
                  </a:txBody>
                  <a:tcPr marL="18990" marR="18990" marT="18990" marB="18990" anchor="ctr">
                    <a:lnL w="949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19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7"/>
                        <a:buFontTx/>
                        <a:buNone/>
                      </a:pPr>
                      <a:r>
                        <a:rPr lang="en-US" altLang="ko-KR" sz="1047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TEL: 02-521-0518 FAX: 02-567-0518</a:t>
                      </a:r>
                      <a:endParaRPr sz="1047" b="0">
                        <a:latin typeface="Arial" panose="020B0604020202020204" pitchFamily="34" charset="0"/>
                      </a:endParaRPr>
                    </a:p>
                  </a:txBody>
                  <a:tcPr marL="18990" marR="18990" marT="18990" marB="18990" anchor="ctr">
                    <a:lnL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KR"/>
                    </a:p>
                  </a:txBody>
                  <a:tcPr marL="91150" marR="91150" marT="45575" marB="45575"/>
                </a:tc>
                <a:tc hMerge="1">
                  <a:txBody>
                    <a:bodyPr/>
                    <a:lstStyle/>
                    <a:p>
                      <a:endParaRPr lang="en-KR"/>
                    </a:p>
                  </a:txBody>
                  <a:tcPr marL="91150" marR="91150" marT="45575" marB="4557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319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19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97"/>
                        <a:buFontTx/>
                        <a:buNone/>
                      </a:pPr>
                      <a:r>
                        <a:rPr lang="ko-KR" altLang="en-US" sz="1047" b="0" u="none" strike="noStrike" cap="none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회사 설립연도</a:t>
                      </a:r>
                      <a:endParaRPr sz="1047" b="0">
                        <a:latin typeface="Arial" panose="020B0604020202020204" pitchFamily="34" charset="0"/>
                      </a:endParaRPr>
                    </a:p>
                  </a:txBody>
                  <a:tcPr marL="18990" marR="18990" marT="18990" marB="18990" anchor="ctr">
                    <a:lnL w="949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19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7"/>
                        <a:buFontTx/>
                        <a:buNone/>
                      </a:pPr>
                      <a:r>
                        <a:rPr lang="en-US" altLang="ko-KR" sz="1047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2010 </a:t>
                      </a:r>
                      <a:r>
                        <a:rPr lang="ko-KR" altLang="en-US" sz="1047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년  </a:t>
                      </a:r>
                      <a:r>
                        <a:rPr lang="en-US" altLang="ko-KR" sz="1047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04 </a:t>
                      </a:r>
                      <a:r>
                        <a:rPr lang="ko-KR" altLang="en-US" sz="1047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월</a:t>
                      </a:r>
                      <a:endParaRPr sz="1047" b="0" i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990" marR="18990" marT="18990" marB="18990" anchor="ctr">
                    <a:lnL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KR"/>
                    </a:p>
                  </a:txBody>
                  <a:tcPr marL="91150" marR="91150" marT="45575" marB="45575"/>
                </a:tc>
                <a:tc hMerge="1">
                  <a:txBody>
                    <a:bodyPr/>
                    <a:lstStyle/>
                    <a:p>
                      <a:endParaRPr lang="en-KR"/>
                    </a:p>
                  </a:txBody>
                  <a:tcPr marL="91150" marR="91150" marT="45575" marB="4557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319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19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97"/>
                        <a:buFontTx/>
                        <a:buNone/>
                      </a:pPr>
                      <a:r>
                        <a:rPr lang="ko-KR" altLang="en-US" sz="1047" b="0" u="none" strike="noStrike" cap="none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해당 부문 종사기간</a:t>
                      </a:r>
                      <a:endParaRPr sz="1047" b="0">
                        <a:latin typeface="Arial" panose="020B0604020202020204" pitchFamily="34" charset="0"/>
                      </a:endParaRPr>
                    </a:p>
                  </a:txBody>
                  <a:tcPr marL="18990" marR="18990" marT="18990" marB="18990" anchor="ctr">
                    <a:lnL w="949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6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19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7"/>
                        <a:buFontTx/>
                        <a:buNone/>
                      </a:pPr>
                      <a:r>
                        <a:rPr lang="en-US" altLang="ko-KR" sz="1047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2010.04. </a:t>
                      </a:r>
                      <a:r>
                        <a:rPr lang="ko-KR" altLang="en-US" sz="1047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～ </a:t>
                      </a:r>
                      <a:r>
                        <a:rPr lang="en-US" altLang="ko-KR" sz="1047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2026.08. (16</a:t>
                      </a:r>
                      <a:r>
                        <a:rPr lang="ko-KR" altLang="en-US" sz="1047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년 </a:t>
                      </a:r>
                      <a:r>
                        <a:rPr lang="en-US" altLang="ko-KR" sz="1047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r>
                        <a:rPr lang="ko-KR" altLang="en-US" sz="1047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개월</a:t>
                      </a:r>
                      <a:r>
                        <a:rPr lang="en-US" altLang="ko-KR" sz="1047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1047" b="0" i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990" marR="18990" marT="18990" marB="18990" anchor="ctr">
                    <a:lnL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6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KR"/>
                    </a:p>
                  </a:txBody>
                  <a:tcPr marL="91150" marR="91150" marT="45575" marB="45575"/>
                </a:tc>
                <a:tc hMerge="1">
                  <a:txBody>
                    <a:bodyPr/>
                    <a:lstStyle/>
                    <a:p>
                      <a:endParaRPr lang="en-KR"/>
                    </a:p>
                  </a:txBody>
                  <a:tcPr marL="91150" marR="91150" marT="45575" marB="4557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80" name="Google Shape;480;p4"/>
          <p:cNvGraphicFramePr/>
          <p:nvPr>
            <p:extLst>
              <p:ext uri="{D42A27DB-BD31-4B8C-83A1-F6EECF244321}">
                <p14:modId xmlns:p14="http://schemas.microsoft.com/office/powerpoint/2010/main" val="2766651536"/>
              </p:ext>
            </p:extLst>
          </p:nvPr>
        </p:nvGraphicFramePr>
        <p:xfrm>
          <a:off x="635000" y="4460779"/>
          <a:ext cx="5486400" cy="3506753"/>
        </p:xfrm>
        <a:graphic>
          <a:graphicData uri="http://schemas.openxmlformats.org/drawingml/2006/table">
            <a:tbl>
              <a:tblPr firstRow="1" bandRow="1">
                <a:noFill/>
                <a:tableStyleId>{A65C353C-D88D-4590-9C8D-17DC0CB4FA02}</a:tableStyleId>
              </a:tblPr>
              <a:tblGrid>
                <a:gridCol w="55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7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97"/>
                        <a:buFontTx/>
                        <a:buNone/>
                      </a:pPr>
                      <a:r>
                        <a:rPr lang="ko-KR" altLang="en-US" sz="1047" b="0" u="none" strike="noStrike" cap="none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연도</a:t>
                      </a:r>
                      <a:endParaRPr sz="1047" b="0" u="none" strike="noStrike" cap="none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990" marR="18990" marT="18990" marB="18990" anchor="ctr">
                    <a:lnL w="949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6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97"/>
                        <a:buFontTx/>
                        <a:buNone/>
                      </a:pPr>
                      <a:r>
                        <a:rPr lang="ko-KR" altLang="en-US" sz="1047" b="0" u="none" strike="noStrike" cap="none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내용</a:t>
                      </a:r>
                      <a:endParaRPr sz="1047" b="0" u="none" strike="noStrike" cap="none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990" marR="18990" marT="18990" marB="18990" anchor="ctr">
                    <a:lnL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6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21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7"/>
                        <a:buFontTx/>
                        <a:buNone/>
                      </a:pPr>
                      <a:r>
                        <a:rPr lang="en-US" altLang="ko-KR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2010</a:t>
                      </a:r>
                      <a:endParaRPr sz="1047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990" marR="18990" marT="18990" marB="18990" anchor="ctr">
                    <a:lnL w="949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19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7"/>
                        <a:buFontTx/>
                        <a:buNone/>
                      </a:pPr>
                      <a:r>
                        <a:rPr lang="en-US" altLang="ko-KR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ko-KR" altLang="en-US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주</a:t>
                      </a:r>
                      <a:r>
                        <a:rPr lang="en-US" altLang="ko-KR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r>
                        <a:rPr lang="ko-KR" altLang="en-US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에이치나인 법인 설립</a:t>
                      </a:r>
                      <a:endParaRPr sz="1047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990" marR="18990" marT="18990" marB="18990" anchor="ctr">
                    <a:lnL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21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7"/>
                        <a:buFontTx/>
                        <a:buNone/>
                      </a:pPr>
                      <a:r>
                        <a:rPr lang="en-US" altLang="ko-KR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2011</a:t>
                      </a:r>
                      <a:endParaRPr sz="1047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990" marR="18990" marT="18990" marB="18990" anchor="ctr">
                    <a:lnL w="949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19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7"/>
                        <a:buFontTx/>
                        <a:buNone/>
                      </a:pPr>
                      <a:r>
                        <a:rPr lang="ko-KR" altLang="en-US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창업진흥원 혁신적 기업가상 수상</a:t>
                      </a:r>
                      <a:endParaRPr sz="1047" b="0">
                        <a:latin typeface="Arial" panose="020B0604020202020204" pitchFamily="34" charset="0"/>
                      </a:endParaRPr>
                    </a:p>
                  </a:txBody>
                  <a:tcPr marL="18990" marR="18990" marT="18990" marB="18990" anchor="ctr">
                    <a:lnL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21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7"/>
                        <a:buFontTx/>
                        <a:buNone/>
                      </a:pPr>
                      <a:r>
                        <a:rPr lang="en-US" altLang="ko-KR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2014</a:t>
                      </a:r>
                      <a:endParaRPr sz="1047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990" marR="18990" marT="18990" marB="18990" anchor="ctr">
                    <a:lnL w="949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19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7"/>
                        <a:buFontTx/>
                        <a:buNone/>
                      </a:pPr>
                      <a:r>
                        <a:rPr lang="ko-KR" altLang="en-US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벤처기업 인증 획득</a:t>
                      </a:r>
                      <a:endParaRPr sz="1047" b="0">
                        <a:latin typeface="Arial" panose="020B0604020202020204" pitchFamily="34" charset="0"/>
                      </a:endParaRPr>
                    </a:p>
                  </a:txBody>
                  <a:tcPr marL="18990" marR="18990" marT="18990" marB="18990" anchor="ctr">
                    <a:lnL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21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7"/>
                        <a:buFontTx/>
                        <a:buNone/>
                      </a:pPr>
                      <a:r>
                        <a:rPr lang="en-US" altLang="ko-KR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2016</a:t>
                      </a:r>
                      <a:endParaRPr sz="1047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990" marR="18990" marT="18990" marB="18990" anchor="ctr">
                    <a:lnL w="949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19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7"/>
                        <a:buFontTx/>
                        <a:buNone/>
                      </a:pPr>
                      <a:r>
                        <a:rPr lang="ko-KR" altLang="en-US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스마트앱 어워드 커뮤니케이션분야 최우수상</a:t>
                      </a:r>
                      <a:endParaRPr sz="1047" b="0">
                        <a:latin typeface="Arial" panose="020B0604020202020204" pitchFamily="34" charset="0"/>
                      </a:endParaRPr>
                    </a:p>
                  </a:txBody>
                  <a:tcPr marL="18990" marR="18990" marT="18990" marB="18990" anchor="ctr">
                    <a:lnL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1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7"/>
                        <a:buFontTx/>
                        <a:buNone/>
                      </a:pPr>
                      <a:r>
                        <a:rPr lang="en-US" altLang="ko-KR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2017</a:t>
                      </a:r>
                      <a:endParaRPr sz="1047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990" marR="18990" marT="18990" marB="18990" anchor="ctr">
                    <a:lnL w="949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19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7"/>
                        <a:buFontTx/>
                        <a:buNone/>
                      </a:pPr>
                      <a:r>
                        <a:rPr lang="en-US" altLang="ko-KR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Good Design Award </a:t>
                      </a:r>
                      <a:r>
                        <a:rPr lang="ko-KR" altLang="en-US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수상</a:t>
                      </a:r>
                      <a:r>
                        <a:rPr lang="en-US" altLang="ko-KR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: </a:t>
                      </a:r>
                      <a:r>
                        <a:rPr lang="ko-KR" altLang="en-US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코레일톡 플러스 모바일 앱</a:t>
                      </a:r>
                      <a:endParaRPr sz="1047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990" marR="18990" marT="18990" marB="18990" anchor="ctr">
                    <a:lnL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21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7"/>
                        <a:buFontTx/>
                        <a:buNone/>
                      </a:pPr>
                      <a:r>
                        <a:rPr lang="en-US" altLang="ko-KR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2019</a:t>
                      </a:r>
                      <a:endParaRPr sz="1047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990" marR="18990" marT="18990" marB="18990" anchor="ctr">
                    <a:lnL w="949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19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7"/>
                        <a:buFontTx/>
                        <a:buNone/>
                      </a:pPr>
                      <a:r>
                        <a:rPr lang="ko-KR" altLang="en-US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중소벤처기업부 사내벤처육성기업 선정</a:t>
                      </a:r>
                      <a:endParaRPr sz="1047" b="0">
                        <a:latin typeface="Arial" panose="020B0604020202020204" pitchFamily="34" charset="0"/>
                      </a:endParaRPr>
                    </a:p>
                  </a:txBody>
                  <a:tcPr marL="18990" marR="18990" marT="18990" marB="18990" anchor="ctr">
                    <a:lnL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21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7"/>
                        <a:buFontTx/>
                        <a:buNone/>
                      </a:pPr>
                      <a:r>
                        <a:rPr lang="en-US" altLang="ko-KR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2020</a:t>
                      </a:r>
                      <a:endParaRPr sz="1047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990" marR="18990" marT="18990" marB="18990" anchor="ctr">
                    <a:lnL w="949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19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7"/>
                        <a:buFontTx/>
                        <a:buNone/>
                      </a:pPr>
                      <a:r>
                        <a:rPr lang="ko-KR" altLang="en-US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사내벤처 육성 프로그램 활성화 표창 수상</a:t>
                      </a:r>
                      <a:endParaRPr sz="1047" b="0">
                        <a:latin typeface="Arial" panose="020B0604020202020204" pitchFamily="34" charset="0"/>
                      </a:endParaRPr>
                    </a:p>
                  </a:txBody>
                  <a:tcPr marL="18990" marR="18990" marT="18990" marB="18990" anchor="ctr">
                    <a:lnL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71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7"/>
                        <a:buFontTx/>
                        <a:buNone/>
                      </a:pPr>
                      <a:r>
                        <a:rPr lang="en-US" altLang="ko-KR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2022</a:t>
                      </a:r>
                      <a:endParaRPr sz="1047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990" marR="18990" marT="18990" marB="18990" anchor="ctr">
                    <a:lnL w="949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19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97"/>
                        <a:buFontTx/>
                        <a:buNone/>
                      </a:pPr>
                      <a:r>
                        <a:rPr lang="en-US" altLang="ko-KR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HCI Korea </a:t>
                      </a:r>
                      <a:r>
                        <a:rPr lang="ko-KR" altLang="en-US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온라인 학술대회 우수논문 수상 </a:t>
                      </a:r>
                      <a:r>
                        <a:rPr lang="en-US" altLang="ko-KR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ko-KR" altLang="en-US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반려동물을 위한 </a:t>
                      </a:r>
                      <a:r>
                        <a:rPr lang="en-US" altLang="ko-KR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AR</a:t>
                      </a:r>
                      <a:r>
                        <a:rPr lang="ko-KR" altLang="en-US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카메라 </a:t>
                      </a:r>
                      <a:r>
                        <a:rPr lang="en-US" altLang="ko-KR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Owao)</a:t>
                      </a:r>
                      <a:endParaRPr sz="1047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990" marR="18990" marT="18990" marB="18990" anchor="ctr">
                    <a:lnL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90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7"/>
                        <a:buFontTx/>
                        <a:buNone/>
                      </a:pPr>
                      <a:r>
                        <a:rPr lang="en-US" altLang="ko-KR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2023</a:t>
                      </a:r>
                      <a:endParaRPr sz="1047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990" marR="18990" marT="18990" marB="18990" anchor="ctr">
                    <a:lnL w="949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19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7"/>
                        <a:buFontTx/>
                        <a:buNone/>
                      </a:pPr>
                      <a:r>
                        <a:rPr lang="ko-KR" altLang="en-US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한국무역협회 </a:t>
                      </a:r>
                      <a:r>
                        <a:rPr lang="en-US" altLang="ko-KR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lang="ko-KR" altLang="en-US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백만불 수출의 탑 수상</a:t>
                      </a:r>
                    </a:p>
                    <a:p>
                      <a:pPr marL="0" marR="0" lvl="0" indent="0" algn="l" rtl="0">
                        <a:lnSpc>
                          <a:spcPts val="119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7"/>
                        <a:buFontTx/>
                        <a:buNone/>
                      </a:pPr>
                      <a:r>
                        <a:rPr lang="en-US" altLang="ko-KR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IF Design Award Communication </a:t>
                      </a:r>
                      <a:r>
                        <a:rPr lang="ko-KR" altLang="en-US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부문 수상</a:t>
                      </a:r>
                      <a:r>
                        <a:rPr lang="en-US" altLang="ko-KR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:</a:t>
                      </a:r>
                    </a:p>
                    <a:p>
                      <a:pPr marL="0" marR="0" lvl="0" indent="0" algn="l" rtl="0">
                        <a:lnSpc>
                          <a:spcPts val="119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7"/>
                        <a:buFontTx/>
                        <a:buNone/>
                      </a:pPr>
                      <a:r>
                        <a:rPr lang="ko-KR" altLang="en-US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국립중앙박물관 교육 통합 플랫폼 </a:t>
                      </a:r>
                      <a:r>
                        <a:rPr lang="en-US" altLang="ko-KR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MODU</a:t>
                      </a:r>
                      <a:endParaRPr sz="1047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990" marR="18990" marT="18990" marB="18990" anchor="ctr">
                    <a:lnL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71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7"/>
                        <a:buFontTx/>
                        <a:buNone/>
                      </a:pPr>
                      <a:r>
                        <a:rPr lang="en-US" altLang="ko-KR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2024</a:t>
                      </a:r>
                      <a:endParaRPr sz="1047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990" marR="18990" marT="18990" marB="18990" anchor="ctr">
                    <a:lnL w="949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19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7"/>
                        <a:buFontTx/>
                        <a:buNone/>
                      </a:pPr>
                      <a:r>
                        <a:rPr lang="en-US" altLang="ko-KR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ICT AWARD KOREA </a:t>
                      </a:r>
                      <a:r>
                        <a:rPr lang="ko-KR" altLang="en-US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디지털 인사이트 분야 </a:t>
                      </a:r>
                      <a:r>
                        <a:rPr lang="en-US" altLang="ko-KR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GRAND PRIZE</a:t>
                      </a:r>
                    </a:p>
                    <a:p>
                      <a:pPr marL="0" marR="0" lvl="0" indent="0" algn="l" rtl="0">
                        <a:lnSpc>
                          <a:spcPts val="119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7"/>
                        <a:buFontTx/>
                        <a:buNone/>
                      </a:pPr>
                      <a:r>
                        <a:rPr lang="en-US" altLang="ko-KR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ICT AWARD KOREA </a:t>
                      </a:r>
                      <a:r>
                        <a:rPr lang="ko-KR" altLang="en-US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디지털 서비스혁신분야 </a:t>
                      </a:r>
                      <a:r>
                        <a:rPr lang="en-US" altLang="ko-KR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GOLD PRIZE</a:t>
                      </a:r>
                      <a:endParaRPr sz="1047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990" marR="18990" marT="18990" marB="18990" anchor="ctr">
                    <a:lnL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71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7"/>
                        <a:buFontTx/>
                        <a:buNone/>
                      </a:pPr>
                      <a:r>
                        <a:rPr lang="en-US" altLang="ko-KR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2025</a:t>
                      </a:r>
                      <a:endParaRPr sz="1047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990" marR="18990" marT="18990" marB="18990" anchor="ctr">
                    <a:lnL w="949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6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19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7"/>
                        <a:buFontTx/>
                        <a:buNone/>
                      </a:pPr>
                      <a:r>
                        <a:rPr lang="en-US" altLang="ko-KR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Design Award 2025 Service </a:t>
                      </a:r>
                      <a:r>
                        <a:rPr lang="ko-KR" altLang="en-US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부문 수상 </a:t>
                      </a:r>
                      <a:r>
                        <a:rPr lang="en-US" altLang="ko-KR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&lt;Daishin Securities MTS&gt;</a:t>
                      </a:r>
                      <a:endParaRPr sz="1047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990" marR="18990" marT="18990" marB="18990" anchor="ctr">
                    <a:lnL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6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481" name="Google Shape;481;p4"/>
          <p:cNvGraphicFramePr/>
          <p:nvPr>
            <p:extLst>
              <p:ext uri="{D42A27DB-BD31-4B8C-83A1-F6EECF244321}">
                <p14:modId xmlns:p14="http://schemas.microsoft.com/office/powerpoint/2010/main" val="3637079852"/>
              </p:ext>
            </p:extLst>
          </p:nvPr>
        </p:nvGraphicFramePr>
        <p:xfrm>
          <a:off x="635000" y="8347322"/>
          <a:ext cx="5486400" cy="1076080"/>
        </p:xfrm>
        <a:graphic>
          <a:graphicData uri="http://schemas.openxmlformats.org/drawingml/2006/table">
            <a:tbl>
              <a:tblPr firstRow="1" bandRow="1">
                <a:noFill/>
                <a:tableStyleId>{A65C353C-D88D-4590-9C8D-17DC0CB4FA02}</a:tableStyleId>
              </a:tblPr>
              <a:tblGrid>
                <a:gridCol w="49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1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1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216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97"/>
                        <a:buFontTx/>
                        <a:buNone/>
                      </a:pPr>
                      <a:r>
                        <a:rPr lang="ko-KR" altLang="en-US" sz="1047" b="0" u="none" strike="noStrike" cap="none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구분</a:t>
                      </a:r>
                      <a:endParaRPr sz="1047" b="0">
                        <a:latin typeface="Arial" panose="020B0604020202020204" pitchFamily="34" charset="0"/>
                      </a:endParaRPr>
                    </a:p>
                  </a:txBody>
                  <a:tcPr marL="12660" marR="12660" marT="12660" marB="12660" anchor="ctr">
                    <a:lnR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6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KR"/>
                    </a:p>
                  </a:txBody>
                  <a:tcPr marL="91150" marR="91150" marT="45575" marB="45575"/>
                </a:tc>
                <a:tc hMerge="1">
                  <a:txBody>
                    <a:bodyPr/>
                    <a:lstStyle/>
                    <a:p>
                      <a:endParaRPr lang="en-KR"/>
                    </a:p>
                  </a:txBody>
                  <a:tcPr marL="91150" marR="91150" marT="45575" marB="45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97"/>
                        <a:buFontTx/>
                        <a:buNone/>
                      </a:pPr>
                      <a:r>
                        <a:rPr lang="en-US" altLang="ko-KR" sz="1047" b="0" u="none" strike="noStrike" cap="none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2023</a:t>
                      </a:r>
                      <a:endParaRPr sz="1047" b="0" u="none" strike="noStrike" cap="none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60" marR="12660" marT="12660" marB="12660" anchor="ctr">
                    <a:lnL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6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97"/>
                        <a:buFontTx/>
                        <a:buNone/>
                      </a:pPr>
                      <a:r>
                        <a:rPr lang="en-US" altLang="ko-KR" sz="1047" b="0" u="none" strike="noStrike" cap="none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2024</a:t>
                      </a:r>
                      <a:endParaRPr sz="1047" b="0" u="none" strike="noStrike" cap="none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60" marR="12660" marT="12660" marB="12660" anchor="ctr">
                    <a:lnL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6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97"/>
                        <a:buFontTx/>
                        <a:buNone/>
                      </a:pPr>
                      <a:r>
                        <a:rPr lang="en-US" altLang="ko-KR" sz="1047" b="0" u="none" strike="noStrike" cap="none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2025</a:t>
                      </a:r>
                      <a:endParaRPr sz="1047" b="0" u="none" strike="noStrike" cap="none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60" marR="12660" marT="12660" marB="12660" anchor="ctr">
                    <a:lnL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6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216"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1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7"/>
                        <a:buFontTx/>
                        <a:buNone/>
                      </a:pPr>
                      <a:r>
                        <a:rPr lang="ko-KR" altLang="en-US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자본금</a:t>
                      </a:r>
                      <a:endParaRPr sz="1047" b="0">
                        <a:latin typeface="Arial" panose="020B0604020202020204" pitchFamily="34" charset="0"/>
                      </a:endParaRPr>
                    </a:p>
                  </a:txBody>
                  <a:tcPr marL="12660" marR="12660" marT="12660" marB="12660" anchor="ctr">
                    <a:lnL w="949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KR"/>
                    </a:p>
                  </a:txBody>
                  <a:tcPr marL="91150" marR="91150" marT="45575" marB="45575"/>
                </a:tc>
                <a:tc hMerge="1">
                  <a:txBody>
                    <a:bodyPr/>
                    <a:lstStyle/>
                    <a:p>
                      <a:endParaRPr lang="en-KR"/>
                    </a:p>
                  </a:txBody>
                  <a:tcPr marL="91150" marR="91150" marT="45575" marB="45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7"/>
                        <a:buFontTx/>
                        <a:buNone/>
                      </a:pPr>
                      <a:r>
                        <a:rPr lang="en-US" altLang="ko-KR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100,100</a:t>
                      </a:r>
                      <a:endParaRPr sz="1047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60" marR="12660" marT="12660" marB="12660" anchor="ctr">
                    <a:lnL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7"/>
                        <a:buFontTx/>
                        <a:buNone/>
                      </a:pPr>
                      <a:r>
                        <a:rPr lang="en-US" altLang="ko-KR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100,100</a:t>
                      </a:r>
                      <a:endParaRPr sz="1047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60" marR="12660" marT="12660" marB="12660" anchor="ctr">
                    <a:lnL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7"/>
                        <a:buFontTx/>
                        <a:buNone/>
                      </a:pPr>
                      <a:r>
                        <a:rPr lang="en-US" altLang="ko-KR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100,100</a:t>
                      </a:r>
                      <a:endParaRPr sz="1047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60" marR="12660" marT="12660" marB="12660" anchor="ctr">
                    <a:lnL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216">
                <a:tc row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1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7"/>
                        <a:buFontTx/>
                        <a:buNone/>
                      </a:pPr>
                      <a:r>
                        <a:rPr lang="ko-KR" altLang="en-US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매출액</a:t>
                      </a:r>
                      <a:endParaRPr sz="1047" b="0">
                        <a:latin typeface="Arial" panose="020B0604020202020204" pitchFamily="34" charset="0"/>
                      </a:endParaRPr>
                    </a:p>
                  </a:txBody>
                  <a:tcPr marL="12660" marR="12660" marT="12660" marB="12660" anchor="ctr">
                    <a:lnL w="949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6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1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7"/>
                        <a:buFontTx/>
                        <a:buNone/>
                      </a:pPr>
                      <a:r>
                        <a:rPr lang="ko-KR" altLang="en-US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컨설팅부문</a:t>
                      </a:r>
                      <a:endParaRPr sz="1047" b="0">
                        <a:latin typeface="Arial" panose="020B0604020202020204" pitchFamily="34" charset="0"/>
                      </a:endParaRPr>
                    </a:p>
                  </a:txBody>
                  <a:tcPr marL="12660" marR="12660" marT="12660" marB="12660" anchor="ctr">
                    <a:lnL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1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7"/>
                        <a:buFontTx/>
                        <a:buNone/>
                      </a:pPr>
                      <a:r>
                        <a:rPr lang="en-US" altLang="ko-KR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SW </a:t>
                      </a:r>
                      <a:r>
                        <a:rPr lang="ko-KR" altLang="en-US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매출</a:t>
                      </a:r>
                      <a:endParaRPr sz="1047" b="0">
                        <a:latin typeface="Arial" panose="020B0604020202020204" pitchFamily="34" charset="0"/>
                      </a:endParaRPr>
                    </a:p>
                  </a:txBody>
                  <a:tcPr marL="12660" marR="12660" marT="12660" marB="12660" anchor="ctr">
                    <a:lnL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7"/>
                        <a:buFontTx/>
                        <a:buNone/>
                      </a:pPr>
                      <a:r>
                        <a:rPr lang="en-US" altLang="ko-KR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9,885,377</a:t>
                      </a:r>
                      <a:endParaRPr sz="1047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60" marR="12660" marT="12660" marB="12660" anchor="ctr">
                    <a:lnL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7"/>
                        <a:buFontTx/>
                        <a:buNone/>
                      </a:pPr>
                      <a:r>
                        <a:rPr lang="en-US" altLang="ko-KR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9,460,127</a:t>
                      </a:r>
                      <a:endParaRPr sz="1047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60" marR="12660" marT="12660" marB="12660" anchor="ctr">
                    <a:lnL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7"/>
                        <a:buFontTx/>
                        <a:buNone/>
                      </a:pPr>
                      <a:r>
                        <a:rPr lang="en-US" altLang="ko-KR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11,077,940</a:t>
                      </a:r>
                      <a:endParaRPr sz="1047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60" marR="12660" marT="12660" marB="12660" anchor="ctr">
                    <a:lnL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216">
                <a:tc vMerge="1">
                  <a:txBody>
                    <a:bodyPr/>
                    <a:lstStyle/>
                    <a:p>
                      <a:endParaRPr lang="en-KR"/>
                    </a:p>
                  </a:txBody>
                  <a:tcPr marL="91150" marR="91150" marT="45575" marB="45575"/>
                </a:tc>
                <a:tc vMerge="1">
                  <a:txBody>
                    <a:bodyPr/>
                    <a:lstStyle/>
                    <a:p>
                      <a:endParaRPr lang="en-KR"/>
                    </a:p>
                  </a:txBody>
                  <a:tcPr marL="91150" marR="91150" marT="45575" marB="45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1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7"/>
                        <a:buFontTx/>
                        <a:buNone/>
                      </a:pPr>
                      <a:r>
                        <a:rPr lang="ko-KR" altLang="en-US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기타</a:t>
                      </a:r>
                      <a:endParaRPr sz="1047" b="0">
                        <a:latin typeface="Arial" panose="020B0604020202020204" pitchFamily="34" charset="0"/>
                      </a:endParaRPr>
                    </a:p>
                  </a:txBody>
                  <a:tcPr marL="12660" marR="12660" marT="12660" marB="12660" anchor="ctr">
                    <a:lnL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7"/>
                        <a:buFontTx/>
                        <a:buNone/>
                      </a:pPr>
                      <a:r>
                        <a:rPr lang="en-US" altLang="ko-KR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47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60" marR="12660" marT="12660" marB="12660" anchor="ctr">
                    <a:lnL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7"/>
                        <a:buFontTx/>
                        <a:buNone/>
                      </a:pPr>
                      <a:r>
                        <a:rPr lang="en-US" altLang="ko-KR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47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60" marR="12660" marT="12660" marB="12660" anchor="ctr">
                    <a:lnL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7"/>
                        <a:buFontTx/>
                        <a:buNone/>
                      </a:pPr>
                      <a:r>
                        <a:rPr lang="en-US" altLang="ko-KR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38,800</a:t>
                      </a:r>
                      <a:endParaRPr sz="1047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60" marR="12660" marT="12660" marB="12660" anchor="ctr">
                    <a:lnL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216">
                <a:tc vMerge="1">
                  <a:txBody>
                    <a:bodyPr/>
                    <a:lstStyle/>
                    <a:p>
                      <a:endParaRPr lang="en-KR"/>
                    </a:p>
                  </a:txBody>
                  <a:tcPr marL="91150" marR="91150" marT="45575" marB="45575"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1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7"/>
                        <a:buFontTx/>
                        <a:buNone/>
                      </a:pPr>
                      <a:r>
                        <a:rPr lang="ko-KR" altLang="en-US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합계</a:t>
                      </a:r>
                      <a:endParaRPr sz="1047" b="0">
                        <a:latin typeface="Arial" panose="020B0604020202020204" pitchFamily="34" charset="0"/>
                      </a:endParaRPr>
                    </a:p>
                  </a:txBody>
                  <a:tcPr marL="12660" marR="12660" marT="12660" marB="12660" anchor="ctr">
                    <a:lnL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6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KR"/>
                    </a:p>
                  </a:txBody>
                  <a:tcPr marL="91150" marR="91150" marT="45575" marB="45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7"/>
                        <a:buFontTx/>
                        <a:buNone/>
                      </a:pPr>
                      <a:r>
                        <a:rPr lang="en-US" altLang="ko-KR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9,885,377</a:t>
                      </a:r>
                      <a:endParaRPr sz="1047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60" marR="12660" marT="12660" marB="12660" anchor="ctr">
                    <a:lnL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6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7"/>
                        <a:buFontTx/>
                        <a:buNone/>
                      </a:pPr>
                      <a:r>
                        <a:rPr lang="en-US" altLang="ko-KR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9,460,127</a:t>
                      </a:r>
                      <a:endParaRPr sz="1047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60" marR="12660" marT="12660" marB="12660" anchor="ctr">
                    <a:lnL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6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7"/>
                        <a:buFontTx/>
                        <a:buNone/>
                      </a:pPr>
                      <a:r>
                        <a:rPr lang="en-US" altLang="ko-KR" sz="1047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11,116,740</a:t>
                      </a:r>
                      <a:endParaRPr sz="1047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60" marR="12660" marT="12660" marB="12660" anchor="ctr">
                    <a:lnL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9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9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6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에이치나인은 소프트웨어 개발과 사용자 경험 설계를 수행">
            <a:extLst>
              <a:ext uri="{FF2B5EF4-FFF2-40B4-BE49-F238E27FC236}">
                <a16:creationId xmlns:a16="http://schemas.microsoft.com/office/drawing/2014/main" id="{199B45F6-435B-C0F6-89C8-1B8850A9B00A}"/>
              </a:ext>
            </a:extLst>
          </p:cNvPr>
          <p:cNvSpPr txBox="1"/>
          <p:nvPr/>
        </p:nvSpPr>
        <p:spPr>
          <a:xfrm>
            <a:off x="635000" y="1435100"/>
            <a:ext cx="5486400" cy="736323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ts val="1794"/>
              </a:lnSpc>
            </a:pPr>
            <a:r>
              <a:rPr lang="ko-KR" altLang="en-US" sz="1196">
                <a:latin typeface="Arial" panose="020B0604020202020204" pitchFamily="34" charset="0"/>
              </a:rPr>
              <a:t>에이치나인은 소프트웨어 개발과 사용자 경험 설계를 수행하는 기업입니다</a:t>
            </a:r>
            <a:r>
              <a:rPr lang="en-US" altLang="ko-KR" sz="1196">
                <a:latin typeface="Arial" panose="020B0604020202020204" pitchFamily="34" charset="0"/>
              </a:rPr>
              <a:t>. </a:t>
            </a:r>
            <a:r>
              <a:rPr lang="ko-KR" altLang="en-US" sz="1196">
                <a:latin typeface="Arial" panose="020B0604020202020204" pitchFamily="34" charset="0"/>
              </a:rPr>
              <a:t>서비스 기획</a:t>
            </a:r>
            <a:r>
              <a:rPr lang="en-US" altLang="ko-KR" sz="1196">
                <a:latin typeface="Arial" panose="020B0604020202020204" pitchFamily="34" charset="0"/>
              </a:rPr>
              <a:t>·</a:t>
            </a:r>
            <a:r>
              <a:rPr lang="ko-KR" altLang="en-US" sz="1196">
                <a:latin typeface="Arial" panose="020B0604020202020204" pitchFamily="34" charset="0"/>
              </a:rPr>
              <a:t>개발</a:t>
            </a:r>
            <a:r>
              <a:rPr lang="en-US" altLang="ko-KR" sz="1196">
                <a:latin typeface="Arial" panose="020B0604020202020204" pitchFamily="34" charset="0"/>
              </a:rPr>
              <a:t>·</a:t>
            </a:r>
            <a:r>
              <a:rPr lang="ko-KR" altLang="en-US" sz="1196">
                <a:latin typeface="Arial" panose="020B0604020202020204" pitchFamily="34" charset="0"/>
              </a:rPr>
              <a:t>운영 경험을 바탕으로 본 사업을 총괄합니다</a:t>
            </a:r>
            <a:r>
              <a:rPr lang="en-US" altLang="ko-KR" sz="1196">
                <a:latin typeface="Arial" panose="020B0604020202020204" pitchFamily="34" charset="0"/>
              </a:rPr>
              <a:t>.</a:t>
            </a:r>
            <a:endParaRPr lang="en-KR" sz="1196">
              <a:latin typeface="Arial" panose="020B0604020202020204" pitchFamily="34" charset="0"/>
            </a:endParaRPr>
          </a:p>
        </p:txBody>
      </p:sp>
      <p:sp>
        <p:nvSpPr>
          <p:cNvPr id="5" name="일반 현황">
            <a:extLst>
              <a:ext uri="{FF2B5EF4-FFF2-40B4-BE49-F238E27FC236}">
                <a16:creationId xmlns:a16="http://schemas.microsoft.com/office/drawing/2014/main" id="{8012B2DF-D78A-19D6-E979-A2D7263AEC96}"/>
              </a:ext>
            </a:extLst>
          </p:cNvPr>
          <p:cNvSpPr txBox="1"/>
          <p:nvPr/>
        </p:nvSpPr>
        <p:spPr>
          <a:xfrm>
            <a:off x="635000" y="2042768"/>
            <a:ext cx="5486400" cy="303834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ts val="1894"/>
              </a:lnSpc>
            </a:pPr>
            <a:r>
              <a:rPr lang="ko-KR" altLang="en-US" sz="1296" b="1">
                <a:solidFill>
                  <a:srgbClr val="1F4E79"/>
                </a:solidFill>
                <a:latin typeface="Arial" panose="020B0604020202020204" pitchFamily="34" charset="0"/>
              </a:rPr>
              <a:t>일반 현황</a:t>
            </a:r>
            <a:endParaRPr lang="en-KR" sz="1296" b="1">
              <a:solidFill>
                <a:srgbClr val="1F4E79"/>
              </a:solidFill>
              <a:latin typeface="Arial" panose="020B0604020202020204" pitchFamily="34" charset="0"/>
            </a:endParaRPr>
          </a:p>
        </p:txBody>
      </p:sp>
      <p:sp>
        <p:nvSpPr>
          <p:cNvPr id="6" name="주요 연혁">
            <a:extLst>
              <a:ext uri="{FF2B5EF4-FFF2-40B4-BE49-F238E27FC236}">
                <a16:creationId xmlns:a16="http://schemas.microsoft.com/office/drawing/2014/main" id="{876B0994-361F-D2B9-B38D-AD06E10D8D3A}"/>
              </a:ext>
            </a:extLst>
          </p:cNvPr>
          <p:cNvSpPr txBox="1"/>
          <p:nvPr/>
        </p:nvSpPr>
        <p:spPr>
          <a:xfrm>
            <a:off x="635000" y="4156945"/>
            <a:ext cx="5486400" cy="303834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ts val="1894"/>
              </a:lnSpc>
            </a:pPr>
            <a:r>
              <a:rPr lang="ko-KR" altLang="en-US" sz="1296" b="1">
                <a:solidFill>
                  <a:srgbClr val="1F4E79"/>
                </a:solidFill>
                <a:latin typeface="Arial" panose="020B0604020202020204" pitchFamily="34" charset="0"/>
              </a:rPr>
              <a:t>주요 연혁</a:t>
            </a:r>
            <a:endParaRPr lang="en-KR" sz="1296" b="1">
              <a:solidFill>
                <a:srgbClr val="1F4E79"/>
              </a:solidFill>
              <a:latin typeface="Arial" panose="020B0604020202020204" pitchFamily="34" charset="0"/>
            </a:endParaRPr>
          </a:p>
        </p:txBody>
      </p:sp>
      <p:sp>
        <p:nvSpPr>
          <p:cNvPr id="7" name="자본금 및 매출액 (최근 3년)">
            <a:extLst>
              <a:ext uri="{FF2B5EF4-FFF2-40B4-BE49-F238E27FC236}">
                <a16:creationId xmlns:a16="http://schemas.microsoft.com/office/drawing/2014/main" id="{AC172729-FBDA-2C51-9F54-04129AC78D98}"/>
              </a:ext>
            </a:extLst>
          </p:cNvPr>
          <p:cNvSpPr txBox="1"/>
          <p:nvPr/>
        </p:nvSpPr>
        <p:spPr>
          <a:xfrm>
            <a:off x="635000" y="8043488"/>
            <a:ext cx="5486400" cy="303834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ts val="1894"/>
              </a:lnSpc>
            </a:pPr>
            <a:r>
              <a:rPr lang="ko-KR" altLang="en-US" sz="1296" b="1">
                <a:solidFill>
                  <a:srgbClr val="1F4E79"/>
                </a:solidFill>
                <a:latin typeface="Arial" panose="020B0604020202020204" pitchFamily="34" charset="0"/>
              </a:rPr>
              <a:t>자본금 및 매출액 </a:t>
            </a:r>
            <a:r>
              <a:rPr lang="en-US" altLang="ko-KR" sz="1296" b="1">
                <a:solidFill>
                  <a:srgbClr val="1F4E79"/>
                </a:solidFill>
                <a:latin typeface="Arial" panose="020B0604020202020204" pitchFamily="34" charset="0"/>
              </a:rPr>
              <a:t>(</a:t>
            </a:r>
            <a:r>
              <a:rPr lang="ko-KR" altLang="en-US" sz="1296" b="1">
                <a:solidFill>
                  <a:srgbClr val="1F4E79"/>
                </a:solidFill>
                <a:latin typeface="Arial" panose="020B0604020202020204" pitchFamily="34" charset="0"/>
              </a:rPr>
              <a:t>최근 </a:t>
            </a:r>
            <a:r>
              <a:rPr lang="en-US" altLang="ko-KR" sz="1296" b="1">
                <a:solidFill>
                  <a:srgbClr val="1F4E79"/>
                </a:solidFill>
                <a:latin typeface="Arial" panose="020B0604020202020204" pitchFamily="34" charset="0"/>
              </a:rPr>
              <a:t>3</a:t>
            </a:r>
            <a:r>
              <a:rPr lang="ko-KR" altLang="en-US" sz="1296" b="1">
                <a:solidFill>
                  <a:srgbClr val="1F4E79"/>
                </a:solidFill>
                <a:latin typeface="Arial" panose="020B0604020202020204" pitchFamily="34" charset="0"/>
              </a:rPr>
              <a:t>년</a:t>
            </a:r>
            <a:r>
              <a:rPr lang="en-US" altLang="ko-KR" sz="1296" b="1">
                <a:solidFill>
                  <a:srgbClr val="1F4E79"/>
                </a:solidFill>
                <a:latin typeface="Arial" panose="020B0604020202020204" pitchFamily="34" charset="0"/>
              </a:rPr>
              <a:t>)</a:t>
            </a:r>
            <a:endParaRPr lang="en-KR" sz="1296" b="1">
              <a:solidFill>
                <a:srgbClr val="1F4E79"/>
              </a:solidFill>
              <a:latin typeface="Arial" panose="020B0604020202020204" pitchFamily="34" charset="0"/>
            </a:endParaRPr>
          </a:p>
        </p:txBody>
      </p:sp>
      <p:sp>
        <p:nvSpPr>
          <p:cNvPr id="8" name="(단위: 천원)">
            <a:extLst>
              <a:ext uri="{FF2B5EF4-FFF2-40B4-BE49-F238E27FC236}">
                <a16:creationId xmlns:a16="http://schemas.microsoft.com/office/drawing/2014/main" id="{A48A64CE-541F-40A3-1CD7-0C907B712504}"/>
              </a:ext>
            </a:extLst>
          </p:cNvPr>
          <p:cNvSpPr txBox="1"/>
          <p:nvPr/>
        </p:nvSpPr>
        <p:spPr>
          <a:xfrm>
            <a:off x="5049287" y="8094127"/>
            <a:ext cx="1063419" cy="306801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 algn="r">
              <a:lnSpc>
                <a:spcPts val="1346"/>
              </a:lnSpc>
            </a:pPr>
            <a:r>
              <a:rPr lang="en-US" altLang="ko-KR" sz="897">
                <a:latin typeface="Arial" panose="020B0604020202020204" pitchFamily="34" charset="0"/>
              </a:rPr>
              <a:t>(</a:t>
            </a:r>
            <a:r>
              <a:rPr lang="ko-KR" altLang="en-US" sz="897">
                <a:latin typeface="Arial" panose="020B0604020202020204" pitchFamily="34" charset="0"/>
              </a:rPr>
              <a:t>단위</a:t>
            </a:r>
            <a:r>
              <a:rPr lang="en-US" altLang="ko-KR" sz="897">
                <a:latin typeface="Arial" panose="020B0604020202020204" pitchFamily="34" charset="0"/>
              </a:rPr>
              <a:t>: </a:t>
            </a:r>
            <a:r>
              <a:rPr lang="ko-KR" altLang="en-US" sz="897">
                <a:latin typeface="Arial" panose="020B0604020202020204" pitchFamily="34" charset="0"/>
              </a:rPr>
              <a:t>천원</a:t>
            </a:r>
            <a:r>
              <a:rPr lang="en-US" altLang="ko-KR" sz="897">
                <a:latin typeface="Arial" panose="020B0604020202020204" pitchFamily="34" charset="0"/>
              </a:rPr>
              <a:t>)</a:t>
            </a:r>
            <a:endParaRPr lang="en-KR" sz="897">
              <a:latin typeface="Arial" panose="020B0604020202020204" pitchFamily="34" charset="0"/>
            </a:endParaRPr>
          </a:p>
        </p:txBody>
      </p:sp>
      <p:sp>
        <p:nvSpPr>
          <p:cNvPr id="3" name="1. 제안사 일반 현황 (에이치나인)">
            <a:extLst>
              <a:ext uri="{FF2B5EF4-FFF2-40B4-BE49-F238E27FC236}">
                <a16:creationId xmlns:a16="http://schemas.microsoft.com/office/drawing/2014/main" id="{9BA49DDA-7EEA-E022-E742-80E651743781}"/>
              </a:ext>
            </a:extLst>
          </p:cNvPr>
          <p:cNvSpPr txBox="1"/>
          <p:nvPr/>
        </p:nvSpPr>
        <p:spPr>
          <a:xfrm>
            <a:off x="635000" y="990600"/>
            <a:ext cx="54864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2200"/>
              </a:lnSpc>
            </a:pPr>
            <a:r>
              <a:rPr lang="en-US" altLang="ko-KR" sz="1600" b="1">
                <a:latin typeface="Arial" panose="020B0604020202020204" pitchFamily="34" charset="0"/>
              </a:rPr>
              <a:t>1. </a:t>
            </a:r>
            <a:r>
              <a:rPr lang="ko-KR" altLang="en-US" sz="1600" b="1">
                <a:latin typeface="Arial" panose="020B0604020202020204" pitchFamily="34" charset="0"/>
              </a:rPr>
              <a:t>제안사 일반 현황 </a:t>
            </a:r>
            <a:r>
              <a:rPr lang="en-US" altLang="ko-KR" sz="1600" b="1">
                <a:latin typeface="Arial" panose="020B0604020202020204" pitchFamily="34" charset="0"/>
              </a:rPr>
              <a:t>(</a:t>
            </a:r>
            <a:r>
              <a:rPr lang="ko-KR" altLang="en-US" sz="1600" b="1">
                <a:latin typeface="Arial" panose="020B0604020202020204" pitchFamily="34" charset="0"/>
              </a:rPr>
              <a:t>에이치나인</a:t>
            </a:r>
            <a:r>
              <a:rPr lang="en-US" altLang="ko-KR" sz="1600" b="1">
                <a:latin typeface="Arial" panose="020B0604020202020204" pitchFamily="34" charset="0"/>
              </a:rPr>
              <a:t>)</a:t>
            </a:r>
            <a:endParaRPr lang="en-KR" sz="1600" b="1">
              <a:latin typeface="Arial" panose="020B0604020202020204" pitchFamily="34" charset="0"/>
            </a:endParaRPr>
          </a:p>
        </p:txBody>
      </p:sp>
      <p:sp>
        <p:nvSpPr>
          <p:cNvPr id="2" name="1. 일반 현황">
            <a:extLst>
              <a:ext uri="{FF2B5EF4-FFF2-40B4-BE49-F238E27FC236}">
                <a16:creationId xmlns:a16="http://schemas.microsoft.com/office/drawing/2014/main" id="{350BED98-9C6B-5558-FAC1-40140E3C30B4}"/>
              </a:ext>
            </a:extLst>
          </p:cNvPr>
          <p:cNvSpPr txBox="1"/>
          <p:nvPr/>
        </p:nvSpPr>
        <p:spPr>
          <a:xfrm>
            <a:off x="635000" y="500563"/>
            <a:ext cx="2228339" cy="307777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lang="en-US" altLang="ko-KR" sz="1200">
                <a:latin typeface="Arial" panose="020B0604020202020204" pitchFamily="34" charset="0"/>
              </a:rPr>
              <a:t>1. </a:t>
            </a:r>
            <a:r>
              <a:rPr lang="ko-KR" altLang="en-US" sz="1200">
                <a:latin typeface="Arial" panose="020B0604020202020204" pitchFamily="34" charset="0"/>
              </a:rPr>
              <a:t>일반 현황</a:t>
            </a:r>
            <a:endParaRPr lang="en-KR" sz="1200">
              <a:latin typeface="Arial" panose="020B0604020202020204" pitchFamily="34" charset="0"/>
            </a:endParaRPr>
          </a:p>
        </p:txBody>
      </p:sp>
      <p:sp>
        <p:nvSpPr>
          <p:cNvPr id="482" name="BookFolioEven">
            <a:extLst>
              <a:ext uri="{FF2B5EF4-FFF2-40B4-BE49-F238E27FC236}">
                <a16:creationId xmlns:a16="http://schemas.microsoft.com/office/drawing/2014/main" id="{BE6C01A2-092E-422D-9CE1-6EC6420F6A48}"/>
              </a:ext>
            </a:extLst>
          </p:cNvPr>
          <p:cNvSpPr>
            <a:spLocks noGrp="1"/>
          </p:cNvSpPr>
          <p:nvPr/>
        </p:nvSpPr>
        <p:spPr>
          <a:xfrm>
            <a:off x="635000" y="9575800"/>
            <a:ext cx="508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4" name="Google Shape;494;g3f9f6cb7583_0_55"/>
          <p:cNvGraphicFramePr/>
          <p:nvPr>
            <p:extLst>
              <p:ext uri="{D42A27DB-BD31-4B8C-83A1-F6EECF244321}">
                <p14:modId xmlns:p14="http://schemas.microsoft.com/office/powerpoint/2010/main" val="1024396710"/>
              </p:ext>
            </p:extLst>
          </p:nvPr>
        </p:nvGraphicFramePr>
        <p:xfrm>
          <a:off x="736600" y="2349500"/>
          <a:ext cx="5486400" cy="1651000"/>
        </p:xfrm>
        <a:graphic>
          <a:graphicData uri="http://schemas.openxmlformats.org/drawingml/2006/table">
            <a:tbl>
              <a:tblPr firstRow="1" bandRow="1">
                <a:noFill/>
                <a:tableStyleId>{A65C353C-D88D-4590-9C8D-17DC0CB4FA02}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Tx/>
                        <a:buNone/>
                      </a:pPr>
                      <a:r>
                        <a:rPr lang="ko-KR" altLang="en-US" sz="1050" b="0" u="none" strike="noStrike" cap="none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회사명</a:t>
                      </a:r>
                      <a:endParaRPr sz="1050" b="0">
                        <a:latin typeface="Arial" panose="020B0604020202020204" pitchFamily="34" charset="0"/>
                      </a:endParaRPr>
                    </a:p>
                  </a:txBody>
                  <a:tcPr marL="19050" marR="19050" marT="19050" marB="19050" anchor="ctr"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Tx/>
                        <a:buNone/>
                      </a:pPr>
                      <a:r>
                        <a:rPr lang="ko-KR" altLang="en-US" sz="105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주식회사 에즈넷</a:t>
                      </a:r>
                      <a:endParaRPr sz="1050" b="0" i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050" marR="19050" marT="19050" marB="1905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Tx/>
                        <a:buNone/>
                      </a:pPr>
                      <a:r>
                        <a:rPr lang="ko-KR" altLang="en-US" sz="1050" b="0" u="none" strike="noStrike" cap="none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대표자</a:t>
                      </a:r>
                      <a:endParaRPr sz="1050" b="0">
                        <a:latin typeface="Arial" panose="020B0604020202020204" pitchFamily="34" charset="0"/>
                      </a:endParaRPr>
                    </a:p>
                  </a:txBody>
                  <a:tcPr marL="19050" marR="19050" marT="19050" marB="1905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Tx/>
                        <a:buNone/>
                      </a:pPr>
                      <a:r>
                        <a:rPr lang="ko-KR" altLang="en-US" sz="1050" b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박병희</a:t>
                      </a:r>
                      <a:endParaRPr sz="1050" b="0">
                        <a:latin typeface="Arial" panose="020B0604020202020204" pitchFamily="34" charset="0"/>
                      </a:endParaRPr>
                    </a:p>
                  </a:txBody>
                  <a:tcPr marL="19050" marR="19050" marT="19050" marB="1905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Tx/>
                        <a:buNone/>
                      </a:pPr>
                      <a:r>
                        <a:rPr lang="ko-KR" altLang="en-US" sz="1050" b="0" u="none" strike="noStrike" cap="none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사업 분야</a:t>
                      </a:r>
                      <a:endParaRPr sz="1050" b="0">
                        <a:latin typeface="Arial" panose="020B0604020202020204" pitchFamily="34" charset="0"/>
                      </a:endParaRPr>
                    </a:p>
                  </a:txBody>
                  <a:tcPr marL="19050" marR="19050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Tx/>
                        <a:buNone/>
                      </a:pPr>
                      <a:r>
                        <a:rPr lang="en-US" altLang="ko-KR" sz="105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S/W</a:t>
                      </a:r>
                      <a:r>
                        <a:rPr lang="ko-KR" altLang="en-US" sz="105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개발 및 공급업</a:t>
                      </a:r>
                      <a:r>
                        <a:rPr lang="en-US" altLang="ko-KR" sz="105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ko-KR" altLang="en-US" sz="105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서비스업</a:t>
                      </a:r>
                      <a:endParaRPr sz="1050" b="0" i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050" marR="19050" marT="19050" marB="1905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Tx/>
                        <a:buNone/>
                      </a:pPr>
                      <a:r>
                        <a:rPr lang="ko-KR" altLang="en-US" sz="1050" b="0" u="none" strike="noStrike" cap="none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주소</a:t>
                      </a:r>
                      <a:endParaRPr sz="1050" b="0">
                        <a:latin typeface="Arial" panose="020B0604020202020204" pitchFamily="34" charset="0"/>
                      </a:endParaRPr>
                    </a:p>
                  </a:txBody>
                  <a:tcPr marL="19050" marR="19050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Tx/>
                        <a:buNone/>
                      </a:pPr>
                      <a:r>
                        <a:rPr lang="ko-KR" altLang="en-US" sz="105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서울특별시 성동구 아차산로 </a:t>
                      </a:r>
                      <a:r>
                        <a:rPr lang="en-US" altLang="ko-KR" sz="105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r>
                        <a:rPr lang="ko-KR" altLang="en-US" sz="105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나길 </a:t>
                      </a:r>
                      <a:r>
                        <a:rPr lang="en-US" altLang="ko-KR" sz="105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18, 301</a:t>
                      </a:r>
                      <a:r>
                        <a:rPr lang="ko-KR" altLang="en-US" sz="105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호 </a:t>
                      </a:r>
                      <a:r>
                        <a:rPr lang="en-US" altLang="ko-KR" sz="105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( </a:t>
                      </a:r>
                      <a:r>
                        <a:rPr lang="ko-KR" altLang="en-US" sz="105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에이팩센터 </a:t>
                      </a:r>
                      <a:r>
                        <a:rPr lang="en-US" altLang="ko-KR" sz="105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1050" b="0" i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050" marR="19050" marT="19050" marB="1905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Tx/>
                        <a:buNone/>
                      </a:pPr>
                      <a:r>
                        <a:rPr lang="ko-KR" altLang="en-US" sz="1050" b="0" u="none" strike="noStrike" cap="none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전화번호</a:t>
                      </a:r>
                      <a:endParaRPr sz="1050" b="0">
                        <a:latin typeface="Arial" panose="020B0604020202020204" pitchFamily="34" charset="0"/>
                      </a:endParaRPr>
                    </a:p>
                  </a:txBody>
                  <a:tcPr marL="19050" marR="19050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Tx/>
                        <a:buNone/>
                      </a:pPr>
                      <a:r>
                        <a:rPr lang="en-US" altLang="ko-KR" sz="105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TEL: 02-476-8980 FAX: 02-6280-8507</a:t>
                      </a:r>
                      <a:endParaRPr sz="1050" b="0">
                        <a:latin typeface="Arial" panose="020B0604020202020204" pitchFamily="34" charset="0"/>
                      </a:endParaRPr>
                    </a:p>
                  </a:txBody>
                  <a:tcPr marL="19050" marR="19050" marT="19050" marB="1905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Tx/>
                        <a:buNone/>
                      </a:pPr>
                      <a:r>
                        <a:rPr lang="ko-KR" altLang="en-US" sz="1050" b="0" u="none" strike="noStrike" cap="none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회사 설립연도</a:t>
                      </a:r>
                      <a:endParaRPr sz="1050" b="0">
                        <a:latin typeface="Arial" panose="020B0604020202020204" pitchFamily="34" charset="0"/>
                      </a:endParaRPr>
                    </a:p>
                  </a:txBody>
                  <a:tcPr marL="19050" marR="19050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Tx/>
                        <a:buNone/>
                      </a:pPr>
                      <a:r>
                        <a:rPr lang="en-US" altLang="ko-KR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1999 </a:t>
                      </a:r>
                      <a:r>
                        <a:rPr lang="ko-KR" altLang="en-US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년  </a:t>
                      </a:r>
                      <a:r>
                        <a:rPr lang="en-US" altLang="ko-KR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06 </a:t>
                      </a:r>
                      <a:r>
                        <a:rPr lang="ko-KR" altLang="en-US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월</a:t>
                      </a:r>
                      <a:endParaRPr sz="1050" b="0" i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050" marR="19050" marT="19050" marB="1905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Tx/>
                        <a:buNone/>
                      </a:pPr>
                      <a:r>
                        <a:rPr lang="ko-KR" altLang="en-US" sz="1050" b="0" u="none" strike="noStrike" cap="none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해당 부문 종사기간</a:t>
                      </a:r>
                      <a:endParaRPr sz="1050" b="0">
                        <a:latin typeface="Arial" panose="020B0604020202020204" pitchFamily="34" charset="0"/>
                      </a:endParaRPr>
                    </a:p>
                  </a:txBody>
                  <a:tcPr marL="19050" marR="19050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Tx/>
                        <a:buNone/>
                      </a:pPr>
                      <a:r>
                        <a:rPr lang="en-US" altLang="ko-KR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1999.07. ~ 2026.08. (27</a:t>
                      </a:r>
                      <a:r>
                        <a:rPr lang="ko-KR" altLang="en-US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년 </a:t>
                      </a:r>
                      <a:r>
                        <a:rPr lang="en-US" altLang="ko-KR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lang="ko-KR" altLang="en-US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개월</a:t>
                      </a:r>
                      <a:r>
                        <a:rPr lang="en-US" altLang="ko-KR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1050" b="0" i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050" marR="19050" marT="19050" marB="1905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99" name="Google Shape;499;g3f9f6cb7583_0_55"/>
          <p:cNvGraphicFramePr/>
          <p:nvPr>
            <p:extLst>
              <p:ext uri="{D42A27DB-BD31-4B8C-83A1-F6EECF244321}">
                <p14:modId xmlns:p14="http://schemas.microsoft.com/office/powerpoint/2010/main" val="3791539716"/>
              </p:ext>
            </p:extLst>
          </p:nvPr>
        </p:nvGraphicFramePr>
        <p:xfrm>
          <a:off x="736600" y="4470400"/>
          <a:ext cx="5486400" cy="3429000"/>
        </p:xfrm>
        <a:graphic>
          <a:graphicData uri="http://schemas.openxmlformats.org/drawingml/2006/table">
            <a:tbl>
              <a:tblPr firstRow="1" bandRow="1">
                <a:noFill/>
                <a:tableStyleId>{A65C353C-D88D-4590-9C8D-17DC0CB4FA02}</a:tableStyleId>
              </a:tblPr>
              <a:tblGrid>
                <a:gridCol w="55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Tx/>
                        <a:buNone/>
                      </a:pPr>
                      <a:r>
                        <a:rPr lang="ko-KR" altLang="en-US" sz="1050" b="0" u="none" strike="noStrike" cap="none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연도</a:t>
                      </a:r>
                      <a:endParaRPr sz="1050" b="0" u="none" strike="noStrike" cap="none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050" marR="19050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Tx/>
                        <a:buNone/>
                      </a:pPr>
                      <a:r>
                        <a:rPr lang="ko-KR" altLang="en-US" sz="1050" b="0" u="none" strike="noStrike" cap="none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내용</a:t>
                      </a:r>
                      <a:endParaRPr sz="1050" b="0" u="none" strike="noStrike" cap="none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050" marR="19050" marT="19050" marB="1905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Tx/>
                        <a:buNone/>
                      </a:pPr>
                      <a:r>
                        <a:rPr lang="en-US" altLang="ko-KR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1999</a:t>
                      </a:r>
                      <a:endParaRPr sz="1050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050" marR="19050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ko-KR" altLang="en-US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주</a:t>
                      </a:r>
                      <a:r>
                        <a:rPr lang="en-US" altLang="ko-KR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r>
                        <a:rPr lang="ko-KR" altLang="en-US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에즈넷 법인 설립</a:t>
                      </a:r>
                      <a:endParaRPr sz="1050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050" marR="19050" marT="19050" marB="1905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Tx/>
                        <a:buNone/>
                      </a:pPr>
                      <a:r>
                        <a:rPr lang="en-US" altLang="ko-KR" sz="1050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2000</a:t>
                      </a:r>
                      <a:endParaRPr sz="1050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050" marR="19050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벤처기업 인증 획득 </a:t>
                      </a:r>
                      <a:r>
                        <a:rPr lang="en-US" altLang="ko-KR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ko-KR" altLang="en-US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연구투자기업</a:t>
                      </a:r>
                      <a:r>
                        <a:rPr lang="en-US" altLang="ko-KR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1050" b="0"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050" marR="19050" marT="19050" marB="1905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Tx/>
                        <a:buNone/>
                      </a:pPr>
                      <a:r>
                        <a:rPr lang="en-US" altLang="ko-KR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2018</a:t>
                      </a:r>
                      <a:endParaRPr sz="1050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050" marR="19050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아이디어마루 개발 및 운영 </a:t>
                      </a:r>
                      <a:r>
                        <a:rPr lang="en-US" altLang="ko-KR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(KISTI, </a:t>
                      </a:r>
                      <a:r>
                        <a:rPr lang="ko-KR" altLang="en-US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중소벤처기획부</a:t>
                      </a:r>
                      <a:r>
                        <a:rPr lang="en-US" altLang="ko-KR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1050" b="0"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050" marR="19050" marT="19050" marB="1905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Tx/>
                        <a:buNone/>
                      </a:pPr>
                      <a:r>
                        <a:rPr lang="en-US" altLang="ko-KR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2019</a:t>
                      </a:r>
                      <a:endParaRPr sz="1050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050" marR="19050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국가인권위원회 나의 진정 알리미 서비스 기획</a:t>
                      </a:r>
                      <a:r>
                        <a:rPr lang="en-US" altLang="ko-KR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ko-KR" altLang="en-US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오피스밸런스 디자인 및 에이전트 개발</a:t>
                      </a:r>
                      <a:endParaRPr sz="1050" b="0"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050" marR="19050" marT="19050" marB="1905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Tx/>
                        <a:buNone/>
                      </a:pPr>
                      <a:r>
                        <a:rPr lang="en-US" altLang="ko-KR" sz="1050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2020</a:t>
                      </a:r>
                      <a:endParaRPr sz="1050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050" marR="19050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스마트</a:t>
                      </a:r>
                      <a:r>
                        <a:rPr lang="en-US" altLang="ko-KR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TV </a:t>
                      </a:r>
                      <a:r>
                        <a:rPr lang="ko-KR" altLang="en-US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및 모바일 서비스 기획 및 운영 </a:t>
                      </a:r>
                      <a:r>
                        <a:rPr lang="en-US" altLang="ko-KR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(LG</a:t>
                      </a:r>
                      <a:r>
                        <a:rPr lang="ko-KR" altLang="en-US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전자</a:t>
                      </a:r>
                      <a:r>
                        <a:rPr lang="en-US" altLang="ko-KR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, DXC Korea )</a:t>
                      </a:r>
                      <a:endParaRPr sz="1050" b="0"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050" marR="19050" marT="19050" marB="1905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Tx/>
                        <a:buNone/>
                      </a:pPr>
                      <a:r>
                        <a:rPr lang="en-US" altLang="ko-KR" sz="1050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2021</a:t>
                      </a:r>
                      <a:endParaRPr sz="1050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050" marR="19050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한아세안금융협력센터 온라인 서비스 개발 </a:t>
                      </a:r>
                      <a:r>
                        <a:rPr lang="en-US" altLang="ko-KR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( </a:t>
                      </a:r>
                      <a:r>
                        <a:rPr lang="ko-KR" altLang="en-US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대한민국외교부 </a:t>
                      </a:r>
                      <a:r>
                        <a:rPr lang="en-US" altLang="ko-KR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1050" b="0"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050" marR="19050" marT="19050" marB="1905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Tx/>
                        <a:buNone/>
                      </a:pPr>
                      <a:r>
                        <a:rPr lang="en-US" altLang="ko-KR" sz="1050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2022</a:t>
                      </a:r>
                      <a:endParaRPr sz="1050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050" marR="19050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한국사능력검증시험 모바일 앱 개발 </a:t>
                      </a:r>
                      <a:r>
                        <a:rPr lang="en-US" altLang="ko-KR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/ </a:t>
                      </a:r>
                      <a:r>
                        <a:rPr lang="ko-KR" altLang="en-US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마이데이터 및 블록체인 기반 디지털 도민증 개발</a:t>
                      </a:r>
                      <a:endParaRPr sz="1050" b="0"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050" marR="19050" marT="19050" marB="1905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Tx/>
                        <a:buNone/>
                      </a:pPr>
                      <a:r>
                        <a:rPr lang="en-US" altLang="ko-KR" sz="1050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2023</a:t>
                      </a:r>
                      <a:endParaRPr sz="1050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050" marR="19050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산학협력단 학사</a:t>
                      </a:r>
                      <a:r>
                        <a:rPr lang="en-US" altLang="ko-KR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ko-KR" altLang="en-US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실적 관리 시스템 구축 </a:t>
                      </a:r>
                      <a:r>
                        <a:rPr lang="en-US" altLang="ko-KR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ko-KR" altLang="en-US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덕성여자대학교</a:t>
                      </a:r>
                      <a:r>
                        <a:rPr lang="en-US" altLang="ko-KR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ko-KR" altLang="en-US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동국대학교</a:t>
                      </a:r>
                      <a:r>
                        <a:rPr lang="en-US" altLang="ko-KR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1050" b="0"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050" marR="19050" marT="19050" marB="1905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Tx/>
                        <a:buNone/>
                      </a:pPr>
                      <a:r>
                        <a:rPr lang="en-US" altLang="ko-KR" sz="1050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2024</a:t>
                      </a:r>
                      <a:endParaRPr sz="1050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050" marR="19050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Carsub AI </a:t>
                      </a:r>
                      <a:r>
                        <a:rPr lang="ko-KR" altLang="en-US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서비스 구축 </a:t>
                      </a:r>
                      <a:r>
                        <a:rPr lang="en-US" altLang="ko-KR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( </a:t>
                      </a:r>
                      <a:r>
                        <a:rPr lang="ko-KR" altLang="en-US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주</a:t>
                      </a:r>
                      <a:r>
                        <a:rPr lang="en-US" altLang="ko-KR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-5Grits, TIPS </a:t>
                      </a:r>
                      <a:r>
                        <a:rPr lang="ko-KR" altLang="en-US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선정 과제 </a:t>
                      </a:r>
                      <a:r>
                        <a:rPr lang="en-US" altLang="ko-KR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1050" b="0"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050" marR="19050" marT="19050" marB="1905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Tx/>
                        <a:buNone/>
                      </a:pPr>
                      <a:r>
                        <a:rPr lang="en-US" altLang="ko-KR" sz="1050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2025</a:t>
                      </a:r>
                      <a:endParaRPr sz="1050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050" marR="19050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국가 첨단 </a:t>
                      </a:r>
                      <a:r>
                        <a:rPr lang="en-US" altLang="ko-KR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GPU </a:t>
                      </a:r>
                      <a:r>
                        <a:rPr lang="ko-KR" altLang="en-US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활용 사업 시범업체 선정 </a:t>
                      </a:r>
                      <a:r>
                        <a:rPr lang="en-US" altLang="ko-KR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(NVIDIA B200 × 16</a:t>
                      </a:r>
                      <a:r>
                        <a:rPr lang="ko-KR" altLang="en-US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기 지원</a:t>
                      </a:r>
                      <a:r>
                        <a:rPr lang="en-US" altLang="ko-KR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1050" b="0"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050" marR="19050" marT="19050" marB="1905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Tx/>
                        <a:buNone/>
                      </a:pPr>
                      <a:r>
                        <a:rPr lang="en-US" altLang="ko-KR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2026</a:t>
                      </a:r>
                      <a:endParaRPr sz="1050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050" marR="19050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AI </a:t>
                      </a:r>
                      <a:r>
                        <a:rPr lang="ko-KR" altLang="en-US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기반 </a:t>
                      </a:r>
                      <a:r>
                        <a:rPr lang="en-US" altLang="ko-KR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CTD </a:t>
                      </a:r>
                      <a:r>
                        <a:rPr lang="ko-KR" altLang="en-US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작성 도구 개발 </a:t>
                      </a:r>
                      <a:r>
                        <a:rPr lang="en-US" altLang="ko-KR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ko-KR" altLang="en-US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주</a:t>
                      </a:r>
                      <a:r>
                        <a:rPr lang="en-US" altLang="ko-KR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r>
                        <a:rPr lang="ko-KR" altLang="en-US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싸이메디솔루션</a:t>
                      </a:r>
                      <a:r>
                        <a:rPr lang="en-US" altLang="ko-KR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), </a:t>
                      </a:r>
                      <a:r>
                        <a:rPr lang="ko-KR" altLang="en-US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디지털 헬스케어 </a:t>
                      </a:r>
                      <a:r>
                        <a:rPr lang="en-US" altLang="ko-KR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AI </a:t>
                      </a:r>
                      <a:r>
                        <a:rPr lang="ko-KR" altLang="en-US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실무과정 콘텐츠 개발</a:t>
                      </a:r>
                      <a:endParaRPr sz="1050" b="0"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050" marR="19050" marT="19050" marB="1905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500" name="Google Shape;500;g3f9f6cb7583_0_55"/>
          <p:cNvGraphicFramePr/>
          <p:nvPr>
            <p:extLst>
              <p:ext uri="{D42A27DB-BD31-4B8C-83A1-F6EECF244321}">
                <p14:modId xmlns:p14="http://schemas.microsoft.com/office/powerpoint/2010/main" val="3041816361"/>
              </p:ext>
            </p:extLst>
          </p:nvPr>
        </p:nvGraphicFramePr>
        <p:xfrm>
          <a:off x="736600" y="8331200"/>
          <a:ext cx="5486400" cy="1079500"/>
        </p:xfrm>
        <a:graphic>
          <a:graphicData uri="http://schemas.openxmlformats.org/drawingml/2006/table">
            <a:tbl>
              <a:tblPr firstRow="1" bandRow="1">
                <a:noFill/>
                <a:tableStyleId>{A65C353C-D88D-4590-9C8D-17DC0CB4FA02}</a:tableStyleId>
              </a:tblPr>
              <a:tblGrid>
                <a:gridCol w="49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1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1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900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Tx/>
                        <a:buNone/>
                      </a:pPr>
                      <a:r>
                        <a:rPr lang="ko-KR" altLang="en-US" sz="1050" b="0" u="none" strike="noStrike" cap="none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구분</a:t>
                      </a:r>
                      <a:endParaRPr sz="1050" b="0">
                        <a:latin typeface="Arial" panose="020B0604020202020204" pitchFamily="34" charset="0"/>
                      </a:endParaRPr>
                    </a:p>
                  </a:txBody>
                  <a:tcPr marL="12700" marR="12700" marT="12700" marB="12700" anchor="ctr"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Tx/>
                        <a:buNone/>
                      </a:pPr>
                      <a:r>
                        <a:rPr lang="en-US" altLang="ko-KR" sz="1050" b="0" u="none" strike="noStrike" cap="none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2023</a:t>
                      </a:r>
                      <a:endParaRPr sz="1050" b="0" u="none" strike="noStrike" cap="none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700" marR="12700" marT="12700" marB="12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Tx/>
                        <a:buNone/>
                      </a:pPr>
                      <a:r>
                        <a:rPr lang="en-US" altLang="ko-KR" sz="1050" b="0" u="none" strike="noStrike" cap="none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2024</a:t>
                      </a:r>
                      <a:endParaRPr sz="1050" b="0" u="none" strike="noStrike" cap="none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700" marR="12700" marT="12700" marB="12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Tx/>
                        <a:buNone/>
                      </a:pPr>
                      <a:r>
                        <a:rPr lang="en-US" altLang="ko-KR" sz="1050" b="0" u="none" strike="noStrike" cap="none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2025</a:t>
                      </a:r>
                      <a:endParaRPr sz="1050" b="0" u="none" strike="noStrike" cap="none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700" marR="12700" marT="12700" marB="12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00"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1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Tx/>
                        <a:buNone/>
                      </a:pPr>
                      <a:r>
                        <a:rPr lang="ko-KR" altLang="en-US" sz="1050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자본금</a:t>
                      </a:r>
                      <a:endParaRPr sz="1050" b="0">
                        <a:latin typeface="Arial" panose="020B0604020202020204" pitchFamily="34" charset="0"/>
                      </a:endParaRPr>
                    </a:p>
                  </a:txBody>
                  <a:tcPr marL="12700" marR="12700" marT="12700" marB="12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ts val="11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300,000</a:t>
                      </a:r>
                      <a:endParaRPr sz="1050" b="0"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700" marR="12700" marT="12700" marB="12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ts val="11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300,000</a:t>
                      </a:r>
                      <a:endParaRPr sz="1050" b="0"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700" marR="12700" marT="12700" marB="12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ts val="11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300,000</a:t>
                      </a:r>
                      <a:endParaRPr sz="1050" b="0"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700" marR="12700" marT="12700" marB="12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00">
                <a:tc row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1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Tx/>
                        <a:buNone/>
                      </a:pPr>
                      <a:r>
                        <a:rPr lang="ko-KR" altLang="en-US" sz="1050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매출액</a:t>
                      </a:r>
                      <a:endParaRPr sz="1050" b="0">
                        <a:latin typeface="Arial" panose="020B0604020202020204" pitchFamily="34" charset="0"/>
                      </a:endParaRPr>
                    </a:p>
                  </a:txBody>
                  <a:tcPr marL="12700" marR="12700" marT="12700" marB="12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1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Tx/>
                        <a:buNone/>
                      </a:pPr>
                      <a:r>
                        <a:rPr lang="ko-KR" altLang="en-US" sz="1050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컨설팅부문</a:t>
                      </a:r>
                      <a:endParaRPr sz="1050" b="0">
                        <a:latin typeface="Arial" panose="020B0604020202020204" pitchFamily="34" charset="0"/>
                      </a:endParaRPr>
                    </a:p>
                  </a:txBody>
                  <a:tcPr marL="12700" marR="12700" marT="12700" marB="12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1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Tx/>
                        <a:buNone/>
                      </a:pPr>
                      <a:r>
                        <a:rPr lang="en-US" altLang="ko-KR" sz="1050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SW </a:t>
                      </a:r>
                      <a:r>
                        <a:rPr lang="ko-KR" altLang="en-US" sz="1050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매출</a:t>
                      </a:r>
                      <a:endParaRPr sz="1050" b="0">
                        <a:latin typeface="Arial" panose="020B0604020202020204" pitchFamily="34" charset="0"/>
                      </a:endParaRPr>
                    </a:p>
                  </a:txBody>
                  <a:tcPr marL="12700" marR="12700" marT="12700" marB="12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355,009</a:t>
                      </a:r>
                      <a:endParaRPr sz="1050" b="0"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700" marR="12700" marT="12700" marB="12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423,891</a:t>
                      </a:r>
                      <a:endParaRPr sz="1050" b="0"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700" marR="12700" marT="12700" marB="12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590,381</a:t>
                      </a:r>
                      <a:endParaRPr sz="1050" b="0"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700" marR="12700" marT="12700" marB="12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00">
                <a:tc vMerge="1">
                  <a:txBody>
                    <a:bodyPr/>
                    <a:lstStyle/>
                    <a:p>
                      <a:endParaRPr lang="en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1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Tx/>
                        <a:buNone/>
                      </a:pPr>
                      <a:r>
                        <a:rPr lang="ko-KR" altLang="en-US" sz="1050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기타</a:t>
                      </a:r>
                      <a:endParaRPr sz="1050" b="0">
                        <a:latin typeface="Arial" panose="020B0604020202020204" pitchFamily="34" charset="0"/>
                      </a:endParaRPr>
                    </a:p>
                  </a:txBody>
                  <a:tcPr marL="12700" marR="12700" marT="12700" marB="12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7900" marR="17900" marT="17900" marB="179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7900" marR="17900" marT="17900" marB="179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7900" marR="17900" marT="17900" marB="179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00">
                <a:tc vMerge="1">
                  <a:txBody>
                    <a:bodyPr/>
                    <a:lstStyle/>
                    <a:p>
                      <a:endParaRPr lang="en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1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Tx/>
                        <a:buNone/>
                      </a:pPr>
                      <a:r>
                        <a:rPr lang="ko-KR" altLang="en-US" sz="1050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합계</a:t>
                      </a:r>
                      <a:endParaRPr sz="1050" b="0">
                        <a:latin typeface="Arial" panose="020B0604020202020204" pitchFamily="34" charset="0"/>
                      </a:endParaRPr>
                    </a:p>
                  </a:txBody>
                  <a:tcPr marL="12700" marR="12700" marT="12700" marB="12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ts val="11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355,009</a:t>
                      </a:r>
                      <a:endParaRPr sz="1050" b="0"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700" marR="12700" marT="12700" marB="12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ts val="11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423,891</a:t>
                      </a:r>
                      <a:endParaRPr sz="1050" b="0"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700" marR="12700" marT="12700" marB="12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ts val="11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05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590,381</a:t>
                      </a:r>
                      <a:endParaRPr sz="1050" b="0"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700" marR="12700" marT="12700" marB="12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에즈넷은 소프트웨어 개발·운영과 AI 서비스 구축 경험">
            <a:extLst>
              <a:ext uri="{FF2B5EF4-FFF2-40B4-BE49-F238E27FC236}">
                <a16:creationId xmlns:a16="http://schemas.microsoft.com/office/drawing/2014/main" id="{219F0D78-DD9F-68A2-EF93-147AFDA2B770}"/>
              </a:ext>
            </a:extLst>
          </p:cNvPr>
          <p:cNvSpPr txBox="1"/>
          <p:nvPr/>
        </p:nvSpPr>
        <p:spPr>
          <a:xfrm>
            <a:off x="736600" y="1435100"/>
            <a:ext cx="5486400" cy="52322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ts val="1800"/>
              </a:lnSpc>
            </a:pPr>
            <a:r>
              <a:rPr lang="ko-KR" altLang="en-US" sz="1200">
                <a:latin typeface="Arial" panose="020B0604020202020204" pitchFamily="34" charset="0"/>
              </a:rPr>
              <a:t>에즈넷은 소프트웨어 개발·운영과 AI 서비스 구축 경험을 보유하고 있습니다. 본 사업에서는 RAG·LLM·인프라 구축을 담당합니다.</a:t>
            </a:r>
            <a:endParaRPr lang="en-KR" sz="1200">
              <a:latin typeface="Arial" panose="020B0604020202020204" pitchFamily="34" charset="0"/>
            </a:endParaRPr>
          </a:p>
        </p:txBody>
      </p:sp>
      <p:sp>
        <p:nvSpPr>
          <p:cNvPr id="5" name="일반 현황">
            <a:extLst>
              <a:ext uri="{FF2B5EF4-FFF2-40B4-BE49-F238E27FC236}">
                <a16:creationId xmlns:a16="http://schemas.microsoft.com/office/drawing/2014/main" id="{402F72A2-8E13-FF77-C9C3-E70F564D18A2}"/>
              </a:ext>
            </a:extLst>
          </p:cNvPr>
          <p:cNvSpPr txBox="1"/>
          <p:nvPr/>
        </p:nvSpPr>
        <p:spPr>
          <a:xfrm>
            <a:off x="736600" y="2044700"/>
            <a:ext cx="5486400" cy="3048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ts val="1900"/>
              </a:lnSpc>
            </a:pPr>
            <a:r>
              <a:rPr lang="ko-KR" altLang="en-US" sz="1300" b="1">
                <a:solidFill>
                  <a:srgbClr val="1F4E79"/>
                </a:solidFill>
                <a:latin typeface="Arial" panose="020B0604020202020204" pitchFamily="34" charset="0"/>
              </a:rPr>
              <a:t>일반 현황</a:t>
            </a:r>
            <a:endParaRPr lang="en-KR" sz="1300" b="1">
              <a:solidFill>
                <a:srgbClr val="1F4E79"/>
              </a:solidFill>
              <a:latin typeface="Arial" panose="020B0604020202020204" pitchFamily="34" charset="0"/>
            </a:endParaRPr>
          </a:p>
        </p:txBody>
      </p:sp>
      <p:sp>
        <p:nvSpPr>
          <p:cNvPr id="6" name="주요 연혁">
            <a:extLst>
              <a:ext uri="{FF2B5EF4-FFF2-40B4-BE49-F238E27FC236}">
                <a16:creationId xmlns:a16="http://schemas.microsoft.com/office/drawing/2014/main" id="{CB925E51-0BA8-2A18-90D9-F8867618D774}"/>
              </a:ext>
            </a:extLst>
          </p:cNvPr>
          <p:cNvSpPr txBox="1"/>
          <p:nvPr/>
        </p:nvSpPr>
        <p:spPr>
          <a:xfrm>
            <a:off x="736600" y="4165600"/>
            <a:ext cx="5486400" cy="3048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ts val="1900"/>
              </a:lnSpc>
            </a:pPr>
            <a:r>
              <a:rPr lang="ko-KR" altLang="en-US" sz="1300" b="1">
                <a:solidFill>
                  <a:srgbClr val="1F4E79"/>
                </a:solidFill>
                <a:latin typeface="Arial" panose="020B0604020202020204" pitchFamily="34" charset="0"/>
              </a:rPr>
              <a:t>주요 연혁</a:t>
            </a:r>
            <a:endParaRPr lang="en-KR" sz="1300" b="1">
              <a:solidFill>
                <a:srgbClr val="1F4E79"/>
              </a:solidFill>
              <a:latin typeface="Arial" panose="020B0604020202020204" pitchFamily="34" charset="0"/>
            </a:endParaRPr>
          </a:p>
        </p:txBody>
      </p:sp>
      <p:sp>
        <p:nvSpPr>
          <p:cNvPr id="7" name="자본금 및 매출액 (최근 3년)">
            <a:extLst>
              <a:ext uri="{FF2B5EF4-FFF2-40B4-BE49-F238E27FC236}">
                <a16:creationId xmlns:a16="http://schemas.microsoft.com/office/drawing/2014/main" id="{34A97271-2AFA-7CD9-899C-A73113273EB5}"/>
              </a:ext>
            </a:extLst>
          </p:cNvPr>
          <p:cNvSpPr txBox="1"/>
          <p:nvPr/>
        </p:nvSpPr>
        <p:spPr>
          <a:xfrm>
            <a:off x="736600" y="8026400"/>
            <a:ext cx="5486400" cy="3048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ts val="1900"/>
              </a:lnSpc>
            </a:pPr>
            <a:r>
              <a:rPr lang="ko-KR" altLang="en-US" sz="1300" b="1">
                <a:solidFill>
                  <a:srgbClr val="1F4E79"/>
                </a:solidFill>
                <a:latin typeface="Arial" panose="020B0604020202020204" pitchFamily="34" charset="0"/>
              </a:rPr>
              <a:t>자본금 및 매출액 </a:t>
            </a:r>
            <a:r>
              <a:rPr lang="en-US" altLang="ko-KR" sz="1300" b="1">
                <a:solidFill>
                  <a:srgbClr val="1F4E79"/>
                </a:solidFill>
                <a:latin typeface="Arial" panose="020B0604020202020204" pitchFamily="34" charset="0"/>
              </a:rPr>
              <a:t>(</a:t>
            </a:r>
            <a:r>
              <a:rPr lang="ko-KR" altLang="en-US" sz="1300" b="1">
                <a:solidFill>
                  <a:srgbClr val="1F4E79"/>
                </a:solidFill>
                <a:latin typeface="Arial" panose="020B0604020202020204" pitchFamily="34" charset="0"/>
              </a:rPr>
              <a:t>최근 </a:t>
            </a:r>
            <a:r>
              <a:rPr lang="en-US" altLang="ko-KR" sz="1300" b="1">
                <a:solidFill>
                  <a:srgbClr val="1F4E79"/>
                </a:solidFill>
                <a:latin typeface="Arial" panose="020B0604020202020204" pitchFamily="34" charset="0"/>
              </a:rPr>
              <a:t>3</a:t>
            </a:r>
            <a:r>
              <a:rPr lang="ko-KR" altLang="en-US" sz="1300" b="1">
                <a:solidFill>
                  <a:srgbClr val="1F4E79"/>
                </a:solidFill>
                <a:latin typeface="Arial" panose="020B0604020202020204" pitchFamily="34" charset="0"/>
              </a:rPr>
              <a:t>년</a:t>
            </a:r>
            <a:r>
              <a:rPr lang="en-US" altLang="ko-KR" sz="1300" b="1">
                <a:solidFill>
                  <a:srgbClr val="1F4E79"/>
                </a:solidFill>
                <a:latin typeface="Arial" panose="020B0604020202020204" pitchFamily="34" charset="0"/>
              </a:rPr>
              <a:t>)</a:t>
            </a:r>
            <a:endParaRPr lang="en-KR" sz="1300" b="1">
              <a:solidFill>
                <a:srgbClr val="1F4E79"/>
              </a:solidFill>
              <a:latin typeface="Arial" panose="020B0604020202020204" pitchFamily="34" charset="0"/>
            </a:endParaRPr>
          </a:p>
        </p:txBody>
      </p:sp>
      <p:sp>
        <p:nvSpPr>
          <p:cNvPr id="12" name="(단위: 천원)">
            <a:extLst>
              <a:ext uri="{FF2B5EF4-FFF2-40B4-BE49-F238E27FC236}">
                <a16:creationId xmlns:a16="http://schemas.microsoft.com/office/drawing/2014/main" id="{E118F390-527F-BCCF-4DAD-83FE30BE1A1F}"/>
              </a:ext>
            </a:extLst>
          </p:cNvPr>
          <p:cNvSpPr txBox="1"/>
          <p:nvPr/>
        </p:nvSpPr>
        <p:spPr>
          <a:xfrm>
            <a:off x="5156200" y="8077200"/>
            <a:ext cx="1066800" cy="307777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 algn="r">
              <a:lnSpc>
                <a:spcPts val="1350"/>
              </a:lnSpc>
            </a:pPr>
            <a:r>
              <a:rPr lang="en-US" altLang="ko-KR" sz="900">
                <a:latin typeface="Arial" panose="020B0604020202020204" pitchFamily="34" charset="0"/>
              </a:rPr>
              <a:t>(</a:t>
            </a:r>
            <a:r>
              <a:rPr lang="ko-KR" altLang="en-US" sz="900">
                <a:latin typeface="Arial" panose="020B0604020202020204" pitchFamily="34" charset="0"/>
              </a:rPr>
              <a:t>단위</a:t>
            </a:r>
            <a:r>
              <a:rPr lang="en-US" altLang="ko-KR" sz="900">
                <a:latin typeface="Arial" panose="020B0604020202020204" pitchFamily="34" charset="0"/>
              </a:rPr>
              <a:t>: </a:t>
            </a:r>
            <a:r>
              <a:rPr lang="ko-KR" altLang="en-US" sz="900">
                <a:latin typeface="Arial" panose="020B0604020202020204" pitchFamily="34" charset="0"/>
              </a:rPr>
              <a:t>천원</a:t>
            </a:r>
            <a:r>
              <a:rPr lang="en-US" altLang="ko-KR" sz="900">
                <a:latin typeface="Arial" panose="020B0604020202020204" pitchFamily="34" charset="0"/>
              </a:rPr>
              <a:t>)</a:t>
            </a:r>
            <a:endParaRPr lang="en-KR" sz="900">
              <a:latin typeface="Arial" panose="020B0604020202020204" pitchFamily="34" charset="0"/>
            </a:endParaRPr>
          </a:p>
        </p:txBody>
      </p:sp>
      <p:sp>
        <p:nvSpPr>
          <p:cNvPr id="3" name="1. 제안사 일반 현황 (에즈넷)">
            <a:extLst>
              <a:ext uri="{FF2B5EF4-FFF2-40B4-BE49-F238E27FC236}">
                <a16:creationId xmlns:a16="http://schemas.microsoft.com/office/drawing/2014/main" id="{5EDE852B-A7AC-0F50-D5A2-9F25F105D771}"/>
              </a:ext>
            </a:extLst>
          </p:cNvPr>
          <p:cNvSpPr txBox="1"/>
          <p:nvPr/>
        </p:nvSpPr>
        <p:spPr>
          <a:xfrm>
            <a:off x="736600" y="990600"/>
            <a:ext cx="54864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2200"/>
              </a:lnSpc>
            </a:pPr>
            <a:r>
              <a:rPr lang="en-US" altLang="ko-KR" sz="1600" b="1">
                <a:latin typeface="Arial" panose="020B0604020202020204" pitchFamily="34" charset="0"/>
              </a:rPr>
              <a:t>1. </a:t>
            </a:r>
            <a:r>
              <a:rPr lang="ko-KR" altLang="en-US" sz="1600" b="1">
                <a:latin typeface="Arial" panose="020B0604020202020204" pitchFamily="34" charset="0"/>
              </a:rPr>
              <a:t>제안사 일반 현황 </a:t>
            </a:r>
            <a:r>
              <a:rPr lang="en-US" altLang="ko-KR" sz="1600" b="1">
                <a:latin typeface="Arial" panose="020B0604020202020204" pitchFamily="34" charset="0"/>
              </a:rPr>
              <a:t>(</a:t>
            </a:r>
            <a:r>
              <a:rPr lang="ko-KR" altLang="en-US" sz="1600" b="1">
                <a:latin typeface="Arial" panose="020B0604020202020204" pitchFamily="34" charset="0"/>
              </a:rPr>
              <a:t>에즈넷</a:t>
            </a:r>
            <a:r>
              <a:rPr lang="en-US" altLang="ko-KR" sz="1600" b="1">
                <a:latin typeface="Arial" panose="020B0604020202020204" pitchFamily="34" charset="0"/>
              </a:rPr>
              <a:t>)</a:t>
            </a:r>
            <a:endParaRPr lang="en-KR" sz="1600" b="1">
              <a:latin typeface="Arial" panose="020B0604020202020204" pitchFamily="34" charset="0"/>
            </a:endParaRPr>
          </a:p>
        </p:txBody>
      </p:sp>
      <p:sp>
        <p:nvSpPr>
          <p:cNvPr id="2" name="1. 일반 현황">
            <a:extLst>
              <a:ext uri="{FF2B5EF4-FFF2-40B4-BE49-F238E27FC236}">
                <a16:creationId xmlns:a16="http://schemas.microsoft.com/office/drawing/2014/main" id="{81CB1C19-6867-909A-6481-49CF82B58B75}"/>
              </a:ext>
            </a:extLst>
          </p:cNvPr>
          <p:cNvSpPr txBox="1"/>
          <p:nvPr/>
        </p:nvSpPr>
        <p:spPr>
          <a:xfrm>
            <a:off x="3994661" y="500563"/>
            <a:ext cx="2228339" cy="307777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 algn="r">
              <a:lnSpc>
                <a:spcPts val="1800"/>
              </a:lnSpc>
            </a:pPr>
            <a:r>
              <a:rPr lang="en-US" altLang="ko-KR" sz="1200">
                <a:latin typeface="Arial" panose="020B0604020202020204" pitchFamily="34" charset="0"/>
              </a:rPr>
              <a:t>1. </a:t>
            </a:r>
            <a:r>
              <a:rPr lang="ko-KR" altLang="en-US" sz="1200">
                <a:latin typeface="Arial" panose="020B0604020202020204" pitchFamily="34" charset="0"/>
              </a:rPr>
              <a:t>일반 현황</a:t>
            </a:r>
            <a:endParaRPr lang="en-KR" sz="1200">
              <a:latin typeface="Arial" panose="020B0604020202020204" pitchFamily="34" charset="0"/>
            </a:endParaRPr>
          </a:p>
        </p:txBody>
      </p:sp>
      <p:sp>
        <p:nvSpPr>
          <p:cNvPr id="501" name="BookFolioOdd">
            <a:extLst>
              <a:ext uri="{FF2B5EF4-FFF2-40B4-BE49-F238E27FC236}">
                <a16:creationId xmlns:a16="http://schemas.microsoft.com/office/drawing/2014/main" id="{98F6B705-EE36-428A-A3A2-2CA4F014C2DA}"/>
              </a:ext>
            </a:extLst>
          </p:cNvPr>
          <p:cNvSpPr>
            <a:spLocks noGrp="1"/>
          </p:cNvSpPr>
          <p:nvPr/>
        </p:nvSpPr>
        <p:spPr>
          <a:xfrm>
            <a:off x="5715000" y="9575800"/>
            <a:ext cx="508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9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5" name="Google Shape;515;p5"/>
          <p:cNvGraphicFramePr/>
          <p:nvPr>
            <p:extLst>
              <p:ext uri="{D42A27DB-BD31-4B8C-83A1-F6EECF244321}">
                <p14:modId xmlns:p14="http://schemas.microsoft.com/office/powerpoint/2010/main" val="2266771575"/>
              </p:ext>
            </p:extLst>
          </p:nvPr>
        </p:nvGraphicFramePr>
        <p:xfrm>
          <a:off x="635000" y="2489200"/>
          <a:ext cx="5486400" cy="6477000"/>
        </p:xfrm>
        <a:graphic>
          <a:graphicData uri="http://schemas.openxmlformats.org/drawingml/2006/table">
            <a:tbl>
              <a:tblPr firstRow="1" bandRow="1">
                <a:noFill/>
                <a:tableStyleId>{A65C353C-D88D-4590-9C8D-17DC0CB4FA02}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4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Tx/>
                        <a:buNone/>
                      </a:pPr>
                      <a:r>
                        <a:rPr lang="ko-KR" altLang="en-US" sz="1200" b="0" u="none" strike="noStrike" cap="none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사 업 명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Tx/>
                        <a:buNone/>
                      </a:pPr>
                      <a:r>
                        <a:rPr lang="ko-KR" altLang="en-US" sz="1200" b="0" u="none" strike="noStrike" cap="none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사 업 기 간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Tx/>
                        <a:buNone/>
                      </a:pPr>
                      <a:r>
                        <a:rPr lang="ko-KR" altLang="en-US" sz="1200" b="0" u="none" strike="noStrike" cap="none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계 약 금 액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Tx/>
                        <a:buNone/>
                      </a:pPr>
                      <a:r>
                        <a:rPr lang="ko-KR" altLang="en-US" sz="1200" b="0" u="none" strike="noStrike" cap="none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발 주 처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82C8"/>
                        </a:buClr>
                        <a:buSzPts val="9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rgbClr val="2082C8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SK</a:t>
                      </a:r>
                      <a:r>
                        <a:rPr lang="ko-KR" altLang="en-US" sz="1200" b="0" i="0" u="none" strike="noStrike" cap="none">
                          <a:solidFill>
                            <a:srgbClr val="2082C8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가스</a:t>
                      </a:r>
                      <a:r>
                        <a:rPr lang="en-US" altLang="ko-KR" sz="1200" b="0" i="0" u="none" strike="noStrike" cap="none">
                          <a:solidFill>
                            <a:srgbClr val="2082C8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26</a:t>
                      </a:r>
                      <a:r>
                        <a:rPr lang="ko-KR" altLang="en-US" sz="1200" b="0" i="0" u="none" strike="noStrike" cap="none">
                          <a:solidFill>
                            <a:srgbClr val="2082C8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년</a:t>
                      </a:r>
                      <a:r>
                        <a:rPr lang="en-US" altLang="ko-KR" sz="1200" b="0" i="0" u="none" strike="noStrike" cap="none">
                          <a:solidFill>
                            <a:srgbClr val="2082C8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Trading AI </a:t>
                      </a:r>
                      <a:r>
                        <a:rPr lang="ko-KR" altLang="en-US" sz="1200" b="0" i="0" u="none" strike="noStrike" cap="none">
                          <a:solidFill>
                            <a:srgbClr val="2082C8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사업</a:t>
                      </a:r>
                      <a:r>
                        <a:rPr lang="en-US" altLang="ko-KR" sz="1200" b="0" i="0" u="none" strike="noStrike" cap="none">
                          <a:solidFill>
                            <a:srgbClr val="2082C8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(PP)</a:t>
                      </a:r>
                      <a:endParaRPr sz="1200" b="0" i="0" u="none" strike="noStrike" cap="none">
                        <a:solidFill>
                          <a:srgbClr val="2082C8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82C8"/>
                        </a:buClr>
                        <a:buSzPts val="9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rgbClr val="2082C8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2026.07.01</a:t>
                      </a:r>
                    </a:p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82C8"/>
                        </a:buClr>
                        <a:buSzPts val="9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rgbClr val="2082C8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~ 2026.07.24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82C8"/>
                        </a:buClr>
                        <a:buSzPts val="8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rgbClr val="2082C8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32,324,620</a:t>
                      </a:r>
                      <a:endParaRPr sz="1200" b="0" i="0" u="none" strike="noStrike" cap="none">
                        <a:solidFill>
                          <a:srgbClr val="2082C8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82C8"/>
                        </a:buClr>
                        <a:buSzPts val="900"/>
                        <a:buFontTx/>
                        <a:buNone/>
                      </a:pPr>
                      <a:r>
                        <a:rPr lang="ko-KR" altLang="en-US" sz="1200" b="0" i="0" u="none" strike="noStrike" cap="none">
                          <a:solidFill>
                            <a:srgbClr val="2082C8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에스케이㈜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Tx/>
                        <a:buNone/>
                      </a:pPr>
                      <a:r>
                        <a:rPr lang="en-US" altLang="ko-KR" sz="1200" b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SKHy '26</a:t>
                      </a:r>
                      <a:r>
                        <a:rPr lang="ko-KR" altLang="en-US" sz="1200" b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년 용인 </a:t>
                      </a:r>
                      <a:r>
                        <a:rPr lang="en-US" altLang="ko-KR" sz="1200" b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Y1(M17) </a:t>
                      </a:r>
                      <a:r>
                        <a:rPr lang="ko-KR" altLang="en-US" sz="1200" b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제조 </a:t>
                      </a:r>
                      <a:r>
                        <a:rPr lang="en-US" altLang="ko-KR" sz="1200" b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DT </a:t>
                      </a:r>
                      <a:r>
                        <a:rPr lang="ko-KR" altLang="en-US" sz="1200" b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시스템 </a:t>
                      </a:r>
                      <a:r>
                        <a:rPr lang="en-US" altLang="ko-KR" sz="1200" b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Ph1_FAB MOS_</a:t>
                      </a:r>
                      <a:r>
                        <a:rPr lang="ko-KR" altLang="en-US" sz="1200" b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원가선투입</a:t>
                      </a:r>
                      <a:endParaRPr sz="1200" b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900"/>
                        <a:buFontTx/>
                        <a:buNone/>
                      </a:pPr>
                      <a:r>
                        <a:rPr lang="en-US" altLang="ko-KR" sz="1200" b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2026.05.01</a:t>
                      </a:r>
                    </a:p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900"/>
                        <a:buFontTx/>
                        <a:buNone/>
                      </a:pPr>
                      <a:r>
                        <a:rPr lang="en-US" altLang="ko-KR" sz="1200" b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~ 2026.06.30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Tx/>
                        <a:buNone/>
                      </a:pPr>
                      <a:r>
                        <a:rPr lang="en-US" altLang="ko-KR" sz="1200" b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38,006,760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900"/>
                        <a:buFontTx/>
                        <a:buNone/>
                      </a:pPr>
                      <a:r>
                        <a:rPr lang="ko-KR" altLang="en-US" sz="1200" b="0" i="0" u="none" strike="noStrike" cap="none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에스케이㈜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9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Trading AI Agent </a:t>
                      </a:r>
                      <a:r>
                        <a:rPr lang="ko-KR" altLang="en-US" sz="1200" b="0" i="0" u="none" strike="noStrike" cap="none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개발 및 </a:t>
                      </a:r>
                      <a:r>
                        <a:rPr lang="en-US" altLang="ko-KR" sz="1200" b="0" i="0" u="none" strike="noStrike" cap="none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ML/DL </a:t>
                      </a:r>
                      <a:r>
                        <a:rPr lang="ko-KR" altLang="en-US" sz="1200" b="0" i="0" u="none" strike="noStrike" cap="none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분석</a:t>
                      </a:r>
                      <a:r>
                        <a:rPr lang="en-US" altLang="ko-KR" sz="1200" b="0" i="0" u="none" strike="noStrike" cap="none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_</a:t>
                      </a:r>
                      <a:r>
                        <a:rPr lang="ko-KR" altLang="en-US" sz="1200" b="0" i="0" u="none" strike="noStrike" cap="none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선투입</a:t>
                      </a:r>
                      <a:endParaRPr sz="1200" b="0" i="0" u="none" strike="noStrike" cap="none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9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2026.04.08</a:t>
                      </a:r>
                    </a:p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9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~ 2026.06.30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129,385,380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900"/>
                        <a:buFontTx/>
                        <a:buNone/>
                      </a:pPr>
                      <a:r>
                        <a:rPr lang="ko-KR" altLang="en-US" sz="1200" b="0" i="0" u="none" strike="noStrike" cap="none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에스케이㈜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900"/>
                        <a:buFontTx/>
                        <a:buNone/>
                      </a:pPr>
                      <a:r>
                        <a:rPr lang="en-US" altLang="ko-KR" sz="1200" b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SKHy '26</a:t>
                      </a:r>
                      <a:r>
                        <a:rPr lang="ko-KR" altLang="en-US" sz="1200" b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년 </a:t>
                      </a:r>
                      <a:r>
                        <a:rPr lang="en-US" altLang="ko-KR" sz="1200" b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M14 </a:t>
                      </a:r>
                      <a:r>
                        <a:rPr lang="ko-KR" altLang="en-US" sz="1200" b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차세대 제조 시스템 확산</a:t>
                      </a:r>
                      <a:r>
                        <a:rPr lang="en-US" altLang="ko-KR" sz="1200" b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_FABMOS_</a:t>
                      </a:r>
                      <a:r>
                        <a:rPr lang="ko-KR" altLang="en-US" sz="1200" b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원가선투입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900"/>
                        <a:buFontTx/>
                        <a:buNone/>
                      </a:pPr>
                      <a:r>
                        <a:rPr lang="en-US" altLang="ko-KR" sz="1200" b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2026.03.16</a:t>
                      </a:r>
                    </a:p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900"/>
                        <a:buFontTx/>
                        <a:buNone/>
                      </a:pPr>
                      <a:r>
                        <a:rPr lang="en-US" altLang="ko-KR" sz="1200" b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~ 2026.06.30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Tx/>
                        <a:buNone/>
                      </a:pPr>
                      <a:r>
                        <a:rPr lang="en-US" altLang="ko-KR" sz="1200" b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32,853,200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900"/>
                        <a:buFontTx/>
                        <a:buNone/>
                      </a:pPr>
                      <a:r>
                        <a:rPr lang="ko-KR" altLang="en-US" sz="1200" b="0" i="0" u="none" strike="noStrike" cap="none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에스케이㈜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900"/>
                        <a:buFontTx/>
                        <a:buNone/>
                      </a:pPr>
                      <a:r>
                        <a:rPr lang="en-US" altLang="ko-KR" sz="1200" b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SKHy '26</a:t>
                      </a:r>
                      <a:r>
                        <a:rPr lang="ko-KR" altLang="en-US" sz="1200" b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년 </a:t>
                      </a:r>
                      <a:r>
                        <a:rPr lang="en-US" altLang="ko-KR" sz="1200" b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M15X Ph4 </a:t>
                      </a:r>
                      <a:r>
                        <a:rPr lang="ko-KR" altLang="en-US" sz="1200" b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차세대 제조 시스템 </a:t>
                      </a:r>
                      <a:r>
                        <a:rPr lang="en-US" altLang="ko-KR" sz="1200" b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_FAB MOS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900"/>
                        <a:buFontTx/>
                        <a:buNone/>
                      </a:pPr>
                      <a:r>
                        <a:rPr lang="en-US" altLang="ko-KR" sz="1200" b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2026.03.01</a:t>
                      </a:r>
                    </a:p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900"/>
                        <a:buFontTx/>
                        <a:buNone/>
                      </a:pPr>
                      <a:r>
                        <a:rPr lang="en-US" altLang="ko-KR" sz="1200" b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~ 2026.06.30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Tx/>
                        <a:buNone/>
                      </a:pPr>
                      <a:r>
                        <a:rPr lang="en-US" altLang="ko-KR" sz="1200" b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27,440,000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900"/>
                        <a:buFontTx/>
                        <a:buNone/>
                      </a:pPr>
                      <a:r>
                        <a:rPr lang="ko-KR" altLang="en-US" sz="1200" b="0" i="0" u="none" strike="noStrike" cap="none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에스케이㈜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SKHy '26</a:t>
                      </a:r>
                      <a:r>
                        <a:rPr lang="ko-KR" altLang="en-US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년 표준 아키텍처 구축 </a:t>
                      </a: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Ph3 </a:t>
                      </a:r>
                      <a:r>
                        <a:rPr lang="ko-KR" altLang="en-US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원가선투입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2026.01.19</a:t>
                      </a:r>
                    </a:p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~ 2026.06.30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1,170,490,000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ko-KR" altLang="en-US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에스케이㈜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LG LIFE </a:t>
                      </a:r>
                      <a:r>
                        <a:rPr lang="ko-KR" altLang="en-US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및 그룹 홈페이지 사이트 운영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2026.01.01</a:t>
                      </a:r>
                    </a:p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~ 2026.12.31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661,298,000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ko-KR" altLang="en-US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㈜엘지씨엔에스</a:t>
                      </a:r>
                      <a:endParaRPr sz="1200" b="0" i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26</a:t>
                      </a:r>
                      <a:r>
                        <a:rPr lang="ko-KR" altLang="en-US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년 </a:t>
                      </a: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Cello Square </a:t>
                      </a:r>
                      <a:r>
                        <a:rPr lang="ko-KR" altLang="en-US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플랫폼 </a:t>
                      </a: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UX</a:t>
                      </a:r>
                      <a:r>
                        <a:rPr lang="ko-KR" altLang="en-US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기획 및 디자인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2026.01.01</a:t>
                      </a:r>
                    </a:p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~ 2026.12.31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928,320,000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ko-KR" altLang="en-US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삼성에스디에스㈜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ko-KR" altLang="en-US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중진공 전용 플랫폼 </a:t>
                      </a: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CX </a:t>
                      </a:r>
                      <a:r>
                        <a:rPr lang="ko-KR" altLang="en-US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기획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2025.10.01</a:t>
                      </a:r>
                    </a:p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~ 2026.01.22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180,000,000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ko-KR" altLang="en-US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삼성에스디에스㈜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ko-KR" altLang="en-US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경기 컬처패스 플랫폼 운영</a:t>
                      </a:r>
                      <a:endParaRPr sz="1200" b="0" i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2025.10.01</a:t>
                      </a:r>
                    </a:p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~ 2025.12.31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144,000,000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ko-KR" altLang="en-US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㈜마이비</a:t>
                      </a:r>
                      <a:endParaRPr sz="1200" b="0" i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AI 에이전트, 표준 아키텍처, 데이터 처리 및 서비스">
            <a:extLst>
              <a:ext uri="{FF2B5EF4-FFF2-40B4-BE49-F238E27FC236}">
                <a16:creationId xmlns:a16="http://schemas.microsoft.com/office/drawing/2014/main" id="{5893D2DB-7EAF-4C2C-3B87-7188F1DBFCDD}"/>
              </a:ext>
            </a:extLst>
          </p:cNvPr>
          <p:cNvSpPr txBox="1"/>
          <p:nvPr/>
        </p:nvSpPr>
        <p:spPr>
          <a:xfrm>
            <a:off x="635000" y="1435100"/>
            <a:ext cx="5486400" cy="738664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ts val="1800"/>
              </a:lnSpc>
            </a:pPr>
            <a:r>
              <a:rPr lang="en-US" sz="1200">
                <a:latin typeface="Arial" panose="020B0604020202020204" pitchFamily="34" charset="0"/>
              </a:rPr>
              <a:t>AI </a:t>
            </a:r>
            <a:r>
              <a:rPr lang="ko-KR" altLang="en-US" sz="1200">
                <a:latin typeface="Arial" panose="020B0604020202020204" pitchFamily="34" charset="0"/>
              </a:rPr>
              <a:t>에이전트</a:t>
            </a:r>
            <a:r>
              <a:rPr lang="en-US" altLang="ko-KR" sz="1200">
                <a:latin typeface="Arial" panose="020B0604020202020204" pitchFamily="34" charset="0"/>
              </a:rPr>
              <a:t>, </a:t>
            </a:r>
            <a:r>
              <a:rPr lang="ko-KR" altLang="en-US" sz="1200">
                <a:latin typeface="Arial" panose="020B0604020202020204" pitchFamily="34" charset="0"/>
              </a:rPr>
              <a:t>표준 아키텍처</a:t>
            </a:r>
            <a:r>
              <a:rPr lang="en-US" altLang="ko-KR" sz="1200">
                <a:latin typeface="Arial" panose="020B0604020202020204" pitchFamily="34" charset="0"/>
              </a:rPr>
              <a:t>, </a:t>
            </a:r>
            <a:r>
              <a:rPr lang="ko-KR" altLang="en-US" sz="1200">
                <a:latin typeface="Arial" panose="020B0604020202020204" pitchFamily="34" charset="0"/>
              </a:rPr>
              <a:t>데이터 처리 및 서비스 운영 실적을 보유하고 있습니다</a:t>
            </a:r>
            <a:r>
              <a:rPr lang="en-US" altLang="ko-KR" sz="1200">
                <a:latin typeface="Arial" panose="020B0604020202020204" pitchFamily="34" charset="0"/>
              </a:rPr>
              <a:t>. </a:t>
            </a:r>
            <a:r>
              <a:rPr lang="ko-KR" altLang="en-US" sz="1200">
                <a:latin typeface="Arial" panose="020B0604020202020204" pitchFamily="34" charset="0"/>
              </a:rPr>
              <a:t>이를 바탕으로 본 사업의 </a:t>
            </a:r>
            <a:r>
              <a:rPr lang="en-US" sz="1200">
                <a:latin typeface="Arial" panose="020B0604020202020204" pitchFamily="34" charset="0"/>
              </a:rPr>
              <a:t>AI </a:t>
            </a:r>
            <a:r>
              <a:rPr lang="ko-KR" altLang="en-US" sz="1200">
                <a:latin typeface="Arial" panose="020B0604020202020204" pitchFamily="34" charset="0"/>
              </a:rPr>
              <a:t>서비스와 데이터 처리 체계를 구축합니다</a:t>
            </a:r>
            <a:r>
              <a:rPr lang="en-US" altLang="ko-KR" sz="1200">
                <a:latin typeface="Arial" panose="020B0604020202020204" pitchFamily="34" charset="0"/>
              </a:rPr>
              <a:t>.</a:t>
            </a:r>
            <a:endParaRPr lang="en-KR" sz="1200">
              <a:latin typeface="Arial" panose="020B0604020202020204" pitchFamily="34" charset="0"/>
            </a:endParaRPr>
          </a:p>
        </p:txBody>
      </p:sp>
      <p:sp>
        <p:nvSpPr>
          <p:cNvPr id="6" name="주요 사업 수행 실적">
            <a:extLst>
              <a:ext uri="{FF2B5EF4-FFF2-40B4-BE49-F238E27FC236}">
                <a16:creationId xmlns:a16="http://schemas.microsoft.com/office/drawing/2014/main" id="{88A884A4-2599-4D63-3145-C38FE0CCC36A}"/>
              </a:ext>
            </a:extLst>
          </p:cNvPr>
          <p:cNvSpPr txBox="1"/>
          <p:nvPr/>
        </p:nvSpPr>
        <p:spPr>
          <a:xfrm>
            <a:off x="635000" y="2133600"/>
            <a:ext cx="5486400" cy="3048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ts val="1900"/>
              </a:lnSpc>
            </a:pPr>
            <a:r>
              <a:rPr lang="ko-KR" altLang="en-US" sz="1300" b="1">
                <a:solidFill>
                  <a:srgbClr val="1F4E79"/>
                </a:solidFill>
                <a:latin typeface="Arial" panose="020B0604020202020204" pitchFamily="34" charset="0"/>
              </a:rPr>
              <a:t>주요 사업 수행 실적</a:t>
            </a:r>
            <a:endParaRPr lang="en-KR" sz="1300" b="1">
              <a:solidFill>
                <a:srgbClr val="1F4E79"/>
              </a:solidFill>
              <a:latin typeface="Arial" panose="020B0604020202020204" pitchFamily="34" charset="0"/>
            </a:endParaRPr>
          </a:p>
        </p:txBody>
      </p:sp>
      <p:sp>
        <p:nvSpPr>
          <p:cNvPr id="4" name="2. 수행 실적 (에이치나인 1/2)">
            <a:extLst>
              <a:ext uri="{FF2B5EF4-FFF2-40B4-BE49-F238E27FC236}">
                <a16:creationId xmlns:a16="http://schemas.microsoft.com/office/drawing/2014/main" id="{651AD982-59EF-0D83-694B-48094AED2722}"/>
              </a:ext>
            </a:extLst>
          </p:cNvPr>
          <p:cNvSpPr txBox="1"/>
          <p:nvPr/>
        </p:nvSpPr>
        <p:spPr>
          <a:xfrm>
            <a:off x="635000" y="990600"/>
            <a:ext cx="54864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2200"/>
              </a:lnSpc>
            </a:pPr>
            <a:r>
              <a:rPr lang="en-US" altLang="ko-KR" sz="1600" b="1">
                <a:latin typeface="Arial" panose="020B0604020202020204" pitchFamily="34" charset="0"/>
              </a:rPr>
              <a:t>2. </a:t>
            </a:r>
            <a:r>
              <a:rPr lang="ko-KR" altLang="en-US" sz="1600" b="1">
                <a:latin typeface="Arial" panose="020B0604020202020204" pitchFamily="34" charset="0"/>
              </a:rPr>
              <a:t>수행 실적 </a:t>
            </a:r>
            <a:r>
              <a:rPr lang="en-US" altLang="ko-KR" sz="1600" b="1">
                <a:latin typeface="Arial" panose="020B0604020202020204" pitchFamily="34" charset="0"/>
              </a:rPr>
              <a:t>(</a:t>
            </a:r>
            <a:r>
              <a:rPr lang="ko-KR" altLang="en-US" sz="1600" b="1">
                <a:latin typeface="Arial" panose="020B0604020202020204" pitchFamily="34" charset="0"/>
              </a:rPr>
              <a:t>에이치나인 </a:t>
            </a:r>
            <a:r>
              <a:rPr lang="en-US" altLang="ko-KR" sz="1600" b="1">
                <a:latin typeface="Arial" panose="020B0604020202020204" pitchFamily="34" charset="0"/>
              </a:rPr>
              <a:t>1/2)</a:t>
            </a:r>
            <a:endParaRPr lang="en-KR" sz="1600" b="1">
              <a:latin typeface="Arial" panose="020B0604020202020204" pitchFamily="34" charset="0"/>
            </a:endParaRPr>
          </a:p>
        </p:txBody>
      </p:sp>
      <p:sp>
        <p:nvSpPr>
          <p:cNvPr id="3" name="1. 일반 현황">
            <a:extLst>
              <a:ext uri="{FF2B5EF4-FFF2-40B4-BE49-F238E27FC236}">
                <a16:creationId xmlns:a16="http://schemas.microsoft.com/office/drawing/2014/main" id="{CEF3FF14-639E-8A5D-78EE-F3FCBEE5F486}"/>
              </a:ext>
            </a:extLst>
          </p:cNvPr>
          <p:cNvSpPr txBox="1"/>
          <p:nvPr/>
        </p:nvSpPr>
        <p:spPr>
          <a:xfrm>
            <a:off x="635000" y="500563"/>
            <a:ext cx="2228339" cy="307777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lang="en-US" altLang="ko-KR" sz="1200">
                <a:latin typeface="Arial" panose="020B0604020202020204" pitchFamily="34" charset="0"/>
              </a:rPr>
              <a:t>1. </a:t>
            </a:r>
            <a:r>
              <a:rPr lang="ko-KR" altLang="en-US" sz="1200">
                <a:latin typeface="Arial" panose="020B0604020202020204" pitchFamily="34" charset="0"/>
              </a:rPr>
              <a:t>일반 현황</a:t>
            </a:r>
            <a:endParaRPr lang="en-KR" sz="1200">
              <a:latin typeface="Arial" panose="020B0604020202020204" pitchFamily="34" charset="0"/>
            </a:endParaRPr>
          </a:p>
        </p:txBody>
      </p:sp>
      <p:sp>
        <p:nvSpPr>
          <p:cNvPr id="516" name="BookFolioEven">
            <a:extLst>
              <a:ext uri="{FF2B5EF4-FFF2-40B4-BE49-F238E27FC236}">
                <a16:creationId xmlns:a16="http://schemas.microsoft.com/office/drawing/2014/main" id="{BE6C01A2-092E-422D-9CE1-6EC6420F6A48}"/>
              </a:ext>
            </a:extLst>
          </p:cNvPr>
          <p:cNvSpPr>
            <a:spLocks noGrp="1"/>
          </p:cNvSpPr>
          <p:nvPr/>
        </p:nvSpPr>
        <p:spPr>
          <a:xfrm>
            <a:off x="635000" y="9575800"/>
            <a:ext cx="508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>
          <a:extLst>
            <a:ext uri="{FF2B5EF4-FFF2-40B4-BE49-F238E27FC236}">
              <a16:creationId xmlns:a16="http://schemas.microsoft.com/office/drawing/2014/main" id="{D4554F05-E14E-291B-1BCC-59D8F10C6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5" name="Google Shape;515;p5">
            <a:extLst>
              <a:ext uri="{FF2B5EF4-FFF2-40B4-BE49-F238E27FC236}">
                <a16:creationId xmlns:a16="http://schemas.microsoft.com/office/drawing/2014/main" id="{58CE7D83-FAAD-F8FA-7099-A782653AAE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0645711"/>
              </p:ext>
            </p:extLst>
          </p:nvPr>
        </p:nvGraphicFramePr>
        <p:xfrm>
          <a:off x="736600" y="2489200"/>
          <a:ext cx="5486400" cy="6477000"/>
        </p:xfrm>
        <a:graphic>
          <a:graphicData uri="http://schemas.openxmlformats.org/drawingml/2006/table">
            <a:tbl>
              <a:tblPr firstRow="1" bandRow="1">
                <a:noFill/>
                <a:tableStyleId>{A65C353C-D88D-4590-9C8D-17DC0CB4FA02}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4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Tx/>
                        <a:buNone/>
                      </a:pPr>
                      <a:r>
                        <a:rPr lang="ko-KR" altLang="en-US" sz="1200" b="0" u="none" strike="noStrike" cap="none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사 업 명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Tx/>
                        <a:buNone/>
                      </a:pPr>
                      <a:r>
                        <a:rPr lang="ko-KR" altLang="en-US" sz="1200" b="0" u="none" strike="noStrike" cap="none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사 업 기 간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Tx/>
                        <a:buNone/>
                      </a:pPr>
                      <a:r>
                        <a:rPr lang="ko-KR" altLang="en-US" sz="1200" b="0" u="none" strike="noStrike" cap="none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계 약 금 액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Tx/>
                        <a:buNone/>
                      </a:pPr>
                      <a:r>
                        <a:rPr lang="ko-KR" altLang="en-US" sz="1200" b="0" u="none" strike="noStrike" cap="none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발 주 처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ko-KR" altLang="en-US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닷컴 글로벌 표준 </a:t>
                      </a: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CX </a:t>
                      </a:r>
                      <a:r>
                        <a:rPr lang="ko-KR" altLang="en-US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디자인 </a:t>
                      </a: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UX/UI </a:t>
                      </a:r>
                      <a:r>
                        <a:rPr lang="ko-KR" altLang="en-US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가이드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2025.09.08</a:t>
                      </a:r>
                    </a:p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~ 2025.12.31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270,000,000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ko-KR" altLang="en-US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삼성전자㈜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SKHy '25</a:t>
                      </a:r>
                      <a:r>
                        <a:rPr lang="ko-KR" altLang="en-US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년 표준 아키텍처 구축 </a:t>
                      </a: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Ph2 (</a:t>
                      </a:r>
                      <a:r>
                        <a:rPr lang="ko-KR" altLang="en-US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차세대</a:t>
                      </a: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) (DT)</a:t>
                      </a:r>
                      <a:endParaRPr sz="1200" b="0" i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2025.08.01</a:t>
                      </a:r>
                    </a:p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~ 2025.12.31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1,999,758,400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ko-KR" altLang="en-US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에스케이㈜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25</a:t>
                      </a:r>
                      <a:r>
                        <a:rPr lang="ko-KR" altLang="en-US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년 국립중앙박물관 모두 플랫폼 개선 및 유지보수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2025.07.01.</a:t>
                      </a:r>
                    </a:p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~ 2025.12.31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86,200,000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ko-KR" altLang="en-US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국립중앙박물관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LG LIFE </a:t>
                      </a:r>
                      <a:r>
                        <a:rPr lang="ko-KR" altLang="en-US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및 그룹 홈페이지 사이트 운영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2025.01.01</a:t>
                      </a:r>
                    </a:p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~ 2025.12.31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661,298,000</a:t>
                      </a:r>
                      <a:endParaRPr sz="1200" b="0" i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ko-KR" altLang="en-US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㈜엘지씨엔에스</a:t>
                      </a:r>
                      <a:endParaRPr sz="1200" b="0" i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CELLO SQUARE 5.0 </a:t>
                      </a:r>
                      <a:r>
                        <a:rPr lang="ko-KR" altLang="en-US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운영고도화 </a:t>
                      </a: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CX </a:t>
                      </a:r>
                      <a:r>
                        <a:rPr lang="ko-KR" altLang="en-US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외주계약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2025.01.01</a:t>
                      </a:r>
                    </a:p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~ 2025.12.31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1,235,530,000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ko-KR" altLang="en-US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삼성에스디에스㈜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ko-KR" altLang="en-US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주</a:t>
                      </a: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r>
                        <a:rPr lang="ko-KR" altLang="en-US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엘지경영개발원인화원 </a:t>
                      </a: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LG Awards </a:t>
                      </a:r>
                      <a:r>
                        <a:rPr lang="ko-KR" altLang="en-US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시스템 운영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2025.01.01</a:t>
                      </a:r>
                    </a:p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~ 2025.05.31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30,000,000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ko-KR" altLang="en-US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㈜엘지씨엔에스</a:t>
                      </a:r>
                      <a:endParaRPr sz="1200" b="0" i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SKHy 25</a:t>
                      </a:r>
                      <a:r>
                        <a:rPr lang="ko-KR" altLang="en-US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년 차세대 표준 아키텍쳐 구축 </a:t>
                      </a: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Ph1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2024.12.01</a:t>
                      </a:r>
                    </a:p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~ 2025.01.31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220,104,000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ko-KR" altLang="en-US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에스케이㈜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S.com Prototype </a:t>
                      </a:r>
                      <a:r>
                        <a:rPr lang="ko-KR" altLang="en-US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제작 및 인터랙션 정의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2024.11.01</a:t>
                      </a:r>
                    </a:p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~ 2024.12.31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392,000,000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ko-KR" altLang="en-US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삼성전자㈜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ko-KR" altLang="en-US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대체거래소 대응 외주개발</a:t>
                      </a: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(MTS </a:t>
                      </a:r>
                      <a:r>
                        <a:rPr lang="ko-KR" altLang="en-US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디자인</a:t>
                      </a: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1200" b="0" i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2024.09.23</a:t>
                      </a:r>
                    </a:p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~ 2025.03.31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253,636,364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ko-KR" altLang="en-US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대신증권㈜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2024 SEC SAMSUNG.COM WSC - UXE Execution</a:t>
                      </a:r>
                      <a:endParaRPr sz="1200" b="0" i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2024.09.12</a:t>
                      </a:r>
                    </a:p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~ 2025.03.01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220,000,000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ko-KR" altLang="en-US" sz="1200" b="0" i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㈜제일기획</a:t>
                      </a:r>
                      <a:endParaRPr sz="1200" b="0" i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5" name="서비스 기획·개발·운영 경험을 본 사업의 대화형 UI/">
            <a:extLst>
              <a:ext uri="{FF2B5EF4-FFF2-40B4-BE49-F238E27FC236}">
                <a16:creationId xmlns:a16="http://schemas.microsoft.com/office/drawing/2014/main" id="{4376D763-6D29-05B0-25C5-BF9C5EDCC044}"/>
              </a:ext>
            </a:extLst>
          </p:cNvPr>
          <p:cNvSpPr txBox="1"/>
          <p:nvPr/>
        </p:nvSpPr>
        <p:spPr>
          <a:xfrm>
            <a:off x="736600" y="1435100"/>
            <a:ext cx="5486400" cy="52322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ts val="1800"/>
              </a:lnSpc>
            </a:pPr>
            <a:r>
              <a:rPr lang="ko-KR" altLang="en-US" sz="1200">
                <a:latin typeface="Arial" panose="020B0604020202020204" pitchFamily="34" charset="0"/>
              </a:rPr>
              <a:t>서비스 기획</a:t>
            </a:r>
            <a:r>
              <a:rPr lang="en-US" altLang="ko-KR" sz="1200">
                <a:latin typeface="Arial" panose="020B0604020202020204" pitchFamily="34" charset="0"/>
              </a:rPr>
              <a:t>·</a:t>
            </a:r>
            <a:r>
              <a:rPr lang="ko-KR" altLang="en-US" sz="1200">
                <a:latin typeface="Arial" panose="020B0604020202020204" pitchFamily="34" charset="0"/>
              </a:rPr>
              <a:t>개발</a:t>
            </a:r>
            <a:r>
              <a:rPr lang="en-US" altLang="ko-KR" sz="1200">
                <a:latin typeface="Arial" panose="020B0604020202020204" pitchFamily="34" charset="0"/>
              </a:rPr>
              <a:t>·</a:t>
            </a:r>
            <a:r>
              <a:rPr lang="ko-KR" altLang="en-US" sz="1200">
                <a:latin typeface="Arial" panose="020B0604020202020204" pitchFamily="34" charset="0"/>
              </a:rPr>
              <a:t>운영 경험을 본 사업의 대화형 </a:t>
            </a:r>
            <a:r>
              <a:rPr lang="en-US" sz="1200">
                <a:latin typeface="Arial" panose="020B0604020202020204" pitchFamily="34" charset="0"/>
              </a:rPr>
              <a:t>UI/UX, </a:t>
            </a:r>
            <a:r>
              <a:rPr lang="ko-KR" altLang="en-US" sz="1200">
                <a:latin typeface="Arial" panose="020B0604020202020204" pitchFamily="34" charset="0"/>
              </a:rPr>
              <a:t>데이터 처리와 안정적인 서비스 운영에 적용합니다</a:t>
            </a:r>
            <a:r>
              <a:rPr lang="en-US" altLang="ko-KR" sz="1200">
                <a:latin typeface="Arial" panose="020B0604020202020204" pitchFamily="34" charset="0"/>
              </a:rPr>
              <a:t>.</a:t>
            </a:r>
            <a:endParaRPr lang="en-KR" sz="1200">
              <a:latin typeface="Arial" panose="020B0604020202020204" pitchFamily="34" charset="0"/>
            </a:endParaRPr>
          </a:p>
        </p:txBody>
      </p:sp>
      <p:sp>
        <p:nvSpPr>
          <p:cNvPr id="6" name="주요 사업 수행 실적">
            <a:extLst>
              <a:ext uri="{FF2B5EF4-FFF2-40B4-BE49-F238E27FC236}">
                <a16:creationId xmlns:a16="http://schemas.microsoft.com/office/drawing/2014/main" id="{74F873C7-F963-793C-32F7-1783AA300764}"/>
              </a:ext>
            </a:extLst>
          </p:cNvPr>
          <p:cNvSpPr txBox="1"/>
          <p:nvPr/>
        </p:nvSpPr>
        <p:spPr>
          <a:xfrm>
            <a:off x="736600" y="2133600"/>
            <a:ext cx="5486400" cy="3048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ts val="1900"/>
              </a:lnSpc>
            </a:pPr>
            <a:r>
              <a:rPr lang="ko-KR" altLang="en-US" sz="1300" b="1">
                <a:solidFill>
                  <a:srgbClr val="1F4E79"/>
                </a:solidFill>
                <a:latin typeface="Arial" panose="020B0604020202020204" pitchFamily="34" charset="0"/>
              </a:rPr>
              <a:t>주요 사업 수행 실적</a:t>
            </a:r>
            <a:endParaRPr lang="en-KR" sz="1300" b="1">
              <a:solidFill>
                <a:srgbClr val="1F4E79"/>
              </a:solidFill>
              <a:latin typeface="Arial" panose="020B0604020202020204" pitchFamily="34" charset="0"/>
            </a:endParaRPr>
          </a:p>
        </p:txBody>
      </p:sp>
      <p:sp>
        <p:nvSpPr>
          <p:cNvPr id="4" name="2. 수행 실적 (에이치나인 2/2)">
            <a:extLst>
              <a:ext uri="{FF2B5EF4-FFF2-40B4-BE49-F238E27FC236}">
                <a16:creationId xmlns:a16="http://schemas.microsoft.com/office/drawing/2014/main" id="{57A68C48-C805-1953-ABA4-C976D3BA2F2D}"/>
              </a:ext>
            </a:extLst>
          </p:cNvPr>
          <p:cNvSpPr txBox="1"/>
          <p:nvPr/>
        </p:nvSpPr>
        <p:spPr>
          <a:xfrm>
            <a:off x="736600" y="990600"/>
            <a:ext cx="54864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2200"/>
              </a:lnSpc>
            </a:pPr>
            <a:r>
              <a:rPr lang="en-US" altLang="ko-KR" sz="1600" b="1">
                <a:latin typeface="Arial" panose="020B0604020202020204" pitchFamily="34" charset="0"/>
              </a:rPr>
              <a:t>2. </a:t>
            </a:r>
            <a:r>
              <a:rPr lang="ko-KR" altLang="en-US" sz="1600" b="1">
                <a:latin typeface="Arial" panose="020B0604020202020204" pitchFamily="34" charset="0"/>
              </a:rPr>
              <a:t>수행 실적 </a:t>
            </a:r>
            <a:r>
              <a:rPr lang="en-US" altLang="ko-KR" sz="1600" b="1">
                <a:latin typeface="Arial" panose="020B0604020202020204" pitchFamily="34" charset="0"/>
              </a:rPr>
              <a:t>(</a:t>
            </a:r>
            <a:r>
              <a:rPr lang="ko-KR" altLang="en-US" sz="1600" b="1">
                <a:latin typeface="Arial" panose="020B0604020202020204" pitchFamily="34" charset="0"/>
              </a:rPr>
              <a:t>에이치나인 </a:t>
            </a:r>
            <a:r>
              <a:rPr lang="en-US" altLang="ko-KR" sz="1600" b="1">
                <a:latin typeface="Arial" panose="020B0604020202020204" pitchFamily="34" charset="0"/>
              </a:rPr>
              <a:t>2/2)</a:t>
            </a:r>
            <a:endParaRPr lang="en-KR" sz="1600" b="1">
              <a:latin typeface="Arial" panose="020B0604020202020204" pitchFamily="34" charset="0"/>
            </a:endParaRPr>
          </a:p>
        </p:txBody>
      </p:sp>
      <p:sp>
        <p:nvSpPr>
          <p:cNvPr id="3" name="1. 일반 현황">
            <a:extLst>
              <a:ext uri="{FF2B5EF4-FFF2-40B4-BE49-F238E27FC236}">
                <a16:creationId xmlns:a16="http://schemas.microsoft.com/office/drawing/2014/main" id="{FEFBB20D-94A3-8038-9197-947023DD36C9}"/>
              </a:ext>
            </a:extLst>
          </p:cNvPr>
          <p:cNvSpPr txBox="1"/>
          <p:nvPr/>
        </p:nvSpPr>
        <p:spPr>
          <a:xfrm>
            <a:off x="3994661" y="500563"/>
            <a:ext cx="2228339" cy="307777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 algn="r">
              <a:lnSpc>
                <a:spcPts val="1800"/>
              </a:lnSpc>
            </a:pPr>
            <a:r>
              <a:rPr lang="en-US" altLang="ko-KR" sz="1200">
                <a:latin typeface="Arial" panose="020B0604020202020204" pitchFamily="34" charset="0"/>
              </a:rPr>
              <a:t>1. </a:t>
            </a:r>
            <a:r>
              <a:rPr lang="ko-KR" altLang="en-US" sz="1200">
                <a:latin typeface="Arial" panose="020B0604020202020204" pitchFamily="34" charset="0"/>
              </a:rPr>
              <a:t>일반 현황</a:t>
            </a:r>
            <a:endParaRPr lang="en-KR" sz="1200">
              <a:latin typeface="Arial" panose="020B0604020202020204" pitchFamily="34" charset="0"/>
            </a:endParaRPr>
          </a:p>
        </p:txBody>
      </p:sp>
      <p:sp>
        <p:nvSpPr>
          <p:cNvPr id="516" name="BookFolioOdd">
            <a:extLst>
              <a:ext uri="{FF2B5EF4-FFF2-40B4-BE49-F238E27FC236}">
                <a16:creationId xmlns:a16="http://schemas.microsoft.com/office/drawing/2014/main" id="{98F6B705-EE36-428A-A3A2-2CA4F014C2DA}"/>
              </a:ext>
            </a:extLst>
          </p:cNvPr>
          <p:cNvSpPr>
            <a:spLocks noGrp="1"/>
          </p:cNvSpPr>
          <p:nvPr/>
        </p:nvSpPr>
        <p:spPr>
          <a:xfrm>
            <a:off x="5715000" y="9575800"/>
            <a:ext cx="508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9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001627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9" name="Google Shape;529;p6"/>
          <p:cNvPicPr preferRelativeResize="0"/>
          <p:nvPr/>
        </p:nvPicPr>
        <p:blipFill rotWithShape="1">
          <a:blip r:embed="rId3">
            <a:alphaModFix/>
          </a:blip>
          <a:srcRect b="18501"/>
          <a:stretch>
            <a:fillRect/>
          </a:stretch>
        </p:blipFill>
        <p:spPr>
          <a:xfrm>
            <a:off x="635000" y="3993385"/>
            <a:ext cx="5486400" cy="2465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000" y="7239001"/>
            <a:ext cx="5486400" cy="208768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K가스 Trading AI Agent 개발 경험을 기">
            <a:extLst>
              <a:ext uri="{FF2B5EF4-FFF2-40B4-BE49-F238E27FC236}">
                <a16:creationId xmlns:a16="http://schemas.microsoft.com/office/drawing/2014/main" id="{7D72C16A-B315-BD81-D609-4CB1D03C6294}"/>
              </a:ext>
            </a:extLst>
          </p:cNvPr>
          <p:cNvSpPr txBox="1"/>
          <p:nvPr/>
        </p:nvSpPr>
        <p:spPr>
          <a:xfrm>
            <a:off x="635000" y="1435100"/>
            <a:ext cx="5486400" cy="52322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ts val="1800"/>
              </a:lnSpc>
            </a:pPr>
            <a:r>
              <a:rPr lang="en-US" sz="1200" dirty="0">
                <a:latin typeface="Arial" panose="020B0604020202020204" pitchFamily="34" charset="0"/>
              </a:rPr>
              <a:t>SK</a:t>
            </a:r>
            <a:r>
              <a:rPr lang="ko-KR" altLang="en-US" sz="1200" dirty="0">
                <a:latin typeface="Arial" panose="020B0604020202020204" pitchFamily="34" charset="0"/>
              </a:rPr>
              <a:t>가스 </a:t>
            </a:r>
            <a:r>
              <a:rPr lang="en-US" sz="1200" dirty="0">
                <a:latin typeface="Arial" panose="020B0604020202020204" pitchFamily="34" charset="0"/>
              </a:rPr>
              <a:t>Trading AI Agent </a:t>
            </a:r>
            <a:r>
              <a:rPr lang="ko-KR" altLang="en-US" sz="1200" dirty="0">
                <a:latin typeface="Arial" panose="020B0604020202020204" pitchFamily="34" charset="0"/>
              </a:rPr>
              <a:t>개발 경험을 기반으로</a:t>
            </a:r>
            <a:r>
              <a:rPr lang="en-US" altLang="ko-KR" sz="1200" dirty="0">
                <a:latin typeface="Arial" panose="020B0604020202020204" pitchFamily="34" charset="0"/>
              </a:rPr>
              <a:t>, </a:t>
            </a:r>
            <a:r>
              <a:rPr lang="ko-KR" altLang="en-US" sz="1200" dirty="0">
                <a:latin typeface="Arial" panose="020B0604020202020204" pitchFamily="34" charset="0"/>
              </a:rPr>
              <a:t>본 사업의 근거 기반 응답과 데이터 처리 체계를 구현합니다</a:t>
            </a:r>
            <a:r>
              <a:rPr lang="en-US" altLang="ko-KR" sz="1200" dirty="0">
                <a:latin typeface="Arial" panose="020B0604020202020204" pitchFamily="34" charset="0"/>
              </a:rPr>
              <a:t>.</a:t>
            </a:r>
            <a:endParaRPr lang="en-KR" sz="1200">
              <a:latin typeface="Arial" panose="020B0604020202020204" pitchFamily="34" charset="0"/>
            </a:endParaRPr>
          </a:p>
        </p:txBody>
      </p:sp>
      <p:sp>
        <p:nvSpPr>
          <p:cNvPr id="6" name="SK가스 Trading AI Agent 개발">
            <a:extLst>
              <a:ext uri="{FF2B5EF4-FFF2-40B4-BE49-F238E27FC236}">
                <a16:creationId xmlns:a16="http://schemas.microsoft.com/office/drawing/2014/main" id="{AE845BA9-64C2-7F9C-BD83-49234A7B29C4}"/>
              </a:ext>
            </a:extLst>
          </p:cNvPr>
          <p:cNvSpPr txBox="1"/>
          <p:nvPr/>
        </p:nvSpPr>
        <p:spPr>
          <a:xfrm>
            <a:off x="635000" y="2324100"/>
            <a:ext cx="5486400" cy="3048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ts val="1900"/>
              </a:lnSpc>
            </a:pPr>
            <a:r>
              <a:rPr lang="en-US" sz="1300" b="1">
                <a:solidFill>
                  <a:srgbClr val="1F4E79"/>
                </a:solidFill>
                <a:latin typeface="Arial" panose="020B0604020202020204" pitchFamily="34" charset="0"/>
              </a:rPr>
              <a:t>SK</a:t>
            </a:r>
            <a:r>
              <a:rPr lang="ko-KR" altLang="en-US" sz="1300" b="1">
                <a:solidFill>
                  <a:srgbClr val="1F4E79"/>
                </a:solidFill>
                <a:latin typeface="Arial" panose="020B0604020202020204" pitchFamily="34" charset="0"/>
              </a:rPr>
              <a:t>가스 </a:t>
            </a:r>
            <a:r>
              <a:rPr lang="en-US" sz="1300" b="1">
                <a:solidFill>
                  <a:srgbClr val="1F4E79"/>
                </a:solidFill>
                <a:latin typeface="Arial" panose="020B0604020202020204" pitchFamily="34" charset="0"/>
              </a:rPr>
              <a:t>Trading AI Agent </a:t>
            </a:r>
            <a:r>
              <a:rPr lang="ko-KR" altLang="en-US" sz="1300" b="1">
                <a:solidFill>
                  <a:srgbClr val="1F4E79"/>
                </a:solidFill>
                <a:latin typeface="Arial" panose="020B0604020202020204" pitchFamily="34" charset="0"/>
              </a:rPr>
              <a:t>개발</a:t>
            </a:r>
            <a:endParaRPr lang="en-KR" sz="1300" b="1">
              <a:solidFill>
                <a:srgbClr val="1F4E79"/>
              </a:solidFill>
              <a:latin typeface="Arial" panose="020B0604020202020204" pitchFamily="34" charset="0"/>
            </a:endParaRPr>
          </a:p>
        </p:txBody>
      </p:sp>
      <p:sp>
        <p:nvSpPr>
          <p:cNvPr id="7" name="시황 데이터(Odin)의 관리·분석과 일일 리포트 생성">
            <a:extLst>
              <a:ext uri="{FF2B5EF4-FFF2-40B4-BE49-F238E27FC236}">
                <a16:creationId xmlns:a16="http://schemas.microsoft.com/office/drawing/2014/main" id="{ED8B3BB6-9389-54E8-1FEB-0403EBE3FCCE}"/>
              </a:ext>
            </a:extLst>
          </p:cNvPr>
          <p:cNvSpPr txBox="1"/>
          <p:nvPr/>
        </p:nvSpPr>
        <p:spPr>
          <a:xfrm>
            <a:off x="635000" y="2717800"/>
            <a:ext cx="5486400" cy="954107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ko-KR" altLang="ko-KR" sz="1200" dirty="0" err="1"/>
              <a:t>Knowledge</a:t>
            </a:r>
            <a:r>
              <a:rPr lang="ko-KR" altLang="ko-KR" sz="1200" dirty="0"/>
              <a:t> </a:t>
            </a:r>
            <a:r>
              <a:rPr lang="ko-KR" altLang="ko-KR" sz="1200" dirty="0" err="1"/>
              <a:t>Graph</a:t>
            </a:r>
            <a:r>
              <a:rPr lang="ko-KR" altLang="ko-KR" sz="1200" dirty="0"/>
              <a:t> + </a:t>
            </a:r>
            <a:r>
              <a:rPr lang="ko-KR" altLang="ko-KR" sz="1200" dirty="0" err="1"/>
              <a:t>Agentic</a:t>
            </a:r>
            <a:r>
              <a:rPr lang="ko-KR" altLang="ko-KR" sz="1200" dirty="0"/>
              <a:t> </a:t>
            </a:r>
            <a:r>
              <a:rPr lang="ko-KR" altLang="ko-KR" sz="1200" dirty="0" err="1"/>
              <a:t>Loop</a:t>
            </a:r>
            <a:r>
              <a:rPr lang="ko-KR" altLang="ko-KR" sz="1200" dirty="0"/>
              <a:t> 기반 분석 체계</a:t>
            </a:r>
            <a:endParaRPr lang="en-US" altLang="ko-KR" sz="1200" dirty="0"/>
          </a:p>
          <a:p>
            <a:pPr>
              <a:spcAft>
                <a:spcPts val="400"/>
              </a:spcAft>
            </a:pPr>
            <a:endParaRPr lang="en-US" altLang="ko-KR" sz="200" dirty="0">
              <a:latin typeface="Arial" panose="020B0604020202020204" pitchFamily="34" charset="0"/>
            </a:endParaRPr>
          </a:p>
          <a:p>
            <a:pPr>
              <a:spcAft>
                <a:spcPts val="400"/>
              </a:spcAft>
            </a:pPr>
            <a:r>
              <a:rPr lang="ko-KR" altLang="ko-KR" sz="1200" dirty="0"/>
              <a:t>이기종 데이터의 </a:t>
            </a:r>
            <a:r>
              <a:rPr lang="ko-KR" altLang="ko-KR" sz="1200" dirty="0" err="1"/>
              <a:t>개체·속성·관계를</a:t>
            </a:r>
            <a:r>
              <a:rPr lang="ko-KR" altLang="ko-KR" sz="1200" dirty="0"/>
              <a:t> 지식그래프로 연결하고, AI </a:t>
            </a:r>
            <a:r>
              <a:rPr lang="ko-KR" altLang="ko-KR" sz="1200" dirty="0" err="1"/>
              <a:t>Agent가</a:t>
            </a:r>
            <a:r>
              <a:rPr lang="ko-KR" altLang="ko-KR" sz="1200" dirty="0"/>
              <a:t> 분석 결과의 충분성과 정합성을 스스로 점검하는 반복 추론 구조를 적용하였습니다. 근거가 부족하거나 상충하는 경우 추가 데이터를 탐색하고 재분석함으로써 응답의 신뢰성과 활용도를 향상시켰습니다.</a:t>
            </a:r>
            <a:endParaRPr lang="en-KR" sz="1200">
              <a:latin typeface="Arial" panose="020B0604020202020204" pitchFamily="34" charset="0"/>
            </a:endParaRPr>
          </a:p>
        </p:txBody>
      </p:sp>
      <p:sp>
        <p:nvSpPr>
          <p:cNvPr id="8" name="자연어 질의에 근거 데이터의 위치를 제시하여 응답 추적">
            <a:extLst>
              <a:ext uri="{FF2B5EF4-FFF2-40B4-BE49-F238E27FC236}">
                <a16:creationId xmlns:a16="http://schemas.microsoft.com/office/drawing/2014/main" id="{888E1BE4-0415-0938-D066-FF7F0355C8AF}"/>
              </a:ext>
            </a:extLst>
          </p:cNvPr>
          <p:cNvSpPr txBox="1"/>
          <p:nvPr/>
        </p:nvSpPr>
        <p:spPr>
          <a:xfrm>
            <a:off x="635000" y="6622837"/>
            <a:ext cx="5486400" cy="954107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ko-KR" altLang="ko-KR" sz="1200" dirty="0"/>
              <a:t>기존 데이터 분석 </a:t>
            </a:r>
            <a:r>
              <a:rPr lang="ko-KR" altLang="ko-KR" sz="1200" dirty="0" err="1"/>
              <a:t>Agent의</a:t>
            </a:r>
            <a:r>
              <a:rPr lang="ko-KR" altLang="ko-KR" sz="1200" dirty="0"/>
              <a:t> </a:t>
            </a:r>
            <a:r>
              <a:rPr lang="ko-KR" altLang="ko-KR" sz="1200" dirty="0" err="1"/>
              <a:t>수집·조회·다단계</a:t>
            </a:r>
            <a:r>
              <a:rPr lang="ko-KR" altLang="ko-KR" sz="1200" dirty="0"/>
              <a:t> 분석 기술을 기반으로, 지식그래프 및 반복 추론 구조를 접목할 수 있는 확장형 아키텍처를 확보하였습니다.</a:t>
            </a:r>
            <a:endParaRPr lang="en-KR" sz="1200">
              <a:latin typeface="Arial" panose="020B0604020202020204" pitchFamily="34" charset="0"/>
            </a:endParaRPr>
          </a:p>
        </p:txBody>
      </p:sp>
      <p:sp>
        <p:nvSpPr>
          <p:cNvPr id="4" name="2. 유사 수행 실적 (1) Trading AI Age">
            <a:extLst>
              <a:ext uri="{FF2B5EF4-FFF2-40B4-BE49-F238E27FC236}">
                <a16:creationId xmlns:a16="http://schemas.microsoft.com/office/drawing/2014/main" id="{C26A1436-EF14-2C3F-7E58-E9421A7C72F9}"/>
              </a:ext>
            </a:extLst>
          </p:cNvPr>
          <p:cNvSpPr txBox="1"/>
          <p:nvPr/>
        </p:nvSpPr>
        <p:spPr>
          <a:xfrm>
            <a:off x="635000" y="990600"/>
            <a:ext cx="54864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2200"/>
              </a:lnSpc>
            </a:pPr>
            <a:r>
              <a:rPr lang="en-US" altLang="ko-KR" sz="1600" b="1">
                <a:latin typeface="Arial" panose="020B0604020202020204" pitchFamily="34" charset="0"/>
              </a:rPr>
              <a:t>2. </a:t>
            </a:r>
            <a:r>
              <a:rPr lang="ko-KR" altLang="en-US" sz="1600" b="1">
                <a:latin typeface="Arial" panose="020B0604020202020204" pitchFamily="34" charset="0"/>
              </a:rPr>
              <a:t>유사 수행 실적 </a:t>
            </a:r>
            <a:r>
              <a:rPr lang="en-US" altLang="ko-KR" sz="1600" b="1">
                <a:latin typeface="Arial" panose="020B0604020202020204" pitchFamily="34" charset="0"/>
              </a:rPr>
              <a:t>(1) </a:t>
            </a:r>
            <a:r>
              <a:rPr lang="en-US" sz="1600" b="1">
                <a:latin typeface="Arial" panose="020B0604020202020204" pitchFamily="34" charset="0"/>
              </a:rPr>
              <a:t>Trading AI Agent</a:t>
            </a:r>
            <a:endParaRPr lang="en-KR" sz="1600" b="1">
              <a:latin typeface="Arial" panose="020B0604020202020204" pitchFamily="34" charset="0"/>
            </a:endParaRPr>
          </a:p>
        </p:txBody>
      </p:sp>
      <p:sp>
        <p:nvSpPr>
          <p:cNvPr id="3" name="1. 일반 현황">
            <a:extLst>
              <a:ext uri="{FF2B5EF4-FFF2-40B4-BE49-F238E27FC236}">
                <a16:creationId xmlns:a16="http://schemas.microsoft.com/office/drawing/2014/main" id="{F49DE788-5572-19EB-031A-48D58775154C}"/>
              </a:ext>
            </a:extLst>
          </p:cNvPr>
          <p:cNvSpPr txBox="1"/>
          <p:nvPr/>
        </p:nvSpPr>
        <p:spPr>
          <a:xfrm>
            <a:off x="635000" y="500563"/>
            <a:ext cx="2228339" cy="307777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lang="en-US" altLang="ko-KR" sz="1200">
                <a:latin typeface="Arial" panose="020B0604020202020204" pitchFamily="34" charset="0"/>
              </a:rPr>
              <a:t>1. </a:t>
            </a:r>
            <a:r>
              <a:rPr lang="ko-KR" altLang="en-US" sz="1200">
                <a:latin typeface="Arial" panose="020B0604020202020204" pitchFamily="34" charset="0"/>
              </a:rPr>
              <a:t>일반 현황</a:t>
            </a:r>
            <a:endParaRPr lang="en-KR" sz="1200">
              <a:latin typeface="Arial" panose="020B0604020202020204" pitchFamily="34" charset="0"/>
            </a:endParaRPr>
          </a:p>
        </p:txBody>
      </p:sp>
      <p:sp>
        <p:nvSpPr>
          <p:cNvPr id="531" name="BookFolioEven">
            <a:extLst>
              <a:ext uri="{FF2B5EF4-FFF2-40B4-BE49-F238E27FC236}">
                <a16:creationId xmlns:a16="http://schemas.microsoft.com/office/drawing/2014/main" id="{BE6C01A2-092E-422D-9CE1-6EC6420F6A48}"/>
              </a:ext>
            </a:extLst>
          </p:cNvPr>
          <p:cNvSpPr>
            <a:spLocks noGrp="1"/>
          </p:cNvSpPr>
          <p:nvPr/>
        </p:nvSpPr>
        <p:spPr>
          <a:xfrm>
            <a:off x="635000" y="9575800"/>
            <a:ext cx="508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Google Shape;543;g3f9f6cb7583_0_10"/>
          <p:cNvPicPr preferRelativeResize="0"/>
          <p:nvPr/>
        </p:nvPicPr>
        <p:blipFill rotWithShape="1">
          <a:blip r:embed="rId3">
            <a:alphaModFix/>
          </a:blip>
          <a:srcRect r="21266"/>
          <a:stretch/>
        </p:blipFill>
        <p:spPr>
          <a:xfrm>
            <a:off x="736600" y="5806837"/>
            <a:ext cx="5486400" cy="253318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SK하이닉스 제조 운영자동화 AI 에이전트와 모니터링 ">
            <a:extLst>
              <a:ext uri="{FF2B5EF4-FFF2-40B4-BE49-F238E27FC236}">
                <a16:creationId xmlns:a16="http://schemas.microsoft.com/office/drawing/2014/main" id="{366CEB46-931C-F615-C436-D07A713D6799}"/>
              </a:ext>
            </a:extLst>
          </p:cNvPr>
          <p:cNvSpPr txBox="1"/>
          <p:nvPr/>
        </p:nvSpPr>
        <p:spPr>
          <a:xfrm>
            <a:off x="736600" y="1435100"/>
            <a:ext cx="5486400" cy="52322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ts val="1800"/>
              </a:lnSpc>
            </a:pPr>
            <a:r>
              <a:rPr lang="en-US" sz="1200">
                <a:latin typeface="Arial" panose="020B0604020202020204" pitchFamily="34" charset="0"/>
              </a:rPr>
              <a:t>SK</a:t>
            </a:r>
            <a:r>
              <a:rPr lang="ko-KR" altLang="en-US" sz="1200">
                <a:latin typeface="Arial" panose="020B0604020202020204" pitchFamily="34" charset="0"/>
              </a:rPr>
              <a:t>하이닉스 제조 운영자동화 </a:t>
            </a:r>
            <a:r>
              <a:rPr lang="en-US" sz="1200">
                <a:latin typeface="Arial" panose="020B0604020202020204" pitchFamily="34" charset="0"/>
              </a:rPr>
              <a:t>AI </a:t>
            </a:r>
            <a:r>
              <a:rPr lang="ko-KR" altLang="en-US" sz="1200">
                <a:latin typeface="Arial" panose="020B0604020202020204" pitchFamily="34" charset="0"/>
              </a:rPr>
              <a:t>에이전트와 모니터링 플랫폼 개발 경험을 본 사업의 에이전트 운영</a:t>
            </a:r>
            <a:r>
              <a:rPr lang="en-US" altLang="ko-KR" sz="1200">
                <a:latin typeface="Arial" panose="020B0604020202020204" pitchFamily="34" charset="0"/>
              </a:rPr>
              <a:t>·</a:t>
            </a:r>
            <a:r>
              <a:rPr lang="ko-KR" altLang="en-US" sz="1200">
                <a:latin typeface="Arial" panose="020B0604020202020204" pitchFamily="34" charset="0"/>
              </a:rPr>
              <a:t>품질 관리에 적용합니다</a:t>
            </a:r>
            <a:r>
              <a:rPr lang="en-US" altLang="ko-KR" sz="1200">
                <a:latin typeface="Arial" panose="020B0604020202020204" pitchFamily="34" charset="0"/>
              </a:rPr>
              <a:t>.</a:t>
            </a:r>
            <a:endParaRPr lang="en-KR" sz="1200">
              <a:latin typeface="Arial" panose="020B0604020202020204" pitchFamily="34" charset="0"/>
            </a:endParaRPr>
          </a:p>
        </p:txBody>
      </p:sp>
      <p:sp>
        <p:nvSpPr>
          <p:cNvPr id="9" name="SK하이닉스 MES 운영자동화 및 모니터링">
            <a:extLst>
              <a:ext uri="{FF2B5EF4-FFF2-40B4-BE49-F238E27FC236}">
                <a16:creationId xmlns:a16="http://schemas.microsoft.com/office/drawing/2014/main" id="{7BDF4F63-AA59-A8F4-47EF-EE3CCA61B2FB}"/>
              </a:ext>
            </a:extLst>
          </p:cNvPr>
          <p:cNvSpPr txBox="1"/>
          <p:nvPr/>
        </p:nvSpPr>
        <p:spPr>
          <a:xfrm>
            <a:off x="736600" y="2140582"/>
            <a:ext cx="5486400" cy="3048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en-US" sz="1300" b="1" dirty="0">
                <a:solidFill>
                  <a:srgbClr val="1F4E79"/>
                </a:solidFill>
                <a:latin typeface="Arial" panose="020B0604020202020204" pitchFamily="34" charset="0"/>
              </a:rPr>
              <a:t>SK</a:t>
            </a:r>
            <a:r>
              <a:rPr lang="ko-KR" altLang="en-US" sz="1300" b="1" dirty="0">
                <a:solidFill>
                  <a:srgbClr val="1F4E79"/>
                </a:solidFill>
                <a:latin typeface="Arial" panose="020B0604020202020204" pitchFamily="34" charset="0"/>
              </a:rPr>
              <a:t>하이닉스 </a:t>
            </a:r>
            <a:r>
              <a:rPr lang="en-US" sz="1300" b="1" dirty="0">
                <a:solidFill>
                  <a:srgbClr val="1F4E79"/>
                </a:solidFill>
                <a:latin typeface="Arial" panose="020B0604020202020204" pitchFamily="34" charset="0"/>
              </a:rPr>
              <a:t>MES </a:t>
            </a:r>
            <a:r>
              <a:rPr lang="ko-KR" altLang="ko-KR" sz="1300" b="1" dirty="0">
                <a:solidFill>
                  <a:srgbClr val="1F4E79"/>
                </a:solidFill>
                <a:latin typeface="Arial" panose="020B0604020202020204" pitchFamily="34" charset="0"/>
              </a:rPr>
              <a:t>AI </a:t>
            </a:r>
            <a:r>
              <a:rPr lang="ko-KR" altLang="ko-KR" sz="1300" b="1" dirty="0" err="1">
                <a:solidFill>
                  <a:srgbClr val="1F4E79"/>
                </a:solidFill>
                <a:latin typeface="Arial" panose="020B0604020202020204" pitchFamily="34" charset="0"/>
              </a:rPr>
              <a:t>Agent</a:t>
            </a:r>
            <a:r>
              <a:rPr lang="ko-KR" altLang="ko-KR" sz="1300" b="1" dirty="0">
                <a:solidFill>
                  <a:srgbClr val="1F4E79"/>
                </a:solidFill>
                <a:latin typeface="Arial" panose="020B0604020202020204" pitchFamily="34" charset="0"/>
              </a:rPr>
              <a:t> 통합 관제 및 품질관리 체계 구축</a:t>
            </a:r>
            <a:endParaRPr lang="en-KR" sz="1300" b="1">
              <a:solidFill>
                <a:srgbClr val="1F4E79"/>
              </a:solidFill>
              <a:latin typeface="Arial" panose="020B0604020202020204" pitchFamily="34" charset="0"/>
            </a:endParaRPr>
          </a:p>
        </p:txBody>
      </p:sp>
      <p:sp>
        <p:nvSpPr>
          <p:cNvPr id="10" name="SKHy '26년 용인 Y1(M17) 제조 DT 시스템">
            <a:extLst>
              <a:ext uri="{FF2B5EF4-FFF2-40B4-BE49-F238E27FC236}">
                <a16:creationId xmlns:a16="http://schemas.microsoft.com/office/drawing/2014/main" id="{25B612AE-AC03-9379-75E7-30FC59061410}"/>
              </a:ext>
            </a:extLst>
          </p:cNvPr>
          <p:cNvSpPr txBox="1"/>
          <p:nvPr/>
        </p:nvSpPr>
        <p:spPr>
          <a:xfrm>
            <a:off x="736600" y="2546982"/>
            <a:ext cx="5486400" cy="9525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ts val="1500"/>
              </a:lnSpc>
              <a:spcAft>
                <a:spcPts val="200"/>
              </a:spcAft>
            </a:pPr>
            <a:r>
              <a:rPr lang="en-US" sz="1050" dirty="0">
                <a:latin typeface="Arial" panose="020B0604020202020204" pitchFamily="34" charset="0"/>
              </a:rPr>
              <a:t>SKHy '26</a:t>
            </a:r>
            <a:r>
              <a:rPr lang="ko-KR" altLang="en-US" sz="1050" dirty="0">
                <a:latin typeface="Arial" panose="020B0604020202020204" pitchFamily="34" charset="0"/>
              </a:rPr>
              <a:t>년 용인 </a:t>
            </a:r>
            <a:r>
              <a:rPr lang="en-US" sz="1050" dirty="0">
                <a:latin typeface="Arial" panose="020B0604020202020204" pitchFamily="34" charset="0"/>
              </a:rPr>
              <a:t>Y1(M17) </a:t>
            </a:r>
            <a:r>
              <a:rPr lang="ko-KR" altLang="en-US" sz="1050" dirty="0">
                <a:latin typeface="Arial" panose="020B0604020202020204" pitchFamily="34" charset="0"/>
              </a:rPr>
              <a:t>제조 </a:t>
            </a:r>
            <a:r>
              <a:rPr lang="en-US" sz="1050" dirty="0">
                <a:latin typeface="Arial" panose="020B0604020202020204" pitchFamily="34" charset="0"/>
              </a:rPr>
              <a:t>DT </a:t>
            </a:r>
            <a:r>
              <a:rPr lang="ko-KR" altLang="en-US" sz="1050" dirty="0">
                <a:latin typeface="Arial" panose="020B0604020202020204" pitchFamily="34" charset="0"/>
              </a:rPr>
              <a:t>시스템 </a:t>
            </a:r>
            <a:r>
              <a:rPr lang="en-US" sz="1050" dirty="0">
                <a:latin typeface="Arial" panose="020B0604020202020204" pitchFamily="34" charset="0"/>
              </a:rPr>
              <a:t>Ph1_FAB MOS_</a:t>
            </a:r>
            <a:r>
              <a:rPr lang="ko-KR" altLang="en-US" sz="1050" dirty="0">
                <a:latin typeface="Arial" panose="020B0604020202020204" pitchFamily="34" charset="0"/>
              </a:rPr>
              <a:t>원가선투입</a:t>
            </a:r>
          </a:p>
          <a:p>
            <a:pPr>
              <a:lnSpc>
                <a:spcPts val="1500"/>
              </a:lnSpc>
              <a:spcAft>
                <a:spcPts val="200"/>
              </a:spcAft>
            </a:pPr>
            <a:r>
              <a:rPr lang="en-US" sz="1050" dirty="0">
                <a:latin typeface="Arial" panose="020B0604020202020204" pitchFamily="34" charset="0"/>
              </a:rPr>
              <a:t>SKHy '26</a:t>
            </a:r>
            <a:r>
              <a:rPr lang="ko-KR" altLang="en-US" sz="1050" dirty="0">
                <a:latin typeface="Arial" panose="020B0604020202020204" pitchFamily="34" charset="0"/>
              </a:rPr>
              <a:t>년 </a:t>
            </a:r>
            <a:r>
              <a:rPr lang="en-US" sz="1050" dirty="0">
                <a:latin typeface="Arial" panose="020B0604020202020204" pitchFamily="34" charset="0"/>
              </a:rPr>
              <a:t>M15X Ph4 </a:t>
            </a:r>
            <a:r>
              <a:rPr lang="ko-KR" altLang="en-US" sz="1050" dirty="0">
                <a:latin typeface="Arial" panose="020B0604020202020204" pitchFamily="34" charset="0"/>
              </a:rPr>
              <a:t>차세대 제조 시스템 </a:t>
            </a:r>
            <a:r>
              <a:rPr lang="en-US" altLang="ko-KR" sz="1050" dirty="0">
                <a:latin typeface="Arial" panose="020B0604020202020204" pitchFamily="34" charset="0"/>
              </a:rPr>
              <a:t>_</a:t>
            </a:r>
            <a:r>
              <a:rPr lang="en-US" sz="1050" dirty="0">
                <a:latin typeface="Arial" panose="020B0604020202020204" pitchFamily="34" charset="0"/>
              </a:rPr>
              <a:t>FAB MOS</a:t>
            </a:r>
          </a:p>
          <a:p>
            <a:pPr>
              <a:lnSpc>
                <a:spcPts val="1500"/>
              </a:lnSpc>
              <a:spcAft>
                <a:spcPts val="200"/>
              </a:spcAft>
            </a:pPr>
            <a:r>
              <a:rPr lang="en-US" sz="1050" dirty="0">
                <a:latin typeface="Arial" panose="020B0604020202020204" pitchFamily="34" charset="0"/>
              </a:rPr>
              <a:t>SKHy '26</a:t>
            </a:r>
            <a:r>
              <a:rPr lang="ko-KR" altLang="en-US" sz="1050" dirty="0">
                <a:latin typeface="Arial" panose="020B0604020202020204" pitchFamily="34" charset="0"/>
              </a:rPr>
              <a:t>년 </a:t>
            </a:r>
            <a:r>
              <a:rPr lang="en-US" sz="1050" dirty="0">
                <a:latin typeface="Arial" panose="020B0604020202020204" pitchFamily="34" charset="0"/>
              </a:rPr>
              <a:t>M14 </a:t>
            </a:r>
            <a:r>
              <a:rPr lang="ko-KR" altLang="en-US" sz="1050" dirty="0">
                <a:latin typeface="Arial" panose="020B0604020202020204" pitchFamily="34" charset="0"/>
              </a:rPr>
              <a:t>차세대 제조 시스템 확산</a:t>
            </a:r>
            <a:r>
              <a:rPr lang="en-US" altLang="ko-KR" sz="1050" dirty="0">
                <a:latin typeface="Arial" panose="020B0604020202020204" pitchFamily="34" charset="0"/>
              </a:rPr>
              <a:t>_</a:t>
            </a:r>
            <a:r>
              <a:rPr lang="en-US" sz="1050" dirty="0">
                <a:latin typeface="Arial" panose="020B0604020202020204" pitchFamily="34" charset="0"/>
              </a:rPr>
              <a:t>FABMOS_</a:t>
            </a:r>
            <a:r>
              <a:rPr lang="ko-KR" altLang="en-US" sz="1050" dirty="0">
                <a:latin typeface="Arial" panose="020B0604020202020204" pitchFamily="34" charset="0"/>
              </a:rPr>
              <a:t>원가선투입</a:t>
            </a:r>
            <a:endParaRPr lang="en-KR" sz="1050">
              <a:latin typeface="Arial" panose="020B0604020202020204" pitchFamily="34" charset="0"/>
            </a:endParaRPr>
          </a:p>
        </p:txBody>
      </p:sp>
      <p:sp>
        <p:nvSpPr>
          <p:cNvPr id="11" name="주요 구현 내용">
            <a:extLst>
              <a:ext uri="{FF2B5EF4-FFF2-40B4-BE49-F238E27FC236}">
                <a16:creationId xmlns:a16="http://schemas.microsoft.com/office/drawing/2014/main" id="{1DD0DC20-6414-3018-16FC-A22046927A6B}"/>
              </a:ext>
            </a:extLst>
          </p:cNvPr>
          <p:cNvSpPr txBox="1"/>
          <p:nvPr/>
        </p:nvSpPr>
        <p:spPr>
          <a:xfrm>
            <a:off x="736600" y="3487480"/>
            <a:ext cx="5486400" cy="3048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ts val="1900"/>
              </a:lnSpc>
            </a:pPr>
            <a:r>
              <a:rPr lang="ko-KR" altLang="en-US" sz="1300" b="1" dirty="0">
                <a:solidFill>
                  <a:srgbClr val="1F4E79"/>
                </a:solidFill>
                <a:latin typeface="Arial" panose="020B0604020202020204" pitchFamily="34" charset="0"/>
              </a:rPr>
              <a:t>주요 구현 내용</a:t>
            </a:r>
            <a:endParaRPr lang="en-KR" sz="1300" b="1">
              <a:solidFill>
                <a:srgbClr val="1F4E79"/>
              </a:solidFill>
              <a:latin typeface="Arial" panose="020B0604020202020204" pitchFamily="34" charset="0"/>
            </a:endParaRPr>
          </a:p>
        </p:txBody>
      </p:sp>
      <p:sp>
        <p:nvSpPr>
          <p:cNvPr id="12" name="운영 로그와 시스템 정보를 분석하고 필요한 작업을 수행">
            <a:extLst>
              <a:ext uri="{FF2B5EF4-FFF2-40B4-BE49-F238E27FC236}">
                <a16:creationId xmlns:a16="http://schemas.microsoft.com/office/drawing/2014/main" id="{082FE661-7816-4AF4-5CC6-7AB36E3A9AD7}"/>
              </a:ext>
            </a:extLst>
          </p:cNvPr>
          <p:cNvSpPr txBox="1"/>
          <p:nvPr/>
        </p:nvSpPr>
        <p:spPr>
          <a:xfrm>
            <a:off x="736600" y="3868480"/>
            <a:ext cx="5486400" cy="1384995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>
              <a:spcAft>
                <a:spcPts val="600"/>
              </a:spcAft>
            </a:pPr>
            <a:r>
              <a:rPr lang="ko-KR" altLang="ko-KR" sz="1200" dirty="0"/>
              <a:t>MES 운영 로그와 시스템 상태 정보를 실시간으로 분석하여 이상 징후를 탐지하고, 필요한 조치를 지원하는 </a:t>
            </a:r>
            <a:r>
              <a:rPr lang="en-US" altLang="ko-KR" sz="1200" b="1" dirty="0"/>
              <a:t>‘</a:t>
            </a:r>
            <a:r>
              <a:rPr lang="ko-KR" altLang="ko-KR" sz="1200" b="1" dirty="0"/>
              <a:t>MES 특화 AI </a:t>
            </a:r>
            <a:r>
              <a:rPr lang="ko-KR" altLang="ko-KR" sz="1200" b="1" dirty="0" err="1"/>
              <a:t>Agent</a:t>
            </a:r>
            <a:r>
              <a:rPr lang="ko-KR" altLang="ko-KR" sz="1200" b="1" dirty="0"/>
              <a:t> ‘MOSAIC</a:t>
            </a:r>
            <a:r>
              <a:rPr lang="en-US" altLang="ko-KR" sz="1200" b="1" dirty="0"/>
              <a:t>’</a:t>
            </a:r>
            <a:r>
              <a:rPr lang="ko-KR" altLang="ko-KR" sz="1200" dirty="0"/>
              <a:t>을 개발하였습니다.</a:t>
            </a:r>
          </a:p>
          <a:p>
            <a:pPr>
              <a:spcAft>
                <a:spcPts val="600"/>
              </a:spcAft>
            </a:pPr>
            <a:r>
              <a:rPr lang="ko-KR" altLang="ko-KR" sz="1200" dirty="0" err="1"/>
              <a:t>Agent의</a:t>
            </a:r>
            <a:r>
              <a:rPr lang="ko-KR" altLang="ko-KR" sz="1200" dirty="0"/>
              <a:t> 실행 이력, 도구 호출, 처리 결과 및 시스템 지표를 통합 </a:t>
            </a:r>
            <a:r>
              <a:rPr lang="ko-KR" altLang="ko-KR" sz="1200" dirty="0" err="1"/>
              <a:t>수집·분석하는</a:t>
            </a:r>
            <a:r>
              <a:rPr lang="ko-KR" altLang="ko-KR" sz="1200" dirty="0"/>
              <a:t> AI </a:t>
            </a:r>
            <a:r>
              <a:rPr lang="ko-KR" altLang="ko-KR" sz="1200" dirty="0" err="1"/>
              <a:t>Agent</a:t>
            </a:r>
            <a:r>
              <a:rPr lang="ko-KR" altLang="ko-KR" sz="1200" dirty="0"/>
              <a:t> </a:t>
            </a:r>
            <a:r>
              <a:rPr lang="ko-KR" altLang="ko-KR" sz="1200" dirty="0" err="1"/>
              <a:t>운영·모니터링</a:t>
            </a:r>
            <a:r>
              <a:rPr lang="ko-KR" altLang="ko-KR" sz="1200" dirty="0"/>
              <a:t> 플랫폼을 구축하였습니다.</a:t>
            </a:r>
          </a:p>
          <a:p>
            <a:pPr>
              <a:spcAft>
                <a:spcPts val="600"/>
              </a:spcAft>
            </a:pPr>
            <a:r>
              <a:rPr lang="ko-KR" altLang="ko-KR" sz="1200" dirty="0" err="1"/>
              <a:t>로그·메트릭·실행</a:t>
            </a:r>
            <a:r>
              <a:rPr lang="ko-KR" altLang="ko-KR" sz="1200" dirty="0"/>
              <a:t> 이력 간 상관관계 분석을 통해 장애 발생 구간과 원인 후보를 식별하고, 운영 담당자의 신속한 원인 분석과 대응을 지원합니다.</a:t>
            </a:r>
          </a:p>
          <a:p>
            <a:pPr>
              <a:spcAft>
                <a:spcPts val="600"/>
              </a:spcAft>
            </a:pPr>
            <a:r>
              <a:rPr lang="ko-KR" altLang="ko-KR" sz="1200" dirty="0" err="1"/>
              <a:t>Judge</a:t>
            </a:r>
            <a:r>
              <a:rPr lang="ko-KR" altLang="ko-KR" sz="1200" dirty="0"/>
              <a:t> </a:t>
            </a:r>
            <a:r>
              <a:rPr lang="ko-KR" altLang="ko-KR" sz="1200" dirty="0" err="1"/>
              <a:t>Agent가</a:t>
            </a:r>
            <a:r>
              <a:rPr lang="ko-KR" altLang="ko-KR" sz="1200" dirty="0"/>
              <a:t> </a:t>
            </a:r>
            <a:r>
              <a:rPr lang="ko-KR" altLang="ko-KR" sz="1200" dirty="0" err="1"/>
              <a:t>정확성·관련성·근거</a:t>
            </a:r>
            <a:r>
              <a:rPr lang="ko-KR" altLang="ko-KR" sz="1200" dirty="0"/>
              <a:t> </a:t>
            </a:r>
            <a:r>
              <a:rPr lang="ko-KR" altLang="ko-KR" sz="1200" dirty="0" err="1"/>
              <a:t>충실도·응답</a:t>
            </a:r>
            <a:r>
              <a:rPr lang="ko-KR" altLang="ko-KR" sz="1200" dirty="0"/>
              <a:t> 지연 등의 기준으로 실행 결과를 자동 평가하고, 품질 저하와 비정상 동작을 조기에 탐지합니다.</a:t>
            </a:r>
            <a:endParaRPr lang="en-KR" sz="1200">
              <a:latin typeface="Arial" panose="020B0604020202020204" pitchFamily="34" charset="0"/>
            </a:endParaRPr>
          </a:p>
        </p:txBody>
      </p:sp>
      <p:sp>
        <p:nvSpPr>
          <p:cNvPr id="13" name="본 사업 적용: 생성·검토 에이전트의 실행 이력, 품질">
            <a:extLst>
              <a:ext uri="{FF2B5EF4-FFF2-40B4-BE49-F238E27FC236}">
                <a16:creationId xmlns:a16="http://schemas.microsoft.com/office/drawing/2014/main" id="{5C113FF7-15C0-09B3-3B10-D41BE6982411}"/>
              </a:ext>
            </a:extLst>
          </p:cNvPr>
          <p:cNvSpPr txBox="1"/>
          <p:nvPr/>
        </p:nvSpPr>
        <p:spPr>
          <a:xfrm>
            <a:off x="736600" y="8564830"/>
            <a:ext cx="5486400" cy="52322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>
              <a:spcAft>
                <a:spcPts val="600"/>
              </a:spcAft>
            </a:pPr>
            <a:r>
              <a:rPr lang="ko-KR" altLang="en-US" sz="1300" b="1" dirty="0">
                <a:solidFill>
                  <a:srgbClr val="1F4E79"/>
                </a:solidFill>
                <a:latin typeface="Arial" panose="020B0604020202020204" pitchFamily="34" charset="0"/>
              </a:rPr>
              <a:t>본 사업 적용</a:t>
            </a:r>
            <a:endParaRPr lang="en-US" altLang="ko-KR" sz="1300" b="1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ko-KR" altLang="ko-KR" sz="1200" dirty="0"/>
              <a:t>생성</a:t>
            </a:r>
            <a:r>
              <a:rPr lang="en-US" altLang="ko-KR" sz="1200" dirty="0"/>
              <a:t>,</a:t>
            </a:r>
            <a:r>
              <a:rPr lang="ko-KR" altLang="en-US" sz="1200" dirty="0"/>
              <a:t> </a:t>
            </a:r>
            <a:r>
              <a:rPr lang="ko-KR" altLang="ko-KR" sz="1200" dirty="0"/>
              <a:t>검토</a:t>
            </a:r>
            <a:r>
              <a:rPr lang="en-US" altLang="ko-KR" sz="1200" dirty="0"/>
              <a:t>,</a:t>
            </a:r>
            <a:r>
              <a:rPr lang="ko-KR" altLang="en-US" sz="1200" dirty="0"/>
              <a:t> </a:t>
            </a:r>
            <a:r>
              <a:rPr lang="ko-KR" altLang="ko-KR" sz="1200" dirty="0"/>
              <a:t>평가 </a:t>
            </a:r>
            <a:r>
              <a:rPr lang="ko-KR" altLang="ko-KR" sz="1200" dirty="0" err="1"/>
              <a:t>Agent의</a:t>
            </a:r>
            <a:r>
              <a:rPr lang="ko-KR" altLang="ko-KR" sz="1200" dirty="0"/>
              <a:t> 실행 이력과 품질지표를 통합 관리하고, </a:t>
            </a:r>
            <a:r>
              <a:rPr lang="ko-KR" altLang="ko-KR" sz="1200" dirty="0" err="1"/>
              <a:t>Judge</a:t>
            </a:r>
            <a:r>
              <a:rPr lang="ko-KR" altLang="ko-KR" sz="1200" dirty="0"/>
              <a:t> </a:t>
            </a:r>
            <a:r>
              <a:rPr lang="ko-KR" altLang="ko-KR" sz="1200" dirty="0" err="1"/>
              <a:t>Agent의</a:t>
            </a:r>
            <a:r>
              <a:rPr lang="ko-KR" altLang="ko-KR" sz="1200" dirty="0"/>
              <a:t> 평가 결과에 따라 </a:t>
            </a:r>
            <a:r>
              <a:rPr lang="ko-KR" altLang="ko-KR" sz="1200" dirty="0" err="1"/>
              <a:t>재검토·재생성·운영자</a:t>
            </a:r>
            <a:r>
              <a:rPr lang="ko-KR" altLang="ko-KR" sz="1200" dirty="0"/>
              <a:t> 확인 절차를 수행하는 </a:t>
            </a:r>
            <a:r>
              <a:rPr lang="ko-KR" altLang="ko-KR" sz="1200" dirty="0" err="1"/>
              <a:t>Agentic</a:t>
            </a:r>
            <a:r>
              <a:rPr lang="ko-KR" altLang="ko-KR" sz="1200" dirty="0"/>
              <a:t> </a:t>
            </a:r>
            <a:r>
              <a:rPr lang="ko-KR" altLang="ko-KR" sz="1200" dirty="0" err="1"/>
              <a:t>Quality</a:t>
            </a:r>
            <a:r>
              <a:rPr lang="ko-KR" altLang="ko-KR" sz="1200" dirty="0"/>
              <a:t> </a:t>
            </a:r>
            <a:r>
              <a:rPr lang="ko-KR" altLang="ko-KR" sz="1200" dirty="0" err="1"/>
              <a:t>Loop를</a:t>
            </a:r>
            <a:r>
              <a:rPr lang="ko-KR" altLang="ko-KR" sz="1200" dirty="0"/>
              <a:t> 구현합니다.</a:t>
            </a:r>
            <a:endParaRPr lang="en-KR" sz="1200"/>
          </a:p>
        </p:txBody>
      </p:sp>
      <p:sp>
        <p:nvSpPr>
          <p:cNvPr id="3" name="2. 유사 수행 실적 (2) MOSAIC">
            <a:extLst>
              <a:ext uri="{FF2B5EF4-FFF2-40B4-BE49-F238E27FC236}">
                <a16:creationId xmlns:a16="http://schemas.microsoft.com/office/drawing/2014/main" id="{69E7AD4D-9355-0329-0362-43F75B52DBAD}"/>
              </a:ext>
            </a:extLst>
          </p:cNvPr>
          <p:cNvSpPr txBox="1"/>
          <p:nvPr/>
        </p:nvSpPr>
        <p:spPr>
          <a:xfrm>
            <a:off x="736600" y="990600"/>
            <a:ext cx="54864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2200"/>
              </a:lnSpc>
            </a:pPr>
            <a:r>
              <a:rPr lang="en-US" altLang="ko-KR" sz="1600" b="1">
                <a:latin typeface="Arial" panose="020B0604020202020204" pitchFamily="34" charset="0"/>
              </a:rPr>
              <a:t>2. </a:t>
            </a:r>
            <a:r>
              <a:rPr lang="ko-KR" altLang="en-US" sz="1600" b="1">
                <a:latin typeface="Arial" panose="020B0604020202020204" pitchFamily="34" charset="0"/>
              </a:rPr>
              <a:t>유사 수행 실적 </a:t>
            </a:r>
            <a:r>
              <a:rPr lang="en-US" altLang="ko-KR" sz="1600" b="1">
                <a:latin typeface="Arial" panose="020B0604020202020204" pitchFamily="34" charset="0"/>
              </a:rPr>
              <a:t>(2) </a:t>
            </a:r>
            <a:r>
              <a:rPr lang="en-US" sz="1600" b="1">
                <a:latin typeface="Arial" panose="020B0604020202020204" pitchFamily="34" charset="0"/>
              </a:rPr>
              <a:t>MOSAIC</a:t>
            </a:r>
            <a:endParaRPr lang="en-KR" sz="1600" b="1">
              <a:latin typeface="Arial" panose="020B0604020202020204" pitchFamily="34" charset="0"/>
            </a:endParaRPr>
          </a:p>
        </p:txBody>
      </p:sp>
      <p:sp>
        <p:nvSpPr>
          <p:cNvPr id="2" name="1. 일반 현황">
            <a:extLst>
              <a:ext uri="{FF2B5EF4-FFF2-40B4-BE49-F238E27FC236}">
                <a16:creationId xmlns:a16="http://schemas.microsoft.com/office/drawing/2014/main" id="{2B1F3688-F82C-63EB-F8DC-EEFD4AE6928A}"/>
              </a:ext>
            </a:extLst>
          </p:cNvPr>
          <p:cNvSpPr txBox="1"/>
          <p:nvPr/>
        </p:nvSpPr>
        <p:spPr>
          <a:xfrm>
            <a:off x="3994661" y="500563"/>
            <a:ext cx="2228339" cy="307777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 algn="r">
              <a:lnSpc>
                <a:spcPts val="1800"/>
              </a:lnSpc>
            </a:pPr>
            <a:r>
              <a:rPr lang="en-US" altLang="ko-KR" sz="1200">
                <a:latin typeface="Arial" panose="020B0604020202020204" pitchFamily="34" charset="0"/>
              </a:rPr>
              <a:t>1. </a:t>
            </a:r>
            <a:r>
              <a:rPr lang="ko-KR" altLang="en-US" sz="1200">
                <a:latin typeface="Arial" panose="020B0604020202020204" pitchFamily="34" charset="0"/>
              </a:rPr>
              <a:t>일반 현황</a:t>
            </a:r>
            <a:endParaRPr lang="en-KR" sz="1200">
              <a:latin typeface="Arial" panose="020B0604020202020204" pitchFamily="34" charset="0"/>
            </a:endParaRPr>
          </a:p>
        </p:txBody>
      </p:sp>
      <p:sp>
        <p:nvSpPr>
          <p:cNvPr id="544" name="BookFolioOdd">
            <a:extLst>
              <a:ext uri="{FF2B5EF4-FFF2-40B4-BE49-F238E27FC236}">
                <a16:creationId xmlns:a16="http://schemas.microsoft.com/office/drawing/2014/main" id="{98F6B705-EE36-428A-A3A2-2CA4F014C2DA}"/>
              </a:ext>
            </a:extLst>
          </p:cNvPr>
          <p:cNvSpPr>
            <a:spLocks noGrp="1"/>
          </p:cNvSpPr>
          <p:nvPr/>
        </p:nvSpPr>
        <p:spPr>
          <a:xfrm>
            <a:off x="5715000" y="9575800"/>
            <a:ext cx="508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9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>
          <a:extLst>
            <a:ext uri="{FF2B5EF4-FFF2-40B4-BE49-F238E27FC236}">
              <a16:creationId xmlns:a16="http://schemas.microsoft.com/office/drawing/2014/main" id="{3C06463C-CE70-2BA0-6F79-4F1D927B6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6" name="Google Shape;556;p7">
            <a:extLst>
              <a:ext uri="{FF2B5EF4-FFF2-40B4-BE49-F238E27FC236}">
                <a16:creationId xmlns:a16="http://schemas.microsoft.com/office/drawing/2014/main" id="{F5F747AF-A03D-CA9F-D05F-839A1839914E}"/>
              </a:ext>
            </a:extLst>
          </p:cNvPr>
          <p:cNvCxnSpPr>
            <a:cxnSpLocks/>
          </p:cNvCxnSpPr>
          <p:nvPr/>
        </p:nvCxnSpPr>
        <p:spPr>
          <a:xfrm>
            <a:off x="3400097" y="3316607"/>
            <a:ext cx="0" cy="193401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557" name="Google Shape;557;p7">
            <a:extLst>
              <a:ext uri="{FF2B5EF4-FFF2-40B4-BE49-F238E27FC236}">
                <a16:creationId xmlns:a16="http://schemas.microsoft.com/office/drawing/2014/main" id="{E46DCA44-124E-6594-D713-1B181328E4C4}"/>
              </a:ext>
            </a:extLst>
          </p:cNvPr>
          <p:cNvSpPr/>
          <p:nvPr/>
        </p:nvSpPr>
        <p:spPr>
          <a:xfrm>
            <a:off x="2514410" y="2945697"/>
            <a:ext cx="1832107" cy="540000"/>
          </a:xfrm>
          <a:prstGeom prst="roundRect">
            <a:avLst>
              <a:gd name="adj" fmla="val 0"/>
            </a:avLst>
          </a:prstGeom>
          <a:solidFill>
            <a:srgbClr val="245292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ts val="1600"/>
              </a:lnSpc>
            </a:pPr>
            <a:r>
              <a:rPr lang="ko-KR" sz="1200" b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CEO</a:t>
            </a:r>
            <a:endParaRPr sz="1200" b="1">
              <a:solidFill>
                <a:srgbClr val="FFFFFF"/>
              </a:solidFill>
              <a:latin typeface="Arial" panose="020B0604020202020204" pitchFamily="34" charset="0"/>
              <a:ea typeface="Arial"/>
              <a:cs typeface="Arial"/>
              <a:sym typeface="Arial"/>
            </a:endParaRPr>
          </a:p>
        </p:txBody>
      </p:sp>
      <p:cxnSp>
        <p:nvCxnSpPr>
          <p:cNvPr id="561" name="Google Shape;561;p7">
            <a:extLst>
              <a:ext uri="{FF2B5EF4-FFF2-40B4-BE49-F238E27FC236}">
                <a16:creationId xmlns:a16="http://schemas.microsoft.com/office/drawing/2014/main" id="{88240DDF-00ED-9834-4E6C-5D9D19911B60}"/>
              </a:ext>
            </a:extLst>
          </p:cNvPr>
          <p:cNvCxnSpPr>
            <a:cxnSpLocks/>
          </p:cNvCxnSpPr>
          <p:nvPr/>
        </p:nvCxnSpPr>
        <p:spPr>
          <a:xfrm>
            <a:off x="929345" y="5250619"/>
            <a:ext cx="4803712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62" name="Google Shape;562;p7">
            <a:extLst>
              <a:ext uri="{FF2B5EF4-FFF2-40B4-BE49-F238E27FC236}">
                <a16:creationId xmlns:a16="http://schemas.microsoft.com/office/drawing/2014/main" id="{D18A9074-8E02-D8DE-6B76-1E45DAD46422}"/>
              </a:ext>
            </a:extLst>
          </p:cNvPr>
          <p:cNvCxnSpPr/>
          <p:nvPr/>
        </p:nvCxnSpPr>
        <p:spPr>
          <a:xfrm>
            <a:off x="2630430" y="4001388"/>
            <a:ext cx="1444127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563" name="Google Shape;563;p7">
            <a:extLst>
              <a:ext uri="{FF2B5EF4-FFF2-40B4-BE49-F238E27FC236}">
                <a16:creationId xmlns:a16="http://schemas.microsoft.com/office/drawing/2014/main" id="{AD5260E0-FA14-09AF-0DE6-1EC8F56F37E7}"/>
              </a:ext>
            </a:extLst>
          </p:cNvPr>
          <p:cNvSpPr/>
          <p:nvPr/>
        </p:nvSpPr>
        <p:spPr>
          <a:xfrm>
            <a:off x="1949802" y="4677005"/>
            <a:ext cx="68595" cy="720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rgbClr val="D8D8D8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7">
            <a:extLst>
              <a:ext uri="{FF2B5EF4-FFF2-40B4-BE49-F238E27FC236}">
                <a16:creationId xmlns:a16="http://schemas.microsoft.com/office/drawing/2014/main" id="{C3D95141-796D-8607-A22A-64CD00DF8872}"/>
              </a:ext>
            </a:extLst>
          </p:cNvPr>
          <p:cNvSpPr/>
          <p:nvPr/>
        </p:nvSpPr>
        <p:spPr>
          <a:xfrm>
            <a:off x="635000" y="6717953"/>
            <a:ext cx="5486399" cy="2005416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 w="9525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15"/>
              <a:buFont typeface="Calibri"/>
              <a:buNone/>
            </a:pPr>
            <a:endParaRPr sz="1515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7">
            <a:extLst>
              <a:ext uri="{FF2B5EF4-FFF2-40B4-BE49-F238E27FC236}">
                <a16:creationId xmlns:a16="http://schemas.microsoft.com/office/drawing/2014/main" id="{0729CF37-93A3-9415-EA0C-B1F8981E0A37}"/>
              </a:ext>
            </a:extLst>
          </p:cNvPr>
          <p:cNvSpPr txBox="1"/>
          <p:nvPr/>
        </p:nvSpPr>
        <p:spPr>
          <a:xfrm>
            <a:off x="698030" y="8081794"/>
            <a:ext cx="121584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lnSpc>
                <a:spcPts val="1800"/>
              </a:lnSpc>
              <a:buClr>
                <a:srgbClr val="3F3F3F"/>
              </a:buClr>
              <a:buSzPts val="1400"/>
            </a:pPr>
            <a:r>
              <a:rPr lang="ko-KR" altLang="en-US" sz="1200">
                <a:solidFill>
                  <a:srgbClr val="464646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특급 </a:t>
            </a:r>
            <a:r>
              <a:rPr lang="en-US" altLang="ko-KR" sz="1200">
                <a:solidFill>
                  <a:srgbClr val="464646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22</a:t>
            </a:r>
            <a:r>
              <a:rPr lang="ko-KR" altLang="en-US" sz="1200">
                <a:solidFill>
                  <a:srgbClr val="464646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명</a:t>
            </a:r>
          </a:p>
          <a:p>
            <a:pPr algn="ctr">
              <a:lnSpc>
                <a:spcPts val="1800"/>
              </a:lnSpc>
              <a:buClr>
                <a:srgbClr val="3F3F3F"/>
              </a:buClr>
              <a:buSzPts val="1400"/>
            </a:pPr>
            <a:r>
              <a:rPr lang="en-US" altLang="ko-KR" sz="1200">
                <a:solidFill>
                  <a:srgbClr val="464646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(18.8%)</a:t>
            </a:r>
            <a:endParaRPr sz="1200">
              <a:solidFill>
                <a:srgbClr val="464646"/>
              </a:solidFill>
              <a:latin typeface="Arial" panose="020B0604020202020204" pitchFamily="34" charset="0"/>
            </a:endParaRPr>
          </a:p>
        </p:txBody>
      </p:sp>
      <p:sp>
        <p:nvSpPr>
          <p:cNvPr id="582" name="Google Shape;582;p7">
            <a:extLst>
              <a:ext uri="{FF2B5EF4-FFF2-40B4-BE49-F238E27FC236}">
                <a16:creationId xmlns:a16="http://schemas.microsoft.com/office/drawing/2014/main" id="{FC190B24-09A4-1AE7-FFF1-9233A79DBB46}"/>
              </a:ext>
            </a:extLst>
          </p:cNvPr>
          <p:cNvSpPr txBox="1"/>
          <p:nvPr/>
        </p:nvSpPr>
        <p:spPr>
          <a:xfrm>
            <a:off x="2018397" y="8081794"/>
            <a:ext cx="1241367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lnSpc>
                <a:spcPts val="1800"/>
              </a:lnSpc>
              <a:buClr>
                <a:srgbClr val="3F3F3F"/>
              </a:buClr>
              <a:buSzPts val="1400"/>
            </a:pPr>
            <a:r>
              <a:rPr lang="ko-KR" altLang="en-US" sz="1200">
                <a:solidFill>
                  <a:srgbClr val="464646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고급 </a:t>
            </a:r>
            <a:r>
              <a:rPr lang="en-US" altLang="ko-KR" sz="1200">
                <a:solidFill>
                  <a:srgbClr val="464646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16</a:t>
            </a:r>
            <a:r>
              <a:rPr lang="ko-KR" altLang="en-US" sz="1200">
                <a:solidFill>
                  <a:srgbClr val="464646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명</a:t>
            </a:r>
          </a:p>
          <a:p>
            <a:pPr algn="ctr">
              <a:lnSpc>
                <a:spcPts val="1800"/>
              </a:lnSpc>
              <a:buClr>
                <a:srgbClr val="3F3F3F"/>
              </a:buClr>
              <a:buSzPts val="1400"/>
            </a:pPr>
            <a:r>
              <a:rPr lang="en-US" altLang="ko-KR" sz="1200">
                <a:solidFill>
                  <a:srgbClr val="464646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(13.7%)</a:t>
            </a:r>
            <a:endParaRPr sz="1200">
              <a:solidFill>
                <a:srgbClr val="464646"/>
              </a:solidFill>
              <a:latin typeface="Arial" panose="020B0604020202020204" pitchFamily="34" charset="0"/>
            </a:endParaRPr>
          </a:p>
        </p:txBody>
      </p:sp>
      <p:sp>
        <p:nvSpPr>
          <p:cNvPr id="583" name="Google Shape;583;p7">
            <a:extLst>
              <a:ext uri="{FF2B5EF4-FFF2-40B4-BE49-F238E27FC236}">
                <a16:creationId xmlns:a16="http://schemas.microsoft.com/office/drawing/2014/main" id="{9420A745-A193-7301-38A9-FE0BA9A699A6}"/>
              </a:ext>
            </a:extLst>
          </p:cNvPr>
          <p:cNvSpPr txBox="1"/>
          <p:nvPr/>
        </p:nvSpPr>
        <p:spPr>
          <a:xfrm>
            <a:off x="3571160" y="8081794"/>
            <a:ext cx="119648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lnSpc>
                <a:spcPts val="1800"/>
              </a:lnSpc>
              <a:buClr>
                <a:srgbClr val="3F3F3F"/>
              </a:buClr>
              <a:buSzPts val="1400"/>
            </a:pPr>
            <a:r>
              <a:rPr lang="ko-KR" altLang="en-US" sz="1200">
                <a:solidFill>
                  <a:srgbClr val="464646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중급 </a:t>
            </a:r>
            <a:r>
              <a:rPr lang="en-US" altLang="ko-KR" sz="1200">
                <a:solidFill>
                  <a:srgbClr val="464646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19</a:t>
            </a:r>
            <a:r>
              <a:rPr lang="ko-KR" altLang="en-US" sz="1200">
                <a:solidFill>
                  <a:srgbClr val="464646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명</a:t>
            </a:r>
          </a:p>
          <a:p>
            <a:pPr algn="ctr">
              <a:lnSpc>
                <a:spcPts val="1800"/>
              </a:lnSpc>
              <a:buClr>
                <a:srgbClr val="3F3F3F"/>
              </a:buClr>
              <a:buSzPts val="1400"/>
            </a:pPr>
            <a:r>
              <a:rPr lang="en-US" altLang="ko-KR" sz="1200">
                <a:solidFill>
                  <a:srgbClr val="464646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(16.2%)</a:t>
            </a:r>
            <a:endParaRPr sz="1200">
              <a:solidFill>
                <a:srgbClr val="464646"/>
              </a:solidFill>
              <a:latin typeface="Arial" panose="020B0604020202020204" pitchFamily="34" charset="0"/>
            </a:endParaRPr>
          </a:p>
        </p:txBody>
      </p:sp>
      <p:sp>
        <p:nvSpPr>
          <p:cNvPr id="584" name="Google Shape;584;p7">
            <a:extLst>
              <a:ext uri="{FF2B5EF4-FFF2-40B4-BE49-F238E27FC236}">
                <a16:creationId xmlns:a16="http://schemas.microsoft.com/office/drawing/2014/main" id="{5C4CCDA5-E0E7-ABFC-854C-4B9DDC2FF0E5}"/>
              </a:ext>
            </a:extLst>
          </p:cNvPr>
          <p:cNvSpPr txBox="1"/>
          <p:nvPr/>
        </p:nvSpPr>
        <p:spPr>
          <a:xfrm>
            <a:off x="4822568" y="8081794"/>
            <a:ext cx="1241367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lnSpc>
                <a:spcPts val="1800"/>
              </a:lnSpc>
              <a:buClr>
                <a:srgbClr val="3F3F3F"/>
              </a:buClr>
              <a:buSzPts val="1400"/>
            </a:pPr>
            <a:r>
              <a:rPr lang="ko-KR" altLang="en-US" sz="1200">
                <a:solidFill>
                  <a:srgbClr val="464646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초급 </a:t>
            </a:r>
            <a:r>
              <a:rPr lang="en-US" altLang="ko-KR" sz="1200">
                <a:solidFill>
                  <a:srgbClr val="464646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60</a:t>
            </a:r>
            <a:r>
              <a:rPr lang="ko-KR" altLang="en-US" sz="1200">
                <a:solidFill>
                  <a:srgbClr val="464646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명</a:t>
            </a:r>
          </a:p>
          <a:p>
            <a:pPr algn="ctr">
              <a:lnSpc>
                <a:spcPts val="1800"/>
              </a:lnSpc>
              <a:buClr>
                <a:srgbClr val="3F3F3F"/>
              </a:buClr>
              <a:buSzPts val="1400"/>
            </a:pPr>
            <a:r>
              <a:rPr lang="en-US" altLang="ko-KR" sz="1200">
                <a:solidFill>
                  <a:srgbClr val="464646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(51.3%)</a:t>
            </a:r>
            <a:endParaRPr sz="1200">
              <a:solidFill>
                <a:srgbClr val="464646"/>
              </a:solidFill>
              <a:latin typeface="Arial" panose="020B0604020202020204" pitchFamily="34" charset="0"/>
            </a:endParaRPr>
          </a:p>
        </p:txBody>
      </p:sp>
      <p:pic>
        <p:nvPicPr>
          <p:cNvPr id="585" name="Google Shape;585;p7">
            <a:extLst>
              <a:ext uri="{FF2B5EF4-FFF2-40B4-BE49-F238E27FC236}">
                <a16:creationId xmlns:a16="http://schemas.microsoft.com/office/drawing/2014/main" id="{2EA739BD-CA2A-D99C-170C-98D2DE31C40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5522" t="17867" r="16321" b="16573"/>
          <a:stretch/>
        </p:blipFill>
        <p:spPr>
          <a:xfrm>
            <a:off x="5153325" y="7130622"/>
            <a:ext cx="657130" cy="632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7">
            <a:extLst>
              <a:ext uri="{FF2B5EF4-FFF2-40B4-BE49-F238E27FC236}">
                <a16:creationId xmlns:a16="http://schemas.microsoft.com/office/drawing/2014/main" id="{DD116177-9FCA-12EE-C0D3-C453A47054A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6791" t="16767" r="17152" b="19389"/>
          <a:stretch/>
        </p:blipFill>
        <p:spPr>
          <a:xfrm>
            <a:off x="2259386" y="6998547"/>
            <a:ext cx="784492" cy="7582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p7">
            <a:extLst>
              <a:ext uri="{FF2B5EF4-FFF2-40B4-BE49-F238E27FC236}">
                <a16:creationId xmlns:a16="http://schemas.microsoft.com/office/drawing/2014/main" id="{CA054088-F0B2-8A71-C46C-90A67080A20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4726" y="6768695"/>
            <a:ext cx="1276342" cy="1276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7">
            <a:extLst>
              <a:ext uri="{FF2B5EF4-FFF2-40B4-BE49-F238E27FC236}">
                <a16:creationId xmlns:a16="http://schemas.microsoft.com/office/drawing/2014/main" id="{ED05631D-7923-B8DF-A008-006C9B8FDFB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08665" y="6935658"/>
            <a:ext cx="1068230" cy="10682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9" name="Google Shape;589;p7">
            <a:extLst>
              <a:ext uri="{FF2B5EF4-FFF2-40B4-BE49-F238E27FC236}">
                <a16:creationId xmlns:a16="http://schemas.microsoft.com/office/drawing/2014/main" id="{2728855C-C9BC-1593-B97B-C4A6A32B6B86}"/>
              </a:ext>
            </a:extLst>
          </p:cNvPr>
          <p:cNvCxnSpPr/>
          <p:nvPr/>
        </p:nvCxnSpPr>
        <p:spPr>
          <a:xfrm rot="5400000">
            <a:off x="1465340" y="4364990"/>
            <a:ext cx="72720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590" name="Google Shape;590;p7">
            <a:extLst>
              <a:ext uri="{FF2B5EF4-FFF2-40B4-BE49-F238E27FC236}">
                <a16:creationId xmlns:a16="http://schemas.microsoft.com/office/drawing/2014/main" id="{142BA258-57DB-47CB-AB03-33D67F538AB4}"/>
              </a:ext>
            </a:extLst>
          </p:cNvPr>
          <p:cNvSpPr/>
          <p:nvPr/>
        </p:nvSpPr>
        <p:spPr>
          <a:xfrm>
            <a:off x="661737" y="3767388"/>
            <a:ext cx="2400587" cy="4680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 w="19050" cap="flat" cmpd="sng">
            <a:solidFill>
              <a:srgbClr val="24529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ts val="1600"/>
              </a:lnSpc>
            </a:pPr>
            <a:r>
              <a:rPr lang="ko-KR" sz="1200">
                <a:solidFill>
                  <a:srgbClr val="1F4E79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CFO</a:t>
            </a:r>
            <a:endParaRPr sz="1200">
              <a:solidFill>
                <a:srgbClr val="1F4E79"/>
              </a:solidFill>
              <a:latin typeface="Arial" panose="020B060402020202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7">
            <a:extLst>
              <a:ext uri="{FF2B5EF4-FFF2-40B4-BE49-F238E27FC236}">
                <a16:creationId xmlns:a16="http://schemas.microsoft.com/office/drawing/2014/main" id="{0FCB9FCE-2956-5D9B-C053-6886E74130FB}"/>
              </a:ext>
            </a:extLst>
          </p:cNvPr>
          <p:cNvSpPr/>
          <p:nvPr/>
        </p:nvSpPr>
        <p:spPr>
          <a:xfrm>
            <a:off x="1087221" y="4511822"/>
            <a:ext cx="1543209" cy="3600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ts val="1600"/>
              </a:lnSpc>
            </a:pPr>
            <a:r>
              <a:rPr lang="ko-KR" sz="1200">
                <a:solidFill>
                  <a:srgbClr val="1F4E79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경영기획팀</a:t>
            </a:r>
            <a:endParaRPr sz="1200">
              <a:solidFill>
                <a:srgbClr val="1F4E79"/>
              </a:solidFill>
              <a:latin typeface="Arial" panose="020B0604020202020204" pitchFamily="34" charset="0"/>
              <a:ea typeface="Arial"/>
              <a:cs typeface="Arial"/>
              <a:sym typeface="Arial"/>
            </a:endParaRPr>
          </a:p>
        </p:txBody>
      </p:sp>
      <p:cxnSp>
        <p:nvCxnSpPr>
          <p:cNvPr id="592" name="Google Shape;592;p7">
            <a:extLst>
              <a:ext uri="{FF2B5EF4-FFF2-40B4-BE49-F238E27FC236}">
                <a16:creationId xmlns:a16="http://schemas.microsoft.com/office/drawing/2014/main" id="{72E1A825-5108-BB8C-75AC-D45068EBB025}"/>
              </a:ext>
            </a:extLst>
          </p:cNvPr>
          <p:cNvCxnSpPr/>
          <p:nvPr/>
        </p:nvCxnSpPr>
        <p:spPr>
          <a:xfrm rot="5400000">
            <a:off x="4617206" y="4364990"/>
            <a:ext cx="72720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593" name="Google Shape;593;p7">
            <a:extLst>
              <a:ext uri="{FF2B5EF4-FFF2-40B4-BE49-F238E27FC236}">
                <a16:creationId xmlns:a16="http://schemas.microsoft.com/office/drawing/2014/main" id="{4F314575-E948-C40B-D0B5-C39BA07539BB}"/>
              </a:ext>
            </a:extLst>
          </p:cNvPr>
          <p:cNvSpPr/>
          <p:nvPr/>
        </p:nvSpPr>
        <p:spPr>
          <a:xfrm>
            <a:off x="3785899" y="3767388"/>
            <a:ext cx="2335501" cy="4680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 w="19050" cap="flat" cmpd="sng">
            <a:solidFill>
              <a:srgbClr val="24529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ts val="1600"/>
              </a:lnSpc>
            </a:pPr>
            <a:r>
              <a:rPr lang="ko-KR" sz="1200">
                <a:solidFill>
                  <a:srgbClr val="1F4E79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CTO</a:t>
            </a:r>
            <a:endParaRPr sz="1200">
              <a:solidFill>
                <a:srgbClr val="1F4E79"/>
              </a:solidFill>
              <a:latin typeface="Arial" panose="020B060402020202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7">
            <a:extLst>
              <a:ext uri="{FF2B5EF4-FFF2-40B4-BE49-F238E27FC236}">
                <a16:creationId xmlns:a16="http://schemas.microsoft.com/office/drawing/2014/main" id="{889F21EF-705B-5E7D-45BF-6CCA5BA80750}"/>
              </a:ext>
            </a:extLst>
          </p:cNvPr>
          <p:cNvSpPr/>
          <p:nvPr/>
        </p:nvSpPr>
        <p:spPr>
          <a:xfrm>
            <a:off x="4191059" y="4511822"/>
            <a:ext cx="1543209" cy="3600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ts val="1600"/>
              </a:lnSpc>
            </a:pPr>
            <a:r>
              <a:rPr lang="ko-KR" altLang="en-US" sz="1200" dirty="0">
                <a:solidFill>
                  <a:srgbClr val="1F4E79"/>
                </a:solidFill>
                <a:latin typeface="Arial" panose="020B0604020202020204" pitchFamily="34" charset="0"/>
              </a:rPr>
              <a:t>품질관리</a:t>
            </a:r>
            <a:r>
              <a:rPr lang="ko-KR" sz="1200" dirty="0">
                <a:solidFill>
                  <a:srgbClr val="1F4E79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팀</a:t>
            </a:r>
            <a:endParaRPr sz="1200" dirty="0">
              <a:solidFill>
                <a:srgbClr val="1F4E79"/>
              </a:solidFill>
              <a:latin typeface="Arial" panose="020B0604020202020204" pitchFamily="34" charset="0"/>
              <a:ea typeface="Arial"/>
              <a:cs typeface="Arial"/>
              <a:sym typeface="Arial"/>
            </a:endParaRPr>
          </a:p>
        </p:txBody>
      </p:sp>
      <p:cxnSp>
        <p:nvCxnSpPr>
          <p:cNvPr id="7" name="Google Shape;561;p7">
            <a:extLst>
              <a:ext uri="{FF2B5EF4-FFF2-40B4-BE49-F238E27FC236}">
                <a16:creationId xmlns:a16="http://schemas.microsoft.com/office/drawing/2014/main" id="{52F8C63D-616F-D7E3-687C-A36C864E0BC2}"/>
              </a:ext>
            </a:extLst>
          </p:cNvPr>
          <p:cNvCxnSpPr>
            <a:cxnSpLocks/>
          </p:cNvCxnSpPr>
          <p:nvPr/>
        </p:nvCxnSpPr>
        <p:spPr>
          <a:xfrm flipV="1">
            <a:off x="5733056" y="5250619"/>
            <a:ext cx="0" cy="21808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" name="Google Shape;561;p7">
            <a:extLst>
              <a:ext uri="{FF2B5EF4-FFF2-40B4-BE49-F238E27FC236}">
                <a16:creationId xmlns:a16="http://schemas.microsoft.com/office/drawing/2014/main" id="{2482C90A-7E87-4450-6F7E-8D42EFB6E087}"/>
              </a:ext>
            </a:extLst>
          </p:cNvPr>
          <p:cNvCxnSpPr>
            <a:cxnSpLocks/>
          </p:cNvCxnSpPr>
          <p:nvPr/>
        </p:nvCxnSpPr>
        <p:spPr>
          <a:xfrm flipV="1">
            <a:off x="929345" y="5250619"/>
            <a:ext cx="0" cy="21808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7" name="Google Shape;561;p7">
            <a:extLst>
              <a:ext uri="{FF2B5EF4-FFF2-40B4-BE49-F238E27FC236}">
                <a16:creationId xmlns:a16="http://schemas.microsoft.com/office/drawing/2014/main" id="{773FCB1F-C0D9-6D71-B9CC-F0D32D45A65B}"/>
              </a:ext>
            </a:extLst>
          </p:cNvPr>
          <p:cNvCxnSpPr>
            <a:cxnSpLocks/>
          </p:cNvCxnSpPr>
          <p:nvPr/>
        </p:nvCxnSpPr>
        <p:spPr>
          <a:xfrm flipV="1">
            <a:off x="2390433" y="5250619"/>
            <a:ext cx="0" cy="21808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0" name="Google Shape;561;p7">
            <a:extLst>
              <a:ext uri="{FF2B5EF4-FFF2-40B4-BE49-F238E27FC236}">
                <a16:creationId xmlns:a16="http://schemas.microsoft.com/office/drawing/2014/main" id="{FAFB0D36-6EB0-F3BF-D4AB-5562BD0AA256}"/>
              </a:ext>
            </a:extLst>
          </p:cNvPr>
          <p:cNvCxnSpPr>
            <a:cxnSpLocks/>
          </p:cNvCxnSpPr>
          <p:nvPr/>
        </p:nvCxnSpPr>
        <p:spPr>
          <a:xfrm flipV="1">
            <a:off x="3146866" y="5250619"/>
            <a:ext cx="0" cy="21808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3" name="Google Shape;561;p7">
            <a:extLst>
              <a:ext uri="{FF2B5EF4-FFF2-40B4-BE49-F238E27FC236}">
                <a16:creationId xmlns:a16="http://schemas.microsoft.com/office/drawing/2014/main" id="{8CC8665A-9554-40F4-4E57-93EC57735523}"/>
              </a:ext>
            </a:extLst>
          </p:cNvPr>
          <p:cNvCxnSpPr>
            <a:cxnSpLocks/>
          </p:cNvCxnSpPr>
          <p:nvPr/>
        </p:nvCxnSpPr>
        <p:spPr>
          <a:xfrm flipV="1">
            <a:off x="4000393" y="5250619"/>
            <a:ext cx="0" cy="21808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4" name="Google Shape;561;p7">
            <a:extLst>
              <a:ext uri="{FF2B5EF4-FFF2-40B4-BE49-F238E27FC236}">
                <a16:creationId xmlns:a16="http://schemas.microsoft.com/office/drawing/2014/main" id="{6E4945E5-30F1-525A-E263-18595244AFED}"/>
              </a:ext>
            </a:extLst>
          </p:cNvPr>
          <p:cNvCxnSpPr>
            <a:cxnSpLocks/>
          </p:cNvCxnSpPr>
          <p:nvPr/>
        </p:nvCxnSpPr>
        <p:spPr>
          <a:xfrm flipV="1">
            <a:off x="4865130" y="5250619"/>
            <a:ext cx="0" cy="21808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4" name="에이치나인은 2026년 7월 기준 임직원 129명, 6">
            <a:extLst>
              <a:ext uri="{FF2B5EF4-FFF2-40B4-BE49-F238E27FC236}">
                <a16:creationId xmlns:a16="http://schemas.microsoft.com/office/drawing/2014/main" id="{105F2767-39B2-BC99-33C1-9C556D27DD27}"/>
              </a:ext>
            </a:extLst>
          </p:cNvPr>
          <p:cNvSpPr txBox="1"/>
          <p:nvPr/>
        </p:nvSpPr>
        <p:spPr>
          <a:xfrm>
            <a:off x="635000" y="1435100"/>
            <a:ext cx="5486400" cy="52322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ts val="1800"/>
              </a:lnSpc>
            </a:pPr>
            <a:r>
              <a:rPr lang="ko-KR" altLang="en-US" sz="1200">
                <a:latin typeface="Arial" panose="020B0604020202020204" pitchFamily="34" charset="0"/>
              </a:rPr>
              <a:t>에이치나인은 2026년 7월 기준 임직원 129명, 22개 팀으로 구성되어 있습니다.</a:t>
            </a:r>
            <a:endParaRPr lang="en-KR" sz="1200">
              <a:latin typeface="Arial" panose="020B0604020202020204" pitchFamily="34" charset="0"/>
            </a:endParaRPr>
          </a:p>
        </p:txBody>
      </p:sp>
      <p:sp>
        <p:nvSpPr>
          <p:cNvPr id="5" name="조직도">
            <a:extLst>
              <a:ext uri="{FF2B5EF4-FFF2-40B4-BE49-F238E27FC236}">
                <a16:creationId xmlns:a16="http://schemas.microsoft.com/office/drawing/2014/main" id="{D30950C2-4642-126A-127A-8811D217A320}"/>
              </a:ext>
            </a:extLst>
          </p:cNvPr>
          <p:cNvSpPr txBox="1"/>
          <p:nvPr/>
        </p:nvSpPr>
        <p:spPr>
          <a:xfrm>
            <a:off x="635000" y="2565400"/>
            <a:ext cx="5486400" cy="3048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ts val="1900"/>
              </a:lnSpc>
            </a:pPr>
            <a:r>
              <a:rPr lang="ko-KR" altLang="en-US" sz="1300" b="1">
                <a:solidFill>
                  <a:srgbClr val="1F4E79"/>
                </a:solidFill>
                <a:latin typeface="Arial" panose="020B0604020202020204" pitchFamily="34" charset="0"/>
              </a:rPr>
              <a:t>조직도</a:t>
            </a:r>
            <a:endParaRPr lang="en-KR" sz="1300" b="1">
              <a:solidFill>
                <a:srgbClr val="1F4E79"/>
              </a:solidFill>
              <a:latin typeface="Arial" panose="020B0604020202020204" pitchFamily="34" charset="0"/>
            </a:endParaRPr>
          </a:p>
        </p:txBody>
      </p:sp>
      <p:sp>
        <p:nvSpPr>
          <p:cNvPr id="6" name="기술등급별 구성 (117명 기준)">
            <a:extLst>
              <a:ext uri="{FF2B5EF4-FFF2-40B4-BE49-F238E27FC236}">
                <a16:creationId xmlns:a16="http://schemas.microsoft.com/office/drawing/2014/main" id="{944BD0CA-796C-D900-228F-F0829EE82682}"/>
              </a:ext>
            </a:extLst>
          </p:cNvPr>
          <p:cNvSpPr txBox="1"/>
          <p:nvPr/>
        </p:nvSpPr>
        <p:spPr>
          <a:xfrm>
            <a:off x="635000" y="6324599"/>
            <a:ext cx="5486400" cy="3048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ts val="1900"/>
              </a:lnSpc>
            </a:pPr>
            <a:r>
              <a:rPr lang="ko-KR" altLang="en-US" sz="1300" b="1">
                <a:solidFill>
                  <a:srgbClr val="1F4E79"/>
                </a:solidFill>
                <a:latin typeface="Arial" panose="020B0604020202020204" pitchFamily="34" charset="0"/>
              </a:rPr>
              <a:t>기술등급별 구성 </a:t>
            </a:r>
            <a:r>
              <a:rPr lang="en-US" altLang="ko-KR" sz="1300" b="1">
                <a:solidFill>
                  <a:srgbClr val="1F4E79"/>
                </a:solidFill>
                <a:latin typeface="Arial" panose="020B0604020202020204" pitchFamily="34" charset="0"/>
              </a:rPr>
              <a:t>(117</a:t>
            </a:r>
            <a:r>
              <a:rPr lang="ko-KR" altLang="en-US" sz="1300" b="1">
                <a:solidFill>
                  <a:srgbClr val="1F4E79"/>
                </a:solidFill>
                <a:latin typeface="Arial" panose="020B0604020202020204" pitchFamily="34" charset="0"/>
              </a:rPr>
              <a:t>명 기준</a:t>
            </a:r>
            <a:r>
              <a:rPr lang="en-US" altLang="ko-KR" sz="1300" b="1">
                <a:solidFill>
                  <a:srgbClr val="1F4E79"/>
                </a:solidFill>
                <a:latin typeface="Arial" panose="020B0604020202020204" pitchFamily="34" charset="0"/>
              </a:rPr>
              <a:t>)</a:t>
            </a:r>
            <a:endParaRPr lang="en-KR" sz="1300" b="1">
              <a:solidFill>
                <a:srgbClr val="1F4E79"/>
              </a:solidFill>
              <a:latin typeface="Arial" panose="020B0604020202020204" pitchFamily="34" charset="0"/>
            </a:endParaRPr>
          </a:p>
        </p:txBody>
      </p:sp>
      <p:sp>
        <p:nvSpPr>
          <p:cNvPr id="8" name="※ 기술등급별 비율은 표기된 인원 합계 117명을 기준">
            <a:extLst>
              <a:ext uri="{FF2B5EF4-FFF2-40B4-BE49-F238E27FC236}">
                <a16:creationId xmlns:a16="http://schemas.microsoft.com/office/drawing/2014/main" id="{56D03B4C-6756-045C-EBAA-303A407CE5C1}"/>
              </a:ext>
            </a:extLst>
          </p:cNvPr>
          <p:cNvSpPr txBox="1"/>
          <p:nvPr/>
        </p:nvSpPr>
        <p:spPr>
          <a:xfrm>
            <a:off x="635000" y="8991599"/>
            <a:ext cx="5486400" cy="307777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ts val="1200"/>
              </a:lnSpc>
            </a:pPr>
            <a:r>
              <a:rPr lang="en-US" altLang="ko-KR" sz="900">
                <a:solidFill>
                  <a:srgbClr val="646464"/>
                </a:solidFill>
                <a:latin typeface="Arial" panose="020B0604020202020204" pitchFamily="34" charset="0"/>
              </a:rPr>
              <a:t>※ </a:t>
            </a:r>
            <a:r>
              <a:rPr lang="ko-KR" altLang="en-US" sz="900">
                <a:solidFill>
                  <a:srgbClr val="646464"/>
                </a:solidFill>
                <a:latin typeface="Arial" panose="020B0604020202020204" pitchFamily="34" charset="0"/>
              </a:rPr>
              <a:t>기술등급별 비율은 표기된 인원 합계 </a:t>
            </a:r>
            <a:r>
              <a:rPr lang="en-US" altLang="ko-KR" sz="900">
                <a:solidFill>
                  <a:srgbClr val="646464"/>
                </a:solidFill>
                <a:latin typeface="Arial" panose="020B0604020202020204" pitchFamily="34" charset="0"/>
              </a:rPr>
              <a:t>117</a:t>
            </a:r>
            <a:r>
              <a:rPr lang="ko-KR" altLang="en-US" sz="900">
                <a:solidFill>
                  <a:srgbClr val="646464"/>
                </a:solidFill>
                <a:latin typeface="Arial" panose="020B0604020202020204" pitchFamily="34" charset="0"/>
              </a:rPr>
              <a:t>명을 기준으로 합니다</a:t>
            </a:r>
            <a:r>
              <a:rPr lang="en-US" altLang="ko-KR" sz="900">
                <a:solidFill>
                  <a:srgbClr val="646464"/>
                </a:solidFill>
                <a:latin typeface="Arial" panose="020B0604020202020204" pitchFamily="34" charset="0"/>
              </a:rPr>
              <a:t>.</a:t>
            </a:r>
            <a:endParaRPr lang="en-K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  <p:sp>
        <p:nvSpPr>
          <p:cNvPr id="30" name="Google Shape;558;p7">
            <a:extLst>
              <a:ext uri="{FF2B5EF4-FFF2-40B4-BE49-F238E27FC236}">
                <a16:creationId xmlns:a16="http://schemas.microsoft.com/office/drawing/2014/main" id="{86BF379D-0ECA-E469-3600-5A963DACE566}"/>
              </a:ext>
            </a:extLst>
          </p:cNvPr>
          <p:cNvSpPr/>
          <p:nvPr/>
        </p:nvSpPr>
        <p:spPr>
          <a:xfrm>
            <a:off x="635001" y="5468706"/>
            <a:ext cx="593852" cy="515299"/>
          </a:xfrm>
          <a:prstGeom prst="round2DiagRect">
            <a:avLst>
              <a:gd name="adj1" fmla="val 0"/>
              <a:gd name="adj2" fmla="val 0"/>
            </a:avLst>
          </a:prstGeom>
          <a:solidFill>
            <a:srgbClr val="0070C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ts val="1600"/>
              </a:lnSpc>
            </a:pPr>
            <a:r>
              <a:rPr lang="ko-KR" sz="1200" b="1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UX실</a:t>
            </a:r>
            <a:endParaRPr sz="1200" b="1" dirty="0">
              <a:solidFill>
                <a:srgbClr val="FFFFFF"/>
              </a:solidFill>
              <a:latin typeface="Arial" panose="020B060402020202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31" name="Google Shape;559;p7">
            <a:extLst>
              <a:ext uri="{FF2B5EF4-FFF2-40B4-BE49-F238E27FC236}">
                <a16:creationId xmlns:a16="http://schemas.microsoft.com/office/drawing/2014/main" id="{0715D022-44B3-EE3D-6EF8-BF520CF03892}"/>
              </a:ext>
            </a:extLst>
          </p:cNvPr>
          <p:cNvSpPr/>
          <p:nvPr/>
        </p:nvSpPr>
        <p:spPr>
          <a:xfrm>
            <a:off x="1332281" y="5468706"/>
            <a:ext cx="651801" cy="515299"/>
          </a:xfrm>
          <a:prstGeom prst="round2DiagRect">
            <a:avLst>
              <a:gd name="adj1" fmla="val 0"/>
              <a:gd name="adj2" fmla="val 0"/>
            </a:avLst>
          </a:prstGeom>
          <a:solidFill>
            <a:srgbClr val="0070C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ts val="1600"/>
              </a:lnSpc>
            </a:pPr>
            <a:r>
              <a:rPr lang="ko-KR" sz="1200" b="1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비주얼실</a:t>
            </a:r>
            <a:endParaRPr sz="1200" b="1" dirty="0">
              <a:solidFill>
                <a:srgbClr val="FFFFFF"/>
              </a:solidFill>
              <a:latin typeface="Arial" panose="020B060402020202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32" name="Google Shape;565;p7">
            <a:extLst>
              <a:ext uri="{FF2B5EF4-FFF2-40B4-BE49-F238E27FC236}">
                <a16:creationId xmlns:a16="http://schemas.microsoft.com/office/drawing/2014/main" id="{C2CC605B-0DCD-E8A4-1EE4-117D68916C6E}"/>
              </a:ext>
            </a:extLst>
          </p:cNvPr>
          <p:cNvSpPr/>
          <p:nvPr/>
        </p:nvSpPr>
        <p:spPr>
          <a:xfrm>
            <a:off x="2087510" y="5468706"/>
            <a:ext cx="598724" cy="515299"/>
          </a:xfrm>
          <a:prstGeom prst="round2DiagRect">
            <a:avLst>
              <a:gd name="adj1" fmla="val 0"/>
              <a:gd name="adj2" fmla="val 0"/>
            </a:avLst>
          </a:prstGeom>
          <a:solidFill>
            <a:srgbClr val="0070C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ts val="1600"/>
              </a:lnSpc>
            </a:pPr>
            <a:r>
              <a:rPr lang="ko-KR" sz="1200" b="1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인터렉션실</a:t>
            </a:r>
            <a:endParaRPr sz="1200" b="1" dirty="0">
              <a:solidFill>
                <a:srgbClr val="FFFFFF"/>
              </a:solidFill>
              <a:latin typeface="Arial" panose="020B060402020202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33" name="Google Shape;566;p7">
            <a:extLst>
              <a:ext uri="{FF2B5EF4-FFF2-40B4-BE49-F238E27FC236}">
                <a16:creationId xmlns:a16="http://schemas.microsoft.com/office/drawing/2014/main" id="{C58CC2C7-0A0A-375B-6019-611D00CF3649}"/>
              </a:ext>
            </a:extLst>
          </p:cNvPr>
          <p:cNvSpPr/>
          <p:nvPr/>
        </p:nvSpPr>
        <p:spPr>
          <a:xfrm>
            <a:off x="3641345" y="5468706"/>
            <a:ext cx="748256" cy="515299"/>
          </a:xfrm>
          <a:prstGeom prst="round2DiagRect">
            <a:avLst>
              <a:gd name="adj1" fmla="val 0"/>
              <a:gd name="adj2" fmla="val 0"/>
            </a:avLst>
          </a:prstGeom>
          <a:solidFill>
            <a:srgbClr val="0070C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ts val="1600"/>
              </a:lnSpc>
            </a:pPr>
            <a:r>
              <a:rPr lang="ko-KR" sz="1200" b="1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서비스</a:t>
            </a:r>
            <a:endParaRPr lang="en-US" altLang="ko-KR" sz="1200" b="1" dirty="0">
              <a:solidFill>
                <a:srgbClr val="FFFFFF"/>
              </a:solidFill>
              <a:latin typeface="Arial" panose="020B0604020202020204" pitchFamily="34" charset="0"/>
              <a:ea typeface="Arial"/>
              <a:cs typeface="Arial"/>
              <a:sym typeface="Arial"/>
            </a:endParaRPr>
          </a:p>
          <a:p>
            <a:pPr algn="ctr">
              <a:lnSpc>
                <a:spcPts val="1600"/>
              </a:lnSpc>
            </a:pPr>
            <a:r>
              <a:rPr lang="ko-KR" sz="1200" b="1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개발실</a:t>
            </a:r>
            <a:endParaRPr sz="1200" b="1" dirty="0">
              <a:solidFill>
                <a:srgbClr val="FFFFFF"/>
              </a:solidFill>
              <a:latin typeface="Arial" panose="020B060402020202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34" name="Google Shape;568;p7">
            <a:extLst>
              <a:ext uri="{FF2B5EF4-FFF2-40B4-BE49-F238E27FC236}">
                <a16:creationId xmlns:a16="http://schemas.microsoft.com/office/drawing/2014/main" id="{3228876F-4D1E-FBC1-85DC-6367DF7256E6}"/>
              </a:ext>
            </a:extLst>
          </p:cNvPr>
          <p:cNvSpPr/>
          <p:nvPr/>
        </p:nvSpPr>
        <p:spPr>
          <a:xfrm>
            <a:off x="4493029" y="5468706"/>
            <a:ext cx="748256" cy="515299"/>
          </a:xfrm>
          <a:prstGeom prst="round2DiagRect">
            <a:avLst>
              <a:gd name="adj1" fmla="val 0"/>
              <a:gd name="adj2" fmla="val 0"/>
            </a:avLst>
          </a:prstGeom>
          <a:solidFill>
            <a:srgbClr val="0070C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ts val="1600"/>
              </a:lnSpc>
            </a:pPr>
            <a:r>
              <a:rPr lang="en-US" altLang="ko-KR" sz="1200" b="1">
                <a:solidFill>
                  <a:srgbClr val="FFFFFF"/>
                </a:solidFill>
                <a:latin typeface="Arial" panose="020B0604020202020204" pitchFamily="34" charset="0"/>
              </a:rPr>
              <a:t>DT</a:t>
            </a:r>
          </a:p>
          <a:p>
            <a:pPr algn="ctr">
              <a:lnSpc>
                <a:spcPts val="1600"/>
              </a:lnSpc>
            </a:pPr>
            <a:r>
              <a:rPr lang="ko-KR" altLang="en-US" sz="1200" b="1">
                <a:solidFill>
                  <a:srgbClr val="FFFFFF"/>
                </a:solidFill>
                <a:latin typeface="Arial" panose="020B0604020202020204" pitchFamily="34" charset="0"/>
              </a:rPr>
              <a:t>개발실</a:t>
            </a:r>
            <a:endParaRPr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5" name="Google Shape;569;p7">
            <a:extLst>
              <a:ext uri="{FF2B5EF4-FFF2-40B4-BE49-F238E27FC236}">
                <a16:creationId xmlns:a16="http://schemas.microsoft.com/office/drawing/2014/main" id="{984B59A0-8D4F-6E83-A424-87CD6312073C}"/>
              </a:ext>
            </a:extLst>
          </p:cNvPr>
          <p:cNvSpPr/>
          <p:nvPr/>
        </p:nvSpPr>
        <p:spPr>
          <a:xfrm>
            <a:off x="5344715" y="5468706"/>
            <a:ext cx="776685" cy="515299"/>
          </a:xfrm>
          <a:prstGeom prst="round2DiagRect">
            <a:avLst>
              <a:gd name="adj1" fmla="val 0"/>
              <a:gd name="adj2" fmla="val 0"/>
            </a:avLst>
          </a:prstGeom>
          <a:solidFill>
            <a:srgbClr val="0070C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ts val="1600"/>
              </a:lnSpc>
            </a:pPr>
            <a:r>
              <a:rPr lang="ko-KR" sz="1200" b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PMO</a:t>
            </a:r>
            <a:endParaRPr lang="en-US" altLang="ko-KR" sz="1200" b="1">
              <a:solidFill>
                <a:srgbClr val="FFFFFF"/>
              </a:solidFill>
              <a:latin typeface="Arial" panose="020B0604020202020204" pitchFamily="34" charset="0"/>
              <a:ea typeface="Arial"/>
              <a:cs typeface="Arial"/>
              <a:sym typeface="Arial"/>
            </a:endParaRPr>
          </a:p>
          <a:p>
            <a:pPr algn="ctr">
              <a:lnSpc>
                <a:spcPts val="1600"/>
              </a:lnSpc>
            </a:pPr>
            <a:r>
              <a:rPr lang="ko-KR" sz="1200" b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그룹</a:t>
            </a:r>
            <a:endParaRPr sz="1200" b="1">
              <a:solidFill>
                <a:srgbClr val="FFFFFF"/>
              </a:solidFill>
              <a:latin typeface="Arial" panose="020B060402020202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36" name="Google Shape;566;p7">
            <a:extLst>
              <a:ext uri="{FF2B5EF4-FFF2-40B4-BE49-F238E27FC236}">
                <a16:creationId xmlns:a16="http://schemas.microsoft.com/office/drawing/2014/main" id="{6E940F53-9AAD-BC74-49F7-5EBA509AD4C6}"/>
              </a:ext>
            </a:extLst>
          </p:cNvPr>
          <p:cNvSpPr/>
          <p:nvPr/>
        </p:nvSpPr>
        <p:spPr>
          <a:xfrm>
            <a:off x="2789662" y="5463589"/>
            <a:ext cx="748256" cy="515299"/>
          </a:xfrm>
          <a:prstGeom prst="round2DiagRect">
            <a:avLst>
              <a:gd name="adj1" fmla="val 0"/>
              <a:gd name="adj2" fmla="val 0"/>
            </a:avLst>
          </a:prstGeom>
          <a:solidFill>
            <a:srgbClr val="0070C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ts val="1600"/>
              </a:lnSpc>
            </a:pPr>
            <a:r>
              <a:rPr lang="ko-KR" alt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신사업</a:t>
            </a:r>
            <a:endParaRPr lang="en-US" altLang="ko-KR" sz="1200" b="1" dirty="0">
              <a:solidFill>
                <a:srgbClr val="FFFFFF"/>
              </a:solidFill>
              <a:latin typeface="Arial" panose="020B0604020202020204" pitchFamily="34" charset="0"/>
              <a:ea typeface="Arial"/>
              <a:cs typeface="Arial"/>
              <a:sym typeface="Arial"/>
            </a:endParaRPr>
          </a:p>
          <a:p>
            <a:pPr algn="ctr">
              <a:lnSpc>
                <a:spcPts val="1600"/>
              </a:lnSpc>
            </a:pPr>
            <a:r>
              <a:rPr lang="ko-KR" sz="1200" b="1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개발실</a:t>
            </a:r>
            <a:endParaRPr sz="1200" b="1" dirty="0">
              <a:solidFill>
                <a:srgbClr val="FFFFFF"/>
              </a:solidFill>
              <a:latin typeface="Arial" panose="020B0604020202020204" pitchFamily="34" charset="0"/>
              <a:ea typeface="Arial"/>
              <a:cs typeface="Arial"/>
              <a:sym typeface="Arial"/>
            </a:endParaRPr>
          </a:p>
        </p:txBody>
      </p:sp>
      <p:cxnSp>
        <p:nvCxnSpPr>
          <p:cNvPr id="37" name="Google Shape;561;p7">
            <a:extLst>
              <a:ext uri="{FF2B5EF4-FFF2-40B4-BE49-F238E27FC236}">
                <a16:creationId xmlns:a16="http://schemas.microsoft.com/office/drawing/2014/main" id="{A816571A-E1D1-53EE-5103-7B1D85D61D0F}"/>
              </a:ext>
            </a:extLst>
          </p:cNvPr>
          <p:cNvCxnSpPr>
            <a:cxnSpLocks/>
          </p:cNvCxnSpPr>
          <p:nvPr/>
        </p:nvCxnSpPr>
        <p:spPr>
          <a:xfrm flipV="1">
            <a:off x="1652552" y="5250619"/>
            <a:ext cx="0" cy="21808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" name="3. 조직 및 인원 (에이치나인)">
            <a:extLst>
              <a:ext uri="{FF2B5EF4-FFF2-40B4-BE49-F238E27FC236}">
                <a16:creationId xmlns:a16="http://schemas.microsoft.com/office/drawing/2014/main" id="{ACCADB4F-01AD-C75C-8908-6AE6F1B6E5FD}"/>
              </a:ext>
            </a:extLst>
          </p:cNvPr>
          <p:cNvSpPr txBox="1"/>
          <p:nvPr/>
        </p:nvSpPr>
        <p:spPr>
          <a:xfrm>
            <a:off x="635000" y="990600"/>
            <a:ext cx="54864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2200"/>
              </a:lnSpc>
            </a:pPr>
            <a:r>
              <a:rPr lang="en-US" altLang="ko-KR" sz="1600" b="1">
                <a:latin typeface="Arial" panose="020B0604020202020204" pitchFamily="34" charset="0"/>
              </a:rPr>
              <a:t>3. </a:t>
            </a:r>
            <a:r>
              <a:rPr lang="ko-KR" altLang="en-US" sz="1600" b="1">
                <a:latin typeface="Arial" panose="020B0604020202020204" pitchFamily="34" charset="0"/>
              </a:rPr>
              <a:t>조직 및 인원 </a:t>
            </a:r>
            <a:r>
              <a:rPr lang="en-US" altLang="ko-KR" sz="1600" b="1">
                <a:latin typeface="Arial" panose="020B0604020202020204" pitchFamily="34" charset="0"/>
              </a:rPr>
              <a:t>(</a:t>
            </a:r>
            <a:r>
              <a:rPr lang="ko-KR" altLang="en-US" sz="1600" b="1">
                <a:latin typeface="Arial" panose="020B0604020202020204" pitchFamily="34" charset="0"/>
              </a:rPr>
              <a:t>에이치나인</a:t>
            </a:r>
            <a:r>
              <a:rPr lang="en-US" altLang="ko-KR" sz="1600" b="1">
                <a:latin typeface="Arial" panose="020B0604020202020204" pitchFamily="34" charset="0"/>
              </a:rPr>
              <a:t>)</a:t>
            </a:r>
            <a:endParaRPr lang="en-KR" sz="1600" b="1">
              <a:latin typeface="Arial" panose="020B0604020202020204" pitchFamily="34" charset="0"/>
            </a:endParaRPr>
          </a:p>
        </p:txBody>
      </p:sp>
      <p:sp>
        <p:nvSpPr>
          <p:cNvPr id="2" name="1. 일반 현황">
            <a:extLst>
              <a:ext uri="{FF2B5EF4-FFF2-40B4-BE49-F238E27FC236}">
                <a16:creationId xmlns:a16="http://schemas.microsoft.com/office/drawing/2014/main" id="{5AD3D0F7-60A4-EA4D-BE06-BB07FF1B6ADC}"/>
              </a:ext>
            </a:extLst>
          </p:cNvPr>
          <p:cNvSpPr txBox="1"/>
          <p:nvPr/>
        </p:nvSpPr>
        <p:spPr>
          <a:xfrm>
            <a:off x="635000" y="500563"/>
            <a:ext cx="2228339" cy="307777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lang="en-US" altLang="ko-KR" sz="1200">
                <a:latin typeface="Arial" panose="020B0604020202020204" pitchFamily="34" charset="0"/>
              </a:rPr>
              <a:t>1. </a:t>
            </a:r>
            <a:r>
              <a:rPr lang="ko-KR" altLang="en-US" sz="1200">
                <a:latin typeface="Arial" panose="020B0604020202020204" pitchFamily="34" charset="0"/>
              </a:rPr>
              <a:t>일반 현황</a:t>
            </a:r>
            <a:endParaRPr lang="en-KR" sz="1200">
              <a:latin typeface="Arial" panose="020B0604020202020204" pitchFamily="34" charset="0"/>
            </a:endParaRPr>
          </a:p>
        </p:txBody>
      </p:sp>
      <p:sp>
        <p:nvSpPr>
          <p:cNvPr id="595" name="BookFolioEven">
            <a:extLst>
              <a:ext uri="{FF2B5EF4-FFF2-40B4-BE49-F238E27FC236}">
                <a16:creationId xmlns:a16="http://schemas.microsoft.com/office/drawing/2014/main" id="{BE6C01A2-092E-422D-9CE1-6EC6420F6A48}"/>
              </a:ext>
            </a:extLst>
          </p:cNvPr>
          <p:cNvSpPr>
            <a:spLocks noGrp="1"/>
          </p:cNvSpPr>
          <p:nvPr/>
        </p:nvSpPr>
        <p:spPr>
          <a:xfrm>
            <a:off x="635000" y="9575800"/>
            <a:ext cx="508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756267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4" name="Google Shape;604;g3f9f6cb7583_0_102"/>
          <p:cNvCxnSpPr/>
          <p:nvPr/>
        </p:nvCxnSpPr>
        <p:spPr>
          <a:xfrm>
            <a:off x="3499156" y="4454669"/>
            <a:ext cx="0" cy="68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05" name="Google Shape;605;g3f9f6cb7583_0_102"/>
          <p:cNvCxnSpPr/>
          <p:nvPr/>
        </p:nvCxnSpPr>
        <p:spPr>
          <a:xfrm>
            <a:off x="5121365" y="4493369"/>
            <a:ext cx="0" cy="649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06" name="Google Shape;606;g3f9f6cb7583_0_102"/>
          <p:cNvCxnSpPr/>
          <p:nvPr/>
        </p:nvCxnSpPr>
        <p:spPr>
          <a:xfrm>
            <a:off x="3501698" y="3582079"/>
            <a:ext cx="0" cy="923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607" name="Google Shape;607;g3f9f6cb7583_0_102"/>
          <p:cNvSpPr/>
          <p:nvPr/>
        </p:nvSpPr>
        <p:spPr>
          <a:xfrm>
            <a:off x="2301465" y="3211169"/>
            <a:ext cx="2400587" cy="540000"/>
          </a:xfrm>
          <a:prstGeom prst="roundRect">
            <a:avLst>
              <a:gd name="adj" fmla="val 0"/>
            </a:avLst>
          </a:prstGeom>
          <a:solidFill>
            <a:srgbClr val="245292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ts val="1600"/>
              </a:lnSpc>
            </a:pPr>
            <a:r>
              <a:rPr lang="ko-KR" sz="1200" b="1">
                <a:solidFill>
                  <a:srgbClr val="FFFFFF"/>
                </a:solidFill>
                <a:latin typeface="Arial" panose="020B0604020202020204" pitchFamily="34" charset="0"/>
              </a:rPr>
              <a:t>대표</a:t>
            </a:r>
            <a:endParaRPr sz="1200" b="1">
              <a:solidFill>
                <a:srgbClr val="FFFFFF"/>
              </a:solidFill>
              <a:latin typeface="Arial" panose="020B060402020202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g3f9f6cb7583_0_102"/>
          <p:cNvSpPr/>
          <p:nvPr/>
        </p:nvSpPr>
        <p:spPr>
          <a:xfrm>
            <a:off x="3033145" y="5084070"/>
            <a:ext cx="960210" cy="360000"/>
          </a:xfrm>
          <a:prstGeom prst="round2DiagRect">
            <a:avLst>
              <a:gd name="adj1" fmla="val 0"/>
              <a:gd name="adj2" fmla="val 0"/>
            </a:avLst>
          </a:prstGeom>
          <a:solidFill>
            <a:srgbClr val="0070C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ts val="1600"/>
              </a:lnSpc>
            </a:pPr>
            <a:r>
              <a:rPr lang="ko-KR" sz="1200" b="1">
                <a:solidFill>
                  <a:srgbClr val="FFFFFF"/>
                </a:solidFill>
                <a:latin typeface="Arial" panose="020B0604020202020204" pitchFamily="34" charset="0"/>
              </a:rPr>
              <a:t>개발</a:t>
            </a:r>
            <a:endParaRPr sz="1200" b="1">
              <a:solidFill>
                <a:srgbClr val="FFFFFF"/>
              </a:solidFill>
              <a:latin typeface="Arial" panose="020B0604020202020204" pitchFamily="34" charset="0"/>
              <a:ea typeface="Arial"/>
              <a:cs typeface="Arial"/>
              <a:sym typeface="Arial"/>
            </a:endParaRPr>
          </a:p>
        </p:txBody>
      </p:sp>
      <p:cxnSp>
        <p:nvCxnSpPr>
          <p:cNvPr id="609" name="Google Shape;609;g3f9f6cb7583_0_102"/>
          <p:cNvCxnSpPr>
            <a:cxnSpLocks/>
          </p:cNvCxnSpPr>
          <p:nvPr/>
        </p:nvCxnSpPr>
        <p:spPr>
          <a:xfrm flipH="1">
            <a:off x="1958213" y="4493387"/>
            <a:ext cx="316318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610" name="Google Shape;610;g3f9f6cb7583_0_102"/>
          <p:cNvSpPr/>
          <p:nvPr/>
        </p:nvSpPr>
        <p:spPr>
          <a:xfrm>
            <a:off x="4607566" y="5084070"/>
            <a:ext cx="960210" cy="360000"/>
          </a:xfrm>
          <a:prstGeom prst="round2DiagRect">
            <a:avLst>
              <a:gd name="adj1" fmla="val 0"/>
              <a:gd name="adj2" fmla="val 0"/>
            </a:avLst>
          </a:prstGeom>
          <a:solidFill>
            <a:srgbClr val="0070C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ts val="1600"/>
              </a:lnSpc>
            </a:pPr>
            <a:r>
              <a:rPr lang="ko-KR" sz="1200" b="1">
                <a:solidFill>
                  <a:srgbClr val="FFFFFF"/>
                </a:solidFill>
                <a:latin typeface="Arial" panose="020B0604020202020204" pitchFamily="34" charset="0"/>
              </a:rPr>
              <a:t>UI/UX</a:t>
            </a:r>
            <a:endParaRPr sz="1200" b="1">
              <a:solidFill>
                <a:srgbClr val="FFFFFF"/>
              </a:solidFill>
              <a:latin typeface="Arial" panose="020B060402020202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g3f9f6cb7583_0_102"/>
          <p:cNvSpPr/>
          <p:nvPr/>
        </p:nvSpPr>
        <p:spPr>
          <a:xfrm>
            <a:off x="736600" y="6048392"/>
            <a:ext cx="5486400" cy="1919086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 w="9525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15"/>
              <a:buFont typeface="Calibri"/>
              <a:buNone/>
            </a:pPr>
            <a:endParaRPr sz="1515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g3f9f6cb7583_0_102"/>
          <p:cNvSpPr txBox="1"/>
          <p:nvPr/>
        </p:nvSpPr>
        <p:spPr>
          <a:xfrm>
            <a:off x="1422914" y="7481137"/>
            <a:ext cx="893672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lnSpc>
                <a:spcPts val="1800"/>
              </a:lnSpc>
              <a:buClr>
                <a:srgbClr val="3F3F3F"/>
              </a:buClr>
              <a:buSzPts val="1400"/>
            </a:pPr>
            <a:r>
              <a:rPr lang="ko-KR" altLang="en-US" sz="1200">
                <a:solidFill>
                  <a:srgbClr val="464646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특급 </a:t>
            </a:r>
            <a:r>
              <a:rPr lang="en-US" altLang="ko-KR" sz="1200">
                <a:solidFill>
                  <a:srgbClr val="464646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2</a:t>
            </a:r>
            <a:r>
              <a:rPr lang="ko-KR" altLang="en-US" sz="1200">
                <a:solidFill>
                  <a:srgbClr val="464646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명</a:t>
            </a:r>
            <a:endParaRPr sz="1200">
              <a:solidFill>
                <a:srgbClr val="464646"/>
              </a:solidFill>
              <a:latin typeface="Arial" panose="020B0604020202020204" pitchFamily="34" charset="0"/>
            </a:endParaRPr>
          </a:p>
        </p:txBody>
      </p:sp>
      <p:sp>
        <p:nvSpPr>
          <p:cNvPr id="619" name="Google Shape;619;g3f9f6cb7583_0_102"/>
          <p:cNvSpPr txBox="1"/>
          <p:nvPr/>
        </p:nvSpPr>
        <p:spPr>
          <a:xfrm>
            <a:off x="2855307" y="7467414"/>
            <a:ext cx="1467476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lnSpc>
                <a:spcPts val="1800"/>
              </a:lnSpc>
              <a:buClr>
                <a:srgbClr val="3F3F3F"/>
              </a:buClr>
              <a:buSzPts val="1400"/>
            </a:pPr>
            <a:r>
              <a:rPr lang="ko-KR" altLang="en-US" sz="1200">
                <a:solidFill>
                  <a:srgbClr val="464646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고급 </a:t>
            </a:r>
            <a:r>
              <a:rPr lang="en-US" altLang="ko-KR" sz="1200">
                <a:solidFill>
                  <a:srgbClr val="464646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2</a:t>
            </a:r>
            <a:r>
              <a:rPr lang="ko-KR" altLang="en-US" sz="1200">
                <a:solidFill>
                  <a:srgbClr val="464646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명</a:t>
            </a:r>
            <a:endParaRPr sz="1200">
              <a:solidFill>
                <a:srgbClr val="464646"/>
              </a:solidFill>
              <a:latin typeface="Arial" panose="020B0604020202020204" pitchFamily="34" charset="0"/>
            </a:endParaRPr>
          </a:p>
        </p:txBody>
      </p:sp>
      <p:sp>
        <p:nvSpPr>
          <p:cNvPr id="620" name="Google Shape;620;g3f9f6cb7583_0_102"/>
          <p:cNvSpPr txBox="1"/>
          <p:nvPr/>
        </p:nvSpPr>
        <p:spPr>
          <a:xfrm>
            <a:off x="4525665" y="7461463"/>
            <a:ext cx="1494333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lnSpc>
                <a:spcPts val="1800"/>
              </a:lnSpc>
              <a:buClr>
                <a:srgbClr val="3F3F3F"/>
              </a:buClr>
              <a:buSzPts val="1400"/>
            </a:pPr>
            <a:r>
              <a:rPr lang="ko-KR" altLang="en-US" sz="1200">
                <a:solidFill>
                  <a:srgbClr val="464646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초급 </a:t>
            </a:r>
            <a:r>
              <a:rPr lang="en-US" altLang="ko-KR" sz="1200">
                <a:solidFill>
                  <a:srgbClr val="464646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2</a:t>
            </a:r>
            <a:r>
              <a:rPr lang="ko-KR" altLang="en-US" sz="1200">
                <a:solidFill>
                  <a:srgbClr val="464646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명</a:t>
            </a:r>
            <a:endParaRPr sz="1200">
              <a:solidFill>
                <a:srgbClr val="464646"/>
              </a:solidFill>
              <a:latin typeface="Arial" panose="020B0604020202020204" pitchFamily="34" charset="0"/>
            </a:endParaRPr>
          </a:p>
        </p:txBody>
      </p:sp>
      <p:pic>
        <p:nvPicPr>
          <p:cNvPr id="621" name="Google Shape;621;g3f9f6cb7583_0_102"/>
          <p:cNvPicPr preferRelativeResize="0"/>
          <p:nvPr/>
        </p:nvPicPr>
        <p:blipFill rotWithShape="1">
          <a:blip r:embed="rId3">
            <a:alphaModFix/>
          </a:blip>
          <a:srcRect l="15519" t="17865" r="16324" b="16574"/>
          <a:stretch/>
        </p:blipFill>
        <p:spPr>
          <a:xfrm>
            <a:off x="4894045" y="6510291"/>
            <a:ext cx="657130" cy="632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22" name="Google Shape;622;g3f9f6cb7583_0_102"/>
          <p:cNvPicPr preferRelativeResize="0"/>
          <p:nvPr/>
        </p:nvPicPr>
        <p:blipFill rotWithShape="1">
          <a:blip r:embed="rId4">
            <a:alphaModFix/>
          </a:blip>
          <a:srcRect l="16792" t="16766" r="17149" b="19390"/>
          <a:stretch/>
        </p:blipFill>
        <p:spPr>
          <a:xfrm>
            <a:off x="3218001" y="6384167"/>
            <a:ext cx="784493" cy="75820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g3f9f6cb7583_0_10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34549" y="6207834"/>
            <a:ext cx="1276343" cy="127634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4" name="Google Shape;624;g3f9f6cb7583_0_102"/>
          <p:cNvCxnSpPr/>
          <p:nvPr/>
        </p:nvCxnSpPr>
        <p:spPr>
          <a:xfrm>
            <a:off x="1958246" y="4490988"/>
            <a:ext cx="0" cy="649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626" name="Google Shape;626;g3f9f6cb7583_0_102"/>
          <p:cNvSpPr/>
          <p:nvPr/>
        </p:nvSpPr>
        <p:spPr>
          <a:xfrm>
            <a:off x="1490179" y="5084070"/>
            <a:ext cx="960210" cy="360000"/>
          </a:xfrm>
          <a:prstGeom prst="round2DiagRect">
            <a:avLst>
              <a:gd name="adj1" fmla="val 0"/>
              <a:gd name="adj2" fmla="val 0"/>
            </a:avLst>
          </a:prstGeom>
          <a:solidFill>
            <a:srgbClr val="0070C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ts val="1600"/>
              </a:lnSpc>
            </a:pPr>
            <a:r>
              <a:rPr lang="ko-KR" sz="1200" b="1">
                <a:solidFill>
                  <a:srgbClr val="FFFFFF"/>
                </a:solidFill>
                <a:latin typeface="Arial" panose="020B0604020202020204" pitchFamily="34" charset="0"/>
              </a:rPr>
              <a:t>기술 연구</a:t>
            </a:r>
            <a:endParaRPr sz="1200" b="1">
              <a:solidFill>
                <a:srgbClr val="FFFFFF"/>
              </a:solidFill>
              <a:latin typeface="Arial" panose="020B060402020202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8" name="에즈넷은 2026년 7월 기준 임직원 6명으로 구성되어">
            <a:extLst>
              <a:ext uri="{FF2B5EF4-FFF2-40B4-BE49-F238E27FC236}">
                <a16:creationId xmlns:a16="http://schemas.microsoft.com/office/drawing/2014/main" id="{3B3545EC-3B89-FB76-EE87-EE7624AC4712}"/>
              </a:ext>
            </a:extLst>
          </p:cNvPr>
          <p:cNvSpPr txBox="1"/>
          <p:nvPr/>
        </p:nvSpPr>
        <p:spPr>
          <a:xfrm>
            <a:off x="736600" y="1435100"/>
            <a:ext cx="5486400" cy="52322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ts val="1800"/>
              </a:lnSpc>
            </a:pPr>
            <a:r>
              <a:rPr lang="ko-KR" altLang="en-US" sz="1200">
                <a:latin typeface="Arial" panose="020B0604020202020204" pitchFamily="34" charset="0"/>
              </a:rPr>
              <a:t>에즈넷은 </a:t>
            </a:r>
            <a:r>
              <a:rPr lang="en-US" altLang="ko-KR" sz="1200">
                <a:latin typeface="Arial" panose="020B0604020202020204" pitchFamily="34" charset="0"/>
              </a:rPr>
              <a:t>2026</a:t>
            </a:r>
            <a:r>
              <a:rPr lang="ko-KR" altLang="en-US" sz="1200">
                <a:latin typeface="Arial" panose="020B0604020202020204" pitchFamily="34" charset="0"/>
              </a:rPr>
              <a:t>년 </a:t>
            </a:r>
            <a:r>
              <a:rPr lang="en-US" altLang="ko-KR" sz="1200">
                <a:latin typeface="Arial" panose="020B0604020202020204" pitchFamily="34" charset="0"/>
              </a:rPr>
              <a:t>7</a:t>
            </a:r>
            <a:r>
              <a:rPr lang="ko-KR" altLang="en-US" sz="1200">
                <a:latin typeface="Arial" panose="020B0604020202020204" pitchFamily="34" charset="0"/>
              </a:rPr>
              <a:t>월 기준 임직원 </a:t>
            </a:r>
            <a:r>
              <a:rPr lang="en-US" altLang="ko-KR" sz="1200">
                <a:latin typeface="Arial" panose="020B0604020202020204" pitchFamily="34" charset="0"/>
              </a:rPr>
              <a:t>6</a:t>
            </a:r>
            <a:r>
              <a:rPr lang="ko-KR" altLang="en-US" sz="1200">
                <a:latin typeface="Arial" panose="020B0604020202020204" pitchFamily="34" charset="0"/>
              </a:rPr>
              <a:t>명으로 구성되어 있으며</a:t>
            </a:r>
            <a:r>
              <a:rPr lang="en-US" altLang="ko-KR" sz="1200">
                <a:latin typeface="Arial" panose="020B0604020202020204" pitchFamily="34" charset="0"/>
              </a:rPr>
              <a:t>, </a:t>
            </a:r>
            <a:r>
              <a:rPr lang="ko-KR" altLang="en-US" sz="1200">
                <a:latin typeface="Arial" panose="020B0604020202020204" pitchFamily="34" charset="0"/>
              </a:rPr>
              <a:t>특급</a:t>
            </a:r>
            <a:r>
              <a:rPr lang="en-US" altLang="ko-KR" sz="1200">
                <a:latin typeface="Arial" panose="020B0604020202020204" pitchFamily="34" charset="0"/>
              </a:rPr>
              <a:t>·</a:t>
            </a:r>
            <a:r>
              <a:rPr lang="ko-KR" altLang="en-US" sz="1200">
                <a:latin typeface="Arial" panose="020B0604020202020204" pitchFamily="34" charset="0"/>
              </a:rPr>
              <a:t>고급</a:t>
            </a:r>
            <a:r>
              <a:rPr lang="en-US" altLang="ko-KR" sz="1200">
                <a:latin typeface="Arial" panose="020B0604020202020204" pitchFamily="34" charset="0"/>
              </a:rPr>
              <a:t>·</a:t>
            </a:r>
            <a:r>
              <a:rPr lang="ko-KR" altLang="en-US" sz="1200">
                <a:latin typeface="Arial" panose="020B0604020202020204" pitchFamily="34" charset="0"/>
              </a:rPr>
              <a:t>초급 기술자를 각각 </a:t>
            </a:r>
            <a:r>
              <a:rPr lang="en-US" altLang="ko-KR" sz="1200">
                <a:latin typeface="Arial" panose="020B0604020202020204" pitchFamily="34" charset="0"/>
              </a:rPr>
              <a:t>2</a:t>
            </a:r>
            <a:r>
              <a:rPr lang="ko-KR" altLang="en-US" sz="1200">
                <a:latin typeface="Arial" panose="020B0604020202020204" pitchFamily="34" charset="0"/>
              </a:rPr>
              <a:t>명 보유하고 있습니다</a:t>
            </a:r>
            <a:r>
              <a:rPr lang="en-US" altLang="ko-KR" sz="1200">
                <a:latin typeface="Arial" panose="020B0604020202020204" pitchFamily="34" charset="0"/>
              </a:rPr>
              <a:t>.</a:t>
            </a:r>
            <a:endParaRPr lang="en-KR" sz="1200">
              <a:latin typeface="Arial" panose="020B0604020202020204" pitchFamily="34" charset="0"/>
            </a:endParaRPr>
          </a:p>
        </p:txBody>
      </p:sp>
      <p:sp>
        <p:nvSpPr>
          <p:cNvPr id="9" name="조직도">
            <a:extLst>
              <a:ext uri="{FF2B5EF4-FFF2-40B4-BE49-F238E27FC236}">
                <a16:creationId xmlns:a16="http://schemas.microsoft.com/office/drawing/2014/main" id="{CB753439-8488-1272-21ED-6C1C27168AAC}"/>
              </a:ext>
            </a:extLst>
          </p:cNvPr>
          <p:cNvSpPr txBox="1"/>
          <p:nvPr/>
        </p:nvSpPr>
        <p:spPr>
          <a:xfrm>
            <a:off x="736600" y="2794000"/>
            <a:ext cx="5486400" cy="3048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ts val="1900"/>
              </a:lnSpc>
            </a:pPr>
            <a:r>
              <a:rPr lang="ko-KR" altLang="en-US" sz="1300" b="1">
                <a:solidFill>
                  <a:srgbClr val="1F4E79"/>
                </a:solidFill>
                <a:latin typeface="Arial" panose="020B0604020202020204" pitchFamily="34" charset="0"/>
              </a:rPr>
              <a:t>조직도</a:t>
            </a:r>
            <a:endParaRPr lang="en-KR" sz="1300" b="1">
              <a:solidFill>
                <a:srgbClr val="1F4E79"/>
              </a:solidFill>
              <a:latin typeface="Arial" panose="020B0604020202020204" pitchFamily="34" charset="0"/>
            </a:endParaRPr>
          </a:p>
        </p:txBody>
      </p:sp>
      <p:sp>
        <p:nvSpPr>
          <p:cNvPr id="10" name="기술등급별 구성">
            <a:extLst>
              <a:ext uri="{FF2B5EF4-FFF2-40B4-BE49-F238E27FC236}">
                <a16:creationId xmlns:a16="http://schemas.microsoft.com/office/drawing/2014/main" id="{6015B7BE-98F6-D70E-8FF3-89C27C10E137}"/>
              </a:ext>
            </a:extLst>
          </p:cNvPr>
          <p:cNvSpPr txBox="1"/>
          <p:nvPr/>
        </p:nvSpPr>
        <p:spPr>
          <a:xfrm>
            <a:off x="736600" y="5753100"/>
            <a:ext cx="5486400" cy="3048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ts val="1900"/>
              </a:lnSpc>
            </a:pPr>
            <a:r>
              <a:rPr lang="ko-KR" altLang="en-US" sz="1300" b="1">
                <a:solidFill>
                  <a:srgbClr val="1F4E79"/>
                </a:solidFill>
                <a:latin typeface="Arial" panose="020B0604020202020204" pitchFamily="34" charset="0"/>
              </a:rPr>
              <a:t>기술등급별 구성</a:t>
            </a:r>
            <a:endParaRPr lang="en-KR" sz="1300" b="1">
              <a:solidFill>
                <a:srgbClr val="1F4E79"/>
              </a:solidFill>
              <a:latin typeface="Arial" panose="020B0604020202020204" pitchFamily="34" charset="0"/>
            </a:endParaRPr>
          </a:p>
        </p:txBody>
      </p:sp>
      <p:sp>
        <p:nvSpPr>
          <p:cNvPr id="3" name="3. 조직 및 인원 (에즈넷)">
            <a:extLst>
              <a:ext uri="{FF2B5EF4-FFF2-40B4-BE49-F238E27FC236}">
                <a16:creationId xmlns:a16="http://schemas.microsoft.com/office/drawing/2014/main" id="{BFC6E395-FB73-3D37-4B7C-EB9724D007BF}"/>
              </a:ext>
            </a:extLst>
          </p:cNvPr>
          <p:cNvSpPr txBox="1"/>
          <p:nvPr/>
        </p:nvSpPr>
        <p:spPr>
          <a:xfrm>
            <a:off x="736600" y="990600"/>
            <a:ext cx="54864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2200"/>
              </a:lnSpc>
            </a:pPr>
            <a:r>
              <a:rPr lang="en-US" altLang="ko-KR" sz="1600" b="1">
                <a:latin typeface="Arial" panose="020B0604020202020204" pitchFamily="34" charset="0"/>
              </a:rPr>
              <a:t>3. </a:t>
            </a:r>
            <a:r>
              <a:rPr lang="ko-KR" altLang="en-US" sz="1600" b="1">
                <a:latin typeface="Arial" panose="020B0604020202020204" pitchFamily="34" charset="0"/>
              </a:rPr>
              <a:t>조직 및 인원 </a:t>
            </a:r>
            <a:r>
              <a:rPr lang="en-US" altLang="ko-KR" sz="1600" b="1">
                <a:latin typeface="Arial" panose="020B0604020202020204" pitchFamily="34" charset="0"/>
              </a:rPr>
              <a:t>(</a:t>
            </a:r>
            <a:r>
              <a:rPr lang="ko-KR" altLang="en-US" sz="1600" b="1">
                <a:latin typeface="Arial" panose="020B0604020202020204" pitchFamily="34" charset="0"/>
              </a:rPr>
              <a:t>에즈넷</a:t>
            </a:r>
            <a:r>
              <a:rPr lang="en-US" altLang="ko-KR" sz="1600" b="1">
                <a:latin typeface="Arial" panose="020B0604020202020204" pitchFamily="34" charset="0"/>
              </a:rPr>
              <a:t>)</a:t>
            </a:r>
            <a:endParaRPr lang="en-KR" sz="1600" b="1">
              <a:latin typeface="Arial" panose="020B0604020202020204" pitchFamily="34" charset="0"/>
            </a:endParaRPr>
          </a:p>
        </p:txBody>
      </p:sp>
      <p:sp>
        <p:nvSpPr>
          <p:cNvPr id="2" name="1. 일반 현황">
            <a:extLst>
              <a:ext uri="{FF2B5EF4-FFF2-40B4-BE49-F238E27FC236}">
                <a16:creationId xmlns:a16="http://schemas.microsoft.com/office/drawing/2014/main" id="{941FEBB9-C10C-AC41-A12E-AD138DECC40E}"/>
              </a:ext>
            </a:extLst>
          </p:cNvPr>
          <p:cNvSpPr txBox="1"/>
          <p:nvPr/>
        </p:nvSpPr>
        <p:spPr>
          <a:xfrm>
            <a:off x="3994661" y="500563"/>
            <a:ext cx="2228339" cy="307777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 algn="r">
              <a:lnSpc>
                <a:spcPts val="1800"/>
              </a:lnSpc>
            </a:pPr>
            <a:r>
              <a:rPr lang="en-US" altLang="ko-KR" sz="1200">
                <a:latin typeface="Arial" panose="020B0604020202020204" pitchFamily="34" charset="0"/>
              </a:rPr>
              <a:t>1. </a:t>
            </a:r>
            <a:r>
              <a:rPr lang="ko-KR" altLang="en-US" sz="1200">
                <a:latin typeface="Arial" panose="020B0604020202020204" pitchFamily="34" charset="0"/>
              </a:rPr>
              <a:t>일반 현황</a:t>
            </a:r>
            <a:endParaRPr lang="en-KR" sz="1200">
              <a:latin typeface="Arial" panose="020B0604020202020204" pitchFamily="34" charset="0"/>
            </a:endParaRPr>
          </a:p>
        </p:txBody>
      </p:sp>
      <p:sp>
        <p:nvSpPr>
          <p:cNvPr id="627" name="BookFolioOdd">
            <a:extLst>
              <a:ext uri="{FF2B5EF4-FFF2-40B4-BE49-F238E27FC236}">
                <a16:creationId xmlns:a16="http://schemas.microsoft.com/office/drawing/2014/main" id="{98F6B705-EE36-428A-A3A2-2CA4F014C2DA}"/>
              </a:ext>
            </a:extLst>
          </p:cNvPr>
          <p:cNvSpPr>
            <a:spLocks noGrp="1"/>
          </p:cNvSpPr>
          <p:nvPr/>
        </p:nvSpPr>
        <p:spPr>
          <a:xfrm>
            <a:off x="5715000" y="9575800"/>
            <a:ext cx="508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9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>
          <a:extLst>
            <a:ext uri="{FF2B5EF4-FFF2-40B4-BE49-F238E27FC236}">
              <a16:creationId xmlns:a16="http://schemas.microsoft.com/office/drawing/2014/main" id="{B8E204F8-6DCC-B604-5026-07A94D5D6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0">
            <a:extLst>
              <a:ext uri="{FF2B5EF4-FFF2-40B4-BE49-F238E27FC236}">
                <a16:creationId xmlns:a16="http://schemas.microsoft.com/office/drawing/2014/main" id="{74275101-6FC0-E1CA-2934-1D75303363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6683038"/>
              </p:ext>
            </p:extLst>
          </p:nvPr>
        </p:nvGraphicFramePr>
        <p:xfrm>
          <a:off x="635000" y="1920100"/>
          <a:ext cx="5486400" cy="2017182"/>
        </p:xfrm>
        <a:graphic>
          <a:graphicData uri="http://schemas.openxmlformats.org/drawingml/2006/table">
            <a:tbl>
              <a:tblPr/>
              <a:tblGrid>
                <a:gridCol w="1285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43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5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기술 영역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2465" marR="62465" marT="37479" marB="37479" anchor="ctr">
                    <a:lnL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5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2465" marR="62465" marT="37479" marB="37479" anchor="ctr">
                    <a:lnL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5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세부 내용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2465" marR="62465" marT="37479" marB="37479" anchor="ctr">
                    <a:lnL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5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OCR 데이터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35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변환·적재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2465" marR="62465" marT="37479" marB="37479" anchor="ctr">
                    <a:lnL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5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에이치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35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나인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2465" marR="62465" marT="37479" marB="37479" anchor="ctr">
                    <a:lnL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5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PDF·이미지 OCR 변환 → 문항·지문·선택지 단위 구조화 → 원본 대조 검증 후 DB 적재(SFR-004)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2465" marR="62465" marT="37479" marB="37479" anchor="ctr">
                    <a:lnL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5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메타데이터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35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 추출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2465" marR="62465" marT="37479" marB="37479" anchor="ctr">
                    <a:lnL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5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에이치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35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나인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2465" marR="62465" marT="37479" marB="37479" anchor="ctr">
                    <a:lnL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5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원본·정본지문(AAP)·문항·매체를 공통 식별자로 연결, 자동추출값+전문가 검증 결합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2465" marR="62465" marT="37479" marB="37479" anchor="ctr">
                    <a:lnL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5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RAG 청킹·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35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문맥 보존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2465" marR="62465" marT="37479" marB="37479" anchor="ctr">
                    <a:lnL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5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에즈넷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2465" marR="62465" marT="37479" marB="37479" anchor="ctr">
                    <a:lnL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5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원문은 보존하고 검색용 명제·문맥을 별도 구성하여 검색 품질 검증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2465" marR="62465" marT="37479" marB="37479" anchor="ctr">
                    <a:lnL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5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임베딩·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35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벡터 검색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2465" marR="62465" marT="37479" marB="37479" anchor="ctr">
                    <a:lnL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5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에즈넷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2465" marR="62465" marT="37479" marB="37479" anchor="ctr">
                    <a:lnL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5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임베딩 기반 지문 추천, 키워드+임베딩 검색 결합 재정렬(rerank)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2465" marR="62465" marT="37479" marB="37479" anchor="ctr">
                    <a:lnL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5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벡터DB·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35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스토리지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2465" marR="62465" marT="37479" marB="37479" anchor="ctr">
                    <a:lnL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5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에이치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35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나인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2465" marR="62465" marT="37479" marB="37479" anchor="ctr">
                    <a:lnL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5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PostgreSQL 벡터 확장 인덱스, DB·벡터용 Block Storage와 공유 파일용 NAS 구성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2465" marR="62465" marT="37479" marB="37479" anchor="ctr">
                    <a:lnL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Text 4">
            <a:extLst>
              <a:ext uri="{FF2B5EF4-FFF2-40B4-BE49-F238E27FC236}">
                <a16:creationId xmlns:a16="http://schemas.microsoft.com/office/drawing/2014/main" id="{25744153-8ABD-7654-55C3-9AC269971E98}"/>
              </a:ext>
            </a:extLst>
          </p:cNvPr>
          <p:cNvSpPr txBox="1"/>
          <p:nvPr/>
        </p:nvSpPr>
        <p:spPr>
          <a:xfrm>
            <a:off x="635000" y="1425377"/>
            <a:ext cx="5486400" cy="4947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데이터 처리 · RAG 검색 기술</a:t>
            </a:r>
            <a:endParaRPr lang="en-US" sz="1180" dirty="0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6020D2D2-71CE-E4BB-B206-0704C561C325}"/>
              </a:ext>
            </a:extLst>
          </p:cNvPr>
          <p:cNvSpPr txBox="1"/>
          <p:nvPr/>
        </p:nvSpPr>
        <p:spPr>
          <a:xfrm>
            <a:off x="635000" y="4143252"/>
            <a:ext cx="5486400" cy="4947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LLM 파인튜닝 · AI 에이전트 기술</a:t>
            </a:r>
            <a:endParaRPr lang="en-US" sz="1180" dirty="0"/>
          </a:p>
        </p:txBody>
      </p:sp>
      <p:graphicFrame>
        <p:nvGraphicFramePr>
          <p:cNvPr id="31" name="Table 0">
            <a:extLst>
              <a:ext uri="{FF2B5EF4-FFF2-40B4-BE49-F238E27FC236}">
                <a16:creationId xmlns:a16="http://schemas.microsoft.com/office/drawing/2014/main" id="{8DF48BA0-3572-7432-930E-2FB4AA8A94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808835"/>
              </p:ext>
            </p:extLst>
          </p:nvPr>
        </p:nvGraphicFramePr>
        <p:xfrm>
          <a:off x="635000" y="4637975"/>
          <a:ext cx="5486400" cy="1657236"/>
        </p:xfrm>
        <a:graphic>
          <a:graphicData uri="http://schemas.openxmlformats.org/drawingml/2006/table">
            <a:tbl>
              <a:tblPr/>
              <a:tblGrid>
                <a:gridCol w="128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43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5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기술 영역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2465" marR="62465" marT="37479" marB="37479" anchor="ctr">
                    <a:lnL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5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2465" marR="62465" marT="37479" marB="37479" anchor="ctr">
                    <a:lnL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5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세부 내용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2465" marR="62465" marT="37479" marB="37479" anchor="ctr">
                    <a:lnL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5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35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파인튜닝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2465" marR="62465" marT="37479" marB="37479" anchor="ctr">
                    <a:lnL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5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에즈넷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2465" marR="62465" marT="37479" marB="37479" anchor="ctr">
                    <a:lnL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5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Qwen3-8B + QLoRA(A100 80GB) 파인튜닝, 기출 AAP 753쌍 중 학습 716건·검증 37건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2465" marR="62465" marT="37479" marB="37479" anchor="ctr">
                    <a:lnL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5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오픈웨이트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35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운영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2465" marR="62465" marT="37479" marB="37479" anchor="ctr">
                    <a:lnL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5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에즈넷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2465" marR="62465" marT="37479" marB="37479" anchor="ctr">
                    <a:lnL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5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Qwen3-32B 기반 규칙 환류(T3) 파이프라인, 폐쇄망 오픈웨이트 모델 활용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2465" marR="62465" marT="37479" marB="37479" anchor="ctr">
                    <a:lnL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5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에이전트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35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아키텍처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2465" marR="62465" marT="37479" marB="37479" anchor="ctr">
                    <a:lnL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5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공동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2465" marR="62465" marT="37479" marB="37479" anchor="ctr">
                    <a:lnL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5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에이전트별 입력·출력·실패·승인을 정의하는 '실행 계약', 프롬프트·메모리 코드형 버전관리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2465" marR="62465" marT="37479" marB="37479" anchor="ctr">
                    <a:lnL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5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Judge Agent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35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품질평가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2465" marR="62465" marT="37479" marB="37479" anchor="ctr">
                    <a:lnL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5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에이치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35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나인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2465" marR="62465" marT="37479" marB="37479" anchor="ctr">
                    <a:lnL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5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MOSAIC(SK하이닉스 MES 에이전트) 실적 기반 실행결과 품질·이상상태 자동 평가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2465" marR="62465" marT="37479" marB="37479" anchor="ctr">
                    <a:lnL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" name="Text 4">
            <a:extLst>
              <a:ext uri="{FF2B5EF4-FFF2-40B4-BE49-F238E27FC236}">
                <a16:creationId xmlns:a16="http://schemas.microsoft.com/office/drawing/2014/main" id="{462627A2-F5B5-4E5F-50F2-9AD7D5A7FC43}"/>
              </a:ext>
            </a:extLst>
          </p:cNvPr>
          <p:cNvSpPr txBox="1"/>
          <p:nvPr/>
        </p:nvSpPr>
        <p:spPr>
          <a:xfrm>
            <a:off x="635000" y="6459452"/>
            <a:ext cx="5486400" cy="4947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18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GPU · 인프라 운영 기술</a:t>
            </a:r>
            <a:endParaRPr lang="en-US" altLang="ko-KR" sz="1180" dirty="0"/>
          </a:p>
        </p:txBody>
      </p:sp>
      <p:graphicFrame>
        <p:nvGraphicFramePr>
          <p:cNvPr id="35" name="Table 0">
            <a:extLst>
              <a:ext uri="{FF2B5EF4-FFF2-40B4-BE49-F238E27FC236}">
                <a16:creationId xmlns:a16="http://schemas.microsoft.com/office/drawing/2014/main" id="{CAEC7B4C-B6E0-F944-5EB3-568FCD7EC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8126605"/>
              </p:ext>
            </p:extLst>
          </p:nvPr>
        </p:nvGraphicFramePr>
        <p:xfrm>
          <a:off x="635000" y="6882321"/>
          <a:ext cx="5486400" cy="2542073"/>
        </p:xfrm>
        <a:graphic>
          <a:graphicData uri="http://schemas.openxmlformats.org/drawingml/2006/table">
            <a:tbl>
              <a:tblPr/>
              <a:tblGrid>
                <a:gridCol w="128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43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5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기술 영역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2465" marR="62465" marT="37479" marB="37479" anchor="ctr">
                    <a:lnL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5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2465" marR="62465" marT="37479" marB="37479" anchor="ctr">
                    <a:lnL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5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세부 내용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2465" marR="62465" marT="37479" marB="37479" anchor="ctr">
                    <a:lnL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5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GPU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35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자원 배분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2465" marR="62465" marT="37479" marB="37479" anchor="ctr">
                    <a:lnL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935" b="1" dirty="0" err="1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공동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2465" marR="62465" marT="37479" marB="37479" anchor="ctr">
                    <a:lnL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ko-KR" sz="984" dirty="0"/>
                        <a:t>서비스 특성에 따라 LLM </a:t>
                      </a:r>
                      <a:r>
                        <a:rPr lang="ko-KR" altLang="ko-KR" sz="984" dirty="0" err="1"/>
                        <a:t>추론·미세조정</a:t>
                      </a:r>
                      <a:r>
                        <a:rPr lang="ko-KR" altLang="ko-KR" sz="984" dirty="0"/>
                        <a:t>, OCR, </a:t>
                      </a:r>
                      <a:r>
                        <a:rPr lang="ko-KR" altLang="ko-KR" sz="984" dirty="0" err="1"/>
                        <a:t>임베딩</a:t>
                      </a:r>
                      <a:r>
                        <a:rPr lang="ko-KR" altLang="ko-KR" sz="984" dirty="0"/>
                        <a:t> 및 판별 워크로드에 GPU 자원을 분리 배정</a:t>
                      </a:r>
                      <a:endParaRPr lang="en-US" sz="935" dirty="0">
                        <a:solidFill>
                          <a:srgbClr val="000000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 marL="62465" marR="62465" marT="37479" marB="37479" anchor="ctr">
                    <a:lnL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5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컨테이너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35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오케스트레이션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2465" marR="62465" marT="37479" marB="37479" anchor="ctr">
                    <a:lnL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5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에이치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35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나인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2465" marR="62465" marT="37479" marB="37479" anchor="ctr">
                    <a:lnL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ko-KR" sz="984" dirty="0" err="1"/>
                        <a:t>포털·에이전트·추론</a:t>
                      </a:r>
                      <a:r>
                        <a:rPr lang="ko-KR" altLang="ko-KR" sz="984" dirty="0"/>
                        <a:t> 서비스를 독립 컨테이너로 구성하고 헬스체크, 자동 </a:t>
                      </a:r>
                      <a:r>
                        <a:rPr lang="ko-KR" altLang="ko-KR" sz="984" dirty="0" err="1"/>
                        <a:t>재기동</a:t>
                      </a:r>
                      <a:r>
                        <a:rPr lang="ko-KR" altLang="ko-KR" sz="984" dirty="0"/>
                        <a:t> 및 자원 제한 정책 적용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2465" marR="62465" marT="37479" marB="37479" anchor="ctr">
                    <a:lnL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5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무중단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35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배포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2465" marR="62465" marT="37479" marB="37479" anchor="ctr">
                    <a:lnL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5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에이치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35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나인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2465" marR="62465" marT="37479" marB="37479" anchor="ctr">
                    <a:lnL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ko-KR" sz="984" dirty="0"/>
                        <a:t>서비스는 </a:t>
                      </a:r>
                      <a:r>
                        <a:rPr lang="ko-KR" altLang="ko-KR" sz="984" dirty="0" err="1"/>
                        <a:t>Blue-Green</a:t>
                      </a:r>
                      <a:r>
                        <a:rPr lang="ko-KR" altLang="ko-KR" sz="984" dirty="0"/>
                        <a:t> 또는 </a:t>
                      </a:r>
                      <a:r>
                        <a:rPr lang="ko-KR" altLang="ko-KR" sz="984" dirty="0" err="1"/>
                        <a:t>Canary</a:t>
                      </a:r>
                      <a:r>
                        <a:rPr lang="ko-KR" altLang="ko-KR" sz="984" dirty="0"/>
                        <a:t> 방식으로 배포하고, </a:t>
                      </a:r>
                      <a:r>
                        <a:rPr lang="ko-KR" altLang="ko-KR" sz="984" dirty="0" err="1"/>
                        <a:t>모델·프롬프트를</a:t>
                      </a:r>
                      <a:r>
                        <a:rPr lang="ko-KR" altLang="ko-KR" sz="984" dirty="0"/>
                        <a:t> 버전 관리하여 이상 발생 시 검증된 버전으로 롤백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2465" marR="62465" marT="37479" marB="37479" anchor="ctr">
                    <a:lnL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5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장애 복구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35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체계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2465" marR="62465" marT="37479" marB="37479" anchor="ctr">
                    <a:lnL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935" b="1" dirty="0" err="1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공동</a:t>
                      </a:r>
                      <a:endParaRPr lang="en-US" altLang="ko-KR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2465" marR="62465" marT="37479" marB="37479" anchor="ctr">
                    <a:lnL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ko-KR" sz="984" dirty="0"/>
                        <a:t>컨테이너 장애 시 자동 재기동하고, GPU 노드 장애 시 가용 GPU 노드로 워크로드를 재배치. 장애 등급별 복구 절차와 목표 복구시간(RTO) 운영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2465" marR="62465" marT="37479" marB="37479" anchor="ctr">
                    <a:lnL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5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스토리지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35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구성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2465" marR="62465" marT="37479" marB="37479" anchor="ctr">
                    <a:lnL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935" b="1" dirty="0" err="1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공동</a:t>
                      </a:r>
                      <a:endParaRPr lang="en-US" altLang="ko-KR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2465" marR="62465" marT="37479" marB="37479" anchor="ctr">
                    <a:lnL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ko-KR" sz="984" dirty="0" err="1"/>
                        <a:t>DB·벡터</a:t>
                      </a:r>
                      <a:r>
                        <a:rPr lang="ko-KR" altLang="ko-KR" sz="984" dirty="0"/>
                        <a:t> </a:t>
                      </a:r>
                      <a:r>
                        <a:rPr lang="ko-KR" altLang="ko-KR" sz="984" dirty="0" err="1"/>
                        <a:t>DB는</a:t>
                      </a:r>
                      <a:r>
                        <a:rPr lang="ko-KR" altLang="ko-KR" sz="984" dirty="0"/>
                        <a:t> Block </a:t>
                      </a:r>
                      <a:r>
                        <a:rPr lang="ko-KR" altLang="ko-KR" sz="984" dirty="0" err="1"/>
                        <a:t>Storage</a:t>
                      </a:r>
                      <a:r>
                        <a:rPr lang="ko-KR" altLang="ko-KR" sz="984" dirty="0"/>
                        <a:t>, 공동 사용 모델 파일은 NAS, </a:t>
                      </a:r>
                      <a:r>
                        <a:rPr lang="ko-KR" altLang="ko-KR" sz="984" dirty="0" err="1"/>
                        <a:t>원본·학습</a:t>
                      </a:r>
                      <a:r>
                        <a:rPr lang="ko-KR" altLang="ko-KR" sz="984" dirty="0"/>
                        <a:t> </a:t>
                      </a:r>
                      <a:r>
                        <a:rPr lang="ko-KR" altLang="ko-KR" sz="984" dirty="0" err="1"/>
                        <a:t>데이터·백업은</a:t>
                      </a:r>
                      <a:r>
                        <a:rPr lang="ko-KR" altLang="ko-KR" sz="984" dirty="0"/>
                        <a:t> </a:t>
                      </a:r>
                      <a:r>
                        <a:rPr lang="ko-KR" altLang="ko-KR" sz="984" dirty="0" err="1"/>
                        <a:t>Object</a:t>
                      </a:r>
                      <a:r>
                        <a:rPr lang="ko-KR" altLang="ko-KR" sz="984" dirty="0"/>
                        <a:t> </a:t>
                      </a:r>
                      <a:r>
                        <a:rPr lang="ko-KR" altLang="ko-KR" sz="984" dirty="0" err="1"/>
                        <a:t>Storage에</a:t>
                      </a:r>
                      <a:r>
                        <a:rPr lang="ko-KR" altLang="ko-KR" sz="984" dirty="0"/>
                        <a:t> 저장하고 </a:t>
                      </a:r>
                      <a:r>
                        <a:rPr lang="ko-KR" altLang="ko-KR" sz="984" dirty="0" err="1"/>
                        <a:t>수명주기·백업</a:t>
                      </a:r>
                      <a:r>
                        <a:rPr lang="ko-KR" altLang="ko-KR" sz="984" dirty="0"/>
                        <a:t> 정책 적용</a:t>
                      </a:r>
                      <a:endParaRPr lang="en-US" sz="93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2465" marR="62465" marT="37479" marB="37479" anchor="ctr">
                    <a:lnL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7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3. 조직 및 인원 (에이치나인)">
            <a:extLst>
              <a:ext uri="{FF2B5EF4-FFF2-40B4-BE49-F238E27FC236}">
                <a16:creationId xmlns:a16="http://schemas.microsoft.com/office/drawing/2014/main" id="{A09D9047-7C55-C5D7-A39E-0A27C3F1C522}"/>
              </a:ext>
            </a:extLst>
          </p:cNvPr>
          <p:cNvSpPr txBox="1"/>
          <p:nvPr/>
        </p:nvSpPr>
        <p:spPr>
          <a:xfrm>
            <a:off x="635000" y="990600"/>
            <a:ext cx="54864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2200"/>
              </a:lnSpc>
            </a:pPr>
            <a:r>
              <a:rPr lang="en-US" altLang="ko-KR" sz="1600" b="1" dirty="0">
                <a:latin typeface="Arial" panose="020B0604020202020204" pitchFamily="34" charset="0"/>
              </a:rPr>
              <a:t>3.1 보유 기술 및 적용 방안</a:t>
            </a:r>
            <a:endParaRPr lang="en-KR" sz="1600" b="1" dirty="0">
              <a:latin typeface="Arial" panose="020B0604020202020204" pitchFamily="34" charset="0"/>
            </a:endParaRPr>
          </a:p>
        </p:txBody>
      </p:sp>
      <p:sp>
        <p:nvSpPr>
          <p:cNvPr id="2" name="1. 일반 현황">
            <a:extLst>
              <a:ext uri="{FF2B5EF4-FFF2-40B4-BE49-F238E27FC236}">
                <a16:creationId xmlns:a16="http://schemas.microsoft.com/office/drawing/2014/main" id="{B0A220F5-1C6C-6622-0751-4EFC2066B2EF}"/>
              </a:ext>
            </a:extLst>
          </p:cNvPr>
          <p:cNvSpPr txBox="1"/>
          <p:nvPr/>
        </p:nvSpPr>
        <p:spPr>
          <a:xfrm>
            <a:off x="635000" y="500563"/>
            <a:ext cx="2228339" cy="307777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lang="en-US" altLang="ko-KR" sz="1200">
                <a:latin typeface="Arial" panose="020B0604020202020204" pitchFamily="34" charset="0"/>
              </a:rPr>
              <a:t>1. </a:t>
            </a:r>
            <a:r>
              <a:rPr lang="ko-KR" altLang="en-US" sz="1200">
                <a:latin typeface="Arial" panose="020B0604020202020204" pitchFamily="34" charset="0"/>
              </a:rPr>
              <a:t>일반 현황</a:t>
            </a:r>
            <a:endParaRPr lang="en-KR" sz="1200">
              <a:latin typeface="Arial" panose="020B0604020202020204" pitchFamily="34" charset="0"/>
            </a:endParaRPr>
          </a:p>
        </p:txBody>
      </p:sp>
      <p:sp>
        <p:nvSpPr>
          <p:cNvPr id="36" name="BookFolioEven">
            <a:extLst>
              <a:ext uri="{FF2B5EF4-FFF2-40B4-BE49-F238E27FC236}">
                <a16:creationId xmlns:a16="http://schemas.microsoft.com/office/drawing/2014/main" id="{BE6C01A2-092E-422D-9CE1-6EC6420F6A48}"/>
              </a:ext>
            </a:extLst>
          </p:cNvPr>
          <p:cNvSpPr>
            <a:spLocks noGrp="1"/>
          </p:cNvSpPr>
          <p:nvPr/>
        </p:nvSpPr>
        <p:spPr>
          <a:xfrm>
            <a:off x="635000" y="9575800"/>
            <a:ext cx="508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966455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">
          <a:extLst>
            <a:ext uri="{FF2B5EF4-FFF2-40B4-BE49-F238E27FC236}">
              <a16:creationId xmlns:a16="http://schemas.microsoft.com/office/drawing/2014/main" id="{60214453-491B-025E-F696-D762D3A08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.1 참여인력 (에이치나인 1/2)">
            <a:extLst>
              <a:ext uri="{FF2B5EF4-FFF2-40B4-BE49-F238E27FC236}">
                <a16:creationId xmlns:a16="http://schemas.microsoft.com/office/drawing/2014/main" id="{1CAE7DD7-9BC6-3C5D-A034-1D85A18E413B}"/>
              </a:ext>
            </a:extLst>
          </p:cNvPr>
          <p:cNvSpPr txBox="1"/>
          <p:nvPr/>
        </p:nvSpPr>
        <p:spPr>
          <a:xfrm>
            <a:off x="736600" y="1435100"/>
            <a:ext cx="5486400" cy="3048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ts val="1900"/>
              </a:lnSpc>
            </a:pPr>
            <a:r>
              <a:rPr lang="en-US" altLang="ko-KR" sz="1300" b="1" dirty="0">
                <a:solidFill>
                  <a:srgbClr val="1F4E79"/>
                </a:solidFill>
                <a:latin typeface="Arial" panose="020B0604020202020204" pitchFamily="34" charset="0"/>
              </a:rPr>
              <a:t>4.1 </a:t>
            </a:r>
            <a:r>
              <a:rPr lang="ko-KR" altLang="en-US" sz="1300" b="1" dirty="0">
                <a:solidFill>
                  <a:srgbClr val="1F4E79"/>
                </a:solidFill>
                <a:latin typeface="Arial" panose="020B0604020202020204" pitchFamily="34" charset="0"/>
              </a:rPr>
              <a:t>공동수급 수행 조직도 </a:t>
            </a:r>
            <a:r>
              <a:rPr lang="en-US" altLang="ko-KR" sz="1300" b="1" dirty="0">
                <a:solidFill>
                  <a:srgbClr val="1F4E79"/>
                </a:solidFill>
                <a:latin typeface="Arial" panose="020B0604020202020204" pitchFamily="34" charset="0"/>
              </a:rPr>
              <a:t>(</a:t>
            </a:r>
            <a:r>
              <a:rPr lang="ko-KR" altLang="en-US" sz="1300" b="1" dirty="0" err="1">
                <a:solidFill>
                  <a:srgbClr val="1F4E79"/>
                </a:solidFill>
                <a:latin typeface="Arial" panose="020B0604020202020204" pitchFamily="34" charset="0"/>
              </a:rPr>
              <a:t>에이치나인</a:t>
            </a:r>
            <a:r>
              <a:rPr lang="en-US" altLang="ko-KR" sz="1300" b="1" dirty="0">
                <a:solidFill>
                  <a:srgbClr val="1F4E79"/>
                </a:solidFill>
                <a:latin typeface="Arial" panose="020B0604020202020204" pitchFamily="34" charset="0"/>
              </a:rPr>
              <a:t>+</a:t>
            </a:r>
            <a:r>
              <a:rPr lang="ko-KR" altLang="en-US" sz="1300" b="1" dirty="0" err="1">
                <a:solidFill>
                  <a:srgbClr val="1F4E79"/>
                </a:solidFill>
                <a:latin typeface="Arial" panose="020B0604020202020204" pitchFamily="34" charset="0"/>
              </a:rPr>
              <a:t>에즈넷</a:t>
            </a:r>
            <a:r>
              <a:rPr lang="en-US" altLang="ko-KR" sz="1300" b="1" dirty="0">
                <a:solidFill>
                  <a:srgbClr val="1F4E79"/>
                </a:solidFill>
                <a:latin typeface="Arial" panose="020B0604020202020204" pitchFamily="34" charset="0"/>
              </a:rPr>
              <a:t>)</a:t>
            </a:r>
            <a:endParaRPr lang="en-KR" sz="1300" b="1" dirty="0">
              <a:solidFill>
                <a:srgbClr val="1F4E79"/>
              </a:solidFill>
              <a:latin typeface="Arial" panose="020B0604020202020204" pitchFamily="34" charset="0"/>
            </a:endParaRP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0B7E5A43-09E1-60ED-4217-5EDA0F949665}"/>
              </a:ext>
            </a:extLst>
          </p:cNvPr>
          <p:cNvSpPr/>
          <p:nvPr/>
        </p:nvSpPr>
        <p:spPr>
          <a:xfrm>
            <a:off x="736601" y="1818513"/>
            <a:ext cx="2363216" cy="38404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4B63F48D-A14E-7C7E-A46B-92D3D681603B}"/>
              </a:ext>
            </a:extLst>
          </p:cNvPr>
          <p:cNvSpPr txBox="1"/>
          <p:nvPr/>
        </p:nvSpPr>
        <p:spPr>
          <a:xfrm>
            <a:off x="736600" y="1818513"/>
            <a:ext cx="2692399" cy="384048"/>
          </a:xfrm>
          <a:prstGeom prst="rect">
            <a:avLst/>
          </a:prstGeom>
          <a:solidFill>
            <a:srgbClr val="0070C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에이치나인 (HNINE)</a:t>
            </a:r>
            <a:endParaRPr lang="en-US" sz="1600" dirty="0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EF3D12DA-E5EA-791B-5E5E-3E28CEB197EE}"/>
              </a:ext>
            </a:extLst>
          </p:cNvPr>
          <p:cNvSpPr/>
          <p:nvPr/>
        </p:nvSpPr>
        <p:spPr>
          <a:xfrm>
            <a:off x="736601" y="2257425"/>
            <a:ext cx="2692400" cy="4389119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AA5E1113-FE2B-16E5-C0BC-FAFF9AEDA34F}"/>
              </a:ext>
            </a:extLst>
          </p:cNvPr>
          <p:cNvSpPr/>
          <p:nvPr/>
        </p:nvSpPr>
        <p:spPr>
          <a:xfrm>
            <a:off x="791137" y="2385441"/>
            <a:ext cx="2254144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B0C66D33-7FD0-F141-59D9-583CD2EEFB9F}"/>
              </a:ext>
            </a:extLst>
          </p:cNvPr>
          <p:cNvSpPr txBox="1"/>
          <p:nvPr/>
        </p:nvSpPr>
        <p:spPr>
          <a:xfrm>
            <a:off x="834765" y="2431161"/>
            <a:ext cx="21668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 신사업개발실</a:t>
            </a:r>
            <a:endParaRPr lang="en-US" sz="1200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88EAF86E-D79A-6B16-9F77-7460D6E1E70C}"/>
              </a:ext>
            </a:extLst>
          </p:cNvPr>
          <p:cNvSpPr txBox="1"/>
          <p:nvPr/>
        </p:nvSpPr>
        <p:spPr>
          <a:xfrm>
            <a:off x="834765" y="2650617"/>
            <a:ext cx="21668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PM 및 교육 솔루션 개발</a:t>
            </a:r>
            <a:endParaRPr lang="en-US" sz="900" dirty="0"/>
          </a:p>
        </p:txBody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0001A519-59C6-174A-15B6-3ABDF0B1E2D2}"/>
              </a:ext>
            </a:extLst>
          </p:cNvPr>
          <p:cNvSpPr/>
          <p:nvPr/>
        </p:nvSpPr>
        <p:spPr>
          <a:xfrm>
            <a:off x="1117903" y="2988945"/>
            <a:ext cx="2254144" cy="512064"/>
          </a:xfrm>
          <a:prstGeom prst="rect">
            <a:avLst/>
          </a:prstGeom>
          <a:solidFill>
            <a:srgbClr val="FFFFFF"/>
          </a:solidFill>
          <a:ln w="3175">
            <a:solidFill>
              <a:srgbClr val="3434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6EC14CB0-150C-D709-D0E6-065F8EFAAEF4}"/>
              </a:ext>
            </a:extLst>
          </p:cNvPr>
          <p:cNvSpPr txBox="1"/>
          <p:nvPr/>
        </p:nvSpPr>
        <p:spPr>
          <a:xfrm>
            <a:off x="1161531" y="3034665"/>
            <a:ext cx="21668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품질관리팀</a:t>
            </a:r>
            <a:endParaRPr lang="en-US" sz="1200" dirty="0"/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73A9D0D2-C435-D112-290D-A326744EACAA}"/>
              </a:ext>
            </a:extLst>
          </p:cNvPr>
          <p:cNvSpPr txBox="1"/>
          <p:nvPr/>
        </p:nvSpPr>
        <p:spPr>
          <a:xfrm>
            <a:off x="1161531" y="3254121"/>
            <a:ext cx="21668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품질보증(QA) 및 테스트 총괄</a:t>
            </a:r>
            <a:endParaRPr lang="en-US" sz="900" dirty="0"/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1705CD18-EFAD-7353-C18A-5326666C6230}"/>
              </a:ext>
            </a:extLst>
          </p:cNvPr>
          <p:cNvSpPr/>
          <p:nvPr/>
        </p:nvSpPr>
        <p:spPr>
          <a:xfrm>
            <a:off x="1117903" y="5402960"/>
            <a:ext cx="2254144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30D53931-92B4-B45A-D813-6A11D6D7A969}"/>
              </a:ext>
            </a:extLst>
          </p:cNvPr>
          <p:cNvSpPr txBox="1"/>
          <p:nvPr/>
        </p:nvSpPr>
        <p:spPr>
          <a:xfrm>
            <a:off x="1161531" y="5448680"/>
            <a:ext cx="21668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 기획실</a:t>
            </a:r>
            <a:endParaRPr lang="en-US" sz="1200" dirty="0"/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DABE6045-241E-6192-487E-570233A2AD99}"/>
              </a:ext>
            </a:extLst>
          </p:cNvPr>
          <p:cNvSpPr txBox="1"/>
          <p:nvPr/>
        </p:nvSpPr>
        <p:spPr>
          <a:xfrm>
            <a:off x="1161531" y="5668136"/>
            <a:ext cx="21668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포털 및 서비스 기획</a:t>
            </a:r>
            <a:endParaRPr lang="en-US" sz="900" dirty="0"/>
          </a:p>
        </p:txBody>
      </p:sp>
      <p:sp>
        <p:nvSpPr>
          <p:cNvPr id="34" name="Shape 13">
            <a:extLst>
              <a:ext uri="{FF2B5EF4-FFF2-40B4-BE49-F238E27FC236}">
                <a16:creationId xmlns:a16="http://schemas.microsoft.com/office/drawing/2014/main" id="{AB80014C-9727-79A8-DCBC-0C1D12C00C21}"/>
              </a:ext>
            </a:extLst>
          </p:cNvPr>
          <p:cNvSpPr/>
          <p:nvPr/>
        </p:nvSpPr>
        <p:spPr>
          <a:xfrm>
            <a:off x="1117903" y="6006464"/>
            <a:ext cx="2254144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14">
            <a:extLst>
              <a:ext uri="{FF2B5EF4-FFF2-40B4-BE49-F238E27FC236}">
                <a16:creationId xmlns:a16="http://schemas.microsoft.com/office/drawing/2014/main" id="{8B83D100-A98E-D8D3-3BD2-1E4CC56BFBBF}"/>
              </a:ext>
            </a:extLst>
          </p:cNvPr>
          <p:cNvSpPr txBox="1"/>
          <p:nvPr/>
        </p:nvSpPr>
        <p:spPr>
          <a:xfrm>
            <a:off x="1161531" y="6052184"/>
            <a:ext cx="21668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디자인실</a:t>
            </a:r>
            <a:endParaRPr lang="en-US" sz="1200" dirty="0"/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C4278C95-417D-6B85-BAD2-7B5E2C141841}"/>
              </a:ext>
            </a:extLst>
          </p:cNvPr>
          <p:cNvSpPr txBox="1"/>
          <p:nvPr/>
        </p:nvSpPr>
        <p:spPr>
          <a:xfrm>
            <a:off x="1161531" y="6271640"/>
            <a:ext cx="21668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포털 및 서비스 디자인 / 교육 콘텐츠 제작</a:t>
            </a:r>
            <a:endParaRPr lang="en-US" sz="900" dirty="0"/>
          </a:p>
        </p:txBody>
      </p:sp>
      <p:sp>
        <p:nvSpPr>
          <p:cNvPr id="40" name="Shape 16">
            <a:extLst>
              <a:ext uri="{FF2B5EF4-FFF2-40B4-BE49-F238E27FC236}">
                <a16:creationId xmlns:a16="http://schemas.microsoft.com/office/drawing/2014/main" id="{BFF96098-9F09-B454-6A35-F5CC289F5BC9}"/>
              </a:ext>
            </a:extLst>
          </p:cNvPr>
          <p:cNvSpPr/>
          <p:nvPr/>
        </p:nvSpPr>
        <p:spPr>
          <a:xfrm>
            <a:off x="1117903" y="4799456"/>
            <a:ext cx="2254144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17">
            <a:extLst>
              <a:ext uri="{FF2B5EF4-FFF2-40B4-BE49-F238E27FC236}">
                <a16:creationId xmlns:a16="http://schemas.microsoft.com/office/drawing/2014/main" id="{D23AF67A-7D00-5A02-5A65-F85239AA3DEE}"/>
              </a:ext>
            </a:extLst>
          </p:cNvPr>
          <p:cNvSpPr txBox="1"/>
          <p:nvPr/>
        </p:nvSpPr>
        <p:spPr>
          <a:xfrm>
            <a:off x="1161531" y="4845176"/>
            <a:ext cx="21668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PMO 그룹</a:t>
            </a:r>
            <a:endParaRPr lang="en-US" sz="1200" dirty="0"/>
          </a:p>
        </p:txBody>
      </p:sp>
      <p:sp>
        <p:nvSpPr>
          <p:cNvPr id="44" name="Text 18">
            <a:extLst>
              <a:ext uri="{FF2B5EF4-FFF2-40B4-BE49-F238E27FC236}">
                <a16:creationId xmlns:a16="http://schemas.microsoft.com/office/drawing/2014/main" id="{DAD6491B-AA67-1962-265C-D1E167D42059}"/>
              </a:ext>
            </a:extLst>
          </p:cNvPr>
          <p:cNvSpPr txBox="1"/>
          <p:nvPr/>
        </p:nvSpPr>
        <p:spPr>
          <a:xfrm>
            <a:off x="1161531" y="5064632"/>
            <a:ext cx="21668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정보보안·시범운영·사용자 교육 총괄</a:t>
            </a:r>
            <a:endParaRPr lang="en-US" sz="900" dirty="0"/>
          </a:p>
        </p:txBody>
      </p:sp>
      <p:sp>
        <p:nvSpPr>
          <p:cNvPr id="46" name="Shape 19">
            <a:extLst>
              <a:ext uri="{FF2B5EF4-FFF2-40B4-BE49-F238E27FC236}">
                <a16:creationId xmlns:a16="http://schemas.microsoft.com/office/drawing/2014/main" id="{DC3772ED-A01C-42BD-4C9F-3E5A25F7D869}"/>
              </a:ext>
            </a:extLst>
          </p:cNvPr>
          <p:cNvSpPr/>
          <p:nvPr/>
        </p:nvSpPr>
        <p:spPr>
          <a:xfrm>
            <a:off x="1117903" y="3591306"/>
            <a:ext cx="2254144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20">
            <a:extLst>
              <a:ext uri="{FF2B5EF4-FFF2-40B4-BE49-F238E27FC236}">
                <a16:creationId xmlns:a16="http://schemas.microsoft.com/office/drawing/2014/main" id="{B4440D2A-BB44-2165-AF43-AAF5FA510F6C}"/>
              </a:ext>
            </a:extLst>
          </p:cNvPr>
          <p:cNvSpPr txBox="1"/>
          <p:nvPr/>
        </p:nvSpPr>
        <p:spPr>
          <a:xfrm>
            <a:off x="1161531" y="3637026"/>
            <a:ext cx="21668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서비스개발실</a:t>
            </a:r>
            <a:endParaRPr lang="en-US" sz="1200" dirty="0"/>
          </a:p>
        </p:txBody>
      </p:sp>
      <p:sp>
        <p:nvSpPr>
          <p:cNvPr id="50" name="Text 21">
            <a:extLst>
              <a:ext uri="{FF2B5EF4-FFF2-40B4-BE49-F238E27FC236}">
                <a16:creationId xmlns:a16="http://schemas.microsoft.com/office/drawing/2014/main" id="{7B8E7E5A-278C-B625-8BB6-425253C1DF4D}"/>
              </a:ext>
            </a:extLst>
          </p:cNvPr>
          <p:cNvSpPr txBox="1"/>
          <p:nvPr/>
        </p:nvSpPr>
        <p:spPr>
          <a:xfrm>
            <a:off x="1161531" y="3856482"/>
            <a:ext cx="21668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및 Agent 개발 / 데이터 구축</a:t>
            </a:r>
            <a:endParaRPr lang="en-US" sz="900" dirty="0"/>
          </a:p>
        </p:txBody>
      </p:sp>
      <p:sp>
        <p:nvSpPr>
          <p:cNvPr id="52" name="Shape 22">
            <a:extLst>
              <a:ext uri="{FF2B5EF4-FFF2-40B4-BE49-F238E27FC236}">
                <a16:creationId xmlns:a16="http://schemas.microsoft.com/office/drawing/2014/main" id="{D6C26503-6672-EB1A-45F9-8EEB55B3E16E}"/>
              </a:ext>
            </a:extLst>
          </p:cNvPr>
          <p:cNvSpPr/>
          <p:nvPr/>
        </p:nvSpPr>
        <p:spPr>
          <a:xfrm>
            <a:off x="1117903" y="4194809"/>
            <a:ext cx="2254144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23">
            <a:extLst>
              <a:ext uri="{FF2B5EF4-FFF2-40B4-BE49-F238E27FC236}">
                <a16:creationId xmlns:a16="http://schemas.microsoft.com/office/drawing/2014/main" id="{D28365D0-5349-93BC-19DD-40AA1667FA55}"/>
              </a:ext>
            </a:extLst>
          </p:cNvPr>
          <p:cNvSpPr txBox="1"/>
          <p:nvPr/>
        </p:nvSpPr>
        <p:spPr>
          <a:xfrm>
            <a:off x="1161531" y="4240529"/>
            <a:ext cx="21668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DT개발실</a:t>
            </a:r>
            <a:endParaRPr lang="en-US" sz="1200" dirty="0"/>
          </a:p>
        </p:txBody>
      </p:sp>
      <p:sp>
        <p:nvSpPr>
          <p:cNvPr id="56" name="Text 24">
            <a:extLst>
              <a:ext uri="{FF2B5EF4-FFF2-40B4-BE49-F238E27FC236}">
                <a16:creationId xmlns:a16="http://schemas.microsoft.com/office/drawing/2014/main" id="{C585B43C-716F-BC67-0EA8-59E3B438F489}"/>
              </a:ext>
            </a:extLst>
          </p:cNvPr>
          <p:cNvSpPr txBox="1"/>
          <p:nvPr/>
        </p:nvSpPr>
        <p:spPr>
          <a:xfrm>
            <a:off x="1161531" y="4459985"/>
            <a:ext cx="21668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AX, LLM튜닝, 백업 및 DR</a:t>
            </a:r>
            <a:endParaRPr lang="en-US" sz="900" dirty="0"/>
          </a:p>
        </p:txBody>
      </p:sp>
      <p:sp>
        <p:nvSpPr>
          <p:cNvPr id="578" name="Shape 29">
            <a:extLst>
              <a:ext uri="{FF2B5EF4-FFF2-40B4-BE49-F238E27FC236}">
                <a16:creationId xmlns:a16="http://schemas.microsoft.com/office/drawing/2014/main" id="{ADB08848-873A-5036-CEA1-8030FB367DD8}"/>
              </a:ext>
            </a:extLst>
          </p:cNvPr>
          <p:cNvSpPr/>
          <p:nvPr/>
        </p:nvSpPr>
        <p:spPr>
          <a:xfrm>
            <a:off x="3934083" y="1827657"/>
            <a:ext cx="2132781" cy="38404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0" name="Text 30">
            <a:extLst>
              <a:ext uri="{FF2B5EF4-FFF2-40B4-BE49-F238E27FC236}">
                <a16:creationId xmlns:a16="http://schemas.microsoft.com/office/drawing/2014/main" id="{176A770D-FE9A-50BA-25BD-D52CD340DCE7}"/>
              </a:ext>
            </a:extLst>
          </p:cNvPr>
          <p:cNvSpPr txBox="1"/>
          <p:nvPr/>
        </p:nvSpPr>
        <p:spPr>
          <a:xfrm>
            <a:off x="3934083" y="1827657"/>
            <a:ext cx="2266692" cy="384048"/>
          </a:xfrm>
          <a:prstGeom prst="rect">
            <a:avLst/>
          </a:prstGeom>
          <a:solidFill>
            <a:srgbClr val="0070C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에즈넷 (ASNET)</a:t>
            </a:r>
            <a:endParaRPr lang="en-US" sz="1600" dirty="0"/>
          </a:p>
        </p:txBody>
      </p:sp>
      <p:sp>
        <p:nvSpPr>
          <p:cNvPr id="582" name="Shape 31">
            <a:extLst>
              <a:ext uri="{FF2B5EF4-FFF2-40B4-BE49-F238E27FC236}">
                <a16:creationId xmlns:a16="http://schemas.microsoft.com/office/drawing/2014/main" id="{70E3BA7C-C491-EB71-4006-4B9FA2DE81DC}"/>
              </a:ext>
            </a:extLst>
          </p:cNvPr>
          <p:cNvSpPr/>
          <p:nvPr/>
        </p:nvSpPr>
        <p:spPr>
          <a:xfrm>
            <a:off x="3934083" y="2266569"/>
            <a:ext cx="2266692" cy="4379975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4" name="Shape 32">
            <a:extLst>
              <a:ext uri="{FF2B5EF4-FFF2-40B4-BE49-F238E27FC236}">
                <a16:creationId xmlns:a16="http://schemas.microsoft.com/office/drawing/2014/main" id="{A269EE92-6831-51A2-7308-8EB45DB6E211}"/>
              </a:ext>
            </a:extLst>
          </p:cNvPr>
          <p:cNvSpPr/>
          <p:nvPr/>
        </p:nvSpPr>
        <p:spPr>
          <a:xfrm>
            <a:off x="3983301" y="3591306"/>
            <a:ext cx="2034345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6" name="Text 33">
            <a:extLst>
              <a:ext uri="{FF2B5EF4-FFF2-40B4-BE49-F238E27FC236}">
                <a16:creationId xmlns:a16="http://schemas.microsoft.com/office/drawing/2014/main" id="{A8AA42F2-65E9-0265-FC34-CF04D814C590}"/>
              </a:ext>
            </a:extLst>
          </p:cNvPr>
          <p:cNvSpPr txBox="1"/>
          <p:nvPr/>
        </p:nvSpPr>
        <p:spPr>
          <a:xfrm>
            <a:off x="4022675" y="3637026"/>
            <a:ext cx="19555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시스템</a:t>
            </a:r>
            <a:endParaRPr lang="en-US" sz="1300" dirty="0"/>
          </a:p>
        </p:txBody>
      </p:sp>
      <p:sp>
        <p:nvSpPr>
          <p:cNvPr id="588" name="Text 34">
            <a:extLst>
              <a:ext uri="{FF2B5EF4-FFF2-40B4-BE49-F238E27FC236}">
                <a16:creationId xmlns:a16="http://schemas.microsoft.com/office/drawing/2014/main" id="{98D1F71B-2F0C-19C3-DE00-BADEF95ADAC2}"/>
              </a:ext>
            </a:extLst>
          </p:cNvPr>
          <p:cNvSpPr txBox="1"/>
          <p:nvPr/>
        </p:nvSpPr>
        <p:spPr>
          <a:xfrm>
            <a:off x="4022675" y="3865626"/>
            <a:ext cx="19555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</a:t>
            </a:r>
            <a:r>
              <a:rPr lang="en-US" sz="850" dirty="0" err="1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솔루션</a:t>
            </a: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50" dirty="0" err="1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</a:t>
            </a:r>
            <a:endParaRPr lang="en-US" sz="850" dirty="0"/>
          </a:p>
        </p:txBody>
      </p:sp>
      <p:sp>
        <p:nvSpPr>
          <p:cNvPr id="590" name="Shape 35">
            <a:extLst>
              <a:ext uri="{FF2B5EF4-FFF2-40B4-BE49-F238E27FC236}">
                <a16:creationId xmlns:a16="http://schemas.microsoft.com/office/drawing/2014/main" id="{96C8DC31-0254-AFB4-F955-069BB5ED24C9}"/>
              </a:ext>
            </a:extLst>
          </p:cNvPr>
          <p:cNvSpPr/>
          <p:nvPr/>
        </p:nvSpPr>
        <p:spPr>
          <a:xfrm>
            <a:off x="3983301" y="4203953"/>
            <a:ext cx="2034345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2" name="Text 36">
            <a:extLst>
              <a:ext uri="{FF2B5EF4-FFF2-40B4-BE49-F238E27FC236}">
                <a16:creationId xmlns:a16="http://schemas.microsoft.com/office/drawing/2014/main" id="{FC0062F0-9843-C1C6-64EA-633B2E106FA9}"/>
              </a:ext>
            </a:extLst>
          </p:cNvPr>
          <p:cNvSpPr txBox="1"/>
          <p:nvPr/>
        </p:nvSpPr>
        <p:spPr>
          <a:xfrm>
            <a:off x="4022675" y="4249673"/>
            <a:ext cx="19555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구축</a:t>
            </a:r>
            <a:endParaRPr lang="en-US" sz="1300" dirty="0"/>
          </a:p>
        </p:txBody>
      </p:sp>
      <p:sp>
        <p:nvSpPr>
          <p:cNvPr id="594" name="Text 37">
            <a:extLst>
              <a:ext uri="{FF2B5EF4-FFF2-40B4-BE49-F238E27FC236}">
                <a16:creationId xmlns:a16="http://schemas.microsoft.com/office/drawing/2014/main" id="{D572B36A-D63D-0A8F-0C0C-F228F1073CB3}"/>
              </a:ext>
            </a:extLst>
          </p:cNvPr>
          <p:cNvSpPr txBox="1"/>
          <p:nvPr/>
        </p:nvSpPr>
        <p:spPr>
          <a:xfrm>
            <a:off x="4022675" y="4478273"/>
            <a:ext cx="19555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및 </a:t>
            </a:r>
            <a:r>
              <a:rPr lang="en-US" sz="850" dirty="0" err="1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인프라</a:t>
            </a: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50" dirty="0" err="1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구축</a:t>
            </a:r>
            <a:endParaRPr lang="en-US" sz="850" dirty="0"/>
          </a:p>
        </p:txBody>
      </p:sp>
      <p:sp>
        <p:nvSpPr>
          <p:cNvPr id="611" name="주관사는 사업 전체의 일정·성과·품질을 관리하며, 각 ">
            <a:extLst>
              <a:ext uri="{FF2B5EF4-FFF2-40B4-BE49-F238E27FC236}">
                <a16:creationId xmlns:a16="http://schemas.microsoft.com/office/drawing/2014/main" id="{209D1E0C-79C3-777F-1E0F-0859983175B7}"/>
              </a:ext>
            </a:extLst>
          </p:cNvPr>
          <p:cNvSpPr txBox="1"/>
          <p:nvPr/>
        </p:nvSpPr>
        <p:spPr>
          <a:xfrm>
            <a:off x="736600" y="7140320"/>
            <a:ext cx="5486400" cy="52322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en-US" altLang="ko-KR" sz="1200" dirty="0">
                <a:latin typeface="Arial" panose="020B0604020202020204" pitchFamily="34" charset="0"/>
              </a:rPr>
              <a:t>*</a:t>
            </a:r>
            <a:r>
              <a:rPr lang="ko-KR" altLang="en-US" sz="1200" dirty="0">
                <a:latin typeface="Arial" panose="020B0604020202020204" pitchFamily="34" charset="0"/>
              </a:rPr>
              <a:t> </a:t>
            </a:r>
            <a:r>
              <a:rPr lang="ko-KR" altLang="ko-KR" sz="1200" dirty="0"/>
              <a:t>사업관리(PMO)</a:t>
            </a:r>
            <a:r>
              <a:rPr lang="ko-KR" altLang="ko-KR" sz="1200" dirty="0" err="1"/>
              <a:t>를</a:t>
            </a:r>
            <a:r>
              <a:rPr lang="ko-KR" altLang="ko-KR" sz="1200" dirty="0"/>
              <a:t> 중심으로 서비스 </a:t>
            </a:r>
            <a:r>
              <a:rPr lang="ko-KR" altLang="ko-KR" sz="1200" dirty="0" err="1"/>
              <a:t>기획·디자인</a:t>
            </a:r>
            <a:r>
              <a:rPr lang="ko-KR" altLang="ko-KR" sz="1200" dirty="0"/>
              <a:t>, 시스템 및 AI </a:t>
            </a:r>
            <a:r>
              <a:rPr lang="ko-KR" altLang="ko-KR" sz="1200" dirty="0" err="1"/>
              <a:t>Agent</a:t>
            </a:r>
            <a:r>
              <a:rPr lang="ko-KR" altLang="ko-KR" sz="1200" dirty="0"/>
              <a:t> 개발, 데이터 구축, 품질보증, LLM 튜닝, 인프라 운영 및 사용자 교육 등 사업 전반을 총괄합니다.</a:t>
            </a:r>
            <a:endParaRPr lang="en-KR" sz="1200" dirty="0">
              <a:latin typeface="Arial" panose="020B0604020202020204" pitchFamily="34" charset="0"/>
            </a:endParaRPr>
          </a:p>
        </p:txBody>
      </p:sp>
      <p:sp>
        <p:nvSpPr>
          <p:cNvPr id="613" name="주관사는 사업 전체의 일정·성과·품질을 관리하며, 각 ">
            <a:extLst>
              <a:ext uri="{FF2B5EF4-FFF2-40B4-BE49-F238E27FC236}">
                <a16:creationId xmlns:a16="http://schemas.microsoft.com/office/drawing/2014/main" id="{00E41496-2111-7E83-661D-BB7DB69D6FC6}"/>
              </a:ext>
            </a:extLst>
          </p:cNvPr>
          <p:cNvSpPr txBox="1"/>
          <p:nvPr/>
        </p:nvSpPr>
        <p:spPr>
          <a:xfrm>
            <a:off x="736600" y="7788674"/>
            <a:ext cx="5486400" cy="52322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en-US" altLang="ko-KR" sz="1200" dirty="0">
                <a:latin typeface="Arial" panose="020B0604020202020204" pitchFamily="34" charset="0"/>
              </a:rPr>
              <a:t>*</a:t>
            </a:r>
            <a:r>
              <a:rPr lang="ko-KR" altLang="en-US" sz="1200" dirty="0">
                <a:latin typeface="Arial" panose="020B0604020202020204" pitchFamily="34" charset="0"/>
              </a:rPr>
              <a:t> </a:t>
            </a:r>
            <a:r>
              <a:rPr lang="ko-KR" altLang="en-US" sz="1200" dirty="0" err="1">
                <a:latin typeface="Arial" panose="020B0604020202020204" pitchFamily="34" charset="0"/>
              </a:rPr>
              <a:t>에즈넷은</a:t>
            </a:r>
            <a:r>
              <a:rPr lang="ko-KR" altLang="en-US" sz="1200" dirty="0">
                <a:latin typeface="Arial" panose="020B0604020202020204" pitchFamily="34" charset="0"/>
              </a:rPr>
              <a:t> </a:t>
            </a:r>
            <a:r>
              <a:rPr lang="ko-KR" altLang="ko-KR" sz="1200" dirty="0"/>
              <a:t>RAG 솔루션 개발과 LLM·GPU 인프라 구축을 담당하며, </a:t>
            </a:r>
            <a:r>
              <a:rPr lang="ko-KR" altLang="ko-KR" sz="1200" dirty="0" err="1"/>
              <a:t>에이치나인과의</a:t>
            </a:r>
            <a:r>
              <a:rPr lang="ko-KR" altLang="ko-KR" sz="1200" dirty="0"/>
              <a:t> 기술 연계를 통해 </a:t>
            </a:r>
            <a:r>
              <a:rPr lang="ko-KR" altLang="ko-KR" sz="1200" dirty="0" err="1"/>
              <a:t>개발·통합·시험·운영</a:t>
            </a:r>
            <a:r>
              <a:rPr lang="ko-KR" altLang="ko-KR" sz="1200" dirty="0"/>
              <a:t> 전환까지 전 과정에 참여합니다.</a:t>
            </a:r>
            <a:endParaRPr lang="en-KR" sz="1200" dirty="0">
              <a:latin typeface="Arial" panose="020B0604020202020204" pitchFamily="34" charset="0"/>
            </a:endParaRPr>
          </a:p>
        </p:txBody>
      </p:sp>
      <p:sp>
        <p:nvSpPr>
          <p:cNvPr id="615" name="역할분담 원칙">
            <a:extLst>
              <a:ext uri="{FF2B5EF4-FFF2-40B4-BE49-F238E27FC236}">
                <a16:creationId xmlns:a16="http://schemas.microsoft.com/office/drawing/2014/main" id="{7451109F-A5C1-66A8-2B78-6C2652BAC344}"/>
              </a:ext>
            </a:extLst>
          </p:cNvPr>
          <p:cNvSpPr txBox="1"/>
          <p:nvPr/>
        </p:nvSpPr>
        <p:spPr>
          <a:xfrm>
            <a:off x="736600" y="6841616"/>
            <a:ext cx="5486400" cy="3048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ts val="1900"/>
              </a:lnSpc>
            </a:pPr>
            <a:r>
              <a:rPr lang="ko-KR" altLang="en-US" sz="1300" b="1" dirty="0">
                <a:solidFill>
                  <a:srgbClr val="1F4E79"/>
                </a:solidFill>
                <a:latin typeface="Arial" panose="020B0604020202020204" pitchFamily="34" charset="0"/>
              </a:rPr>
              <a:t>공동수급 역할</a:t>
            </a:r>
            <a:endParaRPr lang="en-KR" sz="1300" b="1" dirty="0">
              <a:solidFill>
                <a:srgbClr val="1F4E79"/>
              </a:solidFill>
              <a:latin typeface="Arial" panose="020B0604020202020204" pitchFamily="34" charset="0"/>
            </a:endParaRPr>
          </a:p>
        </p:txBody>
      </p:sp>
      <p:sp>
        <p:nvSpPr>
          <p:cNvPr id="576" name="Shape 28">
            <a:extLst>
              <a:ext uri="{FF2B5EF4-FFF2-40B4-BE49-F238E27FC236}">
                <a16:creationId xmlns:a16="http://schemas.microsoft.com/office/drawing/2014/main" id="{5AC48252-27B5-F3DB-E769-F4313F425BF6}"/>
              </a:ext>
            </a:extLst>
          </p:cNvPr>
          <p:cNvSpPr/>
          <p:nvPr/>
        </p:nvSpPr>
        <p:spPr>
          <a:xfrm>
            <a:off x="3367792" y="3890771"/>
            <a:ext cx="615510" cy="1"/>
          </a:xfrm>
          <a:prstGeom prst="line">
            <a:avLst/>
          </a:prstGeom>
          <a:noFill/>
          <a:ln w="28575">
            <a:solidFill>
              <a:srgbClr val="1E4E9C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8">
            <a:extLst>
              <a:ext uri="{FF2B5EF4-FFF2-40B4-BE49-F238E27FC236}">
                <a16:creationId xmlns:a16="http://schemas.microsoft.com/office/drawing/2014/main" id="{E602AB57-7CA3-2573-BED6-76722E6B10E5}"/>
              </a:ext>
            </a:extLst>
          </p:cNvPr>
          <p:cNvSpPr/>
          <p:nvPr/>
        </p:nvSpPr>
        <p:spPr>
          <a:xfrm>
            <a:off x="3367792" y="4459985"/>
            <a:ext cx="615510" cy="0"/>
          </a:xfrm>
          <a:prstGeom prst="line">
            <a:avLst/>
          </a:prstGeom>
          <a:noFill/>
          <a:ln w="28575">
            <a:solidFill>
              <a:srgbClr val="1E4E9C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cxnSp>
        <p:nvCxnSpPr>
          <p:cNvPr id="6" name="Google Shape;556;p7">
            <a:extLst>
              <a:ext uri="{FF2B5EF4-FFF2-40B4-BE49-F238E27FC236}">
                <a16:creationId xmlns:a16="http://schemas.microsoft.com/office/drawing/2014/main" id="{40DE52C7-887C-30A3-6ACD-0D3E15FD4C78}"/>
              </a:ext>
            </a:extLst>
          </p:cNvPr>
          <p:cNvCxnSpPr>
            <a:cxnSpLocks/>
            <a:stCxn id="28" idx="1"/>
          </p:cNvCxnSpPr>
          <p:nvPr/>
        </p:nvCxnSpPr>
        <p:spPr>
          <a:xfrm flipH="1">
            <a:off x="960120" y="5658992"/>
            <a:ext cx="157783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" name="꺾인 연결선[E] 8">
            <a:extLst>
              <a:ext uri="{FF2B5EF4-FFF2-40B4-BE49-F238E27FC236}">
                <a16:creationId xmlns:a16="http://schemas.microsoft.com/office/drawing/2014/main" id="{187A4CE8-4D92-A682-9EAC-4F5C5101A5DD}"/>
              </a:ext>
            </a:extLst>
          </p:cNvPr>
          <p:cNvCxnSpPr>
            <a:cxnSpLocks/>
            <a:endCxn id="34" idx="1"/>
          </p:cNvCxnSpPr>
          <p:nvPr/>
        </p:nvCxnSpPr>
        <p:spPr>
          <a:xfrm rot="16200000" flipH="1">
            <a:off x="-643484" y="4501109"/>
            <a:ext cx="3364991" cy="157782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9" name="Google Shape;556;p7">
            <a:extLst>
              <a:ext uri="{FF2B5EF4-FFF2-40B4-BE49-F238E27FC236}">
                <a16:creationId xmlns:a16="http://schemas.microsoft.com/office/drawing/2014/main" id="{9FE83C69-F125-3884-BF1E-EE50A53539F6}"/>
              </a:ext>
            </a:extLst>
          </p:cNvPr>
          <p:cNvCxnSpPr>
            <a:cxnSpLocks/>
          </p:cNvCxnSpPr>
          <p:nvPr/>
        </p:nvCxnSpPr>
        <p:spPr>
          <a:xfrm flipH="1">
            <a:off x="960120" y="5051297"/>
            <a:ext cx="157783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5" name="Google Shape;556;p7">
            <a:extLst>
              <a:ext uri="{FF2B5EF4-FFF2-40B4-BE49-F238E27FC236}">
                <a16:creationId xmlns:a16="http://schemas.microsoft.com/office/drawing/2014/main" id="{6398E5E6-3CD4-289A-7CD8-EC1716C48AB5}"/>
              </a:ext>
            </a:extLst>
          </p:cNvPr>
          <p:cNvCxnSpPr>
            <a:cxnSpLocks/>
          </p:cNvCxnSpPr>
          <p:nvPr/>
        </p:nvCxnSpPr>
        <p:spPr>
          <a:xfrm flipH="1">
            <a:off x="953665" y="3856482"/>
            <a:ext cx="157783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9" name="Google Shape;556;p7">
            <a:extLst>
              <a:ext uri="{FF2B5EF4-FFF2-40B4-BE49-F238E27FC236}">
                <a16:creationId xmlns:a16="http://schemas.microsoft.com/office/drawing/2014/main" id="{61D8B6F3-892E-5B25-CA64-62C80C281A1B}"/>
              </a:ext>
            </a:extLst>
          </p:cNvPr>
          <p:cNvCxnSpPr>
            <a:cxnSpLocks/>
          </p:cNvCxnSpPr>
          <p:nvPr/>
        </p:nvCxnSpPr>
        <p:spPr>
          <a:xfrm flipH="1">
            <a:off x="960119" y="4450841"/>
            <a:ext cx="157783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1" name="Google Shape;556;p7">
            <a:extLst>
              <a:ext uri="{FF2B5EF4-FFF2-40B4-BE49-F238E27FC236}">
                <a16:creationId xmlns:a16="http://schemas.microsoft.com/office/drawing/2014/main" id="{AE95DDD5-0652-3ECE-1F59-723E581CE7BE}"/>
              </a:ext>
            </a:extLst>
          </p:cNvPr>
          <p:cNvCxnSpPr>
            <a:cxnSpLocks/>
          </p:cNvCxnSpPr>
          <p:nvPr/>
        </p:nvCxnSpPr>
        <p:spPr>
          <a:xfrm flipH="1">
            <a:off x="960119" y="3268218"/>
            <a:ext cx="157783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주관사는 사업 전체의 일정·성과·품질을 관리하며, 각 ">
            <a:extLst>
              <a:ext uri="{FF2B5EF4-FFF2-40B4-BE49-F238E27FC236}">
                <a16:creationId xmlns:a16="http://schemas.microsoft.com/office/drawing/2014/main" id="{0B0BB09D-B52A-3E53-8CD4-CA45212D0041}"/>
              </a:ext>
            </a:extLst>
          </p:cNvPr>
          <p:cNvSpPr txBox="1"/>
          <p:nvPr/>
        </p:nvSpPr>
        <p:spPr>
          <a:xfrm>
            <a:off x="736600" y="8570350"/>
            <a:ext cx="5486400" cy="52322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ko-KR" altLang="ko-KR" sz="1200" dirty="0"/>
              <a:t>양사는 명확한 역할과 책임에 기반한 공동 수행체계를 구축하고, 정기 협의 및 단계별 산출물 검증을 통해 시스템 간 연계성과 사업 수행 품질을 확보합니다.</a:t>
            </a:r>
            <a:endParaRPr lang="en-KR" sz="1200" dirty="0">
              <a:latin typeface="Arial" panose="020B0604020202020204" pitchFamily="34" charset="0"/>
            </a:endParaRPr>
          </a:p>
        </p:txBody>
      </p:sp>
      <p:sp>
        <p:nvSpPr>
          <p:cNvPr id="3" name="3. 조직 및 인원 (에즈넷)">
            <a:extLst>
              <a:ext uri="{FF2B5EF4-FFF2-40B4-BE49-F238E27FC236}">
                <a16:creationId xmlns:a16="http://schemas.microsoft.com/office/drawing/2014/main" id="{FFC5D740-D9EB-9E14-16EB-31711BAEB955}"/>
              </a:ext>
            </a:extLst>
          </p:cNvPr>
          <p:cNvSpPr txBox="1"/>
          <p:nvPr/>
        </p:nvSpPr>
        <p:spPr>
          <a:xfrm>
            <a:off x="736600" y="990600"/>
            <a:ext cx="54864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2200"/>
              </a:lnSpc>
            </a:pPr>
            <a:r>
              <a:rPr lang="en-US" altLang="ko-KR" sz="1600" b="1" dirty="0">
                <a:latin typeface="Arial" panose="020B0604020202020204" pitchFamily="34" charset="0"/>
              </a:rPr>
              <a:t>4. </a:t>
            </a:r>
            <a:r>
              <a:rPr lang="ko-KR" altLang="en-US" sz="1600" b="1" dirty="0">
                <a:latin typeface="Arial" panose="020B0604020202020204" pitchFamily="34" charset="0"/>
              </a:rPr>
              <a:t>수행조직 및 담당업무</a:t>
            </a:r>
            <a:endParaRPr lang="en-KR" altLang="ko-KR" sz="1600" b="1" dirty="0">
              <a:latin typeface="Arial" panose="020B0604020202020204" pitchFamily="34" charset="0"/>
            </a:endParaRPr>
          </a:p>
        </p:txBody>
      </p:sp>
      <p:sp>
        <p:nvSpPr>
          <p:cNvPr id="2" name="1. 일반 현황">
            <a:extLst>
              <a:ext uri="{FF2B5EF4-FFF2-40B4-BE49-F238E27FC236}">
                <a16:creationId xmlns:a16="http://schemas.microsoft.com/office/drawing/2014/main" id="{FDB801F9-6E96-E802-58F0-4B4E9F597D0F}"/>
              </a:ext>
            </a:extLst>
          </p:cNvPr>
          <p:cNvSpPr txBox="1"/>
          <p:nvPr/>
        </p:nvSpPr>
        <p:spPr>
          <a:xfrm>
            <a:off x="3994661" y="500563"/>
            <a:ext cx="2228339" cy="307777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 algn="r">
              <a:lnSpc>
                <a:spcPts val="1800"/>
              </a:lnSpc>
            </a:pPr>
            <a:r>
              <a:rPr lang="en-US" altLang="ko-KR" sz="1200">
                <a:latin typeface="Arial" panose="020B0604020202020204" pitchFamily="34" charset="0"/>
              </a:rPr>
              <a:t>1. </a:t>
            </a:r>
            <a:r>
              <a:rPr lang="ko-KR" altLang="en-US" sz="1200">
                <a:latin typeface="Arial" panose="020B0604020202020204" pitchFamily="34" charset="0"/>
              </a:rPr>
              <a:t>일반 현황</a:t>
            </a:r>
            <a:endParaRPr lang="en-KR" sz="1200">
              <a:latin typeface="Arial" panose="020B0604020202020204" pitchFamily="34" charset="0"/>
            </a:endParaRPr>
          </a:p>
        </p:txBody>
      </p:sp>
      <p:sp>
        <p:nvSpPr>
          <p:cNvPr id="616" name="BookFolioOdd">
            <a:extLst>
              <a:ext uri="{FF2B5EF4-FFF2-40B4-BE49-F238E27FC236}">
                <a16:creationId xmlns:a16="http://schemas.microsoft.com/office/drawing/2014/main" id="{98F6B705-EE36-428A-A3A2-2CA4F014C2DA}"/>
              </a:ext>
            </a:extLst>
          </p:cNvPr>
          <p:cNvSpPr>
            <a:spLocks noGrp="1"/>
          </p:cNvSpPr>
          <p:nvPr/>
        </p:nvSpPr>
        <p:spPr>
          <a:xfrm>
            <a:off x="5715000" y="9575800"/>
            <a:ext cx="508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9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155147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7" name="Google Shape;637;g3f9f6cb7583_145_0"/>
          <p:cNvGraphicFramePr/>
          <p:nvPr/>
        </p:nvGraphicFramePr>
        <p:xfrm>
          <a:off x="635000" y="2161977"/>
          <a:ext cx="5486400" cy="6695528"/>
        </p:xfrm>
        <a:graphic>
          <a:graphicData uri="http://schemas.openxmlformats.org/drawingml/2006/table">
            <a:tbl>
              <a:tblPr firstRow="1" bandRow="1">
                <a:noFill/>
                <a:tableStyleId>{A65C353C-D88D-4590-9C8D-17DC0CB4FA02}</a:tableStyleId>
              </a:tblPr>
              <a:tblGrid>
                <a:gridCol w="92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252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200" b="0" dirty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구분</a:t>
                      </a:r>
                      <a:endParaRPr sz="1200" b="0" u="none" strike="noStrike" cap="none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Tx/>
                        <a:buNone/>
                      </a:pPr>
                      <a:r>
                        <a:rPr lang="ko-KR" altLang="en-US" sz="1200" b="0" u="none" strike="noStrike" cap="none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성명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Tx/>
                        <a:buNone/>
                      </a:pPr>
                      <a:r>
                        <a:rPr lang="ko-KR" altLang="en-US" sz="1200" b="0" u="none" strike="noStrike" cap="none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직위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Tx/>
                        <a:buNone/>
                      </a:pPr>
                      <a:r>
                        <a:rPr lang="ko-KR" altLang="en-US" sz="1200" b="0" u="none" strike="noStrike" cap="none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최종학력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Tx/>
                        <a:buNone/>
                      </a:pPr>
                      <a:r>
                        <a:rPr lang="ko-KR" altLang="en-US" sz="1200" b="0" u="none" strike="noStrike" cap="none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경력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Tx/>
                        <a:buNone/>
                      </a:pPr>
                      <a:r>
                        <a:rPr lang="ko-KR" altLang="en-US" sz="1200" b="0" u="none" strike="noStrike" cap="none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담당 </a:t>
                      </a:r>
                      <a:r>
                        <a:rPr lang="en-US" altLang="ko-KR" sz="1200" b="0" u="none" strike="noStrike" cap="none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/ </a:t>
                      </a:r>
                      <a:r>
                        <a:rPr lang="ko-KR" altLang="en-US" sz="1200" b="0" u="none" strike="noStrike" cap="none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소속</a:t>
                      </a:r>
                      <a:endParaRPr sz="1200" b="0" dirty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 rowSpan="35"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Tx/>
                        <a:buNone/>
                      </a:pPr>
                      <a:r>
                        <a:rPr lang="ko-KR" altLang="en-US" sz="1200" b="0" u="none" strike="noStrike" cap="none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에이치나인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양정수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실장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학사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년 </a:t>
                      </a: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개월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교육 신사업개발실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Tx/>
                        <a:buNone/>
                      </a:pP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이택호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Noto Sans CJK SC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수석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석사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년 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개월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서비스개발실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898066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Tx/>
                        <a:buNone/>
                      </a:pP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권진환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Noto Sans CJK SC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수석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학사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년 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개월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서비스개발실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5883871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Tx/>
                        <a:buNone/>
                      </a:pP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박형일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수석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석사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년 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개월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서비스개발실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4623564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Tx/>
                        <a:buNone/>
                      </a:pP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정수진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책임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학사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년 </a:t>
                      </a: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개월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서비스개발실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00323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Tx/>
                        <a:buNone/>
                      </a:pP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김선아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책임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학사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년 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개월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서비스개발실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567379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Tx/>
                        <a:buNone/>
                      </a:pP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정현정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선임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학사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년 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개월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서비스개발실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222358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Tx/>
                        <a:buNone/>
                      </a:pP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신상섭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책임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학사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년 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개월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서비스개발실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201890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Tx/>
                        <a:buNone/>
                      </a:pP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전아름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책임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학사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년 </a:t>
                      </a: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개월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서비스개발실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4921453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Tx/>
                        <a:buNone/>
                      </a:pPr>
                      <a:endParaRPr sz="1200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전수홍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Noto Sans CJK SC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수석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학사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년 </a:t>
                      </a: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개월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교육 신사업개발실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Tx/>
                        <a:buNone/>
                      </a:pP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홍성목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수석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학사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년 </a:t>
                      </a: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개월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교육 신사업개발실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853567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Tx/>
                        <a:buNone/>
                      </a:pP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김지현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선임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전문학사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년 </a:t>
                      </a: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개월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교육 신사업개발실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Tx/>
                        <a:buNone/>
                      </a:pP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채승표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책임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학사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년 </a:t>
                      </a: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개월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교육 신사업개발실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2190336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Tx/>
                        <a:buNone/>
                      </a:pP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강부민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책임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학사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년 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개월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교육 신사업개발실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Tx/>
                        <a:buNone/>
                      </a:pPr>
                      <a:endParaRPr sz="1200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최용석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수석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학사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년 </a:t>
                      </a: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개월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DT</a:t>
                      </a:r>
                      <a:r>
                        <a:rPr 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개발실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2536120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Tx/>
                        <a:buNone/>
                      </a:pP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구희섭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Noto Sans CJK SC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선임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학사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년 </a:t>
                      </a: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개월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DT</a:t>
                      </a:r>
                      <a:r>
                        <a:rPr 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개발실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Tx/>
                        <a:buNone/>
                      </a:pP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정민지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사원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학사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년 </a:t>
                      </a: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개월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DT</a:t>
                      </a:r>
                      <a:r>
                        <a:rPr 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개발실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798373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Tx/>
                        <a:buNone/>
                      </a:pPr>
                      <a:endParaRPr sz="1200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이명규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주임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학사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년 </a:t>
                      </a: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개월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DT</a:t>
                      </a:r>
                      <a:r>
                        <a:rPr 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개발실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Tx/>
                        <a:buNone/>
                      </a:pP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조정우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선임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학사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년 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개월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DT</a:t>
                      </a:r>
                      <a:r>
                        <a:rPr 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개발실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9650844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Tx/>
                        <a:buNone/>
                      </a:pP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김승우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선임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학사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년 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개월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DT</a:t>
                      </a:r>
                      <a:r>
                        <a:rPr 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개발실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Tx/>
                        <a:buNone/>
                      </a:pP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김태훈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책임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학사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년 </a:t>
                      </a: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개월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DT</a:t>
                      </a:r>
                      <a:r>
                        <a:rPr 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개발실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894478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Tx/>
                        <a:buNone/>
                      </a:pP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손창일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수석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전문학사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년 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개월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DT</a:t>
                      </a:r>
                      <a:r>
                        <a:rPr 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개발실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Tx/>
                        <a:buNone/>
                      </a:pP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김나영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책임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학사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년 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개월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DT</a:t>
                      </a:r>
                      <a:r>
                        <a:rPr 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개발실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866274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Tx/>
                        <a:buNone/>
                      </a:pP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박세은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수석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학사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년 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개월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DT</a:t>
                      </a:r>
                      <a:r>
                        <a:rPr 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개발실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Tx/>
                        <a:buNone/>
                      </a:pP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김정선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사원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학사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년 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개월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DT</a:t>
                      </a:r>
                      <a:r>
                        <a:rPr 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개발실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2920817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Tx/>
                        <a:buNone/>
                      </a:pP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박소민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책임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학사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년 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개월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DT</a:t>
                      </a:r>
                      <a:r>
                        <a:rPr 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개발실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Tx/>
                        <a:buNone/>
                      </a:pP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김동휘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선임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전문학사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년 </a:t>
                      </a: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개월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DT</a:t>
                      </a:r>
                      <a:r>
                        <a:rPr 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개발실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099224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Tx/>
                        <a:buNone/>
                      </a:pP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윤명준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수석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석사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년 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개월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품질관리팀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Tx/>
                        <a:buNone/>
                      </a:pP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이명은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선임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학사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년 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개월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품질관리팀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3722148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Tx/>
                        <a:buNone/>
                      </a:pP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안현서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책임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석사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년 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개월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UX </a:t>
                      </a: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기획실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Tx/>
                        <a:buNone/>
                      </a:pP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전서영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책임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석사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년 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개월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UX </a:t>
                      </a: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기획실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6751595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Tx/>
                        <a:buNone/>
                      </a:pP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임용대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이사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학사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년 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개월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Visual</a:t>
                      </a: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디자인실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Tx/>
                        <a:buNone/>
                      </a:pP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황진아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수석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학사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년 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개월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Visual</a:t>
                      </a: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디자인실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8987504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Tx/>
                        <a:buNone/>
                      </a:pP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정세욱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수석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학사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년 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개월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PMO </a:t>
                      </a: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그룹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Tx/>
                        <a:buNone/>
                      </a:pP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송민섭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주임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학사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년 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개월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PMO </a:t>
                      </a:r>
                      <a:r>
                        <a:rPr 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그룹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9245299"/>
                  </a:ext>
                </a:extLst>
              </a:tr>
            </a:tbl>
          </a:graphicData>
        </a:graphic>
      </p:graphicFrame>
      <p:sp>
        <p:nvSpPr>
          <p:cNvPr id="7" name="4.1 참여인력 (에이치나인 1/2)">
            <a:extLst>
              <a:ext uri="{FF2B5EF4-FFF2-40B4-BE49-F238E27FC236}">
                <a16:creationId xmlns:a16="http://schemas.microsoft.com/office/drawing/2014/main" id="{AE38E3E3-092B-4351-D683-C7983C32442D}"/>
              </a:ext>
            </a:extLst>
          </p:cNvPr>
          <p:cNvSpPr txBox="1"/>
          <p:nvPr/>
        </p:nvSpPr>
        <p:spPr>
          <a:xfrm>
            <a:off x="635000" y="1704777"/>
            <a:ext cx="5486400" cy="3048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ts val="1900"/>
              </a:lnSpc>
            </a:pPr>
            <a:r>
              <a:rPr lang="en-US" altLang="ko-KR" sz="1300" b="1" dirty="0">
                <a:solidFill>
                  <a:srgbClr val="1F4E79"/>
                </a:solidFill>
                <a:latin typeface="Arial" panose="020B0604020202020204" pitchFamily="34" charset="0"/>
              </a:rPr>
              <a:t>4.2 </a:t>
            </a:r>
            <a:r>
              <a:rPr lang="ko-KR" altLang="en-US" sz="1300" b="1" dirty="0">
                <a:solidFill>
                  <a:srgbClr val="1F4E79"/>
                </a:solidFill>
                <a:latin typeface="Arial" panose="020B0604020202020204" pitchFamily="34" charset="0"/>
              </a:rPr>
              <a:t>참여인력 </a:t>
            </a:r>
            <a:r>
              <a:rPr lang="en-US" altLang="ko-KR" sz="1300" b="1" dirty="0">
                <a:solidFill>
                  <a:srgbClr val="1F4E79"/>
                </a:solidFill>
                <a:latin typeface="Arial" panose="020B0604020202020204" pitchFamily="34" charset="0"/>
              </a:rPr>
              <a:t>(</a:t>
            </a:r>
            <a:r>
              <a:rPr lang="ko-KR" altLang="en-US" sz="1300" b="1" dirty="0" err="1">
                <a:solidFill>
                  <a:srgbClr val="1F4E79"/>
                </a:solidFill>
                <a:latin typeface="Arial" panose="020B0604020202020204" pitchFamily="34" charset="0"/>
              </a:rPr>
              <a:t>에이치나인</a:t>
            </a:r>
            <a:r>
              <a:rPr lang="en-US" altLang="ko-KR" sz="1300" b="1" dirty="0">
                <a:solidFill>
                  <a:srgbClr val="1F4E79"/>
                </a:solidFill>
                <a:latin typeface="Arial" panose="020B0604020202020204" pitchFamily="34" charset="0"/>
              </a:rPr>
              <a:t>)</a:t>
            </a:r>
            <a:endParaRPr lang="en-KR" sz="1300" b="1" dirty="0">
              <a:solidFill>
                <a:srgbClr val="1F4E79"/>
              </a:solidFill>
              <a:latin typeface="Arial" panose="020B0604020202020204" pitchFamily="34" charset="0"/>
            </a:endParaRPr>
          </a:p>
        </p:txBody>
      </p:sp>
      <p:sp>
        <p:nvSpPr>
          <p:cNvPr id="8" name="PMR-001, PMR-002">
            <a:extLst>
              <a:ext uri="{FF2B5EF4-FFF2-40B4-BE49-F238E27FC236}">
                <a16:creationId xmlns:a16="http://schemas.microsoft.com/office/drawing/2014/main" id="{1604C31C-691C-858F-3D5C-1FE4D31C95A4}"/>
              </a:ext>
            </a:extLst>
          </p:cNvPr>
          <p:cNvSpPr txBox="1"/>
          <p:nvPr/>
        </p:nvSpPr>
        <p:spPr>
          <a:xfrm>
            <a:off x="4318000" y="1425377"/>
            <a:ext cx="1803400" cy="307777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 algn="r">
              <a:lnSpc>
                <a:spcPts val="1200"/>
              </a:lnSpc>
            </a:pPr>
            <a:r>
              <a:rPr lang="en-US" sz="900">
                <a:solidFill>
                  <a:srgbClr val="646464"/>
                </a:solidFill>
                <a:latin typeface="Arial" panose="020B0604020202020204" pitchFamily="34" charset="0"/>
              </a:rPr>
              <a:t>PMR-001, PMR-002</a:t>
            </a:r>
            <a:endParaRPr lang="en-K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  <p:sp>
        <p:nvSpPr>
          <p:cNvPr id="6" name="4. 수행조직 및 담당업무">
            <a:extLst>
              <a:ext uri="{FF2B5EF4-FFF2-40B4-BE49-F238E27FC236}">
                <a16:creationId xmlns:a16="http://schemas.microsoft.com/office/drawing/2014/main" id="{2A099AB9-B48E-504E-36D8-FF37EF250FDA}"/>
              </a:ext>
            </a:extLst>
          </p:cNvPr>
          <p:cNvSpPr txBox="1"/>
          <p:nvPr/>
        </p:nvSpPr>
        <p:spPr>
          <a:xfrm>
            <a:off x="635000" y="990600"/>
            <a:ext cx="54864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2200"/>
              </a:lnSpc>
            </a:pPr>
            <a:r>
              <a:rPr lang="en-US" altLang="ko-KR" sz="1600" b="1" dirty="0">
                <a:latin typeface="Arial" panose="020B0604020202020204" pitchFamily="34" charset="0"/>
              </a:rPr>
              <a:t>4. </a:t>
            </a:r>
            <a:r>
              <a:rPr lang="ko-KR" altLang="en-US" sz="1600" b="1" dirty="0">
                <a:latin typeface="Arial" panose="020B0604020202020204" pitchFamily="34" charset="0"/>
              </a:rPr>
              <a:t>수행조직 및 담당업무</a:t>
            </a:r>
            <a:endParaRPr lang="en-KR" sz="1600" b="1" dirty="0">
              <a:latin typeface="Arial" panose="020B0604020202020204" pitchFamily="34" charset="0"/>
            </a:endParaRPr>
          </a:p>
        </p:txBody>
      </p:sp>
      <p:sp>
        <p:nvSpPr>
          <p:cNvPr id="5" name="1. 일반 현황">
            <a:extLst>
              <a:ext uri="{FF2B5EF4-FFF2-40B4-BE49-F238E27FC236}">
                <a16:creationId xmlns:a16="http://schemas.microsoft.com/office/drawing/2014/main" id="{20A9CA5B-4B53-E430-D4EA-B6D0CD134A85}"/>
              </a:ext>
            </a:extLst>
          </p:cNvPr>
          <p:cNvSpPr txBox="1"/>
          <p:nvPr/>
        </p:nvSpPr>
        <p:spPr>
          <a:xfrm>
            <a:off x="635000" y="500563"/>
            <a:ext cx="2228339" cy="307777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lang="en-US" altLang="ko-KR" sz="1200">
                <a:latin typeface="Arial" panose="020B0604020202020204" pitchFamily="34" charset="0"/>
              </a:rPr>
              <a:t>1. </a:t>
            </a:r>
            <a:r>
              <a:rPr lang="ko-KR" altLang="en-US" sz="1200">
                <a:latin typeface="Arial" panose="020B0604020202020204" pitchFamily="34" charset="0"/>
              </a:rPr>
              <a:t>일반 현황</a:t>
            </a:r>
            <a:endParaRPr lang="en-KR" sz="1200">
              <a:latin typeface="Arial" panose="020B0604020202020204" pitchFamily="34" charset="0"/>
            </a:endParaRPr>
          </a:p>
        </p:txBody>
      </p:sp>
      <p:sp>
        <p:nvSpPr>
          <p:cNvPr id="638" name="BookFolioEven">
            <a:extLst>
              <a:ext uri="{FF2B5EF4-FFF2-40B4-BE49-F238E27FC236}">
                <a16:creationId xmlns:a16="http://schemas.microsoft.com/office/drawing/2014/main" id="{BE6C01A2-092E-422D-9CE1-6EC6420F6A48}"/>
              </a:ext>
            </a:extLst>
          </p:cNvPr>
          <p:cNvSpPr>
            <a:spLocks noGrp="1"/>
          </p:cNvSpPr>
          <p:nvPr/>
        </p:nvSpPr>
        <p:spPr>
          <a:xfrm>
            <a:off x="635000" y="9575800"/>
            <a:ext cx="508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0">
          <a:extLst>
            <a:ext uri="{FF2B5EF4-FFF2-40B4-BE49-F238E27FC236}">
              <a16:creationId xmlns:a16="http://schemas.microsoft.com/office/drawing/2014/main" id="{459B5D67-0EDD-E541-AD8C-61735E7B8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7" name="Google Shape;637;g3f9f6cb7583_145_0">
            <a:extLst>
              <a:ext uri="{FF2B5EF4-FFF2-40B4-BE49-F238E27FC236}">
                <a16:creationId xmlns:a16="http://schemas.microsoft.com/office/drawing/2014/main" id="{405DFE40-DF83-A7C6-3128-9FD377A90F34}"/>
              </a:ext>
            </a:extLst>
          </p:cNvPr>
          <p:cNvGraphicFramePr/>
          <p:nvPr/>
        </p:nvGraphicFramePr>
        <p:xfrm>
          <a:off x="736600" y="2161977"/>
          <a:ext cx="5486400" cy="1234528"/>
        </p:xfrm>
        <a:graphic>
          <a:graphicData uri="http://schemas.openxmlformats.org/drawingml/2006/table">
            <a:tbl>
              <a:tblPr firstRow="1" bandRow="1">
                <a:noFill/>
                <a:tableStyleId>{A65C353C-D88D-4590-9C8D-17DC0CB4FA02}</a:tableStyleId>
              </a:tblPr>
              <a:tblGrid>
                <a:gridCol w="92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252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200" b="0" dirty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구분</a:t>
                      </a:r>
                      <a:endParaRPr sz="1200" b="0" u="none" strike="noStrike" cap="none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Tx/>
                        <a:buNone/>
                      </a:pPr>
                      <a:r>
                        <a:rPr lang="ko-KR" altLang="en-US" sz="1200" b="0" u="none" strike="noStrike" cap="none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성명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Tx/>
                        <a:buNone/>
                      </a:pPr>
                      <a:r>
                        <a:rPr lang="ko-KR" altLang="en-US" sz="1200" b="0" u="none" strike="noStrike" cap="none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직위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Tx/>
                        <a:buNone/>
                      </a:pPr>
                      <a:r>
                        <a:rPr lang="ko-KR" altLang="en-US" sz="1200" b="0" u="none" strike="noStrike" cap="none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최종학력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Tx/>
                        <a:buNone/>
                      </a:pPr>
                      <a:r>
                        <a:rPr lang="ko-KR" altLang="en-US" sz="1200" b="0" u="none" strike="noStrike" cap="none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경력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Tx/>
                        <a:buNone/>
                      </a:pPr>
                      <a:r>
                        <a:rPr lang="ko-KR" altLang="en-US" sz="1200" b="0" u="none" strike="noStrike" cap="none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담당 </a:t>
                      </a:r>
                      <a:r>
                        <a:rPr lang="en-US" altLang="ko-KR" sz="1200" b="0" u="none" strike="noStrike" cap="none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/ </a:t>
                      </a:r>
                      <a:r>
                        <a:rPr lang="ko-KR" altLang="en-US" sz="1200" b="0" u="none" strike="noStrike" cap="none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소속</a:t>
                      </a:r>
                      <a:endParaRPr sz="1200" b="0" dirty="0"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 row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Tx/>
                        <a:buNone/>
                      </a:pPr>
                      <a:r>
                        <a:rPr lang="ko-KR" altLang="en-US" sz="1200" b="0" u="none" strike="noStrike" cap="none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에즈넷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Tx/>
                        <a:buNone/>
                      </a:pP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박병희</a:t>
                      </a:r>
                      <a:endParaRPr sz="1100" b="0" dirty="0">
                        <a:latin typeface="Arial" panose="020B060402020202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Tx/>
                        <a:buNone/>
                      </a:pP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대표</a:t>
                      </a:r>
                      <a:endParaRPr sz="1100" b="0" dirty="0">
                        <a:latin typeface="Arial" panose="020B060402020202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Tx/>
                        <a:buNone/>
                      </a:pP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석사</a:t>
                      </a:r>
                      <a:endParaRPr sz="1100" b="0" dirty="0">
                        <a:latin typeface="Arial" panose="020B060402020202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Tx/>
                        <a:buNone/>
                      </a:pPr>
                      <a:r>
                        <a:rPr lang="en-US" altLang="ko-KR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31</a:t>
                      </a: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년 </a:t>
                      </a:r>
                      <a:r>
                        <a:rPr lang="en-US" altLang="ko-KR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개월</a:t>
                      </a:r>
                      <a:endParaRPr sz="1100" b="0" dirty="0">
                        <a:latin typeface="Arial" panose="020B060402020202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Tx/>
                        <a:buNone/>
                      </a:pPr>
                      <a:r>
                        <a:rPr lang="ko-KR" altLang="en-US" sz="1100" b="0" u="none" strike="noStrike" cap="none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에즈넷</a:t>
                      </a:r>
                      <a:r>
                        <a:rPr lang="en-US" altLang="ko-KR" sz="1100" b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ko-KR" altLang="en-US" sz="1100" b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컨소시엄</a:t>
                      </a:r>
                      <a:r>
                        <a:rPr lang="en-US" altLang="ko-KR" sz="1100" b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1100" b="0" u="none" strike="noStrike" cap="none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Tx/>
                        <a:buNone/>
                      </a:pP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Tx/>
                        <a:buNone/>
                      </a:pPr>
                      <a:r>
                        <a:rPr lang="ko-KR" altLang="en-US" sz="1100" b="0" dirty="0" err="1">
                          <a:latin typeface="Arial" panose="020B0604020202020204" pitchFamily="34" charset="0"/>
                        </a:rPr>
                        <a:t>조돈제</a:t>
                      </a:r>
                      <a:r>
                        <a:rPr lang="ko-KR" altLang="en-US" sz="1100" b="0" dirty="0">
                          <a:latin typeface="Arial" panose="020B0604020202020204" pitchFamily="34" charset="0"/>
                        </a:rPr>
                        <a:t> </a:t>
                      </a:r>
                      <a:endParaRPr sz="1100" b="0" dirty="0">
                        <a:latin typeface="Arial" panose="020B060402020202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Tx/>
                        <a:buNone/>
                      </a:pPr>
                      <a:r>
                        <a:rPr lang="ko-KR" altLang="en-US" sz="1100" b="0" dirty="0">
                          <a:latin typeface="Arial" panose="020B0604020202020204" pitchFamily="34" charset="0"/>
                        </a:rPr>
                        <a:t>이사</a:t>
                      </a:r>
                      <a:endParaRPr sz="1100" b="0" dirty="0">
                        <a:latin typeface="Arial" panose="020B060402020202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Tx/>
                        <a:buNone/>
                      </a:pPr>
                      <a:r>
                        <a:rPr lang="ko-KR" altLang="en-US" sz="1100" b="0" dirty="0">
                          <a:latin typeface="Arial" panose="020B0604020202020204" pitchFamily="34" charset="0"/>
                        </a:rPr>
                        <a:t>석사</a:t>
                      </a:r>
                      <a:endParaRPr sz="1100" b="0" dirty="0">
                        <a:latin typeface="Arial" panose="020B060402020202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Tx/>
                        <a:buNone/>
                      </a:pPr>
                      <a:r>
                        <a:rPr lang="en-US" altLang="ko-KR" sz="1100" b="0" dirty="0">
                          <a:latin typeface="Arial" panose="020B0604020202020204" pitchFamily="34" charset="0"/>
                        </a:rPr>
                        <a:t>30</a:t>
                      </a:r>
                      <a:r>
                        <a:rPr lang="ko-KR" altLang="en-US" sz="1100" b="0" dirty="0">
                          <a:latin typeface="Arial" panose="020B0604020202020204" pitchFamily="34" charset="0"/>
                        </a:rPr>
                        <a:t>년 </a:t>
                      </a:r>
                      <a:r>
                        <a:rPr lang="en-US" altLang="ko-KR" sz="1100" b="0" dirty="0">
                          <a:latin typeface="Arial" panose="020B0604020202020204" pitchFamily="34" charset="0"/>
                        </a:rPr>
                        <a:t>8</a:t>
                      </a:r>
                      <a:r>
                        <a:rPr lang="ko-KR" altLang="en-US" sz="1100" b="0" dirty="0">
                          <a:latin typeface="Arial" panose="020B0604020202020204" pitchFamily="34" charset="0"/>
                        </a:rPr>
                        <a:t>개월</a:t>
                      </a:r>
                      <a:endParaRPr sz="1100" b="0" dirty="0">
                        <a:latin typeface="Arial" panose="020B060402020202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u="none" strike="noStrike" cap="none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에즈넷</a:t>
                      </a:r>
                      <a:r>
                        <a:rPr lang="en-US" altLang="ko-KR" sz="1100" b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ko-KR" altLang="en-US" sz="1100" b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컨소시엄</a:t>
                      </a:r>
                      <a:r>
                        <a:rPr lang="en-US" altLang="ko-KR" sz="1100" b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lang="ko-KR" altLang="en-US" sz="1100" b="0" u="none" strike="noStrike" cap="none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898066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Tx/>
                        <a:buNone/>
                      </a:pP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Tx/>
                        <a:buNone/>
                      </a:pP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전영훈</a:t>
                      </a:r>
                      <a:endParaRPr sz="1100" b="0" dirty="0">
                        <a:latin typeface="Arial" panose="020B060402020202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Tx/>
                        <a:buNone/>
                      </a:pP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과장</a:t>
                      </a:r>
                      <a:endParaRPr sz="1100" b="0" dirty="0">
                        <a:latin typeface="Arial" panose="020B060402020202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Tx/>
                        <a:buNone/>
                      </a:pP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학사</a:t>
                      </a:r>
                      <a:endParaRPr sz="1100" b="0" dirty="0">
                        <a:latin typeface="Arial" panose="020B060402020202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Tx/>
                        <a:buNone/>
                      </a:pPr>
                      <a:r>
                        <a:rPr lang="en-US" altLang="ko-KR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년 </a:t>
                      </a:r>
                      <a:r>
                        <a:rPr lang="en-US" altLang="ko-KR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개월</a:t>
                      </a:r>
                      <a:endParaRPr sz="1100" b="0" dirty="0">
                        <a:latin typeface="Arial" panose="020B060402020202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Tx/>
                        <a:buNone/>
                      </a:pPr>
                      <a:r>
                        <a:rPr lang="ko-KR" altLang="en-US" sz="1100" b="0" u="none" strike="noStrike" cap="none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에즈넷</a:t>
                      </a:r>
                      <a:r>
                        <a:rPr lang="en-US" altLang="ko-KR" sz="1100" b="0" u="none" strike="noStrike" cap="none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ko-KR" altLang="en-US" sz="1100" b="0" u="none" strike="noStrike" cap="none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컨소시엄</a:t>
                      </a:r>
                      <a:r>
                        <a:rPr lang="en-US" altLang="ko-KR" sz="1100" b="0" u="none" strike="noStrike" cap="none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1100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5883871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Tx/>
                        <a:buNone/>
                      </a:pP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Tx/>
                        <a:buNone/>
                      </a:pPr>
                      <a:r>
                        <a:rPr lang="ko-KR" altLang="en-US" sz="11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장현영</a:t>
                      </a:r>
                      <a:endParaRPr sz="1100" b="0" dirty="0">
                        <a:latin typeface="Arial" panose="020B060402020202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Tx/>
                        <a:buNone/>
                      </a:pP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과장</a:t>
                      </a:r>
                      <a:endParaRPr sz="1100" b="0" dirty="0">
                        <a:latin typeface="Arial" panose="020B060402020202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Tx/>
                        <a:buNone/>
                      </a:pP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학사</a:t>
                      </a:r>
                      <a:endParaRPr sz="1100" b="0" dirty="0">
                        <a:latin typeface="Arial" panose="020B060402020202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Tx/>
                        <a:buNone/>
                      </a:pPr>
                      <a:r>
                        <a:rPr lang="en-US" altLang="ko-KR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년 </a:t>
                      </a:r>
                      <a:r>
                        <a:rPr lang="en-US" altLang="ko-KR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개월</a:t>
                      </a:r>
                      <a:endParaRPr sz="1100" b="0" dirty="0">
                        <a:latin typeface="Arial" panose="020B060402020202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Tx/>
                        <a:buNone/>
                      </a:pPr>
                      <a:r>
                        <a:rPr lang="ko-KR" altLang="en-US" sz="1100" b="0" u="none" strike="noStrike" cap="none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에즈넷</a:t>
                      </a:r>
                      <a:r>
                        <a:rPr lang="en-US" altLang="ko-KR" sz="1100" b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ko-KR" altLang="en-US" sz="1100" b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컨소시엄</a:t>
                      </a:r>
                      <a:r>
                        <a:rPr lang="en-US" altLang="ko-KR" sz="1100" b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1100" b="0" u="none" strike="noStrike" cap="none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4623564"/>
                  </a:ext>
                </a:extLst>
              </a:tr>
            </a:tbl>
          </a:graphicData>
        </a:graphic>
      </p:graphicFrame>
      <p:sp>
        <p:nvSpPr>
          <p:cNvPr id="7" name="4.1 참여인력 (에이치나인 1/2)">
            <a:extLst>
              <a:ext uri="{FF2B5EF4-FFF2-40B4-BE49-F238E27FC236}">
                <a16:creationId xmlns:a16="http://schemas.microsoft.com/office/drawing/2014/main" id="{88F5B133-682F-7527-5E55-6C043332215C}"/>
              </a:ext>
            </a:extLst>
          </p:cNvPr>
          <p:cNvSpPr txBox="1"/>
          <p:nvPr/>
        </p:nvSpPr>
        <p:spPr>
          <a:xfrm>
            <a:off x="736600" y="1704777"/>
            <a:ext cx="5486400" cy="3048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ts val="1900"/>
              </a:lnSpc>
            </a:pPr>
            <a:r>
              <a:rPr lang="en-US" altLang="ko-KR" sz="1300" b="1" dirty="0">
                <a:solidFill>
                  <a:srgbClr val="1F4E79"/>
                </a:solidFill>
                <a:latin typeface="Arial" panose="020B0604020202020204" pitchFamily="34" charset="0"/>
              </a:rPr>
              <a:t>4.3 </a:t>
            </a:r>
            <a:r>
              <a:rPr lang="ko-KR" altLang="en-US" sz="1300" b="1" dirty="0">
                <a:solidFill>
                  <a:srgbClr val="1F4E79"/>
                </a:solidFill>
                <a:latin typeface="Arial" panose="020B0604020202020204" pitchFamily="34" charset="0"/>
              </a:rPr>
              <a:t>참여인력 </a:t>
            </a:r>
            <a:r>
              <a:rPr lang="en-US" altLang="ko-KR" sz="1300" b="1" dirty="0">
                <a:solidFill>
                  <a:srgbClr val="1F4E79"/>
                </a:solidFill>
                <a:latin typeface="Arial" panose="020B0604020202020204" pitchFamily="34" charset="0"/>
              </a:rPr>
              <a:t>(</a:t>
            </a:r>
            <a:r>
              <a:rPr lang="ko-KR" altLang="en-US" sz="1300" b="1" dirty="0" err="1">
                <a:solidFill>
                  <a:srgbClr val="1F4E79"/>
                </a:solidFill>
                <a:latin typeface="Arial" panose="020B0604020202020204" pitchFamily="34" charset="0"/>
              </a:rPr>
              <a:t>에즈넷</a:t>
            </a:r>
            <a:r>
              <a:rPr lang="en-US" altLang="ko-KR" sz="1300" b="1" dirty="0">
                <a:solidFill>
                  <a:srgbClr val="1F4E79"/>
                </a:solidFill>
                <a:latin typeface="Arial" panose="020B0604020202020204" pitchFamily="34" charset="0"/>
              </a:rPr>
              <a:t>)</a:t>
            </a:r>
            <a:endParaRPr lang="en-KR" sz="1300" b="1" dirty="0">
              <a:solidFill>
                <a:srgbClr val="1F4E79"/>
              </a:solidFill>
              <a:latin typeface="Arial" panose="020B0604020202020204" pitchFamily="34" charset="0"/>
            </a:endParaRPr>
          </a:p>
        </p:txBody>
      </p:sp>
      <p:sp>
        <p:nvSpPr>
          <p:cNvPr id="8" name="PMR-001, PMR-002">
            <a:extLst>
              <a:ext uri="{FF2B5EF4-FFF2-40B4-BE49-F238E27FC236}">
                <a16:creationId xmlns:a16="http://schemas.microsoft.com/office/drawing/2014/main" id="{1756D447-D846-FEF2-9B22-CD220D3629C5}"/>
              </a:ext>
            </a:extLst>
          </p:cNvPr>
          <p:cNvSpPr txBox="1"/>
          <p:nvPr/>
        </p:nvSpPr>
        <p:spPr>
          <a:xfrm>
            <a:off x="4419600" y="1425377"/>
            <a:ext cx="1803400" cy="307777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 algn="r">
              <a:lnSpc>
                <a:spcPts val="1200"/>
              </a:lnSpc>
            </a:pPr>
            <a:r>
              <a:rPr lang="en-US" sz="900">
                <a:solidFill>
                  <a:srgbClr val="646464"/>
                </a:solidFill>
                <a:latin typeface="Arial" panose="020B0604020202020204" pitchFamily="34" charset="0"/>
              </a:rPr>
              <a:t>PMR-001, PMR-002</a:t>
            </a:r>
            <a:endParaRPr lang="en-K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  <p:sp>
        <p:nvSpPr>
          <p:cNvPr id="6" name="4. 수행조직 및 담당업무">
            <a:extLst>
              <a:ext uri="{FF2B5EF4-FFF2-40B4-BE49-F238E27FC236}">
                <a16:creationId xmlns:a16="http://schemas.microsoft.com/office/drawing/2014/main" id="{AC2898DF-0A6F-4C35-4EE5-FF5B3EED2869}"/>
              </a:ext>
            </a:extLst>
          </p:cNvPr>
          <p:cNvSpPr txBox="1"/>
          <p:nvPr/>
        </p:nvSpPr>
        <p:spPr>
          <a:xfrm>
            <a:off x="736600" y="990600"/>
            <a:ext cx="54864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2200"/>
              </a:lnSpc>
            </a:pPr>
            <a:r>
              <a:rPr lang="en-US" altLang="ko-KR" sz="1600" b="1">
                <a:latin typeface="Arial" panose="020B0604020202020204" pitchFamily="34" charset="0"/>
              </a:rPr>
              <a:t>4. </a:t>
            </a:r>
            <a:r>
              <a:rPr lang="ko-KR" altLang="en-US" sz="1600" b="1">
                <a:latin typeface="Arial" panose="020B0604020202020204" pitchFamily="34" charset="0"/>
              </a:rPr>
              <a:t>수행조직 및 담당업무</a:t>
            </a:r>
            <a:endParaRPr lang="en-KR" sz="1600" b="1">
              <a:latin typeface="Arial" panose="020B0604020202020204" pitchFamily="34" charset="0"/>
            </a:endParaRPr>
          </a:p>
        </p:txBody>
      </p:sp>
      <p:sp>
        <p:nvSpPr>
          <p:cNvPr id="5" name="1. 일반 현황">
            <a:extLst>
              <a:ext uri="{FF2B5EF4-FFF2-40B4-BE49-F238E27FC236}">
                <a16:creationId xmlns:a16="http://schemas.microsoft.com/office/drawing/2014/main" id="{BBFB4EAD-EA2F-CF09-B785-9545F37F7007}"/>
              </a:ext>
            </a:extLst>
          </p:cNvPr>
          <p:cNvSpPr txBox="1"/>
          <p:nvPr/>
        </p:nvSpPr>
        <p:spPr>
          <a:xfrm>
            <a:off x="3994661" y="500563"/>
            <a:ext cx="2228339" cy="307777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 algn="r">
              <a:lnSpc>
                <a:spcPts val="1800"/>
              </a:lnSpc>
            </a:pPr>
            <a:r>
              <a:rPr lang="en-US" altLang="ko-KR" sz="1200">
                <a:latin typeface="Arial" panose="020B0604020202020204" pitchFamily="34" charset="0"/>
              </a:rPr>
              <a:t>1. </a:t>
            </a:r>
            <a:r>
              <a:rPr lang="ko-KR" altLang="en-US" sz="1200">
                <a:latin typeface="Arial" panose="020B0604020202020204" pitchFamily="34" charset="0"/>
              </a:rPr>
              <a:t>일반 현황</a:t>
            </a:r>
            <a:endParaRPr lang="en-KR" sz="1200">
              <a:latin typeface="Arial" panose="020B0604020202020204" pitchFamily="34" charset="0"/>
            </a:endParaRPr>
          </a:p>
        </p:txBody>
      </p:sp>
      <p:sp>
        <p:nvSpPr>
          <p:cNvPr id="638" name="BookFolioOdd">
            <a:extLst>
              <a:ext uri="{FF2B5EF4-FFF2-40B4-BE49-F238E27FC236}">
                <a16:creationId xmlns:a16="http://schemas.microsoft.com/office/drawing/2014/main" id="{98F6B705-EE36-428A-A3A2-2CA4F014C2DA}"/>
              </a:ext>
            </a:extLst>
          </p:cNvPr>
          <p:cNvSpPr>
            <a:spLocks noGrp="1"/>
          </p:cNvSpPr>
          <p:nvPr/>
        </p:nvSpPr>
        <p:spPr>
          <a:xfrm>
            <a:off x="5715000" y="9575800"/>
            <a:ext cx="508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9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327818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1" name="Google Shape;671;p9"/>
          <p:cNvGraphicFramePr/>
          <p:nvPr>
            <p:extLst>
              <p:ext uri="{D42A27DB-BD31-4B8C-83A1-F6EECF244321}">
                <p14:modId xmlns:p14="http://schemas.microsoft.com/office/powerpoint/2010/main" val="149126417"/>
              </p:ext>
            </p:extLst>
          </p:nvPr>
        </p:nvGraphicFramePr>
        <p:xfrm>
          <a:off x="635000" y="1693146"/>
          <a:ext cx="5486400" cy="1046734"/>
        </p:xfrm>
        <a:graphic>
          <a:graphicData uri="http://schemas.openxmlformats.org/drawingml/2006/table">
            <a:tbl>
              <a:tblPr firstRow="1" bandRow="1">
                <a:noFill/>
                <a:tableStyleId>{A65C353C-D88D-4590-9C8D-17DC0CB4FA02}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1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2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54"/>
                        <a:buFontTx/>
                        <a:buNone/>
                      </a:pPr>
                      <a:r>
                        <a:rPr lang="ko-KR" altLang="en-US" sz="1054" b="0" u="none" strike="noStrike" cap="none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성명</a:t>
                      </a:r>
                      <a:endParaRPr sz="1054" b="0">
                        <a:latin typeface="Arial" panose="020B0604020202020204" pitchFamily="34" charset="0"/>
                      </a:endParaRPr>
                    </a:p>
                  </a:txBody>
                  <a:tcPr marL="24343" marR="24343" marT="24343" marB="24343" anchor="ctr"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171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2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8"/>
                        <a:buFontTx/>
                        <a:buNone/>
                      </a:pPr>
                      <a:r>
                        <a:rPr lang="ko-KR" altLang="en-US" sz="1054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양정수</a:t>
                      </a:r>
                      <a:endParaRPr sz="1054" b="0">
                        <a:latin typeface="Arial" panose="020B0604020202020204" pitchFamily="34" charset="0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171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2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54"/>
                        <a:buFontTx/>
                        <a:buNone/>
                      </a:pPr>
                      <a:r>
                        <a:rPr lang="ko-KR" altLang="en-US" sz="1054" b="0" u="none" strike="noStrike" cap="none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소속</a:t>
                      </a:r>
                      <a:endParaRPr sz="1054" b="0">
                        <a:latin typeface="Arial" panose="020B0604020202020204" pitchFamily="34" charset="0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171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2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8"/>
                        <a:buFontTx/>
                        <a:buNone/>
                      </a:pPr>
                      <a:r>
                        <a:rPr lang="ko-KR" altLang="en-US" sz="1054" b="0" u="none" strike="noStrike" cap="none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에이치나인</a:t>
                      </a:r>
                      <a:endParaRPr sz="1054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171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2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54"/>
                        <a:buFontTx/>
                        <a:buNone/>
                      </a:pPr>
                      <a:r>
                        <a:rPr lang="ko-KR" altLang="en-US" sz="1054" b="0" u="none" strike="noStrike" cap="none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직책</a:t>
                      </a:r>
                      <a:endParaRPr sz="1054" b="0">
                        <a:latin typeface="Arial" panose="020B0604020202020204" pitchFamily="34" charset="0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171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2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8"/>
                        <a:buFontTx/>
                        <a:buNone/>
                      </a:pPr>
                      <a:r>
                        <a:rPr lang="ko-KR" altLang="en-US" sz="1054" b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실장</a:t>
                      </a:r>
                      <a:endParaRPr sz="1054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171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2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54"/>
                        <a:buFontTx/>
                        <a:buNone/>
                      </a:pPr>
                      <a:r>
                        <a:rPr lang="ko-KR" altLang="en-US" sz="1054" b="0" u="none" strike="noStrike" cap="none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연령</a:t>
                      </a:r>
                      <a:endParaRPr sz="1054" b="0">
                        <a:latin typeface="Arial" panose="020B0604020202020204" pitchFamily="34" charset="0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171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2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8"/>
                        <a:buFontTx/>
                        <a:buNone/>
                      </a:pPr>
                      <a:r>
                        <a:rPr lang="en-US" altLang="ko-KR" sz="1054" b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56</a:t>
                      </a:r>
                      <a:endParaRPr sz="1054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171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797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2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54"/>
                        <a:buFontTx/>
                        <a:buNone/>
                      </a:pPr>
                      <a:r>
                        <a:rPr lang="ko-KR" altLang="en-US" sz="1054" b="0" u="none" strike="noStrike" cap="none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참여인력 등급</a:t>
                      </a:r>
                      <a:endParaRPr sz="1054" b="0">
                        <a:latin typeface="Arial" panose="020B0604020202020204" pitchFamily="34" charset="0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KR"/>
                    </a:p>
                  </a:txBody>
                  <a:tcPr marL="87634" marR="87634" marT="43817" marB="43817"/>
                </a:tc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2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8"/>
                        <a:buFontTx/>
                        <a:buNone/>
                      </a:pPr>
                      <a:r>
                        <a:rPr lang="ko-KR" altLang="en-US" sz="1054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특급</a:t>
                      </a:r>
                      <a:endParaRPr sz="1054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KR"/>
                    </a:p>
                  </a:txBody>
                  <a:tcPr marL="87634" marR="87634" marT="43817" marB="43817"/>
                </a:tc>
                <a:tc hMerge="1">
                  <a:txBody>
                    <a:bodyPr/>
                    <a:lstStyle/>
                    <a:p>
                      <a:endParaRPr lang="en-KR"/>
                    </a:p>
                  </a:txBody>
                  <a:tcPr marL="87634" marR="87634" marT="43817" marB="43817"/>
                </a:tc>
                <a:tc hMerge="1">
                  <a:txBody>
                    <a:bodyPr/>
                    <a:lstStyle/>
                    <a:p>
                      <a:endParaRPr lang="en-KR"/>
                    </a:p>
                  </a:txBody>
                  <a:tcPr marL="87634" marR="87634" marT="43817" marB="43817"/>
                </a:tc>
                <a:tc hMerge="1">
                  <a:txBody>
                    <a:bodyPr/>
                    <a:lstStyle/>
                    <a:p>
                      <a:endParaRPr lang="en-KR"/>
                    </a:p>
                  </a:txBody>
                  <a:tcPr marL="87634" marR="87634" marT="43817" marB="43817"/>
                </a:tc>
                <a:tc hMerge="1">
                  <a:txBody>
                    <a:bodyPr/>
                    <a:lstStyle/>
                    <a:p>
                      <a:endParaRPr lang="en-KR"/>
                    </a:p>
                  </a:txBody>
                  <a:tcPr marL="87634" marR="87634" marT="43817" marB="4381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797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2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54"/>
                        <a:buFontTx/>
                        <a:buNone/>
                      </a:pPr>
                      <a:r>
                        <a:rPr lang="ko-KR" altLang="en-US" sz="1054" b="0" u="none" strike="noStrike" cap="none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본 사업 참여임무</a:t>
                      </a:r>
                      <a:endParaRPr sz="1054" b="0">
                        <a:latin typeface="Arial" panose="020B0604020202020204" pitchFamily="34" charset="0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171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KR"/>
                    </a:p>
                  </a:txBody>
                  <a:tcPr marL="87634" marR="87634" marT="43817" marB="43817"/>
                </a:tc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2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8"/>
                        <a:buFontTx/>
                        <a:buNone/>
                      </a:pPr>
                      <a:r>
                        <a:rPr lang="ko-KR" altLang="en-US" sz="1054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총괄 </a:t>
                      </a:r>
                      <a:r>
                        <a:rPr lang="en-US" altLang="ko-KR" sz="1054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PM</a:t>
                      </a:r>
                      <a:endParaRPr sz="1054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171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KR"/>
                    </a:p>
                  </a:txBody>
                  <a:tcPr marL="87634" marR="87634" marT="43817" marB="43817"/>
                </a:tc>
                <a:tc hMerge="1">
                  <a:txBody>
                    <a:bodyPr/>
                    <a:lstStyle/>
                    <a:p>
                      <a:endParaRPr lang="en-KR"/>
                    </a:p>
                  </a:txBody>
                  <a:tcPr marL="87634" marR="87634" marT="43817" marB="43817"/>
                </a:tc>
                <a:tc hMerge="1">
                  <a:txBody>
                    <a:bodyPr/>
                    <a:lstStyle/>
                    <a:p>
                      <a:endParaRPr lang="en-KR"/>
                    </a:p>
                  </a:txBody>
                  <a:tcPr marL="87634" marR="87634" marT="43817" marB="43817"/>
                </a:tc>
                <a:tc hMerge="1">
                  <a:txBody>
                    <a:bodyPr/>
                    <a:lstStyle/>
                    <a:p>
                      <a:endParaRPr lang="en-KR"/>
                    </a:p>
                  </a:txBody>
                  <a:tcPr marL="87634" marR="87634" marT="43817" marB="43817"/>
                </a:tc>
                <a:tc hMerge="1">
                  <a:txBody>
                    <a:bodyPr/>
                    <a:lstStyle/>
                    <a:p>
                      <a:endParaRPr lang="en-KR"/>
                    </a:p>
                  </a:txBody>
                  <a:tcPr marL="87634" marR="87634" marT="43817" marB="4381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72" name="Google Shape;672;p9"/>
          <p:cNvGraphicFramePr/>
          <p:nvPr>
            <p:extLst>
              <p:ext uri="{D42A27DB-BD31-4B8C-83A1-F6EECF244321}">
                <p14:modId xmlns:p14="http://schemas.microsoft.com/office/powerpoint/2010/main" val="747810737"/>
              </p:ext>
            </p:extLst>
          </p:nvPr>
        </p:nvGraphicFramePr>
        <p:xfrm>
          <a:off x="635000" y="3092849"/>
          <a:ext cx="5486400" cy="6316916"/>
        </p:xfrm>
        <a:graphic>
          <a:graphicData uri="http://schemas.openxmlformats.org/drawingml/2006/table">
            <a:tbl>
              <a:tblPr firstRow="1" bandRow="1">
                <a:noFill/>
                <a:tableStyleId>{A65C353C-D88D-4590-9C8D-17DC0CB4FA02}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7769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54"/>
                        <a:buFontTx/>
                        <a:buNone/>
                      </a:pPr>
                      <a:r>
                        <a:rPr lang="ko-KR" altLang="en-US" sz="1006" b="0" u="none" strike="noStrike" cap="none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주요 경력</a:t>
                      </a:r>
                      <a:endParaRPr sz="1006" b="0">
                        <a:latin typeface="Arial" panose="020B0604020202020204" pitchFamily="34" charset="0"/>
                      </a:endParaRPr>
                    </a:p>
                  </a:txBody>
                  <a:tcPr marL="24343" marR="24343" marT="24343" marB="24343" anchor="ctr"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171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KR"/>
                    </a:p>
                  </a:txBody>
                  <a:tcPr marL="87634" marR="87634" marT="43817" marB="43817"/>
                </a:tc>
                <a:tc hMerge="1">
                  <a:txBody>
                    <a:bodyPr/>
                    <a:lstStyle/>
                    <a:p>
                      <a:endParaRPr lang="en-KR"/>
                    </a:p>
                  </a:txBody>
                  <a:tcPr marL="87634" marR="87634" marT="43817" marB="43817"/>
                </a:tc>
                <a:tc hMerge="1">
                  <a:txBody>
                    <a:bodyPr/>
                    <a:lstStyle/>
                    <a:p>
                      <a:endParaRPr lang="en-KR"/>
                    </a:p>
                  </a:txBody>
                  <a:tcPr marL="87634" marR="87634" marT="43817" marB="4381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54"/>
                        <a:buFontTx/>
                        <a:buNone/>
                      </a:pPr>
                      <a:r>
                        <a:rPr lang="ko-KR" altLang="en-US" sz="1006" b="0" u="none" strike="noStrike" cap="none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사업명</a:t>
                      </a:r>
                      <a:endParaRPr sz="1006" b="0">
                        <a:latin typeface="Arial" panose="020B0604020202020204" pitchFamily="34" charset="0"/>
                      </a:endParaRPr>
                    </a:p>
                  </a:txBody>
                  <a:tcPr marL="24343" marR="24343" marT="24343" marB="24343" anchor="ctr"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54"/>
                        <a:buFontTx/>
                        <a:buNone/>
                      </a:pPr>
                      <a:r>
                        <a:rPr lang="ko-KR" altLang="en-US" sz="1006" b="0" u="none" strike="noStrike" cap="none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참여 기간</a:t>
                      </a:r>
                    </a:p>
                    <a:p>
                      <a:pPr marL="0" marR="0" lvl="0" indent="0" algn="ctr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54"/>
                        <a:buFontTx/>
                        <a:buNone/>
                      </a:pPr>
                      <a:r>
                        <a:rPr lang="en-US" altLang="ko-KR" sz="1006" b="0" u="none" strike="noStrike" cap="none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ko-KR" altLang="en-US" sz="1006" b="0" u="none" strike="noStrike" cap="none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년월 </a:t>
                      </a:r>
                      <a:r>
                        <a:rPr lang="en-US" altLang="ko-KR" sz="1006" b="0" u="none" strike="noStrike" cap="none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~ </a:t>
                      </a:r>
                      <a:r>
                        <a:rPr lang="ko-KR" altLang="en-US" sz="1006" b="0" u="none" strike="noStrike" cap="none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년월</a:t>
                      </a:r>
                      <a:r>
                        <a:rPr lang="en-US" altLang="ko-KR" sz="1006" b="0" u="none" strike="noStrike" cap="none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1006" b="0" u="none" strike="noStrike" cap="none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54"/>
                        <a:buFontTx/>
                        <a:buNone/>
                      </a:pPr>
                      <a:r>
                        <a:rPr lang="ko-KR" altLang="en-US" sz="1006" b="0" u="none" strike="noStrike" cap="none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담당 업무</a:t>
                      </a:r>
                      <a:endParaRPr sz="1006" b="0">
                        <a:latin typeface="Arial" panose="020B0604020202020204" pitchFamily="34" charset="0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54"/>
                        <a:buFontTx/>
                        <a:buNone/>
                      </a:pPr>
                      <a:r>
                        <a:rPr lang="ko-KR" altLang="en-US" sz="1006" b="0" u="none" strike="noStrike" cap="none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발주처</a:t>
                      </a:r>
                      <a:endParaRPr sz="1006" b="0">
                        <a:latin typeface="Arial" panose="020B0604020202020204" pitchFamily="34" charset="0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79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71"/>
                        <a:buFontTx/>
                        <a:buNone/>
                      </a:pPr>
                      <a:r>
                        <a:rPr lang="en-US" altLang="ko-KR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Digital Literacy </a:t>
                      </a:r>
                      <a:r>
                        <a:rPr lang="ko-KR" altLang="en-US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기술 개발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71"/>
                        <a:buFontTx/>
                        <a:buNone/>
                      </a:pPr>
                      <a:r>
                        <a:rPr lang="en-US" altLang="ko-KR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2023.1~2026.6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71"/>
                        <a:buFontTx/>
                        <a:buNone/>
                      </a:pPr>
                      <a:r>
                        <a:rPr lang="ko-KR" altLang="en-US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연구개발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71"/>
                        <a:buFontTx/>
                        <a:buNone/>
                      </a:pPr>
                      <a:r>
                        <a:rPr lang="ko-KR" altLang="en-US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자체 프로젝트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79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71"/>
                        <a:buFontTx/>
                        <a:buNone/>
                      </a:pPr>
                      <a:r>
                        <a:rPr lang="ko-KR" altLang="en-US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언박싱타임 쇼핑몰 앱 개발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71"/>
                        <a:buFontTx/>
                        <a:buNone/>
                      </a:pPr>
                      <a:r>
                        <a:rPr lang="en-US" altLang="ko-KR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2021.4~2022.12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71"/>
                        <a:buFontTx/>
                        <a:buNone/>
                      </a:pPr>
                      <a:r>
                        <a:rPr lang="ko-KR" altLang="en-US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개발총괄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71"/>
                        <a:buFontTx/>
                        <a:buNone/>
                      </a:pPr>
                      <a:r>
                        <a:rPr lang="ko-KR" altLang="en-US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언박싱타임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79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71"/>
                        <a:buFontTx/>
                        <a:buNone/>
                      </a:pPr>
                      <a:r>
                        <a:rPr lang="ko-KR" altLang="en-US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링크샵스 쇼핑몰 운영 지원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71"/>
                        <a:buFontTx/>
                        <a:buNone/>
                      </a:pPr>
                      <a:r>
                        <a:rPr lang="en-US" altLang="ko-KR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2020.10~2021.3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71"/>
                        <a:buFontTx/>
                        <a:buNone/>
                      </a:pPr>
                      <a:r>
                        <a:rPr lang="ko-KR" altLang="en-US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개발총괄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71"/>
                        <a:buFontTx/>
                        <a:buNone/>
                      </a:pPr>
                      <a:r>
                        <a:rPr lang="ko-KR" altLang="en-US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링크샵스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79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71"/>
                        <a:buFontTx/>
                        <a:buNone/>
                      </a:pPr>
                      <a:r>
                        <a:rPr lang="ko-KR" altLang="en-US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랜덤투유 모바일 앱 기술 지원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71"/>
                        <a:buFontTx/>
                        <a:buNone/>
                      </a:pPr>
                      <a:r>
                        <a:rPr lang="en-US" altLang="ko-KR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2020.1~2022.3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71"/>
                        <a:buFontTx/>
                        <a:buNone/>
                      </a:pPr>
                      <a:r>
                        <a:rPr lang="ko-KR" altLang="en-US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개발총괄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71"/>
                        <a:buFontTx/>
                        <a:buNone/>
                      </a:pPr>
                      <a:r>
                        <a:rPr lang="ko-KR" altLang="en-US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네모난오렌지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79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71"/>
                        <a:buFontTx/>
                        <a:buNone/>
                      </a:pPr>
                      <a:r>
                        <a:rPr lang="ko-KR" altLang="en-US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위시트렌드 온라인 쇼핑몰 운영 지원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71"/>
                        <a:buFontTx/>
                        <a:buNone/>
                      </a:pPr>
                      <a:r>
                        <a:rPr lang="en-US" altLang="ko-KR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2019.1~2022.3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71"/>
                        <a:buFontTx/>
                        <a:buNone/>
                      </a:pPr>
                      <a:r>
                        <a:rPr lang="ko-KR" altLang="en-US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개발총괄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71"/>
                        <a:buFontTx/>
                        <a:buNone/>
                      </a:pPr>
                      <a:r>
                        <a:rPr lang="ko-KR" altLang="en-US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위시컴퍼니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336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71"/>
                        <a:buFontTx/>
                        <a:buNone/>
                      </a:pPr>
                      <a:r>
                        <a:rPr lang="en-US" altLang="ko-KR" sz="1006" b="0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Flask </a:t>
                      </a:r>
                      <a:r>
                        <a:rPr lang="ko-KR" altLang="en-US" sz="1006" b="0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보안모듈 및 커널 취약점 방지기법 분석을 통한 우회검증 기술 개발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71"/>
                        <a:buFontTx/>
                        <a:buNone/>
                      </a:pPr>
                      <a:r>
                        <a:rPr lang="en-US" altLang="ko-KR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2017.9~2017.11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71"/>
                        <a:buFontTx/>
                        <a:buNone/>
                      </a:pPr>
                      <a:r>
                        <a:rPr lang="ko-KR" altLang="en-US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개발총괄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71"/>
                        <a:buFontTx/>
                        <a:buNone/>
                      </a:pPr>
                      <a:r>
                        <a:rPr lang="en-US" altLang="ko-KR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ETRI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079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71"/>
                        <a:buFontTx/>
                        <a:buNone/>
                      </a:pPr>
                      <a:r>
                        <a:rPr lang="ko-KR" altLang="en-US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칸드로이드 코딩학원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71"/>
                        <a:buFontTx/>
                        <a:buNone/>
                      </a:pPr>
                      <a:r>
                        <a:rPr lang="en-US" altLang="ko-KR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2017.1 ~2019.12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71"/>
                        <a:buFontTx/>
                        <a:buNone/>
                      </a:pPr>
                      <a:r>
                        <a:rPr lang="ko-KR" altLang="en-US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학원운영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71"/>
                        <a:buFontTx/>
                        <a:buNone/>
                      </a:pPr>
                      <a:r>
                        <a:rPr lang="ko-KR" altLang="en-US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칸드로이드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079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71"/>
                        <a:buFontTx/>
                        <a:buNone/>
                      </a:pPr>
                      <a:r>
                        <a:rPr lang="ko-KR" altLang="en-US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개인별 손글씨 서체 개발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71"/>
                        <a:buFontTx/>
                        <a:buNone/>
                      </a:pPr>
                      <a:r>
                        <a:rPr lang="en-US" altLang="ko-KR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2015.10 ~2017.1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71"/>
                        <a:buFontTx/>
                        <a:buNone/>
                      </a:pPr>
                      <a:r>
                        <a:rPr lang="ko-KR" altLang="en-US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연구개발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71"/>
                        <a:buFontTx/>
                        <a:buNone/>
                      </a:pPr>
                      <a:r>
                        <a:rPr lang="ko-KR" altLang="en-US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자체 프로젝트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079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71"/>
                        <a:buFontTx/>
                        <a:buNone/>
                      </a:pPr>
                      <a:r>
                        <a:rPr lang="ko-KR" altLang="en-US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이탈리아 해킹팀 </a:t>
                      </a:r>
                      <a:r>
                        <a:rPr lang="en-US" altLang="ko-KR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RCS </a:t>
                      </a:r>
                      <a:r>
                        <a:rPr lang="ko-KR" altLang="en-US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기술 컨설팅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71"/>
                        <a:buFontTx/>
                        <a:buNone/>
                      </a:pPr>
                      <a:r>
                        <a:rPr lang="en-US" altLang="ko-KR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2015.8 ~2015.10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71"/>
                        <a:buFontTx/>
                        <a:buNone/>
                      </a:pPr>
                      <a:r>
                        <a:rPr lang="ko-KR" altLang="en-US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컨설팅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71"/>
                        <a:buFontTx/>
                        <a:buNone/>
                      </a:pPr>
                      <a:r>
                        <a:rPr lang="ko-KR" altLang="en-US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국방과학연구소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079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71"/>
                        <a:buFontTx/>
                        <a:buNone/>
                      </a:pPr>
                      <a:r>
                        <a:rPr lang="ko-KR" altLang="en-US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네이버 라인 및 라인플레이 성능 개선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71"/>
                        <a:buFontTx/>
                        <a:buNone/>
                      </a:pPr>
                      <a:r>
                        <a:rPr lang="en-US" altLang="ko-KR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2013.1.10~12.31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71"/>
                        <a:buFontTx/>
                        <a:buNone/>
                      </a:pPr>
                      <a:r>
                        <a:rPr lang="ko-KR" altLang="en-US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컨설팅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71"/>
                        <a:buFontTx/>
                        <a:buNone/>
                      </a:pPr>
                      <a:r>
                        <a:rPr lang="ko-KR" altLang="en-US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네이버 라인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079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8"/>
                        <a:buFontTx/>
                        <a:buNone/>
                      </a:pPr>
                      <a:r>
                        <a:rPr lang="ko-KR" altLang="en-US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안드로이드 기술 커뮤니티 운영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8"/>
                        <a:buFontTx/>
                        <a:buNone/>
                      </a:pPr>
                      <a:r>
                        <a:rPr lang="en-US" altLang="ko-KR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2007.12~2015.2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8"/>
                        <a:buFontTx/>
                        <a:buNone/>
                      </a:pPr>
                      <a:r>
                        <a:rPr lang="ko-KR" altLang="en-US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서비스 운영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8"/>
                        <a:buFontTx/>
                        <a:buNone/>
                      </a:pPr>
                      <a:r>
                        <a:rPr lang="ko-KR" altLang="en-US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칸드로이드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079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71"/>
                        <a:buFontTx/>
                        <a:buNone/>
                      </a:pPr>
                      <a:r>
                        <a:rPr lang="ko-KR" altLang="en-US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모바일 웹 브라우저 개발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71"/>
                        <a:buFontTx/>
                        <a:buNone/>
                      </a:pPr>
                      <a:r>
                        <a:rPr lang="en-US" altLang="ko-KR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2003.7~2007.11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71"/>
                        <a:buFontTx/>
                        <a:buNone/>
                      </a:pPr>
                      <a:r>
                        <a:rPr lang="ko-KR" altLang="en-US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연구개발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71"/>
                        <a:buFontTx/>
                        <a:buNone/>
                      </a:pPr>
                      <a:r>
                        <a:rPr lang="ko-KR" altLang="en-US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자체 프로젝트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4079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8"/>
                        <a:buFontTx/>
                        <a:buNone/>
                      </a:pPr>
                      <a:r>
                        <a:rPr lang="ko-KR" altLang="en-US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기업용 </a:t>
                      </a:r>
                      <a:r>
                        <a:rPr lang="en-US" altLang="ko-KR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B2B </a:t>
                      </a:r>
                      <a:r>
                        <a:rPr lang="ko-KR" altLang="en-US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솔루션 개발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8"/>
                        <a:buFontTx/>
                        <a:buNone/>
                      </a:pPr>
                      <a:r>
                        <a:rPr lang="en-US" altLang="ko-KR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2000.1~2003.6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8"/>
                        <a:buFontTx/>
                        <a:buNone/>
                      </a:pPr>
                      <a:r>
                        <a:rPr lang="ko-KR" altLang="en-US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개발총괄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8"/>
                        <a:buFontTx/>
                        <a:buNone/>
                      </a:pPr>
                      <a:r>
                        <a:rPr lang="ko-KR" altLang="en-US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이칼로스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4079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8"/>
                        <a:buFontTx/>
                        <a:buNone/>
                      </a:pPr>
                      <a:r>
                        <a:rPr lang="ko-KR" altLang="en-US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전자상거래 </a:t>
                      </a:r>
                      <a:r>
                        <a:rPr lang="en-US" altLang="ko-KR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s/w </a:t>
                      </a:r>
                      <a:r>
                        <a:rPr lang="ko-KR" altLang="en-US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개발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8"/>
                        <a:buFontTx/>
                        <a:buNone/>
                      </a:pPr>
                      <a:r>
                        <a:rPr lang="en-US" altLang="ko-KR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1999.1~1999.12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8"/>
                        <a:buFontTx/>
                        <a:buNone/>
                      </a:pPr>
                      <a:r>
                        <a:rPr lang="ko-KR" altLang="en-US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개발총괄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8"/>
                        <a:buFontTx/>
                        <a:buNone/>
                      </a:pPr>
                      <a:r>
                        <a:rPr lang="ko-KR" altLang="en-US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트론에이지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4079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71"/>
                        <a:buFontTx/>
                        <a:buNone/>
                      </a:pPr>
                      <a:r>
                        <a:rPr lang="ko-KR" altLang="en-US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전자상거래 </a:t>
                      </a:r>
                      <a:r>
                        <a:rPr lang="en-US" altLang="ko-KR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s/w </a:t>
                      </a:r>
                      <a:r>
                        <a:rPr lang="ko-KR" altLang="en-US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기술 지원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71"/>
                        <a:buFontTx/>
                        <a:buNone/>
                      </a:pPr>
                      <a:r>
                        <a:rPr lang="en-US" altLang="ko-KR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1998.1~1998.12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71"/>
                        <a:buFontTx/>
                        <a:buNone/>
                      </a:pPr>
                      <a:r>
                        <a:rPr lang="ko-KR" altLang="en-US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기술지원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71"/>
                        <a:buFontTx/>
                        <a:buNone/>
                      </a:pPr>
                      <a:r>
                        <a:rPr lang="en-US" altLang="ko-KR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Intershop Korea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4079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71"/>
                        <a:buFontTx/>
                        <a:buNone/>
                      </a:pPr>
                      <a:r>
                        <a:rPr lang="ko-KR" altLang="en-US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심마니 검색 로봇 개발 담당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71"/>
                        <a:buFontTx/>
                        <a:buNone/>
                      </a:pPr>
                      <a:r>
                        <a:rPr lang="en-US" altLang="ko-KR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1997.1~1997.12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71"/>
                        <a:buFontTx/>
                        <a:buNone/>
                      </a:pPr>
                      <a:r>
                        <a:rPr lang="ko-KR" altLang="en-US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개발책임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1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71"/>
                        <a:buFontTx/>
                        <a:buNone/>
                      </a:pPr>
                      <a:r>
                        <a:rPr lang="ko-KR" altLang="en-US" sz="1006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한글과컴퓨터</a:t>
                      </a:r>
                      <a:endParaRPr sz="1006" b="0" u="none" strike="noStrike" cap="none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4343" marR="24343" marT="24343" marB="24343" anchor="ctr">
                    <a:lnL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128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128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5" name="PMR-001">
            <a:extLst>
              <a:ext uri="{FF2B5EF4-FFF2-40B4-BE49-F238E27FC236}">
                <a16:creationId xmlns:a16="http://schemas.microsoft.com/office/drawing/2014/main" id="{9CE0F351-5FFD-4C4E-10C5-5290EBF7DA00}"/>
              </a:ext>
            </a:extLst>
          </p:cNvPr>
          <p:cNvSpPr txBox="1"/>
          <p:nvPr/>
        </p:nvSpPr>
        <p:spPr>
          <a:xfrm>
            <a:off x="4393071" y="1425377"/>
            <a:ext cx="1728329" cy="294965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 algn="r">
              <a:lnSpc>
                <a:spcPts val="1150"/>
              </a:lnSpc>
            </a:pPr>
            <a:r>
              <a:rPr lang="en-US" sz="863">
                <a:solidFill>
                  <a:srgbClr val="646464"/>
                </a:solidFill>
                <a:latin typeface="Arial" panose="020B0604020202020204" pitchFamily="34" charset="0"/>
              </a:rPr>
              <a:t>PMR-001</a:t>
            </a:r>
            <a:endParaRPr lang="en-KR" sz="863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  <p:sp>
        <p:nvSpPr>
          <p:cNvPr id="4" name="4.2 사업관리자(PM) 이력">
            <a:extLst>
              <a:ext uri="{FF2B5EF4-FFF2-40B4-BE49-F238E27FC236}">
                <a16:creationId xmlns:a16="http://schemas.microsoft.com/office/drawing/2014/main" id="{2EDF3FD2-53A1-4715-D0C5-227BC93624F3}"/>
              </a:ext>
            </a:extLst>
          </p:cNvPr>
          <p:cNvSpPr txBox="1"/>
          <p:nvPr/>
        </p:nvSpPr>
        <p:spPr>
          <a:xfrm>
            <a:off x="635000" y="990600"/>
            <a:ext cx="54864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2200"/>
              </a:lnSpc>
            </a:pPr>
            <a:r>
              <a:rPr lang="en-US" altLang="ko-KR" sz="1600" b="1">
                <a:latin typeface="Arial" panose="020B0604020202020204" pitchFamily="34" charset="0"/>
              </a:rPr>
              <a:t>4.4 사업관리자(PM) 이력</a:t>
            </a:r>
            <a:endParaRPr lang="en-KR" sz="1600" b="1">
              <a:latin typeface="Arial" panose="020B0604020202020204" pitchFamily="34" charset="0"/>
            </a:endParaRPr>
          </a:p>
        </p:txBody>
      </p:sp>
      <p:sp>
        <p:nvSpPr>
          <p:cNvPr id="3" name="1. 일반 현황">
            <a:extLst>
              <a:ext uri="{FF2B5EF4-FFF2-40B4-BE49-F238E27FC236}">
                <a16:creationId xmlns:a16="http://schemas.microsoft.com/office/drawing/2014/main" id="{E94B55A9-92A2-54A2-E996-ED6859659A3F}"/>
              </a:ext>
            </a:extLst>
          </p:cNvPr>
          <p:cNvSpPr txBox="1"/>
          <p:nvPr/>
        </p:nvSpPr>
        <p:spPr>
          <a:xfrm>
            <a:off x="635000" y="500563"/>
            <a:ext cx="2228339" cy="307777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lang="en-US" altLang="ko-KR" sz="1200">
                <a:latin typeface="Arial" panose="020B0604020202020204" pitchFamily="34" charset="0"/>
              </a:rPr>
              <a:t>1. </a:t>
            </a:r>
            <a:r>
              <a:rPr lang="ko-KR" altLang="en-US" sz="1200">
                <a:latin typeface="Arial" panose="020B0604020202020204" pitchFamily="34" charset="0"/>
              </a:rPr>
              <a:t>일반 현황</a:t>
            </a:r>
            <a:endParaRPr lang="en-KR" sz="1200">
              <a:latin typeface="Arial" panose="020B0604020202020204" pitchFamily="34" charset="0"/>
            </a:endParaRPr>
          </a:p>
        </p:txBody>
      </p:sp>
      <p:sp>
        <p:nvSpPr>
          <p:cNvPr id="673" name="BookFolioEven">
            <a:extLst>
              <a:ext uri="{FF2B5EF4-FFF2-40B4-BE49-F238E27FC236}">
                <a16:creationId xmlns:a16="http://schemas.microsoft.com/office/drawing/2014/main" id="{BE6C01A2-092E-422D-9CE1-6EC6420F6A48}"/>
              </a:ext>
            </a:extLst>
          </p:cNvPr>
          <p:cNvSpPr>
            <a:spLocks noGrp="1"/>
          </p:cNvSpPr>
          <p:nvPr/>
        </p:nvSpPr>
        <p:spPr>
          <a:xfrm>
            <a:off x="635000" y="9575800"/>
            <a:ext cx="508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fb1dc67910_2_0"/>
          <p:cNvSpPr/>
          <p:nvPr/>
        </p:nvSpPr>
        <p:spPr>
          <a:xfrm>
            <a:off x="1473200" y="6417542"/>
            <a:ext cx="1498600" cy="1524000"/>
          </a:xfrm>
          <a:prstGeom prst="rect">
            <a:avLst/>
          </a:prstGeom>
          <a:solidFill>
            <a:srgbClr val="1F4E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highlight>
                <a:srgbClr val="0070C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g3fb1dc67910_2_0"/>
          <p:cNvSpPr txBox="1"/>
          <p:nvPr/>
        </p:nvSpPr>
        <p:spPr>
          <a:xfrm>
            <a:off x="1473200" y="6112742"/>
            <a:ext cx="14986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lnSpc>
                <a:spcPts val="1800"/>
              </a:lnSpc>
            </a:pPr>
            <a:r>
              <a:rPr lang="en-US" altLang="ko-KR" sz="1200" b="1">
                <a:solidFill>
                  <a:srgbClr val="1F4E96"/>
                </a:solidFill>
                <a:latin typeface="Arial" panose="020B0604020202020204" pitchFamily="34" charset="0"/>
              </a:rPr>
              <a:t>80%</a:t>
            </a:r>
            <a:endParaRPr sz="1200" b="1">
              <a:latin typeface="Arial" panose="020B0604020202020204" pitchFamily="34" charset="0"/>
            </a:endParaRPr>
          </a:p>
        </p:txBody>
      </p:sp>
      <p:sp>
        <p:nvSpPr>
          <p:cNvPr id="688" name="Google Shape;688;g3fb1dc67910_2_0"/>
          <p:cNvSpPr txBox="1"/>
          <p:nvPr/>
        </p:nvSpPr>
        <p:spPr>
          <a:xfrm>
            <a:off x="1473200" y="7985506"/>
            <a:ext cx="14986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lnSpc>
                <a:spcPts val="1800"/>
              </a:lnSpc>
            </a:pPr>
            <a:r>
              <a:rPr lang="ko-KR" altLang="en-US" sz="1200">
                <a:solidFill>
                  <a:srgbClr val="404040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에이치나인</a:t>
            </a:r>
            <a:endParaRPr sz="1200">
              <a:latin typeface="Arial" panose="020B0604020202020204" pitchFamily="34" charset="0"/>
            </a:endParaRPr>
          </a:p>
        </p:txBody>
      </p:sp>
      <p:sp>
        <p:nvSpPr>
          <p:cNvPr id="689" name="Google Shape;689;g3fb1dc67910_2_0"/>
          <p:cNvSpPr/>
          <p:nvPr/>
        </p:nvSpPr>
        <p:spPr>
          <a:xfrm>
            <a:off x="4140200" y="7560542"/>
            <a:ext cx="1498600" cy="381000"/>
          </a:xfrm>
          <a:prstGeom prst="rect">
            <a:avLst/>
          </a:prstGeom>
          <a:solidFill>
            <a:srgbClr val="1F4E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g3fb1dc67910_2_0"/>
          <p:cNvSpPr txBox="1"/>
          <p:nvPr/>
        </p:nvSpPr>
        <p:spPr>
          <a:xfrm>
            <a:off x="4140200" y="7255742"/>
            <a:ext cx="14986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lnSpc>
                <a:spcPts val="1800"/>
              </a:lnSpc>
            </a:pPr>
            <a:r>
              <a:rPr lang="en-US" altLang="ko-KR" sz="1200" b="1">
                <a:solidFill>
                  <a:srgbClr val="1F4E96"/>
                </a:solidFill>
                <a:latin typeface="Arial" panose="020B0604020202020204" pitchFamily="34" charset="0"/>
              </a:rPr>
              <a:t>20%</a:t>
            </a:r>
            <a:endParaRPr sz="1200" b="1">
              <a:latin typeface="Arial" panose="020B0604020202020204" pitchFamily="34" charset="0"/>
            </a:endParaRPr>
          </a:p>
        </p:txBody>
      </p:sp>
      <p:sp>
        <p:nvSpPr>
          <p:cNvPr id="691" name="Google Shape;691;g3fb1dc67910_2_0"/>
          <p:cNvSpPr txBox="1"/>
          <p:nvPr/>
        </p:nvSpPr>
        <p:spPr>
          <a:xfrm>
            <a:off x="4140200" y="7985506"/>
            <a:ext cx="14986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lnSpc>
                <a:spcPts val="1800"/>
              </a:lnSpc>
            </a:pPr>
            <a:r>
              <a:rPr lang="ko-KR" altLang="en-US" sz="1200">
                <a:solidFill>
                  <a:srgbClr val="404040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에즈넷</a:t>
            </a:r>
            <a:endParaRPr sz="1200">
              <a:latin typeface="Arial" panose="020B0604020202020204" pitchFamily="34" charset="0"/>
            </a:endParaRPr>
          </a:p>
        </p:txBody>
      </p:sp>
      <p:graphicFrame>
        <p:nvGraphicFramePr>
          <p:cNvPr id="699" name="Google Shape;699;g3fb1dc67910_2_0"/>
          <p:cNvGraphicFramePr/>
          <p:nvPr/>
        </p:nvGraphicFramePr>
        <p:xfrm>
          <a:off x="736600" y="2667556"/>
          <a:ext cx="5486400" cy="1883579"/>
        </p:xfrm>
        <a:graphic>
          <a:graphicData uri="http://schemas.openxmlformats.org/drawingml/2006/table">
            <a:tbl>
              <a:tblPr firstRow="1" bandRow="1">
                <a:noFill/>
                <a:tableStyleId>{A65C353C-D88D-4590-9C8D-17DC0CB4FA02}</a:tableStyleId>
              </a:tblPr>
              <a:tblGrid>
                <a:gridCol w="119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670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Tx/>
                        <a:buNone/>
                      </a:pPr>
                      <a:r>
                        <a:rPr lang="ko-KR" altLang="en-US" sz="1200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회사명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38100" marR="38100" marT="38100" marB="38100" anchor="ctr"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Tx/>
                        <a:buNone/>
                      </a:pPr>
                      <a:r>
                        <a:rPr lang="ko-KR" altLang="en-US" sz="1200" b="0" dirty="0">
                          <a:highlight>
                            <a:srgbClr val="0070C0"/>
                          </a:highlight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구분</a:t>
                      </a:r>
                      <a:r>
                        <a:rPr lang="en-US" altLang="ko-KR" sz="1200" b="0" dirty="0">
                          <a:highlight>
                            <a:srgbClr val="0070C0"/>
                          </a:highlight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·</a:t>
                      </a:r>
                      <a:r>
                        <a:rPr lang="ko-KR" altLang="en-US" sz="1200" b="0" dirty="0">
                          <a:highlight>
                            <a:srgbClr val="0070C0"/>
                          </a:highlight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주요 역할</a:t>
                      </a:r>
                      <a:endParaRPr sz="1200" b="0" dirty="0">
                        <a:latin typeface="Arial" panose="020B0604020202020204" pitchFamily="34" charset="0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Tx/>
                        <a:buNone/>
                      </a:pPr>
                      <a:r>
                        <a:rPr lang="ko-KR" altLang="en-US" sz="1200" b="0" u="none" strike="noStrike" cap="none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지분율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343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Tx/>
                        <a:buNone/>
                      </a:pPr>
                      <a:r>
                        <a:rPr lang="ko-KR" altLang="en-US" sz="1200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에이치나인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Tx/>
                        <a:buNone/>
                      </a:pPr>
                      <a:r>
                        <a:rPr lang="ko-KR" altLang="ko-KR" sz="1200" b="1" dirty="0" err="1"/>
                        <a:t>주관사</a:t>
                      </a:r>
                      <a:r>
                        <a:rPr lang="ko-KR" altLang="ko-KR" sz="1200" b="1" dirty="0"/>
                        <a:t> / 사업관리 및 서비스 통합 구축 총괄</a:t>
                      </a:r>
                      <a:br>
                        <a:rPr lang="ko-KR" altLang="ko-KR" sz="1200" dirty="0"/>
                      </a:br>
                      <a:r>
                        <a:rPr lang="ko-KR" altLang="ko-KR" sz="1200" dirty="0" err="1"/>
                        <a:t>기획·설계</a:t>
                      </a:r>
                      <a:r>
                        <a:rPr lang="ko-KR" altLang="ko-KR" sz="1200" dirty="0"/>
                        <a:t>, AI </a:t>
                      </a:r>
                      <a:r>
                        <a:rPr lang="ko-KR" altLang="ko-KR" sz="1200" dirty="0" err="1"/>
                        <a:t>Agent</a:t>
                      </a:r>
                      <a:r>
                        <a:rPr lang="ko-KR" altLang="ko-KR" sz="1200" dirty="0"/>
                        <a:t> 및 서비스 개발, 데이터 구축, 정보보안, 품질검증, 시범운영 총괄</a:t>
                      </a:r>
                      <a:endParaRPr sz="1200" b="0" dirty="0">
                        <a:latin typeface="Arial" panose="020B0604020202020204" pitchFamily="34" charset="0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Tx/>
                        <a:buNone/>
                      </a:pPr>
                      <a:r>
                        <a:rPr lang="en-US" altLang="ko-KR" sz="1200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80%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3437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Tx/>
                        <a:buNone/>
                      </a:pPr>
                      <a:r>
                        <a:rPr lang="ko-KR" altLang="en-US" sz="1200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에즈넷</a:t>
                      </a:r>
                      <a:endParaRPr sz="1200" b="0">
                        <a:latin typeface="Arial" panose="020B0604020202020204" pitchFamily="34" charset="0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Tx/>
                        <a:buNone/>
                      </a:pPr>
                      <a:r>
                        <a:rPr lang="ko-KR" altLang="ko-KR" sz="1200" b="1" dirty="0"/>
                        <a:t>공동수급사 / </a:t>
                      </a:r>
                      <a:r>
                        <a:rPr lang="ko-KR" altLang="ko-KR" sz="1200" b="1" dirty="0" err="1"/>
                        <a:t>AI·인프라</a:t>
                      </a:r>
                      <a:r>
                        <a:rPr lang="ko-KR" altLang="ko-KR" sz="1200" b="1" dirty="0"/>
                        <a:t> 전문 분야 분담 수행</a:t>
                      </a:r>
                      <a:br>
                        <a:rPr lang="ko-KR" altLang="ko-KR" sz="1200" dirty="0"/>
                      </a:br>
                      <a:r>
                        <a:rPr lang="ko-KR" altLang="ko-KR" sz="1200" dirty="0"/>
                        <a:t>RAG·LLM 연계 기술지원 및 대구센터 </a:t>
                      </a:r>
                      <a:r>
                        <a:rPr lang="ko-KR" altLang="ko-KR" sz="1200" dirty="0" err="1"/>
                        <a:t>인프라·클라우드</a:t>
                      </a:r>
                      <a:r>
                        <a:rPr lang="ko-KR" altLang="ko-KR" sz="1200" dirty="0"/>
                        <a:t> 구축</a:t>
                      </a:r>
                      <a:endParaRPr sz="1200" b="0" dirty="0">
                        <a:latin typeface="Arial" panose="020B0604020202020204" pitchFamily="34" charset="0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Tx/>
                        <a:buNone/>
                      </a:pPr>
                      <a:r>
                        <a:rPr lang="en-US" altLang="ko-KR" sz="1200" b="0" dirty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20%</a:t>
                      </a:r>
                      <a:endParaRPr sz="1200" b="0" dirty="0">
                        <a:latin typeface="Arial" panose="020B0604020202020204" pitchFamily="34" charset="0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에이치나인 80%, 에즈넷 20%의 공동수급 체계를 구">
            <a:extLst>
              <a:ext uri="{FF2B5EF4-FFF2-40B4-BE49-F238E27FC236}">
                <a16:creationId xmlns:a16="http://schemas.microsoft.com/office/drawing/2014/main" id="{F06D6AC8-6555-4676-28ED-731A51035B7C}"/>
              </a:ext>
            </a:extLst>
          </p:cNvPr>
          <p:cNvSpPr txBox="1"/>
          <p:nvPr/>
        </p:nvSpPr>
        <p:spPr>
          <a:xfrm>
            <a:off x="736600" y="1435100"/>
            <a:ext cx="5486400" cy="52322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ts val="1800"/>
              </a:lnSpc>
            </a:pPr>
            <a:r>
              <a:rPr lang="ko-KR" altLang="ko-KR" sz="1200" dirty="0" err="1">
                <a:latin typeface="Arial" panose="020B0604020202020204" pitchFamily="34" charset="0"/>
              </a:rPr>
              <a:t>에이치나인</a:t>
            </a:r>
            <a:r>
              <a:rPr lang="ko-KR" altLang="ko-KR" sz="1200" dirty="0">
                <a:latin typeface="Arial" panose="020B0604020202020204" pitchFamily="34" charset="0"/>
              </a:rPr>
              <a:t> 80%, </a:t>
            </a:r>
            <a:r>
              <a:rPr lang="ko-KR" altLang="ko-KR" sz="1200" dirty="0" err="1">
                <a:latin typeface="Arial" panose="020B0604020202020204" pitchFamily="34" charset="0"/>
              </a:rPr>
              <a:t>에즈넷</a:t>
            </a:r>
            <a:r>
              <a:rPr lang="ko-KR" altLang="ko-KR" sz="1200" dirty="0">
                <a:latin typeface="Arial" panose="020B0604020202020204" pitchFamily="34" charset="0"/>
              </a:rPr>
              <a:t> 20%의 공동수급체계를 구성하여, 주관사인 </a:t>
            </a:r>
            <a:r>
              <a:rPr lang="ko-KR" altLang="ko-KR" sz="1200" dirty="0" err="1">
                <a:latin typeface="Arial" panose="020B0604020202020204" pitchFamily="34" charset="0"/>
              </a:rPr>
              <a:t>에이치나인이</a:t>
            </a:r>
            <a:r>
              <a:rPr lang="ko-KR" altLang="ko-KR" sz="1200" dirty="0">
                <a:latin typeface="Arial" panose="020B0604020202020204" pitchFamily="34" charset="0"/>
              </a:rPr>
              <a:t> 사업 수행과 서비스 통합 구축을 총괄하고, </a:t>
            </a:r>
            <a:r>
              <a:rPr lang="ko-KR" altLang="ko-KR" sz="1200" dirty="0" err="1">
                <a:latin typeface="Arial" panose="020B0604020202020204" pitchFamily="34" charset="0"/>
              </a:rPr>
              <a:t>에즈넷은</a:t>
            </a:r>
            <a:r>
              <a:rPr lang="ko-KR" altLang="ko-KR" sz="1200" dirty="0">
                <a:latin typeface="Arial" panose="020B0604020202020204" pitchFamily="34" charset="0"/>
              </a:rPr>
              <a:t> RAG·LLM 연계 기술지원 및 </a:t>
            </a:r>
            <a:r>
              <a:rPr lang="ko-KR" altLang="ko-KR" sz="1200" dirty="0" err="1">
                <a:latin typeface="Arial" panose="020B0604020202020204" pitchFamily="34" charset="0"/>
              </a:rPr>
              <a:t>인프라·클라우드</a:t>
            </a:r>
            <a:r>
              <a:rPr lang="ko-KR" altLang="ko-KR" sz="1200" dirty="0">
                <a:latin typeface="Arial" panose="020B0604020202020204" pitchFamily="34" charset="0"/>
              </a:rPr>
              <a:t> 구축 분야를 분담 수행합니다.</a:t>
            </a:r>
            <a:r>
              <a:rPr lang="ko-KR" altLang="en-US" sz="1200" dirty="0">
                <a:latin typeface="Arial" panose="020B0604020202020204" pitchFamily="34" charset="0"/>
              </a:rPr>
              <a:t>.</a:t>
            </a:r>
            <a:endParaRPr lang="en-KR" sz="1200">
              <a:latin typeface="Arial" panose="020B0604020202020204" pitchFamily="34" charset="0"/>
            </a:endParaRPr>
          </a:p>
        </p:txBody>
      </p:sp>
      <p:sp>
        <p:nvSpPr>
          <p:cNvPr id="8" name="공동수급 구성 및 주요 역할">
            <a:extLst>
              <a:ext uri="{FF2B5EF4-FFF2-40B4-BE49-F238E27FC236}">
                <a16:creationId xmlns:a16="http://schemas.microsoft.com/office/drawing/2014/main" id="{1973BC07-885A-B597-93E4-7FF719425ADB}"/>
              </a:ext>
            </a:extLst>
          </p:cNvPr>
          <p:cNvSpPr txBox="1"/>
          <p:nvPr/>
        </p:nvSpPr>
        <p:spPr>
          <a:xfrm>
            <a:off x="736600" y="2286556"/>
            <a:ext cx="5486400" cy="3048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ts val="1900"/>
              </a:lnSpc>
            </a:pPr>
            <a:r>
              <a:rPr lang="ko-KR" altLang="en-US" sz="1300" b="1">
                <a:solidFill>
                  <a:srgbClr val="1F4E79"/>
                </a:solidFill>
                <a:latin typeface="Arial" panose="020B0604020202020204" pitchFamily="34" charset="0"/>
              </a:rPr>
              <a:t>공동수급 구성 및 주요 역할</a:t>
            </a:r>
            <a:endParaRPr lang="en-KR" sz="1300" b="1">
              <a:solidFill>
                <a:srgbClr val="1F4E79"/>
              </a:solidFill>
              <a:latin typeface="Arial" panose="020B0604020202020204" pitchFamily="34" charset="0"/>
            </a:endParaRPr>
          </a:p>
        </p:txBody>
      </p:sp>
      <p:sp>
        <p:nvSpPr>
          <p:cNvPr id="9" name="지분 배분 현황">
            <a:extLst>
              <a:ext uri="{FF2B5EF4-FFF2-40B4-BE49-F238E27FC236}">
                <a16:creationId xmlns:a16="http://schemas.microsoft.com/office/drawing/2014/main" id="{0BDF350B-100A-6652-6299-B8DD41C7FAB9}"/>
              </a:ext>
            </a:extLst>
          </p:cNvPr>
          <p:cNvSpPr txBox="1"/>
          <p:nvPr/>
        </p:nvSpPr>
        <p:spPr>
          <a:xfrm>
            <a:off x="736600" y="4920474"/>
            <a:ext cx="5486400" cy="3048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ts val="1900"/>
              </a:lnSpc>
            </a:pPr>
            <a:r>
              <a:rPr lang="ko-KR" altLang="en-US" sz="1300" b="1" dirty="0">
                <a:solidFill>
                  <a:srgbClr val="1F4E79"/>
                </a:solidFill>
                <a:latin typeface="Arial" panose="020B0604020202020204" pitchFamily="34" charset="0"/>
              </a:rPr>
              <a:t>지분 배분 현황</a:t>
            </a:r>
            <a:endParaRPr lang="en-KR" sz="1300" b="1">
              <a:solidFill>
                <a:srgbClr val="1F4E79"/>
              </a:solidFill>
              <a:latin typeface="Arial" panose="020B0604020202020204" pitchFamily="34" charset="0"/>
            </a:endParaRPr>
          </a:p>
        </p:txBody>
      </p:sp>
      <p:sp>
        <p:nvSpPr>
          <p:cNvPr id="10" name="주관사 에이치나인은 80%, 참여사 에즈넷은 20%의 ">
            <a:extLst>
              <a:ext uri="{FF2B5EF4-FFF2-40B4-BE49-F238E27FC236}">
                <a16:creationId xmlns:a16="http://schemas.microsoft.com/office/drawing/2014/main" id="{A8848107-AA7B-FC63-4098-8B6CED2AC3C6}"/>
              </a:ext>
            </a:extLst>
          </p:cNvPr>
          <p:cNvSpPr txBox="1"/>
          <p:nvPr/>
        </p:nvSpPr>
        <p:spPr>
          <a:xfrm>
            <a:off x="736600" y="5261282"/>
            <a:ext cx="5486400" cy="52322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ts val="1800"/>
              </a:lnSpc>
            </a:pPr>
            <a:r>
              <a:rPr lang="ko-KR" altLang="en-US" sz="1200" dirty="0" err="1">
                <a:latin typeface="Arial" panose="020B0604020202020204" pitchFamily="34" charset="0"/>
              </a:rPr>
              <a:t>주관사</a:t>
            </a:r>
            <a:r>
              <a:rPr lang="ko-KR" altLang="en-US" sz="1200" dirty="0">
                <a:latin typeface="Arial" panose="020B0604020202020204" pitchFamily="34" charset="0"/>
              </a:rPr>
              <a:t> </a:t>
            </a:r>
            <a:r>
              <a:rPr lang="ko-KR" altLang="en-US" sz="1200" dirty="0" err="1">
                <a:latin typeface="Arial" panose="020B0604020202020204" pitchFamily="34" charset="0"/>
              </a:rPr>
              <a:t>에이치나인은</a:t>
            </a:r>
            <a:r>
              <a:rPr lang="ko-KR" altLang="en-US" sz="1200" dirty="0">
                <a:latin typeface="Arial" panose="020B0604020202020204" pitchFamily="34" charset="0"/>
              </a:rPr>
              <a:t> </a:t>
            </a:r>
            <a:r>
              <a:rPr lang="en-US" altLang="ko-KR" sz="1200" dirty="0">
                <a:latin typeface="Arial" panose="020B0604020202020204" pitchFamily="34" charset="0"/>
              </a:rPr>
              <a:t>80%, </a:t>
            </a:r>
            <a:r>
              <a:rPr lang="ko-KR" altLang="en-US" sz="1200" dirty="0" err="1">
                <a:latin typeface="Arial" panose="020B0604020202020204" pitchFamily="34" charset="0"/>
              </a:rPr>
              <a:t>참여사</a:t>
            </a:r>
            <a:r>
              <a:rPr lang="ko-KR" altLang="en-US" sz="1200" dirty="0">
                <a:latin typeface="Arial" panose="020B0604020202020204" pitchFamily="34" charset="0"/>
              </a:rPr>
              <a:t> </a:t>
            </a:r>
            <a:r>
              <a:rPr lang="ko-KR" altLang="en-US" sz="1200" dirty="0" err="1">
                <a:latin typeface="Arial" panose="020B0604020202020204" pitchFamily="34" charset="0"/>
              </a:rPr>
              <a:t>에즈넷은</a:t>
            </a:r>
            <a:r>
              <a:rPr lang="ko-KR" altLang="en-US" sz="1200" dirty="0">
                <a:latin typeface="Arial" panose="020B0604020202020204" pitchFamily="34" charset="0"/>
              </a:rPr>
              <a:t> </a:t>
            </a:r>
            <a:r>
              <a:rPr lang="en-US" altLang="ko-KR" sz="1200" dirty="0">
                <a:latin typeface="Arial" panose="020B0604020202020204" pitchFamily="34" charset="0"/>
              </a:rPr>
              <a:t>20%</a:t>
            </a:r>
            <a:r>
              <a:rPr lang="ko-KR" altLang="en-US" sz="1200" dirty="0">
                <a:latin typeface="Arial" panose="020B0604020202020204" pitchFamily="34" charset="0"/>
              </a:rPr>
              <a:t>의 지분을 보유하며</a:t>
            </a:r>
            <a:r>
              <a:rPr lang="en-US" altLang="ko-KR" sz="1200" dirty="0">
                <a:latin typeface="Arial" panose="020B0604020202020204" pitchFamily="34" charset="0"/>
              </a:rPr>
              <a:t>, </a:t>
            </a:r>
            <a:r>
              <a:rPr lang="ko-KR" altLang="en-US" sz="1200" dirty="0">
                <a:latin typeface="Arial" panose="020B0604020202020204" pitchFamily="34" charset="0"/>
              </a:rPr>
              <a:t>각 담당 업무에 대한 책임을 수행합니다</a:t>
            </a:r>
            <a:r>
              <a:rPr lang="en-US" altLang="ko-KR" sz="1200" dirty="0">
                <a:latin typeface="Arial" panose="020B0604020202020204" pitchFamily="34" charset="0"/>
              </a:rPr>
              <a:t>.</a:t>
            </a:r>
            <a:endParaRPr lang="en-KR" sz="1200">
              <a:latin typeface="Arial" panose="020B0604020202020204" pitchFamily="34" charset="0"/>
            </a:endParaRPr>
          </a:p>
        </p:txBody>
      </p:sp>
      <p:sp>
        <p:nvSpPr>
          <p:cNvPr id="11" name="공동수급 지분율 (합계 100%)">
            <a:extLst>
              <a:ext uri="{FF2B5EF4-FFF2-40B4-BE49-F238E27FC236}">
                <a16:creationId xmlns:a16="http://schemas.microsoft.com/office/drawing/2014/main" id="{6C48C8A6-E229-8D89-2A44-2A78C759D742}"/>
              </a:ext>
            </a:extLst>
          </p:cNvPr>
          <p:cNvSpPr txBox="1"/>
          <p:nvPr/>
        </p:nvSpPr>
        <p:spPr>
          <a:xfrm>
            <a:off x="736600" y="5896842"/>
            <a:ext cx="5486400" cy="307777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 algn="ctr">
              <a:lnSpc>
                <a:spcPts val="1800"/>
              </a:lnSpc>
            </a:pPr>
            <a:r>
              <a:rPr lang="ko-KR" altLang="en-US" sz="1200">
                <a:latin typeface="Arial" panose="020B0604020202020204" pitchFamily="34" charset="0"/>
              </a:rPr>
              <a:t>공동수급 지분율 </a:t>
            </a:r>
            <a:r>
              <a:rPr lang="en-US" altLang="ko-KR" sz="1200">
                <a:latin typeface="Arial" panose="020B0604020202020204" pitchFamily="34" charset="0"/>
              </a:rPr>
              <a:t>(</a:t>
            </a:r>
            <a:r>
              <a:rPr lang="ko-KR" altLang="en-US" sz="1200">
                <a:latin typeface="Arial" panose="020B0604020202020204" pitchFamily="34" charset="0"/>
              </a:rPr>
              <a:t>합계 </a:t>
            </a:r>
            <a:r>
              <a:rPr lang="en-US" altLang="ko-KR" sz="1200">
                <a:latin typeface="Arial" panose="020B0604020202020204" pitchFamily="34" charset="0"/>
              </a:rPr>
              <a:t>100%)</a:t>
            </a:r>
            <a:endParaRPr lang="en-KR" sz="1200">
              <a:latin typeface="Arial" panose="020B0604020202020204" pitchFamily="34" charset="0"/>
            </a:endParaRPr>
          </a:p>
        </p:txBody>
      </p:sp>
      <p:sp>
        <p:nvSpPr>
          <p:cNvPr id="12" name="역할과 책임의 일치">
            <a:extLst>
              <a:ext uri="{FF2B5EF4-FFF2-40B4-BE49-F238E27FC236}">
                <a16:creationId xmlns:a16="http://schemas.microsoft.com/office/drawing/2014/main" id="{FB0B277A-7CB9-0C75-F938-A96676BA8C4E}"/>
              </a:ext>
            </a:extLst>
          </p:cNvPr>
          <p:cNvSpPr txBox="1"/>
          <p:nvPr/>
        </p:nvSpPr>
        <p:spPr>
          <a:xfrm>
            <a:off x="736600" y="8506766"/>
            <a:ext cx="5486400" cy="3048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ts val="1900"/>
              </a:lnSpc>
            </a:pPr>
            <a:r>
              <a:rPr lang="ko-KR" altLang="en-US" sz="1300" b="1">
                <a:solidFill>
                  <a:srgbClr val="1F4E79"/>
                </a:solidFill>
                <a:latin typeface="Arial" panose="020B0604020202020204" pitchFamily="34" charset="0"/>
              </a:rPr>
              <a:t>역할과 책임의 일치</a:t>
            </a:r>
            <a:endParaRPr lang="en-KR" sz="1300" b="1">
              <a:solidFill>
                <a:srgbClr val="1F4E79"/>
              </a:solidFill>
              <a:latin typeface="Arial" panose="020B0604020202020204" pitchFamily="34" charset="0"/>
            </a:endParaRPr>
          </a:p>
        </p:txBody>
      </p:sp>
      <p:sp>
        <p:nvSpPr>
          <p:cNvPr id="13" name="담당 업무의 범위와 책임을 지분구조에 맞춰 구분하고, ">
            <a:extLst>
              <a:ext uri="{FF2B5EF4-FFF2-40B4-BE49-F238E27FC236}">
                <a16:creationId xmlns:a16="http://schemas.microsoft.com/office/drawing/2014/main" id="{7211983A-D5E9-3D8F-0690-A5B6C16B2109}"/>
              </a:ext>
            </a:extLst>
          </p:cNvPr>
          <p:cNvSpPr txBox="1"/>
          <p:nvPr/>
        </p:nvSpPr>
        <p:spPr>
          <a:xfrm>
            <a:off x="736600" y="8872974"/>
            <a:ext cx="5486400" cy="52322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ts val="1800"/>
              </a:lnSpc>
            </a:pPr>
            <a:r>
              <a:rPr lang="ko-KR" altLang="en-US" sz="1200">
                <a:latin typeface="Arial" panose="020B0604020202020204" pitchFamily="34" charset="0"/>
              </a:rPr>
              <a:t>담당 업무의 범위와 책임을 지분구조에 맞춰 구분하고</a:t>
            </a:r>
            <a:r>
              <a:rPr lang="en-US" altLang="ko-KR" sz="1200">
                <a:latin typeface="Arial" panose="020B0604020202020204" pitchFamily="34" charset="0"/>
              </a:rPr>
              <a:t>, </a:t>
            </a:r>
            <a:r>
              <a:rPr lang="ko-KR" altLang="en-US" sz="1200">
                <a:latin typeface="Arial" panose="020B0604020202020204" pitchFamily="34" charset="0"/>
              </a:rPr>
              <a:t>업무별 주관사와 참여사의 역할을 산출물 단위로 관리합니다</a:t>
            </a:r>
            <a:r>
              <a:rPr lang="en-US" altLang="ko-KR" sz="1200">
                <a:latin typeface="Arial" panose="020B0604020202020204" pitchFamily="34" charset="0"/>
              </a:rPr>
              <a:t>.</a:t>
            </a:r>
            <a:endParaRPr lang="en-KR" sz="1200">
              <a:latin typeface="Arial" panose="020B0604020202020204" pitchFamily="34" charset="0"/>
            </a:endParaRPr>
          </a:p>
        </p:txBody>
      </p:sp>
      <p:sp>
        <p:nvSpPr>
          <p:cNvPr id="6" name="4.3 공동수급 구성 및 지분배분">
            <a:extLst>
              <a:ext uri="{FF2B5EF4-FFF2-40B4-BE49-F238E27FC236}">
                <a16:creationId xmlns:a16="http://schemas.microsoft.com/office/drawing/2014/main" id="{4D45A1B2-CBE5-1FA0-2089-F17F5DCBD117}"/>
              </a:ext>
            </a:extLst>
          </p:cNvPr>
          <p:cNvSpPr txBox="1"/>
          <p:nvPr/>
        </p:nvSpPr>
        <p:spPr>
          <a:xfrm>
            <a:off x="736600" y="990600"/>
            <a:ext cx="54864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2200"/>
              </a:lnSpc>
            </a:pPr>
            <a:r>
              <a:rPr lang="en-US" altLang="ko-KR" sz="1600" b="1">
                <a:latin typeface="Arial" panose="020B0604020202020204" pitchFamily="34" charset="0"/>
              </a:rPr>
              <a:t>4.5 공동수급 구성 및 지분배분</a:t>
            </a:r>
            <a:endParaRPr lang="en-KR" sz="1600" b="1">
              <a:latin typeface="Arial" panose="020B0604020202020204" pitchFamily="34" charset="0"/>
            </a:endParaRPr>
          </a:p>
        </p:txBody>
      </p:sp>
      <p:sp>
        <p:nvSpPr>
          <p:cNvPr id="5" name="1. 일반 현황">
            <a:extLst>
              <a:ext uri="{FF2B5EF4-FFF2-40B4-BE49-F238E27FC236}">
                <a16:creationId xmlns:a16="http://schemas.microsoft.com/office/drawing/2014/main" id="{5D35A6A3-2CE3-4811-73C0-565C30D8AE0C}"/>
              </a:ext>
            </a:extLst>
          </p:cNvPr>
          <p:cNvSpPr txBox="1"/>
          <p:nvPr/>
        </p:nvSpPr>
        <p:spPr>
          <a:xfrm>
            <a:off x="3994661" y="500563"/>
            <a:ext cx="2228339" cy="307777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 algn="r">
              <a:lnSpc>
                <a:spcPts val="1800"/>
              </a:lnSpc>
            </a:pPr>
            <a:r>
              <a:rPr lang="en-US" altLang="ko-KR" sz="1200">
                <a:latin typeface="Arial" panose="020B0604020202020204" pitchFamily="34" charset="0"/>
              </a:rPr>
              <a:t>1. </a:t>
            </a:r>
            <a:r>
              <a:rPr lang="ko-KR" altLang="en-US" sz="1200">
                <a:latin typeface="Arial" panose="020B0604020202020204" pitchFamily="34" charset="0"/>
              </a:rPr>
              <a:t>일반 현황</a:t>
            </a:r>
            <a:endParaRPr lang="en-KR" sz="1200">
              <a:latin typeface="Arial" panose="020B0604020202020204" pitchFamily="34" charset="0"/>
            </a:endParaRPr>
          </a:p>
        </p:txBody>
      </p:sp>
      <p:sp>
        <p:nvSpPr>
          <p:cNvPr id="700" name="BookFolioOdd">
            <a:extLst>
              <a:ext uri="{FF2B5EF4-FFF2-40B4-BE49-F238E27FC236}">
                <a16:creationId xmlns:a16="http://schemas.microsoft.com/office/drawing/2014/main" id="{98F6B705-EE36-428A-A3A2-2CA4F014C2DA}"/>
              </a:ext>
            </a:extLst>
          </p:cNvPr>
          <p:cNvSpPr>
            <a:spLocks noGrp="1"/>
          </p:cNvSpPr>
          <p:nvPr/>
        </p:nvSpPr>
        <p:spPr>
          <a:xfrm>
            <a:off x="5715000" y="9575800"/>
            <a:ext cx="508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9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3" name="Google Shape;713;g3fb1dc67910_3_4"/>
          <p:cNvGraphicFramePr/>
          <p:nvPr>
            <p:extLst>
              <p:ext uri="{D42A27DB-BD31-4B8C-83A1-F6EECF244321}">
                <p14:modId xmlns:p14="http://schemas.microsoft.com/office/powerpoint/2010/main" val="772885664"/>
              </p:ext>
            </p:extLst>
          </p:nvPr>
        </p:nvGraphicFramePr>
        <p:xfrm>
          <a:off x="635000" y="2948934"/>
          <a:ext cx="5486400" cy="4410930"/>
        </p:xfrm>
        <a:graphic>
          <a:graphicData uri="http://schemas.openxmlformats.org/drawingml/2006/table">
            <a:tbl>
              <a:tblPr firstRow="1" bandRow="1">
                <a:noFill/>
                <a:tableStyleId>{A65C353C-D88D-4590-9C8D-17DC0CB4FA02}</a:tableStyleId>
              </a:tblPr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92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3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91"/>
                        <a:buFontTx/>
                        <a:buNone/>
                      </a:pPr>
                      <a:r>
                        <a:rPr lang="ko-KR" altLang="en-US" sz="1091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업무 구분</a:t>
                      </a:r>
                      <a:endParaRPr sz="1091" b="0">
                        <a:latin typeface="Arial" panose="020B0604020202020204" pitchFamily="34" charset="0"/>
                      </a:endParaRPr>
                    </a:p>
                  </a:txBody>
                  <a:tcPr marL="25183" marR="25183" marT="25183" marB="25183" anchor="ctr">
                    <a:lnR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591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ts val="13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91" b="0">
                          <a:highlight>
                            <a:srgbClr val="0070C0"/>
                          </a:highlight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세부 업무</a:t>
                      </a:r>
                      <a:endParaRPr sz="1091" b="0">
                        <a:highlight>
                          <a:srgbClr val="0070C0"/>
                        </a:highlight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183" marR="25183" marT="25183" marB="25183" anchor="ctr">
                    <a:lnL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591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ts val="13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91" b="0">
                          <a:highlight>
                            <a:srgbClr val="0070C0"/>
                          </a:highlight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에이치나인</a:t>
                      </a:r>
                      <a:endParaRPr sz="1091" b="0">
                        <a:highlight>
                          <a:srgbClr val="0070C0"/>
                        </a:highlight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183" marR="25183" marT="25183" marB="25183" anchor="ctr">
                    <a:lnL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591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ts val="13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Tx/>
                        <a:buNone/>
                      </a:pPr>
                      <a:r>
                        <a:rPr lang="ko-KR" altLang="en-US" sz="1091" b="0">
                          <a:highlight>
                            <a:srgbClr val="0070C0"/>
                          </a:highlight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에즈넷</a:t>
                      </a:r>
                      <a:endParaRPr sz="1091" b="0">
                        <a:latin typeface="Arial" panose="020B0604020202020204" pitchFamily="34" charset="0"/>
                      </a:endParaRPr>
                    </a:p>
                  </a:txBody>
                  <a:tcPr marL="25183" marR="25183" marT="25183" marB="25183" anchor="ctr">
                    <a:lnL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591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3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91"/>
                        <a:buFontTx/>
                        <a:buNone/>
                      </a:pPr>
                      <a:r>
                        <a:rPr lang="ko-KR" altLang="en-US" sz="1091" b="0"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주요 산출물</a:t>
                      </a:r>
                      <a:endParaRPr sz="1091" b="0">
                        <a:latin typeface="Arial" panose="020B0604020202020204" pitchFamily="34" charset="0"/>
                      </a:endParaRPr>
                    </a:p>
                  </a:txBody>
                  <a:tcPr marL="25183" marR="25183" marT="25183" marB="25183" anchor="ctr">
                    <a:lnL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591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064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ts val="13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91"/>
                        <a:buFontTx/>
                        <a:buNone/>
                      </a:pP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사업관리</a:t>
                      </a:r>
                      <a:endParaRPr sz="1091" b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183" marR="25183" marT="25183" marB="25183" anchor="ctr">
                    <a:lnL w="9444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ts val="13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PM </a:t>
                      </a: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총괄</a:t>
                      </a:r>
                      <a:r>
                        <a:rPr lang="en-US" altLang="ko-KR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일정</a:t>
                      </a:r>
                      <a:r>
                        <a:rPr lang="en-US" altLang="ko-KR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·</a:t>
                      </a: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품질</a:t>
                      </a:r>
                      <a:r>
                        <a:rPr lang="en-US" altLang="ko-KR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·</a:t>
                      </a: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위험관리</a:t>
                      </a:r>
                      <a:endParaRPr sz="1091" b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183" marR="25183" marT="25183" marB="25183" anchor="ctr">
                    <a:lnL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ts val="13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총괄</a:t>
                      </a:r>
                      <a:endParaRPr sz="1091" b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183" marR="25183" marT="25183" marB="25183" anchor="ctr">
                    <a:lnL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ts val="13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091" b="0">
                          <a:latin typeface="Arial" panose="020B0604020202020204" pitchFamily="34" charset="0"/>
                        </a:rPr>
                        <a:t>-</a:t>
                      </a:r>
                      <a:endParaRPr sz="1091" b="0">
                        <a:latin typeface="Arial" panose="020B0604020202020204" pitchFamily="34" charset="0"/>
                      </a:endParaRPr>
                    </a:p>
                  </a:txBody>
                  <a:tcPr marL="25183" marR="25183" marT="25183" marB="25183" anchor="ctr">
                    <a:lnL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ts val="13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사업관리계획서</a:t>
                      </a:r>
                      <a:r>
                        <a:rPr lang="en-US" altLang="ko-KR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, WBS</a:t>
                      </a:r>
                      <a:endParaRPr sz="1091" b="0">
                        <a:latin typeface="Arial" panose="020B0604020202020204" pitchFamily="34" charset="0"/>
                      </a:endParaRPr>
                    </a:p>
                  </a:txBody>
                  <a:tcPr marL="25183" marR="25183" marT="25183" marB="25183" anchor="ctr">
                    <a:lnL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064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ts val="13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91"/>
                        <a:buFontTx/>
                        <a:buNone/>
                      </a:pP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기획</a:t>
                      </a:r>
                      <a:r>
                        <a:rPr lang="en-US" altLang="ko-KR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설계</a:t>
                      </a:r>
                      <a:endParaRPr sz="1091" b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183" marR="25183" marT="25183" marB="25183" anchor="ctr">
                    <a:lnL w="9444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ts val="13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요구사항분석</a:t>
                      </a:r>
                      <a:r>
                        <a:rPr lang="en-US" altLang="ko-KR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아키텍처설계</a:t>
                      </a:r>
                      <a:endParaRPr sz="1091" b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183" marR="25183" marT="25183" marB="25183" anchor="ctr">
                    <a:lnL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ts val="13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총괄</a:t>
                      </a:r>
                      <a:endParaRPr sz="1091" b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183" marR="25183" marT="25183" marB="25183" anchor="ctr">
                    <a:lnL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ts val="13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091" b="0">
                          <a:latin typeface="Arial" panose="020B0604020202020204" pitchFamily="34" charset="0"/>
                        </a:rPr>
                        <a:t>-</a:t>
                      </a:r>
                      <a:endParaRPr sz="1091" b="0">
                        <a:latin typeface="Arial" panose="020B0604020202020204" pitchFamily="34" charset="0"/>
                      </a:endParaRPr>
                    </a:p>
                  </a:txBody>
                  <a:tcPr marL="25183" marR="25183" marT="25183" marB="25183" anchor="ctr">
                    <a:lnL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ts val="13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요구사항정의서</a:t>
                      </a:r>
                      <a:r>
                        <a:rPr lang="en-US" altLang="ko-KR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설계서</a:t>
                      </a:r>
                      <a:endParaRPr sz="1091" b="0">
                        <a:latin typeface="Arial" panose="020B0604020202020204" pitchFamily="34" charset="0"/>
                      </a:endParaRPr>
                    </a:p>
                  </a:txBody>
                  <a:tcPr marL="25183" marR="25183" marT="25183" marB="25183" anchor="ctr">
                    <a:lnL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064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ts val="13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AI </a:t>
                      </a: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모델</a:t>
                      </a:r>
                      <a:r>
                        <a:rPr lang="en-US" altLang="ko-KR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/</a:t>
                      </a:r>
                    </a:p>
                    <a:p>
                      <a:pPr marL="0" lvl="0" indent="0" algn="ctr" rtl="0">
                        <a:lnSpc>
                          <a:spcPts val="13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에이전트 개발</a:t>
                      </a:r>
                      <a:endParaRPr sz="1091" b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183" marR="25183" marT="25183" marB="25183" anchor="ctr">
                    <a:lnL w="9444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ts val="13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RAG·</a:t>
                      </a: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에이전트</a:t>
                      </a:r>
                      <a:r>
                        <a:rPr lang="en-US" altLang="ko-KR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·LLM </a:t>
                      </a: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연동 개발</a:t>
                      </a:r>
                      <a:endParaRPr sz="1091" b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183" marR="25183" marT="25183" marB="25183" anchor="ctr">
                    <a:lnL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ts val="13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총괄</a:t>
                      </a:r>
                      <a:endParaRPr sz="1091" b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183" marR="25183" marT="25183" marB="25183" anchor="ctr">
                    <a:lnL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ts val="13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91"/>
                        <a:buFontTx/>
                        <a:buNone/>
                      </a:pPr>
                      <a:r>
                        <a:rPr lang="en-US" altLang="ko-KR" sz="1091" b="0">
                          <a:latin typeface="Arial" panose="020B0604020202020204" pitchFamily="34" charset="0"/>
                        </a:rPr>
                        <a:t>협조</a:t>
                      </a:r>
                      <a:endParaRPr sz="1091" b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183" marR="25183" marT="25183" marB="25183" anchor="ctr">
                    <a:lnL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ts val="13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개발산출물</a:t>
                      </a:r>
                      <a:r>
                        <a:rPr lang="en-US" altLang="ko-KR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소스코드</a:t>
                      </a:r>
                      <a:endParaRPr sz="1091" b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183" marR="25183" marT="25183" marB="25183" anchor="ctr">
                    <a:lnL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064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ts val="13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데이터 구축</a:t>
                      </a:r>
                      <a:endParaRPr sz="1091" b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183" marR="25183" marT="25183" marB="25183" anchor="ctr">
                    <a:lnL w="9444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ts val="13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원천자료 구축</a:t>
                      </a:r>
                      <a:r>
                        <a:rPr lang="en-US" altLang="ko-KR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·</a:t>
                      </a: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라벨링</a:t>
                      </a:r>
                      <a:r>
                        <a:rPr lang="en-US" altLang="ko-KR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·</a:t>
                      </a: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표준화</a:t>
                      </a:r>
                      <a:endParaRPr sz="1091" b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183" marR="25183" marT="25183" marB="25183" anchor="ctr">
                    <a:lnL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ts val="13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총괄</a:t>
                      </a:r>
                      <a:endParaRPr sz="1091" b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183" marR="25183" marT="25183" marB="25183" anchor="ctr">
                    <a:lnL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ts val="13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091" b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183" marR="25183" marT="25183" marB="25183" anchor="ctr">
                    <a:lnL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ts val="13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데이터표준정의서</a:t>
                      </a:r>
                      <a:endParaRPr sz="1091" b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183" marR="25183" marT="25183" marB="25183" anchor="ctr">
                    <a:lnL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064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ts val="13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인프라</a:t>
                      </a:r>
                      <a:r>
                        <a:rPr lang="en-US" altLang="ko-KR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/</a:t>
                      </a:r>
                    </a:p>
                    <a:p>
                      <a:pPr marL="0" lvl="0" indent="0" algn="ctr" rtl="0">
                        <a:lnSpc>
                          <a:spcPts val="13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클라우드</a:t>
                      </a:r>
                      <a:endParaRPr sz="1091" b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183" marR="25183" marT="25183" marB="25183" anchor="ctr">
                    <a:lnL w="9444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ts val="13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대구센터 인프라 구성</a:t>
                      </a:r>
                      <a:r>
                        <a:rPr lang="en-US" altLang="ko-KR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·</a:t>
                      </a: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운영</a:t>
                      </a:r>
                      <a:endParaRPr sz="1091" b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183" marR="25183" marT="25183" marB="25183" anchor="ctr">
                    <a:lnL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ts val="13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협조</a:t>
                      </a:r>
                      <a:endParaRPr sz="1091" b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183" marR="25183" marT="25183" marB="25183" anchor="ctr">
                    <a:lnL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ts val="13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총괄</a:t>
                      </a:r>
                      <a:endParaRPr sz="1091" b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183" marR="25183" marT="25183" marB="25183" anchor="ctr">
                    <a:lnL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ts val="13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인프라구성도</a:t>
                      </a:r>
                      <a:endParaRPr sz="1091" b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183" marR="25183" marT="25183" marB="25183" anchor="ctr">
                    <a:lnL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064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ts val="13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정보보안</a:t>
                      </a:r>
                      <a:endParaRPr sz="1091" b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183" marR="25183" marT="25183" marB="25183" anchor="ctr">
                    <a:lnL w="9444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ts val="13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보안설계</a:t>
                      </a:r>
                      <a:r>
                        <a:rPr lang="en-US" altLang="ko-KR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망분리 적용</a:t>
                      </a:r>
                      <a:r>
                        <a:rPr lang="en-US" altLang="ko-KR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취약점점검</a:t>
                      </a:r>
                      <a:endParaRPr sz="1091" b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183" marR="25183" marT="25183" marB="25183" anchor="ctr">
                    <a:lnL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ts val="13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91"/>
                        <a:buFontTx/>
                        <a:buNone/>
                      </a:pP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총괄</a:t>
                      </a:r>
                      <a:endParaRPr sz="1091" b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183" marR="25183" marT="25183" marB="25183" anchor="ctr">
                    <a:lnL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ts val="13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협조</a:t>
                      </a:r>
                      <a:endParaRPr sz="1091" b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183" marR="25183" marT="25183" marB="25183" anchor="ctr">
                    <a:lnL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ts val="13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보안설계서</a:t>
                      </a:r>
                      <a:r>
                        <a:rPr lang="en-US" altLang="ko-KR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취약점점검보고서</a:t>
                      </a:r>
                      <a:endParaRPr sz="1091" b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183" marR="25183" marT="25183" marB="25183" anchor="ctr">
                    <a:lnL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1064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ts val="13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테스트</a:t>
                      </a:r>
                      <a:r>
                        <a:rPr lang="en-US" altLang="ko-KR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/</a:t>
                      </a:r>
                    </a:p>
                    <a:p>
                      <a:pPr marL="0" lvl="0" indent="0" algn="ctr" rtl="0">
                        <a:lnSpc>
                          <a:spcPts val="13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품질검증</a:t>
                      </a:r>
                      <a:endParaRPr sz="1091" b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183" marR="25183" marT="25183" marB="25183" anchor="ctr">
                    <a:lnL w="9444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ts val="13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단위</a:t>
                      </a:r>
                      <a:r>
                        <a:rPr lang="en-US" altLang="ko-KR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·</a:t>
                      </a: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통합</a:t>
                      </a:r>
                      <a:r>
                        <a:rPr lang="en-US" altLang="ko-KR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·</a:t>
                      </a: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인수테스트</a:t>
                      </a:r>
                      <a:endParaRPr sz="1091" b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183" marR="25183" marT="25183" marB="25183" anchor="ctr">
                    <a:lnL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ts val="13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총괄</a:t>
                      </a:r>
                      <a:endParaRPr sz="1091" b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183" marR="25183" marT="25183" marB="25183" anchor="ctr">
                    <a:lnL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ts val="13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협조</a:t>
                      </a:r>
                      <a:endParaRPr sz="1091" b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183" marR="25183" marT="25183" marB="25183" anchor="ctr">
                    <a:lnL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ts val="13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테스트계획서</a:t>
                      </a:r>
                      <a:r>
                        <a:rPr lang="en-US" altLang="ko-KR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테스트결과서</a:t>
                      </a:r>
                      <a:endParaRPr sz="1091" b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183" marR="25183" marT="25183" marB="25183" anchor="ctr">
                    <a:lnL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1064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ts val="13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시험운영</a:t>
                      </a:r>
                      <a:r>
                        <a:rPr lang="en-US" altLang="ko-KR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/</a:t>
                      </a:r>
                    </a:p>
                    <a:p>
                      <a:pPr marL="0" lvl="0" indent="0" algn="ctr" rtl="0">
                        <a:lnSpc>
                          <a:spcPts val="13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교육</a:t>
                      </a:r>
                      <a:endParaRPr sz="1091" b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183" marR="25183" marT="25183" marB="25183" anchor="ctr">
                    <a:lnL w="9444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ts val="13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시범운영</a:t>
                      </a:r>
                      <a:r>
                        <a:rPr lang="en-US" altLang="ko-KR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사용자 교육</a:t>
                      </a:r>
                      <a:endParaRPr sz="1091" b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183" marR="25183" marT="25183" marB="25183" anchor="ctr">
                    <a:lnL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ts val="13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총괄</a:t>
                      </a:r>
                      <a:endParaRPr sz="1091" b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183" marR="25183" marT="25183" marB="25183" anchor="ctr">
                    <a:lnL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ts val="13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협조</a:t>
                      </a:r>
                      <a:endParaRPr sz="1091" b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183" marR="25183" marT="25183" marB="25183" anchor="ctr">
                    <a:lnL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ts val="13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시범운영결과서</a:t>
                      </a:r>
                      <a:r>
                        <a:rPr lang="en-US" altLang="ko-KR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ko-KR" altLang="en-US" sz="1091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교육결과서</a:t>
                      </a:r>
                      <a:endParaRPr sz="1091" b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183" marR="25183" marT="25183" marB="25183" anchor="ctr">
                    <a:lnL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444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사업 전 영역을 8개 업무로 구분하여 주관사와 참여사의">
            <a:extLst>
              <a:ext uri="{FF2B5EF4-FFF2-40B4-BE49-F238E27FC236}">
                <a16:creationId xmlns:a16="http://schemas.microsoft.com/office/drawing/2014/main" id="{64B57575-CD96-8914-5B59-E5EAE3444E05}"/>
              </a:ext>
            </a:extLst>
          </p:cNvPr>
          <p:cNvSpPr txBox="1"/>
          <p:nvPr/>
        </p:nvSpPr>
        <p:spPr>
          <a:xfrm>
            <a:off x="635000" y="1702387"/>
            <a:ext cx="5486400" cy="732346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ts val="1785"/>
              </a:lnSpc>
            </a:pPr>
            <a:r>
              <a:rPr lang="ko-KR" altLang="en-US" sz="1190">
                <a:latin typeface="Arial" panose="020B0604020202020204" pitchFamily="34" charset="0"/>
              </a:rPr>
              <a:t>사업 전 영역을 8개 업무로 구분하여 주관사와 참여사의 역할을 배분합니다. 정보보안·품질검증은 에이치나인, 인프라·클라우드는 에즈넷이 총괄합니다.</a:t>
            </a:r>
            <a:endParaRPr lang="en-KR" sz="1190">
              <a:latin typeface="Arial" panose="020B0604020202020204" pitchFamily="34" charset="0"/>
            </a:endParaRPr>
          </a:p>
        </p:txBody>
      </p:sp>
      <p:sp>
        <p:nvSpPr>
          <p:cNvPr id="8" name="업무별 역할분담">
            <a:extLst>
              <a:ext uri="{FF2B5EF4-FFF2-40B4-BE49-F238E27FC236}">
                <a16:creationId xmlns:a16="http://schemas.microsoft.com/office/drawing/2014/main" id="{600E352D-D9AA-7278-BF3C-5EB9174163F8}"/>
              </a:ext>
            </a:extLst>
          </p:cNvPr>
          <p:cNvSpPr txBox="1"/>
          <p:nvPr/>
        </p:nvSpPr>
        <p:spPr>
          <a:xfrm>
            <a:off x="635000" y="2571192"/>
            <a:ext cx="5486400" cy="302193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ts val="1884"/>
              </a:lnSpc>
            </a:pPr>
            <a:r>
              <a:rPr lang="ko-KR" altLang="en-US" sz="1289" b="1">
                <a:solidFill>
                  <a:srgbClr val="1F4E79"/>
                </a:solidFill>
                <a:latin typeface="Arial" panose="020B0604020202020204" pitchFamily="34" charset="0"/>
              </a:rPr>
              <a:t>업무별 역할분담</a:t>
            </a:r>
            <a:endParaRPr lang="en-KR" sz="1289" b="1">
              <a:solidFill>
                <a:srgbClr val="1F4E79"/>
              </a:solidFill>
              <a:latin typeface="Arial" panose="020B0604020202020204" pitchFamily="34" charset="0"/>
            </a:endParaRPr>
          </a:p>
        </p:txBody>
      </p:sp>
      <p:sp>
        <p:nvSpPr>
          <p:cNvPr id="9" name="PMR-002">
            <a:extLst>
              <a:ext uri="{FF2B5EF4-FFF2-40B4-BE49-F238E27FC236}">
                <a16:creationId xmlns:a16="http://schemas.microsoft.com/office/drawing/2014/main" id="{5884F7A3-FBFD-778E-797F-DE4741DA75CA}"/>
              </a:ext>
            </a:extLst>
          </p:cNvPr>
          <p:cNvSpPr txBox="1"/>
          <p:nvPr/>
        </p:nvSpPr>
        <p:spPr>
          <a:xfrm>
            <a:off x="4862262" y="1425377"/>
            <a:ext cx="1259138" cy="305145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 algn="r">
              <a:lnSpc>
                <a:spcPts val="1190"/>
              </a:lnSpc>
            </a:pPr>
            <a:r>
              <a:rPr lang="en-US" sz="892">
                <a:solidFill>
                  <a:srgbClr val="646464"/>
                </a:solidFill>
                <a:latin typeface="Arial" panose="020B0604020202020204" pitchFamily="34" charset="0"/>
              </a:rPr>
              <a:t>PMR-002</a:t>
            </a:r>
            <a:endParaRPr lang="en-KR" sz="892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  <p:sp>
        <p:nvSpPr>
          <p:cNvPr id="10" name="총괄: 해당 업무의 책임 수행&#10;협조: 담당사의 업무 수">
            <a:extLst>
              <a:ext uri="{FF2B5EF4-FFF2-40B4-BE49-F238E27FC236}">
                <a16:creationId xmlns:a16="http://schemas.microsoft.com/office/drawing/2014/main" id="{5BBD267A-6262-2E4A-20BE-5AF7C3F1E668}"/>
              </a:ext>
            </a:extLst>
          </p:cNvPr>
          <p:cNvSpPr txBox="1"/>
          <p:nvPr/>
        </p:nvSpPr>
        <p:spPr>
          <a:xfrm>
            <a:off x="635000" y="7532195"/>
            <a:ext cx="5486400" cy="518745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ts val="1785"/>
              </a:lnSpc>
              <a:spcAft>
                <a:spcPts val="297"/>
              </a:spcAft>
            </a:pPr>
            <a:r>
              <a:rPr lang="ko-KR" altLang="en-US" sz="1190">
                <a:latin typeface="Arial" panose="020B0604020202020204" pitchFamily="34" charset="0"/>
              </a:rPr>
              <a:t>총괄</a:t>
            </a:r>
            <a:r>
              <a:rPr lang="en-US" altLang="ko-KR" sz="1190">
                <a:latin typeface="Arial" panose="020B0604020202020204" pitchFamily="34" charset="0"/>
              </a:rPr>
              <a:t>: </a:t>
            </a:r>
            <a:r>
              <a:rPr lang="ko-KR" altLang="en-US" sz="1190">
                <a:latin typeface="Arial" panose="020B0604020202020204" pitchFamily="34" charset="0"/>
              </a:rPr>
              <a:t>해당 업무의 책임 수행</a:t>
            </a:r>
          </a:p>
          <a:p>
            <a:pPr>
              <a:lnSpc>
                <a:spcPts val="1785"/>
              </a:lnSpc>
              <a:spcAft>
                <a:spcPts val="297"/>
              </a:spcAft>
            </a:pPr>
            <a:r>
              <a:rPr lang="ko-KR" altLang="en-US" sz="1190">
                <a:latin typeface="Arial" panose="020B0604020202020204" pitchFamily="34" charset="0"/>
              </a:rPr>
              <a:t>협조</a:t>
            </a:r>
            <a:r>
              <a:rPr lang="en-US" altLang="ko-KR" sz="1190">
                <a:latin typeface="Arial" panose="020B0604020202020204" pitchFamily="34" charset="0"/>
              </a:rPr>
              <a:t>: </a:t>
            </a:r>
            <a:r>
              <a:rPr lang="ko-KR" altLang="en-US" sz="1190">
                <a:latin typeface="Arial" panose="020B0604020202020204" pitchFamily="34" charset="0"/>
              </a:rPr>
              <a:t>담당사의 업무 수행을 위한 자문</a:t>
            </a:r>
            <a:r>
              <a:rPr lang="en-US" altLang="ko-KR" sz="1190">
                <a:latin typeface="Arial" panose="020B0604020202020204" pitchFamily="34" charset="0"/>
              </a:rPr>
              <a:t>·</a:t>
            </a:r>
            <a:r>
              <a:rPr lang="ko-KR" altLang="en-US" sz="1190">
                <a:latin typeface="Arial" panose="020B0604020202020204" pitchFamily="34" charset="0"/>
              </a:rPr>
              <a:t>지원</a:t>
            </a:r>
            <a:endParaRPr lang="en-KR" sz="1190">
              <a:latin typeface="Arial" panose="020B0604020202020204" pitchFamily="34" charset="0"/>
            </a:endParaRPr>
          </a:p>
        </p:txBody>
      </p:sp>
      <p:sp>
        <p:nvSpPr>
          <p:cNvPr id="11" name="역할분담 원칙">
            <a:extLst>
              <a:ext uri="{FF2B5EF4-FFF2-40B4-BE49-F238E27FC236}">
                <a16:creationId xmlns:a16="http://schemas.microsoft.com/office/drawing/2014/main" id="{FC90C641-5E27-056A-A023-0616C91CC803}"/>
              </a:ext>
            </a:extLst>
          </p:cNvPr>
          <p:cNvSpPr txBox="1"/>
          <p:nvPr/>
        </p:nvSpPr>
        <p:spPr>
          <a:xfrm>
            <a:off x="635000" y="8501731"/>
            <a:ext cx="5486400" cy="302193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ts val="1884"/>
              </a:lnSpc>
            </a:pPr>
            <a:r>
              <a:rPr lang="ko-KR" altLang="en-US" sz="1289" b="1">
                <a:solidFill>
                  <a:srgbClr val="1F4E79"/>
                </a:solidFill>
                <a:latin typeface="Arial" panose="020B0604020202020204" pitchFamily="34" charset="0"/>
              </a:rPr>
              <a:t>역할분담 원칙</a:t>
            </a:r>
            <a:endParaRPr lang="en-KR" sz="1289" b="1">
              <a:solidFill>
                <a:srgbClr val="1F4E79"/>
              </a:solidFill>
              <a:latin typeface="Arial" panose="020B0604020202020204" pitchFamily="34" charset="0"/>
            </a:endParaRPr>
          </a:p>
        </p:txBody>
      </p:sp>
      <p:sp>
        <p:nvSpPr>
          <p:cNvPr id="12" name="주관사는 사업 전체의 일정·성과·품질을 관리하며, 각 ">
            <a:extLst>
              <a:ext uri="{FF2B5EF4-FFF2-40B4-BE49-F238E27FC236}">
                <a16:creationId xmlns:a16="http://schemas.microsoft.com/office/drawing/2014/main" id="{F50F2ADF-9307-8FB7-A15D-9352A50EF89B}"/>
              </a:ext>
            </a:extLst>
          </p:cNvPr>
          <p:cNvSpPr txBox="1"/>
          <p:nvPr/>
        </p:nvSpPr>
        <p:spPr>
          <a:xfrm>
            <a:off x="635000" y="8904655"/>
            <a:ext cx="5486400" cy="518745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ts val="1785"/>
              </a:lnSpc>
            </a:pPr>
            <a:r>
              <a:rPr lang="ko-KR" altLang="en-US" sz="1190">
                <a:latin typeface="Arial" panose="020B0604020202020204" pitchFamily="34" charset="0"/>
              </a:rPr>
              <a:t>주관사는 사업 전체의 일정</a:t>
            </a:r>
            <a:r>
              <a:rPr lang="en-US" altLang="ko-KR" sz="1190">
                <a:latin typeface="Arial" panose="020B0604020202020204" pitchFamily="34" charset="0"/>
              </a:rPr>
              <a:t>·</a:t>
            </a:r>
            <a:r>
              <a:rPr lang="ko-KR" altLang="en-US" sz="1190">
                <a:latin typeface="Arial" panose="020B0604020202020204" pitchFamily="34" charset="0"/>
              </a:rPr>
              <a:t>성과</a:t>
            </a:r>
            <a:r>
              <a:rPr lang="en-US" altLang="ko-KR" sz="1190">
                <a:latin typeface="Arial" panose="020B0604020202020204" pitchFamily="34" charset="0"/>
              </a:rPr>
              <a:t>·</a:t>
            </a:r>
            <a:r>
              <a:rPr lang="ko-KR" altLang="en-US" sz="1190">
                <a:latin typeface="Arial" panose="020B0604020202020204" pitchFamily="34" charset="0"/>
              </a:rPr>
              <a:t>품질을 관리하며</a:t>
            </a:r>
            <a:r>
              <a:rPr lang="en-US" altLang="ko-KR" sz="1190">
                <a:latin typeface="Arial" panose="020B0604020202020204" pitchFamily="34" charset="0"/>
              </a:rPr>
              <a:t>, </a:t>
            </a:r>
            <a:r>
              <a:rPr lang="ko-KR" altLang="en-US" sz="1190">
                <a:latin typeface="Arial" panose="020B0604020202020204" pitchFamily="34" charset="0"/>
              </a:rPr>
              <a:t>각 담당사는 책임 범위의 산출물과 검증 결과를 제출합니다</a:t>
            </a:r>
            <a:r>
              <a:rPr lang="en-US" altLang="ko-KR" sz="1190">
                <a:latin typeface="Arial" panose="020B0604020202020204" pitchFamily="34" charset="0"/>
              </a:rPr>
              <a:t>.</a:t>
            </a:r>
            <a:endParaRPr lang="en-KR" sz="1190">
              <a:latin typeface="Arial" panose="020B0604020202020204" pitchFamily="34" charset="0"/>
            </a:endParaRPr>
          </a:p>
        </p:txBody>
      </p:sp>
      <p:sp>
        <p:nvSpPr>
          <p:cNvPr id="6" name="4.4 공동수급 역할분담">
            <a:extLst>
              <a:ext uri="{FF2B5EF4-FFF2-40B4-BE49-F238E27FC236}">
                <a16:creationId xmlns:a16="http://schemas.microsoft.com/office/drawing/2014/main" id="{CEA99EE9-D86F-1B81-58C4-2E8F5FCDEF43}"/>
              </a:ext>
            </a:extLst>
          </p:cNvPr>
          <p:cNvSpPr txBox="1"/>
          <p:nvPr/>
        </p:nvSpPr>
        <p:spPr>
          <a:xfrm>
            <a:off x="635000" y="990600"/>
            <a:ext cx="54864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2200"/>
              </a:lnSpc>
            </a:pPr>
            <a:r>
              <a:rPr lang="en-US" altLang="ko-KR" sz="1600" b="1">
                <a:latin typeface="Arial" panose="020B0604020202020204" pitchFamily="34" charset="0"/>
              </a:rPr>
              <a:t>4.6 공동수급 역할분담</a:t>
            </a:r>
            <a:endParaRPr lang="en-KR" sz="1600" b="1">
              <a:latin typeface="Arial" panose="020B0604020202020204" pitchFamily="34" charset="0"/>
            </a:endParaRPr>
          </a:p>
        </p:txBody>
      </p:sp>
      <p:sp>
        <p:nvSpPr>
          <p:cNvPr id="5" name="1. 일반 현황">
            <a:extLst>
              <a:ext uri="{FF2B5EF4-FFF2-40B4-BE49-F238E27FC236}">
                <a16:creationId xmlns:a16="http://schemas.microsoft.com/office/drawing/2014/main" id="{BA0EE6D8-4F92-9884-725B-E93AD6910263}"/>
              </a:ext>
            </a:extLst>
          </p:cNvPr>
          <p:cNvSpPr txBox="1"/>
          <p:nvPr/>
        </p:nvSpPr>
        <p:spPr>
          <a:xfrm>
            <a:off x="635000" y="500563"/>
            <a:ext cx="2228339" cy="307777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lang="en-US" altLang="ko-KR" sz="1200">
                <a:latin typeface="Arial" panose="020B0604020202020204" pitchFamily="34" charset="0"/>
              </a:rPr>
              <a:t>1. </a:t>
            </a:r>
            <a:r>
              <a:rPr lang="ko-KR" altLang="en-US" sz="1200">
                <a:latin typeface="Arial" panose="020B0604020202020204" pitchFamily="34" charset="0"/>
              </a:rPr>
              <a:t>일반 현황</a:t>
            </a:r>
            <a:endParaRPr lang="en-KR" sz="1200">
              <a:latin typeface="Arial" panose="020B0604020202020204" pitchFamily="34" charset="0"/>
            </a:endParaRPr>
          </a:p>
        </p:txBody>
      </p:sp>
      <p:sp>
        <p:nvSpPr>
          <p:cNvPr id="714" name="BookFolioEven">
            <a:extLst>
              <a:ext uri="{FF2B5EF4-FFF2-40B4-BE49-F238E27FC236}">
                <a16:creationId xmlns:a16="http://schemas.microsoft.com/office/drawing/2014/main" id="{BE6C01A2-092E-422D-9CE1-6EC6420F6A48}"/>
              </a:ext>
            </a:extLst>
          </p:cNvPr>
          <p:cNvSpPr>
            <a:spLocks noGrp="1"/>
          </p:cNvSpPr>
          <p:nvPr/>
        </p:nvSpPr>
        <p:spPr>
          <a:xfrm>
            <a:off x="635000" y="9575800"/>
            <a:ext cx="508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2013 - 2022 테마">
  <a:themeElements>
    <a:clrScheme name="Office 2013 - 2022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2013 - 2022 테마">
  <a:themeElements>
    <a:clrScheme name="Office 2013 - 2022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570</TotalTime>
  <Words>2934</Words>
  <Application>Microsoft Office PowerPoint</Application>
  <PresentationFormat>A4 용지(210x297mm)</PresentationFormat>
  <Paragraphs>843</Paragraphs>
  <Slides>18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18</vt:i4>
      </vt:variant>
    </vt:vector>
  </HeadingPairs>
  <TitlesOfParts>
    <vt:vector size="26" baseType="lpstr">
      <vt:lpstr>Noto Sans CJK SC</vt:lpstr>
      <vt:lpstr>Malgun Gothic</vt:lpstr>
      <vt:lpstr>Malgun Gothic</vt:lpstr>
      <vt:lpstr>Arial</vt:lpstr>
      <vt:lpstr>Calibri</vt:lpstr>
      <vt:lpstr>Office 2013 - 2022 테마</vt:lpstr>
      <vt:lpstr>Office 2013 - 2022 테마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이동혁</dc:creator>
  <cp:lastModifiedBy>황보 정운</cp:lastModifiedBy>
  <cp:revision>73</cp:revision>
  <dcterms:created xsi:type="dcterms:W3CDTF">2021-09-24T12:12:26Z</dcterms:created>
  <dcterms:modified xsi:type="dcterms:W3CDTF">2026-10-13T01:04:06Z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0x0101009D30EBE9304C2346AD8EC6952A85F23C</vt:lpwstr>
  </property>
  <property fmtid="{D5CDD505-2E9C-101B-9397-08002B2CF9AE}" pid="3" name="MediaServiceImageTags">
    <vt:lpwstr/>
  </property>
</Properties>
</file>