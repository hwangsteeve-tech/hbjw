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260" r:id="rId5"/>
    <p:sldId id="7487" r:id="rId6"/>
    <p:sldId id="277" r:id="rId7"/>
    <p:sldId id="283" r:id="rId8"/>
    <p:sldId id="275" r:id="rId9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28262F-01A3-4CFF-895B-FDF42B6E38A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8034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4913F-DAE3-7A3C-14AA-8B4C28FBC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0F87357-BDC6-7451-2E7F-ADE5691D2C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3B3C05-1A68-9378-2F76-9CF6210E84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FA4C03-AFEC-9906-0E60-BD5B4A7381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28262F-01A3-4CFF-895B-FDF42B6E38AC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781673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ctr"/>
              <a:t>‹#›</a:t>
            </a:fld>
            <a:endParaRPr lang="ko-KR" altLang="en-US" sz="100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</a:t>
            </a:r>
            <a:r>
              <a:rPr lang="ko-KR" altLang="en-US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학습용데이터 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ko-KR" altLang="en-US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통합 제공 시스템 구축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</a:t>
            </a:r>
            <a:r>
              <a:rPr lang="en-US" altLang="ko-KR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PM</a:t>
            </a:r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</a:t>
            </a:r>
            <a:r>
              <a:rPr lang="en-US" altLang="ko-KR" sz="16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O</a:t>
            </a:r>
            <a:r>
              <a:rPr lang="ko-KR" altLang="en-US" sz="16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</a:t>
            </a:r>
            <a:r>
              <a:rPr lang="en-US" altLang="ko-KR" sz="16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O</a:t>
            </a:r>
            <a:r>
              <a:rPr lang="ko-KR" altLang="en-US" sz="16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</a:t>
            </a:r>
            <a:r>
              <a:rPr lang="en-US" altLang="ko-KR" sz="16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O</a:t>
            </a:r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파트너</a:t>
            </a:r>
            <a:endParaRPr lang="en-US" altLang="ko-KR" sz="120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주관기관</a:t>
            </a:r>
            <a:r>
              <a:rPr lang="en-US" altLang="ko-KR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: </a:t>
            </a:r>
            <a:r>
              <a:rPr lang="ko-KR" altLang="en-US" sz="120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에이치나인</a:t>
            </a:r>
            <a:endParaRPr lang="en-US" altLang="ko-KR" sz="120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참여기관</a:t>
            </a:r>
            <a:r>
              <a:rPr lang="en-US" altLang="ko-KR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: </a:t>
            </a:r>
            <a:r>
              <a:rPr lang="ko-KR" altLang="en-US" sz="120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와이젠정보기술</a:t>
            </a:r>
            <a:br>
              <a:rPr lang="en-US" altLang="ko-KR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</a:br>
            <a:r>
              <a:rPr lang="en-US" altLang="ko-KR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             </a:t>
            </a: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보안관련업체</a:t>
            </a:r>
            <a:br>
              <a:rPr lang="en-US" altLang="ko-KR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</a:br>
            <a:r>
              <a:rPr lang="en-US" altLang="ko-KR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              </a:t>
            </a:r>
            <a:r>
              <a:rPr lang="ko-KR" altLang="en-US" sz="1200" err="1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테크노베이션파트너스</a:t>
            </a:r>
            <a:endParaRPr lang="en-US" altLang="ko-KR" sz="120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575995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43C7B-4F4B-63BC-1CC9-98A4F95D1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13AAF7DB-A166-A483-FE8C-342530E140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9054091"/>
              </p:ext>
            </p:extLst>
          </p:nvPr>
        </p:nvGraphicFramePr>
        <p:xfrm>
          <a:off x="414337" y="456168"/>
          <a:ext cx="6030005" cy="9269579"/>
        </p:xfrm>
        <a:graphic>
          <a:graphicData uri="http://schemas.openxmlformats.org/drawingml/2006/table">
            <a:tbl>
              <a:tblPr/>
              <a:tblGrid>
                <a:gridCol w="2077372">
                  <a:extLst>
                    <a:ext uri="{9D8B030D-6E8A-4147-A177-3AD203B41FA5}">
                      <a16:colId xmlns:a16="http://schemas.microsoft.com/office/drawing/2014/main" val="1041386363"/>
                    </a:ext>
                  </a:extLst>
                </a:gridCol>
                <a:gridCol w="1935984">
                  <a:extLst>
                    <a:ext uri="{9D8B030D-6E8A-4147-A177-3AD203B41FA5}">
                      <a16:colId xmlns:a16="http://schemas.microsoft.com/office/drawing/2014/main" val="848350541"/>
                    </a:ext>
                  </a:extLst>
                </a:gridCol>
                <a:gridCol w="2016649">
                  <a:extLst>
                    <a:ext uri="{9D8B030D-6E8A-4147-A177-3AD203B41FA5}">
                      <a16:colId xmlns:a16="http://schemas.microsoft.com/office/drawing/2014/main" val="4190916919"/>
                    </a:ext>
                  </a:extLst>
                </a:gridCol>
              </a:tblGrid>
              <a:tr h="245073"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1" hangingPunct="1">
                        <a:lnSpc>
                          <a:spcPct val="120000"/>
                        </a:lnSpc>
                        <a:buNone/>
                      </a:pPr>
                      <a:r>
                        <a:rPr lang="ko-KR" altLang="en-US" sz="1100" b="1" kern="1200">
                          <a:solidFill>
                            <a:schemeClr val="lt1"/>
                          </a:solidFill>
                          <a:latin typeface="KoPubWorld돋움체 Bold" panose="00000800000000000000" pitchFamily="2" charset="-127"/>
                          <a:ea typeface="KoPubWorld돋움체 Bold" panose="00000800000000000000" pitchFamily="2" charset="-127"/>
                          <a:cs typeface="KoPubWorld돋움체 Bold" panose="00000800000000000000" pitchFamily="2" charset="-127"/>
                        </a:rPr>
                        <a:t>요구사항 분류</a:t>
                      </a:r>
                    </a:p>
                  </a:txBody>
                  <a:tcPr marL="15211" marR="15211" marT="15211" marB="1521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1" hangingPunct="1">
                        <a:lnSpc>
                          <a:spcPct val="120000"/>
                        </a:lnSpc>
                        <a:buNone/>
                      </a:pPr>
                      <a:r>
                        <a:rPr lang="en-US" sz="1100" b="1" kern="1200">
                          <a:solidFill>
                            <a:schemeClr val="lt1"/>
                          </a:solidFill>
                          <a:latin typeface="KoPubWorld돋움체 Bold" panose="00000800000000000000" pitchFamily="2" charset="-127"/>
                          <a:ea typeface="KoPubWorld돋움체 Bold" panose="00000800000000000000" pitchFamily="2" charset="-127"/>
                          <a:cs typeface="KoPubWorld돋움체 Bold" panose="00000800000000000000" pitchFamily="2" charset="-127"/>
                        </a:rPr>
                        <a:t>ID</a:t>
                      </a:r>
                      <a:endParaRPr lang="ko-KR" altLang="en-US" sz="1100" b="1" kern="1200">
                        <a:solidFill>
                          <a:schemeClr val="lt1"/>
                        </a:solidFill>
                        <a:latin typeface="KoPubWorld돋움체 Bold" panose="00000800000000000000" pitchFamily="2" charset="-127"/>
                        <a:ea typeface="KoPubWorld돋움체 Bold" panose="00000800000000000000" pitchFamily="2" charset="-127"/>
                        <a:cs typeface="KoPubWorld돋움체 Bold" panose="000008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1" hangingPunct="1">
                        <a:lnSpc>
                          <a:spcPct val="120000"/>
                        </a:lnSpc>
                        <a:buNone/>
                      </a:pPr>
                      <a:r>
                        <a:rPr lang="ko-KR" altLang="en-US" sz="1100" b="1" kern="1200">
                          <a:solidFill>
                            <a:schemeClr val="lt1"/>
                          </a:solidFill>
                          <a:latin typeface="KoPubWorld돋움체 Bold" panose="00000800000000000000" pitchFamily="2" charset="-127"/>
                          <a:ea typeface="KoPubWorld돋움체 Bold" panose="00000800000000000000" pitchFamily="2" charset="-127"/>
                          <a:cs typeface="KoPubWorld돋움체 Bold" panose="00000800000000000000" pitchFamily="2" charset="-127"/>
                        </a:rPr>
                        <a:t>해당 페이지</a:t>
                      </a: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4970752"/>
                  </a:ext>
                </a:extLst>
              </a:tr>
              <a:tr h="238848"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800" kern="0" spc="0">
                          <a:solidFill>
                            <a:srgbClr val="000000"/>
                          </a:solidFill>
                          <a:effectLst/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현황분석 및 요구사항 정의</a:t>
                      </a:r>
                    </a:p>
                  </a:txBody>
                  <a:tcPr marL="15211" marR="15211" marT="15211" marB="1521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en-US" altLang="ko-KR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5781147"/>
                  </a:ext>
                </a:extLst>
              </a:tr>
              <a:tr h="238848"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800" kern="0" spc="0">
                          <a:solidFill>
                            <a:srgbClr val="000000"/>
                          </a:solidFill>
                          <a:effectLst/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개방</a:t>
                      </a:r>
                      <a:r>
                        <a:rPr lang="en-US" sz="800" kern="0" spc="0">
                          <a:solidFill>
                            <a:srgbClr val="000000"/>
                          </a:solidFill>
                          <a:effectLst/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DB </a:t>
                      </a:r>
                      <a:r>
                        <a:rPr lang="ko-KR" altLang="en-US" sz="800" kern="0" spc="0">
                          <a:solidFill>
                            <a:srgbClr val="000000"/>
                          </a:solidFill>
                          <a:effectLst/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구축</a:t>
                      </a:r>
                    </a:p>
                  </a:txBody>
                  <a:tcPr marL="15211" marR="15211" marT="15211" marB="1521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en-US" altLang="ko-KR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3813082"/>
                  </a:ext>
                </a:extLst>
              </a:tr>
              <a:tr h="238848"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800" kern="0" spc="0">
                          <a:solidFill>
                            <a:srgbClr val="000000"/>
                          </a:solidFill>
                          <a:effectLst/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품질 진단 및 개선</a:t>
                      </a:r>
                    </a:p>
                  </a:txBody>
                  <a:tcPr marL="15211" marR="15211" marT="15211" marB="1521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en-US" altLang="ko-KR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3300395"/>
                  </a:ext>
                </a:extLst>
              </a:tr>
              <a:tr h="238848"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800" kern="0" spc="0">
                          <a:solidFill>
                            <a:srgbClr val="000000"/>
                          </a:solidFill>
                          <a:effectLst/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오픈</a:t>
                      </a:r>
                      <a:r>
                        <a:rPr lang="en-US" sz="800" kern="0" spc="0">
                          <a:solidFill>
                            <a:srgbClr val="000000"/>
                          </a:solidFill>
                          <a:effectLst/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API </a:t>
                      </a:r>
                      <a:r>
                        <a:rPr lang="ko-KR" altLang="en-US" sz="800" kern="0" spc="0">
                          <a:solidFill>
                            <a:srgbClr val="000000"/>
                          </a:solidFill>
                          <a:effectLst/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개발</a:t>
                      </a:r>
                    </a:p>
                  </a:txBody>
                  <a:tcPr marL="15211" marR="15211" marT="15211" marB="1521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en-US" altLang="ko-KR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2403585"/>
                  </a:ext>
                </a:extLst>
              </a:tr>
              <a:tr h="238848"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800" kern="0" spc="0">
                          <a:solidFill>
                            <a:srgbClr val="000000"/>
                          </a:solidFill>
                          <a:effectLst/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성과계획 및 활용방안 수립</a:t>
                      </a:r>
                    </a:p>
                  </a:txBody>
                  <a:tcPr marL="15211" marR="15211" marT="15211" marB="1521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9525" marR="9525" marT="9525" marB="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en-US" altLang="ko-KR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9525" marR="9525" marT="9525" marB="0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7899547"/>
                  </a:ext>
                </a:extLst>
              </a:tr>
              <a:tr h="238848"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800" kern="0" spc="0">
                          <a:solidFill>
                            <a:srgbClr val="000000"/>
                          </a:solidFill>
                          <a:effectLst/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시스템 장비 구성 요구사항</a:t>
                      </a:r>
                    </a:p>
                  </a:txBody>
                  <a:tcPr marL="15211" marR="15211" marT="15211" marB="1521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1421685"/>
                  </a:ext>
                </a:extLst>
              </a:tr>
              <a:tr h="238848">
                <a:tc rowSpan="2"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800" kern="0" spc="0">
                          <a:solidFill>
                            <a:srgbClr val="000000"/>
                          </a:solidFill>
                          <a:effectLst/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기타</a:t>
                      </a:r>
                    </a:p>
                  </a:txBody>
                  <a:tcPr marL="15211" marR="15211" marT="15211" marB="1521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496981"/>
                  </a:ext>
                </a:extLst>
              </a:tr>
              <a:tr h="23884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7410412"/>
                  </a:ext>
                </a:extLst>
              </a:tr>
              <a:tr h="238848"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800" kern="0" spc="0">
                          <a:solidFill>
                            <a:srgbClr val="000000"/>
                          </a:solidFill>
                          <a:effectLst/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보안</a:t>
                      </a:r>
                    </a:p>
                  </a:txBody>
                  <a:tcPr marL="15211" marR="15211" marT="15211" marB="1521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5319678"/>
                  </a:ext>
                </a:extLst>
              </a:tr>
              <a:tr h="238848"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800" kern="0" spc="0">
                          <a:solidFill>
                            <a:srgbClr val="000000"/>
                          </a:solidFill>
                          <a:effectLst/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성능</a:t>
                      </a:r>
                    </a:p>
                  </a:txBody>
                  <a:tcPr marL="15211" marR="15211" marT="15211" marB="1521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4882847"/>
                  </a:ext>
                </a:extLst>
              </a:tr>
              <a:tr h="238848">
                <a:tc rowSpan="2"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800" kern="0" spc="0">
                          <a:solidFill>
                            <a:srgbClr val="000000"/>
                          </a:solidFill>
                          <a:effectLst/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인터페이스</a:t>
                      </a:r>
                    </a:p>
                  </a:txBody>
                  <a:tcPr marL="15211" marR="15211" marT="15211" marB="1521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5217107"/>
                  </a:ext>
                </a:extLst>
              </a:tr>
              <a:tr h="23884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2299899"/>
                  </a:ext>
                </a:extLst>
              </a:tr>
              <a:tr h="238848">
                <a:tc rowSpan="3"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800" kern="0" spc="0">
                          <a:solidFill>
                            <a:srgbClr val="000000"/>
                          </a:solidFill>
                          <a:effectLst/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데이터</a:t>
                      </a:r>
                    </a:p>
                  </a:txBody>
                  <a:tcPr marL="15211" marR="15211" marT="15211" marB="1521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918701"/>
                  </a:ext>
                </a:extLst>
              </a:tr>
              <a:tr h="23884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2816298"/>
                  </a:ext>
                </a:extLst>
              </a:tr>
              <a:tr h="238848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buNone/>
                      </a:pPr>
                      <a:endParaRPr lang="ko-KR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base" latinLnBrk="0" hangingPunct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110050"/>
                  </a:ext>
                </a:extLst>
              </a:tr>
              <a:tr h="238848"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800" kern="0" spc="0">
                          <a:solidFill>
                            <a:srgbClr val="000000"/>
                          </a:solidFill>
                          <a:effectLst/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테스트</a:t>
                      </a:r>
                    </a:p>
                  </a:txBody>
                  <a:tcPr marL="15211" marR="15211" marT="15211" marB="1521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722865"/>
                  </a:ext>
                </a:extLst>
              </a:tr>
              <a:tr h="215830">
                <a:tc rowSpan="5"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800" kern="0" spc="0">
                          <a:solidFill>
                            <a:srgbClr val="000000"/>
                          </a:solidFill>
                          <a:effectLst/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품질</a:t>
                      </a:r>
                    </a:p>
                  </a:txBody>
                  <a:tcPr marL="15211" marR="15211" marT="15211" marB="1521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7363019"/>
                  </a:ext>
                </a:extLst>
              </a:tr>
              <a:tr h="21583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3295995"/>
                  </a:ext>
                </a:extLst>
              </a:tr>
              <a:tr h="21583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0938472"/>
                  </a:ext>
                </a:extLst>
              </a:tr>
              <a:tr h="21583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3216104"/>
                  </a:ext>
                </a:extLst>
              </a:tr>
              <a:tr h="21583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6897416"/>
                  </a:ext>
                </a:extLst>
              </a:tr>
              <a:tr h="238848"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800" kern="0" spc="0">
                          <a:solidFill>
                            <a:srgbClr val="000000"/>
                          </a:solidFill>
                          <a:effectLst/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제약사항</a:t>
                      </a:r>
                    </a:p>
                  </a:txBody>
                  <a:tcPr marL="15211" marR="15211" marT="15211" marB="1521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935820"/>
                  </a:ext>
                </a:extLst>
              </a:tr>
              <a:tr h="215830">
                <a:tc rowSpan="13"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800" kern="0" spc="0">
                          <a:solidFill>
                            <a:srgbClr val="000000"/>
                          </a:solidFill>
                          <a:effectLst/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프로젝트 관리</a:t>
                      </a:r>
                    </a:p>
                  </a:txBody>
                  <a:tcPr marL="15211" marR="15211" marT="15211" marB="1521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6116778"/>
                  </a:ext>
                </a:extLst>
              </a:tr>
              <a:tr h="21583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7610564"/>
                  </a:ext>
                </a:extLst>
              </a:tr>
              <a:tr h="21583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7786804"/>
                  </a:ext>
                </a:extLst>
              </a:tr>
              <a:tr h="21583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575543"/>
                  </a:ext>
                </a:extLst>
              </a:tr>
              <a:tr h="21583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0628475"/>
                  </a:ext>
                </a:extLst>
              </a:tr>
              <a:tr h="21583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3659213"/>
                  </a:ext>
                </a:extLst>
              </a:tr>
              <a:tr h="21583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0869312"/>
                  </a:ext>
                </a:extLst>
              </a:tr>
              <a:tr h="21583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5405688"/>
                  </a:ext>
                </a:extLst>
              </a:tr>
              <a:tr h="21583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3045662"/>
                  </a:ext>
                </a:extLst>
              </a:tr>
              <a:tr h="21583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7197672"/>
                  </a:ext>
                </a:extLst>
              </a:tr>
              <a:tr h="21583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9295354"/>
                  </a:ext>
                </a:extLst>
              </a:tr>
              <a:tr h="21583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3958372"/>
                  </a:ext>
                </a:extLst>
              </a:tr>
              <a:tr h="21583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0517366"/>
                  </a:ext>
                </a:extLst>
              </a:tr>
              <a:tr h="215830">
                <a:tc rowSpan="5"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r>
                        <a:rPr lang="ko-KR" altLang="en-US" sz="800" kern="0" spc="0">
                          <a:solidFill>
                            <a:srgbClr val="000000"/>
                          </a:solidFill>
                          <a:effectLst/>
                          <a:latin typeface="KoPubWorld돋움체 Medium" panose="00000600000000000000" pitchFamily="2" charset="-127"/>
                          <a:ea typeface="KoPubWorld돋움체 Medium" panose="00000600000000000000" pitchFamily="2" charset="-127"/>
                          <a:cs typeface="KoPubWorld돋움체 Medium" panose="00000600000000000000" pitchFamily="2" charset="-127"/>
                        </a:rPr>
                        <a:t>프로젝트 지원</a:t>
                      </a:r>
                    </a:p>
                  </a:txBody>
                  <a:tcPr marL="15211" marR="15211" marT="15211" marB="1521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5032494"/>
                  </a:ext>
                </a:extLst>
              </a:tr>
              <a:tr h="21583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0775481"/>
                  </a:ext>
                </a:extLst>
              </a:tr>
              <a:tr h="21583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4681474"/>
                  </a:ext>
                </a:extLst>
              </a:tr>
              <a:tr h="21583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9014735"/>
                  </a:ext>
                </a:extLst>
              </a:tr>
              <a:tr h="21583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base" latinLnBrk="0" hangingPunct="1">
                        <a:lnSpc>
                          <a:spcPct val="160000"/>
                        </a:lnSpc>
                        <a:buNone/>
                      </a:pPr>
                      <a:endParaRPr lang="ko-KR" altLang="en-US" sz="800" kern="0" spc="0" dirty="0">
                        <a:solidFill>
                          <a:srgbClr val="000000"/>
                        </a:solidFill>
                        <a:effectLst/>
                        <a:latin typeface="KoPubWorld돋움체 Medium" panose="00000600000000000000" pitchFamily="2" charset="-127"/>
                        <a:ea typeface="KoPubWorld돋움체 Medium" panose="00000600000000000000" pitchFamily="2" charset="-127"/>
                        <a:cs typeface="KoPubWorld돋움체 Medium" panose="00000600000000000000" pitchFamily="2" charset="-127"/>
                      </a:endParaRPr>
                    </a:p>
                  </a:txBody>
                  <a:tcPr marL="15211" marR="15211" marT="15211" marB="15211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5220274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4DC8926-ACD6-EA8A-8DE2-83D5D453BA15}"/>
              </a:ext>
            </a:extLst>
          </p:cNvPr>
          <p:cNvSpPr txBox="1"/>
          <p:nvPr/>
        </p:nvSpPr>
        <p:spPr>
          <a:xfrm>
            <a:off x="1403350" y="142102"/>
            <a:ext cx="39830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&lt; </a:t>
            </a:r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요구사항 분석표 </a:t>
            </a:r>
            <a:r>
              <a:rPr lang="en-US" altLang="ko-KR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&gt;</a:t>
            </a:r>
            <a:endParaRPr lang="ko-KR" altLang="en-US" sz="120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5277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 spc="-68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제안개요 및 전략</a:t>
            </a:r>
            <a:r>
              <a:rPr lang="en-US" altLang="ko-KR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, </a:t>
            </a:r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방법론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53693798-066A-9293-D084-BAAB8EA5188D}"/>
              </a:ext>
            </a:extLst>
          </p:cNvPr>
          <p:cNvSpPr txBox="1"/>
          <p:nvPr/>
        </p:nvSpPr>
        <p:spPr>
          <a:xfrm>
            <a:off x="1792637" y="3474108"/>
            <a:ext cx="3770240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설계 및 개발</a:t>
            </a:r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D5EDD0C4-26DC-D8BE-6716-8D1CCDC0ADA3}"/>
              </a:ext>
            </a:extLst>
          </p:cNvPr>
          <p:cNvSpPr/>
          <p:nvPr/>
        </p:nvSpPr>
        <p:spPr>
          <a:xfrm>
            <a:off x="997744" y="3366590"/>
            <a:ext cx="463836" cy="46383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6FAED54C-9A10-F27F-E106-F0FC6039A040}"/>
              </a:ext>
            </a:extLst>
          </p:cNvPr>
          <p:cNvCxnSpPr>
            <a:cxnSpLocks/>
          </p:cNvCxnSpPr>
          <p:nvPr/>
        </p:nvCxnSpPr>
        <p:spPr>
          <a:xfrm>
            <a:off x="1457325" y="3588629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C90591A8-7332-1DC4-78C2-0B7B001988E0}"/>
              </a:ext>
            </a:extLst>
          </p:cNvPr>
          <p:cNvSpPr txBox="1"/>
          <p:nvPr/>
        </p:nvSpPr>
        <p:spPr>
          <a:xfrm>
            <a:off x="1026096" y="3368414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73B5E297-2288-8F31-6B00-8F038C11F2FB}"/>
              </a:ext>
            </a:extLst>
          </p:cNvPr>
          <p:cNvCxnSpPr/>
          <p:nvPr/>
        </p:nvCxnSpPr>
        <p:spPr>
          <a:xfrm>
            <a:off x="1792637" y="3864271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48B50084-448C-E2CD-68FA-B3E32C48B9D2}"/>
              </a:ext>
            </a:extLst>
          </p:cNvPr>
          <p:cNvSpPr txBox="1"/>
          <p:nvPr/>
        </p:nvSpPr>
        <p:spPr>
          <a:xfrm>
            <a:off x="1792636" y="4169432"/>
            <a:ext cx="3447437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사업수행 및 관리</a:t>
            </a:r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5751F4F5-E233-BD0D-3542-C3386951C7AD}"/>
              </a:ext>
            </a:extLst>
          </p:cNvPr>
          <p:cNvSpPr/>
          <p:nvPr/>
        </p:nvSpPr>
        <p:spPr>
          <a:xfrm>
            <a:off x="997744" y="406191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4CF6795F-A777-9D0D-F3FA-9EDD11EC0EA4}"/>
              </a:ext>
            </a:extLst>
          </p:cNvPr>
          <p:cNvCxnSpPr>
            <a:cxnSpLocks/>
          </p:cNvCxnSpPr>
          <p:nvPr/>
        </p:nvCxnSpPr>
        <p:spPr>
          <a:xfrm>
            <a:off x="1457325" y="428395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2A4BE77F-3073-3E39-3D0F-0DEEC206ED06}"/>
              </a:ext>
            </a:extLst>
          </p:cNvPr>
          <p:cNvSpPr txBox="1"/>
          <p:nvPr/>
        </p:nvSpPr>
        <p:spPr>
          <a:xfrm>
            <a:off x="1026096" y="406373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F6FDEE6D-B42F-F795-0B4E-114057AA25CC}"/>
              </a:ext>
            </a:extLst>
          </p:cNvPr>
          <p:cNvCxnSpPr/>
          <p:nvPr/>
        </p:nvCxnSpPr>
        <p:spPr>
          <a:xfrm>
            <a:off x="1792637" y="455959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4B42F4F-8164-4774-BB4F-D80CAFE3CF22}"/>
              </a:ext>
            </a:extLst>
          </p:cNvPr>
          <p:cNvSpPr txBox="1"/>
          <p:nvPr/>
        </p:nvSpPr>
        <p:spPr>
          <a:xfrm>
            <a:off x="1792637" y="4864757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기타</a:t>
            </a:r>
          </a:p>
        </p:txBody>
      </p:sp>
      <p:sp>
        <p:nvSpPr>
          <p:cNvPr id="86" name="타원 85">
            <a:extLst>
              <a:ext uri="{FF2B5EF4-FFF2-40B4-BE49-F238E27FC236}">
                <a16:creationId xmlns:a16="http://schemas.microsoft.com/office/drawing/2014/main" id="{A4497247-C59A-73CB-36FB-F07E3EE7DF66}"/>
              </a:ext>
            </a:extLst>
          </p:cNvPr>
          <p:cNvSpPr/>
          <p:nvPr/>
        </p:nvSpPr>
        <p:spPr>
          <a:xfrm>
            <a:off x="997744" y="4757240"/>
            <a:ext cx="463836" cy="46383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59F4C191-F10E-7536-853B-588BAB97CF60}"/>
              </a:ext>
            </a:extLst>
          </p:cNvPr>
          <p:cNvCxnSpPr>
            <a:cxnSpLocks/>
          </p:cNvCxnSpPr>
          <p:nvPr/>
        </p:nvCxnSpPr>
        <p:spPr>
          <a:xfrm>
            <a:off x="1457325" y="4979279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4CC00223-1AE3-2EC8-F628-9F898A2F5201}"/>
              </a:ext>
            </a:extLst>
          </p:cNvPr>
          <p:cNvSpPr txBox="1"/>
          <p:nvPr/>
        </p:nvSpPr>
        <p:spPr>
          <a:xfrm>
            <a:off x="1026096" y="4759064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</a:p>
        </p:txBody>
      </p: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21FE6CDF-2A2A-5231-EEFB-8F64CAB4AC21}"/>
              </a:ext>
            </a:extLst>
          </p:cNvPr>
          <p:cNvCxnSpPr/>
          <p:nvPr/>
        </p:nvCxnSpPr>
        <p:spPr>
          <a:xfrm>
            <a:off x="1792637" y="5195394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6600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제안개요 및 전략</a:t>
            </a:r>
            <a:r>
              <a:rPr lang="en-US" altLang="ko-KR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, </a:t>
            </a:r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방법론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제안배경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사업수행 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제안의 특징 및 장점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수행 조직 및 인원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관련 보유 기술 및 주요 사업실적</a:t>
            </a:r>
            <a:endParaRPr lang="en-US" altLang="ko-KR" sz="2000">
              <a:latin typeface="KoPubWorld돋움체 Bold" panose="00000800000000000000" pitchFamily="2" charset="-127"/>
              <a:ea typeface="KoPubWorld돋움체 Bold" panose="00000800000000000000" pitchFamily="2" charset="-127"/>
              <a:cs typeface="KoPubWorld돋움체 Bold" panose="00000800000000000000" pitchFamily="2" charset="-127"/>
            </a:endParaRP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제안요청 요건 수용</a:t>
            </a:r>
          </a:p>
        </p:txBody>
      </p:sp>
    </p:spTree>
    <p:extLst>
      <p:ext uri="{BB962C8B-B14F-4D97-AF65-F5344CB8AC3E}">
        <p14:creationId xmlns:p14="http://schemas.microsoft.com/office/powerpoint/2010/main" val="7686195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</a:t>
            </a:r>
            <a:r>
              <a:rPr lang="ko-KR" altLang="en-US"/>
              <a:t>제안배경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</a:t>
            </a:r>
            <a:r>
              <a:rPr lang="ko-KR" altLang="en-US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제안개요 및 전략</a:t>
            </a: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, </a:t>
            </a:r>
            <a:r>
              <a:rPr lang="ko-KR" altLang="en-US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305218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</a:t>
            </a:r>
            <a:r>
              <a:rPr kumimoji="0" lang="ko-KR" altLang="en-US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추진배경 및 필요성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</a:t>
            </a:r>
            <a:r>
              <a:rPr kumimoji="0" lang="ko-KR" altLang="en-US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사업 배경 및 목적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내용기입</a:t>
            </a:r>
            <a:r>
              <a:rPr lang="en-US" altLang="ko-KR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</a:t>
            </a: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42C99469-ED07-BACE-4043-A14BE6A98A73}"/>
              </a:ext>
            </a:extLst>
          </p:cNvPr>
          <p:cNvCxnSpPr>
            <a:cxnSpLocks/>
          </p:cNvCxnSpPr>
          <p:nvPr/>
        </p:nvCxnSpPr>
        <p:spPr>
          <a:xfrm>
            <a:off x="312925" y="2397218"/>
            <a:ext cx="0" cy="184057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F6B35FA-FE50-D5C3-04C6-2FEB2ED98301}"/>
              </a:ext>
            </a:extLst>
          </p:cNvPr>
          <p:cNvSpPr txBox="1"/>
          <p:nvPr/>
        </p:nvSpPr>
        <p:spPr>
          <a:xfrm>
            <a:off x="335012" y="2371141"/>
            <a:ext cx="28971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제목 기입</a:t>
            </a:r>
          </a:p>
        </p:txBody>
      </p:sp>
    </p:spTree>
    <p:extLst>
      <p:ext uri="{BB962C8B-B14F-4D97-AF65-F5344CB8AC3E}">
        <p14:creationId xmlns:p14="http://schemas.microsoft.com/office/powerpoint/2010/main" val="29533625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황보정운</dc:creator>
  <cp:lastModifiedBy>황보정운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