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4"/>
  </p:sldMasterIdLst>
  <p:notesMasterIdLst>
    <p:notesMasterId r:id="rId225"/>
  </p:notesMasterIdLst>
  <p:handoutMasterIdLst>
    <p:handoutMasterId r:id="rId226"/>
  </p:handoutMasterIdLst>
  <p:sldIdLst>
    <p:sldId id="260" r:id="rId5"/>
    <p:sldId id="7487" r:id="rId6"/>
    <p:sldId id="277" r:id="rId7"/>
    <p:sldId id="283" r:id="rId8"/>
    <p:sldId id="275" r:id="rId9"/>
  </p:sldIdLst>
  <p:sldSz cx="6858000" cy="9906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  <p15:guide id="3" pos="170" userDrawn="1">
          <p15:clr>
            <a:srgbClr val="A4A3A4"/>
          </p15:clr>
        </p15:guide>
        <p15:guide id="4" pos="4163" userDrawn="1">
          <p15:clr>
            <a:srgbClr val="A4A3A4"/>
          </p15:clr>
        </p15:guide>
        <p15:guide id="5" pos="348" userDrawn="1">
          <p15:clr>
            <a:srgbClr val="A4A3A4"/>
          </p15:clr>
        </p15:guide>
        <p15:guide id="6" pos="3972" userDrawn="1">
          <p15:clr>
            <a:srgbClr val="A4A3A4"/>
          </p15:clr>
        </p15:guide>
        <p15:guide id="7" pos="221" userDrawn="1">
          <p15:clr>
            <a:srgbClr val="A4A3A4"/>
          </p15:clr>
        </p15:guide>
        <p15:guide id="8" pos="40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DEEBF7"/>
    <a:srgbClr val="A1DEED"/>
    <a:srgbClr val="D9D9D9"/>
    <a:srgbClr val="FFFFFF"/>
    <a:srgbClr val="2F76B6"/>
    <a:srgbClr val="0070BA"/>
    <a:srgbClr val="2C4F78"/>
    <a:srgbClr val="64C3DC"/>
    <a:srgbClr val="DAE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27" autoAdjust="0"/>
    <p:restoredTop sz="94660"/>
  </p:normalViewPr>
  <p:slideViewPr>
    <p:cSldViewPr snapToGrid="0">
      <p:cViewPr>
        <p:scale>
          <a:sx n="75" d="100"/>
          <a:sy n="75" d="100"/>
        </p:scale>
        <p:origin x="1506" y="936"/>
      </p:cViewPr>
      <p:guideLst>
        <p:guide orient="horz" pos="3120"/>
        <p:guide pos="2160"/>
        <p:guide pos="170"/>
        <p:guide pos="4163"/>
        <p:guide pos="348"/>
        <p:guide pos="3972"/>
        <p:guide pos="221"/>
        <p:guide pos="409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225" Type="http://schemas.openxmlformats.org/officeDocument/2006/relationships/notesMaster" Target="notesMasters/notesMaster1.xml"/><Relationship Id="rId226" Type="http://schemas.openxmlformats.org/officeDocument/2006/relationships/handoutMaster" Target="handoutMasters/handoutMaster1.xml"/><Relationship Id="rId227" Type="http://schemas.openxmlformats.org/officeDocument/2006/relationships/presProps" Target="presProps.xml"/><Relationship Id="rId228" Type="http://schemas.openxmlformats.org/officeDocument/2006/relationships/viewProps" Target="viewProps.xml"/><Relationship Id="rId229" Type="http://schemas.openxmlformats.org/officeDocument/2006/relationships/theme" Target="theme/theme1.xml"/><Relationship Id="rId23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3FC88C87-A870-CEB0-ED88-C071B57713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E2BC45F-FED5-D4BC-E846-A726E2675E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A53264-FF37-4A28-A320-34D44B9DA959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F340D6-2F04-0925-A1CA-8AEFCB2ADB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C895D71-45E6-1EE8-27B3-45C23B4D7F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E9521-B036-447B-9F05-EA285466CC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87598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FD334089-59B3-40BB-96F8-BCCD425B3E10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9077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E228262F-01A3-4CFF-895B-FDF42B6E38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8756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28262F-01A3-4CFF-895B-FDF42B6E38A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80348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4913F-DAE3-7A3C-14AA-8B4C28FBC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0F87357-BDC6-7451-2E7F-ADE5691D2C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43B3C05-1A68-9378-2F76-9CF6210E84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FA4C03-AFEC-9906-0E60-BD5B4A7381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28262F-01A3-4CFF-895B-FDF42B6E38A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781673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902511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612334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49829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450424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275855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302546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880929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1997953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705159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906429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930055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C76020E4-D3BF-2E23-3FDA-C00182CF91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0455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컨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40B0BCB0-8223-B3D9-E890-81D448F5CD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9971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41A63F8-CD22-3A28-E2D3-10878032E2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490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86385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0C846F1-727C-0585-985D-8DD19A4411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359" t="1639" r="80900" b="92396"/>
          <a:stretch>
            <a:fillRect/>
          </a:stretch>
        </p:blipFill>
        <p:spPr>
          <a:xfrm>
            <a:off x="0" y="0"/>
            <a:ext cx="1256670" cy="673100"/>
          </a:xfrm>
          <a:prstGeom prst="rect">
            <a:avLst/>
          </a:prstGeom>
        </p:spPr>
      </p:pic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850" y="257983"/>
            <a:ext cx="5318423" cy="3200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160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  <a:lvl2pPr marL="104478" indent="0">
              <a:buNone/>
              <a:defRPr lang="ko-KR" altLang="en-US" sz="823" smtClean="0"/>
            </a:lvl2pPr>
            <a:lvl3pPr marL="313432" indent="0">
              <a:buNone/>
              <a:defRPr lang="ko-KR" altLang="en-US" sz="823" smtClean="0"/>
            </a:lvl3pPr>
            <a:lvl4pPr marL="522387" indent="0">
              <a:buNone/>
              <a:defRPr lang="ko-KR" altLang="en-US" smtClean="0"/>
            </a:lvl4pPr>
            <a:lvl5pPr marL="731342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9" name="슬라이드 번호 개체 틀 2">
            <a:extLst>
              <a:ext uri="{FF2B5EF4-FFF2-40B4-BE49-F238E27FC236}">
                <a16:creationId xmlns:a16="http://schemas.microsoft.com/office/drawing/2014/main" id="{CE098A9A-461E-2B74-D55E-49CB2DCBB94A}"/>
              </a:ext>
            </a:extLst>
          </p:cNvPr>
          <p:cNvSpPr txBox="1">
            <a:spLocks/>
          </p:cNvSpPr>
          <p:nvPr userDrawn="1"/>
        </p:nvSpPr>
        <p:spPr>
          <a:xfrm>
            <a:off x="3174610" y="9688018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2A9537A-DB42-4D35-B31B-5C8E293FF6D7}" type="slidenum">
              <a:rPr lang="ko-KR" altLang="en-US" sz="900" smtClean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pPr algn="ctr"/>
              <a:t>‹#›</a:t>
            </a:fld>
            <a:endParaRPr lang="ko-KR" altLang="en-US" sz="10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38406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C174FC7F-2931-4560-A3C1-364B07A5E3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4234" y="1453800"/>
            <a:ext cx="6109424" cy="181525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64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>
              <a:defRPr lang="ko-KR" altLang="en-US" sz="823" smtClean="0"/>
            </a:lvl2pPr>
            <a:lvl3pPr>
              <a:defRPr lang="ko-KR" altLang="en-US" sz="823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0"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사각형: 둥근 한쪽 모서리 6">
            <a:extLst>
              <a:ext uri="{FF2B5EF4-FFF2-40B4-BE49-F238E27FC236}">
                <a16:creationId xmlns:a16="http://schemas.microsoft.com/office/drawing/2014/main" id="{B541F7BF-9ADF-46AB-81E5-B13C2B27F216}"/>
              </a:ext>
            </a:extLst>
          </p:cNvPr>
          <p:cNvSpPr/>
          <p:nvPr userDrawn="1"/>
        </p:nvSpPr>
        <p:spPr>
          <a:xfrm>
            <a:off x="0" y="473287"/>
            <a:ext cx="524014" cy="852098"/>
          </a:xfrm>
          <a:prstGeom prst="round1Rect">
            <a:avLst/>
          </a:prstGeom>
          <a:solidFill>
            <a:srgbClr val="008B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5F91E45-9FCF-43BD-A8FF-24BD1BC3E732}"/>
              </a:ext>
            </a:extLst>
          </p:cNvPr>
          <p:cNvCxnSpPr>
            <a:cxnSpLocks/>
          </p:cNvCxnSpPr>
          <p:nvPr userDrawn="1"/>
        </p:nvCxnSpPr>
        <p:spPr>
          <a:xfrm>
            <a:off x="0" y="1325385"/>
            <a:ext cx="6608862" cy="0"/>
          </a:xfrm>
          <a:prstGeom prst="line">
            <a:avLst/>
          </a:prstGeom>
          <a:ln w="19050">
            <a:solidFill>
              <a:srgbClr val="0074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텍스트 개체 틀 13">
            <a:extLst>
              <a:ext uri="{FF2B5EF4-FFF2-40B4-BE49-F238E27FC236}">
                <a16:creationId xmlns:a16="http://schemas.microsoft.com/office/drawing/2014/main" id="{B014F6E5-DAED-4795-8473-F27C314E90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9969" y="699426"/>
            <a:ext cx="5023588" cy="233013"/>
          </a:xfrm>
          <a:noFill/>
        </p:spPr>
        <p:txBody>
          <a:bodyPr wrap="square" rtlCol="0">
            <a:spAutoFit/>
          </a:bodyPr>
          <a:lstStyle>
            <a:lvl1pPr marL="0" indent="0">
              <a:lnSpc>
                <a:spcPct val="100000"/>
              </a:lnSpc>
              <a:buNone/>
              <a:defRPr lang="ko-KR" altLang="en-US" sz="914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marL="0"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8" name="텍스트 개체 틀 13">
            <a:extLst>
              <a:ext uri="{FF2B5EF4-FFF2-40B4-BE49-F238E27FC236}">
                <a16:creationId xmlns:a16="http://schemas.microsoft.com/office/drawing/2014/main" id="{2ECBBF39-A383-4AFE-9C30-8005D916AD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769" y="655398"/>
            <a:ext cx="377293" cy="544593"/>
          </a:xfrm>
          <a:noFill/>
        </p:spPr>
        <p:txBody>
          <a:bodyPr wrap="square" rtlCol="0">
            <a:noAutofit/>
          </a:bodyPr>
          <a:lstStyle>
            <a:lvl1pPr marL="0" indent="0" algn="r">
              <a:buNone/>
              <a:defRPr lang="ko-KR" altLang="en-US" sz="1097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lvl="0" algn="ctr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BF7D64-638A-0DB1-1838-1BFE0A31C328}"/>
              </a:ext>
            </a:extLst>
          </p:cNvPr>
          <p:cNvSpPr txBox="1"/>
          <p:nvPr userDrawn="1"/>
        </p:nvSpPr>
        <p:spPr>
          <a:xfrm>
            <a:off x="6522317" y="9372523"/>
            <a:ext cx="335685" cy="34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823" b="0" i="0" u="none" strike="noStrike" kern="1200" cap="none" spc="0" normalizeH="0" baseline="0" noProof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나눔스퀘어"/>
                <a:ea typeface="나눔스퀘어"/>
                <a:cs typeface="+mn-cs"/>
              </a:rPr>
              <a:t>&lt;#&gt;</a:t>
            </a:r>
            <a:endParaRPr lang="ko-KR" altLang="en-US" sz="823"/>
          </a:p>
        </p:txBody>
      </p:sp>
    </p:spTree>
    <p:extLst>
      <p:ext uri="{BB962C8B-B14F-4D97-AF65-F5344CB8AC3E}">
        <p14:creationId xmlns:p14="http://schemas.microsoft.com/office/powerpoint/2010/main" val="5559893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821875-ABEF-94C5-5C9F-62A6F241B498}"/>
              </a:ext>
            </a:extLst>
          </p:cNvPr>
          <p:cNvSpPr/>
          <p:nvPr userDrawn="1"/>
        </p:nvSpPr>
        <p:spPr>
          <a:xfrm>
            <a:off x="244812" y="2693909"/>
            <a:ext cx="3125255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55ED841-3E70-2D52-DBCB-E944C07C3B70}"/>
              </a:ext>
            </a:extLst>
          </p:cNvPr>
          <p:cNvSpPr/>
          <p:nvPr userDrawn="1"/>
        </p:nvSpPr>
        <p:spPr>
          <a:xfrm>
            <a:off x="3487937" y="2693909"/>
            <a:ext cx="3125255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9" name="슬라이드 번호 개체 틀 2">
            <a:extLst>
              <a:ext uri="{FF2B5EF4-FFF2-40B4-BE49-F238E27FC236}">
                <a16:creationId xmlns:a16="http://schemas.microsoft.com/office/drawing/2014/main" id="{B2797B26-B1E8-6159-7F70-D2371837A9AB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pPr algn="r"/>
              <a:t>‹#›</a:t>
            </a:fld>
            <a:endParaRPr lang="ko-KR" altLang="en-US" sz="64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81165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821875-ABEF-94C5-5C9F-62A6F241B498}"/>
              </a:ext>
            </a:extLst>
          </p:cNvPr>
          <p:cNvSpPr/>
          <p:nvPr userDrawn="1"/>
        </p:nvSpPr>
        <p:spPr>
          <a:xfrm>
            <a:off x="244810" y="2693909"/>
            <a:ext cx="6368380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1F5EF080-74F1-2009-15B4-D5D932E8218F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pPr algn="r"/>
              <a:t>‹#›</a:t>
            </a:fld>
            <a:endParaRPr lang="ko-KR" altLang="en-US" sz="64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35162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60DC690-6E34-460F-B6A4-6CF5A62EB2C3}"/>
              </a:ext>
            </a:extLst>
          </p:cNvPr>
          <p:cNvSpPr/>
          <p:nvPr userDrawn="1"/>
        </p:nvSpPr>
        <p:spPr>
          <a:xfrm>
            <a:off x="244811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72717FD-D39F-8E98-379C-C3F05153C648}"/>
              </a:ext>
            </a:extLst>
          </p:cNvPr>
          <p:cNvSpPr/>
          <p:nvPr userDrawn="1"/>
        </p:nvSpPr>
        <p:spPr>
          <a:xfrm>
            <a:off x="4624058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B5475A5-6520-B581-0354-5E7DA0EF6ADD}"/>
              </a:ext>
            </a:extLst>
          </p:cNvPr>
          <p:cNvSpPr/>
          <p:nvPr userDrawn="1"/>
        </p:nvSpPr>
        <p:spPr>
          <a:xfrm>
            <a:off x="2434435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7" name="슬라이드 번호 개체 틀 2">
            <a:extLst>
              <a:ext uri="{FF2B5EF4-FFF2-40B4-BE49-F238E27FC236}">
                <a16:creationId xmlns:a16="http://schemas.microsoft.com/office/drawing/2014/main" id="{D7A74A86-AF2F-4131-0264-FB4B27ABEF36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pPr algn="r"/>
              <a:t>‹#›</a:t>
            </a:fld>
            <a:endParaRPr lang="ko-KR" altLang="en-US" sz="64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93134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1E447B-F4B4-4E30-97EE-52936639FAEF}"/>
              </a:ext>
            </a:extLst>
          </p:cNvPr>
          <p:cNvSpPr txBox="1"/>
          <p:nvPr userDrawn="1"/>
        </p:nvSpPr>
        <p:spPr>
          <a:xfrm flipH="1">
            <a:off x="489703" y="1285390"/>
            <a:ext cx="2125266" cy="227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731" kern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템인트 프레젠테이션 템플릿 저작권</a:t>
            </a:r>
            <a:endParaRPr lang="en-US" altLang="ko-KR" sz="731" kern="12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F0AAC5-6251-4A45-9BE4-4EDC00C4FF72}"/>
              </a:ext>
            </a:extLst>
          </p:cNvPr>
          <p:cNvSpPr txBox="1"/>
          <p:nvPr userDrawn="1"/>
        </p:nvSpPr>
        <p:spPr>
          <a:xfrm flipH="1">
            <a:off x="489703" y="2089168"/>
            <a:ext cx="5747149" cy="709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본 템플릿에 제공되는 디자인 재산권은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템인트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(quiethee8)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 소유하고 있습니다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어떠한 경우에도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템인트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템플릿 및 디자인을 유료로 복제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판매하는 것은 금지하며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재배포를 금지합니다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b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본 프레젠테이션은 비영리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비상업적인 목적으로만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또한 홍보 목적이 아닌 내부 자료로는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b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상업적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영리적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홍보목적인 경우에는 구매 후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상업적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영리목적일 시에는 블로그 혹은 메일로 연락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주시길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바랍니다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이는 다운받는 블로그에도 기재되어 있으며 다운받고 사용시에 동의한 것으로 간주합니다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26E1EB96-6ED2-443B-ACE2-CF11854FC42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82227894"/>
              </p:ext>
            </p:extLst>
          </p:nvPr>
        </p:nvGraphicFramePr>
        <p:xfrm>
          <a:off x="489705" y="4615250"/>
          <a:ext cx="5878595" cy="4249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2775">
                  <a:extLst>
                    <a:ext uri="{9D8B030D-6E8A-4147-A177-3AD203B41FA5}">
                      <a16:colId xmlns:a16="http://schemas.microsoft.com/office/drawing/2014/main" val="3182386323"/>
                    </a:ext>
                  </a:extLst>
                </a:gridCol>
                <a:gridCol w="2622910">
                  <a:extLst>
                    <a:ext uri="{9D8B030D-6E8A-4147-A177-3AD203B41FA5}">
                      <a16:colId xmlns:a16="http://schemas.microsoft.com/office/drawing/2014/main" val="2510118193"/>
                    </a:ext>
                  </a:extLst>
                </a:gridCol>
                <a:gridCol w="2622910">
                  <a:extLst>
                    <a:ext uri="{9D8B030D-6E8A-4147-A177-3AD203B41FA5}">
                      <a16:colId xmlns:a16="http://schemas.microsoft.com/office/drawing/2014/main" val="579559814"/>
                    </a:ext>
                  </a:extLst>
                </a:gridCol>
              </a:tblGrid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분류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허용범위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사용금지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예시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7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2181525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학생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과제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내부 발표용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공모전 출품 금지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문의가능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]</a:t>
                      </a:r>
                      <a:endParaRPr lang="ko-KR" altLang="en-US" sz="17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952909"/>
                  </a:ext>
                </a:extLst>
              </a:tr>
              <a:tr h="9121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기업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내부자료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보안용 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방송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행사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프로모션 등의 홍보자료 사용 금지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693132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내부 강의자료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 자료 및 강의자료 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159216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기업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내부자료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보안용 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방송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행사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프로모션 등 사용 금지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042118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기타 사용 부분에는 문의 바랍니다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031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222598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6133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8" r:id="rId14"/>
    <p:sldLayoutId id="2147483687" r:id="rId15"/>
    <p:sldLayoutId id="2147483686" r:id="rId16"/>
    <p:sldLayoutId id="2147483650" r:id="rId17"/>
    <p:sldLayoutId id="2147483654" r:id="rId18"/>
    <p:sldLayoutId id="2147483656" r:id="rId19"/>
    <p:sldLayoutId id="2147483655" r:id="rId20"/>
    <p:sldLayoutId id="2147483652" r:id="rId21"/>
  </p:sldLayoutIdLst>
  <p:hf hdr="0" ft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E46FF42-C36A-87C9-3A55-247FEA1EEF60}"/>
              </a:ext>
            </a:extLst>
          </p:cNvPr>
          <p:cNvSpPr txBox="1"/>
          <p:nvPr/>
        </p:nvSpPr>
        <p:spPr>
          <a:xfrm>
            <a:off x="2826170" y="1555100"/>
            <a:ext cx="3584636" cy="1632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정성제안서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lumMod val="50000"/>
                </a:schemeClr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AI</a:t>
            </a:r>
            <a:r>
              <a: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학습용데이터 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70C0"/>
              </a:solidFill>
              <a:latin typeface="a옛날사진관5" panose="02020600000000000000" pitchFamily="18" charset="-127"/>
              <a:ea typeface="a옛날사진관5" panose="02020600000000000000" pitchFamily="18" charset="-127"/>
            </a:endParaRPr>
          </a:p>
          <a:p>
            <a:pPr algn="r">
              <a:lnSpc>
                <a:spcPct val="150000"/>
              </a:lnSpc>
            </a:pPr>
            <a:r>
              <a: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통합 제공 시스템 구축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AEF8EA-14B3-6E55-F0E1-066986D1E0FA}"/>
              </a:ext>
            </a:extLst>
          </p:cNvPr>
          <p:cNvSpPr txBox="1"/>
          <p:nvPr/>
        </p:nvSpPr>
        <p:spPr>
          <a:xfrm>
            <a:off x="4601846" y="3560894"/>
            <a:ext cx="17604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사업</a:t>
            </a:r>
            <a:r>
              <a:rPr lang="en-US" altLang="ko-KR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PM</a:t>
            </a:r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en-US" altLang="ko-KR" sz="16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O</a:t>
            </a:r>
            <a:r>
              <a:rPr lang="ko-KR" altLang="en-US" sz="16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en-US" altLang="ko-KR" sz="16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O</a:t>
            </a:r>
            <a:r>
              <a:rPr lang="ko-KR" altLang="en-US" sz="16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en-US" altLang="ko-KR" sz="16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O</a:t>
            </a:r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파트너</a:t>
            </a:r>
            <a:endParaRPr lang="en-US" altLang="ko-KR" sz="120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8C5FC7-1811-9A2D-3F96-29EC88554124}"/>
              </a:ext>
            </a:extLst>
          </p:cNvPr>
          <p:cNvSpPr txBox="1"/>
          <p:nvPr/>
        </p:nvSpPr>
        <p:spPr>
          <a:xfrm>
            <a:off x="3660241" y="4152781"/>
            <a:ext cx="2291653" cy="1177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30598" indent="-13059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주관기관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20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에이치나인</a:t>
            </a:r>
            <a:endParaRPr lang="en-US" altLang="ko-KR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30598" indent="-13059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참여기관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20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와이젠정보기술</a:t>
            </a:r>
            <a:b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</a:b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             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보안관련업체</a:t>
            </a:r>
            <a:b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</a:b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             </a:t>
            </a:r>
            <a:r>
              <a:rPr lang="ko-KR" altLang="en-US" sz="120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테크노베이션파트너스</a:t>
            </a:r>
            <a:endParaRPr lang="en-US" altLang="ko-KR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57599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43C7B-4F4B-63BC-1CC9-98A4F95D1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3AAF7DB-A166-A483-FE8C-342530E140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9054091"/>
              </p:ext>
            </p:extLst>
          </p:nvPr>
        </p:nvGraphicFramePr>
        <p:xfrm>
          <a:off x="414337" y="456168"/>
          <a:ext cx="6030005" cy="9269579"/>
        </p:xfrm>
        <a:graphic>
          <a:graphicData uri="http://schemas.openxmlformats.org/drawingml/2006/table">
            <a:tbl>
              <a:tblPr/>
              <a:tblGrid>
                <a:gridCol w="2077372">
                  <a:extLst>
                    <a:ext uri="{9D8B030D-6E8A-4147-A177-3AD203B41FA5}">
                      <a16:colId xmlns:a16="http://schemas.microsoft.com/office/drawing/2014/main" val="1041386363"/>
                    </a:ext>
                  </a:extLst>
                </a:gridCol>
                <a:gridCol w="1935984">
                  <a:extLst>
                    <a:ext uri="{9D8B030D-6E8A-4147-A177-3AD203B41FA5}">
                      <a16:colId xmlns:a16="http://schemas.microsoft.com/office/drawing/2014/main" val="848350541"/>
                    </a:ext>
                  </a:extLst>
                </a:gridCol>
                <a:gridCol w="2016649">
                  <a:extLst>
                    <a:ext uri="{9D8B030D-6E8A-4147-A177-3AD203B41FA5}">
                      <a16:colId xmlns:a16="http://schemas.microsoft.com/office/drawing/2014/main" val="4190916919"/>
                    </a:ext>
                  </a:extLst>
                </a:gridCol>
              </a:tblGrid>
              <a:tr h="245073"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1" hangingPunct="1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100" b="1" kern="1200">
                          <a:solidFill>
                            <a:schemeClr val="lt1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요구사항 분류</a:t>
                      </a:r>
                    </a:p>
                  </a:txBody>
                  <a:tcPr marL="15211" marR="15211" marT="15211" marB="1521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1" hangingPunct="1">
                        <a:lnSpc>
                          <a:spcPct val="120000"/>
                        </a:lnSpc>
                        <a:buNone/>
                      </a:pPr>
                      <a:r>
                        <a:rPr lang="en-US" sz="1100" b="1" kern="1200">
                          <a:solidFill>
                            <a:schemeClr val="lt1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ID</a:t>
                      </a:r>
                      <a:endParaRPr lang="ko-KR" altLang="en-US" sz="1100" b="1" kern="1200">
                        <a:solidFill>
                          <a:schemeClr val="lt1"/>
                        </a:solidFill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1" hangingPunct="1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100" b="1" kern="1200">
                          <a:solidFill>
                            <a:schemeClr val="lt1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해당 페이지</a:t>
                      </a: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970752"/>
                  </a:ext>
                </a:extLst>
              </a:tr>
              <a:tr h="238848"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현황분석 및 요구사항 정의</a:t>
                      </a:r>
                    </a:p>
                  </a:txBody>
                  <a:tcPr marL="15211" marR="15211" marT="15211" marB="1521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en-US" altLang="ko-KR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5781147"/>
                  </a:ext>
                </a:extLst>
              </a:tr>
              <a:tr h="238848"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개방</a:t>
                      </a: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DB </a:t>
                      </a: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구축</a:t>
                      </a:r>
                    </a:p>
                  </a:txBody>
                  <a:tcPr marL="15211" marR="15211" marT="15211" marB="1521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en-US" altLang="ko-KR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3813082"/>
                  </a:ext>
                </a:extLst>
              </a:tr>
              <a:tr h="238848"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품질 진단 및 개선</a:t>
                      </a:r>
                    </a:p>
                  </a:txBody>
                  <a:tcPr marL="15211" marR="15211" marT="15211" marB="1521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en-US" altLang="ko-KR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300395"/>
                  </a:ext>
                </a:extLst>
              </a:tr>
              <a:tr h="238848"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오픈</a:t>
                      </a: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API </a:t>
                      </a: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개발</a:t>
                      </a:r>
                    </a:p>
                  </a:txBody>
                  <a:tcPr marL="15211" marR="15211" marT="15211" marB="1521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en-US" altLang="ko-KR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2403585"/>
                  </a:ext>
                </a:extLst>
              </a:tr>
              <a:tr h="238848"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성과계획 및 활용방안 수립</a:t>
                      </a:r>
                    </a:p>
                  </a:txBody>
                  <a:tcPr marL="15211" marR="15211" marT="15211" marB="1521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en-US" altLang="ko-KR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7899547"/>
                  </a:ext>
                </a:extLst>
              </a:tr>
              <a:tr h="238848"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시스템 장비 구성 요구사항</a:t>
                      </a:r>
                    </a:p>
                  </a:txBody>
                  <a:tcPr marL="15211" marR="15211" marT="15211" marB="1521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1421685"/>
                  </a:ext>
                </a:extLst>
              </a:tr>
              <a:tr h="238848">
                <a:tc rowSpan="2"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기타</a:t>
                      </a:r>
                    </a:p>
                  </a:txBody>
                  <a:tcPr marL="15211" marR="15211" marT="15211" marB="1521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8496981"/>
                  </a:ext>
                </a:extLst>
              </a:tr>
              <a:tr h="2388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7410412"/>
                  </a:ext>
                </a:extLst>
              </a:tr>
              <a:tr h="238848"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보안</a:t>
                      </a:r>
                    </a:p>
                  </a:txBody>
                  <a:tcPr marL="15211" marR="15211" marT="15211" marB="1521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5319678"/>
                  </a:ext>
                </a:extLst>
              </a:tr>
              <a:tr h="238848"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성능</a:t>
                      </a:r>
                    </a:p>
                  </a:txBody>
                  <a:tcPr marL="15211" marR="15211" marT="15211" marB="1521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4882847"/>
                  </a:ext>
                </a:extLst>
              </a:tr>
              <a:tr h="238848">
                <a:tc rowSpan="2"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인터페이스</a:t>
                      </a:r>
                    </a:p>
                  </a:txBody>
                  <a:tcPr marL="15211" marR="15211" marT="15211" marB="1521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217107"/>
                  </a:ext>
                </a:extLst>
              </a:tr>
              <a:tr h="2388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2299899"/>
                  </a:ext>
                </a:extLst>
              </a:tr>
              <a:tr h="238848">
                <a:tc rowSpan="3"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데이터</a:t>
                      </a:r>
                    </a:p>
                  </a:txBody>
                  <a:tcPr marL="15211" marR="15211" marT="15211" marB="1521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3918701"/>
                  </a:ext>
                </a:extLst>
              </a:tr>
              <a:tr h="2388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2816298"/>
                  </a:ext>
                </a:extLst>
              </a:tr>
              <a:tr h="238848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endParaRPr lang="ko-KR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110050"/>
                  </a:ext>
                </a:extLst>
              </a:tr>
              <a:tr h="238848"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테스트</a:t>
                      </a:r>
                    </a:p>
                  </a:txBody>
                  <a:tcPr marL="15211" marR="15211" marT="15211" marB="1521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722865"/>
                  </a:ext>
                </a:extLst>
              </a:tr>
              <a:tr h="215830">
                <a:tc rowSpan="5"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품질</a:t>
                      </a:r>
                    </a:p>
                  </a:txBody>
                  <a:tcPr marL="15211" marR="15211" marT="15211" marB="1521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7363019"/>
                  </a:ext>
                </a:extLst>
              </a:tr>
              <a:tr h="2158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3295995"/>
                  </a:ext>
                </a:extLst>
              </a:tr>
              <a:tr h="2158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0938472"/>
                  </a:ext>
                </a:extLst>
              </a:tr>
              <a:tr h="2158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3216104"/>
                  </a:ext>
                </a:extLst>
              </a:tr>
              <a:tr h="2158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6897416"/>
                  </a:ext>
                </a:extLst>
              </a:tr>
              <a:tr h="238848"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제약사항</a:t>
                      </a:r>
                    </a:p>
                  </a:txBody>
                  <a:tcPr marL="15211" marR="15211" marT="15211" marB="1521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935820"/>
                  </a:ext>
                </a:extLst>
              </a:tr>
              <a:tr h="215830">
                <a:tc rowSpan="13"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프로젝트 관리</a:t>
                      </a:r>
                    </a:p>
                  </a:txBody>
                  <a:tcPr marL="15211" marR="15211" marT="15211" marB="1521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6116778"/>
                  </a:ext>
                </a:extLst>
              </a:tr>
              <a:tr h="2158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7610564"/>
                  </a:ext>
                </a:extLst>
              </a:tr>
              <a:tr h="2158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7786804"/>
                  </a:ext>
                </a:extLst>
              </a:tr>
              <a:tr h="2158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575543"/>
                  </a:ext>
                </a:extLst>
              </a:tr>
              <a:tr h="2158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0628475"/>
                  </a:ext>
                </a:extLst>
              </a:tr>
              <a:tr h="2158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3659213"/>
                  </a:ext>
                </a:extLst>
              </a:tr>
              <a:tr h="2158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0869312"/>
                  </a:ext>
                </a:extLst>
              </a:tr>
              <a:tr h="2158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5405688"/>
                  </a:ext>
                </a:extLst>
              </a:tr>
              <a:tr h="2158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3045662"/>
                  </a:ext>
                </a:extLst>
              </a:tr>
              <a:tr h="2158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7197672"/>
                  </a:ext>
                </a:extLst>
              </a:tr>
              <a:tr h="2158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295354"/>
                  </a:ext>
                </a:extLst>
              </a:tr>
              <a:tr h="2158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3958372"/>
                  </a:ext>
                </a:extLst>
              </a:tr>
              <a:tr h="2158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517366"/>
                  </a:ext>
                </a:extLst>
              </a:tr>
              <a:tr h="215830">
                <a:tc rowSpan="5"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프로젝트 지원</a:t>
                      </a:r>
                    </a:p>
                  </a:txBody>
                  <a:tcPr marL="15211" marR="15211" marT="15211" marB="1521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5032494"/>
                  </a:ext>
                </a:extLst>
              </a:tr>
              <a:tr h="2158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0775481"/>
                  </a:ext>
                </a:extLst>
              </a:tr>
              <a:tr h="2158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4681474"/>
                  </a:ext>
                </a:extLst>
              </a:tr>
              <a:tr h="2158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9014735"/>
                  </a:ext>
                </a:extLst>
              </a:tr>
              <a:tr h="2158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buNone/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5211" marR="15211" marT="15211" marB="1521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522027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4DC8926-ACD6-EA8A-8DE2-83D5D453BA15}"/>
              </a:ext>
            </a:extLst>
          </p:cNvPr>
          <p:cNvSpPr txBox="1"/>
          <p:nvPr/>
        </p:nvSpPr>
        <p:spPr>
          <a:xfrm>
            <a:off x="1403350" y="142102"/>
            <a:ext cx="39830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&lt; </a:t>
            </a:r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요구사항 분석표 </a:t>
            </a:r>
            <a:r>
              <a:rPr lang="en-US" altLang="ko-KR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&gt;</a:t>
            </a:r>
            <a:endParaRPr lang="ko-KR" altLang="en-US" sz="120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15277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1ED316A1-3D0B-757D-AEF4-F34868C8FC6D}"/>
              </a:ext>
            </a:extLst>
          </p:cNvPr>
          <p:cNvSpPr txBox="1"/>
          <p:nvPr/>
        </p:nvSpPr>
        <p:spPr>
          <a:xfrm>
            <a:off x="963899" y="1892346"/>
            <a:ext cx="417913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2800" b="1" spc="-68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70C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CONTENTS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27787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 spc="-1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spc="-32">
                <a:solidFill>
                  <a:schemeClr val="tx1"/>
                </a:solidFill>
                <a:effectLst/>
                <a:latin typeface="KoPubWorld돋움체 Bold" panose="00000800000000000000" pitchFamily="2" charset="-127"/>
                <a:ea typeface="KoPubWorld돋움체 Bold" panose="00000800000000000000" pitchFamily="2" charset="-127"/>
              </a:rPr>
              <a:t>제안개요 및 전략</a:t>
            </a:r>
            <a:r>
              <a:rPr lang="en-US" altLang="ko-KR" sz="1800" spc="-32">
                <a:solidFill>
                  <a:schemeClr val="tx1"/>
                </a:solidFill>
                <a:effectLst/>
                <a:latin typeface="KoPubWorld돋움체 Bold" panose="00000800000000000000" pitchFamily="2" charset="-127"/>
                <a:ea typeface="KoPubWorld돋움체 Bold" panose="00000800000000000000" pitchFamily="2" charset="-127"/>
              </a:rPr>
              <a:t>, </a:t>
            </a:r>
            <a:r>
              <a:rPr lang="ko-KR" altLang="en-US" sz="1800" spc="-32">
                <a:solidFill>
                  <a:schemeClr val="tx1"/>
                </a:solidFill>
                <a:effectLst/>
                <a:latin typeface="KoPubWorld돋움체 Bold" panose="00000800000000000000" pitchFamily="2" charset="-127"/>
                <a:ea typeface="KoPubWorld돋움체 Bold" panose="00000800000000000000" pitchFamily="2" charset="-127"/>
              </a:rPr>
              <a:t>방법론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26712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KoPubWorld바탕체 Light" panose="00000300000000000000" pitchFamily="2" charset="-127"/>
              <a:ea typeface="KoPubWorld바탕체 Light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28933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26730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Ⅰ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31689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53693798-066A-9293-D084-BAAB8EA5188D}"/>
              </a:ext>
            </a:extLst>
          </p:cNvPr>
          <p:cNvSpPr txBox="1"/>
          <p:nvPr/>
        </p:nvSpPr>
        <p:spPr>
          <a:xfrm>
            <a:off x="1792637" y="3474108"/>
            <a:ext cx="3770240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 spc="-1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spc="-32">
                <a:solidFill>
                  <a:schemeClr val="tx1"/>
                </a:solidFill>
                <a:effectLst/>
                <a:latin typeface="KoPubWorld돋움체 Bold" panose="00000800000000000000" pitchFamily="2" charset="-127"/>
                <a:ea typeface="KoPubWorld돋움체 Bold" panose="00000800000000000000" pitchFamily="2" charset="-127"/>
              </a:rPr>
              <a:t>설계 및 개발</a:t>
            </a:r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D5EDD0C4-26DC-D8BE-6716-8D1CCDC0ADA3}"/>
              </a:ext>
            </a:extLst>
          </p:cNvPr>
          <p:cNvSpPr/>
          <p:nvPr/>
        </p:nvSpPr>
        <p:spPr>
          <a:xfrm>
            <a:off x="997744" y="3366590"/>
            <a:ext cx="463836" cy="463836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KoPubWorld바탕체 Light" panose="00000300000000000000" pitchFamily="2" charset="-127"/>
              <a:ea typeface="KoPubWorld바탕체 Light" panose="00000300000000000000" pitchFamily="2" charset="-127"/>
              <a:cs typeface="+mn-cs"/>
            </a:endParaRPr>
          </a:p>
        </p:txBody>
      </p: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6FAED54C-9A10-F27F-E106-F0FC6039A040}"/>
              </a:ext>
            </a:extLst>
          </p:cNvPr>
          <p:cNvCxnSpPr>
            <a:cxnSpLocks/>
          </p:cNvCxnSpPr>
          <p:nvPr/>
        </p:nvCxnSpPr>
        <p:spPr>
          <a:xfrm>
            <a:off x="1457325" y="3588629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C90591A8-7332-1DC4-78C2-0B7B001988E0}"/>
              </a:ext>
            </a:extLst>
          </p:cNvPr>
          <p:cNvSpPr txBox="1"/>
          <p:nvPr/>
        </p:nvSpPr>
        <p:spPr>
          <a:xfrm>
            <a:off x="1026096" y="3368414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Ⅱ</a:t>
            </a:r>
          </a:p>
        </p:txBody>
      </p: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73B5E297-2288-8F31-6B00-8F038C11F2FB}"/>
              </a:ext>
            </a:extLst>
          </p:cNvPr>
          <p:cNvCxnSpPr/>
          <p:nvPr/>
        </p:nvCxnSpPr>
        <p:spPr>
          <a:xfrm>
            <a:off x="1792637" y="3864271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48B50084-448C-E2CD-68FA-B3E32C48B9D2}"/>
              </a:ext>
            </a:extLst>
          </p:cNvPr>
          <p:cNvSpPr txBox="1"/>
          <p:nvPr/>
        </p:nvSpPr>
        <p:spPr>
          <a:xfrm>
            <a:off x="1792636" y="4169432"/>
            <a:ext cx="3447437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 spc="-1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spc="-32">
                <a:solidFill>
                  <a:schemeClr val="tx1"/>
                </a:solidFill>
                <a:effectLst/>
                <a:latin typeface="KoPubWorld돋움체 Bold" panose="00000800000000000000" pitchFamily="2" charset="-127"/>
                <a:ea typeface="KoPubWorld돋움체 Bold" panose="00000800000000000000" pitchFamily="2" charset="-127"/>
              </a:rPr>
              <a:t>사업수행 및 관리</a:t>
            </a:r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5751F4F5-E233-BD0D-3542-C3386951C7AD}"/>
              </a:ext>
            </a:extLst>
          </p:cNvPr>
          <p:cNvSpPr/>
          <p:nvPr/>
        </p:nvSpPr>
        <p:spPr>
          <a:xfrm>
            <a:off x="997744" y="406191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KoPubWorld바탕체 Light" panose="00000300000000000000" pitchFamily="2" charset="-127"/>
              <a:ea typeface="KoPubWorld바탕체 Light" panose="00000300000000000000" pitchFamily="2" charset="-127"/>
              <a:cs typeface="+mn-cs"/>
            </a:endParaRPr>
          </a:p>
        </p:txBody>
      </p: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4CF6795F-A777-9D0D-F3FA-9EDD11EC0EA4}"/>
              </a:ext>
            </a:extLst>
          </p:cNvPr>
          <p:cNvCxnSpPr>
            <a:cxnSpLocks/>
          </p:cNvCxnSpPr>
          <p:nvPr/>
        </p:nvCxnSpPr>
        <p:spPr>
          <a:xfrm>
            <a:off x="1457325" y="428395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2A4BE77F-3073-3E39-3D0F-0DEEC206ED06}"/>
              </a:ext>
            </a:extLst>
          </p:cNvPr>
          <p:cNvSpPr txBox="1"/>
          <p:nvPr/>
        </p:nvSpPr>
        <p:spPr>
          <a:xfrm>
            <a:off x="1026096" y="406373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Ⅲ</a:t>
            </a: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F6FDEE6D-B42F-F795-0B4E-114057AA25CC}"/>
              </a:ext>
            </a:extLst>
          </p:cNvPr>
          <p:cNvCxnSpPr/>
          <p:nvPr/>
        </p:nvCxnSpPr>
        <p:spPr>
          <a:xfrm>
            <a:off x="1792637" y="455959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E4B42F4F-8164-4774-BB4F-D80CAFE3CF22}"/>
              </a:ext>
            </a:extLst>
          </p:cNvPr>
          <p:cNvSpPr txBox="1"/>
          <p:nvPr/>
        </p:nvSpPr>
        <p:spPr>
          <a:xfrm>
            <a:off x="1792637" y="4864757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 spc="-1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spc="-32">
                <a:solidFill>
                  <a:schemeClr val="tx1"/>
                </a:solidFill>
                <a:effectLst/>
                <a:latin typeface="KoPubWorld돋움체 Bold" panose="00000800000000000000" pitchFamily="2" charset="-127"/>
                <a:ea typeface="KoPubWorld돋움체 Bold" panose="00000800000000000000" pitchFamily="2" charset="-127"/>
              </a:rPr>
              <a:t>기타</a:t>
            </a:r>
          </a:p>
        </p:txBody>
      </p:sp>
      <p:sp>
        <p:nvSpPr>
          <p:cNvPr id="86" name="타원 85">
            <a:extLst>
              <a:ext uri="{FF2B5EF4-FFF2-40B4-BE49-F238E27FC236}">
                <a16:creationId xmlns:a16="http://schemas.microsoft.com/office/drawing/2014/main" id="{A4497247-C59A-73CB-36FB-F07E3EE7DF66}"/>
              </a:ext>
            </a:extLst>
          </p:cNvPr>
          <p:cNvSpPr/>
          <p:nvPr/>
        </p:nvSpPr>
        <p:spPr>
          <a:xfrm>
            <a:off x="997744" y="4757240"/>
            <a:ext cx="463836" cy="463836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KoPubWorld바탕체 Light" panose="00000300000000000000" pitchFamily="2" charset="-127"/>
              <a:ea typeface="KoPubWorld바탕체 Light" panose="00000300000000000000" pitchFamily="2" charset="-127"/>
              <a:cs typeface="+mn-cs"/>
            </a:endParaRPr>
          </a:p>
        </p:txBody>
      </p: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59F4C191-F10E-7536-853B-588BAB97CF60}"/>
              </a:ext>
            </a:extLst>
          </p:cNvPr>
          <p:cNvCxnSpPr>
            <a:cxnSpLocks/>
          </p:cNvCxnSpPr>
          <p:nvPr/>
        </p:nvCxnSpPr>
        <p:spPr>
          <a:xfrm>
            <a:off x="1457325" y="4979279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4CC00223-1AE3-2EC8-F628-9F898A2F5201}"/>
              </a:ext>
            </a:extLst>
          </p:cNvPr>
          <p:cNvSpPr txBox="1"/>
          <p:nvPr/>
        </p:nvSpPr>
        <p:spPr>
          <a:xfrm>
            <a:off x="1026096" y="4759064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Ⅳ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21FE6CDF-2A2A-5231-EEFB-8F64CAB4AC21}"/>
              </a:ext>
            </a:extLst>
          </p:cNvPr>
          <p:cNvCxnSpPr/>
          <p:nvPr/>
        </p:nvCxnSpPr>
        <p:spPr>
          <a:xfrm>
            <a:off x="1792637" y="5195394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6600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제안개요 및 전략</a:t>
            </a:r>
            <a:r>
              <a:rPr lang="en-US" altLang="ko-KR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, </a:t>
            </a:r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방법론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KoPubWorld바탕체 Bold" panose="00000800000000000000" pitchFamily="2" charset="-127"/>
                <a:cs typeface="Aldhabi" panose="01000000000000000000" pitchFamily="2" charset="-78"/>
              </a:rPr>
              <a:t>Ⅰ.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제안배경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사업수행 전략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제안의 특징 및 장점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수행 조직 및 인원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관련 보유 기술 및 주요 사업실적</a:t>
            </a:r>
            <a:endParaRPr lang="en-US" altLang="ko-KR" sz="200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제안요청 요건 수용</a:t>
            </a:r>
          </a:p>
        </p:txBody>
      </p:sp>
    </p:spTree>
    <p:extLst>
      <p:ext uri="{BB962C8B-B14F-4D97-AF65-F5344CB8AC3E}">
        <p14:creationId xmlns:p14="http://schemas.microsoft.com/office/powerpoint/2010/main" val="768619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</a:t>
            </a:r>
            <a:r>
              <a:rPr lang="ko-KR" altLang="en-US"/>
              <a:t>제안배경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Ⅰ. </a:t>
            </a:r>
            <a:r>
              <a:rPr lang="ko-KR" altLang="en-US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제안개요 및 전략</a:t>
            </a: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305218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1.1.1 </a:t>
            </a:r>
            <a:r>
              <a:rPr kumimoji="0" lang="ko-KR" altLang="en-US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추진배경 및 필요성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1.1 </a:t>
            </a:r>
            <a:r>
              <a:rPr kumimoji="0" lang="ko-KR" altLang="en-US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사업 배경 및 목적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내용기입</a:t>
            </a:r>
            <a:r>
              <a:rPr lang="en-US" altLang="ko-KR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2C99469-ED07-BACE-4043-A14BE6A98A73}"/>
              </a:ext>
            </a:extLst>
          </p:cNvPr>
          <p:cNvCxnSpPr>
            <a:cxnSpLocks/>
          </p:cNvCxnSpPr>
          <p:nvPr/>
        </p:nvCxnSpPr>
        <p:spPr>
          <a:xfrm>
            <a:off x="312925" y="2397218"/>
            <a:ext cx="0" cy="184057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F6B35FA-FE50-D5C3-04C6-2FEB2ED98301}"/>
              </a:ext>
            </a:extLst>
          </p:cNvPr>
          <p:cNvSpPr txBox="1"/>
          <p:nvPr/>
        </p:nvSpPr>
        <p:spPr>
          <a:xfrm>
            <a:off x="335012" y="2371141"/>
            <a:ext cx="28971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제목 기입</a:t>
            </a:r>
          </a:p>
        </p:txBody>
      </p:sp>
    </p:spTree>
    <p:extLst>
      <p:ext uri="{BB962C8B-B14F-4D97-AF65-F5344CB8AC3E}">
        <p14:creationId xmlns:p14="http://schemas.microsoft.com/office/powerpoint/2010/main" val="2953362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200" dirty="0" smtClean="0">
            <a:latin typeface="KoPubWorld돋움체 Bold" panose="00000800000000000000" pitchFamily="2" charset="-127"/>
            <a:ea typeface="KoPubWorld돋움체 Bold" panose="00000800000000000000" pitchFamily="2" charset="-127"/>
            <a:cs typeface="KoPubWorld돋움체 Bold" panose="00000800000000000000" pitchFamily="2" charset="-127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200" dirty="0" smtClean="0">
            <a:latin typeface="KoPubWorld돋움체 Medium" panose="00000600000000000000" pitchFamily="2" charset="-127"/>
            <a:ea typeface="KoPubWorld돋움체 Medium" panose="00000600000000000000" pitchFamily="2" charset="-127"/>
            <a:cs typeface="KoPubWorld돋움체 Medium" panose="00000600000000000000" pitchFamily="2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9D30EBE9304C2346AD8EC6952A85F23C" ma:contentTypeVersion="16" ma:contentTypeDescription="새 문서를 만듭니다." ma:contentTypeScope="" ma:versionID="0beda8d242283ca8ad5cd5bb1aa1bc86">
  <xsd:schema xmlns:xsd="http://www.w3.org/2001/XMLSchema" xmlns:xs="http://www.w3.org/2001/XMLSchema" xmlns:p="http://schemas.microsoft.com/office/2006/metadata/properties" xmlns:ns2="e7514280-9163-4412-ad0a-e8ade9193bee" xmlns:ns3="296b340d-c22f-4484-96dd-ad8bc868af40" targetNamespace="http://schemas.microsoft.com/office/2006/metadata/properties" ma:root="true" ma:fieldsID="c503c7f92b65afe15150ee6451e3405f" ns2:_="" ns3:_="">
    <xsd:import namespace="e7514280-9163-4412-ad0a-e8ade9193bee"/>
    <xsd:import namespace="296b340d-c22f-4484-96dd-ad8bc868af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514280-9163-4412-ad0a-e8ade9193b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이미지 태그" ma:readOnly="false" ma:fieldId="{5cf76f15-5ced-4ddc-b409-7134ff3c332f}" ma:taxonomyMulti="true" ma:sspId="dbb9d562-bd20-43bc-a33e-5cbb7cafe3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6b340d-c22f-4484-96dd-ad8bc868af40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89e01bde-2108-4b34-9411-c6bd49ed7aa3}" ma:internalName="TaxCatchAll" ma:showField="CatchAllData" ma:web="296b340d-c22f-4484-96dd-ad8bc868af4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7514280-9163-4412-ad0a-e8ade9193bee">
      <Terms xmlns="http://schemas.microsoft.com/office/infopath/2007/PartnerControls"/>
    </lcf76f155ced4ddcb4097134ff3c332f>
    <TaxCatchAll xmlns="296b340d-c22f-4484-96dd-ad8bc868af4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D62CDAD-107A-43D7-A7FF-44C6CD012359}">
  <ds:schemaRefs>
    <ds:schemaRef ds:uri="296b340d-c22f-4484-96dd-ad8bc868af40"/>
    <ds:schemaRef ds:uri="e7514280-9163-4412-ad0a-e8ade9193be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756E700-2809-459B-84AD-EC3318970829}">
  <ds:schemaRefs>
    <ds:schemaRef ds:uri="296b340d-c22f-4484-96dd-ad8bc868af40"/>
    <ds:schemaRef ds:uri="e7514280-9163-4412-ad0a-e8ade9193be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BF8794B-BC40-4BF3-B2D9-ECCD52D4CB8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c21f85bf-30cf-4a3f-b20f-fc38a03d9031}" enabled="0" method="" siteId="{c21f85bf-30cf-4a3f-b20f-fc38a03d903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5876</TotalTime>
  <Words>54759</Words>
  <Application>Microsoft Office PowerPoint</Application>
  <PresentationFormat>A4 용지(210x297mm)</PresentationFormat>
  <Paragraphs>8851</Paragraphs>
  <Slides>220</Slides>
  <Notes>137</Notes>
  <HiddenSlides>0</HiddenSlides>
  <MMClips>0</MMClips>
  <ScaleCrop>false</ScaleCrop>
  <HeadingPairs>
    <vt:vector size="6" baseType="variant">
      <vt:variant>
        <vt:lpstr>사용한 글꼴</vt:lpstr>
      </vt:variant>
      <vt:variant>
        <vt:i4>22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220</vt:i4>
      </vt:variant>
    </vt:vector>
  </HeadingPairs>
  <TitlesOfParts>
    <vt:vector size="243" baseType="lpstr">
      <vt:lpstr>a옛날사진관5</vt:lpstr>
      <vt:lpstr>G마켓 산스 TTF Bold</vt:lpstr>
      <vt:lpstr>G마켓 산스 TTF Medium</vt:lpstr>
      <vt:lpstr>KoPubWorld돋움체 Bold</vt:lpstr>
      <vt:lpstr>KoPubWorld돋움체 Medium</vt:lpstr>
      <vt:lpstr>KoPubWorld바탕체 Light</vt:lpstr>
      <vt:lpstr>KoPub돋움체_Pro Medium</vt:lpstr>
      <vt:lpstr>KoPub바탕체 Bold</vt:lpstr>
      <vt:lpstr>Pretendard</vt:lpstr>
      <vt:lpstr>경기천년제목 Bold</vt:lpstr>
      <vt:lpstr>나눔스퀘어</vt:lpstr>
      <vt:lpstr>나눔스퀘어 Bold</vt:lpstr>
      <vt:lpstr>나눔스퀘어_ac</vt:lpstr>
      <vt:lpstr>나눔스퀘어_ac ExtraBold</vt:lpstr>
      <vt:lpstr>맑은 고딕</vt:lpstr>
      <vt:lpstr>맑은 고딕</vt:lpstr>
      <vt:lpstr>함초롬바탕</vt:lpstr>
      <vt:lpstr>Aldhabi</vt:lpstr>
      <vt:lpstr>Arial</vt:lpstr>
      <vt:lpstr>Calibri</vt:lpstr>
      <vt:lpstr>Calibri Light</vt:lpstr>
      <vt:lpstr>Wingdings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이동혁</dc:creator>
  <cp:lastModifiedBy>황보 정운</cp:lastModifiedBy>
  <cp:revision>239</cp:revision>
  <cp:lastPrinted>2026-06-25T07:15:15Z</cp:lastPrinted>
  <dcterms:created xsi:type="dcterms:W3CDTF">2021-09-24T12:12:26Z</dcterms:created>
  <dcterms:modified xsi:type="dcterms:W3CDTF">2026-07-27T02:17:50Z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0x0101009D30EBE9304C2346AD8EC6952A85F23C</vt:lpwstr>
  </property>
  <property fmtid="{D5CDD505-2E9C-101B-9397-08002B2CF9AE}" pid="3" name="MediaServiceImageTags">
    <vt:lpwstr/>
  </property>
</Properties>
</file>