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35999"/>
            <a:ext cx="9000000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r>
              <a:rPr sz="13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제안 발표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2160000"/>
            <a:ext cx="10800000" cy="7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AI의료융합데이터센터 플랫폼 구축 사업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2970000"/>
            <a:ext cx="4798800" cy="432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18800" y="2970000"/>
            <a:ext cx="309600" cy="43200"/>
          </a:xfrm>
          <a:prstGeom prst="rect">
            <a:avLst/>
          </a:prstGeom>
          <a:solidFill>
            <a:srgbClr val="0B1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28400" y="2970000"/>
            <a:ext cx="2631600" cy="43200"/>
          </a:xfrm>
          <a:prstGeom prst="rect">
            <a:avLst/>
          </a:prstGeom>
          <a:solidFill>
            <a:srgbClr val="F6C7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000" y="3096000"/>
            <a:ext cx="7200000" cy="36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사업PM </a:t>
            </a:r>
            <a:r>
              <a:rPr sz="16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【성명】</a:t>
            </a:r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3510000"/>
            <a:ext cx="7740000" cy="1080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000" y="3708000"/>
            <a:ext cx="7920000" cy="10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 marL="180000" indent="-1620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제안사: 주식회사 에이치나인</a:t>
            </a:r>
          </a:p>
          <a:p>
            <a:pPr algn="l" marL="180000" indent="-1620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발주기관: 순천향대학교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0000" y="5184000"/>
            <a:ext cx="1800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HNINE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0000" y="4680000"/>
            <a:ext cx="5400000" cy="36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순천향대학교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270000"/>
            <a:ext cx="43200" cy="216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0000" y="216000"/>
            <a:ext cx="5400000" cy="324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평가항목 조견표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612000"/>
          <a:ext cx="11473200" cy="4860000"/>
        </p:xfrm>
        <a:graphic>
          <a:graphicData uri="http://schemas.openxmlformats.org/drawingml/2006/table">
            <a:tbl>
              <a:tblPr firstRow="0" bandRow="0"/>
              <a:tblGrid>
                <a:gridCol w="1224000"/>
                <a:gridCol w="1872000"/>
                <a:gridCol w="5832000"/>
                <a:gridCol w="720000"/>
                <a:gridCol w="1825200"/>
              </a:tblGrid>
              <a:tr h="32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평가항목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평가기준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페이지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정량 평가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정량 평가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경영상태 10 · 수행실적 10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별도 평가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및 방법론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전략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특성·목표 부합 전략, 일정·위험 고려 추진 전략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5~7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확장성·방법론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 확장성·실현 가능성, 개발 방법론·단계별 산출물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7~9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rowSpan="4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 및 기능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구현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요구사항 구현 방안 및 적용 가능성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8, 11~16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적용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요구사항 설계·구현 적용 방안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15, 17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전환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전환 계획·검증, 오류 처리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12, 18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운영·제약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절차·비상 대응, 제약조건 충족·테스트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16, 19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및 품질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성능·품질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구현·테스트, 단계별 품질 점검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인터페이스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장단점 분석, 최적 인터페이스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인터페이스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UI 분석·설계·구현·테스트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14, 22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일정·위험·보안·형상·문서 관리, 개발환경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 25~26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지원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시험운영·교육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시험운영 방법, 교육훈련 방법·내용·일정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하자보수·장애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하자보수 계획·범위·기간, 백업/복구·장애대응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19, 28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24000"/>
            <a:ext cx="7200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000" b="0">
                <a:solidFill>
                  <a:srgbClr val="0B3AA4"/>
                </a:solidFill>
                <a:latin typeface="Arial Black"/>
                <a:ea typeface="Arial Black"/>
                <a:cs typeface="Arial Black"/>
              </a:rP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-1211940" y="2015999"/>
            <a:ext cx="338400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1247940" y="1800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1265940" y="1673999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833940" y="1925999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211940" y="2196000"/>
            <a:ext cx="338400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 이해 및 전략</a:t>
            </a:r>
          </a:p>
        </p:txBody>
      </p:sp>
      <p:sp>
        <p:nvSpPr>
          <p:cNvPr id="8" name="Rectangle 7"/>
          <p:cNvSpPr/>
          <p:nvPr/>
        </p:nvSpPr>
        <p:spPr>
          <a:xfrm>
            <a:off x="2532059" y="2015999"/>
            <a:ext cx="338400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96059" y="1800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78059" y="1673999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10059" y="1925999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2059" y="2196000"/>
            <a:ext cx="338400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기술 및 기능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6059" y="2015999"/>
            <a:ext cx="338400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0059" y="1800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2060" y="1673999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4060" y="1925999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6059" y="2196000"/>
            <a:ext cx="338400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성능 및 품질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20060" y="2015999"/>
            <a:ext cx="338400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984060" y="1800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060" y="1673999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98060" y="1925999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20060" y="2196000"/>
            <a:ext cx="338400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프로젝트 관리 및 지원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 이해 및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추진 배경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목표와 추진 전략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목표 시스템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방법론과 일정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0000" y="1080000"/>
            <a:ext cx="11160000" cy="827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B3AA4"/>
                </a:solidFill>
                <a:latin typeface="맑은 고딕"/>
                <a:ea typeface="맑은 고딕"/>
                <a:cs typeface="맑은 고딕"/>
              </a:rPr>
              <a:t>4개 병원 의료데이터를 </a:t>
            </a:r>
            <a:r>
              <a:rPr sz="3400" b="1">
                <a:solidFill>
                  <a:srgbClr val="0B3AA4"/>
                </a:solidFill>
                <a:latin typeface="맑은 고딕"/>
                <a:ea typeface="맑은 고딕"/>
                <a:cs typeface="맑은 고딕"/>
              </a:rPr>
              <a:t>표준 원본</a:t>
            </a:r>
            <a:r>
              <a:rPr sz="3400" b="1">
                <a:solidFill>
                  <a:srgbClr val="0B3AA4"/>
                </a:solidFill>
                <a:latin typeface="맑은 고딕"/>
                <a:ea typeface="맑은 고딕"/>
                <a:cs typeface="맑은 고딕"/>
              </a:rPr>
              <a:t>으로 모으는 데이터센터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944000"/>
            <a:ext cx="11160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EMR(FHIR) · PACS · CDIS → 표준화 · 통합 저장 · 카탈로그 → 연구 활용 기반 (글로컬대학30 1차년도)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발주기관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순천향대학교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지산학연병협력팀</a:t>
            </a:r>
          </a:p>
        </p:txBody>
      </p:sp>
      <p:sp>
        <p:nvSpPr>
          <p:cNvPr id="7" name="Rectangle 6"/>
          <p:cNvSpPr/>
          <p:nvPr/>
        </p:nvSpPr>
        <p:spPr>
          <a:xfrm>
            <a:off x="3354029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사업기간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4029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계약 체결일부터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5개월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8059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사업금액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8059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5억 9,620만 원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(VAT 포함)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82090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82090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서울·부천·천안·구미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4개 병원 → 천안 센터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추진 배경 — 손실된 원본, 분산된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 이해 및 전략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COR-001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4개 병원 데이터는 손실압축 · PDF 위주 보관으로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실제보다 크게 과소 집계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— 1차년도는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원본을 표준으로 모으는 기반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이 핵심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표준화된 원본이 쌓여야 차년도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샌드박스 · NLP/AI 학습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 의미를 가짐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4000" y="1422000"/>
          <a:ext cx="6829920" cy="4554000"/>
        </p:xfrm>
        <a:graphic>
          <a:graphicData uri="http://schemas.openxmlformats.org/drawingml/2006/table">
            <a:tbl>
              <a:tblPr firstRow="0" bandRow="0"/>
              <a:tblGrid>
                <a:gridCol w="1422900"/>
                <a:gridCol w="1233180"/>
                <a:gridCol w="3035520"/>
                <a:gridCol w="1138320"/>
              </a:tblGrid>
              <a:tr h="910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유형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현재 저장량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실제 수집 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1차년도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910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PACS (의료영상)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980TB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무손실 원본 수집 시 연 1.5PB 이상 증가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대상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0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CDIS (임상검사)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13TB (PDF)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원본(파형) 수집 시 대폭 증가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 축적 우선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0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병리 (WSI)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2TB 미만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확대 시 슬라이드당 수 GB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차년도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0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EMR (정형·CDW)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124TB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CDW 서버 이관으로 별도 확보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FHIR 연동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7315920" y="1422000"/>
            <a:ext cx="1385760" cy="2475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920" y="1422000"/>
            <a:ext cx="138576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교육·연구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59120" y="1764000"/>
            <a:ext cx="1299360" cy="2115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대학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730480" y="25515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899680" y="1422000"/>
            <a:ext cx="1385760" cy="2475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99680" y="1422000"/>
            <a:ext cx="138576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실습·실증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2880" y="1764000"/>
            <a:ext cx="1299360" cy="2115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4개 병원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0314240" y="25515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483440" y="1422000"/>
            <a:ext cx="1385760" cy="2475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483440" y="1422000"/>
            <a:ext cx="138576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데이터센터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26640" y="1764000"/>
            <a:ext cx="1299360" cy="2115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천안 (본 사업)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920" y="4005000"/>
            <a:ext cx="4553280" cy="197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920" y="4005000"/>
            <a:ext cx="4553280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본 사업의 위치 — 글로컬대학30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5920" y="4383000"/>
            <a:ext cx="4373280" cy="1521000"/>
          </a:xfrm>
          <a:prstGeom prst="rect">
            <a:avLst/>
          </a:prstGeom>
          <a:noFill/>
        </p:spPr>
        <p:txBody>
          <a:bodyPr wrap="square" anchor="ctr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1244"/>
              </a:spcBef>
              <a:spcAft>
                <a:spcPts val="0"/>
              </a:spcAft>
              <a:buFont typeface="Arial"/>
              <a:buChar char="•"/>
            </a:pPr>
            <a:r>
              <a:rPr sz="1431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대학–병원(의대) 유기적 협력 체계 완성</a:t>
            </a:r>
          </a:p>
          <a:p>
            <a:pPr algn="l" marL="115200" indent="-100800">
              <a:lnSpc>
                <a:spcPct val="120000"/>
              </a:lnSpc>
              <a:spcBef>
                <a:spcPts val="1244"/>
              </a:spcBef>
              <a:spcAft>
                <a:spcPts val="0"/>
              </a:spcAft>
              <a:buFont typeface="Arial"/>
              <a:buChar char="•"/>
            </a:pPr>
            <a:r>
              <a:rPr sz="1431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교육·연구 → 실습·실증 → 상용화 클러스터</a:t>
            </a:r>
          </a:p>
          <a:p>
            <a:pPr algn="l" marL="115200" indent="-100800">
              <a:lnSpc>
                <a:spcPct val="120000"/>
              </a:lnSpc>
              <a:spcBef>
                <a:spcPts val="1244"/>
              </a:spcBef>
              <a:spcAft>
                <a:spcPts val="0"/>
              </a:spcAft>
              <a:buFont typeface="Arial"/>
              <a:buChar char="•"/>
            </a:pPr>
            <a:r>
              <a:rPr sz="1431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1차년도: 수집·표준화·통합 저장 우선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목표와 4대 추진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 이해 및 전략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COR-001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EMR(FHIR) · PACS · CDIS를 천안 데이터센터로 표준 수집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하고, 비식별 반출 · 카탈로그 검색 · 통합 관제까지 갖춘 1차년도 플랫폼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" y="1422000"/>
            <a:ext cx="3275100" cy="248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6000" y="1465200"/>
            <a:ext cx="31311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① 표준 우선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6000" y="1717200"/>
            <a:ext cx="31311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000" y="1746000"/>
            <a:ext cx="3167100" cy="2124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543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병원 전처리 서버에서 FHIR·DICOM 변환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543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중앙에는 표준 데이터만 적재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543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코드 매핑 버전관리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89100" y="1422000"/>
            <a:ext cx="3275100" cy="248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61100" y="1465200"/>
            <a:ext cx="31311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② 병원 무영향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61100" y="1717200"/>
            <a:ext cx="31311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3100" y="1746000"/>
            <a:ext cx="3167100" cy="2124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543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야간·주말 스케줄 수집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543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처리량 상한·진료 시간 자동 중지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543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작업 전 영향도 분석·승인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000" y="3996000"/>
            <a:ext cx="3275100" cy="248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6000" y="4039200"/>
            <a:ext cx="31311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③ 기 축적 우선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6000" y="4291200"/>
            <a:ext cx="31311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8000" y="4320000"/>
            <a:ext cx="3167100" cy="2124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543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운영주체 협의로 병원별 우선순위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543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이미 쌓인 데이터부터 확보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543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천안 선행 → 3개 병원 병행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89100" y="3996000"/>
            <a:ext cx="3275100" cy="248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61100" y="4039200"/>
            <a:ext cx="31311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④ 확장 수용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61100" y="4291200"/>
            <a:ext cx="31311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3100" y="4320000"/>
            <a:ext cx="3167100" cy="2124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543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실시간 수집·VDI·AI·ISMS 인터페이스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543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차년도 재구축 비용 제거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543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오브젝트 스토리지 연동 구조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26199" y="1422000"/>
            <a:ext cx="231750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26199" y="1476000"/>
            <a:ext cx="23175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26199" y="1944000"/>
            <a:ext cx="2317500" cy="323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개 병원 수집 개시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51700" y="1422000"/>
            <a:ext cx="231750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51700" y="1476000"/>
            <a:ext cx="23175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k≥5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1700" y="1944000"/>
            <a:ext cx="2317500" cy="323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비식별 반출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7126199" y="2394000"/>
          <a:ext cx="4743000" cy="4086000"/>
        </p:xfrm>
        <a:graphic>
          <a:graphicData uri="http://schemas.openxmlformats.org/drawingml/2006/table">
            <a:tbl>
              <a:tblPr firstRow="0" bandRow="0"/>
              <a:tblGrid>
                <a:gridCol w="2371500"/>
                <a:gridCol w="2371500"/>
              </a:tblGrid>
              <a:tr h="817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지표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17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변환 품질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검증·격리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17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지연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24시간 초과 시 장애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17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무손실 수집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RAW / JPEG2000 Lossless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17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비식별 반출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승인 후 1주 이내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3. 목표 시스템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 이해 및 전략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ECR-001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병원별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포워딩 에이전트 · 전처리 서버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가 표준 변환해 전송하고, 천안 센터는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저장 · 색인 · 검색 · 비식별 반출 · 관제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계층으로 구성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병원별 수집 경로·큐 분리 —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한 병원의 장애가 다른 병원에 번지지 않음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" y="1422000"/>
            <a:ext cx="9295200" cy="792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00" y="1422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48000" y="1486800"/>
            <a:ext cx="262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연구자 검색·코호트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6400" y="1486800"/>
            <a:ext cx="262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DICOM Web 뷰어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4800" y="1486800"/>
            <a:ext cx="262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수집 관제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09200" y="1422000"/>
            <a:ext cx="216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EMR 계정·토큰 연동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000" y="2268000"/>
            <a:ext cx="9295200" cy="792000"/>
          </a:xfrm>
          <a:prstGeom prst="rect">
            <a:avLst/>
          </a:prstGeom>
          <a:solidFill>
            <a:srgbClr val="245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000" y="2268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반출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48000" y="2332800"/>
            <a:ext cx="262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반출 승인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26400" y="2332800"/>
            <a:ext cx="262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비식별화 (익스포트 서버)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4800" y="2332800"/>
            <a:ext cx="262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추출·다운로드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09200" y="2268000"/>
            <a:ext cx="216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원본 / 비식별 분리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000" y="3114000"/>
            <a:ext cx="9295200" cy="792000"/>
          </a:xfrm>
          <a:prstGeom prst="rect">
            <a:avLst/>
          </a:prstGeom>
          <a:solidFill>
            <a:srgbClr val="1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0000" y="3114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저장·색인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48000" y="3178800"/>
            <a:ext cx="195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FHIR 저장소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56800" y="3178800"/>
            <a:ext cx="195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DICOM 저장소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65600" y="3178800"/>
            <a:ext cx="195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문서 저장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74400" y="3178800"/>
            <a:ext cx="195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카탈로그·인덱싱 DB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09200" y="3114000"/>
            <a:ext cx="216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Open API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000" y="3960000"/>
            <a:ext cx="9295200" cy="792000"/>
          </a:xfrm>
          <a:prstGeom prst="rect">
            <a:avLst/>
          </a:prstGeom>
          <a:solidFill>
            <a:srgbClr val="2B8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0000" y="3960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표준화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548000" y="4024800"/>
            <a:ext cx="262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표준화·정규화 엔진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26400" y="4024800"/>
            <a:ext cx="262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코드 매핑 (EDI·KCD·ATC)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04800" y="4024800"/>
            <a:ext cx="262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품질 검증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09200" y="3960000"/>
            <a:ext cx="216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매핑 버전관리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4000" y="4806000"/>
            <a:ext cx="9295200" cy="792000"/>
          </a:xfrm>
          <a:prstGeom prst="rect">
            <a:avLst/>
          </a:prstGeom>
          <a:solidFill>
            <a:srgbClr val="1C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0000" y="4806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548000" y="4870800"/>
            <a:ext cx="195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포워딩 에이전트 ×4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556800" y="4870800"/>
            <a:ext cx="195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중계 게이트웨이 ×4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65600" y="4870800"/>
            <a:ext cx="195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변환·수집 모듈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74400" y="4870800"/>
            <a:ext cx="195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중간 테이블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09200" y="4806000"/>
            <a:ext cx="216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서울·부천·천안·구미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4. 개발 방법론과 5개월 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 이해 및 전략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PMR-011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상세설계를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소위원회에서 확정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하고,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천안 선행 구축 → 3개 병원 병행 연동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으로 4.5개월 차에 4개 병원 수집 개시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422000"/>
          <a:ext cx="7005044" cy="5058000"/>
        </p:xfrm>
        <a:graphic>
          <a:graphicData uri="http://schemas.openxmlformats.org/drawingml/2006/table">
            <a:tbl>
              <a:tblPr firstRow="0" bandRow="0"/>
              <a:tblGrid>
                <a:gridCol w="1209504"/>
                <a:gridCol w="3023760"/>
                <a:gridCol w="554356"/>
                <a:gridCol w="554356"/>
                <a:gridCol w="554356"/>
                <a:gridCol w="554356"/>
                <a:gridCol w="554356"/>
              </a:tblGrid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활동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착수·설계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착수보고, 운영주체 협의, 소위원회 확정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 구축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임시 서버·저장소·포트맵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연동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천안 선행 → 3개 병원 병행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 구축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표준화·카탈로그·비식별·관제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수집·시험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개시, 통합시험, 최종보고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491046" y="1422000"/>
          <a:ext cx="4378153" cy="4404645"/>
        </p:xfrm>
        <a:graphic>
          <a:graphicData uri="http://schemas.openxmlformats.org/drawingml/2006/table">
            <a:tbl>
              <a:tblPr firstRow="0" bandRow="0"/>
              <a:tblGrid>
                <a:gridCol w="2432307"/>
                <a:gridCol w="1945846"/>
              </a:tblGrid>
              <a:tr h="88092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마일스톤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8092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착수보고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14일 이내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8092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상세설계 확정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0.5개월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8092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개시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4.5개월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8092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최종보고·검수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5개월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7491046" y="5934645"/>
            <a:ext cx="4378153" cy="545355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산출물: 수행계획서 → 상세설계서·매핑 정의서 → 통합테스트 결과서 → 완료보고서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기술 및 기능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수집 · 표준화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저장 · 검색 · 뷰어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비식별 · 관제 · 보안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전환 · 운영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데이터 수집 — 포워딩 에이전트 · 중계 게이트웨이 · 중간 테이블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기술 및 기능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SR-003, SR-007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병원마다 1식 — PACS · EMR · CDIS를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일 단위 라우팅으로 받아 표준 변환 후 전송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진료 시스템에는 부하를 주지 않음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" y="1422000"/>
            <a:ext cx="1459995" cy="2198574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000" y="1422000"/>
            <a:ext cx="1459995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대상 선별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200" y="1764000"/>
            <a:ext cx="1373595" cy="1838574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중간 테이블 기준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812795" y="2413287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981995" y="1422000"/>
            <a:ext cx="1459995" cy="2198574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981995" y="1422000"/>
            <a:ext cx="1459995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25195" y="1764000"/>
            <a:ext cx="1373595" cy="1838574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DICOM C-STORE·Q/R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470791" y="2413287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39991" y="1422000"/>
            <a:ext cx="1459995" cy="2198574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39991" y="1422000"/>
            <a:ext cx="1459995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표준 변환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83191" y="1764000"/>
            <a:ext cx="1373595" cy="1838574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전처리 서버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128786" y="2413287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97986" y="1422000"/>
            <a:ext cx="1459995" cy="2198574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97986" y="1422000"/>
            <a:ext cx="1459995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1186" y="1764000"/>
            <a:ext cx="1373595" cy="1838574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TLS 1.3·재전송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24000" y="3728574"/>
          <a:ext cx="6433982" cy="2751425"/>
        </p:xfrm>
        <a:graphic>
          <a:graphicData uri="http://schemas.openxmlformats.org/drawingml/2006/table">
            <a:tbl>
              <a:tblPr firstRow="0" bandRow="0"/>
              <a:tblGrid>
                <a:gridCol w="1484765"/>
                <a:gridCol w="4949217"/>
              </a:tblGrid>
              <a:tr h="5502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5502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스케줄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야간·주말 실행, 진료 시간 자동 일시정지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2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부하 제어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 전송 수·대역폭 상한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2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무손실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RAW 또는 JPEG 2000 Lossless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2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신뢰성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큐·재시도·체크섬, UID 중복 방지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919982" y="1422000"/>
          <a:ext cx="4949216" cy="4404642"/>
        </p:xfrm>
        <a:graphic>
          <a:graphicData uri="http://schemas.openxmlformats.org/drawingml/2006/table">
            <a:tbl>
              <a:tblPr firstRow="0" bandRow="0"/>
              <a:tblGrid>
                <a:gridCol w="1838280"/>
                <a:gridCol w="3110936"/>
              </a:tblGrid>
              <a:tr h="73410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중간 테이블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3410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환자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환자 단위 통합·가명 매핑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410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수진 단위 태깅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410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검사·처방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PACS·CDIS 매칭 (Accession)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410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투약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코호트 조건 (ATC)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410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비식별 대상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반출 승인 환자 목록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6919982" y="5934645"/>
            <a:ext cx="4949217" cy="545355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중간 테이블·코드 매핑은 EMR 운영사 협업 — 착수 시 항목·주기 확정, 협업 비용 수행사 부담 (COR-002)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변환 · 수집 모듈과 표준화 · 정규화 엔진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기술 및 기능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SR-003, SR-004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병원마다 다른 포맷을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HL7 FHIR · DICOM · IHE로 정규화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하고, 코드 매핑 · 오류 정제 · 품질 검증을 규칙 기반으로 자동 수행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" y="1422000"/>
            <a:ext cx="4377600" cy="792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000" y="1422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48000" y="1486800"/>
            <a:ext cx="150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HL7 v2·DB·파일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6799" y="1486800"/>
            <a:ext cx="150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DICOM 원본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1600" y="1422000"/>
            <a:ext cx="1224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원천 보존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000" y="2268000"/>
            <a:ext cx="4377600" cy="792000"/>
          </a:xfrm>
          <a:prstGeom prst="rect">
            <a:avLst/>
          </a:prstGeom>
          <a:solidFill>
            <a:srgbClr val="245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2268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정규화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48000" y="2332800"/>
            <a:ext cx="150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FHIR 리소스 매핑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06799" y="2332800"/>
            <a:ext cx="150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DICOM 태그 보정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91600" y="2268000"/>
            <a:ext cx="1224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표준 포맷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000" y="3114000"/>
            <a:ext cx="4377600" cy="792000"/>
          </a:xfrm>
          <a:prstGeom prst="rect">
            <a:avLst/>
          </a:prstGeom>
          <a:solidFill>
            <a:srgbClr val="1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0000" y="3114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코드 매핑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48000" y="3178800"/>
            <a:ext cx="150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EDI·KCD·ATC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06799" y="3178800"/>
            <a:ext cx="150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EMR 질환코드 연동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91600" y="3114000"/>
            <a:ext cx="1224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용어 표준화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000" y="3960000"/>
            <a:ext cx="4377600" cy="792000"/>
          </a:xfrm>
          <a:prstGeom prst="rect">
            <a:avLst/>
          </a:prstGeom>
          <a:solidFill>
            <a:srgbClr val="2B8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000" y="3960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정제·검증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48000" y="4024800"/>
            <a:ext cx="150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오류 정제·복구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06799" y="4024800"/>
            <a:ext cx="150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완전성·정확성·일관성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91600" y="3960000"/>
            <a:ext cx="1224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품질 리포트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177600" y="1422000"/>
          <a:ext cx="5691599" cy="5058000"/>
        </p:xfrm>
        <a:graphic>
          <a:graphicData uri="http://schemas.openxmlformats.org/drawingml/2006/table">
            <a:tbl>
              <a:tblPr firstRow="0" bandRow="0"/>
              <a:tblGrid>
                <a:gridCol w="1720716"/>
                <a:gridCol w="3970883"/>
              </a:tblGrid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 축적 우선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PDF 결과지·검사 문서 → FHIR DocumentReference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단계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비식별 없이 원본 보존, 메타데이터 자동 태깅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매핑 버전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규칙 버전 기록 → 재변환 가능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표준화 산출물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단어·용어·도메인·코드 사전, AS-IS/TO-BE 매핑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차년도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ECG 등 파형 수집 커넥터 골격 확보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3. 메타데이터 카탈로그 · 통합 검색 · 연구 코호트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기술 및 기능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SR-002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EMR은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FHIR로 직접 저장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영상은 DICOM 태그를 자동 추출해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적재 시점 색인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— 복합 조건 검색과 코호트로 연구자가 바로 활용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" y="1422000"/>
            <a:ext cx="3740400" cy="50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000" y="1422000"/>
            <a:ext cx="3740400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통합 저장 · 색인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999" y="1800000"/>
            <a:ext cx="3560400" cy="4608000"/>
          </a:xfrm>
          <a:prstGeom prst="rect">
            <a:avLst/>
          </a:prstGeom>
          <a:noFill/>
        </p:spPr>
        <p:txBody>
          <a:bodyPr wrap="square" anchor="ctr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유형별 저장소(FHIR·DICOM·문서) + 공통 인덱싱 DB</a:t>
            </a:r>
          </a:p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DICOM 태그 자동 추출, 유형별 메타 스키마</a:t>
            </a:r>
          </a:p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EMR 기초정보로 메타데이터 태깅</a:t>
            </a:r>
          </a:p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다중 데이터 그룹 계층화·일괄 검색</a:t>
            </a:r>
          </a:p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적재 현황 모니터링 (관제 연동)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6400" y="1422000"/>
            <a:ext cx="3740400" cy="50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26400" y="1422000"/>
            <a:ext cx="3740400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검색 · 코호트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6400" y="1800000"/>
            <a:ext cx="3560400" cy="4608000"/>
          </a:xfrm>
          <a:prstGeom prst="rect">
            <a:avLst/>
          </a:prstGeom>
          <a:noFill/>
        </p:spPr>
        <p:txBody>
          <a:bodyPr wrap="square" anchor="ctr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복합 조건·판독문 키워드·썸네일 검색</a:t>
            </a:r>
          </a:p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코호트 조건 저장·태깅·사용자 관리</a:t>
            </a:r>
          </a:p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코호트별 접근 제어·만료 일시</a:t>
            </a:r>
          </a:p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CSV Export, 관리자 로그 확인</a:t>
            </a:r>
          </a:p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개인 폴더에 검색 조건 저장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799" y="1422000"/>
            <a:ext cx="3740400" cy="50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8799" y="1422000"/>
            <a:ext cx="3740400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추출 · 다운로드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8799" y="1800000"/>
            <a:ext cx="3560400" cy="4608000"/>
          </a:xfrm>
          <a:prstGeom prst="rect">
            <a:avLst/>
          </a:prstGeom>
          <a:noFill/>
        </p:spPr>
        <p:txBody>
          <a:bodyPr wrap="square" anchor="ctr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원본·DICOM·JPEG·XML·JSON 변환</a:t>
            </a:r>
          </a:p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처방단위 폴더·파일명 지정 옵션</a:t>
            </a:r>
          </a:p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승인 → 비식별 → 추가 인증 후 다운로드</a:t>
            </a:r>
          </a:p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추출 이력 감사 추적</a:t>
            </a:r>
          </a:p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추출 대상 목록 자동 생성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4. DICOM Web 뷰어 · EMR 연동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기술 및 기능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SR-002, SR-005, SR-006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HTML5 Zero-footprint 뷰어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로 설치 없이 조회하고, 환자의 다른 검사 · 문서를 함께 비교하며, EMR · CDW에서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토큰으로 바로 호출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422000"/>
          <a:ext cx="6209017" cy="5058000"/>
        </p:xfrm>
        <a:graphic>
          <a:graphicData uri="http://schemas.openxmlformats.org/drawingml/2006/table">
            <a:tbl>
              <a:tblPr firstRow="0" bandRow="0"/>
              <a:tblGrid>
                <a:gridCol w="1757269"/>
                <a:gridCol w="4451748"/>
              </a:tblGrid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DICOM Web 뷰어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DICOMweb (WADO-RS·QIDO-RS) 기반 HTML5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Zero-footprint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메모리 렌더링, 종료 시 흔적 삭제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 처리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Layout, Zoom·Rotate·Pan·Fit·WWL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브라우저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다른 검사·문서 동시 비교, 썸네일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Open API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DICOM Q/R·DICOMweb·IHE XDS·FHIR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695018" y="1422000"/>
            <a:ext cx="1592727" cy="2340259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95018" y="1422000"/>
            <a:ext cx="1592727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EMR·CDW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8218" y="1764000"/>
            <a:ext cx="1506327" cy="1980259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뷰어 호출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316545" y="2484129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85745" y="1422000"/>
            <a:ext cx="1592727" cy="2340259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85745" y="1422000"/>
            <a:ext cx="1592727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토큰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8945" y="1764000"/>
            <a:ext cx="1506327" cy="1980259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카탈로그 발행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0107272" y="2484129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276472" y="1422000"/>
            <a:ext cx="1592727" cy="2340259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276472" y="1422000"/>
            <a:ext cx="1592727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뷰어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19672" y="1764000"/>
            <a:ext cx="1506327" cy="1980259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해당 검사 표시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695018" y="3870259"/>
          <a:ext cx="5174181" cy="2609740"/>
        </p:xfrm>
        <a:graphic>
          <a:graphicData uri="http://schemas.openxmlformats.org/drawingml/2006/table">
            <a:tbl>
              <a:tblPr firstRow="0" bandRow="0"/>
              <a:tblGrid>
                <a:gridCol w="2255412"/>
                <a:gridCol w="2918769"/>
              </a:tblGrid>
              <a:tr h="65243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EMR 사용자 연동 (SR-005)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5243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연동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4개 병원 ID·암호화 비밀번호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243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현행화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퇴직·전보 시 자동 비활성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243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 권한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역할별 CRUD·권한별 화면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5. 비식별화 처리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기술 및 기능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SR-001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원본은 그대로,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반출 승인 데이터만 익스포트 가상화 서버에서 배치 비식별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— 가명처리 · k≥5 익명성 · DICOM 태그 · 안면 재식별 방지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비식별 적정성 · 재식별 위험 평가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내부평가서를 연차 종료 평가서에 첨부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000" y="1422000"/>
            <a:ext cx="1145045" cy="3654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4000" y="1422000"/>
            <a:ext cx="1145045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반출 요청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200" y="1764000"/>
            <a:ext cx="1058645" cy="3294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코호트 목록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497845" y="3141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667045" y="1422000"/>
            <a:ext cx="1145045" cy="3654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667045" y="1422000"/>
            <a:ext cx="1145045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0245" y="1764000"/>
            <a:ext cx="1058645" cy="3294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관리자·IRB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840890" y="3141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010090" y="1422000"/>
            <a:ext cx="1145045" cy="3654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010090" y="1422000"/>
            <a:ext cx="1145045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배치 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53290" y="1764000"/>
            <a:ext cx="1058645" cy="3294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약 1주 이내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183936" y="3141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53136" y="1422000"/>
            <a:ext cx="1145045" cy="3654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53136" y="1422000"/>
            <a:ext cx="1145045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반출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96336" y="1764000"/>
            <a:ext cx="1058645" cy="3294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이력 기록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000" y="5184000"/>
            <a:ext cx="253309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4000" y="5238000"/>
            <a:ext cx="253309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k≥5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000" y="5706000"/>
            <a:ext cx="253309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k-익명성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65090" y="5184000"/>
            <a:ext cx="253309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65090" y="5238000"/>
            <a:ext cx="253309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SHA-256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65090" y="5706000"/>
            <a:ext cx="253309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해시 + 솔트 가명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5660181" y="1422000"/>
          <a:ext cx="6209017" cy="4553997"/>
        </p:xfrm>
        <a:graphic>
          <a:graphicData uri="http://schemas.openxmlformats.org/drawingml/2006/table">
            <a:tbl>
              <a:tblPr firstRow="0" bandRow="0"/>
              <a:tblGrid>
                <a:gridCol w="1671658"/>
                <a:gridCol w="4537359"/>
              </a:tblGrid>
              <a:tr h="65057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5057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가명처리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SHA-256 + 솔트, 매핑키 별도 보관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057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익명성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k-익명성·l-다양성·t-근접성 자동 판정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057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DICOM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식별 태그 제거·마스킹, burned-in 문자 탐지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057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CT·MR 안면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3D 안면(스킨) 제거 (Defacing)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057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텍스트 (EMR·PDF)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성명·주민번호·연락처 자동 탐지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057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요청·승인·기법·일시 로깅 (가이드라인 준수)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6. 수집 관제 · 모니터링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기술 및 기능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SR-008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4개 병원 수집 건수 · 용량 · 오류와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에이전트 가동 상태 · 최종 수신 시각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한 화면에서 — 임계값 초과 시 메일 · SMS 자동 알림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" y="1422000"/>
            <a:ext cx="1734857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000" y="1476000"/>
            <a:ext cx="1734857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10초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000" y="1944000"/>
            <a:ext cx="1734857" cy="323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응답 지연 경고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66857" y="1422000"/>
            <a:ext cx="1734857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66857" y="1476000"/>
            <a:ext cx="1734857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30초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66857" y="1944000"/>
            <a:ext cx="1734857" cy="323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응답 지연 장애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09714" y="1422000"/>
            <a:ext cx="1734857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09714" y="1476000"/>
            <a:ext cx="1734857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24h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9714" y="1944000"/>
            <a:ext cx="1734857" cy="323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미수신 장애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000" y="2394000"/>
            <a:ext cx="1206642" cy="4086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4000" y="2394000"/>
            <a:ext cx="1206642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감지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200" y="2736000"/>
            <a:ext cx="1120242" cy="3726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임계값 초과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1559442" y="4328999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728642" y="2394000"/>
            <a:ext cx="1206642" cy="4086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728642" y="2394000"/>
            <a:ext cx="1206642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71842" y="2736000"/>
            <a:ext cx="1120242" cy="3726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경고/장애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964085" y="4328999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133285" y="2394000"/>
            <a:ext cx="1206642" cy="4086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133285" y="2394000"/>
            <a:ext cx="1206642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알림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76485" y="2736000"/>
            <a:ext cx="1120242" cy="3726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메일·SMS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4368728" y="4328999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37928" y="2394000"/>
            <a:ext cx="1206642" cy="4086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37928" y="2394000"/>
            <a:ext cx="1206642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1128" y="2736000"/>
            <a:ext cx="1120242" cy="3726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이력 기록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5906571" y="1422000"/>
          <a:ext cx="5962628" cy="5057997"/>
        </p:xfrm>
        <a:graphic>
          <a:graphicData uri="http://schemas.openxmlformats.org/drawingml/2006/table">
            <a:tbl>
              <a:tblPr firstRow="0" bandRow="0"/>
              <a:tblGrid>
                <a:gridCol w="1788788"/>
                <a:gridCol w="4173840"/>
              </a:tblGrid>
              <a:tr h="72257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2257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병원·유형·일자별 건수·용량·오류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257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가동 상태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에이전트·게이트웨이 하트비트, 최종 수신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257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오류율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임계값 발주처 협의 설정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257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권한·이력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권한별 접근, 장애·조치 이력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257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 결과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 성공·실패 표시 (DAR-001)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257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인프라 연계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HW 지표 수신 인터페이스 제공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7. 기술적 보안 — 암호화 · 접근통제 · 감사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기술 및 기능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SER-001, SER-002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저장 AES-256 · 전송 TLS 1.3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암호키 생명주기, RBAC, 위변조 방지 로그, 원본 · 비식별 분리로 의료정보를 설계 단계부터 보호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" y="1422000"/>
            <a:ext cx="2800800" cy="248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6000" y="1465200"/>
            <a:ext cx="2656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암호화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6000" y="1717200"/>
            <a:ext cx="2656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000" y="1746000"/>
            <a:ext cx="2692800" cy="2124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88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저장 AES-256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88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전송 TLS 1.3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88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키 생성·교체·폐기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88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키 접근 이중 승인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14800" y="1422000"/>
            <a:ext cx="2800800" cy="248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86800" y="1465200"/>
            <a:ext cx="2656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접근통제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86800" y="1717200"/>
            <a:ext cx="2656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68800" y="1746000"/>
            <a:ext cx="2692800" cy="2124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88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RBAC·코호트별 범위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88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추출 시 추가 인증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88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관리자 최소 권한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88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계정 변경 이력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000" y="3996000"/>
            <a:ext cx="2800800" cy="248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6000" y="4039200"/>
            <a:ext cx="2656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감사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6000" y="4291200"/>
            <a:ext cx="2656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8000" y="4320000"/>
            <a:ext cx="2692800" cy="2124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88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접근·추출 이력 로깅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88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해시 체인 위변조 방지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88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관리자 화면 조회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88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비식별 처리 이력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14800" y="3996000"/>
            <a:ext cx="2800800" cy="248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86800" y="4039200"/>
            <a:ext cx="2656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분리·네트워크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86800" y="4291200"/>
            <a:ext cx="2656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68800" y="4320000"/>
            <a:ext cx="2692800" cy="2124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88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원본/비식별 논리 분리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88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필요 포트만 허용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88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네트워크 구성도·포트맵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88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병원망 영향 차단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177600" y="1422000"/>
          <a:ext cx="5691599" cy="5057998"/>
        </p:xfrm>
        <a:graphic>
          <a:graphicData uri="http://schemas.openxmlformats.org/drawingml/2006/table">
            <a:tbl>
              <a:tblPr firstRow="0" bandRow="0"/>
              <a:tblGrid>
                <a:gridCol w="2199027"/>
                <a:gridCol w="3492572"/>
              </a:tblGrid>
              <a:tr h="97506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법령·가이드라인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준수 방안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115774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개인정보보호법·의료법·생명윤리법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단계 체크리스트, 검수 전 점검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7506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가명정보 처리 가이드라인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개인정보보호위원회·보건복지부 기준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7506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취약점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전 점검·조치 결과보고서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7506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ISMS 솔루션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차년도 — 연동 인터페이스 선반영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8. 데이터 전환 계획 · 검증 · 오류 처리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기술 및 기능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SR-003, SR-004, COR-002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기 축적 데이터를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시범 전환 → 본 전환 → 대사 검증 → 재처리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절차로 이관하고, 이관 정상성은 통합시험에서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" y="1422000"/>
            <a:ext cx="1274400" cy="2340259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000" y="1422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전환 계획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200" y="1764000"/>
            <a:ext cx="1188000" cy="1980259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병원·유형별 순서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627200" y="2484129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796400" y="1422000"/>
            <a:ext cx="1274400" cy="2340259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796400" y="1422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시범 전환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39600" y="1764000"/>
            <a:ext cx="1188000" cy="1980259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표본 1주 분량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099600" y="2484129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68800" y="1422000"/>
            <a:ext cx="1274400" cy="2340259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68800" y="1422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본 전환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1999" y="1764000"/>
            <a:ext cx="1188000" cy="1980259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야간·주말 배치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572000" y="2484129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41200" y="1422000"/>
            <a:ext cx="1274400" cy="2340259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41200" y="1422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대사·재처리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4400" y="1764000"/>
            <a:ext cx="1188000" cy="1980259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격리 건 보정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24000" y="3870259"/>
          <a:ext cx="5691599" cy="2609740"/>
        </p:xfrm>
        <a:graphic>
          <a:graphicData uri="http://schemas.openxmlformats.org/drawingml/2006/table">
            <a:tbl>
              <a:tblPr firstRow="0" bandRow="0"/>
              <a:tblGrid>
                <a:gridCol w="1860715"/>
                <a:gridCol w="3830884"/>
              </a:tblGrid>
              <a:tr h="65243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운영주체 협의 (COR-002)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5243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보관 형태·경로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병원별 위치·포맷·제공 범위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243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우선순위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유형·병원별 확보 순서·일정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243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부하 최소화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추출 방식·시간대·처리량 합의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177600" y="1422000"/>
          <a:ext cx="5691600" cy="2616685"/>
        </p:xfrm>
        <a:graphic>
          <a:graphicData uri="http://schemas.openxmlformats.org/drawingml/2006/table">
            <a:tbl>
              <a:tblPr firstRow="0" bandRow="0"/>
              <a:tblGrid>
                <a:gridCol w="2418930"/>
                <a:gridCol w="3272670"/>
              </a:tblGrid>
              <a:tr h="5233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5233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건수 대사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누락 0건 (격리 제외)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3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무결성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체크섬·참조 무결성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3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적합성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FHIR 프로파일·DICOM 필수 태그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3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매핑률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【목표치 협의】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177600" y="4146685"/>
          <a:ext cx="5691600" cy="2333312"/>
        </p:xfrm>
        <a:graphic>
          <a:graphicData uri="http://schemas.openxmlformats.org/drawingml/2006/table">
            <a:tbl>
              <a:tblPr firstRow="0" bandRow="0"/>
              <a:tblGrid>
                <a:gridCol w="2134350"/>
                <a:gridCol w="3557250"/>
              </a:tblGrid>
              <a:tr h="583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오류 유형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583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포맷·필수값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격리 → 규칙 보정 → 재변환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3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전송 실패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재시도 → 장애 알림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3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매핑 미존재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미매핑 목록 → 매핑 추가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9. 운영 · 백업/복구 · 제약사항 대응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기술 및 기능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DAR-001, COR-001, COR-003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백업 주기 · 세대관리와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RPO · RTO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를 정하고 검수 단계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복구 시험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으로 증명, 병원 무영향 · HW 별도 트랙 등 제약은 설계로 흡수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422000"/>
          <a:ext cx="5691600" cy="4158000"/>
        </p:xfrm>
        <a:graphic>
          <a:graphicData uri="http://schemas.openxmlformats.org/drawingml/2006/table">
            <a:tbl>
              <a:tblPr firstRow="0" bandRow="0"/>
              <a:tblGrid>
                <a:gridCol w="2276640"/>
                <a:gridCol w="1770720"/>
                <a:gridCol w="1644240"/>
              </a:tblGrid>
              <a:tr h="1039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 대상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1039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인덱싱 DB·메타데이터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 증분/주 전체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【4주·4세대】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39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매핑 규칙·설정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 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 버전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39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감사 로그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【법정 기간】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324000" y="5688000"/>
            <a:ext cx="18252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000" y="5742000"/>
            <a:ext cx="18252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【24h】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000" y="6210000"/>
            <a:ext cx="18252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RPO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57200" y="5688000"/>
            <a:ext cx="18252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57200" y="5742000"/>
            <a:ext cx="18252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【8h】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57200" y="6210000"/>
            <a:ext cx="18252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RTO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90400" y="5688000"/>
            <a:ext cx="18252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90400" y="5742000"/>
            <a:ext cx="18252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1회↑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0400" y="6210000"/>
            <a:ext cx="18252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복구 시험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177600" y="1422000"/>
          <a:ext cx="5691599" cy="5058000"/>
        </p:xfrm>
        <a:graphic>
          <a:graphicData uri="http://schemas.openxmlformats.org/drawingml/2006/table">
            <a:tbl>
              <a:tblPr firstRow="0" bandRow="0"/>
              <a:tblGrid>
                <a:gridCol w="2058663"/>
                <a:gridCol w="3632936"/>
              </a:tblGrid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제약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 · 테스트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병원 진료 무영향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야간·주말, 처리량 상한 — 부하 측정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HW 별도 트랙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가상화 패키지 — 임시 서버 선행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5개월 일정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천안 선행 → 3개 병원 병행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지식재산권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 산출물 제출, 소스 임치 대응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오픈소스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안정 버전, 12개월 무상 기술지원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성능 및 품질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시스템 인터페이스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사용자 인터페이스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성능 · 품질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시스템 인터페이스 — 연계 방식 비교와 선택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성능 및 품질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SR-007, ECR-001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연계 대상별로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표준 프로토콜 · 중간 테이블 · 파일 수집 · API 토큰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의 장단점을 비교해 선택하고, 연계별 큐로 장애를 격리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422000"/>
          <a:ext cx="11545198" cy="2865416"/>
        </p:xfrm>
        <a:graphic>
          <a:graphicData uri="http://schemas.openxmlformats.org/drawingml/2006/table">
            <a:tbl>
              <a:tblPr firstRow="0" bandRow="0"/>
              <a:tblGrid>
                <a:gridCol w="2061642"/>
                <a:gridCol w="3092464"/>
                <a:gridCol w="2783217"/>
                <a:gridCol w="3607875"/>
              </a:tblGrid>
              <a:tr h="5347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대상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2653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프로토콜 (DICOM, FHIR)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준수, 재사용성 높음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원천 지원 여부 의존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PACS 영상, FHIR 지원 EMR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47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중간 테이블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원천 무변경, 운영사 통제 용이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운영사 협업 필요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EMR 태깅 정보 (SR-007)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47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파일·DB 수집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비정형 데이터 확보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변환 부담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CDIS·PDF 결과지 (SR-004)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47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 토큰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 호출, 권한 연계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 연동 필요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EMR·CDW 뷰어 호출 (SR-006)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24000" y="4395416"/>
            <a:ext cx="3788400" cy="208458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6000" y="4438616"/>
            <a:ext cx="36444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연계별 큐 분리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6000" y="4690616"/>
            <a:ext cx="36444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000" y="4719416"/>
            <a:ext cx="3680400" cy="1724583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한 병원·시스템 장애가 다른 수집에 영향 없음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병원·유형별 독립 처리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2400" y="4395416"/>
            <a:ext cx="3788400" cy="208458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4400" y="4438616"/>
            <a:ext cx="36444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장애 시 보관·재개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4400" y="4690616"/>
            <a:ext cx="36444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6400" y="4719416"/>
            <a:ext cx="3680400" cy="1724583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큐에 보관 후 복구되면 이어서 처리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재전송·중복 방지 (UID)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0800" y="4395416"/>
            <a:ext cx="3788400" cy="208458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52799" y="4438616"/>
            <a:ext cx="36444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포트·프로토콜 한정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52799" y="4690616"/>
            <a:ext cx="36444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4799" y="4719416"/>
            <a:ext cx="3680400" cy="1724583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병원 운영망 통신은 필요한 포트만 허용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TLS 1.3 전송 구간 암호화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사용자 인터페이스 · 디자인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성능 및 품질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검색 → 코호트 → 반출 요청까지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연구자 업무 흐름에 맞춘 화면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과 대학 브랜드 기반의 일관된 디자인 시스템, 모든 프로그램 매뉴얼 제공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" y="1260000"/>
            <a:ext cx="1274400" cy="2279574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40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로그인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200" y="1602000"/>
            <a:ext cx="1188000" cy="1919574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EMR 계정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627200" y="2291787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96400" y="1260000"/>
            <a:ext cx="1274400" cy="2279574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7964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39600" y="1602000"/>
            <a:ext cx="1188000" cy="1919574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조건·썸네일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099600" y="2291787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68800" y="1260000"/>
            <a:ext cx="1274400" cy="2279574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688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코호트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1999" y="1602000"/>
            <a:ext cx="1188000" cy="1919574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저장·태깅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572000" y="2291787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741200" y="1260000"/>
            <a:ext cx="1274400" cy="2279574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412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반출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4400" y="1602000"/>
            <a:ext cx="1188000" cy="1919574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승인·다운로드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24000" y="3647573"/>
          <a:ext cx="5691600" cy="2832425"/>
        </p:xfrm>
        <a:graphic>
          <a:graphicData uri="http://schemas.openxmlformats.org/drawingml/2006/table">
            <a:tbl>
              <a:tblPr firstRow="0" bandRow="0"/>
              <a:tblGrid>
                <a:gridCol w="1707480"/>
                <a:gridCol w="3984120"/>
              </a:tblGrid>
              <a:tr h="5664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기능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5664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검색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복합 조건·판독문·썸네일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4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코호트 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 저장·태깅·만료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4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반출 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요청·승인·비식별 결과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4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관제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병원별 상태·알림·이력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177600" y="1260000"/>
          <a:ext cx="5691599" cy="4566645"/>
        </p:xfrm>
        <a:graphic>
          <a:graphicData uri="http://schemas.openxmlformats.org/drawingml/2006/table">
            <a:tbl>
              <a:tblPr firstRow="0" bandRow="0"/>
              <a:tblGrid>
                <a:gridCol w="1453174"/>
                <a:gridCol w="4238425"/>
              </a:tblGrid>
              <a:tr h="91332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UI 분석 · 설계 · 구현 · 테스트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91332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연구자·관리자 업무 흐름 인터뷰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332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디자인 시스템·화면 설계서, 대학 브랜드 적용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332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HTML5 표준 웹, 반응형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332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사용성 점검 → 시험운영 피드백 반영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6177600" y="5934645"/>
            <a:ext cx="5691600" cy="545355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UX 전문기업 — 한국디자인진흥원 우수디자인전문기업, iF Design Award (국립중앙박물관 '모두')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3. 성능 확보 · 테스트 · 품질 보증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성능 및 품질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TER-001, QUR-001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성능을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목표치와 측정 방법으로 정의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하고, 병원 운영에 영향 없는 시간대에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수집~추출 전 구간 통합테스트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단계별 품질 점검으로 보증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422000"/>
          <a:ext cx="5691599" cy="2616685"/>
        </p:xfrm>
        <a:graphic>
          <a:graphicData uri="http://schemas.openxmlformats.org/drawingml/2006/table">
            <a:tbl>
              <a:tblPr firstRow="0" bandRow="0"/>
              <a:tblGrid>
                <a:gridCol w="2382530"/>
                <a:gridCol w="3309069"/>
              </a:tblGrid>
              <a:tr h="5233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항목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(안)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5233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 수집 처리량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야간 시간 내 완료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3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검색 응답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【3초】</a:t>
                      </a: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이내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3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뷰어 첫 영상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【3초】</a:t>
                      </a: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이내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3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비식별 배치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승인 후 1주 이내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4000" y="4146685"/>
          <a:ext cx="5691599" cy="2333312"/>
        </p:xfrm>
        <a:graphic>
          <a:graphicData uri="http://schemas.openxmlformats.org/drawingml/2006/table">
            <a:tbl>
              <a:tblPr firstRow="0" bandRow="0"/>
              <a:tblGrid>
                <a:gridCol w="1985441"/>
                <a:gridCol w="3706158"/>
              </a:tblGrid>
              <a:tr h="583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통합테스트 (TER-001)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583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 구간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수집~색인~검색~추출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3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EMR·PACS·CDIS 연동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3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비식별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재식별 가능성 점검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177600" y="1422000"/>
          <a:ext cx="5691599" cy="4404645"/>
        </p:xfrm>
        <a:graphic>
          <a:graphicData uri="http://schemas.openxmlformats.org/drawingml/2006/table">
            <a:tbl>
              <a:tblPr firstRow="0" bandRow="0"/>
              <a:tblGrid>
                <a:gridCol w="1089880"/>
                <a:gridCol w="2785251"/>
                <a:gridCol w="1816468"/>
              </a:tblGrid>
              <a:tr h="88092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점검 (QUR-001)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8092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추적·매핑 정합성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34건 매핑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8092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코드 리뷰·정적 분석·보안 약점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중대 결함 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8092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통합·복구·재식별 점검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판정기준 충족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8092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발주처(지정 업체) 검수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확인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177600" y="5934645"/>
            <a:ext cx="5691600" cy="545355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품질보증계획서 승인 → 단계별 점검 결과를 월간 보고에 포함, 지적사항 조치 이력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프로젝트 관리 및 지원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조직 · 인력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일정 · 위험 · 보안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시험운영 · 교육 · 기술이전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하자보수 · 장애대응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사업추진 조직 · 참여인력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Ⅳ. 프로젝트 관리 및 지원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PMR-001, PMR-002, PMR-003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PM 직할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수집 연동 · 표준화 · 카탈로그 · 비식별/관제/보안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4개 파트, 대학 · 4개 병원 전산팀 · 운영사와 정기 협의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" y="1422000"/>
            <a:ext cx="4377600" cy="792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000" y="1422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48000" y="1486800"/>
            <a:ext cx="150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지산학연병협력팀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6799" y="1486800"/>
            <a:ext cx="150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소위원회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1600" y="1422000"/>
            <a:ext cx="1224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검토·승인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000" y="2268000"/>
            <a:ext cx="4377600" cy="792000"/>
          </a:xfrm>
          <a:prstGeom prst="rect">
            <a:avLst/>
          </a:prstGeom>
          <a:solidFill>
            <a:srgbClr val="245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2268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협업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48000" y="2332800"/>
            <a:ext cx="150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병원 전산팀 ×4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06799" y="2332800"/>
            <a:ext cx="150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EMR·PACS 운영사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91600" y="2268000"/>
            <a:ext cx="1224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COR-002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000" y="3114000"/>
            <a:ext cx="4377600" cy="792000"/>
          </a:xfrm>
          <a:prstGeom prst="rect">
            <a:avLst/>
          </a:prstGeom>
          <a:solidFill>
            <a:srgbClr val="1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0000" y="3114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총괄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48000" y="3178800"/>
            <a:ext cx="9851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PM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87199" y="3178800"/>
            <a:ext cx="9851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품질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26399" y="3178800"/>
            <a:ext cx="9851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보안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91600" y="3114000"/>
            <a:ext cx="1224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단일 창구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000" y="3960000"/>
            <a:ext cx="4377600" cy="792000"/>
          </a:xfrm>
          <a:prstGeom prst="rect">
            <a:avLst/>
          </a:prstGeom>
          <a:solidFill>
            <a:srgbClr val="2B8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0000" y="3960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48000" y="4024800"/>
            <a:ext cx="725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수집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27400" y="4024800"/>
            <a:ext cx="725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표준화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06799" y="4024800"/>
            <a:ext cx="725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카탈로그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86200" y="4024800"/>
            <a:ext cx="725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비식별·관제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91600" y="3960000"/>
            <a:ext cx="1224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상주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177600" y="1422000"/>
          <a:ext cx="5691599" cy="4587317"/>
        </p:xfrm>
        <a:graphic>
          <a:graphicData uri="http://schemas.openxmlformats.org/drawingml/2006/table">
            <a:tbl>
              <a:tblPr firstRow="0" bandRow="0"/>
              <a:tblGrid>
                <a:gridCol w="2382530"/>
                <a:gridCol w="1720716"/>
                <a:gridCol w="1588353"/>
              </a:tblGrid>
              <a:tr h="6553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553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【등급】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53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PL·아키텍트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【등급】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53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연동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【등급】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53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표준화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【등급】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53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카탈로그·화면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【등급】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53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비식별·보안·품질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【등급】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Rounded Rectangle 34"/>
          <p:cNvSpPr/>
          <p:nvPr/>
        </p:nvSpPr>
        <p:spPr>
          <a:xfrm>
            <a:off x="6177600" y="6117322"/>
            <a:ext cx="5691600" cy="362677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교체 원칙 금지 — 부득이 시 14일 전 승인·동급 이상, 안정화 인력 상주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일정 · 위험 · 보안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Ⅳ. 프로젝트 관리 및 지원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PMR-004, PMR-005, PMR-008, SER-003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WBS와 주간 점검으로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위험 · 품질 · 일정 · 자원 · 형상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관리하고, 투입 인력 보안서약 · 실데이터 개발 사용 금지로 의료정보를 지킴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422000"/>
          <a:ext cx="6209017" cy="2873748"/>
        </p:xfrm>
        <a:graphic>
          <a:graphicData uri="http://schemas.openxmlformats.org/drawingml/2006/table">
            <a:tbl>
              <a:tblPr firstRow="0" bandRow="0"/>
              <a:tblGrid>
                <a:gridCol w="2141040"/>
                <a:gridCol w="642312"/>
                <a:gridCol w="3425665"/>
              </a:tblGrid>
              <a:tr h="47895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47895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운영사 협업 지연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2주 내 협의·일정 확약, 대체 경로 선행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895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병원 데이터 품질 편차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시범 전환 진단, 격리·재처리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895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HW 확보 지연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임시 서버 개발·시험 선행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895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진료 시스템 영향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야간·주말, 처리량 상한, 즉시 중지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895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 지연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WBS 주간 점검, 만회 대책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4000" y="4403750"/>
          <a:ext cx="6209017" cy="2076249"/>
        </p:xfrm>
        <a:graphic>
          <a:graphicData uri="http://schemas.openxmlformats.org/drawingml/2006/table">
            <a:tbl>
              <a:tblPr firstRow="0" bandRow="0"/>
              <a:tblGrid>
                <a:gridCol w="1819884"/>
                <a:gridCol w="4389133"/>
              </a:tblGrid>
              <a:tr h="69208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9208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· 최종보고회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14일 이내 · 완료 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208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월간 · 수시 보고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매월 · 긴급 이슈 즉시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695018" y="1422000"/>
            <a:ext cx="5174181" cy="50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95018" y="1422000"/>
            <a:ext cx="5174181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보안관리 (SER-003)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5018" y="1800000"/>
            <a:ext cx="4994181" cy="4608000"/>
          </a:xfrm>
          <a:prstGeom prst="rect">
            <a:avLst/>
          </a:prstGeom>
          <a:noFill/>
        </p:spPr>
        <p:txBody>
          <a:bodyPr wrap="square" anchor="ctr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1973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투입 인력 전원 보안서약서</a:t>
            </a:r>
          </a:p>
          <a:p>
            <a:pPr algn="l" marL="115200" indent="-100800">
              <a:lnSpc>
                <a:spcPct val="120000"/>
              </a:lnSpc>
              <a:spcBef>
                <a:spcPts val="1973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실제 환자 데이터 개발 사용 금지</a:t>
            </a:r>
          </a:p>
          <a:p>
            <a:pPr algn="l" marL="115200" indent="-100800">
              <a:lnSpc>
                <a:spcPct val="120000"/>
              </a:lnSpc>
              <a:spcBef>
                <a:spcPts val="1973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작업 단말·저장매체 반출입 통제</a:t>
            </a:r>
          </a:p>
          <a:p>
            <a:pPr algn="l" marL="115200" indent="-100800">
              <a:lnSpc>
                <a:spcPct val="120000"/>
              </a:lnSpc>
              <a:spcBef>
                <a:spcPts val="1973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철수 시 권한 즉시 회수·통보</a:t>
            </a:r>
          </a:p>
          <a:p>
            <a:pPr algn="l" marL="115200" indent="-100800">
              <a:lnSpc>
                <a:spcPct val="120000"/>
              </a:lnSpc>
              <a:spcBef>
                <a:spcPts val="1973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누출금지 정보 인계인수대장</a:t>
            </a:r>
          </a:p>
          <a:p>
            <a:pPr algn="l" marL="115200" indent="-100800">
              <a:lnSpc>
                <a:spcPct val="120000"/>
              </a:lnSpc>
              <a:spcBef>
                <a:spcPts val="1973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노트북 반입·반출 시 악성코드 점검</a:t>
            </a:r>
          </a:p>
          <a:p>
            <a:pPr algn="l" marL="115200" indent="-100800">
              <a:lnSpc>
                <a:spcPct val="120000"/>
              </a:lnSpc>
              <a:spcBef>
                <a:spcPts val="1973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 종료 시 매체 완전 삭제·결과물 회수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3. 시험운영 · 교육훈련 · 기술이전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Ⅳ. 프로젝트 관리 및 지원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TER-001, PSR-001, PSR-002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4.5개월 차부터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4개 병원 실데이터로 시험운영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하고, 대상별 실습 교육과 운영 · 보안 · 비상복구 기술이전으로 자체 유지보수 역량을 만듦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422000"/>
          <a:ext cx="5691600" cy="5058000"/>
        </p:xfrm>
        <a:graphic>
          <a:graphicData uri="http://schemas.openxmlformats.org/drawingml/2006/table">
            <a:tbl>
              <a:tblPr firstRow="0" bandRow="0"/>
              <a:tblGrid>
                <a:gridCol w="2964375"/>
                <a:gridCol w="2727225"/>
              </a:tblGrid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시험운영 시나리오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 사항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→ 적재 → 색인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다음 날 검색 가능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 → 코호트 저장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조건·태그·뷰어 확인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반출 → 비식별 → 다운로드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1주 이내, 적정성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에이전트 중지 → 알림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30초 장애 판정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 → 복구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RPO·RTO 충족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77600" y="1422000"/>
          <a:ext cx="5691599" cy="2751425"/>
        </p:xfrm>
        <a:graphic>
          <a:graphicData uri="http://schemas.openxmlformats.org/drawingml/2006/table">
            <a:tbl>
              <a:tblPr firstRow="0" bandRow="0"/>
              <a:tblGrid>
                <a:gridCol w="1732226"/>
                <a:gridCol w="3959373"/>
              </a:tblGrid>
              <a:tr h="5502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 대상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5502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연구자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검색·코호트·뷰어·반출 절차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2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관리자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그룹·표준·매핑·반출 승인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2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운영자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관제·장애 조치·백업 복구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2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병원 담당자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에이전트 상태·오류 대응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7600" y="4281426"/>
            <a:ext cx="1274400" cy="2198574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7600" y="4281426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계획 협의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0800" y="4623425"/>
            <a:ext cx="1188000" cy="1838574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방법·기간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480799" y="5272713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50000" y="4281426"/>
            <a:ext cx="1274400" cy="2198574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50000" y="4281426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협업 수행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3200" y="4623425"/>
            <a:ext cx="1188000" cy="1838574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설계·모델링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953200" y="5272713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22400" y="4281426"/>
            <a:ext cx="1274400" cy="2198574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22400" y="4281426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 이전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5600" y="4623425"/>
            <a:ext cx="1188000" cy="1838574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운영·복구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0425599" y="5272713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94800" y="4281426"/>
            <a:ext cx="1274400" cy="2198574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594800" y="4281426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38000" y="4623425"/>
            <a:ext cx="1188000" cy="1838574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이전 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4. 하자보수 · 장애대응 · 안정화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Ⅳ. 프로젝트 관리 및 지원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PSR-003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최종 검수일부터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12개월 이상 무상 유지보수와 신규 버전 무상 지원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안정화 3개월 이상 상주, 장애 유형별 대응 절차 운영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의료데이터를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표준 원본으로 모으고, 찾고, 안전하게 꺼내 쓰는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데이터센터 — 에이치나인이 함께 완성합니다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" y="1422000"/>
            <a:ext cx="182520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000" y="1476000"/>
            <a:ext cx="18252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12개월↑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000" y="1944000"/>
            <a:ext cx="1825200" cy="323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무상 하자보수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57200" y="1422000"/>
            <a:ext cx="182520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57200" y="1476000"/>
            <a:ext cx="18252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3개월↑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57200" y="1944000"/>
            <a:ext cx="1825200" cy="323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안정화 상주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90400" y="1422000"/>
            <a:ext cx="182520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90400" y="1476000"/>
            <a:ext cx="18252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연 1회↑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0400" y="1944000"/>
            <a:ext cx="1825200" cy="323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취약점 점검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4000" y="2394000"/>
          <a:ext cx="5691600" cy="3582000"/>
        </p:xfrm>
        <a:graphic>
          <a:graphicData uri="http://schemas.openxmlformats.org/drawingml/2006/table">
            <a:tbl>
              <a:tblPr firstRow="0" bandRow="0"/>
              <a:tblGrid>
                <a:gridCol w="1541475"/>
                <a:gridCol w="4150125"/>
              </a:tblGrid>
              <a:tr h="895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하자보수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95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SW 전체, 신규 버전·패치 무상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95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절차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접수 → 원인 분석 → 복구 → 보고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95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확약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기술지원 확약서 제출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177600" y="1422000"/>
          <a:ext cx="5691600" cy="4554000"/>
        </p:xfrm>
        <a:graphic>
          <a:graphicData uri="http://schemas.openxmlformats.org/drawingml/2006/table">
            <a:tbl>
              <a:tblPr firstRow="0" bandRow="0"/>
              <a:tblGrid>
                <a:gridCol w="1778625"/>
                <a:gridCol w="3912975"/>
              </a:tblGrid>
              <a:tr h="910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유형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910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중단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재기동, 큐 보관 후 재전송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0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변환 오류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격리·재처리, 매핑 긴급 패치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0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저장·색인 장애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 복구, 원천 재색인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0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사고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즉시 보고, 계정 차단, 원인 분석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0000" y="2232000"/>
            <a:ext cx="11160000" cy="864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B3AA4"/>
                </a:solidFill>
                <a:latin typeface="맑은 고딕"/>
                <a:ea typeface="맑은 고딕"/>
                <a:cs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168000"/>
            <a:ext cx="11160000" cy="7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4개 병원 의료데이터를 표준 원본으로 — 주식회사 에이치나인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황보정운</dc:creator>
  <cp:keywords/>
  <dc:description>generated using python-pptx</dc:description>
  <cp:lastModifiedBy>황보정운</cp:lastModifiedBy>
  <cp:revision>1</cp:revision>
  <dcterms:created xsi:type="dcterms:W3CDTF">2013-01-27T09:14:16Z</dcterms:created>
  <dcterms:modified xsi:type="dcterms:W3CDTF">2013-01-27T09:15:58Z</dcterms:modified>
  <cp:category/>
</cp:coreProperties>
</file>