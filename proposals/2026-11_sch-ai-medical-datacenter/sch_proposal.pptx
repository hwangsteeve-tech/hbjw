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  <p:sldId id="7528" r:id="rId56"/>
    <p:sldId id="7529" r:id="rId57"/>
    <p:sldId id="7530" r:id="rId58"/>
    <p:sldId id="7531" r:id="rId59"/>
    <p:sldId id="7532" r:id="rId60"/>
    <p:sldId id="7533" r:id="rId61"/>
    <p:sldId id="7534" r:id="rId62"/>
    <p:sldId id="7535" r:id="rId63"/>
    <p:sldId id="7536" r:id="rId64"/>
    <p:sldId id="7537" r:id="rId65"/>
    <p:sldId id="7538" r:id="rId66"/>
    <p:sldId id="7539" r:id="rId67"/>
    <p:sldId id="7540" r:id="rId68"/>
    <p:sldId id="7541" r:id="rId69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기술제안서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AI의료융합데이터센터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플랫폼 구축 사업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순천향대학교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제안사 소개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주요구축 실적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기술부문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관리 및 지원 부문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제안사 소개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사업영역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재무 구조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조직 및 인원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제안의 특징 및 장점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소개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주요연혁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2814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20854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194141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518141"/>
          <a:ext cx="6260400" cy="424064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08월 (16년 5개월)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소프트웨어사업자(1468), 직접생산확인(정보시스템개발서비스 8111159901), 중소기업확인서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의료정보 구축 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【최근 5년 단일 10억 이상 의료정보 구축 실적 — 실적 대장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788119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786679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사업과 연결되는 핵심 역량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819079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8190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 표준·아키텍처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844999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대규모 제조 데이터 표준 아키텍처(SK하이닉스) 구축 — 표준 용어·매핑·데이터 흐름 설계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3600" y="819079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3600" y="8190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수집·관제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844999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로그·상태 실시간 수집, 이상 감지, 실행 이력 통합 관제 플랫폼 구축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819079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0400" y="8190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사용자 중심 화면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844999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연구자·관리자 업무 흐름 기반 검색·추출 화면 설계, 우수디자인전문기업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소개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주요 연혁 및 수상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주요연혁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서비스 품질) iF · Good Design · ICT AWARD KOREA 등 국내외 수상과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한국디자인진흥원 우수디자인전문기업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선정으로 서비스 품질을 입증함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172379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연혁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ㆍ㈜에이치나인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ㆍ창업진흥원 혁신적 기업가상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 광고 대상 미디어 부문 은상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ㆍ칸느 광고제 미디어 부문 동상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골드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ㆍKorea Design Award 올해의 디자인 프로젝트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우수디자인(GD) 서비스/경험디자인 부문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ㆍ스마트 앱 어워드 KT 고객센터 커뮤니케이션 분야 최우수상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ㆍK-DESIGN AWARD "Everything Moments"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ㆍGood Design 코레일톡 플러스 모바일 앱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ㆍ중소벤처기업부 사내벤처육성기업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ㆍKIDP 한국디자인진흥원 "우수 디자인 전문 회사 선도 부문"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"모스랜드 헌터스"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디자인(GD)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ㆍi-AWARDS WEB AWARD KOREA (쇼핑몰 부문 통합대상)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ㆍHCI Korea 온라인 학술대회 우수논문 수상 (반려동물을 위한 AR카메라 Owao)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8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Website 부문 수상 (국립중앙박물관 교육플랫폼 '모두')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ㆍ서울시 청소년 문제해결 프로젝트 디자인 가치상 (DMI 미국 디자인경영연구소)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ㆍ한국무역협회 1백만불 수출의 탑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ㆍICT AWARD KOREA 디지털 서비스혁신 분야 GOLD PRIZE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2024 우수디자인전문기업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ㆍDesign Award 2025 Service 부문 수상 (Daishin Securities MTS)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제안사 사업영역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소개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사업영역 및 본 사업 적용 역량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사업영역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(기획부터 운영까지 한 조직에서) 서비스 기획 · UX · 플랫폼 개발 · 데이터 · AI · 운영을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자체 인력으로 일관 수행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하며, 본 사업에는 데이터 표준화 · 수집 관제 · 연구자 화면 역량을 투입함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서비스 기획·UX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 리서치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UX·UI 설계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디자인 시스템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4400" y="2358000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044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플랫폼 개발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0400" y="2617200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웹·업무 포털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통합운영 플랫폼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API·연계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92000" y="2358000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920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 ·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0" y="2617200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표준 아키텍처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Agent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이상 탐지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9600" y="2358000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796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운영·유지보수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15600" y="2617200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사이트 운영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공공 플랫폼 유지보수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800" y="3834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사업영역별 본 사업 적용 &gt;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16800" y="4068000"/>
          <a:ext cx="6260400" cy="351324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04160"/>
                <a:gridCol w="258241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수행 경험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아키텍처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표준 아키텍처 구축 Ph1~Ph3 (제조 데이터 표준)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용어·도메인·코드 표준화, AS-IS/TO-BE 매핑 (SR-003)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수집·관제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 AI Agent 'MOSAIC' 실행 이력·상태 통합 관제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병원 에이전트·게이트웨이 관제 (SR-008)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검색·추출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통합운영 플랫폼, 국립중앙박물관 '모두'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 통합 검색·코호트·추출 화면 (SR-002)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· 근거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(근거 위치 제시형 응답)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차년도 NLP/AI 학습 확장 구조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Rectangle 43"/>
          <p:cNvSpPr/>
          <p:nvPr/>
        </p:nvSpPr>
        <p:spPr>
          <a:xfrm>
            <a:off x="280800" y="7689240"/>
            <a:ext cx="6332400" cy="995608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774324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본 사업에서의 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7941240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의료데이터 수집·표준화·카탈로그 플랫폼을 직접 설계·개발하고, 의료영상·FHIR 처리는 검증된 표준 오픈소스 엔진을 기반으로 구성하여 5개월 일정 안에 4개 병원 연동을 완료합니다.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제안사 재무 구조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소개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자본금 및 최근 3년간 매출액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재무 구조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기업신용평가등급: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【등급·평가기관·평가일 — 신용평가등급확인서 기준】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(정량 경영상태 10점)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제안사 조직 및 인원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소개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조직 및 인원 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조직 및 인원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(전문 인력 기반) 2026년 7월 기준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임직원 129명, 6개 실 · 22개 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구성되어 있으며, 특급 기술자 22명을 포함한 기술인력 117명이 기획 · 개발 · 품질을 자체 수행함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조직 현황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800" y="2682000"/>
            <a:ext cx="4874400" cy="48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6820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2754000"/>
            <a:ext cx="3668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CEO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6820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CFO: 경영기획팀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232800"/>
            <a:ext cx="4874400" cy="48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32328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기획·디자인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33048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UX실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73600" y="33048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비주얼실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14400" y="33048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인터렉션실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32328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리서치·UI·인터랙션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783600"/>
            <a:ext cx="4874400" cy="48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7836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3855599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서비스개발실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73600" y="3855599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DT개발실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4400" y="3855599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신사업개발실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1200" y="37836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플랫폼·데이터·AI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4334400"/>
            <a:ext cx="4874400" cy="48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43344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관리·품질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4406399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PMO그룹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73600" y="4406399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품질관리팀(CTO)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14400" y="4406399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기업부설연구소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81200" y="43344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사업관리·품질보증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2400" y="49716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2400" y="49572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기술등급별 인원 현황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5281200"/>
          <a:ext cx="6260400" cy="3312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173825"/>
                <a:gridCol w="1173825"/>
                <a:gridCol w="27389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PM·아키텍트·데이터 표준화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연동·변환 개발, 보안,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16.2%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카탈로그·관제 화면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지원·시험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117명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기술인력 기준 (전체 임직원 129명)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제안의 특징 및 장점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소개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에이치나인 제안의 특징과 장점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특징 및 장점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(표준 · 무손실 · 무영향 · 확장) 국제 표준 기반 통합,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무손실 원본 축적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병원 운영망 무영향 수집, 차년도 확장을 수용하는 구조로 1차년도 핵심 기반을 5개월 안에 완성함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6260400" cy="1107417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799" y="240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국제 표준으로 묶는 4개 병원 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2646000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EMR은 HL7 FHIR, 영상은 DICOM/DICOMweb, 문서 교환은 IHE XDS 프로파일로 통일하여 병원 간 상호운용성을 확보합니다.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799" y="3013887"/>
            <a:ext cx="5540400" cy="43353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799" y="3049887"/>
            <a:ext cx="5432400" cy="37952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처방·진단 코드(EDI·KCD·ATC) 매핑 버전 관리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Open API (DICOM Q/R, DICOMweb, XDS, FHIR) 제공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555417"/>
            <a:ext cx="6260400" cy="1107417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55541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799" y="359861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원본 그대로 쌓는 무손실 수집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3843417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PACS 영상은 원본 또는 JPEG 2000 무손실로 수집하고, 변환 전 원본과 변환 결과를 함께 보관해 연구·AI 학습 기반을 만듭니다.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799" y="4211305"/>
            <a:ext cx="5540400" cy="43353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8799" y="4247305"/>
            <a:ext cx="5432400" cy="37952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 단계 비식별 없이 원본 보존, 반출 시에만 비식별화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변환 품질(완전성·정확성·일관성) 자동 검증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4752835"/>
            <a:ext cx="6260400" cy="1107417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6800" y="4752835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799" y="4796035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진료에 영향 없는 수집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799" y="5040835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병원별 포워딩 에이전트·중계 게이트웨이를 두고 야간·주말에 스케줄링하며, 병원 운영망과의 통신은 필요한 포트로 한정합니다.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799" y="5408722"/>
            <a:ext cx="5540400" cy="43353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8799" y="5444722"/>
            <a:ext cx="5432400" cy="37952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대역폭·동시 처리 상한 설정, 진료 시간 자동 중지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작업 전 영향도 분석·승인 (PMR-010)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5950252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6800" y="5950252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799" y="5993452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차년도를 미리 수용하는 구조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799" y="6238252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병리·ICU 실시간 수집, 오브젝트 스토리지, VDI, NLP/AI, ISMS 솔루션이 들어올 자리를 인터페이스로 먼저 만들어 재구축 비용을 없앱니다.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0800" y="6724252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특징별 평가 항목 연결 &gt;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16800" y="6958252"/>
          <a:ext cx="6260400" cy="1685464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1799865"/>
                <a:gridCol w="2738925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 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국제 표준 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Ⅲ-3.2, Ⅲ-3.8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및 기능, 시스템 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무손실 원본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Ⅲ-3.1, Ⅲ-3.6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전환 계획·검증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무영향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Ⅲ-3.1, Ⅳ-1.5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제약조건 충족, 위험관리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차년도 수용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Ⅲ-2.1, Ⅳ-3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 (확장성)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주요구축 실적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유사용역 수행경험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유사분야 사업실적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유사용역 수행경험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주요구축 실적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데이터 표준 아키텍처 및 수집 · 관제 플랫폼 구축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데이터 표준·수집 관제 수행경험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(본 사업과 같은 구조) 다수 원천 시스템의 데이터를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표준으로 정규화해 중앙에 적재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수집 에이전트의 상태를 통합 관제한 경험을 4개 병원 의료데이터 수집에 적용함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SK하이닉스 표준 아키텍처 구축 Ph1~Ph3 (2024~2026)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800" y="2682000"/>
            <a:ext cx="6332400" cy="138825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718000"/>
            <a:ext cx="6224400" cy="135224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(데이터 표준) 다수 Fab·시스템의 데이터를 표준 용어·도메인·코드 체계로 정규화하고 AS-IS/TO-BE 매핑을 관리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SR-003 표준화·정규화 엔진의 매핑 규칙 버전관리, 단어·용어·도메인·코드 표준화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417464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416024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SK하이닉스 MES AI Agent 'MOSAIC' (2026)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800" y="4484250"/>
            <a:ext cx="6332400" cy="138825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4520249"/>
            <a:ext cx="6224400" cy="135224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(실시간 수집·관제) MES 운영 로그와 시스템 상태를 실시간 수집하고 Agent 실행 이력·도구 호출·처리 결과를 통합 관제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SR-008 수집 관제 — 에이전트 가동 상태, 지연·오류 임계값 경고·장애 판정, 조치 이력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6800" y="59625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316800" y="59625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원천 다양성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" y="62505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다수 시스템·포맷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1811700" y="65582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908900" y="59625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1908900" y="59625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 정규화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4900" y="62505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용어·코드·매핑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3403800" y="65582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01000" y="59625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3501000" y="59625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중앙 적재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37000" y="62505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통합 저장·색인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4995900" y="65582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093100" y="59625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5093100" y="59625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관제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9100" y="62505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상태·지연·오류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800" y="7366499"/>
            <a:ext cx="6332400" cy="995608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6799" y="74204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의료 도메인 수행경험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6799" y="7618499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【의료정보·CDW 구축 수행 실적 — 사업명·발주처·기간·금액 확인 후 기재】</a:t>
            </a: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의료 표준(HL7 FHIR, DICOM, IHE)은 국제 표준 오픈소스 엔진과 상호운용성 시험 도구로 검증합니다.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유사용역 수행경험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주요구축 실적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통합 검색 · 연구자 화면 · 근거 추적 AI 수행경험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검색 · 화면 · AI 수행경험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(쓰기 쉬운 연구 도구) 대규모 통합운영 플랫폼과 공공 교육 플랫폼의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검색 · 권한 · 화면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설계 경험, 근거 위치를 추적하는 AI Agent 경험을 카탈로그 · 코호트 화면에 적용함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719744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2347650"/>
                <a:gridCol w="219114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경험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통합운영플랫폼 (삼성SDS)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대규모 업무 포털, 역할별 권한·화면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역할(Role)별 CRUD 권한·화면 (응용시스템 아키텍처)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 교육 플랫폼 '모두'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플랫폼 구축·운영, iF Design Award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공공기관 보안·접근성 기준, 매뉴얼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(SK가스)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데이터 위치 제시, 통계 이상탐지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추출 이력 감사 추적, 차년도 AI 학습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63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S.com Prototype·인터랙션 정의 (삼성전자)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복잡한 정보 구조의 인터랙션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데이터 그룹·코호트 검색 UX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618574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618574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623974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663574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UX·플랫폼 구축 업력
(2010년 설립)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9600" y="618574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9600" y="618574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7600" y="623974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억 원↑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600" y="663574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단일 사업 규모 플랫폼
구축·운영 다수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400" y="618574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400" y="618574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0400" y="623974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117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00" y="663574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기술인력
(특급 22명)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0800" y="7175745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799" y="722974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수행경험이 주는 차이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99" y="7427745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연구자가 실제로 쓰는 검색·코호트·추출 화면과, 운영자가 4개 병원 수집을 한눈에 보는 관제 화면을 처음부터 사용자 관점으로 설계하여 시범 운영 단계의 재작업을 줄입니다.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유사분야 사업실적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주요구축 실적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최근 3년간 주요사업 수행실적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최근 3년간 주요사업 수행실적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(정량 수행실적 10점 대응) 최근 3년간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단일계약 5천만 원 이상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대학 · 공공기관 등 유사용역 실적은 사업실적증명서로 별첨 제출하며, 주요 수행실적은 다음과 같음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7" cy="4708101"/>
        </p:xfrm>
        <a:graphic>
          <a:graphicData uri="http://schemas.openxmlformats.org/drawingml/2006/table">
            <a:tbl>
              <a:tblPr firstRow="0" bandRow="0"/>
              <a:tblGrid>
                <a:gridCol w="2672121"/>
                <a:gridCol w="1526926"/>
                <a:gridCol w="992502"/>
                <a:gridCol w="1068848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계약금액(원)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표준 아키텍처 구축 Ph3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 ~ 2026.12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1,107,180,000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129,385,380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26년 Cello Square 플랫폼 UX기획 및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 ~ 2026.12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928,320,000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 LIFE 및 그룹 홈페이지 사이트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 ~ 2026.12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661,298,000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중진공 전용 플랫폼 CX 기획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2025.10 ~ 2026.01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경기 컬처패스 플랫폼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2025.10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144,000,000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㈜마이비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'25년 표준 아키텍처 구축 Ph2 (차세대)(DT)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2025.08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1,999,758,400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국립중앙박물관 모두 플랫폼 개선 및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2025.07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86,200,000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5.0 운영고도화 CX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2025.01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1,235,530,000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 Awards 고도화 (엘지경영개발원 인화원)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2024.09 ~ 2025.02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126,900,000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국립중앙박물관 교육 플랫폼 [모두]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2024.07 ~ 2025.01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CELLO SQUARE 통합운영플랫폼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2024.04 ~ 2024.12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1,444,700,000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7174101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정량평가 제출 실적 (대학·공공기관 등, 단일계약 5천만 원 이상)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7408101"/>
          <a:ext cx="6260400" cy="115039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 '모두' 구축·유지보수 등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【대학·공공 SW 구축·고도화 실적 건수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사업실적증명서 (별첨 6), 계약서 사본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기술부문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구축 목표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구축 범위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주요 개발 내역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구축 목표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추진 배경 — 손실된 원본, 분산된 데이터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이해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(무손실 원본 축적이 출발점) 4개 병원 데이터는 손실압축 · PDF 위주 보관으로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실제 규모보다 크게 과소 집계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되어 있어, 원본을 표준으로 모으는 수집 · 저장 기반을 먼저 갖춰야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데이터 유형별 현황과 수집 시 예상 규모 (제안요청서 기준)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371974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095570"/>
                <a:gridCol w="2973689"/>
                <a:gridCol w="101731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저장량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수집 시 예상 규모 · 사유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9363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PACS (의료영상)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980TB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손실압축·보관기간 제한으로 과소 — 무손실 원본 수집 시 연 1.5PB 이상 증가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CDIS (임상검사)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13TB (PDF)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원본(파형 등) 미저장 — 원본 수집 시 대폭 증가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 축적 우선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병리 (WSI)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2TB 미만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디지털화 초기 — 확대 시 슬라이드당 수 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 (정형·CDW)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124TB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CDW 서버 이관으로 별도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FHIR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643414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641974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글로컬대학30 AI의료융합 클러스터 속 본 사업의 위치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6743745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674374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교육·연구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7031745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대학 — 연구자 데이터 활용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811700" y="73395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08900" y="6743745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1908900" y="674374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실습·실증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44900" y="7031745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4개 병원 — 의료데이터 원천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3403800" y="73395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01000" y="6743745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501000" y="674374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데이터센터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7000" y="7031745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천안 — 수집·저장·관리 (본 사업)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995900" y="73395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93100" y="6743745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093100" y="674374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상용화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100" y="7031745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지역 산업특화지구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8147744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799" y="820174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사업의 본질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799" y="8399744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1차년도는 '데이터를 쓰는 서비스'보다 '데이터를 제대로 모으는 기반'이 핵심입니다. 표준화된 원본이 쌓여야 차년도 샌드박스·NLP/AI 학습이 의미를 갖습니다.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구축 목표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구축 목표와 4대 추진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목표 및 추진 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(5개월, 4개 병원, 3종 데이터)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EMR(FHIR) · PACS · CDIS를 천안 데이터센터로 표준 수집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비식별 반출 · 카탈로그 검색 · 통합 관제까지 갖춘 1차년도 플랫폼을 완성함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6260400" cy="50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50544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4개 병원 의료데이터를 표준 원본으로 모으고, 찾고, 안전하게 꺼내 쓰는 데이터센터 기반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2926799"/>
            <a:ext cx="6260400" cy="50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800" y="2926799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32800" y="2998799"/>
            <a:ext cx="12231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4개 병원 수집 개시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9900" y="2998799"/>
            <a:ext cx="12231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변환 품질 자동 검증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87000" y="2998799"/>
            <a:ext cx="12231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k≥5 비식별 반출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64100" y="2998799"/>
            <a:ext cx="12231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 지연 24h 이내 관제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800" y="35676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6800" y="35676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799" y="36108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 우선 — 수집 즉시 FHIR·DICOM으로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799" y="3855600"/>
            <a:ext cx="5540400" cy="19294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병원 전처리 서버에서 표준 변환 후 전송하여 중앙 저장소에는 표준 데이터만 적재합니다.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43056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6800" y="43056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799" y="43488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병원 무영향 — 야간·주말 스케줄 수집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799" y="4593600"/>
            <a:ext cx="5540400" cy="19294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에이전트 처리량 상한과 진료 시간 자동 중지로 병원 진료 시스템에 부하를 주지 않습니다.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50436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6800" y="50436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799" y="50868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 축적 데이터 우선 — 병원별 단계 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799" y="5331600"/>
            <a:ext cx="5540400" cy="19294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운영주체 협의(COR-002)로 병원·유형별 우선순위를 정하고 기 축적 데이터를 먼저 확보합니다.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57816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6800" y="57816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799" y="58248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확장 수용 — 차년도 영역을 인터페이스로 선반영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799" y="6069600"/>
            <a:ext cx="5540400" cy="19294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실시간 수집·오브젝트 스토리지·VDI·ISMS 솔루션이 연결될 인터페이스를 1차년도에 설계합니다.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0800" y="65556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기대효과 &gt;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316800" y="6789600"/>
          <a:ext cx="6260400" cy="168546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상호운용성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병원 EMR·PACS·CDIS를 HL7 FHIR·DICOM·IHE로 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축적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손실압축·PDF 위주 보관을 원본 수준 축적 기반으로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카탈로그·통합검색·코호트로 샌드박스·AI 학습 확장 토대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비식별·암호화·RBAC·접근 이력으로 법령 준수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구축 목표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목표 시스템 아키텍처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목표 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(병원 → 게이트웨이 → 데이터센터) 병원별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포워딩 에이전트 · 전처리 서버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 표준 변환해 전송하고, 천안 데이터센터는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저장 · 색인 · 검색 · 비식별 반출 · 관제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계층으로 구성함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630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연구자 통합 검색·코호트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DICOM Web 뷰어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관리자·수집 관제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EMR SSO·토큰 연동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52800"/>
            <a:ext cx="4874400" cy="630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528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31248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반출 승인 워크플로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31248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비식별화 (익스포트 가상화 서버)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31248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추출·다운로드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30528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원본/비식별 분리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47600"/>
            <a:ext cx="4874400" cy="630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7476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저장·색인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8196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FHIR 저장소 (EMR)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63400" y="38196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DICOM 저장소 (PACS)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4000" y="38196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CDIS 문서 저장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24600" y="38196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메타데이터 카탈로그·인덱싱 DB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37476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Open API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4442400"/>
            <a:ext cx="4874400" cy="630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44424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32800" y="45144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표준화·정규화 변환 엔진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73600" y="45144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코드 매핑 (EDI·KCD·ATC)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14400" y="45144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변환 품질 검증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44424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매핑 버전관리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5137200"/>
            <a:ext cx="4874400" cy="630000"/>
          </a:xfrm>
          <a:prstGeom prst="rect">
            <a:avLst/>
          </a:prstGeom>
          <a:solidFill>
            <a:srgbClr val="3A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800" y="51372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32800" y="52092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PACS 포워딩 에이전트 ×4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63400" y="52092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중계 게이트웨이 ×4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94000" y="52092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변환·수집 모듈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24600" y="52092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중간 테이블 연동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81200" y="51372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서울·부천·천안·구미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16800" y="590399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 Same Side Corner Rectangle 63"/>
          <p:cNvSpPr/>
          <p:nvPr/>
        </p:nvSpPr>
        <p:spPr>
          <a:xfrm>
            <a:off x="316800" y="590399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병원 원천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800" y="6192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EMR·PACS·CDIS</a:t>
            </a:r>
          </a:p>
        </p:txBody>
      </p:sp>
      <p:sp>
        <p:nvSpPr>
          <p:cNvPr id="66" name="Isosceles Triangle 65"/>
          <p:cNvSpPr/>
          <p:nvPr/>
        </p:nvSpPr>
        <p:spPr>
          <a:xfrm rot="5400000">
            <a:off x="1493280" y="64997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590480" y="590399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ound Same Side Corner Rectangle 67"/>
          <p:cNvSpPr/>
          <p:nvPr/>
        </p:nvSpPr>
        <p:spPr>
          <a:xfrm>
            <a:off x="1590480" y="590399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전처리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26480" y="6192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 변환</a:t>
            </a:r>
          </a:p>
        </p:txBody>
      </p:sp>
      <p:sp>
        <p:nvSpPr>
          <p:cNvPr id="70" name="Isosceles Triangle 69"/>
          <p:cNvSpPr/>
          <p:nvPr/>
        </p:nvSpPr>
        <p:spPr>
          <a:xfrm rot="5400000">
            <a:off x="2766960" y="64997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864160" y="590399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 Same Side Corner Rectangle 71"/>
          <p:cNvSpPr/>
          <p:nvPr/>
        </p:nvSpPr>
        <p:spPr>
          <a:xfrm>
            <a:off x="2864160" y="590399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00160" y="6192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TLS 1.3</a:t>
            </a:r>
          </a:p>
        </p:txBody>
      </p:sp>
      <p:sp>
        <p:nvSpPr>
          <p:cNvPr id="74" name="Isosceles Triangle 73"/>
          <p:cNvSpPr/>
          <p:nvPr/>
        </p:nvSpPr>
        <p:spPr>
          <a:xfrm rot="5400000">
            <a:off x="4040640" y="64997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137840" y="590399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ound Same Side Corner Rectangle 75"/>
          <p:cNvSpPr/>
          <p:nvPr/>
        </p:nvSpPr>
        <p:spPr>
          <a:xfrm>
            <a:off x="4137840" y="590399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적재·색인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73840" y="6192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카탈로그</a:t>
            </a:r>
          </a:p>
        </p:txBody>
      </p:sp>
      <p:sp>
        <p:nvSpPr>
          <p:cNvPr id="78" name="Isosceles Triangle 77"/>
          <p:cNvSpPr/>
          <p:nvPr/>
        </p:nvSpPr>
        <p:spPr>
          <a:xfrm rot="5400000">
            <a:off x="5314320" y="64997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411520" y="590399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ound Same Side Corner Rectangle 79"/>
          <p:cNvSpPr/>
          <p:nvPr/>
        </p:nvSpPr>
        <p:spPr>
          <a:xfrm>
            <a:off x="5411520" y="590399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47520" y="6192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검색·반출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80800" y="7307999"/>
            <a:ext cx="6332400" cy="995608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6799" y="73619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아키텍처 설계 원칙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6799" y="7559999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한 병원 또는 한 모듈의 장애가 다른 병원·모듈에 영향을 주지 않도록 병원별 수집 경로와 큐를 분리하고, 모든 계층은 표준 API로 연결해 차년도 확장 시 재구축이 없게 합니다.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구축 목표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1.4.1 개발 방법론 및 단계별 산출물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개발 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(소위원회 확정형 방법론) 착수 · 설계 단계에서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상세설계를 소위원회에서 확정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병원별 연동은 반복 주기로 구축 · 검증하여 5개월 안에 4개 병원 수집을 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68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3168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착수·설계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0.5개월 — 상세설계 확정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8117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9089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19089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구축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49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1개월 — 임시 서버·환경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34038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5010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35010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 연동·SW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370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3개월 — 병원별 반복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49959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931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50931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수집·시험·검수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91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0.5개월 — 통합시험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16800" y="3546000"/>
          <a:ext cx="6260400" cy="2891476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895435"/>
                <a:gridCol w="234765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착수·설계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착수보고, 운영주체 사전 협의, 요구사항 상세화, 표준·매핑 설계, 소위원회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사업수행계획서, 요구사항 정의서, 상세설계서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임시 서버·개발환경, 저장소·DB 설치, 네트워크·포트맵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구성도, 네트워크 구성도·포트맵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연동·SW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병원별 에이전트·게이트웨이, 변환 엔진, 카탈로그, 비식별, 관제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목록, 인터페이스 정의서, 매핑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수집·시험·검수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개시, 통합시험, 이관 정상성 검증, 복구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통합테스트 결과서, 최종보고서, 검수확인서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280800" y="6545476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방법론 적용 원칙 &gt;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316800" y="6779476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 병원(천안) 선행 구축·검증 후 나머지 3개 병원에 동일 패턴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방법론 산출물 목록은 대학 담당자와 협의하여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표준화 전문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단어·용어·도메인·코드 표준화 전담 인력 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Rectangle 4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구축 범위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1차년도 구축 범위와 도입 품목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구축 범위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(1차년도 = 수집 · 표준화 · 통합 저장) 제안요청서의 SW 도입 품목 5종을 모두 구축하고, 병리 · ICU 실시간 · 오브젝트 스토리지 · VDI · NLP/AI는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차년도 수용 구조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설계함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도입 품목 및 구축 방안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8" cy="3377476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547785"/>
                <a:gridCol w="2973689"/>
                <a:gridCol w="93905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도입 품목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비식별화 처리 시스템 (익스포트 서버)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가상화 서버 1식에 배치 비식별 엔진 구축, 내부평가서 첨부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카탈로그·인덱싱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저장·색인 DB, 검색·코호트·추출, DICOM Web 뷰어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표준화·정규화 변환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FHIR·DICOM·IHE 변환, 코드 매핑, 품질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PACS 포워딩 에이전트 + 중계 게이트웨이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병원 각 1식, 전처리 서버·일 단위 라우팅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SR-003·007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변환·수집 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 축적 비정형 데이터 변환 수집 우선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6077476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1차년도 / 차년도 범위 경계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311476"/>
          <a:ext cx="6260400" cy="2281107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582415"/>
                <a:gridCol w="266067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1차년도 (본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차년도 이후 (수용 구조만 설계)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EMR(FHIR)·PACS·CDIS 기 축적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병리(WSI)·ICU·생체신호 실시간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저장·활용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저장·색인·검색·코호트·비식별 반출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오브젝트 스토리지, 연구자 샌드박스(VDI), NLP/AI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보안·운영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암호화·RBAC·접근 로그·백업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서버보안·접속기록·로그·백업·APM·형상관리 상용 솔루션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8664584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스토리지 등 하드웨어는 별도 트랙 확보 / 가상화 서버·OS·DBMS 라이선스 포함 범위: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【발주처 질의 결과 반영】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구축 범위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시스템 구성 및 납품 요건 충족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(정품 · 신품 · 5년 지원) 도입 SW는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정품 · 미개봉 신품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공급하고 라이선스 증서 · 기술지원 확약서를 제출하며, 네트워크 구성도와 포트맵을 산출물로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PMR-007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서버 구성 (안) — 하드웨어는 별도 트랙 / 가상화 환경 배치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37747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1017315"/>
                <a:gridCol w="1799865"/>
                <a:gridCol w="211288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×4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에이전트·게이트웨이·변환 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데이터 수신·표준 변환·전송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수집·저장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FHIR·DICOM 저장 엔진, 수신 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데이터 적재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카탈로그·인덱싱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인덱싱 DB, 검색 엔진, 웹·뷰어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색인·검색·코호트·추출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익스포트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가상화 서버 1식, 비식별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 승인 데이터 배치 비식별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DB·대시보드·알림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상태·장애 관제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6077476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납품 요건 충족 방안 (ECR-001 · PMR-007)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311476"/>
          <a:ext cx="6260400" cy="2518369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충족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정품·신품, 생산 중단 제품 배제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제조사·총판 정품 미개봉 공급, 공고일 기준 생산 중단 공지 제품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라이선스·기술지원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라이선스 증서, 공개 DBMS·WAS는 개발사 기술지원 확약서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5년 지원 확약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후 5년 부품·공급·유지보수 확약서 (제조사·공식 총판)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취약점·구성도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전 취약점 조치 결과보고서, 네트워크 구성도·포트맵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PACS 포워딩 에이전트 · 중계 게이트웨이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데이터 수집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(병원마다 1식) 각 병원 PACS · EMR · CDIS에서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 단위 라우팅으로 데이터를 받아 표준 변환 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천안 중앙 저장소로 전송하며, 진료 시스템에는 부하를 주지 않음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SR-003, SR-007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 선별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중간 테이블 기준 신규·기보유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DICOM C-STORE·Q/R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 변환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전처리 서버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TLS 1.3, 재전송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적재 확인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수신 확인·이력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654000"/>
          <a:ext cx="6260400" cy="409417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선별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 테이블의 처방·검사 정보로 기보유·신규 PACS·CDIS 대상 선별, 중계 데이터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스케줄링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야간·주말 시간대 자동 실행, 진료 시간 진입 시 자동 일시정지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제어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전송 수·대역폭 상한, 병원 PACS 조회 속도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무손실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원본(RAW) 또는 JPEG 2000 Lossless — 기존 손실압축본은 예외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큐·재시도·체크섬 검증, 중복 수신 방지 (Study/Series UID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가동 상태·최종 수신 시각·처리 건수를 관제(SR-008)로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280800" y="7856179"/>
            <a:ext cx="6332400" cy="772583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791017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병원 운영 무영향 원칙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8108179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병원 운영망과 수집 경로 간 통신은 필요한 포트·프로토콜로 한정하고, 작업 전 영향도 분석을 병원 전산팀과 공유해 승인 후 적용합니다.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3.1.2 EMR · PACS · CDIS 데이터 연동 (중간 테이블)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데이터 수집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(태깅 정보는 EMR에서) 적재 데이터의 태깅에 필요한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환자 · 수진 · 검사 · 투약 정보를 중간 테이블로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연동하고, 비식별 반출에 필요한 대상 환자 정보도 같은 경로로 받음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중간 테이블 연동 정보 (안) — 운영사 협의로 확정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384381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973689"/>
                <a:gridCol w="211288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테이블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환자ID, 성별, 생년(가명화 대상)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 단위 통합·가명 매핑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내원번호, 진료과, 내원일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수진 단위 태깅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검사·처방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처방코드, 검사명, 검사일, Accession No.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PACS·CDIS 매칭·태깅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약품코드(ATC 매핑), 투여일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코호트 조건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 승인 환자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비식별화 처리 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654381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654381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EMR 운영사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683181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중간 테이블 생성·적재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811700" y="713960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908900" y="654381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908900" y="654381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연동 모듈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4900" y="683181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변경분 조회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3403800" y="713960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1000" y="654381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501000" y="654381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7000" y="683181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Accession·UID 연결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995900" y="713960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93100" y="654381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093100" y="654381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태깅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100" y="683181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메타데이터 적재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0800" y="7947810"/>
            <a:ext cx="6332400" cy="995608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799" y="800180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운영사 협업 (COR-002)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6799" y="8199809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중간 테이블 생성과 처방코드·질환코드 매핑 결과 제공은 EMR 운영사 협업 범위로, 착수 단계 사전 협의에서 항목·주기·일정을 확정하고 협업 비용은 수행사가 부담합니다.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3.1.3 데이터 변환 · 수집 모듈 (기 축적 데이터 우선)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데이터 수집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(이미 쌓인 데이터부터) 각 병원이 보유한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영상 외 검사 · 문서 등 비정형 데이터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표준 포맷으로 변환해 수집하고, 수집 단계에서는 원본을 유지한 채 메타데이터만 자동 태깅함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SR-004, COR-002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202356"/>
        </p:xfrm>
        <a:graphic>
          <a:graphicData uri="http://schemas.openxmlformats.org/drawingml/2006/table">
            <a:tbl>
              <a:tblPr firstRow="0" bandRow="0"/>
              <a:tblGrid>
                <a:gridCol w="2112885"/>
                <a:gridCol w="414751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세부내용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 축적 데이터 표준 포맷 변환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PDF 결과지·검사 문서를 FHIR DocumentReference·DiagnosticReport로 래핑, 원본 파일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PACS 외 비정형 데이터 획득·통합, SR-003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경로·DB·API 수집 커넥터, 변환 엔진 큐로 전달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단계 비식별 미수행, 메타데이터 자동 태깅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검사종류·환자ID(가명)·검사일 자동 태깅, 원본은 원본 영역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생체신호·실시간 수집은 차년도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ECG 등 파형 수집 커넥터 골격(인터페이스) 1차년도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66835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운영주체 협의 기반 확보 전략 (COR-002)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902358"/>
          <a:ext cx="6260400" cy="286608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보관 형태·경로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병원별 데이터 보관 위치·포맷·접근 경로·제공 가능 범위 조사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유형·병원별 확보 순서와 일정 수립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최소화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추출 방식(배치·덤프·API), 작업 시간대, 처리량 상한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이견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 조정이 필요한 사항은 즉시 보고, 대학의 병원·운영사 협의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데이터 표준화 · 정규화 변환 엔진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표준화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(병원마다 다른 포맷을 하나로) 업체별 · 비표준 포맷을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HL7 FHIR · DICOM · IHE 표준으로 정규화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오류 데이터 정제 · 복구와 코드 매핑을 규칙 기반으로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병원별 원천 포맷 (HL7 v2, DB, 파일)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DICOM 원본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원천 보존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150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150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정규화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221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FHIR 리소스 매핑 (Patient·Encounter·Observation 등)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DICOM 태그 정합성 보정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150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표준 포맷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941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941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코드 매핑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4013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EDI·KCD·ATC 코드 매핑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EMR 질환코드 매핑 결과 연동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941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용어 표준화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733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733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정제·검증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805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불필요·오류 데이터 정제·복구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완전성·정확성·일관성 자동 검증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733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품질 리포트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579999"/>
          <a:ext cx="6260399" cy="2978178"/>
        </p:xfrm>
        <a:graphic>
          <a:graphicData uri="http://schemas.openxmlformats.org/drawingml/2006/table">
            <a:tbl>
              <a:tblPr firstRow="0" bandRow="0"/>
              <a:tblGrid>
                <a:gridCol w="1878119"/>
                <a:gridCol w="438228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세부내용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 이력·매핑 규칙 버전관리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매핑 규칙을 버전별로 저장, 변환 결과에 규칙 버전 기록 — 재변환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 품질 자동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항목 누락률·코드 매핑률·참조 무결성 지표를 건별 산출, 기준 미달 시 격리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적재 현황 조회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병원·유형·일자별 적재 건수·실패·격리 현황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무영향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변환은 병원 전처리 서버에서 야간·주말 스케줄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3.2.2 업무 · 개발 표준화와 AS-IS / TO-BE 매핑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표준화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(표준이 곧 품질) 단어 · 용어 · 도메인 · 코드 · 명명규칙을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분석을 통해 표준화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표준화가 적용된 테이블은 AS-IS / TO-BE 매핑 리스트로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표준화 대상 및 산출물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943620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286710"/>
                <a:gridCol w="195637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단어·용어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병원별 이칭·약어를 표준 단어·용어로 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단어·용어 사전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유형·길이·허용값 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도메인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검사·처방·진단 코드의 병원별 차이 → 표준 코드 매핑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매핑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명명규칙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테이블·컬럼·API·파일 명명 규칙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명명 규칙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테이블 매핑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원천 → 표준 테이블 대응 관계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AS-IS/TO-BE 매핑 리스트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664362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664362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현황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693162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4개 병원 원천 조사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493280" y="723941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90480" y="664362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590480" y="664362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480" y="693162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단어·도메인·코드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766960" y="723941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64160" y="664362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864160" y="664362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소위원회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0160" y="693162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표준안 확정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040640" y="723941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37840" y="664362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137840" y="664362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엔진 반영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3840" y="693162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매핑 규칙 등록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5314320" y="723941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11520" y="664362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5411520" y="664362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7520" y="693162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매핑률·오류 점검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0800" y="8047619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6799" y="810161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표준화 전문 인력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6799" y="8299619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단어·용어·도메인·코드 표준화를 수행할 데이터 표준화 전담 인력을 투입하며(</a:t>
            </a:r>
            <a:r>
              <a:rPr sz="12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【성명·등급】</a:t>
            </a: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), 병원 의료정보 담당자와 함께 표준안을 검토합니다.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3.3.1 메타데이터 카탈로그 · 인덱싱 — 통합 저장 · 색인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통합 저장 · 카탈로그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(찾을 수 있어야 쓸 수 있다) EMR은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FHIR로 직접 저장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영상은 DICOM 태그를 자동 추출해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적재 시점 인덱싱 DB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 색인하고, 다중 데이터 그룹을 계층으로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876356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세부내용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독립 DB·저장 공간, PACS·EMR·CDIS 통합 적재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 저장소(FHIR·DICOM·문서)와 공통 인덱싱 DB 분리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 메타데이터 스키마, DICOM 태그 자동 추출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Study·Series·Instance 태그 추출, 유형별 스키마 정의서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 FHIR 직접 저장·관리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FHIR R4 리소스 저장소, 표준 검색 파라미터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적재 시점 색인, 4개 병원 원본 색인·조회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병원·적재일·유형별 색인, 원본 위치 참조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 기초정보 태깅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수진·처방·결과 정보로 메타데이터 태깅 후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데이터 그룹, 계층화, 일괄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 트리(병원&gt;진료과&gt;프로젝트 등), 하위 그룹 포함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적재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유형·병원별 적재 현황, 관제(SR-008)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342358"/>
            <a:ext cx="4874400" cy="46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7342358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카탈로그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74143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메타데이터 스키마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73600" y="74143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그룹 트리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14400" y="74143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태그·코호트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7342358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검색 대상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875158"/>
            <a:ext cx="4874400" cy="46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7875158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인덱싱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79471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적재 시점 색인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3600" y="79471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판독문 전문 색인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4400" y="79471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원본 위치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7875158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검색 엔진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8407958"/>
            <a:ext cx="4874400" cy="46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8407958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84799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FHIR 저장소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73600" y="84799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DICOM 저장소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14400" y="84799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문서 저장소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8407958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원본 영역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3.3.2 통합 검색 · 연구 코호트 · 추출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통합 저장 · 카탈로그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(연구자가 바로 쓰는 검색) 복합 조건 · 판독문 키워드 · 썸네일 검색으로 대상을 찾고,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연구 코호트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저장 · 태깅 · 공유 · 만료 관리하며, 다양한 포맷으로 추출함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통합 검색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032369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복합 조건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복수 키워드·AND/OR 조건, 검사명·검사타입·성별·나이·판독의 등 메타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판독문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PACS 판독문 전문 색인 키워드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썸네일 표시, CSV Export (관리자 로그 확인)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473236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연구 코호트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4966369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코호트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개설·사용자 관리·적재 데이터 확인·모니터링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저장·태깅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조건 개인 폴더 저장, 결과 태깅·태그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접근·만료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코호트별 사용자 접근 제어(RBAC), 만료 일시 지정·자동 회수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698236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추출 · 다운로드 &gt;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16800" y="7216369"/>
          <a:ext cx="6260400" cy="2032369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포맷 변환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/ DICOM / JPEG / XML / JSON 변환 추출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폴더 옵션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처방단위 하위 폴더, 처방단위 단일 폴더, 폴더·파일명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추출 대상 목록 → 승인 → 비식별(SR-001) → 추가 인증 후 다운로드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3.3.3 DICOM Web 뷰어 · 환자 데이터 통합 브라우저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통합 저장 · 카탈로그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(설치 없는 뷰어)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HTML5 기반 Zero-footprint DICOM Web 뷰어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영상을 조회하고, 환자의 다른 검사 · 문서를 함께 비교하며, EMR · CDW에서 토큰으로 바로 호출함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SR-002, SR-006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77476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세부내용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HTML5 표준 브라우저, DICOM Web 뷰어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DICOMweb(WADO-RS·QIDO-RS) 기반 HTML5 뷰어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【뷰어 엔진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Zero-footprint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로컬 저장 없이 메모리 렌더링, 종료 시 캐시·임시 데이터 삭제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Exam Layout, Image Processing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레이아웃 설정, Zoom·Rotate·Pan·Reset·Fit·WWL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 통합 브라우저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환자별 영상 목록, 다른 검사·문서 동시 비교, 썸네일·비방사선 영상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시스템 호출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뷰어 호출 URL·파라미터 규격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843476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8434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EMR·CDW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131476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뷰어 버튼 클릭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63312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5843476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58434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토큰 요청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6131476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카탈로그 발행 토큰 (SR-006)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63312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5843476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58434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권한 확인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6131476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사용자·환자 범위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63312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5843476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58434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뷰어 실행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6131476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해당 검사 바로 표시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800" y="7031476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Open API 데이터 교류 &gt;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316800" y="7265476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DICOM Q/R, DICOMweb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조회·검색·전송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IHE XDS/XDR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공유·교환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HL7 FHIR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 정형 데이터 조회·교환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3.4.1 비식별화 처리 시스템 (1) — 반출 승인 후 배치 처리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3.4 비식별화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(원본은 그대로, 반출할 때만 비식별) 연구자 반출 요청이 승인된 데이터만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별도 익스포트 가상화 서버에서 배치로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비식별화하며(약 1주 이내), 원본 영역과 논리적으로 분리함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반출 요청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코호트·추출 목록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IRB·관리자 승인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배치 비식별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익스포트 서버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적정성 검토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재식별 위험 평가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추가 인증·이력 기록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761999"/>
          <a:ext cx="6260400" cy="4773240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세부내용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SHA-256 해시 + 솔트, 동일 환자 매칭용 매핑키(솔트)는 별도 키 관리 영역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k-익명성(k≥5), l-다양성, t-근접성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준식별자(나이·성별·지역 등) 범주화·삭제로 기준 충족 여부 자동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DICOM 식별 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PS3.15 기반 식별 태그 제거·마스킹, 이미지 내 burned-in 문자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안면 재식별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CT·MR 3D 안면(스킨) 영역 제거(Defacing)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텍스트(EMR·PDF) 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성명·주민번호·연락처·주소 등 패턴·사전 기반 탐지·비식별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생체신호(ECG)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2차년도 기동 — 처리 인터페이스 1차년도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3.4.2 비식별화 처리 시스템 (2) — 적정성 평가 · 감사 추적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3.4 비식별화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(가이드라인 준수를 증명) 건강보험심사평가원 · 개인정보보호위원회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가명정보 처리 가이드라인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따르고, 처리 이력 로깅과 연차 내부평가서로 적정성을 증명함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SR-001, TER-001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비식별 적정성 · 재식별 위험 평가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866089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130200"/>
                <a:gridCol w="17216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k-익명성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준식별자 조합 그룹 최소 크기 산출 (k≥5)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 분포표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l-다양성·t-근접성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민감속성 다양성·분포 거리 산출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충족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DICOM 잔존 식별자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태그·이미지 문자 표본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잔존 0건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재식별 시도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정보 결합 시나리오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재식별 위험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56608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처리 이력 및 감사 추적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800089"/>
          <a:ext cx="6260400" cy="2196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요청자·승인자·대상·적용 기법·파라미터·처리 일시 로깅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위변조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로그 해시 체인·접근 통제 (SER-002)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솔트·매핑키 생성·보관·교체·폐기 절차, 접근 이중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80800" y="8104089"/>
            <a:ext cx="6332400" cy="772583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799" y="815808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내부평가서 및 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799" y="8356089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비식별 적정성·재식별 위험 평가 결과를 연차 종료 단계 평가서에 첨부하고, 통합테스트(TER-001)에서 재식별 가능성 점검 결과를 별도 제출합니다.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3.5.1 EMR 사용자 정보 연동 및 역할 기반 권한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3.5 사용자 · 관제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(병원 계정 그대로) 4개 병원 EMR 사용자 정보를 연동해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카탈로그 사용자를 자동 구성 · 현행화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역할(Role)별 CRUD 권한과 권한별 화면으로 비인가 기능 접근을 차단함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66089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병원 EMR 사용자ID·비밀번호(암호화)·소속·직종 연동, 일 단위 현행화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계정 생명주기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퇴직·휴직·전보 시 자동 비활성·권한 회수, 변경 이력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기반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역할별 데이터 CRUD 권한 부여, 코호트별 접근 범위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권한별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부여되지 않은 메뉴·기능은 화면에서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33208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역할 정의 (안)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566089"/>
          <a:ext cx="6260400" cy="2754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82415"/>
                <a:gridCol w="250416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승인된 코호트·비식별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검색·코호트 생성·반출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 병원 수집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현황 조회·오류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메타데이터·적재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그룹·표준·반출 승인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설정·로그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계정·권한·관제·백업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80800" y="8428089"/>
            <a:ext cx="6332400" cy="57529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848208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관리자 계정 통제 (SER-002)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8680089"/>
            <a:ext cx="6080400" cy="26929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관리자 계정은 최소 권한 원칙으로 운영하고, 계정 생성·변경·삭제 이력을 기록합니다.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3.5.2 수집 관제 · 모니터링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3.5 사용자 · 관제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(4개 병원을 한 화면에서) 수집 건수 · 용량 · 오류와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에이전트 · 게이트웨이 가동 상태, 최종 수신 시각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대시보드로 보여주고, 임계값 초과 시 메일 · SMS로 자동 알림함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에이전트 응답 지연
경고 기준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96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96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76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6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에이전트 응답 지연
장애 기준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4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4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04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데이터 미수신
장애 기준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16800" y="3348000"/>
          <a:ext cx="6260400" cy="4206267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세부내용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현황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병원·유형·일자별 수집 건수·용량·오류 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가동 상태·최종 수신 시각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에이전트·게이트웨이 하트비트, 병원별 최종 수신 시각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임계값·경고·장애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지연 10초/30초, 미수신 24시간, 오류율 </a:t>
                      </a:r>
                      <a:r>
                        <a:rPr sz="12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 협의】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 메일·SMS 서버 연동, 담당자·등급별 수신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권한별 접근, 장애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관제 화면 권한 통제, 장애·조치 이력 기록·조회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지표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스토리지·서버·네트워크 지표는 별도 인프라 관제에서 수신하는 인터페이스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316800" y="7662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316800" y="7662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800" y="7950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임계값 초과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1811700" y="820406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908900" y="7662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1908900" y="7662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4900" y="7950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경고 / 장애</a:t>
            </a:r>
          </a:p>
        </p:txBody>
      </p:sp>
      <p:sp>
        <p:nvSpPr>
          <p:cNvPr id="51" name="Isosceles Triangle 50"/>
          <p:cNvSpPr/>
          <p:nvPr/>
        </p:nvSpPr>
        <p:spPr>
          <a:xfrm rot="5400000">
            <a:off x="3403800" y="820406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501000" y="7662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>
            <a:off x="3501000" y="7662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37000" y="7950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메일·SMS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4995900" y="820406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93100" y="7662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>
            <a:off x="5093100" y="7662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9100" y="7950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조치 내역 기록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3.6.1 데이터 전환 계획 · 검증 · 오류 처리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3.6 데이터 전환 · 검증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(옮긴 만큼 확인한다) 병원별 기 축적 데이터를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단계 전환 → 건수 · 체크섬 대사 → 오류 격리 · 재처리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절차로 이관하고, 이관 정상성을 통합시험에서 검증함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SR-003, SR-004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전환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병원·유형별 대상·순서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시범 전환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표본 1주 분량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전환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야간·주말 배치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대사 검증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건수·체크섬·필수값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재처리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격리 건 보정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800" y="3654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검증 방법 &gt;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3888000"/>
          <a:ext cx="6260400" cy="286608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364965"/>
                <a:gridCol w="15651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건수 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 대비 수신·적재 건수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0건 (격리 제외)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무결성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DICOM 파일 체크섬, FHIR 리소스 참조 무결성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불일치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적합성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FHIR 프로파일·DICOM 필수 태그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통과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매핑률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매핑 성공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【목표치 협의】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280800" y="686208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오류 발생 시 처리 &gt;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16800" y="7096089"/>
          <a:ext cx="6260400" cy="2196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포맷·필수값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격리 영역 보관 → 원인 분류 → 규칙 보정 후 재변환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실패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재시도, 반복 실패 시 관제 장애 판정·알림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매핑 미존재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미매핑 목록 관리 → 표준화 담당자 매핑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3.7.1 기술적 보안 — 암호화 · 접근통제 · 감사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3.7 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(설계부터 보안)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저장 AES-256 · 전송 TLS 1.3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암호키 생명주기 관리, RBAC, 위변조 방지 접근 로그, 원본 · 비식별 데이터 분리로 의료정보를 보호함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689992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세부내용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AES-256 — 적용 대상·범위는 병원·운영기구와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TLS 1.3 — 병원 게이트웨이↔데이터센터 구간 우선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암호키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 생성·보관·교체·폐기 절차, 키 접근 이중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RBAC — 사용자·연구 코호트별 접근 범위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감사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접근·추출 이력 로깅, 해시 체인 위변조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영역과 비식별 영역 논리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추출 추가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다운로드 시 OTP 등 추가 인증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【방식 협의】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포트·프로토콜 한정, 네트워크 구성도·포트맵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156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법령 · 가이드라인 준수 (SER-001)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390000"/>
          <a:ext cx="6260400" cy="2307294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준수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개인정보보호법·의료법·생명윤리법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단계 준수 체크리스트, 검수 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가명정보 처리 가이드라인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개인정보보호위원회·보건복지부 가이드라인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취약점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전 점검·조치 결과보고서, 사고 시 즉시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ISMS 솔루션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차년도 도입 — 로그·접속기록 연동 인터페이스 선반영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3.8.1 시스템 인터페이스 — 연계 방식 비교와 선택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3.8 성능 ·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(연계 대상별 최적 방식) 대상 시스템별로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 프로토콜 · 중간 테이블 · 파일 수집 방식의 장단점을 비교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선택하고, 장애가 다른 시스템으로 번지지 않게 큐로 격리함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SR-007, ECR-001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연계 방식 장단점 비교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89147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799865"/>
                <a:gridCol w="1721610"/>
                <a:gridCol w="15651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프로토콜 (DICOM, FHIR)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준수, 재사용성 높음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 시스템 지원 여부 의존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PACS 영상, FHIR 지원 EMR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 테이블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 무변경, 운영사 통제 용이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운영사 협업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 태깅 정보 (SR-007)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파일·DB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 데이터 확보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CDIS·PDF 결과지 (SR-004)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토큰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호출, 권한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연동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EMR·CDW 뷰어 호출 (SR-006)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591476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연계 대상별 인터페이스 (안)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825476"/>
          <a:ext cx="6260400" cy="251836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1956375"/>
                <a:gridCol w="1799865"/>
                <a:gridCol w="117382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PACS ×4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DICOM 영상·판독문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DICOM C-STORE·Q/R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단위 (야간)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EMR ×4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환자·수진·처방·투약,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 테이블, FHIR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CDIS ×4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결과지·문서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메일·SMS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경고·장애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SMTP·SMS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80800" y="8451846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799" y="85058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장애 격리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799" y="8703846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연계별 수신 큐를 분리하여 한 병원·한 시스템의 장애가 다른 수집에 영향을 주지 않으며, 장애 시 큐에 보관 후 복구되면 이어서 처리합니다.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3.8.2 사용자 인터페이스 · 디자인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3.8 성능 ·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(연구자 업무 흐름대로) 검색 → 코호트 → 반출 요청까지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연구자 업무 흐름에 맞춘 화면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 대학 브랜드 기반의 일관된 디자인 시스템을 적용하고, 모든 프로그램에 매뉴얼을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680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로그인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EMR 계정 연동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49328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9048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검색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648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조건·키워드·썸네일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276696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6416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코호트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016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저장·태깅·공유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404064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3784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뷰어 확인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384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영상·문서 비교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531432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1152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반출 요청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752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승인·비식별·다운로드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800" y="3546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주요 화면 (안) &gt;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780000"/>
          <a:ext cx="6260399" cy="2880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1173825"/>
                <a:gridCol w="375623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복합 조건·판독문 검색, 썸네일, CSV Export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코호트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저장·태깅·사용자 관리·만료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연구자·관리자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 요청·승인·비식별 결과·다운로드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관제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병원별 상태·지연·오류·알림·조치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표준·매핑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매핑 규칙 버전·미매핑 목록·품질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80800" y="676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디자인 · 사용성 원칙 &gt;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7002000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일관성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 브랜드 기반 디자인 시스템, 페이지 레이아웃·컴포넌트 통일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사용성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프로토타입 → 연구자 사용성 점검 → 시험운영 피드백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저작권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저작권 문제없는 이미지·폰트 사용, 라이선스 목록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3.8.3 성능 확보 및 테스트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3.8 성능 ·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(성능은 측정으로 보증) 수집 처리량 · 검색 응답 · 뷰어 로딩을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목표치와 측정 도구로 정의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병원 운영 시스템에 영향이 없는 시간대에 전 구간 통합테스트로 검증함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성능 목표 (안) — 착수 시 측정 조건과 함께 확정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518369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956375"/>
                <a:gridCol w="273892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수집 처리량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【병원별 일 수집량】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야간 시간 내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처리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검색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【3초】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(일반 조건)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시험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뷰어 첫 영상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【3초】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후 1주 이내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21836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통합테스트 (TER-001)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452369"/>
          <a:ext cx="6260400" cy="300436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시나리오·일정·판정기준·담당자를 담은 통합테스트 계획서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→ 변환 → 전송 → 적재 → 색인 → 검색 → 추출 단계 모두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EMR·PACS·CDIS 각 데이터 유형별 연동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결과 검증·재식별 가능성 점검 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→ 조치 → 재검증 이력, 통합테스트 결과서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852873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테스트는 병원 운영 시스템에 영향이 없는 시간대에 발주처와 일정을 협의하여 수행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3.9.1 데이터 백업 · 복구 및 운영 절차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3.9 운영 · 백업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(복구까지 시험한 백업) 인덱싱 DB · 메타데이터의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백업 주기 · 보존 · 세대관리와 RPO · RTO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정하고, 검수 단계에서 복구 시험을 수행해 결과를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백업 정책 (안)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196000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956375"/>
                <a:gridCol w="234765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보존 · 세대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인덱싱 DB·메타데이터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증분 / 주 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【4주】</a:t>
                      </a: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보존, </a:t>
                      </a:r>
                      <a:r>
                        <a:rPr sz="12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【4세대】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매핑 규칙·설정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 전체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감사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【법정 보존기간】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4896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4896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4950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【24】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5346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목표복구시점 (RPO)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4896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4896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4950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【8】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5346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목표복구시간 (RTO)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4896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4896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4950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5346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검수 단계 복구 시험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800" y="5886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운영 절차 및 비상 대응 &gt;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316800" y="6120000"/>
          <a:ext cx="6260400" cy="286608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영역과 백업 영역 논리 분리, 백업 결과·실패는 관제(SR-008)에서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용량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대상·소요 용량 산정 근거 제시 (저장 장치는 별도 트랙)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등급별 대응 절차서, 병원 수집 중단 시 큐 보관 후 재개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 백업 솔루션(차년도) 연동 가능한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 개발 내역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3.10.1 제약사항 충족 방안 — 제안 · 구축 · 지식재산권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3.10 제약사항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(제약을 설계에 반영) 데이터센터 구성 이해를 바탕으로 제안하고,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운영주체 협업과 비용 부담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산출물 소유권 · 지식재산권 · 소스 임치 조건을 준수함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COR-001, COR-002, COR-003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281107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충족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COR-001 제안 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글로컬 AI 데이터센터 구성 이해 기술(Ⅲ-1), 사실 기반 기재, 추가 제안 시 사유 명시 (Ⅳ-3)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COR-002 구축·검증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단계 운영주체(원내 전산부서·운영사) 사전 협의, 확보 전략 수립, 협업 비용 수행사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COR-003 지식재산권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제3자 권리 침해 시 수행사 책임, 산출물 원본 사업 종료 전 제출, 타 용도 활용 시 사전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4747107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구축 제약 및 대응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981107"/>
          <a:ext cx="6260400" cy="2642738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446053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· 테스트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진료 무영향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야간·주말 스케줄, 처리량 상한 — 운영 시간대 부하 측정으로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하드웨어 별도 트랙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가상화 환경 배포 패키지화 — 장비 확보 시점 변동에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5개월 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천안 선행 구축 후 3개 병원 병행 적용 — 마일스톤별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정책 준수 안정 버전 사용, 12개월 무상 기술지원·업그레이드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80800" y="7731845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778584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소스코드 임치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7983845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본 소프트웨어의 안정적 사용과 유지보수를 위해 저작권법에 따른 소스코드 임치 요구 시 제3의 수치기관을 통해 이행합니다.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관리 및 지원 부문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 부문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지원 부문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사업추진 조직 및 역할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사업추진 조직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(PM 직할 4개 파트) PM 아래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수집 연동 · 표준화 · 카탈로그 · 보안/품질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파트를 두고, 대학 · 4개 병원 전산팀 · EMR/PACS 운영사와 정기 협의 체계를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PMR-001, PMR-002, PMR-003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6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지산학연병협력팀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AI의료융합데이터센터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상세설계 소위원회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검토 · 승인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890800"/>
            <a:ext cx="4874400" cy="46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8908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9627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4개 병원 전산팀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29627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EMR·PACS 운영사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29627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통합정보센터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8908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연계 협업 (COR-002)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423600"/>
            <a:ext cx="4874400" cy="46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4236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사업관리자 (PM)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36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품질보증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144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4236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단일 보고 창구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3956399"/>
            <a:ext cx="4874400" cy="46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3956399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4028399"/>
            <a:ext cx="8766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 연동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63400" y="4028399"/>
            <a:ext cx="8766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표준화·변환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94000" y="4028399"/>
            <a:ext cx="8766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카탈로그·뷰어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24600" y="4028399"/>
            <a:ext cx="8766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비식별·관제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3956399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개발 · 시험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4561200"/>
          <a:ext cx="6260399" cy="376035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4069260"/>
                <a:gridCol w="939059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총괄, 일정·위험·품질, 발주처·병원·운영사 협의, 발표 (IT 경력 10년 이상, 공고일 전부터 재직)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연동 파트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에이전트·게이트웨이·중간 테이블 연동, 병원 현장 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표준화·변환 파트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단어·용어·코드 표준화, 매핑 규칙, 변환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카탈로그·뷰어 파트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저장·색인·검색·코호트·뷰어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비식별·관제·보안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엔진, 관제, 암호화·접근통제,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280800" y="839355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안정화 기간 중 수행사 소속 안정화 운영지원 인력 상주 (PMR-003) / 상주·비상주는 발주처 협의·승인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참여인력 및 투입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참여인력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(5개월 투입 계획) 단계별로 필요한 인력을 배치하고, 투입 전 이력 사항을 제출하며,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교체는 원칙적으로 금지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— 부득이한 경우 14일 전 승인 후 동급 이상으로 교체함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참여인력 (상세 이력은 별첨 7)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8" cy="286199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939059"/>
                <a:gridCol w="782550"/>
                <a:gridCol w="3208454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경력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【IT시스템 구축·운영 경력 10년 이상】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PL·아키텍트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【데이터 표준·아키텍처 경력】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【DICOM·HL7 연동 경력】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【단어·용어·코드 표준화 경력】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카탈로그·화면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【검색·웹 개발 경력】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비식별·보안·품질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【개인정보·보안 경력】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562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단계별 투입 계획 (M/M) — 조직별 투입 공수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795999"/>
          <a:ext cx="6260395" cy="2861994"/>
        </p:xfrm>
        <a:graphic>
          <a:graphicData uri="http://schemas.openxmlformats.org/drawingml/2006/table">
            <a:tbl>
              <a:tblPr firstRow="0" bandRow="0"/>
              <a:tblGrid>
                <a:gridCol w="1637335"/>
                <a:gridCol w="770510"/>
                <a:gridCol w="770510"/>
                <a:gridCol w="770510"/>
                <a:gridCol w="770510"/>
                <a:gridCol w="770510"/>
                <a:gridCol w="77051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PL·아키텍트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카탈로그·화면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비식별·보안·품질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8729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투입 공수(M/M)는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【원가 산정 후 확정】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/ 7일 이상 부재 시 대체인력 투입, 교체 기간 인건비는 수행사 부담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5개월 세부 추진 일정 및 마일스톤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추진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(천안 선행, 3개 병원 병행) 1.5개월 차에 기반 구축과 천안 연동을 시작하고,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3개월 차부터 4개 병원 병행 연동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후 4.5개월 차에 수집 개시 · 통합시험을 진행함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PMR-011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793601"/>
        </p:xfrm>
        <a:graphic>
          <a:graphicData uri="http://schemas.openxmlformats.org/drawingml/2006/table">
            <a:tbl>
              <a:tblPr firstRow="0" bandRow="0"/>
              <a:tblGrid>
                <a:gridCol w="1088765"/>
                <a:gridCol w="2644144"/>
                <a:gridCol w="505498"/>
                <a:gridCol w="505498"/>
                <a:gridCol w="505498"/>
                <a:gridCol w="505498"/>
                <a:gridCol w="505498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착수·설계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착수보고, 운영주체 협의, 상세설계 소위원회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임시 서버·저장소·개발환경, 포트맵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천안 에이전트·게이트웨이 선행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서울·부천·구미 병행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표준화 엔진·변환 수집 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카탈로그·뷰어·비식별·관제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수집·시험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 개시, 통합시험, 복구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정상성 검증, 교육, 최종보고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259607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주요 마일스톤 (PMR-011)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493607"/>
          <a:ext cx="6260400" cy="2447995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565100"/>
                <a:gridCol w="31302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14일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사업수행계획서·WBS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상세설계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소위원회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병원 수집 개시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 ~ 5개월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통합테스트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최종보고회·검수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901360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RFP PMR-011의 '사업 기간 6개월' 표기는 계약기간 5개월과 상이 —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【발주처 확인】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, 병원별 연동 일정은 각 병원 전산팀과 협의 조정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1.4.1 사업관리 방법론 및 보고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사업관리 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(5대 관리 영역) 위험 · 품질 · 일정 · 자원 · 형상관리를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WBS와 주간 점검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운영하고, 착수 · 월간 · 수시 · 최종 보고 체계로 진척과 이슈를 투명하게 공유함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PMR-004, PMR-008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118008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118008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17200"/>
            <a:ext cx="110808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등록부·주간 점검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86880" y="2358000"/>
            <a:ext cx="118008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86880" y="2358000"/>
            <a:ext cx="118008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품질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2880" y="2617200"/>
            <a:ext cx="110808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단계별 점검·검토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56960" y="2358000"/>
            <a:ext cx="118008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56960" y="2358000"/>
            <a:ext cx="118008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일정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92960" y="2617200"/>
            <a:ext cx="110808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WBS·마일스톤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27040" y="2358000"/>
            <a:ext cx="118008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27040" y="2358000"/>
            <a:ext cx="118008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3040" y="2617200"/>
            <a:ext cx="110808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M/M·병원 작업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7120" y="2358000"/>
            <a:ext cx="118008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97120" y="2358000"/>
            <a:ext cx="118008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형상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33120" y="2617200"/>
            <a:ext cx="110808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소스·설정·매핑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0800" y="361799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보고 체계 &gt;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316800" y="3851999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330335"/>
                <a:gridCol w="391275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14일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사업수행계획서, 작업 계획서, 내·외부 관계자 참석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공정·진행 사항, 이슈와 대응방안, 일정 변경 예상 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사업영역별 상세 진행, 긴급 이슈·위험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최종보고회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보고, 도출 내용 산출물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280800" y="635399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운영 적용 전 시스템 테스트 (PMR-004) &gt;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6587999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요구사항별 기능 시험, 결함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비기능성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성능·보안·백업 복구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중인 병원 시스템 부하·장애 영향도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1.5.1 위험관리 및 비상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1.5 위험관리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(4개 병원 · 5개월의 위험) 운영사 협업 지연 · 병원 데이터 품질 · 장비 확보 시점 등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고유 위험을 착수 시 식별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대응 방안과 함께 주간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18619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69529"/>
                <a:gridCol w="2191140"/>
                <a:gridCol w="219114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EMR·PACS 운영사 협업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2주 내 운영주체 협의·일정 확약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수집 등 대체 경로 선행, 발주처 조정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병원별 데이터 품질 편차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전환으로 사전 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격리·재처리, 매핑 규칙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HW(별도 트랙) 확보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임시 서버로 개발·시험 선행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가상화 패키지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진료 시스템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야간·주말 스케줄, 처리량 상한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중지·영향도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매핑 범위 확대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소위원회 표준안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WBS 주간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만회 대책·인력 추가 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652195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65219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940195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등록부 등재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7193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6652195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665219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6940195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영향·가능성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7193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6652195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665219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6940195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담당·기한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7193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6652195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665219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6940195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긴급 시 수시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0800" y="7948195"/>
            <a:ext cx="6332400" cy="969875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799" y="800219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비상 상황 통제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799" y="8200195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장애 등 비상 상황은 즉시 보고하고 백업·복구 및 장애 대책(Ⅳ-2.4)을 적용하며, 본 사업으로 기존·신규 시스템에 문제가 생기면 수행사가 책임지고 조치합니다. 작업 전 방법·일정을 발주처와 협의하고 장비 상태를 확인합니다.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1.6.1 안전관리 · 납품 설치 · 수행 장소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1.6 안전 · 납품 · 수행 장소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(병원 현장 원칙 준수) 병원 현장 작업은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사전 일정 · 인원 통보와 출입 · 보안 절차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지키고, 납품은 현장 실사 후 설치하며, 안전사고 보고 체계를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PMR-006, PMR-007, PMR-010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안전관리 (PMR-006)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사고 예방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화재·먼지·전기 안전 점검, 작업 전 안전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사고 발생 → PM 즉시 보고 → 발주처 보고 → 조치·재발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소홀로 인한 사고·피해는 수행사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4320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납품 및 설치 (PMR-007)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4554000"/>
          <a:ext cx="6260400" cy="2170645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지연 예상 시 내용·대책 즉시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실사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자재·환경 실사 후 납품·설치, 설치·시험 비용 계약금액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OS·DB·SW 라이선스 등 사용권 포함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【HW·상용 SW 범위 질의】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Config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교체 대상 시스템 Config 검토 후 신규 시스템 적용, 서비스 영향 없음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683264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수행 장소 (PMR-010) &gt;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16800" y="7066648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 협의 장소, 원격지 개발 시 시건·출입통제 등 보안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현장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일정·투입 인원 통보, 병원 출입·보안 절차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진료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진료 업무 영향 예상 시 영향도 분석·승인 후 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1.7.1 산출물 관리 및 품질 보증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1.7 산출물 · 품질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(단계마다 점검) 품질보증계획서 승인 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단계별 점검 항목 · 기준 · 시기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 따라 산출물을 검토하고, 소스코드 품질 기준과 검수 절차를 발주처와 사전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PMR-009, QUR-001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주요 산출물 (PMR-009)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090267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330335"/>
                <a:gridCol w="391275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14일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사업수행계획서, 작업 계획서, 품질보증계획서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확정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상세설계서, 표준 정의서, 매핑 정의서, 네트워크 구성도·포트맵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구현·시험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목록, 인터페이스 정의서, 통합테스트 결과서, 비식별 내부평가서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안정화 기간 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결과서, 납품확인서, 라이선스 증서, 기술지원 확약서, 완료보고서·검수확인서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79026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단계별 품질 점검 (QUR-001)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024268"/>
          <a:ext cx="6260400" cy="2754000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286710"/>
                <a:gridCol w="19563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추적, 표준·매핑 정합성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34건 매핑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리뷰, 정적 분석, 보안 약점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중대 결함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통합테스트, 복구 시험, 재식별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판정기준 충족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발주처(지정 업체)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885026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 지적사항 조치 이력 관리, 점검 결과는 월간 보고에 포함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1.8.1 보안관리 및 투입 인력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1.8 보안관리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(의료정보는 밖으로 나가지 않는다) 투입 인력 전원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보안서약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실제 환자 데이터 개발 사용 금지, 작업 단말 · 저장매체 통제, 철수 시 권한 즉시 회수를 이행함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322267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인력 전원 보안서약서 징구·제출, 위반 시 손해배상 책임 계약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출입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병원별 출입 절차·보안 규정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의료정보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취득 의료정보·개인정보 외부 유출·목적 외 사용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환자 데이터 사용 금지 — 불가피 시 승인 후 비식별 데이터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프로그램 설치 장비만 사용, 외부 저장매체 반출입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반출입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노트북 반입·반출 시 악성코드·무단반출 확인, 사업 종료 시 완전 삭제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회수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철수·교체 시 접근 권한 즉시 회수·결과 통보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IP·구성·계정·취약점·정보보호시스템 정보 인계인수대장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788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788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투입 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8076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서약·교육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833006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7788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7788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 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8076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단말·매체 통제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833006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7788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7788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8076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취약점 연 1회↑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833006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7788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7788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철수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8076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권한 회수·삭제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1.9.1 개발환경 · 프레임워크 · 라이선스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1.9 개발환경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(장기 유지보수를 고려한 표준 스택) 대학 담당자가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독자적으로 유지보수할 수 있는 표준 프레임워크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쓰고, 개발 · 테스트 · 형상 · 배포 절차와 라이선스를 문서로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개발환경 및 프레임워크 (안)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253107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504160"/>
                <a:gridCol w="250416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(안)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선정 사유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Java 기반 표준 프레임워크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교육·유지보수 인력 확보 용이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HTML5 표준 웹 (반응형)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 호환, 설치 불필요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의료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FHIR R4·DICOMweb 지원 오픈소스 엔진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【제품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국제 표준 준수, 라이선스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DB·검색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RDBMS + 전문 검색 엔진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【제품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색인·판독문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형상·배포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형상관리, 빌드·배포 스크립트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단계 테스트·배포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953107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개발·운영 절차 및 라이선스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187107"/>
          <a:ext cx="6260400" cy="2642738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개발·테스트·형상관리·배포 절차서 제공, 운영 단계 빌드·배포 도구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개발용 SW·제반 자원 수행사 제공 (정품·프리웨어)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라이선스 목록·조건 제출, 안정 버전 사용, 불법 SW 사용 시 수행사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정보보호조치에 관한 지침에 따른 개발 운영지침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지원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시험운영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시험운영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(실데이터로 확인) 4.5개월 차부터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4개 병원 실제 수집을 개시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시험운영하고, 연구자 · 관리자 시나리오로 검색 · 반출 · 관제를 점검한 뒤 결과를 반영해 검수를 요청함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시험운영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대상·시나리오 승인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791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 개시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4개 병원 실데이터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791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시나리오 점검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연구자·관리자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791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결함·개선 반영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791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검수 요청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종합시험 입회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800" y="343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시험운영 시나리오 (안) &gt;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3672000"/>
          <a:ext cx="6260400" cy="2994591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병원별 일 수집 → 적재 → 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누락·지연 없이 다음 날 검색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연구자 복합 조건 검색 → 코호트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조건·태그 저장, 썸네일·뷰어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 요청 → 승인 → 비식별 → 다운로드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1주 이내 완료, 비식별 적정성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중지 → 장애 판정 →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30초 장애 판정, 메일·SMS 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→ 복구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RPO·RTO 충족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280800" y="6774595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시험운영 조직 &gt;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16800" y="7008595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총괄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— 일정·결과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파트별 담당, 대학·병원 담당자 참여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담당 — 등록·조치·재검증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Ⅳ-10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지원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교육훈련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교육훈련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(대상별 맞춤 교육) 교육계획서에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목적 · 내용 · 대상 · 방법 · 일정 · 장소 · 강사진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명시하고, 연구자 · 데이터 관리자 · 시스템 운영자별 실습 중심 교육을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642738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2973689"/>
                <a:gridCol w="1095570"/>
                <a:gridCol w="109557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검색, 코호트, 뷰어, 반출 요청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실습·매뉴얼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그룹·표준·매핑 관리, 반출 승인·비식별 결과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운영자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관제·장애 조치, 백업·복구, 계정·권한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실습·절차서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상태 확인, 수집 오류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설명회·원격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개시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10873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교육 운영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342738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후 제출·승인, 발주처 요구 시 범위 내 추가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사용자·관리자·운영자 매뉴얼, 동영상 요약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비용 제안사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참석자·내용·질의응답 교육 결과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16800" y="78447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8447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789873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과정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829473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대상별 교육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9600" y="78447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9600" y="78447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7600" y="789873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7600" y="829473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매뉴얼 제공
(모든 프로그램)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2400" y="78447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62400" y="78447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0400" y="789873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0400" y="829473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교육 비용 발주처 부담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Ⅳ-11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지원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기술이전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기술이전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(자체 유지보수 역량) 시스템 운영 · 감시 · 보안 · 비상복구와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장애 · 응급조치 기술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실습으로 이전하고, 데이터 모델 · 매핑 · 튜닝 등 핵심 요소는 협업하며 함께 만듦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74400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3521475"/>
                <a:gridCol w="1486844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아키텍처, 서버·가상화 배치, 네트워크·포트맵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문서·설명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운영·감시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관제, 장애 판정·알림, 로그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보안·비상복구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암호키 관리, 백업·복구, 장애 응급조치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실습·모의훈련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모델, 표준·매핑 규칙, 변환 품질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 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확장·업그레이드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병원·데이터 유형 추가, SW 업그레이드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문서·지원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210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210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 협의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498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방법·기간 확정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8057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210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210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협업 수행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498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설계·모델링 공동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8057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210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210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이전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498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운영·복구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8057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210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210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 운영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498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안정화 기간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8057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210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210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498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이전 확인서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7613999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76679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인력 변경에도 이어지는 기술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7865999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과업 중 확인된 사항은 산출물에 수시로 정비하여, 대학 정보화 인력이 바뀌어도 인계인수와 기술이전에 그대로 활용할 수 있게 합니다.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Ⅳ-12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지원 부문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2.4.1 하자보수 · 장애대응 · 안정화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유지보수 및 기타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(검수 후 1년 무상) 최종 검수일부터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12개월 이상 무상 유지보수와 신규 버전 무상 지원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안정화 3개월 이상 상주 지원, 장애 유형별 대응 절차를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무상 하자보수
(최종 검수일부터)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96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96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76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6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안정화 기간
(상주 지원)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4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4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04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【2】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긴급 장애
현장 대응 착수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0800" y="334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장애 유형별 대처 방안 &gt;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316800" y="3582000"/>
          <a:ext cx="6260400" cy="2518369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191140"/>
                <a:gridCol w="289543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중단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에이전트·게이트웨이 정지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재기동, 큐 보관 후 재전송, 원격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포맷·매핑 오류 증가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격리·재처리, 매핑 규칙 긴급 패치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저장·색인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인덱싱 DB 손상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복구, 원천 재색인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사고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비인가 접근·유출 의심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보고, 계정 차단, 원인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280800" y="620836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하자보수 체계 &gt;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316800" y="6442369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개발 SW 전체 — 신규 버전·패치 요청 시 무상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→ 원인 분석 → 복구 → 결과 보고 (이력 관리)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버전·정품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비용 없는 범위의 최신 검증 버전 업그레이드, 정품 공급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시 기술지원 확약서 제출, 보안 취약성 점검 연 1회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Ⅳ-13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관리 및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추가 제안 및 협의 필요 사항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추가 제안 및 전제사항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(차년도까지 보는 제안) 1차년도 범위 안에서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차년도 확장 설계안과 데이터 품질 리포트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추가로 제공하고, 제안요청서 해석이 필요한 사항은 착수 전 협의로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차년도 확장 설계안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17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병리·ICU 실시간 수집, 오브젝트 스토리지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VDI·NLP/AI 학습 연계 구조도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데이터 품질 리포트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0" y="2617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병원·유형별 매핑률·오류율 월간 리포트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원천 데이터 개선 권고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780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800" y="378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연구자 활용 가이드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" y="4039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코호트 구성·반출 절차 가이드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비식별 기준 안내 자료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3780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378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④ 표준 코드 사전 공유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4039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4개 병원 공통 표준 코드 사전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향후 병원 확장 시 재사용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0800" y="5256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협의 필요 사항 (제안요청서 해석) &gt;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316800" y="5490000"/>
          <a:ext cx="6260400" cy="321381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HW·상용 SW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 등 HW 별도 트랙 vs 가상화 서버 1식·장비 발주·OS/DB 라이선스 포함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5개월 vs PMR-011 '6개월 내 완료' 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운영사 협업 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EMR·PACS 운영사 연계 개발 비용 범위 (COR-002 수행사 부담)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수집량·검색 응답 목표치와 측정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