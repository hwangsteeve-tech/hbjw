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KoPubWorld돋움체 Medium"/>
                <a:ea typeface="KoPubWorld돋움체 Medium"/>
                <a:cs typeface="KoPubWorld돋움체 Medium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대학 AI 인프라 기반 구축 (AI 데이터 스퀘어)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사업PM </a:t>
            </a:r>
            <a:r>
              <a:rPr sz="16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발주기관: 인덕대학교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KoPubWorld돋움체 Bold"/>
                <a:ea typeface="KoPubWorld돋움체 Bold"/>
                <a:cs typeface="KoPubWorld돋움체 Bold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E3A8A"/>
                </a:solidFill>
                <a:latin typeface="KoPubWorld돋움체 Bold"/>
                <a:ea typeface="KoPubWorld돋움체 Bold"/>
                <a:cs typeface="KoPubWorld돋움체 Bold"/>
              </a:rPr>
              <a:t>인덕대학교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4860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정량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정량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경영 상태 5 · 유사 사업 실적 5 · 연관 사업 실적 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대학의 사업 목표 이해도 및 추진 전략의 타당성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기술 및 기능 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[인프라]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Private AI, LLM 게이트웨이 등 최적 아키텍처 및 유연성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9~10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[지식DB]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비정형(HWP, PDF) 문서 전처리 및 지식 카탈로그 구축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11~13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[AI 서비스]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스튜디오 구축 및 외부 API/데이터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13~15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PoC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파싱 정확도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샘플 문서(표 포함) 텍스트 추출 완결성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11, 17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 품질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질의응답 정확도 및 환각 통제 능력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AI 답변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Golden Question 활용 품질 검증 및 최적화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부하·속도·보안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부하 분산, 응답 속도 보장, 권한 통제·가드레일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사업 관리 및 사후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조직·위험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수행 조직의 전문성 및 위험 관리 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기술 이전·교육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대학 자체 Agent 수정·관리 역량 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하자보수·안정화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무상/유상 하자보수 및 안정화 지원 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추가 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추가 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구축·운영·유지 등을 위한 추가 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전략 및 방법론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0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기술 및 기능 제안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4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6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PoC 기술 시연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성능 및 품질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0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KoPubWorld돋움체 Medium"/>
                <a:ea typeface="KoPubWorld돋움체 Medium"/>
                <a:cs typeface="KoPubWorld돋움체 Medium"/>
              </a:rPr>
              <a:t>chapter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사업 관리 및 사후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전략 및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1. 사업 이해와 핵심 이슈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2. 목표 · 추진 전략 · 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>
                <a:solidFill>
                  <a:srgbClr val="0B3AA4"/>
                </a:solidFill>
                <a:latin typeface="KoPubWorld돋움체 Bold"/>
                <a:ea typeface="KoPubWorld돋움체 Bold"/>
                <a:cs typeface="KoPubWorld돋움체 Bold"/>
              </a:rPr>
              <a:t>대학 지식을 정확하게 쓰는 </a:t>
            </a:r>
            <a:r>
              <a:rPr sz="3400" b="0">
                <a:solidFill>
                  <a:srgbClr val="0B3AA4"/>
                </a:solidFill>
                <a:latin typeface="KoPubWorld돋움체 Bold"/>
                <a:ea typeface="KoPubWorld돋움체 Bold"/>
                <a:cs typeface="KoPubWorld돋움체 Bold"/>
              </a:rPr>
              <a:t>대학 소유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Private AI 인프라 · 통합 지식DB · Agent 스튜디오 — 대학이 스스로 AI 서비스를 늘려가는 기반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인덕대학교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대학혁신사업단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계약일로부터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10개월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13억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(2026 9억 · 2027 4억)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핵심 조건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대학 전용 단독시스템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365×24 무중단 이중화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1. 사업 이해와 핵심 이슈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Ⅰ. 전략 및 방법론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본 사업은 '모델을 들여오는 사업'이 아니라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대학 지식을 AI가 정확히 쓰게 만드는 사업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 —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정확도와 운영 주도권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이 성패를 가름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2160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42160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 범위 4대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999" y="1638000"/>
            <a:ext cx="4035999" cy="4770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① Private AI 인프라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GPU 이중화·모델 서빙·Model Gateway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② 통합 지식DB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HWP·PDF 파싱, Knowledge Catalog, 학사·행정 Data Mart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③ Agent 스튜디오·포털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시범 Agent 3~5종, 대학 자체 Agent 관리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④ 품질·안정화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Golden Question 평가, 가드레일, 교육·하자보수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47200" y="3618000"/>
            <a:ext cx="306000" cy="503999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702000" y="1260000"/>
          <a:ext cx="7167199" cy="5219997"/>
        </p:xfrm>
        <a:graphic>
          <a:graphicData uri="http://schemas.openxmlformats.org/drawingml/2006/table">
            <a:tbl>
              <a:tblPr firstRow="0" bandRow="0"/>
              <a:tblGrid>
                <a:gridCol w="1457735"/>
                <a:gridCol w="2672515"/>
                <a:gridCol w="3036949"/>
              </a:tblGrid>
              <a:tr h="77866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핵심 이슈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원인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해결 방향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613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답변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규정·지침이 HWP 표·다단·스캔 이미지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Document Intelligence (표 구조 보존·근거 매핑)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13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환각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관련 없는 문서·폐기 규정 참조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Hybrid Search + Reranking + 효력기간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866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종속성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특정 LLM·검색엔진·파서 고정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OpenAI 호환 API·중립 Metadata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7866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 보호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학사·인사 데이터 AI 노출 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Semantic View·필드 단위 접근제어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133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 주도권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사업 후 수행사 의존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Studio·Knowledge Catalog 자체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2. 목표 · 추진 전략 ·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Ⅰ. 전략 및 방법론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측정 가능한 품질 목표 아래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4대 전략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으로 추진 — 2개월 차 인프라 완성,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8개월 차 통합 시험, 10개월 차 완료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대학 에이전트 선정 TF와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3개월 차에 시범 Agent 주제 확정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, Agent별 검증에 TF 참여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23164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208763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① 표준 스택·교체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208763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2123640" cy="1953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OpenAI 호환 서빙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모델·검색·파서 교체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45640" y="1260000"/>
            <a:ext cx="223164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17640" y="1303200"/>
            <a:ext cx="208763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② 문서 이해 품질 우선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7640" y="1555200"/>
            <a:ext cx="208763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9640" y="1584000"/>
            <a:ext cx="2123640" cy="1953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착수 1개월 파싱 진단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유형별 청킹 확정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000" y="3663000"/>
            <a:ext cx="223164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" y="3706200"/>
            <a:ext cx="208763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③ 데이터 최소 노출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6000" y="3958200"/>
            <a:ext cx="208763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8000" y="3987000"/>
            <a:ext cx="2123640" cy="1953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원천 DB 직접 접근 금지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View·API·필드 권한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45640" y="3663000"/>
            <a:ext cx="223164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7640" y="3706200"/>
            <a:ext cx="208763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④ 대학 자립 운영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17640" y="3958200"/>
            <a:ext cx="208763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9640" y="3987000"/>
            <a:ext cx="2123640" cy="1953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Studio·Catalog 실습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Agent 수정 역량 인증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280" y="1260000"/>
          <a:ext cx="6829918" cy="4715998"/>
        </p:xfrm>
        <a:graphic>
          <a:graphicData uri="http://schemas.openxmlformats.org/drawingml/2006/table">
            <a:tbl>
              <a:tblPr firstRow="0" bandRow="0"/>
              <a:tblGrid>
                <a:gridCol w="1675263"/>
                <a:gridCol w="1030931"/>
                <a:gridCol w="1030931"/>
                <a:gridCol w="1030931"/>
                <a:gridCol w="1030931"/>
                <a:gridCol w="1030931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M~M+1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M+2~3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M+4~5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M+6~7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M+8~9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착수·파싱 진단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인프라 (GPU·K8s)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지식DB·연계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Agent·Studio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품질 (Golden Q)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시험·이관·완료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기술 및 기능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1. [인프라] Private AI · 모델 게이트웨이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2. [지식DB] 문서 전처리 · 지식 카탈로그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3. [AI 서비스] Agent 스튜디오 · 연계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1. [인프라] AI 데이터 스퀘어 전체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인프라 · 모델 · 지식 · Agent · 채널을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5개 계층으로 분리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하고 표준 API로 연결 —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어느 계층이든 교체 가능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전 계층을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대학 지정 장소에 설치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, 학생·교직원 개인정보는 외부로 위탁·전송하지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47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채널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 사용자 포털 (반응형)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6400" y="1324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Agent Studio (관리자)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24800" y="1324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LMS·포털 연동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89200" y="1260000"/>
            <a:ext cx="19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SSO 자동 로그인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2106000"/>
            <a:ext cx="947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2170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Agent Runtime (Context Router)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6400" y="2170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Tool/API Layer · 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24800" y="2170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가드레일·권한 통제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89200" y="2106000"/>
            <a:ext cx="19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중립 Metadata 정의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951999"/>
            <a:ext cx="947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지식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3016799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RAG 엔진 (Hybrid Search)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86400" y="3016799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Knowledge Catalog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24800" y="3016799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AI Data Mart (Oracle)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89200" y="2951999"/>
            <a:ext cx="19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문서 파이프라인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" y="3798000"/>
            <a:ext cx="947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모델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8000" y="3862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Model Gateway (OpenAI 호환)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6400" y="3862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Private LLM·임베딩·Reranker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24800" y="3862800"/>
            <a:ext cx="268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외부 Cloud LLM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89200" y="3798000"/>
            <a:ext cx="19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모델 교체·벤치마크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000" y="4644000"/>
            <a:ext cx="947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46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인프라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48000" y="4708800"/>
            <a:ext cx="1999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GPU 서버 이중화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01800" y="4708800"/>
            <a:ext cx="1999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Kubernetes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55600" y="4708800"/>
            <a:ext cx="1999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스토리지·백업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09400" y="4708800"/>
            <a:ext cx="1999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APM·모니터링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89200" y="4644000"/>
            <a:ext cx="198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365×24 무중단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2. [인프라] GPU 이중화 · Model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워크로드별 자원 산정과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GPU 서버 2대 이상 + 쿠버네티스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로 무중단,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하나의 OpenAI 호환 API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로 모델 종속 없이 운영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5174181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517418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인프라 구성 (안)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13999" y="1638000"/>
          <a:ext cx="4994180" cy="4770000"/>
        </p:xfrm>
        <a:graphic>
          <a:graphicData uri="http://schemas.openxmlformats.org/drawingml/2006/table">
            <a:tbl>
              <a:tblPr firstRow="0" bandRow="0"/>
              <a:tblGrid>
                <a:gridCol w="1589057"/>
                <a:gridCol w="3405123"/>
              </a:tblGrid>
              <a:tr h="79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9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서버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【GPU 모델·장수】 × 2대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애플리케이션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【사양】 × 2대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DB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Oracle Active-Standby, 벡터·검색 클러스터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플랫폼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Kubernetes, GPU 스케줄링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모니터링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 메트릭 + 대학 APM(와탭)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660181" y="1260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0181" y="1260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3381" y="1602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Agent·포털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92736" y="155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1936" y="1260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1936" y="1260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정책 적용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5136" y="1602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권한·마스킹·가드레일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694490" y="155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63690" y="1260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3690" y="1260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라우팅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06890" y="1602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Private / Cloud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296245" y="1554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65445" y="1260000"/>
            <a:ext cx="1403754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465445" y="1260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기록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8645" y="1602000"/>
            <a:ext cx="1317354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응답·비용 로그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660181" y="2172340"/>
          <a:ext cx="6209017" cy="4307658"/>
        </p:xfrm>
        <a:graphic>
          <a:graphicData uri="http://schemas.openxmlformats.org/drawingml/2006/table">
            <a:tbl>
              <a:tblPr firstRow="0" bandRow="0"/>
              <a:tblGrid>
                <a:gridCol w="1602327"/>
                <a:gridCol w="4606690"/>
              </a:tblGrid>
              <a:tr h="71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Model Gateway 구현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1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표준 인터페이스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OpenAI 호환 API — 모델 교체 시 Agent 정의 변경 최소화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Private 모델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한국어 검증 오픈 가중치 모델 【PoC 후 선정】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Cloud 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개인정보 자동 마스킹, 대학 승인 Agent만 허용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Benchmark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같은 Agent·Golden Q로 </a:t>
                      </a:r>
                      <a:r>
                        <a:rPr sz="1150" b="0">
                          <a:solidFill>
                            <a:srgbClr val="1F5FD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정확도·지연·비용 비교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79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사후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안정화 후 2년간 LLM 모델 추가·업데이트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3. [지식DB] HWP · PDF · 스캔 문서 Document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대학 규정·지침의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HWP 표·다단·스캔 이미지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를 구조 그대로 변환하고,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추출 결과마다 원문 위치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를 남김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HWP 원본을 직접 해석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해 PDF 변환 과정의 표 깨짐을 방지, 변환 불가 시 PDF 경로로 우회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150640" cy="100799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유형 판별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2064240" cy="647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HWP·PDF·스캔·Office 경로 선택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03440" y="165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2640" y="1260000"/>
            <a:ext cx="2150640" cy="100799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264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구조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840" y="1602000"/>
            <a:ext cx="2064240" cy="647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제목·본문·표·그림, 다단·각주 분리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52080" y="165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280" y="1260000"/>
            <a:ext cx="2150640" cy="100799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28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표 추출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480" y="1602000"/>
            <a:ext cx="2064240" cy="647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병합 셀 보존 → Markdown·JSON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00720" y="165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9919" y="1260000"/>
            <a:ext cx="2150640" cy="100799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9919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④ OCR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120" y="1602000"/>
            <a:ext cx="2064240" cy="647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한글 OCR, 신뢰도 점수 기록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49359" y="165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8560" y="1260000"/>
            <a:ext cx="2150640" cy="1007999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1856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⑤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1760" y="1602000"/>
            <a:ext cx="2064240" cy="647999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원문 쪽·좌표 매핑, 저신뢰 검수 큐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2376000"/>
          <a:ext cx="11545200" cy="3600000"/>
        </p:xfrm>
        <a:graphic>
          <a:graphicData uri="http://schemas.openxmlformats.org/drawingml/2006/table">
            <a:tbl>
              <a:tblPr firstRow="0" bandRow="0"/>
              <a:tblGrid>
                <a:gridCol w="2309040"/>
                <a:gridCol w="9236160"/>
              </a:tblGrid>
              <a:tr h="6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청킹 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규정·학칙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조·항·호 단위, 상위 조문 제목 메타데이터 상속, 효력일 부여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매뉴얼·지침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제목 계층 단위, 절차 목록은 분할하지 않음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 단위 통째 보존 + 행 단위 요약 청크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PPT·Excel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슬라이드·시트 단위, 시트명·열 이름 메타데이터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파서 엔진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【자사 개발 / 상용·오픈소스 조합 확정】 — 엔진 교체 시에도 파이프라인 인터페이스 유지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4. [지식DB] RAG 검색 품질 · Knowledge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키워드 + 벡터 + Reranking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 검색으로 근거를 찾고, 모든 지식을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출처·버전·효력일·권한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과 함께 관리해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폐기 규정으로 답하지 않음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검색 품질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999" y="1638000"/>
            <a:ext cx="5511600" cy="4770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(Hybrid Search) BM25 + 벡터 결합, 독립 API (엔진 교체 가능)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(Re-ranking) Cross-encoder로 질문-문서 대조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(환각 차단) 임계 미만 문서 제외, 근거 없으면 </a:t>
            </a: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'확인 불가'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(자동 갱신) 자료 추가·삭제 시 증분 재색인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(정형 데이터) 벡터화하지 않고 Data Mart SQL·API 조회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(Golden Data) 우수 답변 사례를 프롬프트 예시로 등록·관리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7600" y="1260000"/>
            <a:ext cx="56916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7600" y="126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Knowledge Catalog · 거버넌스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67600" y="1638000"/>
          <a:ext cx="5511599" cy="1587715"/>
        </p:xfrm>
        <a:graphic>
          <a:graphicData uri="http://schemas.openxmlformats.org/drawingml/2006/table">
            <a:tbl>
              <a:tblPr firstRow="0" bandRow="0"/>
              <a:tblGrid>
                <a:gridCol w="1677443"/>
                <a:gridCol w="3834156"/>
              </a:tblGrid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식별·출처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 ID, 원문, 소유부서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버전·효력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효력 시작·종료일, 이전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AI 접근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SQL / API / Rule / RAG / Direct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지식영역·그룹별 열람 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67600" y="3333718"/>
            <a:ext cx="1229400" cy="307428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7600" y="3333718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등록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0800" y="3675718"/>
            <a:ext cx="1143000" cy="271428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부서 담당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25799" y="476285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95000" y="3333718"/>
            <a:ext cx="1229400" cy="307428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695000" y="3333718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검토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8200" y="3675718"/>
            <a:ext cx="1143000" cy="271428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소유부서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53200" y="476285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22400" y="3333718"/>
            <a:ext cx="1229400" cy="307428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22400" y="3333718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게시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5600" y="3675718"/>
            <a:ext cx="1143000" cy="271428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자동 색인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380599" y="476285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549800" y="3333718"/>
            <a:ext cx="1229400" cy="307428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549800" y="3333718"/>
            <a:ext cx="1229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8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폐기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93000" y="3675718"/>
            <a:ext cx="1143000" cy="271428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2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검색 제외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5. [지식DB] 학사 · 행정 AI Data Mart 및 연계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학사·행정 데이터는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목적별 Semantic View/API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로만 제공 — 원천 DB 무부하,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필드 단위 접근 통제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유지보수 미체결 레거시는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원 개발사 협조 비용을 사전 반영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하고 표준 API로 연계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4895018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원천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854754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차세대종합정보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6754" y="1324800"/>
            <a:ext cx="854754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LMS (마이아이)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5509" y="1324800"/>
            <a:ext cx="854754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포털·홈페이지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4263" y="1324800"/>
            <a:ext cx="854754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외부 공공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9018" y="1260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직접 접근 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106000"/>
            <a:ext cx="4895018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연계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48000" y="2170800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API 솔루션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59672" y="2170800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배치 수집 (CDC)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1345" y="2170800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연계 이력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9018" y="2106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수집 현황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2951999"/>
            <a:ext cx="4895018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Data Mart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" y="3016799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Oracle 통합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59672" y="3016799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Semantic 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1345" y="3016799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Metadata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9018" y="2951999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AI 친화 추상화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0" y="3798000"/>
            <a:ext cx="4895018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제공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48000" y="3862800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SQL Tool·API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59672" y="3862800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필드 접근제어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1345" y="3862800"/>
            <a:ext cx="1157672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마스킹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9018" y="3798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Agent 호출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695018" y="1260000"/>
          <a:ext cx="5174180" cy="4716000"/>
        </p:xfrm>
        <a:graphic>
          <a:graphicData uri="http://schemas.openxmlformats.org/drawingml/2006/table">
            <a:tbl>
              <a:tblPr firstRow="0" bandRow="0"/>
              <a:tblGrid>
                <a:gridCol w="1791062"/>
                <a:gridCol w="3383118"/>
              </a:tblGrid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차세대종합정보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학사·행정 View → Data Mart 적재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SSO·포털·홈페이지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SSO 자동 로그인, 포털 링크·위젯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LMS (마이아이)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학습활동 데이터 API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외부 공공데이터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국가법령정보 등 API 수집·갱신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6. [AI 서비스] Agent Runtime ·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Agent를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모델·지식·Tool·권한·프롬프트·워크플로의 중립 Metadata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로 정의 — 대학 관리자가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직접 만들고 고치고 되돌림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2150640" cy="63773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① 템플릿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" y="1602000"/>
            <a:ext cx="2064240" cy="277738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문서형·데이터형·복합형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03440" y="147086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72640" y="1260000"/>
            <a:ext cx="2150640" cy="63773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264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② 구성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840" y="1602000"/>
            <a:ext cx="2064240" cy="277738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모델·지식·Tool·권한 지정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52080" y="147086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1280" y="1260000"/>
            <a:ext cx="2150640" cy="63773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28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③ 프롬프트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4480" y="1602000"/>
            <a:ext cx="2064240" cy="277738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지시문·Golden Data 예시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00720" y="147086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9919" y="1260000"/>
            <a:ext cx="2150640" cy="63773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9919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④ 시험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3120" y="1602000"/>
            <a:ext cx="2064240" cy="277738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Golden Q 자동 평가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49359" y="147086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18560" y="1260000"/>
            <a:ext cx="2150640" cy="637738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856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⑤ 배포·롤백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1760" y="1602000"/>
            <a:ext cx="2064240" cy="277738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버전 게시·1클릭 복원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000" y="2005738"/>
            <a:ext cx="2818800" cy="4474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6000" y="2048938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Context Router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6000" y="2300938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8000" y="2329738"/>
            <a:ext cx="2710800" cy="4114261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질의 특성별 SQL·API·Rule·RAG 선택·조합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32800" y="2005738"/>
            <a:ext cx="2818800" cy="4474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04800" y="2048938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중립 정의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4800" y="2300938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86800" y="2329738"/>
            <a:ext cx="2710800" cy="4114261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JSON Metadata 저장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런타임 교체 시 재사용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1600" y="2005738"/>
            <a:ext cx="2818800" cy="4474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3599" y="2048938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Tool Registry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3599" y="2300938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5599" y="2329738"/>
            <a:ext cx="2710800" cy="4114261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학사·LMS·행정 Tool (MCP)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고위험 작업 승인 통제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0400" y="2005738"/>
            <a:ext cx="2818800" cy="447426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2400" y="2048938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간이 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22400" y="2300938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04400" y="2329738"/>
            <a:ext cx="2710800" cy="4114261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교직원이 지식 범위·지시문만으로 설계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7. [AI 서비스] 시범 Agent · AI 포털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Ⅱ. 기술 및 기능 제안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서로 다른 데이터 유형을 검증하는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시범 Agent 5종(안)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과,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3가지 응답 모드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를 자동 선택하는 반응형 포털을 제공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시범 Agent는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대학 에이전트 선정 TF 결과로 최종 확정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, Tool 소스·명세는 대학에 귀속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829919" cy="4716000"/>
        </p:xfrm>
        <a:graphic>
          <a:graphicData uri="http://schemas.openxmlformats.org/drawingml/2006/table">
            <a:tbl>
              <a:tblPr firstRow="0" bandRow="0"/>
              <a:tblGrid>
                <a:gridCol w="1069746"/>
                <a:gridCol w="1810340"/>
                <a:gridCol w="2139493"/>
                <a:gridCol w="1810340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Agent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데이터·실행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검증 포인트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학칙·규정 상담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RAG (규정 지식)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조문 근거·효력일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데이터형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학사 현황 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Data Mart SQL Tool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권한별 필드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복합형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졸업요건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SQL + RAG + Rule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다단계 추론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공유형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부서 공유 Agent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부서 지식·문서 요약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지식영역 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분석형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강의평가 감정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LLM 분류 (배치)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점수 일관성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920" y="1260000"/>
            <a:ext cx="455328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87919" y="1303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직접 응답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7919" y="1555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9919" y="1584000"/>
            <a:ext cx="444528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내부 LLM 즉시 응답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920" y="2862000"/>
            <a:ext cx="455328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7919" y="2905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지식 참조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7919" y="3157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9919" y="3186000"/>
            <a:ext cx="444528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RAG 근거 인용·원문 쪽 링크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920" y="4464000"/>
            <a:ext cx="455328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7919" y="4507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데이터 조회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87919" y="4759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9919" y="4788000"/>
            <a:ext cx="444528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Data Mart 권한 범위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PoC 기술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1. 파싱 정확도 검증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2. RAG 품질 검증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1. 파싱 정확도 검증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Ⅲ. PoC 기술 시연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현장 샘플 문서를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사전 조정 없이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 그대로 넣고, 표·OCR 추출 결과를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원문과 나란히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 보여 완결성을 입증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공개 대학 규정·학칙 HWP·PDF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【20종】 사전 검증 완료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, 네트워크 미제공 대비 로컬 실행 환경 준비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150640" cy="93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문서 수령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2064240" cy="57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현장 샘플 (표 포함)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03440" y="16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2640" y="1260000"/>
            <a:ext cx="2150640" cy="93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264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업로드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840" y="1602000"/>
            <a:ext cx="2064240" cy="57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포털 업로드 1회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52080" y="16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280" y="1260000"/>
            <a:ext cx="2150640" cy="93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28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자동 파싱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480" y="1602000"/>
            <a:ext cx="2064240" cy="57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유형 판별·표·OCR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200720" y="16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9919" y="1260000"/>
            <a:ext cx="2150640" cy="93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9919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나란히 비교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120" y="1602000"/>
            <a:ext cx="2064240" cy="57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원문 ↔ 추출 결과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549359" y="16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8560" y="1260000"/>
            <a:ext cx="2150640" cy="93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1856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근거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1760" y="1602000"/>
            <a:ext cx="2064240" cy="57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셀·쪽 위치 매핑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2304000"/>
          <a:ext cx="11545199" cy="3672000"/>
        </p:xfrm>
        <a:graphic>
          <a:graphicData uri="http://schemas.openxmlformats.org/drawingml/2006/table">
            <a:tbl>
              <a:tblPr firstRow="0" bandRow="0"/>
              <a:tblGrid>
                <a:gridCol w="2309040"/>
                <a:gridCol w="5772600"/>
                <a:gridCol w="3463559"/>
              </a:tblGrid>
              <a:tr h="73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시연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확인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자체 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3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본문 텍스트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글자 누락·순서 뒤바뀜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누락 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 구조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병합 셀·머리행 유지, 행·열 수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행·열 100%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다단·각주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읽기 순서 복원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순서 오류 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4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스캔·이미지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OCR 정확도·신뢰도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【PoC 후 확정】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2. RAG 품질 검증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Ⅲ. PoC 기술 시연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샘플 문서 질문에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근거 조문·쪽과 함께 답하고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, 문서에 없는 질문에는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'확인할 수 없음'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으로 답하는 환각 통제를 시연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시연 결과를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정답 정확도·Groundedness·Source 정확성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지표로 화면에 표시 — 시연이 곧 운영 품질 기준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433981" cy="4716000"/>
        </p:xfrm>
        <a:graphic>
          <a:graphicData uri="http://schemas.openxmlformats.org/drawingml/2006/table">
            <a:tbl>
              <a:tblPr firstRow="0" bandRow="0"/>
              <a:tblGrid>
                <a:gridCol w="1391131"/>
                <a:gridCol w="2782262"/>
                <a:gridCol w="2260588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질문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확인 포인트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사실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○○ 신청 기한은?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정답 + 근거 조문·쪽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표 기반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표의 특정 행·열 값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표 셀 정확 인용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다중 근거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두 조항 종합 질문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2개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함정 질문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문서에 없는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'확인할 수 없음'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변형 질문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같은 의미 다른 표현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 일관성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919982" y="1260000"/>
            <a:ext cx="4949217" cy="47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9982" y="1260000"/>
            <a:ext cx="4949217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환각 통제 3중 장치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9982" y="1638000"/>
            <a:ext cx="4769217" cy="4266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① 관련성 임계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Reranker 점수 미만 문서 근거 제외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② 근거 강제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문장마다 출처 표시, 근거 없는 생성 금지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③ 자기 검증</a:t>
            </a: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 — Groundedness 미달 시 재생성 또는 '확인 불가'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성능 및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1. AI 답변 품질 검증 및 최적화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2. 부하 분산 · 응답 속도 · 보안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1. Golden Question 기반 품질 평가 ·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Ⅳ. 성능 및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업무별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Golden Question Set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으로 8개 품질 지표를 자동·수동 평가하고, 결과를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지식·프롬프트·모델 개선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으로 되돌림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640198" cy="5220000"/>
        </p:xfrm>
        <a:graphic>
          <a:graphicData uri="http://schemas.openxmlformats.org/drawingml/2006/table">
            <a:tbl>
              <a:tblPr firstRow="0" bandRow="0"/>
              <a:tblGrid>
                <a:gridCol w="1922163"/>
                <a:gridCol w="3145357"/>
                <a:gridCol w="1572678"/>
              </a:tblGrid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측정 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목표 (안)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정답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Golden Q 정답 대비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【90%】↑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Groundedness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답변 문장 근거 지지 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【95%】↑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Source 정확성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인용 출처·쪽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【95%】↑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 정확성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권한 밖 데이터 노출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Tool 실행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올바른 Tool·파라미터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【90%】↑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Hallucination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근거 없는 주장 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【2%】↓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응답 성능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첫 토큰·전체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3초 내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비용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질의당 토큰·GPU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추이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126199" y="1260000"/>
            <a:ext cx="1037250" cy="522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26199" y="1260000"/>
            <a:ext cx="103725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Golden 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9400" y="1602000"/>
            <a:ext cx="950850" cy="486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부서 TF와 업무별 구성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92249" y="376199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1450" y="1260000"/>
            <a:ext cx="1037250" cy="522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1450" y="1260000"/>
            <a:ext cx="103725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650" y="1602000"/>
            <a:ext cx="950850" cy="486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자동·수동 정기 평가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27500" y="376199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96700" y="1260000"/>
            <a:ext cx="1037250" cy="522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96700" y="1260000"/>
            <a:ext cx="103725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원인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9900" y="1602000"/>
            <a:ext cx="950850" cy="486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파싱·검색·프롬프트·모델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2750" y="3761999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831950" y="1260000"/>
            <a:ext cx="1037250" cy="5220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831950" y="1260000"/>
            <a:ext cx="103725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75150" y="1602000"/>
            <a:ext cx="950850" cy="4860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지식 보완·프롬프트·LoRA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2. 부하 분산 · 응답 속도 · 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Ⅳ. 성능 및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쿠버네티스 수평 확장과 스트리밍 응답으로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동시 1,400명 · 3초 표시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를 보장하고,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권한 통제와 가드레일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로 데이터 노출 차단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599" cy="5220000"/>
        </p:xfrm>
        <a:graphic>
          <a:graphicData uri="http://schemas.openxmlformats.org/drawingml/2006/table">
            <a:tbl>
              <a:tblPr firstRow="0" bandRow="0"/>
              <a:tblGrid>
                <a:gridCol w="1600762"/>
                <a:gridCol w="4090837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성능 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확보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동시 1,400명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웹·API 오토스케일, L4 부하 분산, 무상태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웹 3초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정적 자원 캐시, </a:t>
                      </a:r>
                      <a:r>
                        <a:rPr sz="1207" b="0">
                          <a:solidFill>
                            <a:srgbClr val="1F5FD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LLM 스트리밍</a:t>
                      </a: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으로 첫 토큰 즉시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오류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입력 검증 즉시 표시 (3초 이내)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부하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1,400 동시 세션 시나리오 → 튜닝·재시험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단계별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단위 → 통합 → 부하 → 인수 (TF·감리 확인)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7600" y="1260000"/>
          <a:ext cx="5691599" cy="5220000"/>
        </p:xfrm>
        <a:graphic>
          <a:graphicData uri="http://schemas.openxmlformats.org/drawingml/2006/table">
            <a:tbl>
              <a:tblPr firstRow="0" bandRow="0"/>
              <a:tblGrid>
                <a:gridCol w="1600762"/>
                <a:gridCol w="4090837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보안 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가드레일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권한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SSO + 역할 기반, </a:t>
                      </a:r>
                      <a:r>
                        <a:rPr sz="1207" b="0">
                          <a:solidFill>
                            <a:srgbClr val="1F5FD1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검색 단계 권한 필터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입력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프롬프트 인젝션·금칙어·개인정보 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출력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개인정보 마스킹, 권한 밖 정보 차단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고위험 Tool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승인 후 실행, 실행 이력 감사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웹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시큐어코딩, 웹 취약점·접근성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 관리 및 사후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1. 수행 조직 및 위험 관리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2. 기술 이전 및 교육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3. 하자보수 · 안정화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KoPubWorld돋움체 Medium"/>
                <a:ea typeface="KoPubWorld돋움체 Medium"/>
                <a:cs typeface="KoPubWorld돋움체 Medium"/>
              </a:rPr>
              <a:t>4. 추가 제안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1. 수행 조직 및 위험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Ⅴ. 사업 관리 및 사후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PM 직할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인프라 · 지식DB · Agent · UX · 품질 5개 파트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 대학 상주, 사업 고유 위험 6건을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착수 전 식별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하여 주간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148181" cy="46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260000"/>
            <a:ext cx="1152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대학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48000" y="1324800"/>
            <a:ext cx="668045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대학혁신사업단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70045" y="1324800"/>
            <a:ext cx="668045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전산센터 TF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2090" y="1324800"/>
            <a:ext cx="668045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선정 TF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14136" y="1324800"/>
            <a:ext cx="668045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감리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62181" y="1260000"/>
            <a:ext cx="936000" cy="468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총괄·검증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000" y="1782000"/>
            <a:ext cx="4148181" cy="468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000" y="1782000"/>
            <a:ext cx="1152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사업관리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48000" y="1846800"/>
            <a:ext cx="908727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PM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10727" y="1846800"/>
            <a:ext cx="908727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QA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3454" y="1846800"/>
            <a:ext cx="908727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보안관리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62181" y="1782000"/>
            <a:ext cx="936000" cy="468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대학 상주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000" y="2304000"/>
            <a:ext cx="4148181" cy="468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0000" y="2304000"/>
            <a:ext cx="1152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수행 파트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48000" y="2368800"/>
            <a:ext cx="523636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인프라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5636" y="2368800"/>
            <a:ext cx="523636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지식DB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03272" y="2368800"/>
            <a:ext cx="523636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80909" y="2368800"/>
            <a:ext cx="523636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UX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58545" y="2368800"/>
            <a:ext cx="523636" cy="33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Bold"/>
                <a:ea typeface="KoPubWorld돋움체 Bold"/>
                <a:cs typeface="KoPubWorld돋움체 Bold"/>
              </a:rPr>
              <a:t>연계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62181" y="2304000"/>
            <a:ext cx="936000" cy="468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KoPubWorld돋움체 Medium"/>
                <a:ea typeface="KoPubWorld돋움체 Medium"/>
                <a:cs typeface="KoPubWorld돋움체 Medium"/>
              </a:rPr>
              <a:t>분석·개발·시험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000" y="2880000"/>
            <a:ext cx="1652727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000" y="2934000"/>
            <a:ext cx="165272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117명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000" y="3401999"/>
            <a:ext cx="1652727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기술인력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84727" y="2880000"/>
            <a:ext cx="1652727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727" y="2934000"/>
            <a:ext cx="165272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22명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84727" y="3401999"/>
            <a:ext cx="1652727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특급 기술자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5454" y="2880000"/>
            <a:ext cx="1652727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5454" y="2934000"/>
            <a:ext cx="1652727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16년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5454" y="3401999"/>
            <a:ext cx="1652727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2010년 설립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5660181" y="1260000"/>
          <a:ext cx="6209017" cy="5219998"/>
        </p:xfrm>
        <a:graphic>
          <a:graphicData uri="http://schemas.openxmlformats.org/drawingml/2006/table">
            <a:tbl>
              <a:tblPr firstRow="0" bandRow="0"/>
              <a:tblGrid>
                <a:gridCol w="1774005"/>
                <a:gridCol w="725729"/>
                <a:gridCol w="3709283"/>
              </a:tblGrid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예방 ·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GPU 납기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계약 즉시 발주 · 임시 GPU로 개발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레거시 연계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원 개발사 사전 접촉 · 배치 연계 우선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문서 파싱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착수 1개월 진단 · 유형별 규칙 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요구사항 확대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TF 합의 기준선 · 변경관리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모델 성능 한계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Benchmark 선정 · Cloud 혼용·LoRA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2차년도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연차별 산출물 명확화 · 1차년도 독립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2. 기술 이전 및 교육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Ⅴ. 사업 관리 및 사후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대상별 교육과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Agent 직접 수정 실습·인증 과제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로, 사업 종료 후 </a:t>
            </a:r>
            <a:r>
              <a:rPr sz="1350" b="0">
                <a:solidFill>
                  <a:srgbClr val="D93025"/>
                </a:solidFill>
                <a:latin typeface="KoPubWorld돋움체 Bold"/>
                <a:ea typeface="KoPubWorld돋움체 Bold"/>
                <a:cs typeface="KoPubWorld돋움체 Bold"/>
              </a:rPr>
              <a:t>대학이 스스로 Agent와 지식을 관리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209016" cy="5220000"/>
        </p:xfrm>
        <a:graphic>
          <a:graphicData uri="http://schemas.openxmlformats.org/drawingml/2006/table">
            <a:tbl>
              <a:tblPr firstRow="0" bandRow="0"/>
              <a:tblGrid>
                <a:gridCol w="1241803"/>
                <a:gridCol w="3725410"/>
                <a:gridCol w="1241803"/>
              </a:tblGrid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교육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Agent 생성·수정·롤백, 지식 등록·폐기, 권한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 +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운영자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GPU·K8s·모델 서빙 모니터링, 백업·장애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응답 모드·근거 확인·피드백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설명회·영상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유지관리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소스·배포·모델 교체·평가 스크립트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기술이전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695018" y="1260000"/>
            <a:ext cx="5174181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95018" y="1260000"/>
            <a:ext cx="517418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이관 산출물 — 교체 가능성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5018" y="1638000"/>
            <a:ext cx="4994181" cy="4770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(설계) Architecture, Data Mart Schema·Mapping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(Agent·Tool) Agent Definition·Prompt·Tool Registry, API/MCP 명세·소스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(품질) Golden Question·정답·평가 Script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(운영) 배포 Script, 운영·장애 매뉴얼, </a:t>
            </a:r>
            <a:r>
              <a:rPr sz="1312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제품·모델 교체 절차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3. 하자보수 · 안정화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Ⅴ. 사업 관리 및 사후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안정화 후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SW 2년 · HW 3년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 무상 하자보수와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2년간 LLM 모델 추가·업데이트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, 유상 유지보수 요율 확약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결함 발견 시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24시간 이내 조치 착수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, 단종 3개월 전 서면 통보·예비부품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8188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안정화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271080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오픈 후 【 】개월 상주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품질 지표 모니터링·튜닝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2800" y="1260000"/>
            <a:ext cx="28188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4800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무상 하자보수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4800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6800" y="1584000"/>
            <a:ext cx="271080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SW 2년 이상 (공급·개발 전체)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HW 3년 이상 (제조사 연계)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1600" y="1260000"/>
            <a:ext cx="28188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3599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LLM 지원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3599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5599" y="1584000"/>
            <a:ext cx="271080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안정화 후 2년간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모델 추가·마이너 업데이트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0400" y="1260000"/>
            <a:ext cx="2818800" cy="15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2400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유상 유지보수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2400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4400" y="1584000"/>
            <a:ext cx="2710800" cy="115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HW·IaaS 제외 전 품목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1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요율 확약서 【요율】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000" y="2880000"/>
            <a:ext cx="2737800" cy="309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24000" y="2880000"/>
            <a:ext cx="27378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접수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200" y="3221999"/>
            <a:ext cx="2651400" cy="273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65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단일 창구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090600" y="43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259800" y="2880000"/>
            <a:ext cx="2737800" cy="309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59800" y="2880000"/>
            <a:ext cx="27378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분류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03000" y="3221999"/>
            <a:ext cx="2651400" cy="273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65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HW·SW·모델·데이터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26400" y="43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5600" y="2880000"/>
            <a:ext cx="2737800" cy="309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95600" y="2880000"/>
            <a:ext cx="27378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조치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8800" y="3221999"/>
            <a:ext cx="2651400" cy="273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65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원격·현장·제조사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962200" y="432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31400" y="2880000"/>
            <a:ext cx="2737800" cy="309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31400" y="2880000"/>
            <a:ext cx="27378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보고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4600" y="3221999"/>
            <a:ext cx="2651400" cy="273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65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처리 결과·재발방지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4. 추가 제안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Ⅴ. 사업 관리 및 사후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추가 비용 없이 대학 AI 활용을 넓히고 운영 비용을 줄이는 </a:t>
            </a:r>
            <a:r>
              <a:rPr sz="1350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4가지 추가 제안</a:t>
            </a:r>
            <a:r>
              <a:rPr sz="135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을 함께 수행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AI 데이터 스퀘어는 </a:t>
            </a:r>
            <a:r>
              <a:rPr sz="1400" b="0">
                <a:solidFill>
                  <a:srgbClr val="FFE699"/>
                </a:solidFill>
                <a:latin typeface="KoPubWorld돋움체 Bold"/>
                <a:ea typeface="KoPubWorld돋움체 Bold"/>
                <a:cs typeface="KoPubWorld돋움체 Bold"/>
              </a:rPr>
              <a:t>대학이 소유하고, 대학이 운영하며, 대학이 확장하는</a:t>
            </a:r>
            <a:r>
              <a:rPr sz="1400" b="0">
                <a:solidFill>
                  <a:srgbClr val="FFFFFF"/>
                </a:solidFill>
                <a:latin typeface="KoPubWorld돋움체 Bold"/>
                <a:ea typeface="KoPubWorld돋움체 Bold"/>
                <a:cs typeface="KoPubWorld돋움체 Bold"/>
              </a:rPr>
              <a:t> AI 기반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8188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4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① 학생 서비스 로드맵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2710800" cy="108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맞춤형 상담·전과·전공 탐색 Agent 설계안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2027년 이후 확장 계획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32800" y="1260000"/>
            <a:ext cx="28188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4800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4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② AI 활용 가이드북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4800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6800" y="1584000"/>
            <a:ext cx="2710800" cy="108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교직원 업무별 활용 사례집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AI 윤리 원칙 교육 자료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1600" y="1260000"/>
            <a:ext cx="28188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3599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4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③ 비용 최적화 리포트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3599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5599" y="1584000"/>
            <a:ext cx="2710800" cy="108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Private/Cloud 모델 비용 비교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GPU 사용률 기반 증설 계획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0400" y="1260000"/>
            <a:ext cx="2818800" cy="14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2400" y="1303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4" b="0">
                <a:solidFill>
                  <a:srgbClr val="1F5FD1"/>
                </a:solidFill>
                <a:latin typeface="KoPubWorld돋움체 Bold"/>
                <a:ea typeface="KoPubWorld돋움체 Bold"/>
                <a:cs typeface="KoPubWorld돋움체 Bold"/>
              </a:rPr>
              <a:t>④ 문서 표준화 가이드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2400" y="1555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4400" y="1584000"/>
            <a:ext cx="2710800" cy="108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AI가 잘 읽는 규정·서식 지침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334"/>
              </a:spcAft>
              <a:buFont typeface="Segoe UI Symbol"/>
              <a:buChar char="✓"/>
            </a:pPr>
            <a:r>
              <a:rPr sz="1304" b="0">
                <a:solidFill>
                  <a:srgbClr val="1F2A44"/>
                </a:solidFill>
                <a:latin typeface="KoPubWorld돋움체 Medium"/>
                <a:ea typeface="KoPubWorld돋움체 Medium"/>
                <a:cs typeface="KoPubWorld돋움체 Medium"/>
              </a:rPr>
              <a:t>부서 문서 품질 개선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24000" y="2808000"/>
          <a:ext cx="11545199" cy="3168000"/>
        </p:xfrm>
        <a:graphic>
          <a:graphicData uri="http://schemas.openxmlformats.org/drawingml/2006/table">
            <a:tbl>
              <a:tblPr firstRow="0" bandRow="0"/>
              <a:tblGrid>
                <a:gridCol w="2770848"/>
                <a:gridCol w="8774351"/>
              </a:tblGrid>
              <a:tr h="79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제안 전제 · 협의 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0">
                          <a:solidFill>
                            <a:srgbClr val="FFFFFF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레거시 연계 비용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유지보수 미체결 시스템의 원 개발사 협조 비용 범위 협의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하자보수 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기본조건(2년 이상)과 사업지원 요구사항(12개월 이상) 중 2년 기준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Bold"/>
                          <a:ea typeface="KoPubWorld돋움체 Bold"/>
                          <a:cs typeface="KoPubWorld돋움체 Bold"/>
                        </a:rPr>
                        <a:t>연차별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KoPubWorld돋움체 Medium"/>
                          <a:ea typeface="KoPubWorld돋움체 Medium"/>
                          <a:cs typeface="KoPubWorld돋움체 Medium"/>
                        </a:rPr>
                        <a:t>1차년도·2차년도 기성 범위와 산출물 착수 시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KoPubWorld돋움체 Medium"/>
                <a:ea typeface="KoPubWorld돋움체 Medium"/>
                <a:cs typeface="KoPubWorld돋움체 Medium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0B3AA4"/>
                </a:solidFill>
                <a:latin typeface="KoPubWorld돋움체 Bold"/>
                <a:ea typeface="KoPubWorld돋움체 Bold"/>
                <a:cs typeface="KoPubWorld돋움체 Bold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1F2A44"/>
                </a:solidFill>
                <a:latin typeface="KoPubWorld돋움체 Bold"/>
                <a:ea typeface="KoPubWorld돋움체 Bold"/>
                <a:cs typeface="KoPubWorld돋움체 Bold"/>
              </a:rPr>
              <a:t>대학 지식을 정확하게 쓰는 대학 소유 AI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