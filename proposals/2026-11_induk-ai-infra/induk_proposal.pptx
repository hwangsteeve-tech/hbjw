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대학 AI 인프라 기반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(AI 데이터 스퀘어)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인덕대학교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PoC 기술 시연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관리 및 사후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추가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추진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 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INDUK VISION2030과 AI 데이터 스퀘어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추진배경과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소유의 AI 기반) 특정 모델·제품에 묶이지 않는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Private AI 인프라 · 통합 지식DB · Agent 스튜디오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구축해 대학이 스스로 AI 서비스를 늘려가는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78343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 배경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INDUK VISION2030, 전문대학 혁신지원사업 '실무형 AI·DX 융합 교육체계', 정부 AI 인재 양성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계약일로부터 10개월 (장기계속계약 — 2026학년도 9억, 2027학년도 4억)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전용 단독시스템, 365일 24시간 무중단 이중화, 영구 라이선스, 개인정보 위탁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26382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24943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573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573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832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서버·이중화·모델 서빙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Gateway (Private/Cloud 혼용)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SSO·권한·모니터링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5573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5573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통합 지식DB·데이터 마트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5832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HWP·PDF OCR 파싱·청킹 파이프라인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Knowledge Catalog·거버넌스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학사·행정 AI Data Mart (Oracle)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995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6995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7254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Agent 3~5종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자체 Agent 추가·관리 Studio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반응형 사용자 포털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6995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6995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최적화·품질·안정화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7254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Question 품질 평가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환각 방지·가드레일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교육·감리 대응·하자보수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대학 AI 도입의 핵심 이슈와 해결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핵심 이슈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(정확성 · 주도권 · 확장성) 대학 문서의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표·한글(HWP) 파싱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모델·제품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종속 회피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대학이 스스로 운영하는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자립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성패를 가름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858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347650"/>
                <a:gridCol w="250416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이미지로 존재, 깨진 추출은 곧 오답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보존·OCR·근거 매핑)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문서·폐기된 규정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저관련 문서 차단 +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LLM·검색엔진·파서에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Metadata·교체 검증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데이터의 AI 노출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Semantic View, 필드 단위 접근제어, 외부 모델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Catalog로 대학 관리자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차세대·포털·SSO·홈페이지 유지보수 미체결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비용 반영, 표준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7851870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본 제안은 '모델을 들여오는 사업'이 아니라 '대학 지식을 AI가 정확히 쓰게 만드는 사업'으로 정의하고, 정확도와 운영 주도권을 최우선 지표로 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비전 · 목표 ·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목표와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지식을 정확하게 쓰는 대학 소유 AI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측정 가능한 품질 목표를 세우고, 인프라·지식·Agent·품질을 단계적으로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데이터 스퀘어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80800"/>
            <a:ext cx="6260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정답률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【90%】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Groundedness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【95%】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응답 3초 · 동시 1,400명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03600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① 표준 스택·교체 가능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26399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단계별 TF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기반 검수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4921200"/>
          <a:ext cx="6260400" cy="351324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표준 스택·교체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모델 서빙, Agent 정의 중립 Metadata, 모델·검색·파서 교체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문서 이해 품질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내 대학 실문서 파싱 진단 → 문서 유형별 청킹 전략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데이터 최소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DB 직접 접근 금지, Semantic View·API만 제공, 필드 단위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대학 자립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실습 교육, Agent 수정 역량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추진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단계별 추진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(인프라 선행 · 지식 병행) 2개월 차에 GPU 인프라를 완성하고, 지식DB와 Agent를 병행 개발하여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8개월 차 통합 시험, 10개월 차 완료보고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236112"/>
        </p:xfrm>
        <a:graphic>
          <a:graphicData uri="http://schemas.openxmlformats.org/drawingml/2006/table">
            <a:tbl>
              <a:tblPr firstRow="0" bandRow="0"/>
              <a:tblGrid>
                <a:gridCol w="777689"/>
                <a:gridCol w="2177530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요구사항 분석, 문서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GPU·서버 설치, 쿠버네티스·모델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파이프라인·Knowledge Catalog·Data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차세대·포털·SSO·LMS·외부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설계·Studio·시범 Agent 3~5종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구성·평가·개선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단위·통합·부하·보안·인수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교육·기술이전·완료보고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6661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착수·중간·완료보고회 개최, 1차년도(2026) 인프라·지식DB 1차 / 2차년도(2027) Agent·품질·안정화 중심 — 연차별 기성 범위는 협의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7882113"/>
            <a:ext cx="6332400" cy="78889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7918113"/>
            <a:ext cx="6224400" cy="75289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TF 연계) 대학 에이전트 선정 TF와 3개월 차에 시범 Agent 주제를 확정하고, Agent별 검증에 TF가 참여함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[인프라] Private AI · 모델 게이트웨이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[지식DB] 문서 전처리 · 지식 카탈로그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[AI 서비스] Agent 스튜디오 ·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데이터 스퀘어 전체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아키텍처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스택 · 계층 분리) 인프라 · 모델 · 지식 · Agent · 채널을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계층으로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계층 간을 표준 API로 연결하여 어느 계층이든 교체할 수 있게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 (LMS·포털) 연동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 · 임베딩 · Reranker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8492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849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634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940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246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849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5543999"/>
            <a:ext cx="6332400" cy="17059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579999"/>
            <a:ext cx="6224400" cy="166995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전용 단독시스템) 전 계층을 대학 지정 장소에 설치하고, 학생·교직원 개인정보는 외부로 위탁·전송하지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(장점·단점 비교 후 1안 채택) 완전 온프레미스 안을 채택 — 클라우드 혼합안은 비용 유연성이 있으나 개인정보 통제·3년 이용료 부담이 커서 외부 LLM 호출만 선택적으로 허용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GPU 서버 · 쿠버네티스 · 이중화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인프라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(워크로드별 자원 산정) LLM 추론 · 임베딩 · Reranker · OCR 워크로드를 분리 산정하고,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서버 2대 이상과 쿠버네티스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한 대 장애에도 서비스를 유지함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인프라 구성 (안) — 규격·수량은 견적 후 확정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98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모델·서버당 장수】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추론·임베딩·Reranker·OCR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포털·Agent Runtime·API·파이프라인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(Data Mart) Active-Standby, 벡터·검색 엔진 클러스터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데이터·Hybrid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【용량】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공유 스토리지 + 백업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원본·모델 파일·백업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컨테이너 레지스트리, GPU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 분리·자동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GPU/서버 메트릭 + 대학 APM(와탭)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운영 모니터링·장애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878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워크로드별 산정 기준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921845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생성 요청 수(동시접속 1,400명 중 활성 질의 비율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【가정】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× 응답 토큰 수 → 토큰/초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임베딩·Reranker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갱신량·검색 QPS 기준, 경량 GPU 분할 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처리 — 야간·유휴 시간 GPU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Model Gateway — 모델 종속 없는 LLM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모델 게이트웨이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(모델 자유 교체) 내부 Private 모델과 외부 Cloud 모델을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하나의 OpenAI 호환 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연결하고, 같은 Agent로 정확도·속도·비용을 비교해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Agent·포털 → 게이트웨이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 / Cloud 모델 선택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프롬프트·응답·비용 로그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761999"/>
          <a:ext cx="6260400" cy="47732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(vLLM 등 서빙 엔진), 모델 교체 시 Agent 정의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성능 검증된 오픈 가중치 모델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【EXAONE·Qwen 계열 등 PoC 후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연동 시 개인정보 자동 마스킹, 대학 승인 Agent만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Agent·Golden Q로 Private/Cloud 정확도·지연·비용 비교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모델별 공통 시스템 프롬프트·파라미터 관리, 버전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LLM 모델 추가·마이너 업데이트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HWP · PDF · 스캔 문서 구조 인식 및 표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Document Intelligence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(표가 깨지지 않는 파싱) 대학 규정·지침의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HWP 표·다단·스캔 이미지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구조 그대로 Markdown/JSON으로 변환하고, 추출 결과마다 원문 위치를 남김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41544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HWP·HWPX / PDF(텍스트) / PDF(스캔)·이미지 / Office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처리 경로 선택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Layout Detector (제목·본문·표·그림)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다단·머리말·각주 분리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레이아웃 트리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병합 셀 보존 표 구조화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 → Markdown·JSON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한글 OCR (스캔·이미지 텍스트)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신뢰도 점수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텍스트·신뢰도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25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25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5597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쪽·좌표 근거 매핑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46999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저신뢰 구간 검수 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5525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 완료 문서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0800" y="6371999"/>
            <a:ext cx="6332400" cy="211468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6407999"/>
            <a:ext cx="6224400" cy="207868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(HWP 직접 파싱) HWP 원본 구조를 직접 해석하여 PDF 변환 과정의 표 깨짐을 방지하고, 변환 불가 시 PDF 경로로 우회함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(Blind PoC 대응) 평가 현장 샘플 문서를 사전 학습 없이 처리하는 구성을 기본으로 함 — Ⅲ장 참조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(파서 엔진) </a:t>
            </a:r>
            <a:r>
              <a:rPr sz="13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【자사 개발 / 상용·오픈소스 파서 조합 확정】</a:t>
            </a: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— 엔진 교체 시에도 파이프라인 인터페이스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전처리 파이프라인 · Hybrid Search · Re-ranking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RAG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답변) 수집 → 전처리 → 청킹 → 임베딩 → 저장을 자동화하고,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키워드 + 벡터 + Reranking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검색 후 관련성 낮은 문서를 제외해 환각을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규정·매뉴얼·외부 API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파싱·정제·메타데이터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 유형별 전략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선정 모델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Vector + 키워드 색인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43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문서 유형별 청킹 전략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72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제목을 메타데이터로 상속, 효력일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계층(H1~H3)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81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검색 품질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47999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BM25 키워드 + 벡터 검색 결합, 독립 API로 제공 (검색엔진 교체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Re-ranking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Cross-encoder Reranker로 질문-문서 대조, 모델 등록·교체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임계 미만 문서 제외, 근거 없으면 '확인 불가'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벡터화하지 않고 Data Mart SQL·API로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자료 추가·삭제·갱신 시 증분 재색인, 갱신 현황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Data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우수 답변 사례를 시스템 프롬프트 예시로 등록·관리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지식 카탈로그 · 버전관리 · Single Source of Truth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Knowledge Catalog · 거버넌스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(폐기된 규정으로 답하지 않게) 모든 지식을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출처·버전·효력일·소유부서·권한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함께 등록하고, 효력이 끝난 지식은 검색에서 자동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Knowledge Catalog 항목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 파일·URL, 소유부서,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번호, 효력 시작·종료일, 개정 사유, 이전 버전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Structured / Policy / Document / External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Tool / API / Rule / RAG / Direct Context 중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지식영역·사용자·그룹별 열람 권한,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458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444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거버넌스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담당자 직접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소유부서 승인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색인·효력 적용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개정·폐기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 버전 게시, 구 버전 검색 제외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버전 즉시 복원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8172000"/>
            <a:ext cx="6332400" cy="8047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8208000"/>
            <a:ext cx="6224400" cy="7687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(자체 운영) 대학 관리자가 사업자 지원 없이 지식을 추가·수정하도록 화면과 매뉴얼을 제공함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학사·행정 AI Data Mart 및 레거시·외부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AI Data Mart · 데이터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(원천 DB 무부하 · 최소 노출) 학사·행정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목적별 Semantic View/API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로만 제공하고, 개인정보 등급과 역할에 따라 필드 단위로 접근을 통제함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 (학적·수강·성적·인사·회계)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법령정보 등 외부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 (도입)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(CDC·스케줄)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표준·이력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목적별 Semantic 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 (의미·단위·주기·소유)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단위 접근제어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개인정보 마스킹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4705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대상 및 방안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39200"/>
          <a:ext cx="6260400" cy="341343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생성 → Data Mart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【비용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라이선스 대학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무상유지보수 기간 내 협조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공공 API 수집·갱신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대학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대학이 직접 만드는 Agent — Runtime과 Studio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Agent Runtime · Studio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(외부 도움 없이 Agent 추가) Agent를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모델·지식·Tool·권한·프롬프트·워크플로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중립 Metadata로 정의하고, 관리자 Studio에서 만들고 고치고 되돌리게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지시문·예시(Golden Data)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 게시·이전 버전 복원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761999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OSS 프레임워크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【LangGraph 등】</a:t>
                      </a: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기반, 상용 지원 가능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Context Router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특성에 따라 SQL·API·Rule·RAG·Direct 호출을 선택·조합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중립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정의를 JSON Metadata로 저장 — 런타임 교체 시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Prompt·Agent·Workflow 버전 이력, 1클릭 Rollback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간이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교직원이 지식 범위·지시문만으로 간단한 Agent 직접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Tool Registry와 시범 Agent 5종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Tool/API Layer · 시범 Agent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자산 Tool) 학사·LMS·행정 연동 Tool을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자산으로 개발·등록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서로 다른 데이터 유형을 검증하는 시범 Agent를 구축함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 Agent (안) — 대학 TF 결과로 최종 선정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342408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408590"/>
                <a:gridCol w="2191140"/>
                <a:gridCol w="187811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Knowledge)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규정 RAG + Rule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 + 문서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설문·강의평가 감정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분류·점수화 (배치)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124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Tool/API Layer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358089"/>
          <a:ext cx="6260400" cy="2308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학사·LMS·행정 조회 Tool (MCP 호환), 소스·명세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게이트웨이·관리 솔루션 도입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표준 인터페이스·보안·교체성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Registry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등록·조회·버전관리, 실행 권한·고위험 작업 승인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AI 포털 · 다중 응답 모드 · IAM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사용자 포털 · 접근제어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(쓰기 쉬운 포털) SSO 자동 로그인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직접·지식 참조·데이터 조회 3가지 응답 모드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자동 선택하는 반응형 포털을 제공하고, 대학 고유 권한 체계를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업무 보조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RAG 근거 문서 인용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쪽 링크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Mart SQL·API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범위 내 결과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834000"/>
          <a:ext cx="6260400" cy="41432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브랜드 디자인, 모바일·태블릿 반응형, 웹 표준·6종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모드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선택 또는 질의 분류기로 자동 선택, 응답에 사용 모드·근거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SSO 자동 로그인, 종합정보 사용자·조직 정보 연동, 별도 사용자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 → AI 활용 윤리 서약 → 승인 → 사용자별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시간·일자별 이용자·동시접속, 프롬프트·응답·Tool 호출 이력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280800" y="8085240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UX 전문기업으로서 교직원 실제 업무 흐름을 관찰해 포털 화면을 설계하고, 단계별 사용성 점검으로 정착률을 높임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PoC 기술 시연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파싱 정확도 검증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RAG 품질 검증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파싱 정확도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현장 샘플 문서 표 추출 시연 계획 (7점)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PoC —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문서 그대로) 평가 현장에서 받은 샘플 문서를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조정 없이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파이프라인에 넣고, 표·OCR 추출 결과를 원문과 나란히 보여 완결성을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761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항목과 판정 기준 (자체 기준)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996000"/>
          <a:ext cx="6260399" cy="311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130200"/>
                <a:gridCol w="187811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문자 정확도·신뢰도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PoC 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218000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7254000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(시연 환경) 대학 제공 노트북·프로젝터 사용, 네트워크 미제공 시를 대비해 로컬 실행 환경을 준비함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(사전 리허설) 공개 대학 규정·학칙 HWP·PDF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사전 검증을 마침 — 결과표를 별첨으로 제출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RAG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질의응답 정확도 및 환각 통제 시연 계획 (8점)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PoC — RAG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(모르면 모른다고) 샘플 문서 기반 질문에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조문·쪽과 함께 답하고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문서에 없는 질문에는 '확인할 수 없음'으로 답하는 환각 통제를 시연함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질문 유형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 언제인가?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의미의 다른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58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환각 통제 장치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13999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임계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미만 문서는 답변 근거에서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문장마다 근거 출처 표시, 근거 없는 문장 생성 금지 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후 근거 대조 검증(Groundedness 점수) — 미달 시 재생성 또는 '확인 불가'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280800" y="7954369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PoC 결과는 Ⅳ장 품질 평가체계와 같은 지표(정답 정확도·Groundedness·Source 정확성)로 화면에 표시하여, 시연이 곧 운영 품질 기준임을 보여줌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답변 품질 검증 및 최적화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부하 분산 · 응답 속도 · 보안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답변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Golden Question 기반 품질 평가 · 개선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 평가체계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(측정해야 개선된다) 업무별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Golden Question Set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8개 품질 지표를 자동·수동 평가하고, 결과를 프롬프트·지식·모델 개선으로 되돌림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지표 (RFP 8대 지표)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986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 (자동 + 수동)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문장의 근거 지지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부하 분산 · 응답 속도 ·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동시 1,400명 · 3초 응답 · 권한 통제 · 가드레일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(빠르고 안전하게) 쿠버네티스 수평 확장과 스트리밍 응답으로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1,400명·3초 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보장하고, 권한 통제와 가드레일로 데이터 노출을 막음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확보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계층 오토스케일, L4 부하 분산, 세션 무상태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LLM 스트리밍(첫 토큰 즉시 표시), 3초 초과 시 처리 중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이내), 이해하기 쉬운 오류 문구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부하 시험, 결과에 따라 튜닝·재시험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1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· 가드레일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2369"/>
          <a:ext cx="6260400" cy="3004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 권한, 지식영역·필드 단위 접근제어, 검색 단계 권한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입력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차단, 유해 응답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변경·삭제성 Tool은 승인 후 실행, 실행 이력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 점검·조치 결과 제출, 접근성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관리 및 사후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조직 및 위험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 이전 및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및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정보보안 대책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 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상주 전담 조직) PM 직할로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인프라 · 지식DB · Agent · UX ·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5개 파트를 구성하고, 대학 TF·전산센터·감리와 정기 협의함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 선정 TF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총괄·검토·검증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인프라·MLOps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7728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지식DB·데이터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176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Agent·Tool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6624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UX·포털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072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082400"/>
          <a:ext cx="6260399" cy="299864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대학 협의, 위험·일정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파싱·RAG 파이프라인·Data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Runtime·Studio·Tool/API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UX·포털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포털·Studio 화면 설계·디자인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평가·시험·산출물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720344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718904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시험 체계 &gt;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68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168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시험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28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모듈·API별 개발자 시험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18117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9089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19089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449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연계·Agent 시나리오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34038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5010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35010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시험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370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 1,400명·응답 3초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49959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31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0931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91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TF·감리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55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 투입 인원수 유지, 교체 시 동급 인력·대학 승인 (핵심인력 50% 초과 교체 시 계약 해제 조건 인지)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위험 · 이슈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 선제 관리) GPU 납기 · 레거시 연계 · 문서 품질 · 2차년도 예산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 6건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 식별하고 주간 단위로 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77324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발주, 공급사 납기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GPU 자원으로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협조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접촉·비용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파일 연계로 우선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유형별 전처리 규칙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기준선·변경관리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 조정·협의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 기반 모델 선정, 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 혼용·LoRA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범위·산출물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독립 운영 가능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주간회의·감리 지적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영향도·긴급도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담당·기한 지정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주간·수시 보고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 이전 및 교육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대학 자체 Agent 수정·관리 역량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기술 이전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 자립) 관리자 · 운영자 · 사용자 · 개발자별 교육과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Agent 직접 수정 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사업 종료 후 대학이 스스로 Agent와 지식을 관리하게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Studio로 Agent 생성·수정·롤백, 지식 등록·폐기,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 모니터링, 백업·복구·장애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응답 모드·근거 확인·피드백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 스크립트·모델 교체 절차, 품질 평가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556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이관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90268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Architecture, Data Mart Schema·데이터 정의서·Mapping, Knowledge Catalog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Definition·Prompt·Workflow·Tool Registry, API/MCP 명세·소스코드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Question·정답·평가 Script·결과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Script·환경설정, 운영·백업·복구·장애대응 매뉴얼, 제품 교체·모델 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 및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무상·유상 하자보수 및 안정화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(장기 책임) 안정화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SW 2년 · HW 3년 · IaaS 3년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무상 하자보수와 2년간 LLM 모델 추가·업데이트를 지원하고, 유상 유지보수 요율을 확약함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67343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후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 상주 안정화 — 품질 지표 모니터링·튜닝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종료 후 2년 이상, 공급·개발 SW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이상, 제조사 보증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모델 추가·마이너 업데이트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HW·IaaS 제외 전 품목 요율 확약서 제출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【요율】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발견 시 24시간 이내 조치 착수, 단종 3개월 전 서면 통보·예비부품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정보보안 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사업 보안 대책 수립 및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보안 지침 준수) 누출금지 정보 관리,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개발시스템 물리 분리·인터넷 차단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원격작업 금지 등 RFP 보안 대책 10개 항목을 이행함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20362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참여인력 보안교육·친필 보안서약서·재직증명서, 위반 시 배상책임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접근권한 최소 부여·사업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대상정보 관리대장, 반출 금지, 종료 시 전량 반납·삭제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정보보안담당관 승인, 반입 시 감염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운영시스템과 물리적 분리, 인터넷 차단, 투입 인력만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상주 원칙, 원격작업 금지 (부득이 시 승인 하 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점검, 소스 형상관리(SVN), 소유권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수행 실적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서비스 전문기업) 2010년 설립, 임직원 129명, 2025년 매출 111억 원 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기획·UX·AI Agent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한 조직에서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【공고일 기준 1개월 이내 발급 확인서】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621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43999"/>
          <a:ext cx="6260400" cy="1854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수행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조직 구성 및 AI 관련 수행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·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기반 AI Agent 경험) 근거 위치를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Agent 품질 평가(Judge) 체계를 구축한 경험을 본 사업 RAG·품질 평가에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22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36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관련 주요 실적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3924000"/>
          <a:ext cx="6260400" cy="2634744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017315"/>
                <a:gridCol w="1173825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위치 제시형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(FAB MOS)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Judge Agent 품질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'모두' 개선·유지보수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 ~ 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교육 플랫폼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307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입찰참가자격(최근 3년 대학·공공 AI 사업 단일계약 3억 이상) 및 정량 유사·연관 실적 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【해당 실적 확인 필요】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추가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추가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구축 · 운영 · 유지를 위한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없이) 대학 AI 활용을 넓히고 운영 비용을 줄이는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4가지 추가 제안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학생 서비스 확장 로드맵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교직원용 업무별 활용 사례집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AI가 잘 읽는 규정·서식 작성 지침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52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제안 전제 및 협의 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5490000"/>
          <a:ext cx="6260400" cy="258381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