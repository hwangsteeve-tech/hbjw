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ctr"/>
              <a:t>‹#›</a:t>
            </a:fld>
            <a:endParaRPr lang="ko-KR" altLang="en-US" sz="10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대학 AI 인프라 기반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(AI 데이터 스퀘어)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사업PM 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발주기관: 인덕대학교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 spc="-68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21639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기술 및 기능 제안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14122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36161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15946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11803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064496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PoC 기술 시연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956979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179018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958803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454660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707353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성능 및 품질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599836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821875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601660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097517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350210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사업 관리 및 사후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242693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464732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244517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740374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993067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제안사 일반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885550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107589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887374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383231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635924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추가 제안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528407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750446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530231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Ⅶ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7026088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이해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목표 및 추진 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추진 일정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INDUK VISION2030과 AI 데이터 스퀘어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추진배경과 사업 범위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(대학 소유의 AI 기반) 특정 모델·제품에 묶이지 않는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Private AI 인프라 · 통합 지식DB · Agent 스튜디오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구축해 대학이 스스로 AI 서비스를 늘려가는 기반을 만듦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160002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추진 배경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INDUK VISION2030, 전문대학 혁신지원사업 '실무형 AI·DX 융합 교육체계', 정부 AI 인재 양성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계약일로부터 10개월 (장기계속계약 — 2026학년도 9억, 2027학년도 4억)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핵심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대학 전용 단독시스템, 365일 24시간 무중단 이중화, 영구 라이선스, 개인정보 위탁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08041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06601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사업 범위 4대 영역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4390020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439002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Private AI 인프라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4649220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GPU 서버·이중화·모델 서빙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Model Gateway (Private/Cloud 혼용)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SSO·권한·모니터링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92000" y="4390020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92000" y="439002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통합 지식DB·데이터 마트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0" y="4649220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HWP·PDF OCR 파싱·청킹 파이프라인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Knowledge Catalog·거버넌스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학사·행정 AI Data Mart (Oracle)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5407632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6800" y="5407632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Agent 스튜디오·포털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" y="5666832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시범 Agent 3~5종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대학 자체 Agent 추가·관리 Studio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반응형 사용자 포털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92000" y="5407632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92000" y="5407632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④ 최적화·품질·안정화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0" y="5666832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Golden Question 품질 평가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환각 방지·가드레일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교육·감리 대응·하자보수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대학 AI 도입의 핵심 이슈와 해결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핵심 이슈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(정확성 · 주도권 · 확장성) 대학 문서의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표·한글(HWP) 파싱 품질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모델·제품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종속 회피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대학이 스스로 운영하는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자립 구조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 성패를 가름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15565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347650"/>
                <a:gridCol w="250416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핵심 이슈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해결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답변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규정·지침이 HWP 표·다단·스캔 이미지로 존재, 깨진 추출은 곧 오답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Document Intelligence (표 구조 보존·OCR·근거 매핑)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환각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관련 없는 문서·폐기된 규정 참조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Hybrid Search + Reranking + 저관련 문서 차단 + 효력기간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종속성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특정 LLM·검색엔진·파서에 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OpenAI 호환 API·중립 Metadata·교체 검증 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학사·인사 데이터의 AI 노출 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목적별 Semantic View, 필드 단위 접근제어, 외부 모델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 주도권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 후 수행사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Studio·Knowledge Catalog로 대학 관리자 자체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레거시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차세대·포털·SSO·홈페이지 유지보수 미체결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 개발사 협조 비용 반영, 표준 API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280800" y="5621652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본 제안은 '모델을 들여오는 사업'이 아니라 '대학 지식을 AI가 정확히 쓰게 만드는 사업'으로 정의하고, 정확도와 운영 주도권을 최우선 지표로 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목표 및 추진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비전 · 목표 · 4대 추진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목표와 추진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(비전)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대학 지식을 정확하게 쓰는 대학 소유 AI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— 측정 가능한 품질 목표를 세우고, 인프라·지식·Agent·품질을 단계적으로 완성함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55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비전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50544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대학 지식을 정확하게 쓰는 대학 소유 AI 데이터 스퀘어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980800"/>
            <a:ext cx="6260400" cy="55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9808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품질 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30527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Golden Q 정답률 【90%】↑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35600" y="30527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Groundedness 【95%】↑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38400" y="30527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웹 응답 3초 · 동시 1,400명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603600"/>
            <a:ext cx="6260400" cy="55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6036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추진 전략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6755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① 표준 스택·교체 가능 구조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35600" y="36755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② 문서 이해 품질 우선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38400" y="36755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③ 데이터 최소 노출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226399"/>
            <a:ext cx="6260400" cy="55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4226399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Rounded Rectangle 44"/>
          <p:cNvSpPr/>
          <p:nvPr/>
        </p:nvSpPr>
        <p:spPr>
          <a:xfrm>
            <a:off x="1432800" y="42983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④ 대학 자립 운영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35600" y="42983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단계별 TF 검증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38400" y="4298399"/>
            <a:ext cx="1648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Golden Q 기반 검수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4921200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실행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① 표준 스택·교체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OpenAI 호환 모델 서빙, Agent 정의 중립 Metadata, 모델·검색·파서 교체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② 문서 이해 품질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1개월 내 대학 실문서 파싱 진단 → 문서 유형별 청킹 전략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③ 데이터 최소 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원천 DB 직접 접근 금지, Semantic View·API만 제공, 필드 단위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④ 대학 자립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Studio·Knowledge Catalog 실습 교육, Agent 수정 역량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추진 일정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10개월 단계별 추진 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추진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(인프라 선행 · 지식 병행) 2개월 차에 GPU 인프라를 완성하고, 지식DB와 Agent를 병행 개발하여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8개월 차 통합 시험, 10개월 차 완료보고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수행함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3240734"/>
        </p:xfrm>
        <a:graphic>
          <a:graphicData uri="http://schemas.openxmlformats.org/drawingml/2006/table">
            <a:tbl>
              <a:tblPr firstRow="0" bandRow="0"/>
              <a:tblGrid>
                <a:gridCol w="777689"/>
                <a:gridCol w="2177530"/>
                <a:gridCol w="330518"/>
                <a:gridCol w="330518"/>
                <a:gridCol w="330518"/>
                <a:gridCol w="330518"/>
                <a:gridCol w="330518"/>
                <a:gridCol w="330518"/>
                <a:gridCol w="330518"/>
                <a:gridCol w="330518"/>
                <a:gridCol w="330518"/>
                <a:gridCol w="330518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착수보고, 요구사항 분석, 문서 파싱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GPU·서버 설치, 쿠버네티스·모델 서빙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지식DB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파이프라인·Knowledge Catalog·Data Mart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차세대·포털·SSO·LMS·외부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Agent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설계·Studio·시범 Agent 3~5종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Golden Q 구성·평가·개선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단위·통합·부하·보안·인수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교육·기술이전·완료보고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567073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착수·중간·완료보고회 개최, 1차년도(2026) 인프라·지식DB 1차 / 2차년도(2027) Agent·품질·안정화 중심 — 연차별 기성 범위는 협의 확정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5886734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922734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(대학 TF 연계) 대학 에이전트 선정 TF와 3개월 차에 시범 Agent 주제를 확정하고, Agent별 검증에 TF가 참여함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 제안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[인프라] Private AI · 모델 게이트웨이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[지식DB] 문서 전처리 · 지식 카탈로그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[AI 서비스] Agent 스튜디오 · 연계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[인프라] Private AI 아키텍처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AI 데이터 스퀘어 전체 아키텍처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목표 아키텍처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(표준 스택 · 계층 분리) 인프라 · 모델 · 지식 · Agent · 채널을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5개 계층으로 분리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 계층 간을 표준 API로 연결하여 어느 계층이든 교체할 수 있게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55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채널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 사용자 포털 (반응형)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73600" y="2430000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Agent Studio (관리자)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14400" y="2430000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기존 시스템 (LMS·포털) 연동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SSO 자동 로그인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980800"/>
            <a:ext cx="4874400" cy="55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9808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Agent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30527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Agent Runtime (Context Router)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30527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Tool/API Layer · MCP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30527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가드레일·권한 통제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29808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중립 Metadata 정의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603600"/>
            <a:ext cx="4874400" cy="55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6036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지식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6755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RAG 엔진 (Hybrid Search)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36755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Knowledge Catalog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36755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 Data Mart (Oracle)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6036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문서 파이프라인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226399"/>
            <a:ext cx="4874400" cy="55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226399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모델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2983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Model Gateway (OpenAI 호환)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3600" y="42983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Private LLM · 임베딩 · Reranker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14400" y="42983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외부 Cloud LLM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1200" y="4226399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모델 교체·벤치마크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4849200"/>
            <a:ext cx="4874400" cy="558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48492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인프라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328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GPU 서버 이중화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634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Kubernetes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940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스토리지·백업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246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APM·모니터링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8492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365×24 무중단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0800" y="5543999"/>
            <a:ext cx="6332400" cy="154709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800" y="5579999"/>
            <a:ext cx="6224400" cy="151110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(대학 전용 단독시스템) 전 계층을 대학 지정 장소에 설치하고, 학생·교직원 개인정보는 외부로 위탁·전송하지 않음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(장점·단점 비교 후 1안 채택) 완전 온프레미스 안을 채택 — 클라우드 혼합안은 비용 유연성이 있으나 개인정보 통제·3년 이용료 부담이 커서 외부 LLM 호출만 선택적으로 허용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[인프라] Private AI 아키텍처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GPU 서버 · 쿠버네티스 · 이중화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인프라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(워크로드별 자원 산정) LLM 추론 · 임베딩 · Reranker · OCR 워크로드를 분리 산정하고,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GPU 서버 2대 이상과 쿠버네티스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한 대 장애에도 서비스를 유지함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인프라 구성 (안) — 규격·수량은 견적 후 확정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275842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895435"/>
                <a:gridCol w="219114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구성 (안)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GPU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【GPU 모델·서버당 장수】 × 2대 이상 (이중화)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LLM 추론·임베딩·Reranker·OCR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애플리케이션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【사양】 × 2대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포털·Agent Runtime·API·파이프라인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DB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Oracle (Data Mart) Active-Standby, 벡터·검색 엔진 클러스터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정형 데이터·Hybrid Search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스토리지·백업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【용량】 공유 스토리지 + 백업 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 원본·모델 파일·백업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Kubernetes, 컨테이너 레지스트리, GPU 스케줄링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워크로드 분리·자동 재기동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GPU/서버 메트릭 + 대학 APM(와탭)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실시간 운영 모니터링·장애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45842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워크로드별 산정 기준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692428"/>
          <a:ext cx="6260400" cy="1467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워크로드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LLM 추론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동시 생성 요청 수(동시접속 1,400명 중 활성 질의 비율 【가정】) × 응답 토큰 수 → 토큰/초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임베딩·Reranker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 갱신량·검색 QPS 기준, 경량 GPU 분할 할당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OCR·파싱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배치 처리 — 야간·유휴 시간 GPU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[인프라] Private AI 아키텍처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1.3.1 Model Gateway — 모델 종속 없는 LLM 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1.3 모델 게이트웨이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(모델 자유 교체) 내부 Private 모델과 외부 Cloud 모델을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하나의 OpenAI 호환 API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연결하고, 같은 Agent로 정확도·속도·비용을 비교해 고르게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요청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Agent·포털 → 게이트웨이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8117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089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정책 적용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49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권한·마스킹·가드레일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34038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010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라우팅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70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Private / Cloud 모델 선택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9959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931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91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프롬프트·응답·비용 로그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16800" y="3330000"/>
          <a:ext cx="6260400" cy="2361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OpenAI 호환 API (vLLM 등 서빙 엔진), 모델 교체 시 Agent 정의 변경 최소화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Private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한국어 성능 검증된 오픈 가중치 모델 【EXAONE·Qwen 계열 등 PoC 후 선정】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Cloud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외부 LLM 연동 시 개인정보 자동 마스킹, 대학 승인 Agent만 허용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Benchmark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동일 Agent·Golden Q로 Private/Cloud 정확도·지연·비용 비교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공통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모델별 공통 시스템 프롬프트·파라미터 관리, 버전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사후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안정화 후 2년간 대학 요청 LLM 모델 추가·마이너 업데이트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[지식DB] 문서 전처리 · 지식 카탈로그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HWP · PDF · 스캔 문서 구조 인식 및 표 추출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Document Intelligence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(표가 깨지지 않는 파싱) 대학 규정·지침의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HWP 표·다단·스캔 이미지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구조 그대로 Markdown/JSON으로 변환하고, 추출 결과마다 원문 위치를 남김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유형 판별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800" y="243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24800" y="2466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HWP·HWPX / PDF(텍스트) / PDF(스캔)·이미지 / Office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69200" y="235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처리 경로 선택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298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298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구조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34800" y="306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324800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Layout Detector (제목·본문·표·그림)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46999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다단·머리말·각주 분리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69200" y="298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레이아웃 트리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61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61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표 추출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34800" y="369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24800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병합 셀 보존 표 구조화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46999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표 → Markdown·JSON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69200" y="361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구조화 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424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424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④ OCR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4800" y="432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324800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한글 OCR (스캔·이미지 텍스트)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46999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신뢰도 점수 기록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69200" y="424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텍스트·신뢰도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487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487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⑤ 검증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800" y="495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24800" y="498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원문 쪽·좌표 근거 매핑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46999" y="498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저신뢰 구간 검수 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9200" y="487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검수 완료 문서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5562000"/>
            <a:ext cx="6332400" cy="197171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800" y="5598000"/>
            <a:ext cx="6224400" cy="193571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(HWP 직접 파싱) HWP 원본 구조를 직접 해석하여 PDF 변환 과정의 표 깨짐을 방지하고, 변환 불가 시 PDF 경로로 우회함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(Blind PoC 대응) 평가 현장 샘플 문서를 사전 학습 없이 처리하는 구성을 기본으로 함 — Ⅲ장 참조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(파서 엔진) 【자사 개발 / 상용·오픈소스 파서 조합 확정】 — 엔진 교체 시에도 파이프라인 인터페이스 유지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[지식DB] 문서 전처리 · 지식 카탈로그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2.2.1 전처리 파이프라인 · Hybrid Search · Re-ranking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2.2 RAG 파이프라인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(근거 있는 답변) 수집 → 전처리 → 청킹 → 임베딩 → 저장을 자동화하고,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키워드 + 벡터 + Reranking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검색 후 관련성 낮은 문서를 제외해 환각을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규정·매뉴얼·외부 API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49328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9048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전처리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648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파싱·정제·메타데이터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276696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416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청킹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016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문서 유형별 전략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04064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3784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임베딩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384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협의 선정 모델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1432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152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저장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752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Vector + 키워드 색인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3330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문서 유형별 청킹 전략 (안) &gt;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564000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문서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청킹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규정·학칙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조·항·호 단위, 상위 조문 제목을 메타데이터로 상속, 효력일 부여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매뉴얼·지침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제목 계층(H1~H3) 단위, 절차 목록은 분할하지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 단위 통째 보존 + 행 단위 요약 청크 병행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PPT·Excel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슬라이드·시트 단위, 시트명·열 이름 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5349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검색 품질 &gt;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5583204"/>
          <a:ext cx="6260400" cy="2361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Hybrid Search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BM25 키워드 + 벡터 검색 결합, 독립 API로 제공 (검색엔진 교체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Re-ranking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Cross-encoder Reranker로 질문-문서 대조, 모델 등록·교체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환각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Reranker 점수 임계 미만 문서 제외, 근거 없으면 '확인 불가'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정형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벡터화하지 않고 Data Mart SQL·API로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자동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근거 자료 추가·삭제·갱신 시 증분 재색인, 갱신 현황 관리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Golden Data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우수 답변 사례를 시스템 프롬프트 예시로 등록·관리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[지식DB] 문서 전처리 · 지식 카탈로그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2.3.1 지식 카탈로그 · 버전관리 · Single Source of Truth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2.3 Knowledge Catalog · 거버넌스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(폐기된 규정으로 답하지 않게) 모든 지식을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출처·버전·효력일·소유부서·권한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 함께 등록하고, 효력이 끝난 지식은 검색에서 자동 제외함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Knowledge Catalog 항목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식별·출처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 ID, 원문 파일·URL, 소유부서,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버전·효력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버전 번호, 효력 시작·종료일, 개정 사유, 이전 버전 링크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Structured / Policy / Document / External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접근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SQL Tool / API / Rule / RAG / Direct Context 중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지식영역·사용자·그룹별 열람 권한, 변경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73360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71920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지식 거버넌스 흐름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등록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부서 담당자 직접 등록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검토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소유부서 승인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게시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자동 색인·효력 적용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개정·폐기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신 버전 게시, 구 버전 검색 제외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복원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이전 버전 즉시 복원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6015204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6051204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(자체 운영) 대학 관리자가 사업자 지원 없이 지식을 추가·수정하도록 화면과 매뉴얼을 제공함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[지식DB] 문서 전처리 · 지식 카탈로그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2.4.1 학사·행정 AI Data Mart 및 레거시·외부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2.4 AI Data Mart · 데이터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(원천 DB 무부하 · 최소 노출) 학사·행정 데이터를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목적별 Semantic View/API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로만 제공하고, 개인정보 등급과 역할에 따라 필드 단위로 접근을 통제함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50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원천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차세대종합정보 (학적·수강·성적·인사·회계)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634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LMS (마이아이)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포털·홈페이지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6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법령정보 등 외부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직접 접근 금지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26799"/>
            <a:ext cx="4874400" cy="50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267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연계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API 솔루션 (도입)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배치 수집 (CDC·스케줄)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연계 표준·이력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9267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수집 현황 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495599"/>
            <a:ext cx="4874400" cy="50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4955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Data Mart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Oracle 통합 DB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목적별 Semantic 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Metadata (의미·단위·주기·소유)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4955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AI 친화 추상화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064399"/>
            <a:ext cx="4874400" cy="50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0643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제공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1363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SQL Tool·API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41363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필드 단위 접근제어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41363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개인정보 마스킹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40643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Agent 호출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0800" y="47052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연계 대상 및 방안 &gt;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4939200"/>
          <a:ext cx="6260400" cy="194202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차세대종합정보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학사·행정 View 생성 → Data Mart 적재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 개발사 협조 【비용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SSO·포털·홈페이지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SSO 자동 로그인, 포털 링크·위젯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SSO 라이선스 대학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LMS (마이아이)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학습활동 데이터 API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무상유지보수 기간 내 협조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외부 공공데이터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국가법령정보 등 공공 API 수집·갱신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API 키 대학 명의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[AI 서비스] Agent 스튜디오 · 연계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대학이 직접 만드는 Agent — Runtime과 Studio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Agent Runtime · Studio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(외부 도움 없이 Agent 추가) Agent를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모델·지식·Tool·권한·프롬프트·워크플로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중립 Metadata로 정의하고, 관리자 Studio에서 만들고 고치고 되돌리게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① 템플릿 선택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문서형·데이터형·복합형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49328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9048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② 구성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648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모델·지식·Tool·권한 지정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276696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416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③ 프롬프트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016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지시문·예시(Golden Data)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04064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3784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④ 시험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384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Golden Q 자동 평가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1432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152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⑤ 배포·롤백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752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버전 게시·이전 버전 복원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3330000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Agent Runtime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OSS 프레임워크 【LangGraph 등】 기반, 상용 지원 가능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Context Router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질의 특성에 따라 SQL·API·Rule·RAG·Direct 호출을 선택·조합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중립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정의를 JSON Metadata로 저장 — 런타임 교체 시 재사용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버전관리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Prompt·Agent·Workflow 버전 이력, 1클릭 Rollback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간이 Agent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교직원이 지식 범위·지시문만으로 간단한 Agent 직접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[AI 서비스] Agent 스튜디오 · 연계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3.2.1 Tool Registry와 시범 Agent 5종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3.2 Tool/API Layer · 시범 Agent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(대학 자산 Tool) 학사·LMS·행정 연동 Tool을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대학 자산으로 개발·등록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하고, 서로 다른 데이터 유형을 검증하는 시범 Agent를 구축함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시범 Agent (안) — 대학 TF 결과로 최종 선정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9" cy="2151612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408590"/>
                <a:gridCol w="2191140"/>
                <a:gridCol w="1878119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Agent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데이터·실행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검증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문서형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학칙·규정 상담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RAG (규정 Knowledge)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조문 근거·효력일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학사 현황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Data Mart SQL Tool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권한별 필드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복합형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졸업요건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SQL + 규정 RAG + Rule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다단계 추론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공유형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부서 공유 Agent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부서 지식 + 문서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지식영역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분석형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설문·강의평가 감정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LLM 분류·점수화 (배치)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점수 일관성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851612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Tool/API Layer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085612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Tool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학사·LMS·행정 조회 Tool (MCP 호환), 소스·명세 대학 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API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API 게이트웨이·관리 솔루션 도입 【제품 확정】 — 표준 인터페이스·보안·교체성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Tool Registry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등록·조회·버전관리, 실행 권한·고위험 작업 승인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[AI 서비스] Agent 스튜디오 · 연계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기술 및 기능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3.3.1 AI 포털 · 다중 응답 모드 · IAM 연동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3.3 사용자 포털 · 접근제어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(쓰기 쉬운 포털) SSO 자동 로그인 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직접·지식 참조·데이터 조회 3가지 응답 모드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자동 선택하는 반응형 포털을 제공하고, 대학 고유 권한 체계를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직접 응답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내부 LLM 즉시 응답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일반 업무 보조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33600" y="23580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336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지식 참조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9600" y="26172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RAG 근거 문서 인용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원문 쪽 링크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50400" y="23580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504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데이터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6400" y="26172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Data Mart SQL·API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권한 범위 내 결과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16800" y="3401999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포털 UI/UX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대학 브랜드 디자인, 모바일·태블릿 반응형, 웹 표준·6종 브라우저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모드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사용자 선택 또는 질의 분류기로 자동 선택, 응답에 사용 모드·근거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SSO·사용자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대학 SSO 자동 로그인, 종합정보 사용자·조직 정보 연동, 별도 사용자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 신청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권한 신청 → AI 활용 윤리 서약 → 승인 → 사용자별 권한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시간·일자별 이용자·동시접속, 프롬프트·응답·Tool 호출 이력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280800" y="5529203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UX 전문기업으로서 교직원 실제 업무 흐름을 관찰해 포털 화면을 설계하고, 단계별 사용성 점검으로 정착률을 높임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PoC 기술 시연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파싱 정확도 검증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RAG 품질 검증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파싱 정확도 검증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PoC 기술 시연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현장 샘플 문서 표 추출 시연 계획 (7점)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PoC — 파싱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(현장 문서 그대로) 평가 현장에서 받은 샘플 문서를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사전 조정 없이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파이프라인에 넣고, 표·OCR 추출 결과를 원문과 나란히 보여 완결성을 입증함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문서 수령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현장 샘플 (표 포함)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49328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9048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업로드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648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포털 업로드 1회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276696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416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자동 파싱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016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유형 판별·표·OCR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04064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3784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나란히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384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원문 ↔ 추출 결과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1432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152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근거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752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셀·쪽 위치 매핑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3330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시연 항목과 판정 기준 (자체 기준) &gt;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564000"/>
          <a:ext cx="6260399" cy="1677204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130200"/>
                <a:gridCol w="1878119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시연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자체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본문 텍스트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글자 누락·순서 뒤바뀜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누락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병합 셀·머리행 유지, 행·열 수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행·열 100%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다단·각주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읽기 순서 복원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순서 오류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스캔·이미지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OCR 문자 정확도·신뢰도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【목표치 PoC 후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80800" y="5349204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5385204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(시연 환경) 대학 제공 노트북·프로젝터 사용, 네트워크 미제공 시를 대비해 로컬 실행 환경을 준비함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(사전 리허설) 공개 대학 규정·학칙 HWP·PDF 【20종】으로 사전 검증을 마침 — 결과표를 별첨으로 제출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RAG 품질 검증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PoC 기술 시연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질의응답 정확도 및 환각 통제 시연 계획 (8점)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PoC — RAG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(모르면 모른다고) 샘플 문서 기반 질문에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근거 조문·쪽과 함께 답하고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문서에 없는 질문에는 '확인할 수 없음'으로 답하는 환각 통제를 시연함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시연 질문 유형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738925"/>
                <a:gridCol w="23476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확인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사실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○○ 신청 기한은 언제인가?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정답 + 근거 조문·쪽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표의 특정 행·열 값 질문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 셀 정확 인용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다중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두 조항을 종합해야 하는 질문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근거 2개 이상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함정 질문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문서에 없는 내용 질문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'확인할 수 없음'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변형 질문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같은 의미의 다른 표현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답변 일관성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719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환각 통제 장치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953204"/>
          <a:ext cx="6260400" cy="1467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관련성 임계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Reranker 점수 미만 문서는 답변 근거에서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근거 강제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답변 문장마다 근거 출처 표시, 근거 없는 문장 생성 금지 프롬프트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자기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생성 후 근거 대조 검증(Groundedness 점수) — 미달 시 재생성 또는 '확인 불가'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280800" y="6528816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PoC 결과는 Ⅳ장 품질 평가체계와 같은 지표(정답 정확도·Groundedness·Source 정확성)로 화면에 표시하여, 시연이 곧 운영 품질 기준임을 보여줌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및 품질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답변 품질 검증 및 최적화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부하 분산 · 응답 속도 · 보안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AI 답변 품질 검증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Golden Question 기반 품질 평가 · 개선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품질 평가체계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(측정해야 개선된다) 업무별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Golden Question Set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8개 품질 지표를 자동·수동 평가하고, 결과를 프롬프트·지식·모델 개선으로 되돌림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품질 지표 (RFP 8대 지표)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3045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목표 (안)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정답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Golden Q 정답 대비 일치 (자동 + 수동)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【90%】↑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Groundedness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답변 문장의 근거 지지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【95%】↑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Source 정확성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인용 출처·쪽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【95%】↑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 정확성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권한 밖 데이터 노출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노출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Tool 실행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올바른 Tool·파라미터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【90%】↑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Hallucination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근거 없는 주장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【2%】↓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응답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첫 토큰·전체 응답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웹 3초 내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질의당 토큰·GPU 사용량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추이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74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74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Golden Q 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03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부서 TF와 업무별 구성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6125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574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574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평가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603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자동·수동 정기 평가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6125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574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574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원인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603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파싱·검색·프롬프트·모델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6125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574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574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개선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603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지식 보완·프롬프트·LoRA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부하 분산 · 응답 속도 · 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동시 1,400명 · 3초 응답 · 권한 통제 · 가드레일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성능 ·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(빠르고 안전하게) 쿠버네티스 수평 확장과 스트리밍 응답으로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동시 1,400명·3초 표시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보장하고, 권한 통제와 가드레일로 데이터 노출을 막음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성능 확보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동시 1,400명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웹·API 계층 오토스케일, L4 부하 분산, 세션 무상태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웹 3초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정적 자원 캐시, LLM 스트리밍(첫 토큰 즉시 표시), 3초 초과 시 처리 중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오류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입력 검증 즉시 표시 (3초 이내), 이해하기 쉬운 오류 문구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1,400 동시 세션 시나리오 부하 시험, 결과에 따라 튜닝·재시험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377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보안 · 가드레일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611204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SSO + 역할 기반 권한, 지식영역·필드 단위 접근제어, 검색 단계 권한 필터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입력 가드레일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프롬프트 인젝션·금칙어·개인정보 입력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출력 가드레일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개인정보 마스킹, 권한 밖 정보 차단, 유해 응답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고위험 Tool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변경·삭제성 Tool은 승인 후 실행, 실행 이력 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웹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시큐어코딩, 웹 취약점 점검·조치 결과 제출, 접근성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관리 및 사후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수행 조직 및 위험 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 이전 및 교육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하자보수 및 안정화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정보보안 대책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 조직 및 위험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사업 관리 및 사후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수행 조직 및 업무분장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수행 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(대학 상주 전담 조직) PM 직할로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인프라 · 지식DB · Agent · UX · 품질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5개 파트를 구성하고, 대학 TF·전산센터·감리와 정기 협의함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48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대학혁신사업단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63400" y="2430000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전산센터 TF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에이전트 선정 TF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600" y="2430000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감리법인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총괄·검토·검증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08800"/>
            <a:ext cx="4874400" cy="48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088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사업관리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80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사업총괄책임자 (PM)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80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품질관리 (QA)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80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보안관리 책임자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9088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대학 상주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459600"/>
            <a:ext cx="4874400" cy="48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4596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수행 파트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531599"/>
            <a:ext cx="69048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인프라·MLOps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77280" y="3531599"/>
            <a:ext cx="69048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지식DB·데이터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21760" y="3531599"/>
            <a:ext cx="69048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Agent·Tool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66240" y="3531599"/>
            <a:ext cx="69048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UX·포털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0720" y="3531599"/>
            <a:ext cx="69048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연계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4596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분석·개발·시험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4082400"/>
          <a:ext cx="6260399" cy="2361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939059"/>
                <a:gridCol w="704295"/>
                <a:gridCol w="32867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 총괄, 대학 협의, 위험·일정 관리, 제안 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인프라·MLOps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GPU·쿠버네티스·모델 서빙·모니터링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지식DB·데이터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 파싱·RAG 파이프라인·Data Mart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Agent·Tool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Runtime·Studio·Tool/API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UX·포털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포털·Studio 화면 설계·디자인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품질(QA)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Golden Q 평가·시험·산출물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302400" y="656600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2400" y="6551603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단계별 시험 체계 &gt;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6800" y="68756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316800" y="68756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단위 시험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800" y="716360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모듈·API별 개발자 시험</a:t>
            </a:r>
          </a:p>
        </p:txBody>
      </p:sp>
      <p:sp>
        <p:nvSpPr>
          <p:cNvPr id="57" name="Isosceles Triangle 56"/>
          <p:cNvSpPr/>
          <p:nvPr/>
        </p:nvSpPr>
        <p:spPr>
          <a:xfrm rot="5400000">
            <a:off x="1811700" y="725540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908900" y="68756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>
            <a:off x="1908900" y="68756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통합 시험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44900" y="716360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연계·Agent 시나리오</a:t>
            </a:r>
          </a:p>
        </p:txBody>
      </p:sp>
      <p:sp>
        <p:nvSpPr>
          <p:cNvPr id="61" name="Isosceles Triangle 60"/>
          <p:cNvSpPr/>
          <p:nvPr/>
        </p:nvSpPr>
        <p:spPr>
          <a:xfrm rot="5400000">
            <a:off x="3403800" y="725540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501000" y="68756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>
            <a:off x="3501000" y="68756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부하 시험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37000" y="716360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동시 1,400명·응답 3초</a:t>
            </a:r>
          </a:p>
        </p:txBody>
      </p:sp>
      <p:sp>
        <p:nvSpPr>
          <p:cNvPr id="65" name="Isosceles Triangle 64"/>
          <p:cNvSpPr/>
          <p:nvPr/>
        </p:nvSpPr>
        <p:spPr>
          <a:xfrm rot="5400000">
            <a:off x="4995900" y="725540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093100" y="68756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>
            <a:off x="5093100" y="68756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인수 시험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9100" y="716360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대학 TF·감리 확인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800" y="781160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제안 투입 인원수 유지, 교체 시 동급 인력·대학 승인 (핵심인력 50% 초과 교체 시 계약 해제 조건 인지)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 조직 및 위험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사업 관리 및 사후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위험 · 이슈 관리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위험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(위험 선제 관리) GPU 납기 · 레거시 연계 · 문서 품질 · 2차년도 예산 등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고유 위험 6건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착수 전 식별하고 주간 단위로 관리함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2493612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469529"/>
                <a:gridCol w="2269395"/>
                <a:gridCol w="226939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GPU 납기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계약 즉시 발주, 공급사 납기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임시 GPU 자원으로 개발 병행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레거시 연계 협조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 개발사 사전 접촉·비용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배치 파일 연계로 우선 진행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문서 파싱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1개월 파싱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 유형별 전처리 규칙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요구사항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TF 합의 기준선·변경관리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우선순위 조정·협의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모델 성능 한계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PoC 기반 모델 선정, Benchmark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Cloud 모델 혼용·LoRA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2차년도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연차별 범위·산출물 명확화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1차년도 독립 운영 가능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4959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4959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식별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5247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주간회의·감리 지적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5339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4959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4959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5247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영향도·긴급도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5339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4959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4959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5247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담당·기한 지정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5339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4959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4959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5247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주간·수시 보고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기술 이전 및 교육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사업 관리 및 사후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대학 자체 Agent 수정·관리 역량 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기술 이전 · 교육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(사업 후 자립) 관리자 · 운영자 · 사용자 · 개발자별 교육과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Agent 직접 수정 실습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으로, 사업 종료 후 대학이 스스로 Agent와 지식을 관리하게 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677985"/>
                <a:gridCol w="140859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Studio로 Agent 생성·수정·롤백, 지식 등록·폐기, 권한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 + 인증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GPU·쿠버네티스·모델 서빙 모니터링, 백업·복구·장애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포털 응답 모드·근거 확인·피드백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설명회·영상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유지관리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소스·배포 스크립트·모델 교체 절차, 품질 평가 스크립트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기술이전 세션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4275612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이관 산출물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509612"/>
          <a:ext cx="6260400" cy="194202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전체 Architecture, Data Mart Schema·데이터 정의서·Mapping, Knowledge Catalog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Agent·Tool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Definition·Prompt·Workflow·Tool Registry, API/MCP 명세·소스코드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Golden Question·정답·평가 Script·결과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배포 Script·환경설정, 운영·백업·복구·장애대응 매뉴얼, 제품 교체·모델 변경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하자보수 및 안정화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사업 관리 및 사후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무상·유상 하자보수 및 안정화 지원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하자보수 · 안정화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(장기 책임) 안정화 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SW 2년 · HW 3년 · IaaS 3년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무상 하자보수와 2년간 LLM 모델 추가·업데이트를 지원하고, 유상 유지보수 요율을 확약함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361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지원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오픈 후 【 】개월 상주 안정화 — 품질 지표 모니터링·튜닝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SW 무상 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안정화 종료 후 2년 이상, 공급·개발 SW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HW 무상 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3년 이상, 제조사 보증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LLM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안정화 후 2년간 대학 요청 모델 추가·마이너 업데이트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유상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HW·IaaS 제외 전 품목 요율 확약서 제출 【요율】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결함 발견 시 24시간 이내 조치 착수, 단종 3개월 전 서면 통보·예비부품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접수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단일 창구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520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분류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HW·SW·모델·데이터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520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원격·현장·제조사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520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처리 결과·재발방지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정보보안 대책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사업 관리 및 사후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4.1.1 사업 보안 대책 수립 및 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4.1 보안 대책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(대학 보안 지침 준수) 누출금지 정보 관리,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개발시스템 물리 분리·인터넷 차단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원격작업 금지 등 RFP 보안 대책 10개 항목을 이행함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270320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참여인력 보안교육·친필 보안서약서·재직증명서, 위반 시 배상책임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접근권한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정보시스템 접근권한 최소 부여·사업 종료 시 회수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제공자료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누출금지 대상정보 관리대장, 반출 금지, 종료 시 전량 반납·삭제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장비 반출입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정보보안담당관 승인, 반입 시 감염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개발시스템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운영시스템과 물리적 분리, 인터넷 차단, 투입 인력만 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작업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대학 상주 원칙, 원격작업 금지 (부득이 시 승인 하 한시)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소스코드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시큐어코딩 점검, 소스 형상관리(SVN), 소유권 대학 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일반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조직 및 수행 실적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Ⅵ. 제안사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회사 개요 및 재무 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(AI 서비스 전문기업) 2010년 설립, 임직원 129명, 2025년 매출 111억 원 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서비스 기획·UX·AI Agent 개발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한 조직에서 수행함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회사명 / 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주식회사 에이치나인 (HNINE) / 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서울특별시 성동구 뚝섬로1길 25, 10층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2010년 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소프트웨어사업자(1468)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신용등급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【공고일 기준 1개월 이내 발급 확인서】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4485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자본금 및 매출액 (단위: 천원)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719204"/>
          <a:ext cx="6260400" cy="99320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565100"/>
                <a:gridCol w="1565100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9,885,377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9,460,127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11,116,740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조직 및 수행 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Ⅵ. 제안사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조직 구성 및 AI 관련 수행 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조직 ·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(근거 기반 AI Agent 경험) 근거 위치를 제시하는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Agent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와 Agent 품질 평가(Judge) 체계를 구축한 경험을 본 사업 RAG·품질 평가에 적용함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5120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017315"/>
                <a:gridCol w="1017315"/>
                <a:gridCol w="1017315"/>
                <a:gridCol w="1017315"/>
                <a:gridCol w="101731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특급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고급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초급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16명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19명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3117203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AI 관련 주요 실적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3351204"/>
          <a:ext cx="6260400" cy="1530734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1017315"/>
                <a:gridCol w="1173825"/>
                <a:gridCol w="172161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 사업 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2026.04 ~ 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근거 위치 제시형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제조 DT (FAB MOS) — MES AI Agent 'MOSAIC'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2026.03 ~ 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Judge Agent 품질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국립중앙박물관 교육 플랫폼 '모두' 개선·유지보수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2024 ~ 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공공 교육 플랫폼 UX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95393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입찰참가자격(최근 3년 대학·공공 AI 사업 단일계약 3억 이상) 및 정량 유사·연관 실적 — 【해당 실적 확인 필요】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280060" y="1498812"/>
            <a:ext cx="426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추가 제안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Ⅶ.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추가 제안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추가 제안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Ⅶ. 추가 제안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구축 · 운영 · 유지를 위한 추가 제안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추가 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(추가 비용 없이) 대학 AI 활용을 넓히고 운영 비용을 줄이는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4가지 추가 제안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함께 수행함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학생 서비스 확장 로드맵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맞춤형 상담·전과·전공 탐색 Agent 설계안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2027년 이후 확장 계획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AI 활용 가이드북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교직원용 업무별 활용 사례집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AI 윤리 원칙 교육 자료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34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34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비용 최적화 리포트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360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Private/Cloud 모델 비용 비교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GPU 사용률 기반 증설 계획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34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34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④ 문서 표준화 가이드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360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AI가 잘 읽는 규정·서식 작성 지침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부서 문서 품질 개선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" y="4392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제안 전제 및 협의 사항 &gt;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4626000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레거시 연계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유지보수 미체결 시스템의 원 개발사 협조 비용 범위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하자보수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기본조건(2년 이상)과 사업지원 요구사항(12개월 이상) 중 2년 기준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연차별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1차년도·2차년도 기성 범위와 산출물 착수 시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