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기반 실시간 가스배관망 안전관리시스템 시범구축 용역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제안사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한국가스기술공사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제안사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한국가스기술공사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5508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재무구조 (신용평가등급, 계량)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목표 · 특성, PoC 목적 ·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현장 여건 고려 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AI · 객체탐지 · 위치 연계 실현가능성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11~13,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 → 학습 → 실증 → 검증 →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· 탐지 · 확인 · 표출 구현방안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13~15,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· 저장 · 전송 · 접근통제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우천 · 역광 · 가림 · 속도 · 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재현율 · 위치오차 · 처리시간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16, 20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검증방법 · 기준, 측정 · 기록 ·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20~21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세부일정 · 활동 간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및 이슈관리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식별 · 관리절차 · 대응방안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현장사용자 교육계획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위치 · 시설정보 관리적 · 물리적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 · 추가제안 적정성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199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599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799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99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99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802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02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203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402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605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2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5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실증 · 품질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090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08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9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609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090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사업관리 ·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이해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목표시스템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추진전략 · 방법론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달리는 순회차량이 곧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가스배관 안전 감시망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순회점검 차량 7대의 전방영상을 AI가 실시간으로 분석해 굴착 · 중장비 · 지반이상 · 화재 징후를 찾고, 배관 위치와 함께 즉시 전파 — 실증 결과를 숫자로 남겨 전사 확대의 근거로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한국가스기술공사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AX혁신실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계약체결일 ~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2027.8.31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2억 2,704만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 규모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 7대 ·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실증구간 7개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사업 이해 — PoC는 숫자로 검증하는 사업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기능을 만드는 데서 끝나지 않고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'실제 순회 환경에서 AI가 위해요인을 얼마나 정확히, 어디서 찾는가'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검수기준이 되는 목표값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 첫 달에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탐지대상 정의 · 평가데이터 · 측정방법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부터 발주기관과 합의 — 확정 목표값 = 검수기준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829920" cy="4715998"/>
        </p:xfrm>
        <a:graphic>
          <a:graphicData uri="http://schemas.openxmlformats.org/drawingml/2006/table">
            <a:tbl>
              <a:tblPr firstRow="0" bandRow="0"/>
              <a:tblGrid>
                <a:gridCol w="1874880"/>
                <a:gridCol w="4955040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이동체 영상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· 저조도 카메라, 조건별 평가데이터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위치가 핵심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PPS 시각동기 · 위치오차 목표 · 현장시험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순서 유지 자동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 · 원본 접근 제한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가상서버 + GPU 워크스테이션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불허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직접 수행 · 장비 물품 구매 · 기술지원 확약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1592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92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92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전부 수용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56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56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56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 · 탐지 · 관제 ·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920" y="2160000"/>
            <a:ext cx="455328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7919" y="2203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사업 범위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7919" y="2455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9919" y="2484000"/>
            <a:ext cx="444528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① 차량영상 수집체계 (단말 7세트)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② AI 위해요인 자동탐지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③ GIS 통합관제 · 알림 · 연계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④ 위험정보 외부 제공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목표시스템 — 현장에서 관제까지 5계층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현장 단말(1차 탐지 · 마스킹) → 암호화 LTE → 내부망 수집 · 2차 분석 → 통합관제 · 알림 → 외부 API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외부 클라우드 없이 온프레미스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원본 영상은 단말에,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이벤트 · 대표이미지 · 위치만 우선 전송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통신비와 지연을 함께 줄임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65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단말 7세트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카메라 FHD 30fps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4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단말 1차 탐지 · 마스킹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48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GNSS · LTE · 저장 · 전원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69200" y="1260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ECR-002 · 003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106000"/>
            <a:ext cx="965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 구간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LTE (5G 선택)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64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IPSec VPN / TLS · 상호인증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48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음영 저장 · 재전송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69200" y="2106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SIR-002 · SER-001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951999"/>
            <a:ext cx="965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· 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게이트웨이 MQTT · 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64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GPU 2차 분석 · 위험판정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48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검증 ·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69200" y="2951999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 · PER-005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" y="3798000"/>
            <a:ext cx="965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통합관제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80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 · 탐지현황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64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GIS 공간관제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48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· 조치 · 통계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69200" y="3798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0" y="4644000"/>
            <a:ext cx="965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46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 · 연계 · 제공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80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카카오톡 · 문자 알림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64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기상 · 산불 · 재난 · 한국가스공사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448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제공 API · 공공데이터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69200" y="4644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SFR-005 · 009 · SIR-004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4대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현장 강건성 · 위치 정확성 · 실증 투명성 · 확산 준비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겨울에 준비하고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우천기(6~7월)에 1 · 2차 실증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현장 강건성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 · 야간 · 우천 · 역광 · 가림 데이터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조건별 임계값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음영 구간 재전송 누락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위치 정확성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GNSS PPS 시각동기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카메라 설치정보 기반 대상 위치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배관망 GIS 인접 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실증 투명성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목표값 · 평가방법 사전 합의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정탐/오탐 판정 화면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 스크립트 · 버전 보존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확산 준비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 API · 데이터 표준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 5~30대 자원 산정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확산 패키지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1개월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목표값 합의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7대 설치 완료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6199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6199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6199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1700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1700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8.31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1700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검수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사업추진 방법론 — 5단계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단계마다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수행방법 · 검증방법 · 산출물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정하고, 목표 미달 유형은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재학습 후 같은 기준으로 재시험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평가데이터는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학습에 쓰지 않은 별도 주행일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구성 — 유사 프레임으로 성능이 부풀려지지 않게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250344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264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264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·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84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485208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28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28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48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720072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9919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9919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12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954935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856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1856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176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1835999"/>
          <a:ext cx="11545200" cy="4140000"/>
        </p:xfrm>
        <a:graphic>
          <a:graphicData uri="http://schemas.openxmlformats.org/drawingml/2006/table">
            <a:tbl>
              <a:tblPr firstRow="0" bandRow="0"/>
              <a:tblGrid>
                <a:gridCol w="1876095"/>
                <a:gridCol w="6061230"/>
                <a:gridCol w="3607875"/>
              </a:tblGrid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수량 · 조건 분포, 라벨 표본 교차검수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학습 데이터 구축 가이드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 클래스별 정밀도 · 재현율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품질 이력 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현장실증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실주행 정탐/오탐 판정 · 통신 · 알림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실증시험 결과서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성능검증 ·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목표값 대비 측정 → 재학습 · 재시험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정확도 평가결과서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적용기술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장비 · 기능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성능 · 제약 · 보안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적용기술 ① 2단 AI 모델 — 놓치지 않고, 거르고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단말은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재현율 우선 경량 모델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서버는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정밀도 우선 재판정 모델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모두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Apache-2.0 라이선스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사업 후에도 자유롭게 재학습 · 확대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0" cy="5220000"/>
        </p:xfrm>
        <a:graphic>
          <a:graphicData uri="http://schemas.openxmlformats.org/drawingml/2006/table">
            <a:tbl>
              <a:tblPr firstRow="0" bandRow="0"/>
              <a:tblGrid>
                <a:gridCol w="1331168"/>
                <a:gridCol w="2551406"/>
                <a:gridCol w="2551406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(단말)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(서버)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YOLOX 계열 경량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RT-DETR 계열 정밀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TensorRT FP16/INT8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TensorRT FP16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20fps (요구 15fps)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이벤트당 1초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낮게 — 놓치지 않기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높게 — 오탐 거르기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→ 실증 데이터 미세조정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클래스별 가중 학습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19982" y="1260000"/>
            <a:ext cx="4949217" cy="453010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탐지대상 4종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3982" y="1584000"/>
            <a:ext cx="4841217" cy="417010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굴착장비 · 굴착현장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시설물 훼손 · 전도 · 가림 · 누락 의심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지반 이상 · 재난 징후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화재 · 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9982" y="5898109"/>
            <a:ext cx="4949217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모델 구조 · 버전 · 입출력 · 학습방법 · 임계값 ·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제한사항까지 모델 명세서로 공개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적용기술 ② 위치 추정 · ③ 개인영상정보 마스킹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 위치와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탐지대상 추정 위치를 구분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 배관 GIS와 비교하고, 얼굴 · 번호판은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전송 전에 블러 + 서버 재검사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 추정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999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3999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시각동기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1672199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414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414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차량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46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30996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45270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962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962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배관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94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3999" y="2214000"/>
          <a:ext cx="5511600" cy="4194000"/>
        </p:xfrm>
        <a:graphic>
          <a:graphicData uri="http://schemas.openxmlformats.org/drawingml/2006/table">
            <a:tbl>
              <a:tblPr firstRow="0" bandRow="0"/>
              <a:tblGrid>
                <a:gridCol w="2755800"/>
                <a:gridCol w="2755800"/>
              </a:tblGrid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위치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2.5m 이내 (CEP50)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측정건 90% 10m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 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【50ms】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ight Arrow 27"/>
          <p:cNvSpPr/>
          <p:nvPr/>
        </p:nvSpPr>
        <p:spPr>
          <a:xfrm>
            <a:off x="6022800" y="3618000"/>
            <a:ext cx="306000" cy="503999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76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76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개인영상정보 마스킹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76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76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08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4" name="Right Arrow 33"/>
          <p:cNvSpPr/>
          <p:nvPr/>
        </p:nvSpPr>
        <p:spPr>
          <a:xfrm>
            <a:off x="7525799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950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950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2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8" name="Right Arrow 37"/>
          <p:cNvSpPr/>
          <p:nvPr/>
        </p:nvSpPr>
        <p:spPr>
          <a:xfrm>
            <a:off x="89532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224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24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재검사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56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42" name="Right Arrow 41"/>
          <p:cNvSpPr/>
          <p:nvPr/>
        </p:nvSpPr>
        <p:spPr>
          <a:xfrm>
            <a:off x="10380599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498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498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제공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30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2676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76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95%+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76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마스킹 재현율 목표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774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74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74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미처리 외부 제공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현장 단말 7세트 · 중앙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카메라 · AI 단말 · GNSS · LTE · SSD · 전원 · 거치대 일체형 7세트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와 GPU 워크스테이션을 당사가 제공 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상용 SW 라이선스 0종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GPU는 PoC 기간 당사 제공, 검수 후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이관 또는 회수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회수해도 단말 1차 탐지 · 관제 · 알림은 계속 동작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433981" cy="4716000"/>
        </p:xfrm>
        <a:graphic>
          <a:graphicData uri="http://schemas.openxmlformats.org/drawingml/2006/table">
            <a:tbl>
              <a:tblPr firstRow="0" bandRow="0"/>
              <a:tblGrid>
                <a:gridCol w="1578146"/>
                <a:gridCol w="4855835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전방카메라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 · WDR 120dB급 · 저조도 · 방진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단말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임베디드 GPU </a:t>
                      </a:r>
                      <a:r>
                        <a:rPr sz="1092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【40 TOPS 이상】</a:t>
                      </a: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팬리스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다중위성 · 10Hz · PPS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· 저장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Cat.4+ (5G 선택) · SSD 1TB 암호화 (약 500시간)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 · 거치대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12/24V · ACC 연동 · 저전압 차단 · 무손상 탈부착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919982" y="1260000"/>
          <a:ext cx="4949216" cy="3887999"/>
        </p:xfrm>
        <a:graphic>
          <a:graphicData uri="http://schemas.openxmlformats.org/drawingml/2006/table">
            <a:tbl>
              <a:tblPr firstRow="0" bandRow="0"/>
              <a:tblGrid>
                <a:gridCol w="1855956"/>
                <a:gridCol w="3093260"/>
              </a:tblGrid>
              <a:tr h="928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 · 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28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【48GB급】</a:t>
                      </a: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GPU · 당사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8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4대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수집 · DB · 저장 · 발주기관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21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Spring · React · PostGIS · Mosquitto · OpenLayers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919982" y="5256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982" y="5310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9982" y="5778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구조 변경 없이 확장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48591" y="5256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8591" y="5310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591" y="5778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추가 SW 라이선스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통합관제 플랫폼 · GIS 공간관제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첫 화면에서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금일 탐지 · 미확인 · 고위험 · 조치상태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보고, 이미지 확인 →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정탐/오탐 판정 → 조치이력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한 흐름으로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관제담당자의 정탐/오탐 판정은 그대로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학습데이터 · 성능평가 자료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쌓여 모델을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1627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30996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45720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1835999"/>
          <a:ext cx="5691600" cy="4140000"/>
        </p:xfrm>
        <a:graphic>
          <a:graphicData uri="http://schemas.openxmlformats.org/drawingml/2006/table">
            <a:tbl>
              <a:tblPr firstRow="0" bandRow="0"/>
              <a:tblGrid>
                <a:gridCol w="1479816"/>
                <a:gridCol w="4211784"/>
              </a:tblGrid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금일 · 미확인 · 고위험 · 조치상태, 구간 지도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탐지현황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구간 · 유형 · 위험 · 상태 검색, 탐지영역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·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확인 → 조치 중 → 완료, 현장사진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 · 위험 · 정탐/오탐 통계, 엑셀 · CSV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177600" y="1260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96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GIS 공간관제 (별도 GIS 없이)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96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1600" y="1584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배관망 · 실증구간 · 이벤트 · 궤적 · 기상/재난 레이어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위험수준 색 · 유형 기호 · 처리상태 테두리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WGS84 ↔ 배관망 좌표계 변환 · 기준점 대조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7600" y="3663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9600" y="3706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기준정보 · 계정권한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9600" y="3958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1600" y="3987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공통코드 · 구간 · 차량/단말 · 연계 · 운영기준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RBAC · 최소 권한 · 5회 실패 잠금 · 전 이력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연계 · 알림 · 외부 제공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기상 · 산불 · 재난과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한국가스공사 분석자료를 탐지 이벤트에 결합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마스킹 점검을 통과한 데이터만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표준 API로 외부기관에 제공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4530105"/>
        </p:xfrm>
        <a:graphic>
          <a:graphicData uri="http://schemas.openxmlformats.org/drawingml/2006/table">
            <a:tbl>
              <a:tblPr firstRow="0" bandRow="0"/>
              <a:tblGrid>
                <a:gridCol w="2276640"/>
                <a:gridCol w="910656"/>
                <a:gridCol w="2504304"/>
              </a:tblGrid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기상청 · 산림청 · 행안부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OpenAPI · 갱신주기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협의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한국가스공사 분석자료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API (협의)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Pull · Webhook Push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40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외부 API가 멈춰도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관제 핵심 기능은 그대로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— 최종 수신시각 표시 · 자동 재개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76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76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관로 순찰자 알림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7600" y="1638000"/>
            <a:ext cx="170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7600" y="1638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0800" y="1980000"/>
            <a:ext cx="161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80016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0800" y="1638000"/>
            <a:ext cx="170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70800" y="1638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4000" y="1980000"/>
            <a:ext cx="161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99048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74000" y="1638000"/>
            <a:ext cx="170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74000" y="1638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7200" y="1980000"/>
            <a:ext cx="161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676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76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6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알림 발송 요청 (요구 3초)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74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74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74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자료 없어도 위험 알림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성능 요구사항 — 목표를 숫자로 약속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 정탐률 80%를 최소선으로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탐지대상별 재현율 · 정밀도 목표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제시하고, 화면 · 알림 · 수집 성능은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요구보다 빠르게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지도 · 외부 API · 이동통신 지연은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자체 처리시간과 분리 측정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확정 목표값을 검수기준으로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598" cy="4716000"/>
        </p:xfrm>
        <a:graphic>
          <a:graphicData uri="http://schemas.openxmlformats.org/drawingml/2006/table">
            <a:tbl>
              <a:tblPr firstRow="0" bandRow="0"/>
              <a:tblGrid>
                <a:gridCol w="2608650"/>
                <a:gridCol w="1541474"/>
                <a:gridCol w="1541474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굴착장비 · 굴착현장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시설물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이상 · 재난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 · 연기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(요구)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· mAP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260000"/>
          <a:ext cx="5691598" cy="4716000"/>
        </p:xfrm>
        <a:graphic>
          <a:graphicData uri="http://schemas.openxmlformats.org/drawingml/2006/table">
            <a:tbl>
              <a:tblPr firstRow="0" bandRow="0"/>
              <a:tblGrid>
                <a:gridCol w="2608650"/>
                <a:gridCol w="1541474"/>
                <a:gridCol w="1541474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조회 (95%)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· 대시보드 (95%)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→ 관제 · 알림 요청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 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(95%)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없음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7. 제약사항 — 현장 악조건 8가지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야간 · 우천 · 역광 · 가림 · 속도 · 진동 · 거리 · 위치오차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마다 장비 · 모델 · 운영 대응을 정하고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조건별로 나눠 성능을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확보가 어려운 조건은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사전 수집 영상으로 보완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 같은 기준으로 측정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640199" cy="4715998"/>
        </p:xfrm>
        <a:graphic>
          <a:graphicData uri="http://schemas.openxmlformats.org/drawingml/2006/table">
            <a:tbl>
              <a:tblPr firstRow="0" bandRow="0"/>
              <a:tblGrid>
                <a:gridCol w="1569501"/>
                <a:gridCol w="5070698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제약요소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저조도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저조도 센서 · WDR, 야간 별도 학습 · 조도별 임계값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 · 안개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발수 · 와이퍼 영역 장착, 우천 데이터 증강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120dB급 · 노출 보정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가림 라벨 · 연속 프레임 누적 판단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 · 진동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셔터 속도 · 방진 마운트 · 흔들림 필터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 · 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1280px 소형 객체 학습, 다중위성 · 진행방향 보정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현장 제약요소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7개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조건별 평가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6199" y="2160000"/>
            <a:ext cx="474300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8199" y="2203200"/>
            <a:ext cx="45990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조건별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8199" y="2455200"/>
            <a:ext cx="45990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0199" y="2484000"/>
            <a:ext cx="463500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 · 야간 / 우천 · 적설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역광 · 가림 / 속도대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거리 10 · 20 · 30m / 위치오차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8. 보안 요구사항 — 촬영부터 제공까지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얼굴 · 번호판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이중 마스킹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단말 저장 암호화 · 보안 부팅 · USB 차단, 전송구간 암호화 · 상호인증,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보안약점 0건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검수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479816"/>
                <a:gridCol w="4211784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개인영상정보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마스킹 · 원본은 승인 시만 · 보관기간 제한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암호화 · 보안 부팅 · USB 차단 · 원격 잠금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IPSec VPN · TLS 1.2+ · 인증서 상호인증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Salt 해시 · 하드코딩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이상 (해당 시 2년) · 위변조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177600" y="1835999"/>
            <a:ext cx="5691600" cy="46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9600" y="1879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국정원 평가지표 기능 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9600" y="2131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00" y="2160000"/>
            <a:ext cx="5583600" cy="428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9자리 조합 · 5회 오류 차단 · 세션만료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동시 로그인 금지 · 관리자 페이지 통제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이동형 영상정보처리기기 규정 · 촬영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 ·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현장실증 · 시험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품질관리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시연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테스트 · 현장실증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실증 ·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단위 → 통합 → 시스템 →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현장(7개 구간 실주행)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→ 검수 — 외부 API의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지연 · 중단 · 형식오류까지 일부러 만들어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시험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0" cy="5220000"/>
        </p:xfrm>
        <a:graphic>
          <a:graphicData uri="http://schemas.openxmlformats.org/drawingml/2006/table">
            <a:tbl>
              <a:tblPr firstRow="0" bandRow="0"/>
              <a:tblGrid>
                <a:gridCol w="1335354"/>
                <a:gridCol w="3884668"/>
                <a:gridCol w="1213958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· 통합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 · 데이터 흐름 · 인터페이스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2~5월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ID별 합격기준 · 성능 ·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송수신 · 1/2차 분석 · 위치 · 재전송 ·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6~7월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유입 3배 · 4시간 지속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업무절차 · 사용자 편의성 (발주기관 참여)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19982" y="1260000"/>
            <a:ext cx="4949217" cy="43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정확도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3982" y="1584000"/>
            <a:ext cx="4841217" cy="403199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학습 미사용 별도 주행일 데이터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대상별 정답 </a:t>
            </a:r>
            <a:r>
              <a:rPr sz="14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【300】</a:t>
            </a: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 이상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음성 구간 </a:t>
            </a:r>
            <a:r>
              <a:rPr sz="14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【10】</a:t>
            </a: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시간 (오탐 측정)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9982" y="5760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9982" y="5813999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9982" y="6282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현장실증 (6 · 7월)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48591" y="5760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8591" y="5813999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591" y="6282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재전송 누락 · 중복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품질관리 — 재현 가능한 실증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실증 ·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정확도 · 오탐/미탐 · 위치오차 · 중복탐지 · 처리시간을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사전 정의한 산식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재고, 평가 스크립트 · 데이터셋 · 모델 버전을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함께 남겨 다시 계산 가능하게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 결과는 조건별 · 대상별로 나눠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'전사로 늘려도 되는가'에 답하는 확산 판단 자료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433981" cy="4716000"/>
        </p:xfrm>
        <a:graphic>
          <a:graphicData uri="http://schemas.openxmlformats.org/drawingml/2006/table">
            <a:tbl>
              <a:tblPr firstRow="0" bandRow="0"/>
              <a:tblGrid>
                <a:gridCol w="1578146"/>
                <a:gridCol w="4855835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산식 ·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TP/(TP+FP) · 재현율 TP/(TP+FN) · F1 · mAP@0.5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· 미탐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 객체 · 배경 / 거리 · 가림 · 조도 유형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↔ 측량 좌표, 50 · 90% 지점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대상 이벤트 수 / 실제 대상 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 → 관제 → 알림 구간별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19982" y="1260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데이터 · 모델 품질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3982" y="1584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출처 · 권한 · 조건 · 버전 기록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표본 10% 교차검수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모델 버전별 성능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9982" y="3663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1982" y="3706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소스 품질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1982" y="3958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3982" y="3987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정적분석 중대 결함 0건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오픈소스 라이선스 검토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빌드 절차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시연 시나리오 — 탐지에서 조치까지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실증 ·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실증구간 주행 영상으로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탐지 → 마스킹 → GIS 표시 → 정탐 판정 → 모바일 알림 → 조치 등록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한 흐름으로 시연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시연은 제안서 내용 범위에서만 진행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화면 시안 · 사전 녹화 주행 영상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기반 (홍보용 동영상 아님)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21120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12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12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마스킹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4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4069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384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384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GIS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16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60263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5599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5599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799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7983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52799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52799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60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0" name="Right Arrow 29"/>
          <p:cNvSpPr/>
          <p:nvPr/>
        </p:nvSpPr>
        <p:spPr>
          <a:xfrm>
            <a:off x="994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100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100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조치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32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24000" y="1835999"/>
          <a:ext cx="11545198" cy="4140000"/>
        </p:xfrm>
        <a:graphic>
          <a:graphicData uri="http://schemas.openxmlformats.org/drawingml/2006/table">
            <a:tbl>
              <a:tblPr firstRow="0" bandRow="0"/>
              <a:tblGrid>
                <a:gridCol w="3748441"/>
                <a:gridCol w="5997506"/>
                <a:gridCol w="1799251"/>
              </a:tblGrid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장면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보여 주는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· 마스킹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 · SER-001 (단말 1차 · 서버 2차)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· GIS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 · 004 (레이어 · 위험 색상)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· 알림 ·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 · 009 (모바일 알림 · 조치 등록)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 ·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일정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위험 · 이슈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교육 · 기밀보안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차별화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세부 추진일정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1~2월 장비 설치 · 데이터 확보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3~5월 구현 · 학습,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6 · 7월 현장실증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8월 성능검증 · 검수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7005040" cy="5220000"/>
        </p:xfrm>
        <a:graphic>
          <a:graphicData uri="http://schemas.openxmlformats.org/drawingml/2006/table">
            <a:tbl>
              <a:tblPr firstRow="0" bandRow="0"/>
              <a:tblGrid>
                <a:gridCol w="2537260"/>
                <a:gridCol w="496420"/>
                <a:gridCol w="496420"/>
                <a:gridCol w="496420"/>
                <a:gridCol w="496420"/>
                <a:gridCol w="496420"/>
                <a:gridCol w="496420"/>
                <a:gridCol w="496420"/>
                <a:gridCol w="496420"/>
                <a:gridCol w="49642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통신 조사 · 기준 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입고 · 7대 설치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· 라벨링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v1 · v2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· 연계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· 2차 현장실증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· 기술이전 · 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1046" y="1260000"/>
          <a:ext cx="4378153" cy="5220000"/>
        </p:xfrm>
        <a:graphic>
          <a:graphicData uri="http://schemas.openxmlformats.org/drawingml/2006/table">
            <a:tbl>
              <a:tblPr firstRow="0" bandRow="0"/>
              <a:tblGrid>
                <a:gridCol w="2880364"/>
                <a:gridCol w="1497789"/>
              </a:tblGrid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수행계획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M+10일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목표값 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7대 설치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모델 v1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1차 실증 · 중간보고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2차 실증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MS7 검수 ·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위험 및 이슈관리 — PoC 7대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데이터 부족 · 성능 저하 · 위치오차 · 장비 · 통신 · 개인정보 · 일정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7대 위험을 착수 시 등록하고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예방 대책 + 발생 시 대안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미리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 등급 위험 · 이슈는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즉시 유선 + 당일 서면 보고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주간 점검에서 등급 재평가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7005044" cy="4716000"/>
        </p:xfrm>
        <a:graphic>
          <a:graphicData uri="http://schemas.openxmlformats.org/drawingml/2006/table">
            <a:tbl>
              <a:tblPr firstRow="0" bandRow="0"/>
              <a:tblGrid>
                <a:gridCol w="1543484"/>
                <a:gridCol w="2730780"/>
                <a:gridCol w="2730780"/>
              </a:tblGrid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부족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조기 수집 · 공개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수집 영상 · 증강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데이터 · 임계값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재학습 · 2차 강화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 동기 · 기준점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링크 보정 · 구간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점검 · 방진 · 온도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단말 </a:t>
                      </a:r>
                      <a:r>
                        <a:rPr sz="1092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【1】</a:t>
                      </a: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세트 교체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품질 조사 · 통신사 선정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마스킹 · 원본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차단 · 보고 · 삭제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조기 발주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설치 · 병행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1046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1046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246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8465884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35084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35084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8284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9609923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79123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79123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2323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10753961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23161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23161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66361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491046" y="1835999"/>
            <a:ext cx="2135076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1046" y="1890000"/>
            <a:ext cx="2135076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7대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1046" y="2358000"/>
            <a:ext cx="2135076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시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4123" y="1835999"/>
            <a:ext cx="2135076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4123" y="1890000"/>
            <a:ext cx="2135076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4123" y="2358000"/>
            <a:ext cx="2135076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 등급 서면 보고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1046" y="2664000"/>
            <a:ext cx="4378153" cy="33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3046" y="2707200"/>
            <a:ext cx="4234153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등급 기준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3046" y="2959199"/>
            <a:ext cx="4234153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5046" y="2987999"/>
            <a:ext cx="4270153" cy="295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상: 목표 · 법규 · 일정 직접 영향 → 즉시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중: 일부 기능 · 구간 영향 → 주간보고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하: 경미 · 우회 가능 → 월간보고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교육훈련 · 기술지원 · 하자보수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관리자 · 관제 · 현장 · 운전원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역할별 교육과 모델 재학습 · 롤백 기술이전으로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발주기관이 직접 운영 · 보정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할 수 있게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479816"/>
                <a:gridCol w="3073464"/>
                <a:gridCol w="1138320"/>
              </a:tblGrid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 · 계정 · 백업 · 모델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· 8월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확인 · 판정 · 조치 · 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알림 · 조치 등록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· 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운전원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동작 확인 (조작 불필요)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56916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96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기술이전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6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00" y="1584000"/>
            <a:ext cx="55836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모델 재학습 · 배포 절차 실습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단말 관리 · 롤백 · 모니터링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운영자 지침서 · 사용자 매뉴얼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7600" y="3915000"/>
            <a:ext cx="56916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9600" y="3958199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하자보수 (검수 후 1년)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9600" y="4210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00" y="4239000"/>
            <a:ext cx="55836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긴급 2h 착수 · 8h 복구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감사 취약점 조치 · 연계 장애처리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기밀보안 — 영상 · 위치 · 배관정보 보호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차량영상 · 위치 · 배관/시설정보를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누출금지 대상정보로 관리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보안서약 ·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매월 보안교육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· 지정 PC 저장 · 반출입 통제 · 완료 시 완전 삭제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2" cy="5220000"/>
        </p:xfrm>
        <a:graphic>
          <a:graphicData uri="http://schemas.openxmlformats.org/drawingml/2006/table">
            <a:tbl>
              <a:tblPr firstRow="0" bandRow="0"/>
              <a:tblGrid>
                <a:gridCol w="1484765"/>
                <a:gridCol w="4949217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 · 물리적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· 전원 보안서약, 착수 전 · 매월 보안교육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열람제공대장 서명, 파일서버 · 지정 PC만, 상용 메일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 · 장비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CCTV · 시건, 보안 S/W, 반출입 대장, 인가 USB만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장소 · 봉인표 · 비식별 데이터만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전량 회수 · 검증 SW 완전 삭제 · 대표 확약서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919982" y="1260000"/>
            <a:ext cx="2420608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9982" y="1314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매월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9982" y="1782000"/>
            <a:ext cx="2420608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보안교육 · 결과 보고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8591" y="1260000"/>
            <a:ext cx="2420608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591" y="1314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매일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591" y="1782000"/>
            <a:ext cx="2420608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보안책임자 점검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9982" y="2160000"/>
            <a:ext cx="4949217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보안위규 처리기준 ·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위약금(A ~ D급) 수용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, 정보누출 시 부정당업자 제재 대상임을 전원 교육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9982" y="2831622"/>
            <a:ext cx="4949217" cy="364837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1982" y="2874822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누출금지 대상정보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1982" y="3126822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3982" y="3155622"/>
            <a:ext cx="4841217" cy="3288377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차량영상 · 위치 · 배관/시설정보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IP · 구성도 · 계정 · 소스코드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개인정보 · 비공개 내부문서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차별화 전략 · 추가제안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사람 중심 관제 UX · 재현 가능한 실증 · 라이선스 걱정 없는 모델 · 확산 패키지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+ 선택 요구사항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내부 LLM 조치지원 · EOCS 연계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요구사항 SFR-008 · SIR-005를 제안 범위에 포함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기술평가에서 인정된 내용은 입찰금액 안에서 수행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관제 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역할별 첫 화면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판정 · 조치 클릭 최소화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5991" y="1260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991" y="1303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재현 가능한 실증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991" y="1555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991" y="1584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조건별 성능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 스크립트 · 버전 보존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3663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3706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라이선스 자유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3958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3987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Apache-2.0 모델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상용 SW 0종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5991" y="3663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991" y="3706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확산 패키지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991" y="3958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991" y="3987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단말 표준 · API · 데이터 표준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5~30대 용량 산정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19982" y="1260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[선택] 내부 LLM 조치지원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3982" y="1584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내부 지침 · 매뉴얼 근거 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없으면 '근거 부족' 안내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참고정보로만 (자동 조치 금지)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9982" y="3663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1982" y="3706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[선택] EOCS 굴착신고 대조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1982" y="3958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3982" y="3987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신고일치 · 미매칭 · 확인 필요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미매칭을 미신고로 자동 확정 안 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