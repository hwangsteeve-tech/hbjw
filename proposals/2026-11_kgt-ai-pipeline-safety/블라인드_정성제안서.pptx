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568" r:id="rId96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  <p:sldId id="7511" r:id="rId39"/>
    <p:sldId id="7512" r:id="rId40"/>
    <p:sldId id="7513" r:id="rId41"/>
    <p:sldId id="7514" r:id="rId42"/>
    <p:sldId id="7515" r:id="rId43"/>
    <p:sldId id="7516" r:id="rId44"/>
    <p:sldId id="7517" r:id="rId45"/>
    <p:sldId id="7518" r:id="rId46"/>
    <p:sldId id="7519" r:id="rId47"/>
    <p:sldId id="7520" r:id="rId48"/>
    <p:sldId id="7521" r:id="rId49"/>
    <p:sldId id="7522" r:id="rId50"/>
    <p:sldId id="7523" r:id="rId51"/>
    <p:sldId id="7524" r:id="rId52"/>
    <p:sldId id="7525" r:id="rId53"/>
    <p:sldId id="7526" r:id="rId54"/>
    <p:sldId id="7527" r:id="rId55"/>
    <p:sldId id="7528" r:id="rId56"/>
    <p:sldId id="7529" r:id="rId57"/>
    <p:sldId id="7530" r:id="rId58"/>
    <p:sldId id="7531" r:id="rId59"/>
    <p:sldId id="7532" r:id="rId60"/>
    <p:sldId id="7533" r:id="rId61"/>
    <p:sldId id="7534" r:id="rId62"/>
    <p:sldId id="7535" r:id="rId63"/>
    <p:sldId id="7536" r:id="rId64"/>
    <p:sldId id="7537" r:id="rId65"/>
    <p:sldId id="7538" r:id="rId66"/>
    <p:sldId id="7539" r:id="rId67"/>
    <p:sldId id="7540" r:id="rId68"/>
    <p:sldId id="7541" r:id="rId69"/>
    <p:sldId id="7542" r:id="rId70"/>
    <p:sldId id="7543" r:id="rId71"/>
    <p:sldId id="7544" r:id="rId72"/>
    <p:sldId id="7545" r:id="rId73"/>
    <p:sldId id="7546" r:id="rId74"/>
    <p:sldId id="7547" r:id="rId75"/>
    <p:sldId id="7548" r:id="rId76"/>
    <p:sldId id="7549" r:id="rId77"/>
    <p:sldId id="7550" r:id="rId78"/>
    <p:sldId id="7551" r:id="rId79"/>
    <p:sldId id="7552" r:id="rId80"/>
    <p:sldId id="7553" r:id="rId81"/>
    <p:sldId id="7554" r:id="rId82"/>
    <p:sldId id="7555" r:id="rId83"/>
    <p:sldId id="7556" r:id="rId84"/>
    <p:sldId id="7557" r:id="rId85"/>
    <p:sldId id="7558" r:id="rId86"/>
    <p:sldId id="7559" r:id="rId87"/>
    <p:sldId id="7560" r:id="rId88"/>
    <p:sldId id="7561" r:id="rId89"/>
    <p:sldId id="7562" r:id="rId90"/>
    <p:sldId id="7563" r:id="rId91"/>
    <p:sldId id="7564" r:id="rId92"/>
    <p:sldId id="7565" r:id="rId93"/>
    <p:sldId id="7566" r:id="rId94"/>
    <p:sldId id="7567" r:id="rId95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Relationship Id="rId96" Type="http://schemas.openxmlformats.org/officeDocument/2006/relationships/slide" Target="slides/slide3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1332838" y="1555100"/>
            <a:ext cx="5077968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정성제안서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기반 실시간 가스배관망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안전관리시스템 시범구축 용역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제안사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한국가스기술공사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&lt; 제안요청서 요구사항 대비 수용여부 조견표 (45개) &gt;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3999" y="468000"/>
          <a:ext cx="5867999" cy="6739200"/>
        </p:xfrm>
        <a:graphic>
          <a:graphicData uri="http://schemas.openxmlformats.org/drawingml/2006/table">
            <a:tbl>
              <a:tblPr firstRow="0" bandRow="0"/>
              <a:tblGrid>
                <a:gridCol w="827999"/>
                <a:gridCol w="756000"/>
                <a:gridCol w="2592000"/>
                <a:gridCol w="612000"/>
                <a:gridCol w="1080000"/>
              </a:tblGrid>
              <a:tr h="28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2808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장비구성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 및 도입 장비 일반사항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 19, 23, 29, 31, 54~55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장비 구성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26, 28, 50, 54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 통신망 구성 및 이동체 시공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30, 51, 54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9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16, 19, 23, 25~26, 32, 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영상기반 AI 통합 탐지 및 확장 시스템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 16, 18, 24~27, 33, 50, 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기반 통합 관제 플랫폼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13, 34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GIS 기반 공간 관제 및 분석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 기상·산불·재난정보 연계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기준정보 및 운영 관리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37, 53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계정 및 권한 관리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[선택] 내부 LLM 연계 기반 AI 조치지원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유관기관 분석자료 연계 및 관로 순찰자 알림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6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보장 아키텍처 및 상시 모니터링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19, 29, 31, 46, 52, 59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기반 AI 모델 분석 처리 성능 및 확장성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18, 24, 31, 47, 50, 58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 화면 및 데이터 연계 응답시간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39, 46, 59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백업 복구 정책 수립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44, 52~53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탐지 이벤트 및 궤적 데이터 수집/처리 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24, 30, 41, 46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유관 시스템 연계(API) 처리 성능 및 안정성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36, 42, 46, 52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 표준 준수 및 이용자 편의성을 고려한 UI/UX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단말기 및 센서 데이터 수집 인터페이스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23, 28, 41, 57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유관 시스템 연계 인터페이스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23, 36, 39, 42, 57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외부기관 대상 재난 영상·데이터 제공 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13, 27, 42, 57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[선택] EOCS 굴착신고정보 수신 및 대조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&lt; 제안요청서 요구사항 대비 수용여부 조견표 (45개) &gt;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3999" y="468000"/>
          <a:ext cx="5867999" cy="6458400"/>
        </p:xfrm>
        <a:graphic>
          <a:graphicData uri="http://schemas.openxmlformats.org/drawingml/2006/table">
            <a:tbl>
              <a:tblPr firstRow="0" bandRow="0"/>
              <a:tblGrid>
                <a:gridCol w="827999"/>
                <a:gridCol w="756000"/>
                <a:gridCol w="2592000"/>
                <a:gridCol w="612000"/>
                <a:gridCol w="1080000"/>
              </a:tblGrid>
              <a:tr h="28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280800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및 테스트 환경 구성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54, 56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시스템 테스트 방안 및 수행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19, 56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 및 외부연계 인터페이스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57, 77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탐지 모델 정확도 및 현장(Field) 테스트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18, 22, 47, 51, 58, 60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성능 및 부하(Load) 테스트 검증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소스코드 품질 및 오픈소스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61, 65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학습 데이터 및 모델 품질 관리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22, 51, 58, 60, 62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 수립 및 상위표준(공간정보 포함)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26, 35, 43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구조 및 영상·이미지 저장관리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수집데이터 검증 및 이상처리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41, 45, 60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개방 및 메타데이터 관리체계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7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보호 및 현장 단말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27, 30, 48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 개발보안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48, 62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관련 정책 및 평가기준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38, 49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 코딩 준수 및 웹 취약점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보안정책 및 지침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73~74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수행에 대한 보안대책 수립 및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73~74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저작권, 특허권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25, 29, 55, 61, 65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수행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11, 66, 68, 79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55, 64~65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8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및 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66~67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제안사 일반현황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제안시스템 구축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관리 및 지원 분야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8631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기타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7556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9777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7574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2533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기술평가 항목 조견표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평가항목 조견표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기술평가 항목 조견표 (1/2)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평가항목별 제안내용 및 해당 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(평가항목 → 제안 쪽) 제안요청서 「기술평가 항목 및 배점」의 평가항목마다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평가요소 · 관련 목차 · 쪽 · 제안 포인트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정리함 (쪽은 표지부터 센 전체 쪽수)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5290727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1017315"/>
                <a:gridCol w="1330335"/>
                <a:gridCol w="1330335"/>
                <a:gridCol w="547785"/>
                <a:gridCol w="125208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 (배점)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제안서 관련 목차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포인트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0832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 (계량)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재무구조(신용평가등급)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 및 매출액 (최근 3년) · 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기업신용평가등급 BBB0 (평점 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2652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이해도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사업의 목표 · 특성 이해, 차량영상 · 위치정보 위해요인 탐지 PoC 목적 · 수행범위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배경과 현장 과제 / 제안의 목적 · 범위 · 전제조건 / 사업의 목표 · 특성 이해 / 요구사항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12~13, 18~19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PoC = 숫자로 검증, 6대 사업 특성, 45개 요구사항 추적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048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추진전략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사업일정 · 현장 여건을 고려한 PoC 추진전략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 · 목표 · 추진전략 / 4대 추진전략 세부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20~21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4대 전략, 겨울 준비 · 우천기 실증, 1 · 2차 실증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265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적용기술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차량영상 AI 분석, 객체탐지 · 분류, 위치정보 연계의 실현가능성 · 현장 적용 가능성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목표시스템 전체 구성도 / 데이터 처리 흐름 (단말 1차 · 서버 2차) / AI 객체탐지 모델 구성 / 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23~27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2단 모델(단말 · 서버), Apache-2.0, PPS 동기 위치 추정, 이중 마스킹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265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사업추진 방법론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확보 → 학습 · 분석 → 현장실증 → 성능검증 → 개선, 단계별 검증방법 ·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5단계 PoC 수행 방법론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5단계 PoC (확보 → 학습 → 실증 → 검증 → 개선)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2652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및 기능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요구사항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· 위치정보 수집, AI 위해요인 탐지, 탐지결과 확인 · 표출 구현방안, 실증기간 내 구현 가능성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 구성 (차량 1대당 일체형, 7세트) / 중앙 시스템 구성 · 소프트웨어 · 라이선스 / 통신망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28~45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7세트, 9개 기능 · 관제 · GIS · 연계 ·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265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요구사항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비식별화, 저장 · 전송 보호, 접근통제 등 기술적 보안방안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보호 · 현장 단말 · 전송 보안 / 소프트웨어 개발보안 · 웹 취약점 제거 · 평가기준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48~49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전 마스킹, 단말 암호화 · 상호인증, 취약점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265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 · 우천 · 역광 · 가림 · 속도 · 진동 · 촬영거리 · 위치오차 분석 및 대응 · 실증방안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현장환경 제약요소 분석 및 기술적 대응 / 제약요소 실증 · 검증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50~51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8개 현장 제약요소 대응, 조건별 평가데이터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7756732"/>
            <a:ext cx="6332400" cy="72111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781073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평가 비율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8008732"/>
            <a:ext cx="6080400" cy="415116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기술능력평가 90% (계량 5 + 비계량 95, 100점을 90점으로 환산) : 입찰가격평가 10%, 기술평가 배점 한도의 85% 이상인 자를 협상적격자로 선정함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기술평가 항목 조견표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평가항목 조견표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기술평가 항목 조견표 (2/2)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평가항목별 제안내용 및 해당 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(평가항목 → 제안 쪽) 제안요청서 「기술평가 항목 및 배점」의 평가항목마다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평가요소 · 관련 목차 · 쪽 · 제안 포인트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정리함 (쪽은 표지부터 센 전체 쪽수)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5760676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1017315"/>
                <a:gridCol w="1330335"/>
                <a:gridCol w="1330335"/>
                <a:gridCol w="547785"/>
                <a:gridCol w="125208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 (배점)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제안서 관련 목차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포인트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89317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및 품질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요구사항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· 재현율, 오탐 · 미탐, 위치오차, 처리시간 성능지표 · 시험방법, 달성 가능성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목표 · 측정 방법 / AI 분석 처리 성능 · 탐지성능 목표 / 상시 모니터링 · 장애복구 · 지속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46~47, 52~53, 56~59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대상별 재현율 80~85%, 알림 2초, 화면 2/4초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9317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품질관리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PoC 성능 검증방법 · 기준, 실증결과 측정 · 기록 ·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PoC 성능 검증 기준 · 측정 · 기록 / 소스코드 품질 · 오픈소스 관리 / AI 학습 데이터 · 모델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60~62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 산식 · 실증 원장 · 재현 가능한 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8893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일정계획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준비 · 장비 적용 · AI 분석 · 현장실증 · 성능검증 세부일정 · 활동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수행 관리 · 보고 체계 / 세부 추진일정 / 마일스톤 · 활동 간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68~70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~ 8월 9개월, 7개 마일스톤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8893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및 이슈관리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· 성능 · 위치오차 · 장비 · 통신 · 개인정보 위험 식별 · 관리절차 · 대응방안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PoC 위험 식별 · 분석 / 위험 · 이슈별 관리절차와 대응방안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71~72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PoC 7대 위험, 예방 · 대안, 상 등급 당일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847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교육훈련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· 현장사용자 시스템 사용 및 결과확인 교육계획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· 현장사용자 교육훈련 계획 / 기술지원 · 기술이전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67, 66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4개 역할 그룹, 집합 · 개별, 모델 재학습 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8893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기밀보안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차량영상 · 위치정보 · 배관 · 시설정보 보호를 위한 관리적 · 물리적 보안대책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관리적 · 물리적 보안대책 / 작업장소 · 원격지 개발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73~74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 정보 관리, 매월 보안교육, 원격지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889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차별화 전략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사업에 필요한 차별화 전략 및 추가제안의 적정성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차별화 전략 / [선택] 내부 LLM 연계 AI 조치지원 (SFR-008) / [선택] EOCS 굴착신고정보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75~77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4대 차별화 + [선택] LLM 조치지원 · EOCS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8226678"/>
            <a:ext cx="6332400" cy="73827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828067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요구사항 수용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8478678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과업지시서 요구사항 45개(선택 2개 포함) 전체를 수용하고, 요구사항별 해당 쪽은 요구사항 대비 수용여부 조견표에 표시함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제안사 일반현황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회사소개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제안목적 및 배경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기대효과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주요사업실적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회사소개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일반현황 ([서식1])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제안사의 일반현황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 중심 디지털 서비스 전문기업) 2010년 설립 이후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기획·디자인부터 플랫폼 개발·AI 구축·운영까지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온 S/W개발 및 디자인 전문기업임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02407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18280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3168407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492407"/>
          <a:ext cx="6260400" cy="388639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17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○○○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공급, 전문/종합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○○○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 ○○○ / FAX ○○○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회사설립년도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해당부문 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 ~ 2026년 10월 (16년 7개월)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소프트웨어사업자(컴퓨터관련서비스사업 1468), 직접생산확인(정보시스템개발서비스 8111159901), 중 · 소기업 · 소상공인 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임직원 129명 (2026년 7월 기준), 6개 실 · 22개 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【신용평가기관 · 평가일 · 유효기간 — 신용평가등급 확인서 기준】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75012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74868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 사업과 연결되는 핵심 역량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AI · 데이터 플랫폼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Agent · ML/DL 분석, 통합데이터플랫폼(AI-IDP) · 표준 아키텍처 구축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36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336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관제 · 운영 화면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96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대시보드 · 지도 · 업무관리 화면을 UX 설계부터 개발까지 직접 수행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04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504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공공 SW 사업 수행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64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공공기관 플랫폼 구축 · 유지보수, 보안 · 산출물 절차 이행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회사소개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주요 연혁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제안사의 일반현황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서비스 품질) iF · Good Design · ICT AWARD KOREA 등 국내외 수상과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한국디자인진흥원 우수디자인전문기업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선정으로 서비스 품질을 입증함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6172379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547785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연혁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ㆍ제안사 설립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ㆍ창업진흥원 혁신적 기업가상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 광고 대상 미디어 부문 은상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ㆍ칸느 광고제 미디어 부문 동상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골드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ㆍKorea Design Award 올해의 디자인 프로젝트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우수디자인(GD) 서비스/경험디자인 부문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ㆍ스마트 앱 어워드 KT 고객센터 커뮤니케이션 분야 최우수상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ㆍK-DESIGN AWARD "Everything Moments"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ㆍGood Design 코레일톡 플러스 모바일 앱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ㆍ중소벤처기업부 사내벤처육성기업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ㆍKIDP 한국디자인진흥원 "우수 디자인 전문 회사 선도 부문"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"모스랜드 헌터스"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디자인(GD)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ㆍi-AWARDS WEB AWARD KOREA (쇼핑몰 부문 통합대상)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ㆍHCI Korea 온라인 학술대회 우수논문 수상 (반려동물을 위한 AR카메라 Owao)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8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Website 부문 수상 (국립중앙박물관 교육플랫폼 '모두')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ㆍ서울시 청소년 문제해결 프로젝트 디자인 가치상 (DMI 미국 디자인경영연구소)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ㆍ한국무역협회 1백만불 수출의 탑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ㆍICT AWARD KOREA 디지털 서비스혁신 분야 GOLD PRIZE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2024 우수디자인전문기업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ㆍDesign Award 2025 Service 부문 수상 (Daishin Securities MTS)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회사소개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자본금 및 매출액 (최근 3년) · 신용평가등급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재무상태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(안정적 재무 기반) 최근 3년 매출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95억 ~ 111억 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유지하고, 부채비율을 104.7%에서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71.8%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낮춰 재무 건전성을 높임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자본금 및 매출액 (단위: 원)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7" cy="167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(임대료수입)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38,800,000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(용역매출)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11,077,940,671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11,116,740,671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478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463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재무 지표 (단위: 백만원)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4788000"/>
          <a:ext cx="6260397" cy="4068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매출원가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매출총이익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당기순이익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12,458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12,288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6,714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5,352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5,136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6,412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104.7%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유동비율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157.9%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149.7%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매출액순이익률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80800" y="892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공인회계사 확인 재무제표 별도 첨부 (부채·유동비율, 매출액순이익률은 표준 산식 적용)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00" y="910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기업신용평가등급 BBB0 — 신용평가등급 확인서 사본은 Ⅳ. 기타 증빙자료 및 정량제안서에 첨부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회사소개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사업수행 조직 ([서식2])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추진 조직 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(PM 단일 책임 · 하도급 없음) 사업PM이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모델 · 현장 단말 · 플랫폼 · 품질/보안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4개 팀을 직접 지휘하고, 공동수급 · 하도급 없이 당사 인력이 PoC 실증 결과까지 책임짐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32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AX혁신실 (추진총괄)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공급기술처 · 실증대상 지사 · 정보보안센터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총괄 · 검수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854800"/>
            <a:ext cx="4874400" cy="432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8548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총괄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9267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4000" y="29267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품질보증 담당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28548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단일 창구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351599"/>
            <a:ext cx="4874400" cy="432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351599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모델팀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4235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객체탐지 · 학습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73600" y="34235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· 라벨링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14400" y="3423599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마스킹 모델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1200" y="3351599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6800" y="3848400"/>
            <a:ext cx="4874400" cy="432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4800" y="38484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단말팀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32800" y="39203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단말 · GNSS · 통신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94000" y="39203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차량 설치 · 시험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81200" y="38484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ECR · SIR-002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4345200"/>
            <a:ext cx="4874400" cy="432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4800" y="43452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플랫폼팀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32800" y="44172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관제 · GIS 화면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673600" y="44172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수집 · 연계 · API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14400" y="44172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UX/UI 설계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81200" y="43452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SFR-003~009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6800" y="4842000"/>
            <a:ext cx="4874400" cy="432000"/>
          </a:xfrm>
          <a:prstGeom prst="rect">
            <a:avLst/>
          </a:prstGeom>
          <a:solidFill>
            <a:srgbClr val="5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4800" y="48420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· 보안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432800" y="49139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시험 · 성능 검증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94000" y="49139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개발보안 · 개인정보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81200" y="48420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TER · SER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16800" y="5410799"/>
          <a:ext cx="6260400" cy="325404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4225770"/>
                <a:gridCol w="78255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총괄 · 일정 · 위험 · 발주기관 보고, 제안 발표, 현장실증 총괄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모델팀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 정의 · 라벨링 기준, 1차(단말) · 2차(서버) 모델 학습 · 평가, 마스킹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7세트 구성 · 설치, GNSS 동기화, 통신 음영 재전송, 단말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통합관제 · GIS · 기준정보 · 계정권한, 기상 · 재난 · 유관기관 연계, 외부 제공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시험 · 성능 · 부하 시험, 시큐어코딩 · 취약점 · 개인정보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280800" y="873684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사업PM의 사업 수행경험은 [서식4](Ⅳ. 기타)에 기재 / 투입인력 성명 · 등급은 착수계 제출 시 확정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제안목적 및 배경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사업 배경과 현장 과제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제안의 목적 및 배경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(사람의 눈에 의존하는 순회점검) 굴착공사 등 타공사는 배관 사고의 주요 위험요인이지만 순회점검은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점검자의 육안 확인 · 사후 기록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 머물러, 영상 · 위치 · 배관정보를 묶어 즉시 판단 · 전파하는 체계가 필요함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77845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504160"/>
                <a:gridCol w="27389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(순회점검)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(AI 차량영상 안전관리)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발견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점검자 육안 확인, 운전 중 확인 한계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전방영상 AI가 굴착 · 중장비 · 지반이상 자동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후 배관도와 수작업 대조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 좌표 + 배관망 GIS로 배관 인접 여부 자동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사무실 복귀 후 보고 · 유선 연락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고위험 이벤트 3초 내 관제 갱신 · 모바일 알림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 ·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점검일지 위주, 영상 근거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대표이미지 · 처리이력 · 통계 · 오탐/정탐 판정 축적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 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효과를 수치로 보이기 어려움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정탐률 · 위치오차 · 처리시간 실증 데이터로 확산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55824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54384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 목적 (과업지시서 Ⅰ.3)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6867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867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자동 탐지체계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127045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차량영상 + AI로 가스배관 위해요인 자동 탐지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3600" y="6867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3600" y="6867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신속한 식별 · 전파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69600" y="7127045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영상 · 위치 · 배관정보 연계로 위험상황 즉시 공유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50400" y="6867846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50400" y="6867846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실증 · 확산 기반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6400" y="7127045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시범구간 실증으로 정확도 · 현장 적용성 검증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제안목적 및 배경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제안의 목적 · 범위 · 전제조건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제안의 목적 및 배경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(4대 범위를 하나의 PoC로)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차량영상 수집 → AI 위해요인 탐지 → GIS 통합관제 → 외부 제공 API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7개 실증구간 · 7대 차량에서 한 흐름으로 구축하고, 실증 결과를 전사 확대 판단 자료로 남김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SFR-003, SIR-004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8107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521475"/>
                <a:gridCol w="140859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요구사항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차량영상 수집체계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순회점검 차량 7대에 카메라 · AI 단말 · GNSS · LTE · 저장 · 전원 일체형 7세트 설치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ECR-001~003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AI 위해요인 자동탐지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1차 탐지 + 중앙 GPU 2차 분석, 위험판정 · 중복제거 · 마스킹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SFR-002, PER-002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위험정보 분석 · 통합관제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탐지현황 · GIS 공간관제 · 처리이력 · 통계 · 알림, 기상 · 재난 · 유관기관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SFR-003~007, 009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외부 제공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마스킹된 위험정보 표준 API · 명세서 · 연계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SIR-004, DAR-004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5861476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847076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제안 전제 (분석 · 설계 단계에서 발주기관과 확정)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617107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17107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실증구간 · 운행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6430276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7개 구간 위치 · 순회 일정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04400" y="617107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4400" y="617107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내부 자료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0400" y="6430276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배관망 GIS · 공사정보 제공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2000" y="617107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92000" y="617107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서버 자원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0" y="6430276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GPU 미탑재 가상서버 발주기관 제공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9600" y="6171076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9600" y="617107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연계 환경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5600" y="6430276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한국가스공사 · 내부 LLM 연계 정보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800" y="7647076"/>
            <a:ext cx="6332400" cy="9956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799" y="770107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범위 원칙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799" y="7899076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외부 클라우드 없이 발주기관 내부망(온프레미스)에 구축하고, GPU 연산자원 · 단말 · 회선 · 라이선스 등 구축과 실증에 필요한 일체를 사업 범위에 포함합니다 (ECR-001).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기대효과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정량 · 정성 기대효과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제안의 기대효과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(안전 · 업무 · 확산) 위해요인을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순회 중 자동으로 찾아 위치와 함께 즉시 전파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실증 데이터로 전사 확대의 비용 · 효과를 판단할 수 있게 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4800" y="241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 이상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4800" y="280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정탐률 실증 목표 (PER-002)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39600" y="235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396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7600" y="241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초 이내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47600" y="280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알림 생성 → 관제 갱신 · 알림 요청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62400" y="2358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624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70400" y="2412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 · 구간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0400" y="2808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차량 · 실증구간 동시 운영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316800" y="3348000"/>
          <a:ext cx="6260400" cy="4186192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3443220"/>
                <a:gridCol w="17998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기대효과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 · 중장비 등 타공사 징후를 순회 중 조기에 발견해 배관 손상 위험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이벤트 수 · 조치 완료율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화재 · 지반이상 · 재난 징후를 기상 · 재난정보와 함께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고위험 알림 · 확인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육안 확인 · 수기 대조를 영상 근거 · 위치 자동 판정으로 대체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정탐/오탐 판정 처리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처리상태 · 조치이력 · 통계를 한 화면에서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기한 준수율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5 · 10 · 20 · 30대 확대 시 자원 · 비용 근거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용량 산정서 · 실증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마스킹된 위험정보를 표준 API로 관계기관과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제공 건수 · 오류율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Rectangle 42"/>
          <p:cNvSpPr/>
          <p:nvPr/>
        </p:nvSpPr>
        <p:spPr>
          <a:xfrm>
            <a:off x="280800" y="7642195"/>
            <a:ext cx="6332400" cy="969875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6799" y="769619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시범사업의 성공 기준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6799" y="7894195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실증이 끝났을 때 '전사로 늘려도 되는가'를 숫자로 답할 수 있어야 합니다. 정탐률 · 위치오차 · 처리시간 · 오탐 유형을 같은 기준으로 기록해 확산 판단 자료로 제출합니다.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주요사업실적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AI · 데이터 플랫폼 관련 실적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주요사업실적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(AI · 데이터 · 구축) 최근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Agent · ML/DL 분석, 통합데이터플랫폼, 제조 DT · 표준 아키텍처 구축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사업을 수행하며 데이터 수집 · 분석 · 화면 · 연계를 한 조직에서 이행함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주요 사업실적 (단위 백만원, VAT 별도, 최근 계약일 순)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399" cy="4804296"/>
        </p:xfrm>
        <a:graphic>
          <a:graphicData uri="http://schemas.openxmlformats.org/drawingml/2006/table">
            <a:tbl>
              <a:tblPr firstRow="0" bandRow="0"/>
              <a:tblGrid>
                <a:gridCol w="391275"/>
                <a:gridCol w="2347650"/>
                <a:gridCol w="1252080"/>
                <a:gridCol w="626040"/>
                <a:gridCol w="939059"/>
                <a:gridCol w="70429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SK가스 26년 Trading AI 사업(PP)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2026.07.01 ~ 2026.07.24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32.325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표준 아키텍처 구축 Ph3 (수행 중)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2026.07.01 ~ 2026.12.31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1,107.180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서울아산병원 AI-IDP(통합데이터플랫폼) 구축사업 (수행 중)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2026.06.10 ~ 2027.11.27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883.225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용인 Y1(M17) 제조 DT 시스템 Ph1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2026.05.01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34.552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2026.04.08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129.385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M14 차세대 제조 시스템 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2026.03.16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32.853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표준 아키텍처 구축 Ph3 원가선투입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2026.01.19 ~ 2026.06.30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1,170.490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'25년 표준 아키텍처 구축 Ph2 (차세대)(DT)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2025.08.01 ~ 2025.12.31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1,999.758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746830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최근 계약일 순(최신 먼저) / 본 사업은 수행실적 계량평가 제외 대상(고시금액 미만) — 실적은 정성 참고 자료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76843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6843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7383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1343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분야 사업
(Agent · ML/DL · 데이터플랫폼)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76843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76843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77383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1343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제조 DT · 아키텍처 구축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76843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76843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77383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5,390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백만원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1343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실적 합계 (8건)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주요사업실적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제안사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4.1.2 국내 적용 사례와 최신 기술 적용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주요사업실적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방식 + 최신 기술) 도로 · 시설 관리 분야에서 확산 중인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차량 탑재 카메라 + 엣지 AI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방식을 따르되, 위치 추정 · 배관 GIS 결합 · 개인정보 마스킹을 가스배관 업무에 맞게 더함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SFR-001, SFR-002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496717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2504160"/>
                <a:gridCol w="266067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 적용 동향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619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영상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도로 관리 분야에서 순찰 차량 카메라로 포트홀 · 도로 파손을 자동 탐지하는 방식 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순회점검 차량 7대 전방영상 → 위해요인 자동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엣지 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단말에서 1차 분석 후 이벤트만 전송해 통신비 · 지연 절감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1차 탐지 + 중앙 GPU 2차 분석 (PER-002)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공간정보 결합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위치를 시설물 GIS와 겹쳐 관리 대상 여부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배관망 GIS · 공사정보 결합 위험판정 (SFR-002)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이동형 영상정보처리기기 규정 강화, 얼굴 · 번호판 비식별 일반화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전송 전 마스킹 + 서버 재검증 (SER-001)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597711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596271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최신 기술 적용 방안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628671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2867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실시간 객체탐지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654591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Apache-2.0 라이선스 YOLOX · RT-DETR 계열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04400" y="628671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4400" y="62867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경량화 추론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0400" y="654591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ONNX · TensorRT FP16 엣지 최적화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2000" y="628671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92000" y="62867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위치 추정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0" y="654591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GNSS 10Hz · PPS 시각동기 · 카메라 기하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9600" y="628671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9600" y="62867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생성형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5600" y="654591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[선택] 내부 LLM 조치지원 (근거 표시)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800" y="7762719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799" y="781671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실증 중심 적용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799" y="8014719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새로운 기술은 실증구간 데이터로 효과가 확인된 경우에만 운영 모델에 반영하고, 모든 모델은 버전 · 성능 이력으로 관리합니다 (QUR-002).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제안시스템 구축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제안시스템 구성도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제안시스템 세부사항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납품 및 설치 방안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사업의 목표 · 특성 이해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이해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(PoC = 검증 가능한 결과) 본 사업은 기능을 만드는 데서 끝나지 않고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'실제 순회 환경에서 AI가 위해요인을 얼마나 정확히, 어디서 찾는가'를 숫자로 검증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하는 실증 사업임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SFR-002, PER-002, TER-004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26524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425905"/>
                <a:gridCol w="258241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특성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방향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이동체 영상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속도 · 진동 · 조도 · 날씨가 계속 바뀜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WDR · 저조도 카메라, 조건별 평가데이터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위치가 핵심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위치가 틀리면 배관 인접 판정이 무의미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 · 영상 동기화, 위치오차 목표 · 현장시험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음영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산간 · 외곽 구간 LTE 미수신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저장 · 순서 유지 자동 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보행자 얼굴 · 번호판이 함께 촬영됨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전 마스킹, 원본 접근 · 보관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내부망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클라우드 불허 · 온프레미스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가상서버 + GPU 워크스테이션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불허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 결과 책임 일원화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직접 수행, 장비는 물품 구매 · 기술지원 확약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731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6731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6785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7181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요구사항 전체 수용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6731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6731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6785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 범위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7181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수집 · 탐지 · 관제 · 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673124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6731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678524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세트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718124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현장 단말 납품 · 설치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0800" y="7721244"/>
            <a:ext cx="6332400" cy="96987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799" y="777524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사업 이해의 핵심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99" y="7973244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검수기준은 기능 목록이 아니라 분석 · 설계 단계에서 확정하는 탐지성능 목표값입니다. 그래서 착수 첫 달에 탐지대상 정의 · 평가데이터 · 측정방법부터 발주기관과 합의합니다.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요구사항 분석 및 수용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이해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(45개 요구사항 전부 수용) 11개 분류 · 45개 요구사항을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필수 43개 · 선택 2개(SFR-008 · SIR-005)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나누고, 선택 요구사항까지 제안 범위에 넣어 요구사항 ID별 시험항목으로 검수함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SFR-001, PER-001, TER-002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29864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47785"/>
                <a:gridCol w="2347650"/>
                <a:gridCol w="219114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장비구성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일체형 단말 7세트, 온프레미스, GPU 사업자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BOM · 확장 용량 산정 (Ⅱ.2.1)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탐지 · 통합관제 · GIS · 연계 · 계정권한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9개 기능 모듈 (Ⅱ.2.2)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정탐률 80% · 화면 3/5초 · 알림 3초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목표 · 측정방법 (Ⅱ.2.5)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REST/MQTT 단말 연계 · 외부 제공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 정의서 (Ⅱ.2.3)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· 현장 · 성능 · 부하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ID별 시험 (Ⅱ.3.2)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·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품질 이력, 데이터 표준 · 개방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표준 사전 (Ⅱ.2.4 · 3.3)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· 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 · 암호화 · 시큐어코딩, 저작권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설계 · 점검 (Ⅱ.2.6)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·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 · 보고, 하자보수 ·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및 지원 (Ⅲ)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7764642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781864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요구사항 추적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8016642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 ID → 설계서 → 프로그램 → 시험항목을 하나의 추적표로 연결해, 검수 때 45개 요구사항의 충족 근거를 바로 확인할 수 있게 합니다 (TER-002).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비전 · 목표 · 추진전략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추진전략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(비전: 달리는 순회차량이 곧 안전 감시망)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현장 강건성 · 위치 정확성 · 실증 투명성 · 확산 준비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4대 전략으로 2027년 8월까지 PoC 목표를 달성함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576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36684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달리는 순회차량이 곧 가스배관 안전 감시망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2998800"/>
            <a:ext cx="4874400" cy="57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29988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32800" y="3070800"/>
            <a:ext cx="1186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정탐률 80% 이상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73600" y="3070800"/>
            <a:ext cx="1186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알림 3초 이내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14400" y="3070800"/>
            <a:ext cx="11868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7개 구간 실증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81200" y="2998800"/>
            <a:ext cx="1296000" cy="57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PoC 목표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3639600"/>
            <a:ext cx="4874400" cy="57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36396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32800" y="3711599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조건별 데이터 · 모델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4000" y="3711599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음영 재전송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3639600"/>
            <a:ext cx="1296000" cy="57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현장 강건성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4280400"/>
            <a:ext cx="4874400" cy="57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42804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4352400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시각동기 · 위치 추정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94000" y="4352400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배관 GIS 판정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4280400"/>
            <a:ext cx="1296000" cy="57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위치 정확성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921200"/>
            <a:ext cx="4874400" cy="576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9212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4993200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목표값 사전 합의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94000" y="4993200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판정 · 이력 공개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81200" y="4921200"/>
            <a:ext cx="1296000" cy="57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실증 투명성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5562000"/>
            <a:ext cx="4874400" cy="576000"/>
          </a:xfrm>
          <a:prstGeom prst="rect">
            <a:avLst/>
          </a:prstGeom>
          <a:solidFill>
            <a:srgbClr val="5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4800" y="5562000"/>
            <a:ext cx="1044000" cy="57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32800" y="5633999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표준 API · 데이터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94000" y="5633999"/>
            <a:ext cx="1807199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5~30대 용량 산정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81200" y="5562000"/>
            <a:ext cx="1296000" cy="57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확산 준비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6800" y="62748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6800" y="62748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4800" y="63287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4800" y="67248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탐지대상 · 평가기준 합의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39600" y="62748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439600" y="62748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47600" y="63287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47600" y="67248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현장실증 (1차 · 2차)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62400" y="62748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62400" y="62748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70400" y="63287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2027.8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70400" y="67248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실증 · 검수 완료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0800" y="7264800"/>
            <a:ext cx="6332400" cy="72111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6799" y="73187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일정 · 현장 여건을 반영한 전략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6799" y="7516800"/>
            <a:ext cx="6080400" cy="415116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겨울(1~2월)에 장비 설치와 야간 · 저조도 데이터를 먼저 확보하고, 우천기(6~7월)에 1 · 2차 실증을 배치해 실제 악조건에서 성능을 검증합니다.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16800" y="8093916"/>
            <a:ext cx="14976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16800" y="809391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현장 강건성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2800" y="8353116"/>
            <a:ext cx="14256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악조건 데이터 · 음영 재전송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04400" y="8093916"/>
            <a:ext cx="14976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904400" y="809391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위치 정확성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940400" y="8353116"/>
            <a:ext cx="14256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시각동기 · 배관 판정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92000" y="8093916"/>
            <a:ext cx="14976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492000" y="809391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실증 투명성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28000" y="8353116"/>
            <a:ext cx="14256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사전 합의 · 판정 공개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79600" y="8093916"/>
            <a:ext cx="14976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079600" y="8093916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확산 준비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15600" y="8353116"/>
            <a:ext cx="14256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표준 API · 용량 산정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1.2.2 4대 추진전략 세부 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추진전략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(전략 → 실행 → 지표) 전략마다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실행 과제 · 산출물 · 측정 지표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정해 월간보고에서 이행 여부를 확인함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182640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660670"/>
                <a:gridCol w="1330335"/>
                <a:gridCol w="125208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강건성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· 야간 · 역광 · 우천 · 가림 조건별 학습 · 평가데이터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구축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재현율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음영 구간 단말 저장 · 순서 유지 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재전송 시험결과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· 중복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정확성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 PPS 시각동기, 카메라 설치정보 기반 대상 위치 추정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추정 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 (m)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배관망 GIS · 공사정보 결합 위험판정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위험판정 기준서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일치율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 투명성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목표값 · 평가데이터 · 측정방법 사전 합의, 정탐/오탐 판정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모델 평가계획서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달성률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확산 준비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API · 데이터 표준, 차량 5~30대 자원 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용량 산정서 · API 명세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 항목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31680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합의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탐지대상 · 목표값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71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조건별 데이터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71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1차 · 2차 모델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71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7개 구간 운행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7190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6648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6648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· 개선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6936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재학습 · 재시험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7944642"/>
            <a:ext cx="6332400" cy="772583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799" y="799864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실증의 공정성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799" y="8196642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평가데이터는 학습에 쓰지 않은 별도 주행분으로 만들고, 동일 영상 · 유사 프레임이 섞이지 않도록 주행 일자 단위로 분리합니다.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5단계 PoC 수행 방법론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사업추진 방법론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(5단계 PoC 방법론) 단계마다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수행방법 · 검증방법 · 산출물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정하고, 성능검증에서 목표에 못 미친 유형은 개선 단계에서 재학습 후 같은 기준으로 재시험함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QUR-002, TER-004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데이터 확보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실증구간 주행 영상 수집 (주 · 야간 · 우천)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공개 데이터 · 발주기관 자료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데이터 구축 가이드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학습 · 분석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라벨링 기준 · 교차검수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1차(단말) · 2차(서버) 모델 학습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모델 품질 이력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현장실증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7대 차량 실제 순회 운행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단말 · 서버 · 관제 · 알림 종합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현장 실증시험 결과서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성능검증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별도 평가데이터 정밀도 · 재현율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위치오차 · 처리시간 측정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모델 정확도 평가결과서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310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310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382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오탐 · 미탐 유형 분석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재학습 · 임계값 조정 · 재시험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310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성능개선 결과서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6102000"/>
          <a:ext cx="6260400" cy="254361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130200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통과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탐지대상별 수량 · 조건 분포 점검, 라벨 표본 교차검수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 오류율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【5】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검증데이터로 클래스별 정밀도 · 재현율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 투입 기준 충족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현장실증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실주행 이벤트 정탐/오탐 판정, 통신 · 알림 · 표출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종합 시나리오 통과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목표값 대비 측정 (TER-004)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목표값 = 검수기준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1.4.1 목표시스템 전체 구성도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1.4 목표시스템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(현장 → 내부망 → 관제)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현장 단말(1차 탐지 · 마스킹) → 암호화 LTE → 내부망 수집 · 2차 분석 → 통합관제 · 알림 · 외부 API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의 5계층으로 온프레미스에 구축함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SFR-001, SIR-002, SIR-003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522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단말 (7세트)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전방카메라 FHD 30fps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3600" y="2430000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단말 1차 탐지 · 마스킹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4400" y="2430000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GNSS · LTE · 저장 · 전원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52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ECR-002 · 003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944800"/>
            <a:ext cx="4874400" cy="522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9448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전송 구간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30167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LTE (5G 선택)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3600" y="30167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IPSec VPN / TLS · 상호인증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4400" y="30167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음영 저장 · 재전송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2944800"/>
            <a:ext cx="1296000" cy="52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SIR-002 · SER-001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531599"/>
            <a:ext cx="4874400" cy="522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531599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 · 분석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6035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수집 게이트웨이 (MQTT · REST)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3600" y="36035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GPU 2차 분석 · 위험판정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14400" y="36035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검증 · 저장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3531599"/>
            <a:ext cx="1296000" cy="52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SFR-002 · PER-005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118400"/>
            <a:ext cx="4874400" cy="522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1184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통합관제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41903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대시보드 · 탐지현황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73600" y="41903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GIS 공간관제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14400" y="41903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처리 · 조치 · 통계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81200" y="4118400"/>
            <a:ext cx="1296000" cy="52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SFR-003~007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4705200"/>
            <a:ext cx="4874400" cy="522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47052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알림 · 연계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32800" y="4777200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카카오톡 · 문자 알림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73600" y="4777200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기상 · 산불 · 재난 OpenAPI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14400" y="4777200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한국가스공사 분석자료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81200" y="4705200"/>
            <a:ext cx="1296000" cy="52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SFR-005 · 009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6800" y="5292000"/>
            <a:ext cx="4874400" cy="522000"/>
          </a:xfrm>
          <a:prstGeom prst="rect">
            <a:avLst/>
          </a:prstGeom>
          <a:solidFill>
            <a:srgbClr val="5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4800" y="5292000"/>
            <a:ext cx="1044000" cy="52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외부 제공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432800" y="53639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위험정보 표준 API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73600" y="53639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공공데이터 개방 지원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14400" y="5363999"/>
            <a:ext cx="1186800" cy="37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[선택] EOCS · 내부 LLM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81200" y="5292000"/>
            <a:ext cx="1296000" cy="52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SIR-004 · DAR-004</a:t>
            </a:r>
          </a:p>
        </p:txBody>
      </p:sp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316800" y="5950799"/>
          <a:ext cx="6260400" cy="2484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2738925"/>
                <a:gridCol w="195637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 7세트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순회점검 차량 7대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(납품 · 설치)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 1대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전산실 (내부망)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(PoC 기간 제공)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가상서버 (GPU 미탑재)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내부망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Rectangle 6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1.4.2 데이터 처리 흐름 (단말 1차 · 서버 2차)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1.4 목표시스템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(이벤트 중심 전송) 원본 영상은 단말에 저장하고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탐지 이벤트 · 대표이미지 · 위치만 우선 전송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통신비와 지연을 줄이며, 서버는 GPU 2차 분석으로 오탐을 걸러 최종 이벤트를 만듦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SFR-002, PER-002, PER-005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촬영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FHD 30fps · GNSS 동기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1차 탐지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단말 경량 모델 15fps+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마스킹 · 전송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얼굴 · 번호판 블러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 분석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서버 정밀 모델 · 판정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관제 · 알림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3초 내 갱신 · 요청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654000"/>
          <a:ext cx="6260400" cy="4865696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895435"/>
                <a:gridCol w="1017315"/>
                <a:gridCol w="133033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경량 객체탐지(YOLOX 계열 INT8/FP16), 추적으로 연속 프레임 중복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 15fps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얼굴 · 번호판 탐지 → 블러, 원본은 단말 암호화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전 100%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 · 신뢰도 · 좌표 · 시각 · 대표이미지 · 단말ID (MQTT QoS1)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→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5초 이내 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1초 주기 궤적 · 속도 · 방향, 이벤트보다 낮은 우선순위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→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1초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 모델(RT-DETR 계열) 재판정, 위치 보정 · 반복탐지 병합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이벤트당 1초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 이격거리 · 공사 등록 · 기상 · 재난 정보 결합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 기반 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표출 ·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갱신(WebSocket), 카카오톡 · 문자 알림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 (PER-003)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80800" y="859169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필요 시 이벤트 전후 영상 구간(기본 10초)만 선택 전송 — 원본 영상 상시 전송은 하지 않음 (PER-002)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1.5.1 AI 객체탐지 모델 구성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1.5 적용기술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(2단 모델 · 상용 이용 가능 라이선스) 단말에는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경량 실시간 모델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서버에는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정밀 재판정 모델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두고, 모두 Apache-2.0 라이선스 모델에서 출발해 발주기관이 사업 후에도 자유롭게 운영 · 보정할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SFR-001, SFR-002, COR-001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537257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543287"/>
                <a:gridCol w="2543287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모델 (단말)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모델 (서버)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YOLOX 계열 1단계 탐지기 (경량)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RT-DETR 계열 트랜스포머 탐지기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Apache-2.0 (상업 이용 · 수정 · 재배포 가능)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Apache-2.0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 프레임 → 1280px 리사이즈, 15fps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이벤트 대표이미지 · 전후 프레임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클래스 · 신뢰도 · 박스 · 추적ID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재판정 클래스 · 신뢰도 · 위험 세부유형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TensorRT FP16/INT8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 TensorRT FP16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재현율 우선 (낮게) — 놓치지 않기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 우선 (높게) — 오탐 거르기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사전학습 가중치 → 실증구간 데이터 미세조정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· 클래스별 가중 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003262"/>
          <a:ext cx="6260400" cy="2033996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446053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 (SFR-002)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클래스 (분석 · 설계 단계 확정)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 · 중장비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굴착기 · 백호 · 천공기 · 덤프 · 크레인, 굴착 흔적 · 가설 펜스 · 안전 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시설물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 표지판 · 표지주 훼손 · 전도 · 매몰 · 가림, 누락 의심 (이력 비교)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지반 · 재난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지반 침하 · 지표 균열 · 토사 유실 · 사면 붕괴, 침수 · 적설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불꽃 · 연기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8145262"/>
            <a:ext cx="6332400" cy="73827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819926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모델 정보 공개 (SFR-001)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397262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 구조 · 버전 · 입력/출력 · 학습방법 · 추론환경 · 탐지 임계값 · 적용 환경과 제한사항을 모델 명세서로 제출하고, 사용한 모델 · 데이터의 이용권 근거를 함께 제출합니다.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1.5.2 영상 · 위치 동기화와 탐지대상 위치 추정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1.5 적용기술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(차량 위치 ≠ 대상 위치) 차량 GNSS 좌표와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탐지대상의 추정 위치를 구분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관리하고, PPS 시각동기 · 진행방향 · 카메라 설치정보로 대상 위치를 계산해 배관 GIS와 비교함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SFR-001, SFR-002, ECR-002, DAR-001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시각 동기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GNSS PPS로 단말 시계 동기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프레임마다 GNSS 시각 기록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동기 오차 </a:t>
            </a:r>
            <a:r>
              <a:rPr sz="10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【50ms】</a:t>
            </a: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 이내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150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150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차량 위치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221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5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GNSS 10Hz 위도 · 경도 · 속도 · 방향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5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프레임 시각 보간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150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차량 좌표 (WGS84)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941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941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대상 위치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4013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405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박스 하단 · 카메라 높이 · 화각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405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진행방향 기준 거리 · 방위 계산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941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대상 추정 좌표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733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733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보정 · 병합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805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84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반복 주행 · 연속 프레임 군집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84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도로 링크 기준 보정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733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대표 위치 1건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525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525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배관 판정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597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633999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배관망 GIS 최단거리 계산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633999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인접 기준 거리 (협의)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525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배관 인접 여부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6371999"/>
          <a:ext cx="6260400" cy="225852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1956375"/>
                <a:gridCol w="273892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위치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수평 2.5m 이내 (CEP50, 개활지)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기준점 정지 · 주행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 위치오차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측정건의 90%가 10m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측량 좌표와 추정 좌표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· 위치 동기 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【50ms】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PPS · 프레임 타임스탬프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280800" y="870252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목표값은 제안값이며 분석 · 설계 단계에서 측정방법과 함께 확정, 확정값을 검수기준으로 적용 (TER-004)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제안시스템 구성도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1.5.3 개인영상정보 마스킹 기술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1.5 적용기술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(원본이 밖으로 나가지 않게) 얼굴 · 차량번호판을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단말에서 전송 전에 블러 처리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서버가 한 번 더 검사해, 관제 화면 · 외부 제공 · 공공 개방 어디에도 미처리 영상이 나가지 않게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SER-001, SFR-002, SIR-004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얼굴 · 번호판 모델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블러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단말 전송 전 처리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재검사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서버 2차 마스킹 점검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제공 판정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미처리 의심 → 제외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953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처리 이력 · 결과서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761999"/>
          <a:ext cx="6260400" cy="389474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얼굴 · 국내 번호판 탐지 모델 (Apache-2.0 계열, 국내 번호판 데이터로 보정)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단말: 전송 이미지 · 영상 구간 블러 / 서버: 저장 전 재검사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원본은 단말 암호화 저장, 업무상 필요 시 발주기관 승인 후 접근권한 · 보관기간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정확도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얼굴 · 번호판 마스킹 재현율 95% 이상 (검증 데이터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제공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포함 여부 재점검, 미처리 · 의심 데이터는 제공 대상에서 제외 (SIR-004)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316800" y="77647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7647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8187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95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 이상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82147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마스킹 재현율 목표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39600" y="77647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39600" y="77647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47600" y="78187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47600" y="82147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단말 + 서버 이중 처리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62400" y="77647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62400" y="77647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70400" y="78187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70400" y="82147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미처리 외부 제공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현장 단말 구성 (차량 1대당 일체형, 7세트)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구매규격 분석 및 도입 장비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(구매규격 → 제안 사양) 과업지시서 ECR-002의 규격을 항목별로 분석해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카메라 · AI 단말 · GNSS · 통신 · 저장 · 전원 · 거치대 일체형 7세트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제안하고, 제조사 · 모델은 납품 전 승인받음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ECR-002, SIR-002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201722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2112885"/>
                <a:gridCol w="2582415"/>
                <a:gridCol w="62604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규격 (ECR-002)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사양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전방카메라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 30fps, 저조도 · WDR, 진동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 1920×1080 30fps, WDR 120dB급 · 저조도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【0.01lux】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방진 마운트, H.265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단말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1차 분석, 개방형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임베디드 GPU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【40 TOPS 이상】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TensorRT, RTSP 입력, 팬리스 · 차량용 온도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 수신기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 · 위경도 · 방향 · 속도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다중위성(GPS · GLONASS · Galileo · BeiDou), 10Hz, PPS 출력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LTE 또는 5G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LTE Cat.4 이상 차량용 라우터 (5G 선택), 외부 안테나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로컬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구간 저장 · 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산업용 SSD 1TB, 하드웨어 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전원장치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12V · 24V, 과전압 · 역전압 · 서지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광역 입력 DC-DC, 퓨즈, ACC 연동 ON/OFF, 저전압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거치대 · 케이블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무손상 탈부착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흡착 · 클램프형 거치대, 차량용 배선 · 몰딩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63172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제조사 · 제품명 · 모델명 · 라이선스 · 기술지원 기간은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【납품 전 승인 목록(BOM)】</a:t>
            </a:r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으로 확정 — 사업기간 · 하자기간 내 단종(EOM) · 지원종료(EOS) 예정 제품 제외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847725"/>
          <a:ext cx="6260400" cy="1982808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2347650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 용량 산정 (영상 방식)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비트레이트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 30fps H.265 약 4Mbps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시간당 약 1.8GB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저장 가능시간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SSD 1TB 중 900GB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500시간 (순환 저장)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임시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· 위치 데이터 (이벤트당 약 300KB)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300만 건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중앙 시스템 구성 · 소프트웨어 · 라이선스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구매규격 분석 및 도입 장비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(온프레미스 · 오픈소스 중심) GPU 연산은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당사가 워크스테이션으로 제공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가상서버 4대 위에 상용 라이선스 비용이 없는 오픈소스 스택을 올려 사업 후 갱신 비용 부담을 줄임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PER-001, COR-001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518563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565100"/>
                <a:gridCol w="2504160"/>
                <a:gridCol w="101731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사양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분석 · 모델 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</a:t>
                      </a: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【48GB급】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1장, CPU </a:t>
                      </a: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【16코어】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RAM 128GB, NVMe 4TB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가상서버 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WEB/WAS · 관제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8vCPU · 16GB · 200GB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가상서버 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게이트웨이 ·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8vCPU · 16GB · 200GB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가상서버 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(공간정보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8vCPU · 32GB · 1TB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가상서버 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이미지 · 영상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4vCPU · 8GB · 4TB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984567"/>
          <a:ext cx="6260400" cy="3003130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2582415"/>
                <a:gridCol w="195637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Spring Boot · React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WAS ·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Apache-2.0 · MIT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PostgreSQL · PostGIS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DB · 공간정보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PostgreSQL · GPL-2.0 (서버 사용)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Eclipse Mosquitto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MQTT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EPL-2.0 / EDL-1.0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OpenLayers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GIS 지도 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BSD-2-Clause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Prometheus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· 서비스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Apache-2.0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PyTorch · ONNX Runtime · TensorRT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학습 · 추론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BSD · MIT · NVIDIA 라이선스(무상)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8095701"/>
            <a:ext cx="6332400" cy="91840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8149701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GPU 자원 조달 방식 (ECR-001)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347701"/>
            <a:ext cx="6080400" cy="61240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GPU 워크스테이션은 PoC 기간 동안 당사가 제공해 설치 · 운영하고, 검수 후에는 발주기관과 협의해 이관 또는 회수합니다. 회수하더라도 단말 1차 탐지 · 관제 · 알림은 계속 동작하도록 구성합니다.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2.1.3 통신망 · 전원 · 이동체 시공 원칙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구매규격 분석 및 도입 장비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(사전 조사 → 협의 → 무손상 시공) 실증구간의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이동통신 품질을 먼저 조사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통신사를 정하고, 차량 훼손 없는 탈부착 시공과 시동 연동 전원으로 운전자 조작 없이 동작하게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ECR-003, PER-005, SER-001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38344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품질 조사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후 7개 실증구간을 시험 단말로 주행해 통신사별 수신 세기 · 음영 위치 측정 → 결과 보고 · 통신망 협의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↔ 서버 IPSec VPN 또는 TLS 1.2 이상, 단말 인증서 기반 상호인증, 인증정보는 단말 보안영역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단절 시 단말 저장, 복구 시 발생시각 순서대로 자동 재전송 · 중복 수신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 · 검수 완료까지 개통비 · 통신비 당사 부담, 단말당 예상 사용량 월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【3GB】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요금제 · 약정 · 해지비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회선 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후 발주기관 명의 이전 또는 신규 회선 전환 절차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무손상 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운전 시야 · 에어백 · 운전자보조장치 회피 위치, 탈부착형 우선, 천공 · 배선 변경은 사전 서면승인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12V · 24V 광역 입력, 퓨즈 · 서지 보호, 시동 연동 자동 ON/OFF · 안전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방전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전압 이하 자동 차단, 최대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 · 평균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 · 대기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50435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50435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시공 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657635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61235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차량별 설치 위치 · 배선 계획서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61235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발주기관 승인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650435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작업계획 승인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718835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718835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726035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729635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지정 장소 설치 · 사진 기록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729635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시동 연동 · 화각 점검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718835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설치확인서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87235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87235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시공 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94435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98035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주행 시험 · 영상 · 위치 확인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98035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원상복구 기준 기록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87235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시험결과서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2.1.4 확장 구조와 차량 확대 시 자원 산정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구매규격 분석 및 도입 장비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(확산 판단 근거) 현재 7대 구성의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최대 처리용량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과 차량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5 · 10 · 20 · 30대 확대 시 추가 자원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미리 산정해, 시범사업 후 확대 예산을 바로 세울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PER-001, PER-002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55305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860805"/>
                <a:gridCol w="1017315"/>
                <a:gridCol w="860805"/>
                <a:gridCol w="1017315"/>
                <a:gridCol w="109557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7대 (본 사업)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(2차 분석)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 · 수집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1대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1대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1대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2대 (이중화)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2대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8vCPU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8vCPU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8vCPU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16vCPU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16vCPU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이미지 · 영상 저장 (3년)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12TB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라이선스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없음 (오픈소스)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98305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산정 기준: 차량당 하루 이벤트 300건 · 대표이미지 300KB, 선택 영상 구간 하루 50건 · 5MB, 연 250일 운행 — 실증 결과로 재산정해 완료보고서에 제출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0800" y="7199056"/>
            <a:ext cx="6332400" cy="96987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725305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수평 확장 구조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7451056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수집 게이트웨이와 2차 분석 작업자를 서버 · GPU 추가만으로 늘릴 수 있게 메시지 큐 기반으로 분리하고, 현재 구성의 최대 처리용량은 부하시험(TER-005)으로 확인해 제시합니다.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8276931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827693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4800" y="8330931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4800" y="8726931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구조 변경 없이 확장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01000" y="8276931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01000" y="827693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09000" y="8330931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9000" y="8726931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추가 SW 라이선스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공통 요구사항 (환경 · 지도 · 좌표 · 모델 · 규격)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(공통 기준 먼저 확정) 브라우저 · 지도 · 좌표체계 · 모델 정보 · 연계 규격 · 지식재산권을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개발표준정의서에 먼저 정하고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모든 기능에 같은 기준을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347656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64bit 업무용 PC, 플러그인 없이 최신 안정 버전 Edge · Chrome 지원, 웹표준 · 반응형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웹표준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시큐어코딩 적용, 구축 완료 전 보안취약점 진단 · 조치 (SER-002 · 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지도 · 공간정보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제공 · 승인 지도와 기존 배관망 GIS 우선 활용, 외부 지도 사용 시 라이선스 · 외부전송 · 보안대책 사전승인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좌표체계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교환 기준 WGS84(EPSG:4326, 경도 · 위도 순), 배관망 원본 좌표계 유지 · 변환기준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구조 · 버전 · 입출력 · 학습방법 · 추론환경 · 임계값 · 제한사항 명세, 학습 · 검증 · 시험 데이터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 저감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임계값 조정 · 추적 기반 중복 제거 · 배경 · 유사 객체 보정, 결과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규격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이벤트ID · 탐지시각 · 위험유형 · 신뢰도 · 좌표 · 좌표체계 · 이미지 · 단말ID · 처리상태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공통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버전관리 · 시스템 인증 · 오류응답 · 재전송 · 멱등키 중복 방지, API 명세서 · 데이터 정의서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지식재산권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 · 오픈소스 · 제3자 모델 · SW 명칭과 라이선스 공개, 사업 후 운영 · 유지 · 보정 권리 보장 (COR-001)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8136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8136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786765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2636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지원 브라우저 (Edge · Chrome)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78136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78136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786765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2636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전용 플러그인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781365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78136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786765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EPSG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:4326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26365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위치 교환 기준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2.2.2 영상기반 AI 통합 탐지 — 탐지 · 판정 · 마스킹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(탐지 → 판정 → 전달) 4개 탐지대상을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위험수준까지 분류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배관 인접 여부 · 공사 등록 여부를 결합해 위험을 판정한 뒤 마스킹된 이벤트로 관제와 GIS에 전달함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86634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· 이미지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→ 단말 RTSP(개방형), 이미지 방식은 JPEG · 표준 포맷, GNSS 시각 · 좌표 결합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1차 탐지 → 서버 2차 재판정 (처리 위치 · 방식은 Ⅱ.1.4.2)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굴착장비 · 굴착현장 / 시설물 훼손 · 전도 · 매몰 · 가림 · 누락 의심 / 지반 이상 · 재난 징후 / 화재 · 연기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정의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· 설계 단계에서 대상별 정의 · 포함/제외 기준 · 위험단계를 발주기관과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위치 × 배관망 GIS 이격거리 × 공사정보 등록 여부 → 위험수준 (상 · 중 · 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의심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미검출만으로 확정하지 않고 기존 시설 위치 · 촬영경로 · 이전 탐지이력 비교로 '누락 의심'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위치보정 · 중복제거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촬영시각 · GNSS · 진행방향 · 공간정보로 위치 보정, 연속 프레임 · 반복 주행 동일 대상 병합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얼굴 · 번호판 자동 탐지 블러, 화면 · 관제 연계 · 이벤트 전송 모두 보호조치 영상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탐지유형 · 시각 · 신뢰도 · 위치 · 대표이미지 · 위험수준 → 통합관제 · GIS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고도화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 데이터로 재학습, 모델 버전관리 · 이전 정상버전 즉시 복구(롤백)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7332350"/>
          <a:ext cx="6260400" cy="1619997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위험수준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기준 (예시 — 분석 · 설계 단계 확정)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【10m】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 굴착장비 · 굴착 흔적 + 공사정보 미등록, 화재 · 연기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【10m】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 공사정보 등록 굴착 · 중장비, 지반 이상 · 시설물 훼손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 ~ 30m】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굴착 · 중장비, 누락 의심, 기타 확인 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2.2.3 AI 기반 통합 관제 플랫폼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(첫 화면에서 오늘의 위험을) 메인 대시보드에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금일 탐지 · 미확인 · 고위험 · 조치상태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요약하고, 탐지현황 → 이미지 확인 → 정탐/오탐 판정 → 조치이력까지 한 흐름으로 처리함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86416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메인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금일 탐지 · 미확인 · 고위험 · 조치상태별 건수, 7개 실증구간 GIS 위치 · 처리상태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·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인가 사용자 로그인, 관리자 · 관제담당자 · 현장담당자별 메뉴 · 데이터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 · 실증구간 · 위해유형 · 위험수준 · 처리상태 검색, 상세 (시각 · 위치 · 신뢰도 · 대표이미지)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이미지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확대 · 축소, AI 탐지영역 박스 표시, 일반 사용자는 마스킹 이미지만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탐지결과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정탐 · 오탐 판정, 유형 재분류 · 검토의견 → 모델 성능평가 · 재학습 자료로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고위험 이벤트 화면 알림 · 미확인 표시, 모바일 알림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· 조치이력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→ 확인 → 조치 중 → 조치 완료, 담당자 · 조치내용 · 일시 · 현장사진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· 자료제공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 · 구간 · 유형 · 위험 · 처리 · 정탐/오탐 통계 (표 · 차트), 엑셀 · CSV 내려받기 (권한자)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330175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330175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6402175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438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2차 분석 확정 이벤트 수신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438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GIS · 공사정보 결합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6330175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신규 이벤트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7014175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7014175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7086175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7122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관제담당 이미지 확인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7122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정탐 · 오탐 판정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7014175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접수 · 확인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698175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698175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770175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806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담당자 지정 · 모바일 알림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806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현장사진 · 조치내용 등록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698175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 완료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8382175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8382175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환류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8454175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8490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판정 결과 → 학습데이터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8490175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통계 · 월간보고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8382175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모델 개선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2.2.4 GIS 기반 공간 관제 및 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(별도 GIS 없이 관제 안에서) 통합관제 플랫폼 안에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배관망 · 실증구간 · 탐지 이벤트 · 기상/재난 레이어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겹쳐 보여 주고, 좌표체계를 맞춰 정확한 위치에 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SFR-004, DAR-001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0161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GIS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OpenLayers 기반 지도 컴포넌트를 관제 플랫폼에 내장 (별도 GIS 시스템 미구축)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레이어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배관망 공간정보 · 실증구간 · 탐지 이벤트 · 차량 궤적 · 기상/산불/재난 영향구역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레이어 제어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레이어 ON/OFF · 범례 · 투명도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위해유형은 기호, 위험수준은 색상(적 · 주 · 황), 처리상태는 테두리로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상세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지도 이벤트 선택 → 탐지시각 · 유형 · 위험 · 이미지 · 처리상태 팝업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 · 구간 · 유형 · 위험 · 상태 조건 결과를 지도에 표시 · 범위 자동 이동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좌표 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배관망 원본 좌표계 ↔ WGS84 변환 (EPSG 코드 명시), 기준점 대조로 변환 오차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46761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46761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배경지도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75561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발주기관 승인 지도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95541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46761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46761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배관망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75561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내부 GIS 레이어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95541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46761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46761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실증구간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75561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7개 구간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95541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46761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46761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탐지 · 궤적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75561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이벤트 · 차량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95541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467616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46761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기상 · 재난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755616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영향구역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65561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65561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70961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810561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지도 레이어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1000" y="765561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000" y="765561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9000" y="770961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초 이내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9000" y="810561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GIS 다중 레이어 표시 (95%)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0800" y="8645616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6799" y="869961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6799" y="8897616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GIS 화면설계서 · 공간데이터(레이어) 정의서 · 공간정보 연계 인터페이스 명세서를 제출합니다.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2.2.5 공공 기상 · 산불 · 재난정보 연계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(탐지 결과에 상황 정보를 더함) 기상청 · 산림청 · 행정안전부 등의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OpenAPI를 갱신주기에 맞춰 자동 수집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실증구간과 겹치는 특보 · 산불 · 재난을 관제 화면에 알림으로 띄움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SFR-005, PER-006, SIR-003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198280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286710"/>
                <a:gridCol w="15651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주기 (예시)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기상청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강수량 · 기온 · 습도 · 풍향 · 풍속, 기상특보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 · 특보 발표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산림청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산불 발생 · 위험정보, 산사태 예보 · 특보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제공기관 갱신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행정안전부 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호우 · 홍수 · 지진 · 대형화재 등 재해 · 재난 발생 · 특보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제공기관 갱신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448808"/>
          <a:ext cx="6260400" cy="295480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· 기준시각 · 최종 수신시각 함께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GIS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지점 · 영향구역 레이어, 레이어별 표시 선택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실증구간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구간과 중첩 · 인접한 특보 · 산불 · 재난 자동 선별 ·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탐지결과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위치 · 시점의 기상 · 재난정보 함께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 중단 시 최종 정상 수신시각 · 연계상태 표시, 복구 시 자동 재개 · 관리자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747561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세부 연계항목 · 제공방식은 분석 · 설계 단계에서 협의 확정 / 외부 API 장애가 관제 주요 기능에 영향 주지 않도록 비동기 수집 (PER-006)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800" y="7691616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799" y="774561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활용 장면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99" y="7943616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호우특보가 내린 구간에서 지반 이상이 탐지되면 위험을 한 단계 높여 표시하고, 관제담당자가 같은 화면에서 강수량과 특보 내용을 함께 확인합니다.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2.2.6 시스템 기준정보 및 운영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(운영자가 직접 바꾸는 기준) 공통코드 · 실증구간 · 차량/단말 · 외부연계 · 운영기준을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관리자 화면에서 관리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모든 변경은 변경 전 · 후 값과 변경자로 이력화함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7642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위해유형 · 위험수준 · 탐지결과 · 처리상태 · 조치유형 · 작업 불가사유 등록 · 수정, 사용 여부 · 표시순서, 사용된 코드는 삭제 대신 사용중지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실증구간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명칭 · 대상지역 · 관할부서 · 구간정보(공간) · 운영상태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· 단말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· 카메라 · 단말 식별정보 · 장비정보 · 설치차량 · 통신 · 운영상태 · 담당부서, 차량-단말 연결 · 구간 운행정보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배관망 GIS · 공사정보 · 기상/재난 연계대상 · 갱신주기 · 연계상태, 배치 실행결과 · 처리건수 · 최종 정상시각, 실패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반복탐지 판정기준 · 위험 알림기준 · 통계 기준 설정 (관리자 권한)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기준정보 변경 · 외부연계 · 배치 실행 이력 기간 · 유형 · 결과별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차량별 접근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차량별 영상 · 정보 구분, 사용자 아이디별 접근 지정, 전체 관리자 별도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542424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6542424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공통코드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801624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삭제 대신 사용중지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04400" y="6542424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04400" y="6542424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차량 · 단말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0400" y="6801624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통신 · 운영상태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2000" y="6542424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92000" y="6542424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연계 · 배치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00" y="6801624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실패 재처리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9600" y="6542424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79600" y="6542424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5600" y="6801624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 · 후 값 · 변경자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0800" y="7802424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799" y="785642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99" y="8054424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 · 시스템 관리자 매뉴얼 · 공통코드정의서 · 기준정보 테이블정의서 · 배치 스케줄 정의서를 제출합니다.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2.2.7 통합 계정 및 권한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(최소 권한 · 전 이력) 계정 생애주기와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역할 기반 접근통제(RBAC)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구현하고, 로그인 · 권한 변경 · 내려받기까지 모든 행위를 기록해 조회할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SFR-007, SER-004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25524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계정관리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 · 조회 · 수정 · 사용중지 · 재활성화, 삭제 대신 사용중지 (이력 연결 유지), 중지 사유 · 일시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사용자그룹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관리자 · 관제담당자 · 현장담당자 등 그룹 생성 · 수정 · 중지, 소속 · 담당업무 · 담당구간, 다중 그룹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통합인증 · 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통합인증 · SSO 기술정보 제공 시 연계 (미제공 시 자체 계정)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역할기반 접근통제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그룹별 화면 · 메뉴 · 기능 · 데이터 범위, 조회 · 등록 · 수정 · 삭제 · 승인 · 내려받기 권한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업무에 필요한 최소 권한만 부여, 권한 변경은 관리자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비밀번호 · 로그인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9자리 이상 문자 · 숫자 · 특수문자, 5회 실패 시 잠금 · 관리자 해제, 초기 비밀번호 변경 강제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· 로그아웃 · 접속 IP · 성공/실패 · 잠금, 계정 · 그룹 · 권한 변경 · 내려받기 이력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721244"/>
            <a:ext cx="4874400" cy="324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7721244"/>
            <a:ext cx="1044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시스템 관리자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7793244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전체 기준정보 · 계정 · 권한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4000" y="7793244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전체 차량 영상 · 정보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7721244"/>
            <a:ext cx="1296000" cy="3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승인권자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8110044"/>
            <a:ext cx="4874400" cy="324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8110044"/>
            <a:ext cx="1044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관제담당자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8182044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탐지 확인 · 판정 · 조치 지정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4000" y="8182044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담당 구간 통계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8110044"/>
            <a:ext cx="1296000" cy="3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8498844"/>
            <a:ext cx="4874400" cy="324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8498844"/>
            <a:ext cx="1044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현장담당자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8570844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알림 수신 · 조치 등록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4000" y="8570844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담당 차량 · 구간만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1200" y="8498844"/>
            <a:ext cx="1296000" cy="3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현장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2.2.8 유관기관 분석자료 연계 및 관로 순찰자 알림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기능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(탐지 + 분석자료 = 현장 주의사항) 한국가스공사 분석자료를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위치 · 배관 구간 기준으로 탐지정보와 매칭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해, 순찰자 알림에 현장 이미지와 관련 분석 결과 · 주의사항을 함께 보냄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SFR-009, SIR-003, PER-003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한국가스공사 분석자료 수신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출처 · 기준일자 저장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분석자료 DB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41999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41999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매칭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1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좌표 또는 배관 구간 ID 기준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탐지 이벤트와 연결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41999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매칭 결과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26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726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알림 구성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797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위치 · 시각 · 현장 이미지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분석 결과 · 주의사항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726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알림 메시지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41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410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발송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48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카카오 알림톡 · 문자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자료 없어도 위험 알림 정상 발송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41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발송 이력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148000"/>
          <a:ext cx="6260400" cy="2535083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· API 중 발주기관 · 한국가스공사 협의 방식, 수신 이력 · 실패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매칭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반경 또는 배관 구간 식별정보 — PoC 기간 중 기준 확정 ·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위치 · 시각 · 마스킹 이미지 · 위험수준 · 관련 분석 결과 · 주의사항 · 출처 · 기준일자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채널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카카오 알림톡 우선, 실패 시 문자 대체 발송 (발송 결과 기록)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이벤트 생성 후 3초 이내 알림 발송 요청 (PER-003)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80800" y="7791087"/>
            <a:ext cx="6332400" cy="73827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784508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자료가 없어도 알림은 그대로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043087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분석자료 연계가 늦어지거나 해당 구간 자료가 없어도 차량영상 기반 위험 알림은 정상 발송하고, '관련 분석자료 없음'을 함께 표시합니다.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2.3.1 UI/UX 설계 — 관제 · 현장 편의성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인터페이스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(역할별 화면) UX 설계 조직이 직접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관리자 · 관제 · 현장(모바일)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사용자의 업무 순서를 분석해 화면을 만들고, 주요 화면 시안을 발주기관과 협의해 확정함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SIR-001, SFR-001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66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일관 · 직관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· 업무 순서 기반 메뉴, 공통 컴포넌트 · 디자인 가이드로 화면 통일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정보 우선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탐지정보 · GIS 지도 · 작업현황을 첫 화면과 상세 화면 상단에 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 · 태블릿 · 모바일 화면 크기 대응 (현장담당자 모바일 조치 등록)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표준 · 호환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특정 브라우저 비종속, 지정 브라우저 주요 기능 정상 동작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글자 크기 · 색상 대비(위험수준 색 + 기호 병행), KWCAG 2.2 기본 항목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시안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화면 시안 제출 → 사용자 의견 반영 → 설계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832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83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분석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120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관제 · 현장 인터뷰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31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5832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583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정보 구조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120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메뉴 · 화면 흐름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31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5832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583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120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화면 3안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31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5832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583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협의 · 확정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120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사용자 검토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31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5832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5832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120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접근성 · 호환성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020000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02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074000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7470000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사용자 역할별 화면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1000" y="7020000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000" y="702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9000" y="7074000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9000" y="7470000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기기 대응 (PC · 태블릿 · 모바일)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0800" y="8010000"/>
            <a:ext cx="6332400" cy="56671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6799" y="806400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6799" y="8262000"/>
            <a:ext cx="6080400" cy="26071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 · 주요화면 시안 · 웹 접근성 및 호환성 진단 결과서를 제출합니다.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2.3.2 현장 단말 · 센서 데이터 수집 인터페이스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인터페이스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(개방형 · 인증 · 재전송) 단말 데이터는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MQTT(이벤트 · 위치 · 상태)와 REST(파일)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나눠 전송하고, 단말별 인증서로 비인가 단말을 차단하며 대용량 파일은 이어보내기로 보냄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SIR-002, PER-005, DAR-003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880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2738925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 · 우선순위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이벤트 메타데이터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MQTT QoS1 (TLS), JSON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즉시 · 최우선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GPS 위치 · 속도 · 방향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MQTT QoS0/1, JSON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1초 주기 (조정 가능)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센서 · 단말 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MQTT, JSON (온도 · 저장 · 통신 · 전원)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1분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대표이미지 · 영상 구간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 HTTPS 분할 업로드 · 이어보내기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후 · 후순위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↔ 단말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RTSP · ONVIF 개방형 프로토콜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346000"/>
          <a:ext cx="6260400" cy="295480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단말ID · 이벤트ID · 발생시각 · 좌표 · 탐지유형 · 위험수준 · 신뢰도 · 센서상태 → 인터페이스 정의서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단말별 고유 식별정보 + 클라이언트 인증서, 미등록 · 폐기 단말 접속 차단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↔ 중앙 전 구간 TLS · IPSec VPN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시 단말 큐 저장 → 복구 후 발생순서 재전송, 이벤트ID로 중복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추가 · 교체 시 RTSP 주소 등록만으로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37280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산출물: 인터페이스 정의서 · 연계시험 결과서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2.3.3 유관 시스템 연계 · 외부기관 제공 API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2.3 인터페이스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(받는 연계 · 주는 연계) 기상 · 재난 · 지도 · 내부시스템은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대상별 실시간 · 주기 · 일괄 방식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받고, 재난 영상 · 데이터는 마스킹 점검을 통과한 제공용 데이터만 표준 API로 외부기관에 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SIR-003, SIR-004, PER-006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104424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704295"/>
                <a:gridCol w="2347650"/>
                <a:gridCol w="1486844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기상 · 산불 · 재난 OpenAPI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제공기관 API · 형식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갱신주기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배관망 GIS (내부)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협의 방식 (DB 연계 · 파일)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일괄 · 변경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공사정보 (내부)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협의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 (일 1회 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한국가스공사 분석자료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· API (협의)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외부기관 (재난 영상 · 데이터)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 API (Pull) · Webhook (Push)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· 발생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570424"/>
          <a:ext cx="6260400" cy="295480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제공 API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 (SIR-004)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이미지 · 영상, 촬영시각, 위치, 재난유형, 탐지정보 (마스킹 완료본)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 표준 API, 파일은 인증된 다운로드 URL(만료시간), Pull · Push 선택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API 키 · 접근권한, TLS, 제공 · 조회 이력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호출 제어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호출량 · 전송량 제한으로 관제 기능 보호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· 응답 항목 · 형식 · 오류코드 · 버전, API 명세서 · 연계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59723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공간정보는 EPSG 코드 명시 · 좌표변환 · 매핑 수행, 연계 실패는 기록 후 재처리 (SIR-003)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2.4.1 데이터 표준 · 공간정보 기준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데이터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이름 · 같은 형식 · 같은 좌표) 주요 데이터 항목의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명칭 · 형식 · 단위 · 코드 · 출처를 데이터 표준 사전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정하고, 위치 교환은 WGS84(EPSG:4326)로 통일함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01616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(예시)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식별정보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단말ID · 차량ID · 이벤트ID (UUID), 실증구간 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ISO 8601 + KST, GNSS 기준시각 · 수신시각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WGS84 (EPSG:4326), 경도 · 위도 순, 소수점 7자리, 차량 좌표 · 대상 추정 좌표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속도 km/h, 진행방향 도(0~360, 진북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탐지유형 코드 · 위험수준 코드 · 신뢰도(0~1) · 모델 버전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노드 · 링크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도로 구간 분석 시 표준 노드 · 링크 ID와 좌표기준 적용, 차량 · 이벤트 매핑 규칙 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 · 라벨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메타데이터 · 라벨 스키마 버전관리 (항목 추가 · 변경 대응)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467616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 항목 누락 시 오류 데이터로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형식 · 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자료형 · 길이 · 코드값 범위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좌표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국내 경위도 범위 · 실증구간 반경 밖 좌표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이벤트ID · 단말ID+발생시각 중복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93361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산출물: 데이터 표준 사전(용어 · 단어 · 도메인 · 코드), 공간정보 및 노드 · 링크 매핑 정의서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2.4.2 데이터 구조 · 영상/이미지 저장 · 생애주기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데이터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(파일은 저장소, 의미는 DB) 이미지 · 영상은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파일 저장소에 두고 DB에는 메타데이터와 관계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관리해, 원본 · 마스킹본 · 분석결과 · 학습/평가 데이터를 서로 추적할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DAR-002, PER-004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360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데이터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탐지 이벤트 · 판정 · 조치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차량 · 단말 · 구간 기준정보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36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PostgreSQL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782800"/>
            <a:ext cx="4874400" cy="360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782800"/>
            <a:ext cx="1044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공간 데이터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854800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배관망 · 실증구간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4000" y="2854800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차량 궤적 · 이벤트 위치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2782800"/>
            <a:ext cx="1296000" cy="36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PostGIS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207600"/>
            <a:ext cx="4874400" cy="360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207600"/>
            <a:ext cx="1044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파일 데이터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279600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마스킹 이미지 · 영상 구간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4000" y="3279600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학습 · 평가 데이터셋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81200" y="3207600"/>
            <a:ext cx="1296000" cy="36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파일 저장소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3632400"/>
            <a:ext cx="4874400" cy="360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800" y="3632400"/>
            <a:ext cx="1044000" cy="36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이력 데이터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32800" y="3704399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모델 버전 · 성능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4000" y="3704399"/>
            <a:ext cx="1807199" cy="2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접속 · 권한 · 연계 로그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81200" y="3632400"/>
            <a:ext cx="1296000" cy="36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이력 테이블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4129199"/>
          <a:ext cx="6260400" cy="384449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개념 · 논리 · 물리 모델, 테이블 · 컬럼 명명규칙, 관계 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계보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→ 마스킹본 → 분석결과 → 학습/평가 데이터셋 ID 연결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· 궤적 테이블 월 단위 파티셔닝, 시각 · 구간 · 유형 인덱스, 공간 인덱스(GiST)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생애주기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유형별 보존기간 (예: 궤적 1년 · 이벤트 3년 · 원본 영상 단말 순환), 만료 이관 · 삭제 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· 설정 · 모델 · 파일 백업 대상 지정 (PER-004)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280800" y="804569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산출물: 데이터 모델 설계서(개념 · 논리 · 물리), DB 아키텍처 및 파티셔닝 전략서, 데이터 생애주기 관리 방침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2.4.3 수집 데이터 검증 · 이상처리 · 데이터 개방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2.4 데이터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(원본은 그대로, 오류는 따로) 수집 시점에 검증규칙을 적용해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오류 · 중복 · 이상값을 정상 데이터와 분리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승인된 데이터만 비식별 · 품질 점검 후 공공데이터로 개방함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DAR-003, DAR-004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065616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· 이상처리 (DAR-003)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검증규칙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필수항목 · 형식 · 코드값 · 발생시각 · 좌표범위 · 센서값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· 형식오류 · 중복 · 순서오류 · 허용범위 초과 → 오류 테이블, 사유 확인 · 재처리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원본값 불변, 보정 시 원본값 · 보정값 · 사유 · 처리이력 함께 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신뢰도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대상별 기준 설정, 기준 미만은 삭제 · 제외 대신 '검토 필요'로 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급격한 좌표 이동 · 비정상 속도를 이상데이터로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531616"/>
          <a:ext cx="6260400" cy="314042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개방 (DAR-004)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재난 이미지 · 영상 · 탐지 위치 · 유형 · 통계 중 발주기관 승인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비식별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 · 집계 · 좌표 정밀도 조정 · 비공개 정보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· 표준 Open API (기계판독), 공공데이터포털 등록 가능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데이터셋명 · 설명 · 분류 · 항목 · 형식 · 갱신주기 · 시공간 범위 · 이용조건 · 담당부서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개방 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완전성 · 정확성 · 중복 · 좌표 · 파일/API 일치 점검 후 등록 · 연계시험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2.5.1 성능 목표 · 측정 방법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2.5 성능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(목표를 숫자로 약속) 화면 · 알림 · 수집 · 연계 성능 목표를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측정 조건과 함께 제시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외부기관 API 지연은 자체 처리시간과 분리해 측정함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PER-001, PER-003, PER-005, PER-006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026861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1643355"/>
                <a:gridCol w="1408590"/>
                <a:gridCol w="17216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조회 · 목록 · 검색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3초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2초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부하도구 · 서버 응답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GIS 다중 레이어 ·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5초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4초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브라우저 측정 (외부지도 분리)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생성 → 관제 갱신 · 알림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 · 표출 · 요청 시각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탐지 → 서버 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정상 시 5초 이내 (95%)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· 서버 시각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위치정보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1초 주기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1초 (조정 가능)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간격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복구 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· 중복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· 중복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순번 대조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API 장애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 정상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기능 영향 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주입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492862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조건 (PER-003)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동시사용자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【30】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 (관리자 · 관제 · 현장), 단말 7대 동시 유입 + 최대부하 배수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1년 운영분 가정 이벤트 · 궤적 데이터 적재 후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업무 PC · 지정 브라우저 · 내부망, 모바일은 LTE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47286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측정 결과는 시스템 성능 테스트 결과 보고서로 제출 / 외부 지도 · 외부 API · 이동통신 · Push 서비스 지연은 별도 표기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2.5.2 AI 분석 처리 성능 · 탐지성능 목표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2.5 성능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(정탐률 80% 이상을 넘어) 요구 정탐률 80%를 최소선으로 두고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탐지대상별 재현율 · 정밀도 목표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제안하며, 확정된 목표값을 검수기준으로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PER-002, TER-004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974287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1408590"/>
                <a:gridCol w="1486844"/>
                <a:gridCol w="1643355"/>
              </a:tblGrid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재현율(Recall)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정밀도(Precision)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굴착장비 · 굴착현장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시설물 훼손 · 전도 · 가림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누락은 '의심'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지반 이상 · 재난 징후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기상정보 보조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화재 · 연기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70%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고위험 즉시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(TP/(TP+FN))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 이상 (요구)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 · mAP@0.5 병행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평가데이터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440287"/>
          <a:ext cx="6260400" cy="2468808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1956375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입력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 30fps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 30fps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채널당 분석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 15fps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유효 20fps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단말당 채널 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1채널 (전방) · 2채널 확장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분석 처리지연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이벤트당 1초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798109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목표값은 분석 · 설계 단계에서 평가데이터 · 측정방법과 함께 확정 — 확정값이 검수기준 (TER-004)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800" y="8197095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799" y="825109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전체 채널 동시 운영 조건 시험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99" y="8449095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단말 7대를 모두 운행 · 분석하는 조건에서 처리 프레임 수 · 지연을 측정하고, 중앙 플랫폼은 서버 추가만으로 이벤트 증가에 대응하도록 구성합니다 (PER-002).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2.6.1 개인정보 보호 · 현장 단말 · 전송 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2.6 보안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(촬영부터 저장까지) 얼굴 · 번호판은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서버 저장 시점 이전에 마스킹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단말 저장매체 암호화 · 부팅 통제 · USB 차단, 전송구간 암호화로 영상이 새는 길을 막음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SER-001, SER-003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53442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 보안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개인영상정보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얼굴 · 번호판 즉시 마스킹, 원본 보관은 발주기관 승인 시만 · 접근권한 · 보관기간 제한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 정확도 시험, 외부 제공 · 개방 전 미처리 재점검 → 보완 또는 제외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SSD 암호화 · 보안 부팅 · 관리자 계정 통제, USB 포트 차단 · 불필요 서비스 제거, 원격 잠금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IPSec VPN · TLS 1.2 이상, 단말 인증서 상호인증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비밀번호 Salt 일방향 해시, 키 · API 키 하드코딩 금지 (보안 저장소)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개인정보 미사용 원칙, 불가피 시 승인 후 마스킹 · 가명처리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· 일시 · 접속지 · 처리대상 · 수행업무 1년 이상 (해당 시 2년) 위 · 변조 방지 보관, 점검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접근권한 · 세션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 권한 · 부여/변경/회수 이력, 미사용 세션 자동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이동형 영상기기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「개인정보 보호법」 이동형 영상정보처리기기 규정 준수, 차량 외부 촬영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처리위탁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법령 · 발주기관 지침 준수, 사전 서면승인 없는 재위탁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800042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8000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805442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45042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단말 + 서버 마스킹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800042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8000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805442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 이상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45042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접속기록 보관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800042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8000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8054424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45042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하드코딩 인증정보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2.6.2 소프트웨어 개발보안 · 웹 취약점 제거 · 평가기준 준수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2.6 보안 요구사항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(개발 단계부터 시큐어코딩) 웹 · 모바일 웹 · API 소스의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보안약점을 정적분석으로 진단해 검수 전까지 0건으로 조치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국정원 정보보안 관리실태 평가지표 항목을 기능으로 구현함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SER-002, SER-004, SER-005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885609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 개발보안 가이드 · 보안약점 진단가이드 · 모바일 전자정부 서비스 관리 지침 (발주일 기준 최신)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보안약점 진단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정적분석 도구로 웹 · 모바일 웹 · API 진단, 도구 · 항목 · 발견 건수 · 조치결과 진단결과서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취약점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· SQL Injection · 악성스크립트 · XSS · 정보노출 · 관리자 페이지 · 파일 업로드 · 디렉토리 노출 점검 ·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평가지표 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9자리 이상 조합 · 취약 비밀번호 재등록 · 5회 오류 차단 · 세션만료 · 관리자 동시로그인 금지 · 관리자 페이지 접근통제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소스코드 서버 미저장 · 백업 별도, 업로드 확장자 제한, 디렉토리 리스팅 · 절대경로 노출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운영망 분리 실증용 모바일 웹 환경 · 테스트 계정, 실제 단말로 알림 · 세션 종료 · 통신 단절/재접속 · 브라우저 호환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미구축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공통기반 · MDM · 모바일 SSO 미제공 시 연계 구성요건 · 인터페이스 방안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35161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35161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642361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459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보안 요구사항 정의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459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위협 분석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635161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 설계서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703561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703561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710761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7143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시큐어코딩 규칙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7143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코드 리뷰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703561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개발표준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71961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71961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진단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79161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827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정적분석 · 웹 취약점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827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모의 점검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71961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진단결과서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840361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840361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847561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8511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취약점 0건 조치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851161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재진단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840361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 내역서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2.7.1 현장환경 제약요소 분석 및 기술적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2.7 제약사항 (현장환경)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(악조건을 미리 목록화) 야간 · 우천 · 역광 · 가림 · 차량속도 · 진동 · 촬영거리 · 위치오차 등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8개 제약요소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마다 원인 · 영향 · 장비 · 모델 · 운영 대응을 정해 실증에서 확인함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SFR-002, ECR-002, PER-002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735184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799865"/>
                <a:gridCol w="344322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637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 · 저조도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노이즈 · 대상 윤곽 소실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저조도 센서 · WDR, 야간 영상 별도 학습 · 조도별 임계값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우천 · 안개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물방울 · 번짐 · 대비 저하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발수 처리 · 와이퍼 영역 장착, 우천 데이터 증강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실루엣화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WDR 120dB급, 노출 보정, 역광 데이터 포함 평가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· 수목에 일부 가림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가림 라벨, 연속 프레임 추적으로 누적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37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차량속도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모션 블러 · 촬영 프레임 감소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셔터 속도 설정, 15fps+ 분석, 속도별 성능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흔들림 · 초점 이탈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방진 마운트, 흔들림 프레임 품질 필터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촬영거리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원거리 소형 객체 미탐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1280px 입력 · 소형 객체 학습, 유효 탐지거리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37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도심 협곡 · 터널 GNSS 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다중위성 GNSS, 진행방향 보정, 오차 큰 구간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8201185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825518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조건별로 나눠 보고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8453185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성능은 전체 평균만이 아니라 주간 · 야간 · 우천 · 역광 · 속도 구간별로 나눠 보고해, 어느 조건에서 보완이 필요한지 실증 결과서에 드러나게 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2.7.2 제약요소 실증 · 검증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2.7 제약사항 (현장환경)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(조건별 평가데이터) 평가데이터를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조도 · 기상 · 거리 · 각도 · 가림 · 속도 조건별로 구성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현장 확보가 어려운 조건은 사전 수집 영상으로 보완해 같은 기준으로 측정함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TER-004, QUR-002, ECR-003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92680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895435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확보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· 야간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실증구간 주 · 야간 운행 (겨울철 일몰 이후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재현율 · 정밀도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우천 · 적설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우천기 운행, 부족 시 사전 수집 영상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재현율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역광 · 가림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일출 · 일몰 방향 주행, 부분 가림 라벨 표본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재현율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차량속도 · 진동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 제한속도 준수 실주행, 속도대별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속도대별 재현율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촬영거리 · 각도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 대상물 거리별 촬영 (10 · 20 · 30m)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거리별 탐지율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현장 측량 좌표 vs 추정 좌표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오차 분포 (90% 지점)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음영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구간 주행 · 복구 후 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· 중복 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392808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39280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조건 정의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680808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평가계획서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88060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392808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39280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확보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680808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실주행 · 보완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88060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392808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39280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680808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조건별 지표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88060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392808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39280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원인 분석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680808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오탐 · 미탐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88060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392808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39280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재시험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680808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개선 후 동일 기준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580808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58080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634808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조건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8030808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조건별 검증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1000" y="7580808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000" y="758080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9000" y="7634808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9000" y="8030808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현장실증 (6월 · 7월)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2.8.1 상시 모니터링 · 장애복구 · 지속 서비스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2.8 안정적 운영 · 장애복구 · 확장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(장애를 먼저 알아채고 계속 돌게) 서버 · GPU · DB · 서비스 · 수집 오류를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임계치 알림으로 상시 감시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외부연계 · LLM · GPU 장애가 나도 관제 핵심 기능은 계속 동작하게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PER-001, PER-004, PER-006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880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130200"/>
                <a:gridCol w="17216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기준 (예시)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· GPU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 · 메모리 · GPU 사용률 · 디스크 · 네트워크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 5분 지속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· 저장소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수 · 지연 쿼리 · 저장공간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잔여 20% 미만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 · 수집 · 분석 작업자 · 알림 프로세스 생존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단말별 마지막 수신 · 오류율 · 재전송 대기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10분 무수신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기상 · 재난 · 분석자료 최종 수신 · 실패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연속 3회 실패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346000"/>
          <a:ext cx="6260400" cy="246880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상황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 서비스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API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비동기 수집 · 최종 수신값 표시, 관제 기능 영향 없음, 복구 시 자동 재개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1차 탐지 결과로 관제 · 알림 지속 (2차 분석 대기열 보관 후 복구 시 처리)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저장 · 복구 후 순서대로 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프로세스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재시작 · 관리자 알림, 로그 · 임시데이터 보존정책 자동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922808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92280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976808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×365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372808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자원 · 서비스 상시 감시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1000" y="7922808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1000" y="792280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9000" y="7976808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9000" y="8372808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외부 장애로 인한 관제 중단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제안시스템 세부사항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2.8.2 백업 · 복원 · 업데이트 · 환경설정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2.8 안정적 운영 · 장애복구 · 확장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(되돌릴 수 있는 운영) 설정 · AI 모델 · DB · 파일을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대상별 주기로 백업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모델 · 프로그램 업데이트는 버전관리와 즉시 롤백 경로를 갖춰 반영함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PER-004, SFR-002, SFR-006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033996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1956375"/>
                <a:gridCol w="23476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 (협의 확정)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(업무 · 공간)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매일 전체 + 트랜잭션 로그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【30】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설정 · 연계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시 + 주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【90】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모델 (버전별)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 시마다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버전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이미지 · 영상 파일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매일 증분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보존기간 정책 따름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50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4500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백업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457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460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대상별 자동 백업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460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성공 · 실패 알림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450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백업 이력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184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5184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복구 시험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256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529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분기 1회 복구 리허설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5292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복구 시간 측정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184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복구 시험 결과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586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5868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업데이트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594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597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테스트 환경 검증 후 반영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597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단말 원격 배포 (단계적)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586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배포 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6552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6552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롤백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662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666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이전 정상 버전 즉시 복구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666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모델 · 프로그램 공통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6552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롤백 절차서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7289999"/>
          <a:ext cx="6260400" cy="120599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환경설정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알림기준 · 반복탐지 기준 · 임계값을 관리자 화면에서 변경 (이력 관리)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· 단말 · 카메라 · 실증구간 추가 등록만으로 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280800" y="856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산출물: 백업 복구 절차서 (대상 · 주기 · 보관기간 · 복구절차는 발주기관과 협의 확정)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장비 납품 · 차량 설치 · 정상 가동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납품 · 설치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(사전 점검 → 설치 → 주행 확인) 단말 7세트를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당사 시험장에서 먼저 조립 · 점검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한 뒤 발주기관 지정 장소에서 차량에 설치하고, 주행 시험으로 영상 · 위치 · 전송을 확인해 설치확인서를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ECR-001, ECR-002, ECR-003, TER-001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납품 목록(BOM) · 사양서 제출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EOM · EOS 확인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납품 승인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입고 · 점검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단말 7세트 조립 · 펌웨어 · 보안 설정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카메라 · 단말 · GNSS · 통신 사전 점검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사전 점검표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차량별 작업계획 승인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지정 장소 설치 · 사진 기록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설치확인서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정상 가동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실증구간 시험 주행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전송 · 표출 · 알림 확인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구축 · 시험결과서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310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310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철거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382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사업 종료 · 요청 시 철거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원상복구 확인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310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철거 확인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6102000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4304025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서류 (ECR-001~003)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설치확인서 · 장비 · 라이선스 목록(BOM) · 시스템 구성도 · 설정내역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완료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사양서 · 저장용량 산정서 · 구축 · 시험결과서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완료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증서 · 기술지원 확약서 · 운영자 · 관리자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ectangle 61"/>
          <p:cNvSpPr/>
          <p:nvPr/>
        </p:nvSpPr>
        <p:spPr>
          <a:xfrm>
            <a:off x="280800" y="8118000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06799" y="817200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비용 부담 원칙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799" y="8370000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장비 운송 · 설치 · 철거 · 잡자재 비용은 당사가 부담하며, 당사 귀책으로 차량이 손상되면 당사 비용으로 원상복구합니다 (ECR-003 · PSR-001).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3.1.2 제조사 및 협력업체 활용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납품 · 설치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(하도급 없이, 제조사 지원은 확약으로) 공동수급 · 하도급 불허 조건에 맞춰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설치 · 개발 · 실증은 당사가 직접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하고, 장비는 물품으로 구매하며 제조사 기술지원은 확약서로 보장받음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PSR-001, ECR-001, COR-001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7452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364965"/>
                <a:gridCol w="15651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· AI 단말 · GNSS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· 공급사 물품 구매, 펌웨어 · 고장 대응 기술지원 확약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아님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이동통신사 회선 개통 (당사 명의 → 검수 후 이전)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워크스테이션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공급사 물품 구매 · 당사 설치 ·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PoC 기간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공식 배포본 사용, 라이선스 의무 검토 (QUR-001)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 SW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설치 ·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현장 단말팀 직접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직접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840528"/>
          <a:ext cx="6260400" cy="1142528"/>
        </p:xfrm>
        <a:graphic>
          <a:graphicData uri="http://schemas.openxmlformats.org/drawingml/2006/table">
            <a:tbl>
              <a:tblPr firstRow="0" bandRow="0"/>
              <a:tblGrid>
                <a:gridCol w="62604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 확약서 포함 내용 (PSR-001)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정책 · 업그레이드 조건 · 유상 유지보수 요율 · 기술지원 기간 · 단종(EOM)/지원종료(EOS) 예정일 · 대체품 제공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09105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0910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14505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754105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하도급 비율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1000" y="709105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1000" y="709105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9000" y="714505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9000" y="754105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설치 · 개발 · 실증 직접 수행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0800" y="8081056"/>
            <a:ext cx="6332400" cy="772583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6799" y="813505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책임 일원화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99" y="8333056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장비 고장 · 통신 · 모델 · 플랫폼 어느 곳에서 문제가 생겨도 발주기관은 당사 PM 한 곳에 요청하면 되며, 당사가 제조사 · 통신사와 조율해 해결합니다.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테스트 환경 · 단계별 시스템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테스트 · 정상 가동 확인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(운영과 분리된 시험 환경) 운영과 같은 SW 버전 · 설정의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논리적 테스트 환경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만들고, 요구사항 ID별 시험항목 · 합격기준으로 단위 → 통합 → 시스템 → 현장 → 검수 시험을 진행함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TER-001, TER-002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179232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799865"/>
                <a:gridCol w="2504160"/>
                <a:gridCol w="939059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· 수집 · 분석 · 관제 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· 예외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2~5월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→ 수집 → 2차 분석 → 관제 ·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흐름 · 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4~5월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+ 외부연계 · 성능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ID별 합격기준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5~6월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7개 실증구간 실주행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송수신 · 1/2차 분석 · 위치 · 재전송 ·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6~7월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참여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업무절차 · 사용자 편의성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645232"/>
          <a:ext cx="6260400" cy="2654424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환경 (TER-001)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운영과 논리적으로 분리 (별도 스키마 · 포트 · 계정), 운영과 동일 SW 버전 · 주요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사전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 전 카메라 · 단말 · GPS · 통신으로 송수신 · 1차/2차 분석 · 영상연계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· 예외 · 오류 상황 포함, 개인정보는 마스킹 · 비식별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모의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연계환경 미제공 시 협의해 모의 인터페이스 · 샘플데이터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37165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결함은 조치 후 재시험, 요구사항별 시험결과 · 조치내역 제출 — 통합테스트 계획서 · 단계별 결과서 · 결함 및 조치내역서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3.2.2 현장 단말 · 외부연계 인터페이스 시험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테스트 · 정상 가동 확인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(정상만이 아니라 비정상도 시험) 단말 수신 · 재전송, 외부 API의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지연 · 중단 · 형식오류 · 누락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상황을 일부러 만들어 관제 핵심 기능이 계속 동작하는지 확인함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TER-003, SIR-002, SIR-003, SIR-004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48257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130200"/>
                <a:gridCol w="17998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합격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메타데이터 · 위치 · 이미지 수신 · 저장 → 2차 분석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0 · 2차 분석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중단 ·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음영 주행 → 복구 후 발생순서 재전송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· 중복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API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· 지연 · 연결중단 · 형식오류 · 누락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주요 기능 정상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좌표 변환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공간정보 변환 · 매핑 → 지도 위치 대조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기준점 오차 허용범위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재난 데이터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외부기관 · 시험환경 전송, 인증 · 권한 · 마스킹 ·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미처리 데이터 제공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[선택] EOCS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신고정보 수신 · AI 이벤트 매칭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매칭 결과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594857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59485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23657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API 연계 테스트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43637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594857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59485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장애 주입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23657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지연 · 중단 · 오류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43637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594857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59485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23657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기능 · 이력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43637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594857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59485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23657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재처리 · 보완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43637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5948575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594857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236575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연계 테스트 결과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13657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13657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19057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758657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연계 시험 시나리오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1000" y="713657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000" y="713657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9000" y="719057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9000" y="758657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재전송 누락 · 중복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0800" y="8126575"/>
            <a:ext cx="6332400" cy="56671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6799" y="818057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6799" y="8378575"/>
            <a:ext cx="6080400" cy="26071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인터페이스(API) 연계 테스트 시나리오와 연계 테스트 결과 보고서를 제출합니다.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3.2.3 AI 탐지 모델 정확도 · 현장(Field)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테스트 · 정상 가동 확인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(학습에 쓰지 않은 데이터로) 평가데이터를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학습 · 조정에서 완전히 분리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출처 · 수량 · 정답정보를 발주기관과 확정하고, 실주행에서 단말 1차 · 서버 2차 정확도와 위치오차를 측정함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TER-004, PER-002, QUR-002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12011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탐지대상별 정밀도 · 재현율 · F1 · mAP@0.5 중 선정, 최소 목표값 제시 (Ⅱ.2.5.2) → 확정값 = 검수기준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성능조정 미사용 별도 주행일 데이터, 출처 · 수량 · 정답정보 · 평가방법 협의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거리 · 촬영각도 · 조도 · 가림 · 기상 포함, 현장 확보 어려운 조건은 사전 수집 영상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실증구간 실제 운행조건 · 제한속도 준수, 단말 1차 · 서버 2차 정확도 · 처리 안정성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위치 vs GIS 실제 위치, 위치오차 목표 · 측정방법 제시 (Ⅱ.1.5.2)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 · 재시험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 · 미탐 사례 분석 → 조치 → 동일 기준 재시험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586113"/>
          <a:ext cx="6260400" cy="2196000"/>
        </p:xfrm>
        <a:graphic>
          <a:graphicData uri="http://schemas.openxmlformats.org/drawingml/2006/table">
            <a:tbl>
              <a:tblPr firstRow="0" bandRow="0"/>
              <a:tblGrid>
                <a:gridCol w="3130200"/>
                <a:gridCol w="31302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평가데이터 구성 (예시)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탐지대상별 정답 인스턴스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대상별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【300】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60 · 야간 20 · 우천/역광 20%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음성(위해요인 없음) 구간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 측정용 주행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854113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산출물: AI 모델 평가계획서 · 평가데이터 및 정답정보 정의서 · 모델 정확도 평가결과서 · 현장 실증시험 결과서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3.2.4 시스템 성능 · 부하(Load) 시험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테스트 · 정상 가동 확인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(최대부하에서도 목표 충족) 동시사용자 · 단말 유입 · 이미지 전송 · 2차 분석 · 화면 조회를 섞은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최대부하 시나리오를 지속 실행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응답시간 · 처리량 · 자원 사용과 누락 여부를 확인함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TER-005, PER-001, PER-003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5758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·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부하시험 도구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【JMeter 등 오픈소스】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환경 · 데이터 · 측정방법 · 합격기준 사전 협의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최대부하 시나리오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동시사용자 · 단말 7대(가상 단말로 배수 증폭) 위치 · 이벤트 유입 · 이미지 전송 · 2차 분석 · 관제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응답시간 · 처리량 · AI 분석 처리시간 · 오류율, CPU · 메모리 · GPU · 디스크 · 네트워크 · 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지속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 지속 부하로 메모리 누수 · 자원고갈 · 누락 · 중단 여부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제공기관 호출제한 준수, 필요 시 모의 인터페이스로 부하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병목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병목 · 저하 조치 후 동일 조건 재시험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523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523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811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시나리오 · 기준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0653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523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523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스크립트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811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가상 사용자 · 단말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0653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523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523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811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최대 · 지속 부하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0653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523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523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811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병목 · 자원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0653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523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523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재시험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811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개선 확인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81958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8195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87358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826958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최대부하 (단말 유입 배수)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1000" y="781958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000" y="78195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9000" y="787358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9000" y="826958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지속 부하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0800" y="877358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산출물: 성능 · 부하시험 계획서 · 시나리오 및 스크립트 · 결과서 · 성능개선 및 재시험 결과서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3.3.1 PoC 성능 검증 기준 · 측정 · 기록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품질관리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기준 · 같은 기록) 탐지 정확도 · 오탐/미탐 · 위치오차 · 중복탐지 · 처리시간을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사전 정의한 산식과 기록 양식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측정하고, 실증 원자료를 그대로 보존해 결과를 재현할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TER-004, QUR-002, DAR-003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073698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973689"/>
                <a:gridCol w="203463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산식 ·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 TP/(TP+FP), 재현율 TP/(TP+FN), F1, mAP@0.5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· 조건별 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 · 미탐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오탐 유형(유사 객체 · 배경 · 그림자) · 미탐 유형(거리 · 가림 · 조도)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사례 이미지 · 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추정 좌표 ↔ 측량 좌표 거리, 50 · 90% 지점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오차 분포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대상 이벤트 수 / 실제 대상 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병합 전 · 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탐지 → 서버 수신 → 관제 표출 → 알림 요청 구간별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구간별 분포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관제담당 정탐/오탐 판정 vs AI 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539701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539701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측정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611701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647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평가 스크립트 고정 (버전)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5647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같은 데이터 · 같은 산식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539701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측정값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223701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223701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기록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295701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331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원자료 · 판정 · 로그 보존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331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모델 버전 연결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223701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실증 원장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907701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907701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979701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015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조건별 · 대상별 분해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015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오탐 · 미탐 원인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907701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 보고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7591701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7591701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7663701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7699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월간보고 · 실증 결과서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7699701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확산 판단 자료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7591701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결과서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0800" y="8329701"/>
            <a:ext cx="6332400" cy="738271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8383701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재현 가능한 결과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581701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평가 스크립트 · 데이터셋 버전 · 모델 버전을 함께 남겨, 발주기관이 같은 결과를 다시 계산해 볼 수 있게 합니다.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3.3.2 소스코드 품질 · 오픈소스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품질관리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(유지보수 가능한 코드) 개발표준 · 코딩규칙을 정해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정적분석으로 중복 · 복잡도 · 결함 · 보안취약점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점검하고, 오픈소스 목록 · 라이선스 의무를 검토해 소스 · 빌드 절차와 함께 넘김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QUR-001, COR-001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02961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개발표준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언어별 코딩규칙 · 명명규칙 · 주석 · 예외처리 · 로깅 표준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정적분석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【SonarQube CE 등】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으로 중복 · 복잡도 · 오류 · 보안약점 점검, 중대 결함 0건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명칭 · 버전 · 용도 · 라이선스 목록, 소스공개 등 의무 검토 (AGPL 등 강한 카피레프트 배제)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· 변경 소스 · 설정파일 · 빌드 · 배포 절차 · 모델 학습 코드 제공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저장소 · 브랜치 전략 · 코드 리뷰 · 배포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495616"/>
          <a:ext cx="6260400" cy="1982808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1565100"/>
                <a:gridCol w="273892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정적분석 · 코드 리뷰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스프린트마다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소스코드 정적분석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라이선스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도입 시 · 검수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· 외부 라이브러리 목록 및 라이선스 검토서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 · 배포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빌드 · 배포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586424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586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640423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036424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중대 결함 · 보안약점 (검수 시)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1000" y="7586424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1000" y="7586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9000" y="7640423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9000" y="8036424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소스 · 빌드 절차 제공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납품 및 설치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제안시스템 구축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3.3.3 AI 학습 데이터 · 모델 품질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품질관리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(데이터부터 모델까지 이력) 학습데이터의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출처 · 시기 · 환경 · 권한 · 라벨링 · 버전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기록하고, 교차검수로 라벨 오류를 줄이며 모델마다 데이터셋 · 학습조건 · 정확도를 이력으로 남김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QUR-002, SER-003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665232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출처 ·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실증구간 수집 영상(발주기관 소유), 공개 데이터(이용약관 준수), 발주기관 제공 자료 — 출처 · 이용권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· 야간 · 조도 · 기상 · 거리 · 각도 · 가림 분포 분석, 대상별 한계사항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라벨링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· 라벨링 기준 정의 · 작업지침, 표본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 교차검수 · 오류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검증 · 평가 주행일 단위 분리, 유사 프레임 평가 포함 방지 (해시 · 시각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버전 · 데이터셋 버전 · 학습조건 · 정확도 지표 → 모델 품질 이력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평가 데이터 마스킹 · 비식별, 원본은 접근권한 제한 별도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131232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131232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6203232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239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주행 영상 · 메타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239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출처 · 권한 기록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6131232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원천 데이터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869232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869232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941232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977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비식별 · 프레임 추출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977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중복 제거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869232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가공 데이터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607232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607232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라벨링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679232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715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작업지침 · 교차검수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715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오류 보완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607232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라벨 데이터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8345232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8345232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학습 · 평가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8417232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8453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버전별 학습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8453232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평가 지표 기록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8345232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모델 품질 이력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0800" y="910123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산출물: AI 학습 데이터 구축 가이드 · AI 모델 품질 이력 보고서 · 개인정보 비식별화 처리 결과서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관리 및 지원 분야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하자보수 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기술지원 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교육지원 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기타 (사업관리 · 위험관리 · 기밀보안 · 추가제안)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하자보수 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하자보수 · 유지보수 지원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하자보수 및 유지보수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(검수 후 1년 무상 하자보수) 개발 SW와 공급 장비 전체를 대상으로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장애 등급별 조치 기한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정해 하자보수하고, 이후 유지관리 조건을 패키지 · 커스터마이징 분야별로 제시함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1707085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3130200"/>
                <a:gridCol w="211288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 기한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· 수집 전체 중단, 보안 사고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2시간 내 착수 · 8시간 내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분석 · 알림 · 특정 단말 중단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4시간 내 착수 · 1일 내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화면 · 통계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3일 내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173087"/>
          <a:ext cx="6260400" cy="2447995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검사 · 검수로 완성을 확인한 날부터 1년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SW · 공급 장비 · 연계, 자체 · 산업부 · 국정원 감사 취약점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 시스템 점검 · 로그 관리, 연계 유지관리 · 장애처리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· 복구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장애 분류에 따른 백업방안 · 복구지침 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근무시간 기준, 요청 시 휴일 · 야간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729087"/>
          <a:ext cx="6260400" cy="1743084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4460535"/>
              </a:tblGrid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종료 후 유지관리 (분야별)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· 방법 · 비용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커스터마이징 (개발 SW)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개선 · 오류 수정 · 모델 재학습, 유상 유지관리 요율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 (협의)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(단말 · GPU)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기술지원 확약 범위 · 유상 유지보수 요율 (제조사 확인 후 제시)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비용 없음, 보안 패치 적용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하자보수 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라이선스 현황 및 관리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라이선스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(갱신 비용 부담 최소화) 상용 SW 없이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오픈소스 · 무상 런타임 · 장비 번들 SW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구성하고, 모든 라이선스의 범위 · 기간 · 제한 · 갱신조건을 목록으로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PSR-001, COR-001, QUR-001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151813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1956375"/>
                <a:gridCol w="1643355"/>
                <a:gridCol w="15651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라이선스 ·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제한 · 갱신조건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YOLOX · RT-DETR 계열, 마스킹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Apache-2.0 · 영구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제한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3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Spring · React · PostgreSQL/PostGIS · Mosquitto · OpenLayers · Prometheus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· 영구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제한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런타임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ONNX Runtime · TensorRT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MIT · NVIDIA (무상)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번들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OS · 펌웨어 · 카메라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제조사 번들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【제조사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카카오 알림톡 · 문자 발송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계약 (건당)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 당사 부담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LTE 7회선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약정 </a:t>
                      </a: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후 이전 ·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617818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617818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5689818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572581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라이선스 대장 작성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572581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범위 · 기간 · 조건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5617818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라이선스 목록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301818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301818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373818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40981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의무사항 · 호환성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40981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강한 카피레프트 배제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301818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검토서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985818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985818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057817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09381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갱신 · 만료 알림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093818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EOM · EOS 추적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985818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현행화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7723817"/>
            <a:ext cx="6332400" cy="73827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799" y="777781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사업 후에도 발주기관이 자유롭게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799" y="7975817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학습 모델 · 소스 · 산출물은 발주기관과 공동 소유이며, 발주기관이 사업 종료 후에도 시스템과 학습모델을 계속 운영 · 유지 · 보정할 수 있는 권리를 보장합니다 (SFR-001 · COR-001).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기술지원 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기술지원 · 기술이전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기술지원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(자체 운영이 가능하도록) 시스템 확장 · 교체 · 연계 · SW 업그레이드를 지원하고,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모델 재학습 · 단말 관리 · 배포 · 장애 대응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노하우를 문서와 실습으로 이전함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PSR-002, PMR-001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 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확장 ·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· 단말 추가, 서버 · GPU 교체 · 증설 시 설정 · 이관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· 업그레이드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 시스템 연계, OS · DB · 프레임워크 업그레이드 영향 검토 · 적용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 기술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개발 프로그램 고유 기술이 필요한 경우 지속 지원 확약서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374000"/>
          <a:ext cx="6260400" cy="2468808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582415"/>
                <a:gridCol w="1252080"/>
                <a:gridCol w="125208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이전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재학습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추가 · 라벨링 · 학습 · 평가 · 배포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·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7~8월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등록 · 원격 배포 · 상태 점검 ·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· 시연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· 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· 복구 · 롤백 ·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·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·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API 발급 · 권한 · 장애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· 설명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16800" y="695080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695080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문서화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723880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운영자 지침서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811700" y="743860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908900" y="695080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908900" y="695080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설명회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4900" y="723880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관리자 대상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3403800" y="743860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501000" y="695080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3501000" y="695080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7000" y="723880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재학습 · 롤백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995900" y="743860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93100" y="6950808"/>
            <a:ext cx="148410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5093100" y="6950808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9100" y="7238808"/>
            <a:ext cx="141210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이전 결과 보고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0800" y="8138808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6799" y="819280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기술이전 계획서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6799" y="8390808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이전 분야 · 내용 · 방법 · 기간 · 인원을 담은 기술이전 계획서를 수행계획서와 함께 제출하고, 완료보고서에 이전 결과를 포함합니다.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교육지원 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관리자 · 현장사용자 교육훈련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교육훈련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(역할별 교육) 관리자에게는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기준정보 · 계정 · 모델 운영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관제담당자에게는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탐지 확인 · 판정 · 조치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현장담당자에게는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모바일 알림 · 조치 등록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집합 · 개별 교육으로 익히게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61842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660670"/>
                <a:gridCol w="1173825"/>
                <a:gridCol w="125208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기준정보 · 공통코드 · 계정권한 · 연계 관리, 백업 · 모델 버전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집합 ·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 · 8월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 · 탐지현황 · GIS · 정탐/오탐 판정 · 조치 지정 ·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집합 ·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 (1차 실증 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현장담당자 (순찰자)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알림 확인 · 현장사진 · 조치 등록, 단말 이상 시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개별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시 · 6월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운전원 (차량)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동작 확인 · 주의사항 (조작 불필요)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개별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084424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 · 현장 역할별 화면 사용법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지침서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· 백업 · 배포 · 장애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빠른 안내서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1장 요약 (알림 · 조치 등록)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100424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100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154424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그룹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7550424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역할별 교육 대상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1000" y="7100424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1000" y="710042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9000" y="7154424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9000" y="7550424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집합교육 (6월 · 8월)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0800" y="8090424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6799" y="814442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교육 비용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799" y="8342424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교육교재 · 기자재 등 교육에 필요한 비용은 당사가 부담하며, 발주기관이 추가 교육을 요청하면 응합니다.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사업 수행 관리 · 보고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사업관리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(계약 후 10일 내 수행계획) 사업수행계획서를 계약 후 10일 이내 제출하고,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주간 업무일지 · 월간보고 · 중간보고회 · 완료보고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진척을 보고함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706469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286710"/>
                <a:gridCol w="15651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 ·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619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· 범위 · 보안서약서(대표자 포함) · 산출물 목록 · 관리/품질 방법 · 계약금액 세부 산출내역 · SW사업정보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10일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주간보고 (업무일지)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금주 실적 · 차주 계획 · 회의록 · 특이사항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매주 금요일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실적 · 차월 계획 · 공정률 · 문제점 · 보안교육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 마지막 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중간보고회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 현황 · 1차 실증 결과 · 향후 방향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실증 후 (협의)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문제점 · 공정 지연 사유 · 대처방안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시 즉시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명세 · 프로그램 · 테스트 계획/최종품질보고 · 교육 · 기술이전 ·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요청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172470"/>
            <a:ext cx="4874400" cy="324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7172470"/>
            <a:ext cx="1044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7244470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AX혁신실 감독원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4000" y="7244470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실증대상 지사 · 정보보안센터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7172470"/>
            <a:ext cx="1296000" cy="3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승인 · 검수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7561270"/>
            <a:ext cx="4874400" cy="324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7561270"/>
            <a:ext cx="1044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사업PM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7633270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단일 창구 · 보고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4000" y="7633270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일정 · 위험 · 품질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7561270"/>
            <a:ext cx="1296000" cy="3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책임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7950070"/>
            <a:ext cx="4874400" cy="324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7950070"/>
            <a:ext cx="1044000" cy="32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8022070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모델 · 현장 단말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4000" y="8022070"/>
            <a:ext cx="1807199" cy="1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플랫폼 · 품질/보안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1200" y="7950070"/>
            <a:ext cx="1296000" cy="3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0800" y="837487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투입인력에 대한 직접 관리 · 감독 금지(산출물 기반 계약) 원칙에 따라 진척은 산출물 · 공정률로 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4.1.2 세부 추진일정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사업관리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(겨울엔 준비 · 우천기엔 실증) 착수 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1~2월 장비 설치 · 데이터 확보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3~5월 구현 · 학습, 6~7월 1 · 2차 현장실증, 8월 성능검증 · 검수로 2027년 8월 31일에 마침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7" cy="5094000"/>
        </p:xfrm>
        <a:graphic>
          <a:graphicData uri="http://schemas.openxmlformats.org/drawingml/2006/table">
            <a:tbl>
              <a:tblPr firstRow="0" bandRow="0"/>
              <a:tblGrid>
                <a:gridCol w="1846015"/>
                <a:gridCol w="561830"/>
                <a:gridCol w="481569"/>
                <a:gridCol w="481569"/>
                <a:gridCol w="481569"/>
                <a:gridCol w="481569"/>
                <a:gridCol w="481569"/>
                <a:gridCol w="481569"/>
                <a:gridCol w="481569"/>
                <a:gridCol w="481569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착수(M)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수행계획서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현장환경 · 통신 품질 조사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 · 평가기준 합의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· 설계 (화면 · 데이터 · 연계)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승인 · 입고 · 사전점검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7대 설치 · 시험 주행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 · 라벨링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학습 (v1 · v2)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· 연계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단위 · 통합 · 시스템 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 현장실증 ·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 현장실증 · 성능검증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· 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· 완료보고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7523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착수(M)는 계약 체결월 — 일정은 계약일과 실증구간 운행 일정에 맞춰 수행계획서에서 확정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6800" y="7740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74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7793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190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차량 7대 설치 완료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7740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774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7793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6 · 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190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 · 2차 현장실증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7740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7740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7793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8.31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190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검수 · 완료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4.1.3 마일스톤 · 활동 간 연계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사업관리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(앞 단계 결과가 다음 단계 입력) 데이터 준비 → 장비 적용 → AI 분석 → 현장실증 → 성능검증이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끊김 없이 이어지도록 마일스톤과 완료 기준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553056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782550"/>
                <a:gridCol w="2582415"/>
                <a:gridCol w="164335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마일스톤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MS1 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 + 10일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수행계획서 승인 · 보안서약 · 통신 조사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현장환경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MS2 기준 합의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탐지대상 정의 · 라벨링 기준 · 목표값 · 평가방법 합의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MS3 장비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7대 설치확인서 · 시험 주행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수집 · 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MS4 모델 v1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검증데이터 1차 성능 · 플랫폼 통합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MS5 1차 실증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실주행 종합 시나리오 · 중간보고회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 · 재학습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MS6 2차 실증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목표값 대비 성능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준비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MS7 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· 완료보고서 · 교육 · 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316800" y="701905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70190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준비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730705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1~3월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75608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701905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70190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장비 적용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730705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2월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75608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701905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70190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분석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730705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3~5월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75608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701905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70190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현장실증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730705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6~7월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756085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7019056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7019056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성능검증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7307056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7~8월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0800" y="8315056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799" y="836905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일정 지연 대응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799" y="8567056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공정이 계획보다 늦어지면 즉시 사유와 대처방안을 보고하고(PMR-001), 장비 입고 지연 시 확보된 단말부터 단계적으로 설치해 데이터 수집을 먼저 시작합니다.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4.2.1 PoC 위험 식별 · 분석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4.2 위험 및 이슈관리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(PoC 고유 위험 7가지)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데이터 확보 지연 · 부족, 현장환경 성능 저하, 위치오차, 장비 장애, 통신 장애, 개인정보, 일정 지연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착수 시 등록하고 가능성 · 영향도로 등급을 매김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9" cy="3910287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347650"/>
                <a:gridCol w="1878119"/>
                <a:gridCol w="70429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확보 지연 ·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 · 재난 등 희소 대상, 운행 일정 변동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평가 불충분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현장환경 성능 저하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야간 · 우천 · 역광 · 가림 · 속도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재현율 목표 미달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 다중경로 · 화각 추정 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배관 인접 오판정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진동 · 온도 · 전원 문제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공백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장애 · 음영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산간 · 외곽 미수신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지연 · 누락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마스킹 누락, 원본 유출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법적 · 신뢰 문제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입고 · 연계 정보 제공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 기간 단축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6376287"/>
          <a:ext cx="6260399" cy="1908000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3364965"/>
                <a:gridCol w="19563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달성 · 법규 · 일정에 직접 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(유선) + 당일 서면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기능 · 구간에 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경미 · 우회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8392287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844628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위험관리대장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8644287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7대 위험을 착수 보고 때 위험관리대장에 등록하고, 주간 점검에서 가능성 · 영향도를 다시 평가해 등급 변화를 보고합니다.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4.2.2 위험 · 이슈별 관리절차와 대응방안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4.2 위험 및 이슈관리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(예방 + 발생 시 대안) 위험마다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예방 대책과 발생 시 대안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미리 정하고, 이슈는 등록 · 담당 · 기한 · 종결로 추적해 실증 일정을 지킴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2782846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504160"/>
                <a:gridCol w="250416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예방 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시 대안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2484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1월부터 조기 수집, 공개 데이터 확보, 발주기관 보유 자료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수집 영상 · 연출 촬영 보완, 증강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저하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데이터 구성, 조건별 임계값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조건별 재학습 · 2차 분석 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위치오차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PPS 동기 · 설치정보 측정, 기준점 시험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도로 링크 보정 · 오차 큰 구간 표시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점검 · 방진 · 온도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예비 단말 </a:t>
                      </a:r>
                      <a:r>
                        <a:rPr sz="8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【1】</a:t>
                      </a: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세트 즉시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통신 품질 사전 조사 · 통신사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 저장 · 재전송, 회선 교체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 마스킹 · 원본 접근 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차단 · 보고 · 삭제 · 재발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조기 발주 · 연계 정보 착수 시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설치 · 병행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5248846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5248846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식별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5320846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535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주간 점검 · 현장 보고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535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모니터링 지표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5248846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위험 · 이슈 등록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5878846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5878846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5950846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598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가능성 × 영향도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598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등급 · 담당 · 기한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5878846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대응 계획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6508846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6508846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6580846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661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예방 · 대안 실행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661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발주기관 협의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6508846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 결과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7138846"/>
            <a:ext cx="5162400" cy="558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7138846"/>
            <a:ext cx="864000" cy="558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종결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7210846"/>
            <a:ext cx="7200" cy="413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724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효과 확인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7246846"/>
            <a:ext cx="2032200" cy="360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교훈 기록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7138846"/>
            <a:ext cx="1007999" cy="558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종결 보고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78228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16800" y="78228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4800" y="78768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 위험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4800" y="82728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착수 시 등록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39600" y="78228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439600" y="78228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47600" y="78768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당일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47600" y="82728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상 등급 서면 보고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62400" y="7822846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62400" y="78228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70400" y="7876846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세트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70400" y="8272846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예비 단말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4.3.1 관리적 · 물리적 보안대책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4.3 기밀보안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(영상 · 위치 · 배관정보 보호) 차량영상 · 위치 · 배관/시설정보를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누출금지 대상정보로 관리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보안서약 · 매월 보안교육 · 지정 PC 저장 · 반출입 통제로 사업 전 과정을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SER-006, SER-007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786379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012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정보보안 기본지침 · 용역업체 보안관리 가이드라인 · AI보안 가이드북 · 생성형 AI 활용 가이드라인 · 국가 망 보안체계 가이드라인 · 개발보안 가이드 · 안전성 확보조치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수행계획서에 자료 · 인원 · 장비 · 네트워크 보안대책과 누출금지 정보 관리방안 구체화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 보안각서 · 개인 친필 보안서약서 · 개인정보 처리위탁 계약 · 위탁 보안서약서, 착수 전 · 매월 보안교육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 정보 열람제공대장(인계자 · 인수자 서명), 산출물은 파일서버 · 지정 PC만, 상용 메일 · 메신저 · 웹하드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사무실 · 장비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CCTV · 시건장치, 보안 S/W 설치, 부팅 · OS · 화면보호기 비밀번호, 반출입 대장, 인가 USB만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망 접근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용역 PC 인터넷 차단, 업무망 분리, 장비 접근은 승인 범위만 · 접속 관리대장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어플리케이션 계정 · 비밀번호, 최신 패치, 개발서버 시험 후 반영, 권한 주기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자료 · 산출물 전량 회수, 국정원 검증 삭제 SW로 완전 삭제, 대표 명의 확약서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252381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252381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보안서약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511581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대표 · 전 참여인원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04400" y="7252381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04400" y="7252381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보안교육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0400" y="7511581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착수 전 · 매월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2000" y="7252381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92000" y="7252381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보안점검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00" y="7511581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보안책임자 매일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9600" y="7252381"/>
            <a:ext cx="14976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79600" y="7252381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완전 삭제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5600" y="7511581"/>
            <a:ext cx="14256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 완료 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0800" y="8476381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보안위규 시 [별첨 #3 · #4] 처리기준 · 위약금(A ~ D급) 수용, 정보누출 시 부정당업자 제재 대상임을 교육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4.3.2 작업장소 · 원격지 개발 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4.3 기밀보안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(작업장소 상호 협의) 핵심 개발 · 실증은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발주기관 협의 장소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에서 하고, 원격지 개발이 필요한 작업은 CCTV · 시건장치 · 봉인표 · 저장매체 통제를 갖춘 지정 장소에서만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SER-007, SER-006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258528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391275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장소 (제안)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단말 설치 · 실증 운행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실증대상 지사 · 차량 (발주기관 지정)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구축 · 내부 연계 · 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제공 장소 (내부망)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학습 · 화면 개발 (비식별 데이터)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원격지 개발장소 (보안대책 승인 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724528"/>
          <a:ext cx="6260400" cy="294158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원격지 개발 보안대책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보안정책 · 자료 등급관리 · 접근관리 · 백업, 원격지 정보시스템 관리자 지정 · 관리대장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물리적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시건장치 · CCTV 출입통제 장소 지정, HDD 봉인표 부착 · 주기 점검, 반입 · 반출 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정보보호 SW 설치, 인터넷 차단 · 망 분리, 휴대용 저장매체는 승인 시 당사 명의 발급 · 퇴근 시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원격지에는 마스킹 · 비식별 데이터만, 원본 영상 · 배관정보 반출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16800" y="777411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777411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장소 제시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806211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보안대책 포함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493280" y="831591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590480" y="777411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590480" y="777411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 검토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6480" y="806211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승인 · 거부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2766960" y="831591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64160" y="777411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2864160" y="777411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0160" y="806211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점검 · 대장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040640" y="831591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37840" y="777411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4137840" y="777411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정기 점검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3840" y="806211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보안점검 대장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5314320" y="831591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11520" y="7774113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5411520" y="7774113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7520" y="8062113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완전 삭제 · 확약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4.4.1 차별화 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4.4 차별화 전략 · 추가제안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(PoC를 확산으로 잇는 4가지)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사람 중심 관제 UX, 재현 가능한 실증, 라이선스 걱정 없는 모델, 확산용 표준 패키지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시범사업 결과가 바로 전사 확대 판단에 쓰이게 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799" y="2401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사람 중심 관제 UX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99" y="2646000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디자인 · UX 전문 조직이 관제 · 현장 사용자의 업무 순서를 분석해, 판정 · 조치까지 클릭 수를 줄인 화면을 만듭니다.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799" y="3063448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8799" y="3099448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역할별 첫 화면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모바일 조치 등록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652633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3652633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799" y="3695833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재현 가능한 실증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799" y="3940633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평가 스크립트 · 데이터셋 · 모델 버전을 함께 남겨 발주기관이 결과를 다시 계산해 볼 수 있습니다.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799" y="4358082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8799" y="4394082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조건별 성능 보고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실증 원장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4947267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6800" y="4947267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799" y="4990467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라이선스 걱정 없는 모델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799" y="5235267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Apache-2.0 모델과 오픈소스 스택으로 사업 후 갱신 비용 없이 재학습 · 확대할 수 있습니다.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799" y="5652716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8799" y="5688716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상용 SW 0종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모델 · 소스 제공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6241901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6800" y="6241901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799" y="6285101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확산용 표준 패키지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799" y="6529901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단말 표준 사양 · 설치 매뉴얼 · 데이터 표준 · API · 5~30대 용량 산정을 확산 패키지로 정리합니다.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4799" y="6947350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8799" y="6983350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완료보고서 수록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추가 비용 없음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757253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6800" y="757253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4800" y="762653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4800" y="802253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차별화 전략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01000" y="757253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01000" y="757253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09000" y="762653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09000" y="802253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추가 제안 비용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4.4.2 [선택] 내부 LLM 연계 AI 조치지원 (SFR-008)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4.4 차별화 전략 · 추가제안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(근거 있는 조치 참고정보) 발주기관 내부 LLM 환경이 제공되면 탐지 이벤트 · 공사 · 기상 · 처리이력과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내부 지침 · 매뉴얼을 근거로 조치 우선순위 · 대응절차 · 확인사항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생성해 관리자에게 참고정보로 보여 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SFR-008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이벤트 유형 · 위험 · 위치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공사 · 기상 · 재난 · 처리이력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상황 요약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근거 검색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내부 안전관리 지침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대응매뉴얼 · 관련 문서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근거 문단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생성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조치 우선순위 · 대응절차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확인사항 + 근거 표시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조치지원 결과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관리자 자연어 질의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결과 · 이력 저장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참고정보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364000"/>
          <a:ext cx="6260400" cy="295480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없으면 답하지 않음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문서가 부족하면 임의 생성 없이 '근거 부족'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참고정보로만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출동지시 · 자동 승인 · 자동 조치결정에 사용하지 않음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 · 생성결과 · 사용자 · 일시 · 적용 모델정보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격리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연계 중단 시에도 탐지 · 관제 · 조치 · 통계 정상 동작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내부망 LLM만 사용 (외부 생성형 AI 미사용), 국정원 생성형 AI 활용 가이드라인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280800" y="839080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전제: 내부 LLM API · 인증 · 네트워크 정보 발주기관 제공 / 산출물: LLM 연계 설계서 · 프롬프트 설계서 · 화면설계서 · 인터페이스 명세서 · 기능시험 결과서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기타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관리 및 지원 분야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4.4.3 [선택] EOCS 굴착신고정보 대조 연계 (SIR-005)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4.4 차별화 전략 · 추가제안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(신고된 굴착인지 바로 확인) EOCS 굴착신고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위치 · 작업기간 · 진행상태를 받아 AI 탐지 굴착과 대조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매칭 결과를 GIS에 표시하되 미매칭을 미신고 굴착으로 자동 확정하지 않음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SIR-005, TER-003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굴착신고 위치 · 작업기간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진행상태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신고정보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위치 반경 · 발생시각 기준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AI 굴착 이벤트 매칭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매칭 결과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표시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신고일치 · 미매칭 · 확인 필요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GIS 레이어 ·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관제 화면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관제담당 현장 확인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판정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364000"/>
          <a:ext cx="6260400" cy="246880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전제조건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EOCS 인터페이스 제공 여부 · 접속권한 · 제공 항목을 착수 시 확인 (발주기관 협의)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신고정보 수신 · 저장, 위치 · 시각 대조 매칭, GIS 표시 · 목록 ·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미매칭은 '확인 필요'로 표시, 미신고 굴착으로 자동 확정하지 않음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실제 연계 또는 협의된 샘플 신고데이터로 매칭 시험 (TER-003)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80800" y="7940808"/>
            <a:ext cx="6332400" cy="755427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799480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계약 범위 반영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192808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선택 요구사항 SFR-008 · SIR-005는 제안 범위에 포함하며, 기술평가에서 인정된 내용은 입찰금액 안에서 수행합니다.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기타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기타 각종 증빙 자료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증빙 자료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기타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사업관리책임자(PM)의 사업 수행경험 ([서식4])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사업관리책임자(PM)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(PM 직접 발표) 제안서에 명시한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사업관리책임자(PM)가 제안 발표를 직접 수행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하며, 사업 수행경험을 [서식4]로 제출함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833048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112885"/>
                <a:gridCol w="1017315"/>
                <a:gridCol w="211288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제안사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【부서】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【직책】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학력 (대학교)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【대학교 · 전공】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학력 (대학원)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【대학원 · 전공】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해당분야 근무경력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년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【자격증】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29904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사업 수행경험 (최근 순)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533048"/>
          <a:ext cx="6260399" cy="2754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017315"/>
                <a:gridCol w="1408590"/>
                <a:gridCol w="704295"/>
                <a:gridCol w="782550"/>
                <a:gridCol w="939059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사업개요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수행임무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【사업명】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~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【개요】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【발주기관】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【사업명】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~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【개요】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【발주기관】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【사업명】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~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【개요】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【발주기관】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【사업명】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~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【개요】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【발주기관】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835904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PM 확정 후 기입 / 대표자가 발표하지 않는 경우 발표 대리인 위임장 · 재직증명서 제출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증빙 자료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기타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영문 약어표 · 신용평가등급 확인서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약어표 · 신용평가등급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(약어표 · 계량 증빙) 제안서에 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영문 약어의 뜻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정리하고, 계량평가(경영상태) 근거인 신용평가등급 확인서 사본을 첨부함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5160326"/>
        </p:xfrm>
        <a:graphic>
          <a:graphicData uri="http://schemas.openxmlformats.org/drawingml/2006/table">
            <a:tbl>
              <a:tblPr firstRow="0" bandRow="0"/>
              <a:tblGrid>
                <a:gridCol w="860805"/>
                <a:gridCol w="2269395"/>
                <a:gridCol w="860805"/>
                <a:gridCol w="2269395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뜻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0832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인공지능 (Artificial Intelligence)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GNSS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위성항법시스템 (Global Navigation Satellite System)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PoC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개념 검증 (Proof of Concept)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PPS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초당 1펄스 시각 신호 (Pulse Per Second)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지리정보시스템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LTE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4세대 이동통신 (Long Term Evolution)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응용프로그램 인터페이스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MQTT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경량 메시지 전송 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그래픽 처리 장치 (AI 연산)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RTSP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스트리밍 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WDR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광역 역광 보정 (Wide Dynamic Range)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ONVIF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 영상장비 표준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FHD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1920×1080 해상도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TLS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계층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fps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초당 프레임 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VPN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 사설망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mAP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정밀도 평균 (탐지 성능 지표)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RBAC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기반 접근통제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정밀도 · 재현율 조화평균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인증 (Single Sign-On)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대규모 언어모델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EOCS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굴착공사 정보지원시스템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BOM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자재 · 납품 목록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EOM · EOS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단종 · 기술지원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EPSG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좌표계 코드 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WGS84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세계 측지계 1984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애플리케이션 서버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KWCAG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한국형 웹 콘텐츠 접근성 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7626326"/>
          <a:ext cx="6260400" cy="990000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4304025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계량평가 (경영상태 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기업신용평가등급 BBB0 → 평점 5점 (AAA ~ BBB0)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【신용평가기관 · 평가일 · 유효기간 — 확인서 사본 첨부】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868832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계량평가 자가 점검표[서식3]와 입증서류는 제안서와 별도 제출 (정량제안서)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증빙 자료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기타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소프트웨어 사업 법 · 제도 이행 확인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소프트웨어 사업 법 · 제도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(법 · 제도 준수) 제안요청서 「소프트웨어 사업 법 · 제도 자가점검표」의 18개 항목에 대해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당사의 이행 방안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확인함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5970861"/>
        </p:xfrm>
        <a:graphic>
          <a:graphicData uri="http://schemas.openxmlformats.org/drawingml/2006/table">
            <a:tbl>
              <a:tblPr firstRow="0" bandRow="0"/>
              <a:tblGrid>
                <a:gridCol w="2034630"/>
                <a:gridCol w="1408590"/>
                <a:gridCol w="281718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법령준수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제안요청서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이행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과업심의위원회 · 과업변경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과업 변경 시 과업변경요청서 제출 절차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중소 SW사업자 참여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중소기업 확인서 보유 · 단독 참여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제도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(하도급 불허)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없이 직접 수행 (Ⅱ.3.1.2)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SW사업 작업장소 (원격개발)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작업장소 상호 협의 · 원격지 보안대책 (Ⅲ.4.3.2)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SW사업 산출물 활용 보장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 소유 · 반출 시 누출금지정보 삭제 확약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개발SW 공동활용 사전명시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 기관 공동활용 계획 없음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하자담보 책임기간 ·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후 1년 무상 하자보수 (Ⅲ.1.1.1)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협상에 의한 계약 · 기술 90%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기술평가 대응 · 협상 성실 이행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투입인력 요구 · 관리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기반 진척 관리 (Ⅲ.4.1.1)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SW사업정보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SW사업정보 데이터 작성 · 제출, 수행계획서 산출물 목록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42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상용SW 직접구매 · BMT · 영향평가 · 제안서 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제안요청서 기재 내용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840086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제안요청서 14. 「소프트웨어 사업 법 · 제도 자가점검표」 기준 (발주기관 작성분) — 기술적용계획표는 계약 후 수행계획서에 반영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