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2027년 국립박물관 대표누리집 통합 유지관리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16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발주기관: 국립중앙박물관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국립중앙박물관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4860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 및 인력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최근년도 경영상태 (정량)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사업이해도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· 문제파악 · 업무분석 · 목표시스템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5~7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위험 고려 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8~9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및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운영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절차 · 방법, 비상상황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 11~14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 인력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투입인력 · 조직 · 참여인력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 · 물리적 · 관리적 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· 구현 · 테스트, 품질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14, 17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위험 · 보안 · 형상 · 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 17~18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세부활동 · 중간목표 · 자원배분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품질보증계획 · 인력 ·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방법 · 내용 · 일정 · 조직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 · 조직 · 절차 · 범위 · 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22, 24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/ 복구 · 장애대응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13, 24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31999" y="2015999"/>
            <a:ext cx="256203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9599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799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99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999" y="2196000"/>
            <a:ext cx="256203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이해 및 추진 전략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2015999"/>
            <a:ext cx="256203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1802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0002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203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4029" y="2196000"/>
            <a:ext cx="256203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시스템 운영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6059" y="2015999"/>
            <a:ext cx="256203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0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2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4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6059" y="2196000"/>
            <a:ext cx="256203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98090" y="2015999"/>
            <a:ext cx="256203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6208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9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7609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090" y="2196000"/>
            <a:ext cx="256203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지원부문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이해 및 추진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사업 이해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현황과 개선 방향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목표 운영체계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추진 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통합 인수 · 위험 대응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13개 국립박물관 누리집, </a:t>
            </a: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하나의 품질</a:t>
            </a: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개별 계약으로 나뉘어 있던 소속박물관 대표누리집 유지관리를 국립중앙박물관 중심 통합 체계로 — 첫 통합 사업을 안정적으로 정착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국립중앙박물관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디지털박물관과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2027.1.1 ~ 12.31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(12개월)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1억 9,800만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(VAT 포함)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소속박물관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대표누리집 13종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현황 문제와 통합 유지관리 개선 방향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기관마다 업체 · 방식 · 보고가 달라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서비스 수준이 들쭉날쭉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하나의 SR 도구 · SLA · 보고 체계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13개 누리집을 같은 기준에서 관리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13개를 한 업체가 맡는 것만으로는 통합이 아님 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같은 도구 · 같은 기준 · 같은 보고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로 운영해야 편차가 사라짐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829919" cy="4715998"/>
        </p:xfrm>
        <a:graphic>
          <a:graphicData uri="http://schemas.openxmlformats.org/drawingml/2006/table">
            <a:tbl>
              <a:tblPr firstRow="0" bandRow="0"/>
              <a:tblGrid>
                <a:gridCol w="1173892"/>
                <a:gridCol w="2667937"/>
                <a:gridCol w="2988090"/>
              </a:tblGrid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현황 (개별 유지관리)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유지관리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창구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기관별 개별 계약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단일 창구 (SPOC)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업체 게시판 · 이력 단절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SR 도구 · 영구 이력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보고 미흡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8개 항목 · 반기 회의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수준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편차 · SLA 부재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SLA 7개 지표 공통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수준 상이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2개월 표준 인수 · 현행화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활동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편차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만족도 · 모니터링단 · 인증 공통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315920" y="1260000"/>
            <a:ext cx="222264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920" y="131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13종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920" y="1782000"/>
            <a:ext cx="222264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JSP/Java · IDC 가상화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560" y="1260000"/>
            <a:ext cx="222264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560" y="131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32개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560" y="1782000"/>
            <a:ext cx="222264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요구사항 전부 수용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920" y="2160000"/>
            <a:ext cx="4553280" cy="381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7919" y="2203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범위 경계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87919" y="2455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9919" y="2484000"/>
            <a:ext cx="4445280" cy="3456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3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본 사업: 13개 누리집 응용시스템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3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별도: IDC 서버 · 상용SW · 네트워크 · 보안관제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3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부가기능 · 연계는 모니터링 · 조율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3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웹접근성 인증 수수료 · 모니터링단 사례비: 주관기관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3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범위 밖 요청도 거부 대신 협의 절차로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목표 운영체계 — 기관 채널부터 인프라 연계까지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기관 채널 · 통합 SR · 유지관리 수행 · 품질 활동 · 운영 기반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5계층으로 운영하고, 인프라 사업자 · IDC와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합동 대응 체계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연결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모든 요청은 SR 도구로, 모든 상태는 모니터링으로,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모든 결과는 월간 운영보고서로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모임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9655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기관 채널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324800"/>
            <a:ext cx="27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국립중앙박물관 총괄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6400" y="1324800"/>
            <a:ext cx="27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13개 소속박물관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44800" y="1324800"/>
            <a:ext cx="27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이용자 · 모니터링단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69200" y="1260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요청 · 확인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2106000"/>
            <a:ext cx="965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SR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170800"/>
            <a:ext cx="27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웹 SR 도구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6400" y="2170800"/>
            <a:ext cx="27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기관별 계정 · 통계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44800" y="2170800"/>
            <a:ext cx="27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메일 · 문자 알림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69200" y="2106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MAR-002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951999"/>
            <a:ext cx="965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유지관리 수행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3016799"/>
            <a:ext cx="27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오류 수정 · 기능개선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6400" y="3016799"/>
            <a:ext cx="27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콘텐츠 · 화면 개선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44800" y="3016799"/>
            <a:ext cx="27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장애 대응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69200" y="2951999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MAR-001 · 003 · 004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0" y="3798000"/>
            <a:ext cx="965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0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활동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48000" y="3862800"/>
            <a:ext cx="27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성능 · 검색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46400" y="3862800"/>
            <a:ext cx="27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접근성 · 표준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44800" y="3862800"/>
            <a:ext cx="27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만족도 · 모니터링단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69200" y="3798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MAR-005 · 008~010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000" y="4644000"/>
            <a:ext cx="965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0000" y="46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기반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48000" y="4708800"/>
            <a:ext cx="27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형상관리 · 테스트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46400" y="4708800"/>
            <a:ext cx="27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모니터링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44800" y="4708800"/>
            <a:ext cx="27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인프라 · IDC 합동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69200" y="4644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MAR-006 · 007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4대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단일 창구 · 도구 기반 · SLA 기반 · 공통 개선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첫 통합 사업을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1년 안에 표준 운영체계로 정착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000" y="1303200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단일 창구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555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000" y="1584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PM SPOC · 월 1회 방문 보고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누리집별 정/부 담당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에스컬레이션 3단계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89100" y="1260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1100" y="1303200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도구 기반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1100" y="1555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3100" y="1584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웹 SR 도구 착수 2주 개통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13개 누리집 5분 모니터링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기관별 · 전체 통계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000" y="3915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6000" y="3958199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SLA 기반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000" y="4210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000" y="4239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가용률 · 장애 · SR · 보고 지표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월간 측정 · 보고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반기 검토 · 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89100" y="3915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1100" y="3958199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공통 개선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1100" y="4210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3100" y="4239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접근성 · 성능 · 보안 패키지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한 번 개발, 13개 적용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기관별 일정 조율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6199" y="1260000"/>
            <a:ext cx="231750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26199" y="1314000"/>
            <a:ext cx="23175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2시간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6199" y="1782000"/>
            <a:ext cx="231750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장애 착수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51700" y="1260000"/>
            <a:ext cx="231750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51700" y="1314000"/>
            <a:ext cx="23175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4시간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1700" y="1782000"/>
            <a:ext cx="231750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정상 가동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26199" y="2160000"/>
            <a:ext cx="231750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26199" y="2214000"/>
            <a:ext cx="23175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26199" y="2682000"/>
            <a:ext cx="231750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SR 도구 개통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51700" y="2160000"/>
            <a:ext cx="231750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51700" y="2214000"/>
            <a:ext cx="23175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2개월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1700" y="2682000"/>
            <a:ext cx="231750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13개 인수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착수 2개월 통합 인수 · 위험 대응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13개 누리집을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3차수 표준 체크리스트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인수하고, 통합 최초 사업의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6대 위험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착수 시 등록해 예방 · 대안을 준비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 기간에도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1월 1일부터 SR 접수 · 장애 대응은 즉시 시작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— 서비스 공백 없음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5691600" cy="2438740"/>
        </p:xfrm>
        <a:graphic>
          <a:graphicData uri="http://schemas.openxmlformats.org/drawingml/2006/table">
            <a:tbl>
              <a:tblPr firstRow="0" bandRow="0"/>
              <a:tblGrid>
                <a:gridCol w="1185750"/>
                <a:gridCol w="2371500"/>
                <a:gridCol w="2134350"/>
              </a:tblGrid>
              <a:tr h="6096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096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(4개)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1 ~ 3주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결과서 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96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(4개)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4주 ~ 2월 2주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결과서 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96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 (5개)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2월 2 ~ 4주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결과서 3 · 종합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24000" y="3806740"/>
            <a:ext cx="5691600" cy="216925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3849940"/>
            <a:ext cx="554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인수 항목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4101940"/>
            <a:ext cx="554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4130740"/>
            <a:ext cx="5583600" cy="1809259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175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소스 · 설정 · 빌드 · 배포 방법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175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산출물 · 계정 · 원격 접속 경로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175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메뉴 · 기능 · 연계 · 솔루션 · 담당자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177600" y="1260000"/>
          <a:ext cx="5691600" cy="4715998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3912975"/>
              </a:tblGrid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부실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업체 협조 공문 · 운영 서버 추출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집중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 일정 사전 수집 · 예비 인력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복합 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· IDC 합동 절차 사전 합의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 공백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정/부 일정 조정 · 1주 내 투입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접근성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만료 3개월 전 진단 착수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분쟁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M/D 산정 · 협의 절차 공지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시스템 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운영 절차 · SR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모니터링 · 보고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장애 대응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품질 향상 활동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통합 운영 절차와 SR 처리 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시스템 운영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모든 요청을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필수 기능 8종을 갖춘 웹 SR 도구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에서 접수 → 검토 → 처리 → 확인 → 보고로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끊김 없이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1083403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00" y="1602000"/>
            <a:ext cx="997003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13" name="Right Arrow 12"/>
          <p:cNvSpPr/>
          <p:nvPr/>
        </p:nvSpPr>
        <p:spPr>
          <a:xfrm>
            <a:off x="1436203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5403" y="1260000"/>
            <a:ext cx="1083403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05403" y="1260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8603" y="1602000"/>
            <a:ext cx="997003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17" name="Right Arrow 16"/>
          <p:cNvSpPr/>
          <p:nvPr/>
        </p:nvSpPr>
        <p:spPr>
          <a:xfrm>
            <a:off x="2717607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86807" y="1260000"/>
            <a:ext cx="1083403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886807" y="1260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0007" y="1602000"/>
            <a:ext cx="997003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21" name="Right Arrow 20"/>
          <p:cNvSpPr/>
          <p:nvPr/>
        </p:nvSpPr>
        <p:spPr>
          <a:xfrm>
            <a:off x="3999010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168210" y="1260000"/>
            <a:ext cx="1083403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68210" y="1260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1410" y="1602000"/>
            <a:ext cx="997003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25" name="Right Arrow 24"/>
          <p:cNvSpPr/>
          <p:nvPr/>
        </p:nvSpPr>
        <p:spPr>
          <a:xfrm>
            <a:off x="5280414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49614" y="1260000"/>
            <a:ext cx="1083403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49614" y="1260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2814" y="1602000"/>
            <a:ext cx="997003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324000" y="1835999"/>
          <a:ext cx="6209016" cy="4644000"/>
        </p:xfrm>
        <a:graphic>
          <a:graphicData uri="http://schemas.openxmlformats.org/drawingml/2006/table">
            <a:tbl>
              <a:tblPr firstRow="0" bandRow="0"/>
              <a:tblGrid>
                <a:gridCol w="2822280"/>
                <a:gridCol w="1693368"/>
                <a:gridCol w="1693368"/>
              </a:tblGrid>
              <a:tr h="1161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회신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완료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161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단순 문의 · 콘텐츠 게시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61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오류 수정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61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소규모 기능개선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 일정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6695018" y="1260000"/>
            <a:ext cx="5174181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7018" y="1303200"/>
            <a:ext cx="5030181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SR 도구 필수 기능 8종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7018" y="1555200"/>
            <a:ext cx="5030181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49018" y="1584000"/>
            <a:ext cx="5066181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웹 접수 · 기관별 계정 · 권한 분리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단계별 상태 · 유형 · 기한 · 담당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이력 영구 보존 · 종료 시 전량 이관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기관별 · 전체 통계 · 알림 · 첨부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95018" y="3915000"/>
            <a:ext cx="5174181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7018" y="3958199"/>
            <a:ext cx="5030181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범위 초과 요청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7018" y="4210200"/>
            <a:ext cx="5030181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49018" y="4239000"/>
            <a:ext cx="5066181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임의 거부 없음 — 사유 · 대안 제시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M/D 산정서로 규모 · 일정 공유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주관기관 · 해당 기관 협의 후 결정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처리 결과는 SR 이력 · 월간보고에 기록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통합 모니터링 · 통계 · 정기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시스템 운영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13개 누리집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가용성을 5분마다 자동 점검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이용통계와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8개 필수 항목 월간 운영보고서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매월 검수 받음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5691600" cy="4731054"/>
        </p:xfrm>
        <a:graphic>
          <a:graphicData uri="http://schemas.openxmlformats.org/drawingml/2006/table">
            <a:tbl>
              <a:tblPr firstRow="0" bandRow="0"/>
              <a:tblGrid>
                <a:gridCol w="3912975"/>
                <a:gridCol w="1778625"/>
              </a:tblGrid>
              <a:tr h="788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88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가용성 자동 점검 · 알림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8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응답속도 · 첫 화면 · 용량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1회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8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요인 (SQL · 이미지)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8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품질 · 색인 정합성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8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 · 브라우저 호환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분기 1회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24000" y="6099054"/>
            <a:ext cx="5691600" cy="371811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전시 개막 · 예약 개시 등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접속 집중 전 사전 점검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7600" y="1260000"/>
          <a:ext cx="5691600" cy="2832425"/>
        </p:xfrm>
        <a:graphic>
          <a:graphicData uri="http://schemas.openxmlformats.org/drawingml/2006/table">
            <a:tbl>
              <a:tblPr firstRow="0" bandRow="0"/>
              <a:tblGrid>
                <a:gridCol w="5691600"/>
              </a:tblGrid>
              <a:tr h="5664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운영보고서 필수 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664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가용률 · 장애 ② SR 현황 · 미처리 사유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</a:tr>
              <a:tr h="5664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기능개선 ④ 성능 측정 · 개선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</a:tr>
              <a:tr h="5664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⑤ 이용통계 (기관별 · 전체) ⑥ 보안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</a:tr>
              <a:tr h="5664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⑦ SLA 측정 ⑧ 익월 계획 · 건의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7600" y="4200426"/>
            <a:ext cx="5691600" cy="227957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9600" y="4243626"/>
            <a:ext cx="554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정기 보고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9600" y="4495626"/>
            <a:ext cx="554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1600" y="4524426"/>
            <a:ext cx="5583600" cy="1919574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월간: PM 방문 보고 · 검수 요건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반기: 실무자 회의 → 2주 내 조치계획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완료: 연간 결과 · 차년도 권고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장애 대응 — 2시간 착수 · 4시간 정상화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시스템 운영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장애통보 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2시간(외 4시간) 착수 · 4시간(외 8시간) 정상 가동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원인 소재와 무관하게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먼저 움직이고 합동 대응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24시간 × 365일 비상연락 (주 · 부 담당) 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24시간 내 동일 장애 재발 0건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목표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5691600" cy="2456276"/>
        </p:xfrm>
        <a:graphic>
          <a:graphicData uri="http://schemas.openxmlformats.org/drawingml/2006/table">
            <a:tbl>
              <a:tblPr firstRow="0" bandRow="0"/>
              <a:tblGrid>
                <a:gridCol w="2134350"/>
                <a:gridCol w="1778625"/>
                <a:gridCol w="1778625"/>
              </a:tblGrid>
              <a:tr h="614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근무시간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근무시간 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14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처리 착수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가동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8시간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비상연락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· 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당번 · 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24000" y="3824277"/>
            <a:ext cx="5691600" cy="215172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3867477"/>
            <a:ext cx="554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장애 예방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4119477"/>
            <a:ext cx="554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4148277"/>
            <a:ext cx="5583600" cy="1791722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15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일일 · 월간 예방점검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15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누리집별 장애 시나리오 · 복구 지침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15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장애 모의훈련 참여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7600" y="1260000"/>
            <a:ext cx="127440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76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0800" y="1602000"/>
            <a:ext cx="118800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19" name="Right Arrow 18"/>
          <p:cNvSpPr/>
          <p:nvPr/>
        </p:nvSpPr>
        <p:spPr>
          <a:xfrm>
            <a:off x="7480799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50000" y="1260000"/>
            <a:ext cx="127440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500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1차 대응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3200" y="1602000"/>
            <a:ext cx="118800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23" name="Right Arrow 22"/>
          <p:cNvSpPr/>
          <p:nvPr/>
        </p:nvSpPr>
        <p:spPr>
          <a:xfrm>
            <a:off x="8953200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22400" y="1260000"/>
            <a:ext cx="127440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224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합동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5600" y="1602000"/>
            <a:ext cx="118800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27" name="Right Arrow 26"/>
          <p:cNvSpPr/>
          <p:nvPr/>
        </p:nvSpPr>
        <p:spPr>
          <a:xfrm>
            <a:off x="10425599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594800" y="1260000"/>
            <a:ext cx="127440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5948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복구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38000" y="1602000"/>
            <a:ext cx="118800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177600" y="1835999"/>
          <a:ext cx="5691600" cy="4140000"/>
        </p:xfrm>
        <a:graphic>
          <a:graphicData uri="http://schemas.openxmlformats.org/drawingml/2006/table">
            <a:tbl>
              <a:tblPr firstRow="0" bandRow="0"/>
              <a:tblGrid>
                <a:gridCol w="5691600"/>
              </a:tblGrid>
              <a:tr h="103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장애보고서 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3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장애내역 · 등급 · 원인분석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</a:tr>
              <a:tr h="103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발생 · 조치경과 (일시 · 확인 · 조치자)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</a:tr>
              <a:tr h="103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향후 위험요소 · 재발방지 · 매뉴얼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서비스 품질 향상 활동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시스템 운영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만족도 조사 연 1회 · 모니터링단 연 2회 · 13개 WA 품질마크 · DB 표준화 연 1회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연간 일정에 고정하고,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공통 개선 패키지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13개에 함께 적용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28008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000" y="1303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만족도 조사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555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000" y="1584000"/>
            <a:ext cx="26928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온라인 · 배너 · 팝업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기관별 · 전체 분석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14800" y="1260000"/>
            <a:ext cx="28008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86800" y="1303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모니터링단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86800" y="1555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68800" y="1584000"/>
            <a:ext cx="26928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회당 10명 이상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분기 조치 결과 보고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000" y="3915000"/>
            <a:ext cx="28008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6000" y="3958199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WA 품질마크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000" y="4210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000" y="4239000"/>
            <a:ext cx="26928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KWCAG 2.2 사전 진단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모바일 접근성 진단 · 보완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14800" y="3915000"/>
            <a:ext cx="28008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86800" y="3958199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DB 표준화 · 연계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86800" y="4210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68800" y="4239000"/>
            <a:ext cx="26928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문체부 DB 표준화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공공문화정보 연계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7600" y="1260000"/>
            <a:ext cx="127440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776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0800" y="1602000"/>
            <a:ext cx="118800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29" name="Right Arrow 28"/>
          <p:cNvSpPr/>
          <p:nvPr/>
        </p:nvSpPr>
        <p:spPr>
          <a:xfrm>
            <a:off x="7480799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50000" y="1260000"/>
            <a:ext cx="127440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6500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 개선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93200" y="1602000"/>
            <a:ext cx="118800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33" name="Right Arrow 32"/>
          <p:cNvSpPr/>
          <p:nvPr/>
        </p:nvSpPr>
        <p:spPr>
          <a:xfrm>
            <a:off x="8953200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22400" y="1260000"/>
            <a:ext cx="127440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1224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순차 적용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5600" y="1602000"/>
            <a:ext cx="118800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37" name="Right Arrow 36"/>
          <p:cNvSpPr/>
          <p:nvPr/>
        </p:nvSpPr>
        <p:spPr>
          <a:xfrm>
            <a:off x="10425599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594800" y="1260000"/>
            <a:ext cx="127440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5948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인증 · 보고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38000" y="1602000"/>
            <a:ext cx="118800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6177600" y="1835999"/>
            <a:ext cx="569160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인증 심사 수수료 · 모니터링단 사례비는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주관기관 부담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, 당사는 진단 · 개선 · 운영 수행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177600" y="2507622"/>
          <a:ext cx="5691598" cy="2730106"/>
        </p:xfrm>
        <a:graphic>
          <a:graphicData uri="http://schemas.openxmlformats.org/drawingml/2006/table">
            <a:tbl>
              <a:tblPr firstRow="0" bandRow="0"/>
              <a:tblGrid>
                <a:gridCol w="1766358"/>
                <a:gridCol w="1471965"/>
                <a:gridCol w="2453275"/>
              </a:tblGrid>
              <a:tr h="4729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556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모니터링단 1 · 2차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 ~ 5월 · 10 ~ 11월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조치 · 분기 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29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만족도 조사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 ~ 10월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분석 · 개선 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56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 품질마크 · 모바일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만료 3개월 전 · 연 1회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진단 · 개선 · 인증 갱신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29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표준화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 ~ 8월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문체부 품질관리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Rectangle 42"/>
          <p:cNvSpPr/>
          <p:nvPr/>
        </p:nvSpPr>
        <p:spPr>
          <a:xfrm>
            <a:off x="6177600" y="5345732"/>
            <a:ext cx="2791800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7600" y="5399732"/>
            <a:ext cx="27918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13개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7600" y="5867732"/>
            <a:ext cx="2791800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WA 품질마크 유지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77400" y="5345732"/>
            <a:ext cx="2791800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77400" y="5399732"/>
            <a:ext cx="27918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연 3회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77400" y="5867732"/>
            <a:ext cx="2791800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이용자 참여 활동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수행조직 · 인력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유지보수 수행 · 품질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SLA · 위험 · 보고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추진일정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수행조직 · 투입인력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사업관리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임원급 용역책임자 아래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PM이 13개 기관 단일 창구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맡고, 응용SW · 퍼블리싱/디자인 인력이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누리집별 정/부 담당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원격 수행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4496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0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48000" y="1324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국립중앙박물관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42800" y="1324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13개 소속박물관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63600" y="1260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총괄 · 검수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2106000"/>
            <a:ext cx="44496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0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총괄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48000" y="2170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용역책임자 (임원)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42800" y="2170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1092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63600" y="2106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SPOC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000" y="2951999"/>
            <a:ext cx="44496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0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48000" y="3016799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응용SW 유지관리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42800" y="3016799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퍼블리싱 · 디자인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63600" y="2951999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원격 수행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000" y="3798000"/>
            <a:ext cx="44496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00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548000" y="3862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42800" y="3862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접근성 · 예비 인력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3600" y="3798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비상주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177600" y="1260000"/>
          <a:ext cx="5691600" cy="5220000"/>
        </p:xfrm>
        <a:graphic>
          <a:graphicData uri="http://schemas.openxmlformats.org/drawingml/2006/table">
            <a:tbl>
              <a:tblPr firstRow="0" bandRow="0"/>
              <a:tblGrid>
                <a:gridCol w="1660050"/>
                <a:gridCol w="4031550"/>
              </a:tblGrid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 방문 · 반기 회의 · 교체 없음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 변경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2주 전 승인 · 동급 이상 · 2주 병행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정/부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부재 금지 · 주말 당번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Java · JSP · Tomcat · Oracle · MariaDB · MySQL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 자체 · 연 2회 전문 강사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유지보수 수행 · 형상 · 품질보증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사업관리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기능개선은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M/D 산정 → 협의 → 테스트 → 배포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처리하고, 13개 누리집 형상 저장소와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분리된 품질 점검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품질을 보증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97992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979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00" y="1602000"/>
            <a:ext cx="89352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13" name="Right Arrow 12"/>
          <p:cNvSpPr/>
          <p:nvPr/>
        </p:nvSpPr>
        <p:spPr>
          <a:xfrm>
            <a:off x="1332720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501920" y="1260000"/>
            <a:ext cx="97992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01920" y="1260000"/>
            <a:ext cx="979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5120" y="1602000"/>
            <a:ext cx="89352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17" name="Right Arrow 16"/>
          <p:cNvSpPr/>
          <p:nvPr/>
        </p:nvSpPr>
        <p:spPr>
          <a:xfrm>
            <a:off x="2510640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679840" y="1260000"/>
            <a:ext cx="97992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679840" y="1260000"/>
            <a:ext cx="979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협의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23040" y="1602000"/>
            <a:ext cx="89352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21" name="Right Arrow 20"/>
          <p:cNvSpPr/>
          <p:nvPr/>
        </p:nvSpPr>
        <p:spPr>
          <a:xfrm>
            <a:off x="3688560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57760" y="1260000"/>
            <a:ext cx="97992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857760" y="1260000"/>
            <a:ext cx="979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0960" y="1602000"/>
            <a:ext cx="89352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25" name="Right Arrow 24"/>
          <p:cNvSpPr/>
          <p:nvPr/>
        </p:nvSpPr>
        <p:spPr>
          <a:xfrm>
            <a:off x="4866480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35680" y="1260000"/>
            <a:ext cx="97992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35680" y="1260000"/>
            <a:ext cx="979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8880" y="1602000"/>
            <a:ext cx="89352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324000" y="1835999"/>
          <a:ext cx="5691600" cy="4644000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3912975"/>
              </a:tblGrid>
              <a:tr h="1161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 · 배포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161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설정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누리집별 저장소 · 변경 기록 · 주석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61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검증 · 일정 협의 · 롤백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61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현황자료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2개월 · 분기 현행화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6177600" y="1260000"/>
            <a:ext cx="56916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9600" y="1303200"/>
            <a:ext cx="554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품질보증 절차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9600" y="1555200"/>
            <a:ext cx="554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1600" y="1584000"/>
            <a:ext cx="55836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9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계획 → 점검 → 시정 → 보고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9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배포 전 코드 · 접근성 · 보안 점검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9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품질 담당 분리 </a:t>
            </a:r>
            <a:r>
              <a:rPr sz="14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7600" y="3915000"/>
            <a:ext cx="56916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9600" y="3958199"/>
            <a:ext cx="554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품질 기준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9600" y="4210200"/>
            <a:ext cx="554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1600" y="4239000"/>
            <a:ext cx="55836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9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24시간 · 365일 가용성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9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KWCAG 2.1 이상 · 웹 품질관리 지침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9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품질 인증 </a:t>
            </a:r>
            <a:r>
              <a:rPr sz="14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【SP인증 등 보유 여부】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서비스수준 · 위험 · 보고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사업관리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SLA 7개 지표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서비스 수준을 측정하고, 이슈는 등급별로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발견 당일 보고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진척은 SR 도구 · 대시보드로 전자적으로 공유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5691600" cy="4731054"/>
        </p:xfrm>
        <a:graphic>
          <a:graphicData uri="http://schemas.openxmlformats.org/drawingml/2006/table">
            <a:tbl>
              <a:tblPr firstRow="0" bandRow="0"/>
              <a:tblGrid>
                <a:gridCol w="2964375"/>
                <a:gridCol w="2727225"/>
              </a:tblGrid>
              <a:tr h="788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SLA 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(제안)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88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가용률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【99.5】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%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8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착수 · 정상 가동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 내 100%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8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장애 재발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24시간 내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8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회신 · 기한 준수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각 95%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8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보고 적기 제출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24000" y="6099054"/>
            <a:ext cx="5691600" cy="371811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목표값은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SLA 체결 시 협의 확정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· IRM 등급별 필수 지표 적용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7600" y="1260000"/>
          <a:ext cx="5691600" cy="2414312"/>
        </p:xfrm>
        <a:graphic>
          <a:graphicData uri="http://schemas.openxmlformats.org/drawingml/2006/table">
            <a:tbl>
              <a:tblPr firstRow="0" bandRow="0"/>
              <a:tblGrid>
                <a:gridCol w="2964375"/>
                <a:gridCol w="2727225"/>
              </a:tblGrid>
              <a:tr h="60357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 등급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0357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 (서비스 중단 · 보안)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유선 + 당일 서면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7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 (지연 · 일부 장애)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7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 (경미한 오류)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7600" y="3782314"/>
          <a:ext cx="5691600" cy="2697685"/>
        </p:xfrm>
        <a:graphic>
          <a:graphicData uri="http://schemas.openxmlformats.org/drawingml/2006/table">
            <a:tbl>
              <a:tblPr firstRow="0" bandRow="0"/>
              <a:tblGrid>
                <a:gridCol w="2964375"/>
                <a:gridCol w="2727225"/>
              </a:tblGrid>
              <a:tr h="5395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395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14일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95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· 월간보고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매주 · 매월 (방문)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95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반기 실무자 회의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반기 1회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95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종료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12개월 추진일정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사업관리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 ~ 2월 인수 · SR 개통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마치고 3월부터 정례 운영 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6개 마일스톤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 시기별 자원 배분으로 일정을 통제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7005045" cy="5220000"/>
        </p:xfrm>
        <a:graphic>
          <a:graphicData uri="http://schemas.openxmlformats.org/drawingml/2006/table">
            <a:tbl>
              <a:tblPr firstRow="0" bandRow="0"/>
              <a:tblGrid>
                <a:gridCol w="2419925"/>
                <a:gridCol w="1146280"/>
                <a:gridCol w="1146280"/>
                <a:gridCol w="1146280"/>
                <a:gridCol w="1146280"/>
              </a:tblGrid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1~2월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3~6월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7~9월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10~12월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· 인수 · SR 개통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현황자료 현행화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유지관리 · SR · 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만족도 조사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접근성 진단 ·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표준화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인수인계 · 완료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1046" y="1260000"/>
          <a:ext cx="4378153" cy="5219998"/>
        </p:xfrm>
        <a:graphic>
          <a:graphicData uri="http://schemas.openxmlformats.org/drawingml/2006/table">
            <a:tbl>
              <a:tblPr firstRow="0" bandRow="0"/>
              <a:tblGrid>
                <a:gridCol w="2751982"/>
                <a:gridCol w="1626171"/>
              </a:tblGrid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마일스톤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MS1 착수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2주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MS2 SR 개통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2주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MS3 인수 완료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2월 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MS4 상반기 결산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MS5 품질 활동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MS6 완료 · 인계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지원부문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교육훈련 · 기술이전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운영지원 · 인수인계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보안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비상대책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교육훈련 · 기술이전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지원부문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기관 담당자에게는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SR 도구 · 콘텐츠 관리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관리자에게는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통합 조회 · 운영 현황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교육하고, 운영 노하우는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매뉴얼 · 실습으로 이전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5691600" cy="5220000"/>
        </p:xfrm>
        <a:graphic>
          <a:graphicData uri="http://schemas.openxmlformats.org/drawingml/2006/table">
            <a:tbl>
              <a:tblPr firstRow="0" bandRow="0"/>
              <a:tblGrid>
                <a:gridCol w="1660050"/>
                <a:gridCol w="2845800"/>
                <a:gridCol w="1185750"/>
              </a:tblGrid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 담당자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도구 · 콘텐츠 · 팝업 · 배너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· 수시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주관기관 관리자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조회 · SLA · 대시보드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· 반기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투입인력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· 개인정보 · 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매월 · 연 2회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담당자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 운영 기초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77600" y="1260000"/>
          <a:ext cx="5691600" cy="4392000"/>
        </p:xfrm>
        <a:graphic>
          <a:graphicData uri="http://schemas.openxmlformats.org/drawingml/2006/table">
            <a:tbl>
              <a:tblPr firstRow="0" bandRow="0"/>
              <a:tblGrid>
                <a:gridCol w="2134350"/>
                <a:gridCol w="3557250"/>
              </a:tblGrid>
              <a:tr h="878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8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 구조 ·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현황자료 · 설명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8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배포 · 롤백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 · 실습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8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모의훈련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8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· DB 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 · 설명회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177600" y="5760000"/>
            <a:ext cx="2791800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7600" y="5813999"/>
            <a:ext cx="27918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13개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7600" y="6282000"/>
            <a:ext cx="2791800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기관 담당자 교육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77400" y="5760000"/>
            <a:ext cx="2791800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7400" y="5813999"/>
            <a:ext cx="27918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연 2회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7400" y="6282000"/>
            <a:ext cx="2791800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전문 강사 교육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운영지원 · 인수인계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지원부문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유지관리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범위 · 조직 · 절차 · 기간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명확히 하고, 종료 1개월 전부터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SR 이력 전량 이관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까지 공백 없이 인계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5691600" cy="5220000"/>
        </p:xfrm>
        <a:graphic>
          <a:graphicData uri="http://schemas.openxmlformats.org/drawingml/2006/table">
            <a:tbl>
              <a:tblPr firstRow="0" bandRow="0"/>
              <a:tblGrid>
                <a:gridCol w="1422900"/>
                <a:gridCol w="4268700"/>
              </a:tblGrid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누리집 응용시스템 · 부가기능 · 연계 조율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용역책임자 · PM · 응용SW · 퍼블리싱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처리 · 장애 대응 · 배포 절차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2027.1 ~ 12 (미선정 시 연장 수행)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문체부 · 주관기관 · 연계기관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177600" y="1260000"/>
            <a:ext cx="127440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76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1개월 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0800" y="1602000"/>
            <a:ext cx="118800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14" name="Right Arrow 13"/>
          <p:cNvSpPr/>
          <p:nvPr/>
        </p:nvSpPr>
        <p:spPr>
          <a:xfrm>
            <a:off x="7480799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650000" y="1260000"/>
            <a:ext cx="127440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500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2주 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3200" y="1602000"/>
            <a:ext cx="118800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18" name="Right Arrow 17"/>
          <p:cNvSpPr/>
          <p:nvPr/>
        </p:nvSpPr>
        <p:spPr>
          <a:xfrm>
            <a:off x="8953200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22400" y="1260000"/>
            <a:ext cx="127440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224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5600" y="1602000"/>
            <a:ext cx="118800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22" name="Right Arrow 21"/>
          <p:cNvSpPr/>
          <p:nvPr/>
        </p:nvSpPr>
        <p:spPr>
          <a:xfrm>
            <a:off x="10425599" y="138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594800" y="1260000"/>
            <a:ext cx="1274400" cy="468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5948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38000" y="1602000"/>
            <a:ext cx="1188000" cy="108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177600" y="1835999"/>
            <a:ext cx="5691600" cy="464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49600" y="1879200"/>
            <a:ext cx="554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기술지원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9600" y="2131200"/>
            <a:ext cx="554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1600" y="2160000"/>
            <a:ext cx="5583600" cy="428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8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장비 · OS · DBMS 교체 · 업그레이드 변경 지원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8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누리집 이전 · 재구성 지원방안 제출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8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인수와 같은 체크리스트로 인계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8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소스 · 설정 · 산출물 · 계정 최신본 인계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8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SR 이력 전량 이관 · 차기 사업자 설명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8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미선정 시 차기 계약까지 연장 수행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보안 이행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지원부문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대표자 보안서약 · 비밀유지계약 · 누출금지 정보 대장 · 승인 단말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원격 접속으로 기밀을 지키고, 시큐어코딩 · 진단으로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취약점 0건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유지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5691600" cy="5220000"/>
        </p:xfrm>
        <a:graphic>
          <a:graphicData uri="http://schemas.openxmlformats.org/drawingml/2006/table">
            <a:tbl>
              <a:tblPr firstRow="0" bandRow="0"/>
              <a:tblGrid>
                <a:gridCol w="1660050"/>
                <a:gridCol w="4031550"/>
              </a:tblGrid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· 물리 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보안대책 · 대표자 서약 · 비밀유지계약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 서약 · 위탁 계약 · 보안교육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11종 대장 · 지정 PC · 회수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· IDC 승인 경로 · 단말만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위약금 A ~ D 수용 · 즉시 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77600" y="1260000"/>
          <a:ext cx="5691600" cy="4731050"/>
        </p:xfrm>
        <a:graphic>
          <a:graphicData uri="http://schemas.openxmlformats.org/drawingml/2006/table">
            <a:tbl>
              <a:tblPr firstRow="0" bandRow="0"/>
              <a:tblGrid>
                <a:gridCol w="1660050"/>
                <a:gridCol w="4031550"/>
              </a:tblGrid>
              <a:tr h="9462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462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인증정보 암호화 · 하드코딩 금지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62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접속기록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ID · 일시 · IP · 대상 · 업무, 1 ~ 2년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62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개발보안 · 보안약점 진단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62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통제 · 주기 모니터링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177600" y="6099054"/>
            <a:ext cx="5691600" cy="371811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점검 결과는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대외비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· 보안담당자 확인 · 대표이사 명의 확인서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비상대책 · 하도급 · 맺음말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지원부문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응용 소스 · 설정 백업 · 롤백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 장애 등급별 대응,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예비 인력 1주 내 투입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장애와 결원에 대비 — 하도급 없이 직접 수행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국립중앙박물관 플랫폼을 운영해 본 경험으로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13개 국립박물관 누리집의 첫 통합 유지관리를 책임지고 정착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시키겠습니다 — 주식회사 에이치나인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5691600" cy="2438740"/>
        </p:xfrm>
        <a:graphic>
          <a:graphicData uri="http://schemas.openxmlformats.org/drawingml/2006/table">
            <a:tbl>
              <a:tblPr firstRow="0" bandRow="0"/>
              <a:tblGrid>
                <a:gridCol w="1660050"/>
                <a:gridCol w="4031550"/>
              </a:tblGrid>
              <a:tr h="6096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등급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096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(중단 · 보안)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보고 · 2h 착수 · 4h 정상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96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중요 (주요 기능)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2h 착수 · 4h 정상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96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(일부 오류)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기준 3일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24000" y="3806740"/>
            <a:ext cx="5691600" cy="216925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3849940"/>
            <a:ext cx="554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백업 · 복구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4101940"/>
            <a:ext cx="554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4130740"/>
            <a:ext cx="5583600" cy="1809259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175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소스 · 설정: 형상 저장소 + 지정 장소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175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배포 전 백업 · 즉시 롤백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175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서버 · 데이터는 인프라 사업 (복구 검증 지원)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7600" y="1260000"/>
            <a:ext cx="569160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9600" y="1303200"/>
            <a:ext cx="554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예비 자원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9600" y="1555200"/>
            <a:ext cx="554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1600" y="1584000"/>
            <a:ext cx="558360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분야별 예비 인력 지정 · 1주 내 투입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승인 작업 단말 예비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테스트 환경 (유휴 장비)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7600" y="3663000"/>
            <a:ext cx="569160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9600" y="3706200"/>
            <a:ext cx="554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하도급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9600" y="3958200"/>
            <a:ext cx="554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1600" y="3987000"/>
            <a:ext cx="558360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하도급 없음 — 당사 직접 수행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 책임 일원화 · 짧은 보고 단계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황보정운</dc:creator>
  <cp:keywords/>
  <dc:description>generated using python-pptx</dc:description>
  <cp:lastModifiedBy>황보정운</cp:lastModifiedBy>
  <cp:revision>1</cp:revision>
  <dcterms:created xsi:type="dcterms:W3CDTF">2013-01-27T09:14:16Z</dcterms:created>
  <dcterms:modified xsi:type="dcterms:W3CDTF">2013-01-27T09:15:58Z</dcterms:modified>
  <cp:category/>
</cp:coreProperties>
</file>