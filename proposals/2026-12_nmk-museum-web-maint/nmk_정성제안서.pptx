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2027년 국립박물관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대표누리집 통합 유지관리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국립중앙박물관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요구사항 대비 수용여부 조견표 (32개)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76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2552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255272">
                <a:tc rowSpan="10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소속박물관 누리집 통합 유지관리 기본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16~18, 20~21, 26, 38, 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SR(서비스요청) 접수·처리 체계 및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19~20, 26~27, 43, 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수행 체계 및 장애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 29~31, 43,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소규모 기능개선 및 서비스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관리 및 웹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소스·산출물 백업 및 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25, 40, 56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관리 및 정기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17, 20, 28, 43, 47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만족도 조사 및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모니터링단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품질인증 획득·갱신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MHR-001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투입인력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14, 35~37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MHR-002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투입인력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MHR-003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투입인력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37, 50, 54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관련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42, 48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사업장 운영방안 및 유지관리 업무환경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21, 35, 44, 47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SW사업정보 데이터 작성 및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41, 48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및 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40~41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업무 인수인계 시 품질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24~25, 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 51~52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관련기관 간 원활한 협조체계 유지 및 운영방안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14, 51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이전 및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50, 53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문화체육관광부 &lt;공공문화정보 통합관리시스템&gt;과 정보 연계 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준수 및 웹 취약점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수행에 대한 보안정책 및 지침준수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운영 전반에 대한 품질관리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31, 33, 40, 42, 48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지적 재산권 및 계약일반사항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56~57, 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제재방안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30, 61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5272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계약의 해지, 해제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52, 57, 61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사업관리 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지원부문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하도급계획의 적정성 및 기타사항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기술성 평가항목 조견표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평가항목 조견표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기술성 평가항목 조견표 (1/2)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평가항목별 제안내용 및 해당 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(평가항목 → 제안 쪽) RFP 「기술성 평가기준」의 평가항목마다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평가요소 · 관련 목차 · 쪽 · 제안 포인트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정리함 (쪽은 표지부터 센 전체 쪽수)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81948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1017315"/>
                <a:gridCol w="1330335"/>
                <a:gridCol w="1330335"/>
                <a:gridCol w="547785"/>
                <a:gridCol w="125208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 (배점)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관련 목차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084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 및 인력 (정량)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최근년도 경영상태 평가 (정량제안서 별도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 및 매출액 (최근 3년, [별지 제2호 서식])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 BBB0 (배점의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9317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개발목표·내용 이해, 문제파악, 업무분석체계, 목표시스템 구성, 제안요청서 부합성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개요 및 추진 배경 / 현황 문제와 통합 유지관리 개선 방향 / 제안의 목적 · 범위 · 전제조건 / 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16~21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최초 사업 이해, 범위 경계 명확화, 4계층 운영체계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931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위험요소를 고려한 추진전략의 창의성 · 타당성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비전 · 목표 · 추진전략 / 4대 추진전략 세부 내용 / 위험 요소별 대안 / 착수 2개월 통합 인수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22~25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창구 · 도구 · SLA · 공통 개선, 2개월 3차수 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931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및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운영 요구사항 (10점)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운영 절차 및 방법, 비상상황 발생 시 대응방안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유지관리 운영 절차 / 통합 SR 처리 도구 / 통계 산출 및 정기 보고 / 통합 모니터링 · 성능 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26~33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필수 기능 8종, 5분 모니터링, 2h 착수 · 4h 정상화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931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인력 요구사항 (10점)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조직 및 참여인력의 적정성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13개 기관 대응 체계 / 분야별 투입인력 및 역할 / 인력 운영 · 변경 · 근무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35, 36~37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SPOC, 누리집별 정/부 담당, 2주 병행 인수인계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889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 보안 구현, 물리적 · 관리적 보안 체계 및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보안지침 준수 · 관리적 · 물리적 보안 / 기술적 보안 · 데이터 보안 · 취약점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54~55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 대장, 승인 단말, 시큐어코딩 · 웹쉘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931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도구 · 구현 · 테스트 방안, 단계별 품질 점검 · 검토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수정 · 콘텐츠 운영 지원 · 환경 변화 대응 / 소규모 기능개선 절차 / 소스 · 산출물 형상관리 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38~41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환경 검증 배포, 형상관리, 접근성 · 표준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8647948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870194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평가 비율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8899948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기술평가 90 (정성 85 · 정량 5) : 가격평가 10, 기술능력평가 배점 한도의 85% 이상인 자를 협상적격자로 선정함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기술성 평가항목 조견표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평가항목 조견표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기술성 평가항목 조견표 (2/2)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평가항목별 제안내용 및 해당 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(평가항목 → 제안 쪽) RFP 「기술성 평가기준」의 평가항목마다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평가요소 · 관련 목차 · 쪽 · 제안 포인트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정리함 (쪽은 표지부터 센 전체 쪽수)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616362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1017315"/>
                <a:gridCol w="1330335"/>
                <a:gridCol w="1330335"/>
                <a:gridCol w="54778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 (배점)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관련 목차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5831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 (10점)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위험(이슈) · 보안 · 형상 · 문서 관리, 보고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지표 선정 및 적용 · 운영 / 위험 · 이슈 관리 절차 / 보고회의 및 검토계획 / 전자적 사업진척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43, 44, 47, 48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7개 지표, 이슈 등급별 당일 보고, 전자적 진척관리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4431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일정계획 (10점)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세부활동 · 기간 · 배열, 중간목표, 자원배분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 세부 추진일정 / 마일스톤 · 중간목표 · 자원 배분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45~46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 일정 · 6개 마일스톤 · 시기별 자원 배분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4431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품질보증계획 · 인력 · 사업자 보증 능력, SP인증 등 품질인증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조직 · 방법 ·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담당 분리 점검, 계획 · 점검 · 시정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4431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방법 · 내용 · 일정 ·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대상자별 교육훈련 계획 / 운영 노하우 기술이전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50, 53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 SR · 콘텐츠 교육, 운영 노하우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01375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(10점)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계획 · 조직 · 절차 · 범위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계획 · 조직 · 절차 · 범위 · 기간 / 사업 종료 인수인계 ·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51~52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조직 · 절차 · 기간, 종료 1개월 전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01375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 (5점)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/ 복구 대책, 장애대응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· 복구 및 장애대응 대책 / 예비 인력 · 장비 보유현황 및 지원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56~57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 백업 · 롤백, 등급별 대응, 예비 인력 1주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8082363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813636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요구사항 수용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8334363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 32개 전체를 수용하고, 요구사항별 해당 쪽은 요구사항 대비 수용여부 조견표에 표시함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제안사의 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주요사업 내용 및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업무분장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일반현황 ([별지 제1호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88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직접생산확인(정보시스템유지관리서비스 8111189901), 중 · 소기업 · 소상공인 확인서(공공기관 입찰용)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6개 실 · 22개 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 · 평가일 · 유효기간 — 신용평가등급확인서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501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86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국립중앙박물관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 플랫폼 '모두' 유지보수(2024) · 개선 및 유지보수(2025), iF Design Award 2023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다수 사이트 통합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LG LIFE 및 그룹 홈페이지 사이트 운영(2025 ~), 경기 컬처패스 플랫폼 운영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웹표준 · 접근성 · UX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퍼블리싱 · 디자인 조직 직접 보유, 우수디자인전문기업 (한국디자인진흥원)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매출액 (최근 3년, [별지 제2호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부문별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재무제표와 신용평가등급확인서는 정량제안서에 첨부함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제안사 조직 및 인원현황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조직 및 인원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 실 · 22개 팀, 129명) 기획 · 디자인 · 퍼블리싱 · 개발 · 운영 · 품질 조직을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 회사 안에 모두 갖춰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13개 누리집 유지관리를 외부 의존 없이 직접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45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대표이사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36684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경영 · 사업 총괄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81200" y="23580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최우식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2872800"/>
            <a:ext cx="4874400" cy="45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28728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부문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2944800"/>
            <a:ext cx="1807199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· 문화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4000" y="2944800"/>
            <a:ext cx="1807199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기업 플랫폼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81200" y="28728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· PMO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387600"/>
            <a:ext cx="4874400" cy="45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3876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 · 디자인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32800" y="34596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 기획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73600" y="34596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UI 디자인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14400" y="34596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퍼블리싱 · 접근성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33876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【실명】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3902400"/>
            <a:ext cx="4874400" cy="45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39024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 · 운영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3974399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Java · JSP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73600" y="3974399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 · SR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14400" y="3974399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9024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【실명】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417200"/>
            <a:ext cx="4874400" cy="450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4172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4892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73600" y="44892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점검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914400" y="44892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형상 관리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81200" y="44172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【실명】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03999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임직원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2026년 7월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 · 디자인 · 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웹표준 · 접근성 · 반응형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Java · JSP · Oracle · MariaDB · MySQL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· 보안 · PMO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· 보안 점검 · 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280800" y="825676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분야별 인원은 [별지 제3호 서식] 기준으로 확정 후 기입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주요사업 내용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분야별 주요 사업내용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주요 사업내용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(디지털 서비스 전 과정)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 · 디자인 · 구축 · 운영 · 유지관리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직접 수행하며, 공공 · 문화 분야에서는 국립중앙박물관 교육 플랫폼을 2년간 유지관리함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66798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286710"/>
                <a:gridCol w="17216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고객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대규모 기업 · 그룹 사이트 통합 운영, 공공 플랫폼 유지보수, SR 처리 · 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국립중앙박물관, ㈜엘지씨엔에스, 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역할별 권한 · 화면을 갖춘 통합운영 플랫폼 구축, 데이터 표준 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삼성에스디에스㈜, 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 ·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글로벌 표준 CX · UX/UI 가이드, 디자인 시스템, 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삼성전자㈜, 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Agent,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5133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5133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5187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5583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디지털 서비스 업력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5133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5133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5187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5583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국립중앙박물관 플랫폼 유지관리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5133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5133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5187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129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5583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임직원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6123985"/>
            <a:ext cx="6260400" cy="1204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612398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6167185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공공 · 문화 분야 운영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6411985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국립중앙박물관 교육 플랫폼 '모두'를 2024 ~ 2025년 유지보수하며 박물관 콘텐츠 · 교육 서비스 운영 절차를 익혔습니다.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799" y="6829434"/>
            <a:ext cx="5540400" cy="48118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8799" y="6865434"/>
            <a:ext cx="5432400" cy="42718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콘텐츠 게시 지원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접근성 대응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7418619"/>
            <a:ext cx="6260400" cy="1204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741861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7461819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다수 사이트 통합 운영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799" y="7706619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그룹사 다수 사이트를 하나의 운영 조직이 표준 절차로 운영해 온 경험을 13개 누리집 통합 운영에 적용합니다.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799" y="8124067"/>
            <a:ext cx="5540400" cy="48118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8799" y="8160067"/>
            <a:ext cx="5432400" cy="42718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 보고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주요사업 내용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유사사업 실적 (최근 3년, [별지 제14호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주요 사업실적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 · 유지관리 · 구축 7건)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국립중앙박물관 플랫폼 유지보수, 그룹 사이트 통합 운영, 통합운영 플랫폼 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유사사업 실적 (단위 백만원, 최근 계약일 순, 이행완료 기준)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4832064"/>
        </p:xfrm>
        <a:graphic>
          <a:graphicData uri="http://schemas.openxmlformats.org/drawingml/2006/table">
            <a:tbl>
              <a:tblPr firstRow="0" bandRow="0"/>
              <a:tblGrid>
                <a:gridCol w="391275"/>
                <a:gridCol w="2269395"/>
                <a:gridCol w="1252080"/>
                <a:gridCol w="626040"/>
                <a:gridCol w="1017315"/>
                <a:gridCol w="704295"/>
              </a:tblGrid>
              <a:tr h="604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04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2025.10.01 ~ 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144.000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 ~ 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2025.01.01 ~ 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661.298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5.0 운영고도화 CX 외주계약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2025.01.01 ~ 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1,235.530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(주)엘지경영개발원인화원 LG Awards 시스템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2025.01.01 ~ 2025.05.31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30.000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 ~ 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100.000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40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2024.04.02 ~ 2024.12.31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1,444.700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49606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수행 중인 사업 제외, 최근 계약일 순(최신 먼저) / 수행실적증명서 첨부 — 2026년 LG LIFE 및 그룹 홈페이지 운영(수행 중) 별도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71206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71206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76606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16206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 · 유지관리 · 구축
이행완료 (최근 3년)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71206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71206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76606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3,702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백만원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16206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실적 합계
(사업규모 198 대비 18.7배)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71206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71206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76606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16206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국립중앙박물관
유지보수 실적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주요사업 내용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3.2.2 본 사업에 적용하는 수행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주요 사업실적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발주기관 · 같은 업무) 국립중앙박물관 플랫폼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2년 유지관리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다수 사이트 통합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경험을 13개 소속박물관 누리집 통합 유지관리에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유지보수 · 개선 (2024 ~ 2025)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(같은 기관의 운영 기준) 국립중앙박물관 보안 · 원격 접속 · 산출물 · 월간보고 절차에 맞춘 유지보수 수행, 콘텐츠 게시 지원 · 기능 개선 · 웹 접근성 대응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MAR-001 콘텐츠 운영 지원, MAR-004 기능개선, MAR-010 웹 접근성, SER-004 보안 절차, PMR-005 산출물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11110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0967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LG LIFE 및 그룹 홈페이지 사이트 운영 (2025 ~ 수행 중)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420710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456710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(다수 사이트 단일 창구) 그룹사 다수 사이트를 하나의 운영 조직이 요청 접수 · 처리 · 배포 · 보고까지 표준 절차로 운영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MAR-002 통합 SR 체계, MAR-007 기관별 · 통합 통계 · 월간보고, PMR-002 13개 기관 대응 체계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58498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58354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CELLO SQUARE 통합운영플랫폼 구축 · 5.0 운영고도화 (2024 ~ 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6159419"/>
            <a:ext cx="6332400" cy="1142032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195419"/>
            <a:ext cx="6224400" cy="1106032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 중 고도화) 서비스 중단 없이 기능 개선 · 배포 · 성능 관리, 형상관리 · 테스트 환경 기반 배포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MAR-005 성능 관리, MAR-006 형상 · 배포 관리, QUR-001 품질관리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7391452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739145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기관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679452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운영 절차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811700" y="793325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8900" y="7391452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908900" y="739145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다수 사이트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4900" y="7679452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단일 창구 통합 운영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3403800" y="793325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01000" y="7391452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501000" y="739145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무중단 개선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7000" y="7679452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형상 · 배포 · 성능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995900" y="793325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93100" y="7391452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093100" y="739145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접근성 · UX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9100" y="7679452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웹표준 · 품질인증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수행조직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수행조직 및 업무분장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(임원급 용역책임자 + PM 단일 창구) 임원급 용역책임자가 사업을 책임지고, PM이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13개 기관의 단일 창구(SPOC)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응용SW · 퍼블리싱/디자인 담당을 지휘함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MHR-001, PSR-003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국립중앙박물관 디지털박물관과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13개 소속박물관 담당자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용역책임자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26799"/>
            <a:ext cx="36684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(임원급)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 책임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사업PM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423599"/>
            <a:ext cx="36684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— 단일 창구 (SPOC)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월 1회 방문 보고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848400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8484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9203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응용SW 유지관리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39203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퍼블리싱 · 디자인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8484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원격 수행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345200"/>
            <a:ext cx="4874400" cy="432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3452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지원 조직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점검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접근성 진단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예비 인력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3452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비상주 지원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4913999"/>
          <a:ext cx="6260400" cy="34700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업무분장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용역책임자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계약 이행 책임, 인력 · 자원 지원, 분기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 단일 창구, 일정 · 위험 · 품질 · 보안 관리, 월간보고 · 반기 실무자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응용SW 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누리집 오류 수정 · 기능개선, SR 처리, 장애 대응, 성능 · 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퍼블리싱 ·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개선, 웹표준 · 접근성 대응, 팝업 · 배너 · 이벤트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점검, 보안 취약점 점검, 웹 접근성 진단, 결원 시 대체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56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하도급 없이 당사 인력이 직접 수행 (Ⅴ.1 하도급 계획)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운영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 개요 및 추진 배경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개요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(통합 최초 사업) 13개 소속박물관이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기관별로 따로 맺던 누리집 유지관리를 국립중앙박물관 중심으로 통합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첫 사업으로, 서비스 편차 해소와 표준 운영체계 확립이 핵심임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457289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2027년 국립박물관 대표누리집 통합 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2027. 1. 1. ~ 12. 31. (12개월)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소요예산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198백만원 (부가가치세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제한경쟁입찰, 협상에 의한 계약 (기술 90 : 가격 10)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경주 · 광주 · 전주 · 부여 · 공주 · 진주 · 청주 · 김해 · 제주 · 춘천 · 나주 · 익산 · 대구 국립박물관 대표누리집 13종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JSP/Java, 한국문화정보원 문화정보통합센터(IDC) 가상화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93768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92328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목적 (RFP Ⅰ.2)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247289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24728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중단 없는 서비스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506489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장애 시 신속한 복구체계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4400" y="7247289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4400" y="724728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 편차 해소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400" y="7506489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 발주 · 통합 관리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7247289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724728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표준 원격 체계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7506489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 · 장애 · 정기보고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9600" y="7247289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79600" y="724728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담당자 부담 경감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5600" y="7506489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중앙집중형 관리체계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현황 문제와 통합 유지관리 개선 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현황 및 문제점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(개별 계약의 한계) 기관마다 업체 · 방식 · 보고가 달라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 수준이 들쭉날쭉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했으므로, 하나의 SR 도구 · SLA · 보고 체계로 13개 누리집을 같은 기준에서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MAR-001, MAR-002, MAR-007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67548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504160"/>
                <a:gridCol w="27389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 (개별 유지관리)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유지관리 개선 (요구사항)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· 창구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기관별 개별 계약 · 업체 ·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단일 창구 (SPOC) · 기관별 담당 지정 (MHR-001, PMR-002)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 게시판 등록 → 내부 처리 → 회신, 이력 단절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기반 통합 SR 도구 · 단계별 상태 · 영구 이력 (MAR-002)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 운영 · 통계 보고 표준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운영보고서 8개 항목 · 반기 실무자 회의 (MAR-007)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품질 편차, SLA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지표 · 처리 목표시간 공통 적용 (Ⅲ.5)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소스 · 산출물 보유 수준 상이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2개월 인수 · 현황자료 현행화 (PSR-001, MAR-006)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접근성 · 만족도 활동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조사 · 모니터링단 · 접근성 인증 공통 운영 (MAR-008~010)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7141492"/>
            <a:ext cx="6332400" cy="995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71954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사업 이해의 핵심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7393492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13개 누리집을 한 업체가 맡는 것만으로는 통합이 되지 않습니다. 같은 SR 도구 · 같은 처리 기준 · 같은 보고 양식으로 운영해야 기관 간 편차가 사라지고, 국립중앙박물관이 전체 현황을 한눈에 관리할 수 있습니다.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제안의 목적 · 범위 · 전제조건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(범위 경계를 명확히) 본 사업은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누리집 응용시스템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맡고, IDC 서버 · 상용SW · 네트워크 · 보안관제는 인프라 유지관리 사업과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역할을 나눠 합동 대응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357106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756239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응용시스템 — 서비스유지 · 오류수정 · 기능개선 · 콘텐츠 · 만족도조사 · 모니터링 · SR · 취약점점검 · DB 표준화 · 장애 1차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부가기능(게시판 · 검색 · 에디터 · 문서뷰어 · 문자발송) · 연계 콘텐츠 모니터링 및 연계 조율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(솔루션 결함은 제공업체)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IDC 가상화 서버 · 상용SW(OS · DBMS · WEB/WAS · 백신) · 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유지관리 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보안관제(방화벽 · 웹방화벽 · IPS · DDoS) · 백업 · 소산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유지관리 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05146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3706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시 확정할 전제조건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361061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361061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기존 산출물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620261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13개 누리집 소스 · 산출물 보유 현황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4400" y="6361061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4400" y="6361061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원격 접속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400" y="6620261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· IDC 승인 경로 · 단말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6361061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6361061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개발 환경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6620261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테스트 서버 · 유휴 장비 활용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9600" y="6361061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79600" y="6361061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인증 일정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5600" y="6620261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기관별 접근성 인증 만료일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800" y="7837061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6799" y="789106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범위 경계 원칙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6799" y="8089061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부가기능 · 연계 콘텐츠의 이상은 당사가 먼저 원인을 파악하고 해당 업체 · 기관에 즉시 통보해 조치가 끝날 때까지 조율합니다. 13개 기관 입장에서는 당사 한 곳에만 요청하면 됩니다.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제안의 특징 및 장점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(4가지 차별점) 국립중앙박물관 플랫폼 유지관리 경험 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통합 SR · 통합 모니터링 · 표준 인수 · 접근성 공통 개선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더해 첫 통합 사업을 안정적으로 시작함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MAR-002, PSR-001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1204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같은 기관을 이미 아는 사업자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국립중앙박물관 교육 플랫폼을 2년간 유지관리하며 보안 · 원격 · 보고 절차를 익혀 착수 첫 달부터 기관 기준에 맞게 운영합니다.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799" y="3063448"/>
            <a:ext cx="5540400" cy="48118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8799" y="3099448"/>
            <a:ext cx="5432400" cy="42718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· 원격 접속 절차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월간보고 · 산출물 양식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652633"/>
            <a:ext cx="6260400" cy="1204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652633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695833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13개 기관 하나의 SR 도구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799" y="3940633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기관별 계정 · 권한 분리, 단계별 상태, 기관별 · 전체 통계를 갖춘 웹 SR 도구를 착수 2주 안에 개통합니다.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799" y="4358082"/>
            <a:ext cx="5540400" cy="48118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8799" y="4394082"/>
            <a:ext cx="5432400" cy="42718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필수 기능 8종 충족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 담당자 통합 조회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947267"/>
            <a:ext cx="6260400" cy="1204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94726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99046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2개월 표준 인수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523526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13개 누리집을 3차수로 나눠 같은 체크리스트로 소스 · 산출물 · 계정 · 운영 현황을 인수하고 미비사항을 목록화합니다.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799" y="5652716"/>
            <a:ext cx="5540400" cy="48118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8799" y="5688716"/>
            <a:ext cx="5432400" cy="42718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누리집별 인수 체크리스트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미비사항 보완 계획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6241901"/>
            <a:ext cx="6260400" cy="1204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6241901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6285101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개선으로 효과를 13배로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799" y="6529901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13개 누리집이 같은 JSP/Java 환경임을 활용해 접근성 · 성능 · 보안 개선을 공통 모듈로 만들어 함께 적용합니다.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799" y="6947350"/>
            <a:ext cx="5540400" cy="48118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8799" y="6983350"/>
            <a:ext cx="5432400" cy="42718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공통 개선 패키지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기관별 일정 조율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757253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757253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4800" y="762653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4800" y="802253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국립중앙박물관 유지관리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9600" y="757253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39600" y="757253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47600" y="762653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47600" y="802253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SR 필수 기능 충족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62400" y="757253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62400" y="757253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70400" y="762653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70400" y="802253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2개월 표준 인수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목표 운영체계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(4계층 통합 운영체계)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기관 채널 · 통합 SR · 유지관리 수행 · 운영 기반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4계층으로 13개 누리집을 하나의 체계로 운영하고, 인프라 사업자와 연계함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MAR-001, MAR-002, MAR-007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4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기관 채널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국립중앙박물관 총괄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13개 소속박물관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이용자 · 모니터링단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요청 ·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62800"/>
            <a:ext cx="4874400" cy="54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628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SR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30348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SR 도구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30348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기관별 계정 · 통계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30348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알림 (메일 · 문자)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628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MAR-002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567600"/>
            <a:ext cx="4874400" cy="54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5676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유지관리 수행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오류 수정 · 기능개선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콘텐츠 · 화면 개선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장애 대응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5676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MAR-001 · 003 · 004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172400"/>
            <a:ext cx="4874400" cy="54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1724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활동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· 검색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접근성 · 표준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만족도 · 모니터링단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1724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MAR-005 · 008~010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777200"/>
            <a:ext cx="4874400" cy="540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7772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기반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8492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형상관리 · 테스트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8492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8492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7772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MAR-006 · 007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6800" y="5382000"/>
            <a:ext cx="4874400" cy="540000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5382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 기관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432800" y="5453999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 유지관리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73600" y="5453999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한국문화정보원 IDC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14400" y="5453999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솔루션 제공업체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1200" y="5382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합동 대응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16800" y="6058799"/>
          <a:ext cx="6260400" cy="176305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누리집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경주 · 광주 · 전주 · 부여 · 공주 · 진주 · 청주 · 김해 · 제주 · 춘천 · 나주 · 익산 · 대구 (JSP/Java, IDC 가상화)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상위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대표누리집 · e뮤지엄 · 공공문화정보 통합관리시스템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Rectangle 67"/>
          <p:cNvSpPr/>
          <p:nvPr/>
        </p:nvSpPr>
        <p:spPr>
          <a:xfrm>
            <a:off x="280800" y="7929856"/>
            <a:ext cx="6332400" cy="772583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06799" y="798385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운영체계의 핵심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6799" y="8181856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요청은 SR 도구로, 모든 상태는 모니터링으로, 모든 결과는 월간 운영보고서로 모입니다.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1.4.2 13개 누리집 운영 대상 및 관리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(누리집별 정/부 담당) 13개 누리집마다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 · 부 담당자를 지정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같은 점검 주기 · 처리 기준을 적용해 기관 간 서비스 수준을 맞춤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MAR-001, 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6768000"/>
        </p:xfrm>
        <a:graphic>
          <a:graphicData uri="http://schemas.openxmlformats.org/drawingml/2006/table">
            <a:tbl>
              <a:tblPr firstRow="0" bandRow="0"/>
              <a:tblGrid>
                <a:gridCol w="391275"/>
                <a:gridCol w="1330335"/>
                <a:gridCol w="2112885"/>
                <a:gridCol w="1212952"/>
                <a:gridCol w="1212952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URL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국립경주박물관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gyeongju.museum.go.kr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국립광주박물관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gwangju.museum.go.kr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국립전주박물관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jeonju.museum.go.kr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국립부여박물관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buyeo.museum.go.kr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국립공주박물관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gongju.museum.go.kr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국립진주박물관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jinju.museum.go.kr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국립청주박물관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cheongju.museum.go.kr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국립김해박물관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gimhae.museum.go.kr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국립제주박물관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jeju.museum.go.kr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국립춘천박물관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chuncheon.museum.go.kr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국립나주박물관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naju.museum.go.kr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국립익산박물관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iksan.museum.go.kr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국립대구박물관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daegu.museum.go.kr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【응용SW】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9198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정/부가 동시에 부재하지 않도록 휴가 · 교육 일정을 조정 (MHR-003)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비전 · 목표 ·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추진전략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(비전: 13개 박물관이 같은 품질로 서비스하는 누리집)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단일 창구 · 도구 기반 · SLA 기반 · 공통 개선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4대 전략으로 통합 유지관리 체계를 1년 안에 정착시킴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63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36684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13개 국립박물관 누리집, 하나의 품질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3052800"/>
            <a:ext cx="4874400" cy="63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30528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무중단 서비스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736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편차 해소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44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신속한 SR · 장애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81200" y="30528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추진목표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747600"/>
            <a:ext cx="4874400" cy="63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7476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32800" y="38196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단일 창구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38196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기관별 정/부 담당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37476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4442400"/>
            <a:ext cx="4874400" cy="63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44424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45144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SR 도구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45144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44424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도구 기반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5137200"/>
            <a:ext cx="4874400" cy="630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1372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52092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SLA 지표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4000" y="52092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월간 · 반기 보고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51372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SLA 기반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5832000"/>
            <a:ext cx="4874400" cy="630000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8320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4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32800" y="5903999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공통 개선 패키지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5903999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접근성 · 성능 · 보안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58320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공통 개선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6598799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65987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4800" y="6652799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4800" y="7048799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장애 착수 (근무시간)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908900" y="6598799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908900" y="65987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16900" y="6652799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16900" y="7048799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정상 가동 (근무시간)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501000" y="6598799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501000" y="65987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09000" y="6652799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09000" y="7048799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누리집 단일 창구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93100" y="6598799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93100" y="65987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01100" y="6652799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01100" y="7048799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통합 인수 완료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80800" y="7588799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06799" y="76427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성과 측정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6799" y="784079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목표마다 SLA 지표(가용률 · 장애 복구 · SR 처리)를 연결해 매월 달성 여부를 보고하고, 반기 실무자 회의에서 13개 기관과 함께 점검합니다.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4대 추진전략 세부 내용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추진전략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(전략 → 실행 과제 → 지표) 전략마다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실행 과제 · 산출물 · 측정 지표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정해 월간 운영보고서로 이행 결과를 확인함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12011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582415"/>
                <a:gridCol w="1330335"/>
                <a:gridCol w="133033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창구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SPOC 지정, 기관별 정/부 담당, 에스컬레이션 경로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체계표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회신 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우선순위 · 기관 간 충돌 조정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절차서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처리 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SR 도구 개통 · 계정 발급 ·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누리집 가용성 · 응답속도 통합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지표 · 목표값 협의, 월간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월간보고서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달성률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 · 성능 · 보안 공통 개선 → 13개 순차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개선 패키지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유지 13개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6586113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664011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첫 해 통합 사업의 성패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6838113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첫 두 달의 인수와 SR 도구 정착이 1년 운영의 품질을 좌우합니다. 인수 차수마다 결과를 보고해 미비사항을 조기에 드러내고, 기관 담당자가 SR 도구에 익숙해지도록 기관별 교육을 먼저 실시합니다.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663988"/>
            <a:ext cx="14976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663988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923188"/>
            <a:ext cx="14256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SPOC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4400" y="7663988"/>
            <a:ext cx="14976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4400" y="7663988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도구 기반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400" y="7923188"/>
            <a:ext cx="14256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 · 모니터링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7663988"/>
            <a:ext cx="14976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7663988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SLA 기반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7923188"/>
            <a:ext cx="14256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지표 · 보고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9600" y="7663988"/>
            <a:ext cx="14976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79600" y="7663988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공통 개선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5600" y="7923188"/>
            <a:ext cx="14256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13개 일괄 적용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위험 요소별 대안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위험 요소와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(통합 최초 사업의 위험)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인수 부실 · 요청 집중 · 복합 장애 · 인력 공백 · 접근성 인증 · 범위 분쟁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6대 위험을 착수 시 등록하고 위험마다 예방 · 대안을 준비함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MAR-003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67548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1252080"/>
                <a:gridCol w="1956375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 대안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부실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산출물 · 계정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전 기존 업체 협조 요청 공문, 인수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서버 소스 추출 · 역설계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집중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시기 SR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전시 개막 · 예약 개시 일정 사전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우선순위 조정 · 예비 인력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공방 · 복구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사업자 · IDC 합동 대응 절차 사전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무관 즉시 1차 대응 · 합동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 공백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정/부 동시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정/부 일정 조정 · 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예비 인력 1주 내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만료 · 재심사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만료일 관리 · 3개월 전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집중 개선 · 재진단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분쟁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초과 요청 거부 논란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M/D 산정 · 협의 절차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대안 제시 · 차기 계획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141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141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7195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 위험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7591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시 등록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141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141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7195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당일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7591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이슈 보고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141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141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7195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 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7591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예비 인력 투입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800" y="8131492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81854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위험 관리 방식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8383492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6대 위험을 착수 보고 때 위험관리대장에 등록하고 주간 점검에서 등급을 다시 평가합니다.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착수 2개월 통합 인수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위험 요소와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(3차수 표준 인수) 13개 누리집을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 · 4 · 5개씩 3차수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나눠 같은 체크리스트로 인수하고, 차수마다 결과와 미비사항 보완 계획을 보고함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MAR-006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1173825"/>
                <a:gridCol w="2738925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누리집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1 ~ 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【4개 기관 — 요청 빈도 · 규모 기준 선정】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4주 ~ 2월 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【4개 기관】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2월 2 ~ 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【5개 기관】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3 · 종합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820097"/>
          <a:ext cx="6260400" cy="275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소스와 형상 저장소 일치 여부, 설정파일, 빌드 · 배포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매뉴얼 · DB 명세 보유 여부, 최신화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 ·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· DB · 서버 접근 계정, 원격 접속 경로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 구조 · 기능 · 연계 · 솔루션 버전 · 담당자 (MAR-006 현황자료)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682097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7360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인수 중에도 서비스는 계속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7934097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인수 기간에도 1월 1일부터 SR 접수와 장애 대응은 즉시 시작합니다. 인수 전 누리집은 기존 업체 인계 자료와 운영 서버 확인으로 1차 대응합니다.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시스템 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통합 유지관리 운영 절차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운영 절차 및 방법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(접수 → 검토 → 처리 → 확인 → 보고) 모든 요청을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SR 도구 한 곳에서 접수해 기관 확인까지 끊김 없이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처리하고, 결과는 월간 운영보고서로 모음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MAR-001, MAR-002, MAR-004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SR 도구 등록 (기관 담당자)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접수 즉시 회신 · 처리 예정일 안내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접수 4시간 이내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15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15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21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유형 · 범위 · 소요 M/D 산정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범위 초과 시 대안 · 협의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15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담당자 · 기한 지정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41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41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01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테스트 환경 검증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배포 · 롤백 방안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941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형상 이력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73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73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80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요청 기관 확인(검수)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완료 알림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73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종결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525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525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597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633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월간 운영보고서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633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반기 실무자 회의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525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통계 · 개선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371999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95637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회신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단순 문의 · 콘텐츠 게시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오류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소규모 기능개선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협의된 일정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639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처리 목표시간은 RFP MAR-002 기준, 세부 기준은 SLA 체결 시 협의하여 확정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시스템 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통합 SR 처리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운영 절차 및 방법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(필수 기능 8종 충족) 웹 브라우저로 접속하는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SR 처리 도구를 착수 2주 안에 개통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13개 기관 계정 · 권한 분리와 기관별 · 전체 통계를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5298640"/>
        </p:xfrm>
        <a:graphic>
          <a:graphicData uri="http://schemas.openxmlformats.org/drawingml/2006/table">
            <a:tbl>
              <a:tblPr firstRow="0" bandRow="0"/>
              <a:tblGrid>
                <a:gridCol w="391275"/>
                <a:gridCol w="2347650"/>
                <a:gridCol w="35214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필수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브라우저 접수 (별도 SW 불필요)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SR 도구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· 구성 확정】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모바일 브라우저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기관별 계정 ·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프로젝트 · 역할 권한, 자기 기관 요청만 조회 ·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상태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→ 검토 → 처리중 → 완료 → 확인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유형 · 처리기한 · 담당자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/ 기능개선 / 콘텐츠 / 문의 유형, 기한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영구 보존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이력 보존, 사업 종료 시 전량 이관 (CSV · DB 덤프)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· 전체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건수 · 유형별 · 기간별 · 평균 처리시간 · 지연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· 완료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이메일 · 문자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첨부파일 등록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캡처 · 문서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76464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764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1주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05264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도구 구성 · 계정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06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76464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764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2주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05264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개통 · 기관 교육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06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76464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764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1개월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05264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이용 정착 점검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06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76464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764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05264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 · 보고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06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76464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764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05264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이력 전량 이관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902464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국립중앙박물관 총괄 담당자는 13개 기관 전체 현황을 통합 조회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시스템 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통계 산출 및 정기 보고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운영관리 정책 · 통계 · 보고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(월간보고 = 검수 요건) 13개 누리집 이용통계와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8개 필수 항목을 담은 월간 운영보고서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매월 제출하고, 기관 담당자는 자기 기관 통계를 직접 조회함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412808"/>
        </p:xfrm>
        <a:graphic>
          <a:graphicData uri="http://schemas.openxmlformats.org/drawingml/2006/table">
            <a:tbl>
              <a:tblPr firstRow="0" bandRow="0"/>
              <a:tblGrid>
                <a:gridCol w="391275"/>
                <a:gridCol w="2504160"/>
                <a:gridCol w="33649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운영보고서 필수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누리집별 가용률 · 장애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 가용성 측정 · 장애보고서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접수 · 처리 현황 · 미처리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통계 (기관별 · 유형별 · 기간별)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기능개선 수행 · 진행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· 형상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측정 ·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응답속도 · 첫 화면 로딩 · 페이지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이용통계 (기관별 · 전체)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방문자 · 페이지뷰 · 기기 · 브라우저 · 유입 · 인기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 ·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취약점 점검 · 웹쉘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측정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표준안 · IRM 등급별 필수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익월 계획 · 건의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요청 · 개선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878808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(PM 방문)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운영보고서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실무자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운영결과 보고 · 요구 수렴 → 2주 내 조치계획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연간 결과 · 성과 · 미해결 과제 · 차년도 권고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시스템 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3.2.2 통합 모니터링 · 성능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운영관리 정책 · 통계 · 보고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(이상을 먼저 발견) 13개 누리집의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가용성 · 응답속도를 5분 주기로 자동 점검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「전자정부 웹사이트 품질관리 지침」 성능 기준에 맞춰 개선함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MAR-005, MAR-003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4744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756239"/>
                <a:gridCol w="11738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누리집별 주요 페이지 자동 호출 · 이상 시 담당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응답속도 · 첫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로딩 시간 · 페이지 용량 측정, 기준 초과 페이지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비효율 SQL · 대용량 이미지 · 불필요 스크립트 분석 ·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집중 접속 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전시 개막 · 예약 개시 일정 사전 점검 · 인프라 사업자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정상 동작 · 색인 정합성 · 주요 검색어 결과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· 모바일 기기별 표시 오류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분기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9404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9404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69944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73904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가용성 자동 점검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69404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69404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69944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73904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누리집 통합 대시보드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69404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69404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69944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73904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 개선 보고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800" y="7930497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79844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인프라 이상 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8182497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자원 사용량 · 트래픽 이상은 즉시 인프라 유지관리 사업자에 통보하고 원인 확인에 함께 참여합니다 (MAR-005).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시스템 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장애 대응 기준 및 절차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비상상황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(2시간 착수 · 4시간 정상화) 장애통보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2시간(근무시간 외 4시간) 내 착수, 4시간(외 8시간) 내 정상 가동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지키고, 24시간 365일 비상연락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MAR-003,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96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152012"/>
                <a:gridCol w="2152012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근무시간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처리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가동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정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· 휴일 당번 · 부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662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662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감지 · 접수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73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77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모니터링 알림 · 기관 신고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77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장애 등급 분류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662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즉시 보고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5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5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대응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2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56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원인 구분 (응용 / 인프라)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56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응급 조치 · 임시 안내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5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2시간 내 착수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245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245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317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353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복구 지침 수행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353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합동 대응 (인프라 · IDC)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245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4시간 내 정상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37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37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09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45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장애보고서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45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예방 조치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37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매뉴얼 갱신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7883999"/>
          <a:ext cx="6260400" cy="1142528"/>
        </p:xfrm>
        <a:graphic>
          <a:graphicData uri="http://schemas.openxmlformats.org/drawingml/2006/table">
            <a:tbl>
              <a:tblPr firstRow="0" bandRow="0"/>
              <a:tblGrid>
                <a:gridCol w="62604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장애보고서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장애내역 · 등급 · 원인분석 · 발생 · 조치경과(일시 · 확인 · 조치자) · 향후 위험요소 · 재발방지 조치 · 장애처리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시스템 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3.3.2 복합장애 합동 대응 및 장애 예방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비상상황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(원인 소재와 무관하게 먼저 움직임) 응용 · 인프라 원인이 불분명해도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즉시 1차 대응하고 인프라 사업자 · IDC와 합동 점검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누리집별 장애 시나리오로 예방함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MAR-003, QUR-001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장애 접수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당사 1차 대응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계층 점검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응용 로그 · 응답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합동 점검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인프라 · IDC 통보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공동 복구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역할 분담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공유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 · 개선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654000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756239"/>
                <a:gridCol w="11738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일일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접속 · 주요 기능 · 부가기능(게시판 · 검색 · 에디터 · 뷰어 · 문자)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· 오류 추이 · 용량 · 보안 패치 영향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누리집별 장애 시나리오 · 등급별 복구 지침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2개월 · 분기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모의훈련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장애 모의훈련 참여 ·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1회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6674097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67280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원인 공방 없는 대응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6926097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원인 소재를 이유로 대응을 미루지 않습니다. 당사가 먼저 응용 계층을 점검해 결과를 공유하고, 인프라 계층이 원인이면 해당 사업자의 복구를 지원합니다.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7554681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16800" y="755468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4800" y="7608681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매일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00" y="8004681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일일 예방점검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01000" y="7554681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01000" y="755468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09000" y="7608681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09000" y="8004681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누리집 장애 시나리오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시스템 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3.4.1 이용자 만족도 조사 · 누리집 모니터링단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서비스 품질 향상 활동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 목소리로 개선)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 1회 온라인 만족도 조사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하반기 모니터링단(회당 10명 이상)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운영하고, 결과를 기관별로 분석해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MAR-008, MAR-009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87753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621542"/>
                <a:gridCol w="2621542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조사 (MAR-008)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모니터링단 (MAR-009)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1회 (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상반기 · 하반기 (연 2회)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 · 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조사, 배너 · 팝업 참여 유도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국민 회당 10명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편의성 · 콘텐츠 충실도 · 검색 · 디자인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오탈자 · 깨진 링크 · 메뉴 · 콘텐츠 정확성 · 모바일 · 개선 의견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· 전체 구분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분류 · 조치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계획 · 시행 · 결과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완료 / 장기 검토 / 조치 불가 사유 · 대안 (분기 보고)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34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34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63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항목 · 대상 협의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93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34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34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모집 · 안내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63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배너 · 공지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93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34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34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63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 · 과제 수행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93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34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34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63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기관별 결과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93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34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34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63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 ·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7711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모니터링단 사례비는 주관기관 부담 — 당사는 명단 · 참여 확인 · 선정 자료 제출로 지급 절차 지원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7927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7927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7981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연 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377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만족도 조사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927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7927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7981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연 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377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모니터링단 (회당 10명+)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927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7927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7981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분기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377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결과 보고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시스템 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3.4.2 웹 접근성 품질인증 · DB 표준화 · 공공문화정보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서비스 품질 향상 활동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(13개 인증 유지) 기관별 인증 만료일에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KWCAG 2.2 사전 진단 → 개선 → 신청 · 심사 대응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지원하고, 문체부 DB 표준화와 공공문화정보 연계를 연 1회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MAR-010, PSR-005, 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일정 관리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13개 기관 인증 만료일 정리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3개월 전 착수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인증 일정표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 진단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진단도구 · 전문가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KWCAG 2.2 기준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진단 결과서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공통 개선 → 기관별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호환성 · 표준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결과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신청 · 심사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신청 서류 작성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심사 대응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인증 획득 · 갱신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5844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677985"/>
                <a:gridCol w="11738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표준화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문화체육관광부 주관 공공기관 데이터베이스 표준화 · 품질관리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공공문화정보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공공문화정보 통합관리시스템 메타데이터 연계, 스키마 · 코드 · 수집 query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웹표준 ·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브라우저 · 모바일 호환성 점검 ·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분기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524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인증 심사 · 수수료는 주관기관 부담 (MAR-010), 진단 · 개선 · 신청 지원은 당사 수행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사업관리 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업무분장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조직운영 및 인력투입계획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유지보수 수행방안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서비스수준 관리방안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위험 및 이슈관리방안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보고 및 검토계획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기타 관리방안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및 13개 기관 대응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단일 창구 + 기관별 담당) PM이 13개 기관의 단일 창구를 맡고, 누리집마다 정/부 담당을 지정해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응대 시간 · 수단 · 에스컬레이션 경로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명확히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MHR-001, 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565100"/>
                <a:gridCol w="367798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·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정/부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SR · 문의 응대 (평일 09:00 ~ 18:00, SR 도구 · 전화 · 메일)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지연 · 범위 초과 · 기관 간 요청 충돌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용역책임자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 장애 · 계약 이슈 · 인력 추가 투입 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· 휴일 당번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접수 (24시간 · 365일 비상연락망)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299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&gt; 보안 &gt; 오류 &gt; 콘텐츠 게시 &gt; 기능개선 순, 기관 일정(전시 개막 등)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간 충돌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기간 다수 요청 시 PM이 처리 순서안 제시 → 주관기관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M/D 산정 · 사유 · 대안 제시 → 주관기관 · 해당 기관 협의 후 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682097"/>
            <a:ext cx="6332400" cy="772583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7360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연락 체계 공유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7934097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비상연락망(주 · 부 담당)을 주관기관과 13개 기관에 착수 시 제공하고, 변경 시 즉시 갱신합니다.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조직운영 및 인력투입계획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분야별 투입인력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투입인력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 분야 · 원격 수행) RFP 분야(사업 총괄 · 응용SW · 퍼블리싱/디자인)별로 인력을 배치하고, 13개 누리집의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Java/JSP · Windows/Linux · Apache · Tomcat · Oracle · MariaDB · MySQL 환경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모두 다루는 인력을 투입함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MHR-001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4992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782550"/>
                <a:gridCol w="1252080"/>
                <a:gridCol w="704295"/>
                <a:gridCol w="24259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·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 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 ·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SPOC, 일정 · 품질 · 보안 관리, 월간보고 · 반기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응용SW 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 ·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누리집 오류 수정 · 기능개선 · SR ·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응용SW 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 ·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형상 · 보안 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퍼블리싱/디자인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 ·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개선 · 웹표준 · 접근성 · 팝업 · 배너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(비상주)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 ·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진단 · 보안 점검 · 예비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3749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분야별 인원 · 투입률은 사업비 규모를 고려해 확정 / 착수계 제출 시 기술경력증명서 · 졸업증명서 · 4대보험 자료 제출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590995"/>
          <a:ext cx="6260400" cy="2484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역량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 ·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Java · JSP · Spring · JavaScript · HTML5 · CSS3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WEB/WAS · 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Apache · Nginx · Tomcat, Windows · Linux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· MariaDB · MySQL, SQL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조직운영 및 인력투입계획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인력 운영 · 변경 · 근무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인력 운영 ·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(원격 원칙 · 현장 대응 확보) 원격 수행을 원칙으로 하되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필요 시 현장 방문 인력을 확보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PM은 사업 기간 중 교체하지 않으며 변경 시 2주 병행 인수인계함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MHR-001, MHR-002, MHR-003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749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수행 원칙, 장애 · 협의 · 회의 시 현장 방문 (서울 본사 → 소속박물관 당일 이동 계획)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 이상 국립중앙박물관 방문 보고, 반기 1회 실무자 회의 참석, 사업 기간 중 교체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2주 전 사전 협의 · 승인, 동급 이상 교체, 2주 병행 근무 인수인계 (인건비 별도 청구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정/부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업무별 정/부 담당, 동시 부재 금지, 주말 · 휴일 당번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근무상태 자체 관리 · 발주기관 협의, 야간 · 휴일 근무 수당은 당사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역량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 자체 서비스 교육, 연 2회 전문 강사 교육, 개인정보 · 보안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0409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0409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70949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74909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PM 교체 (사업 기간)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0409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0409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70949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74909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교체 시 병행 근무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0409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0409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70949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74909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PM 방문 보고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800" y="8030995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80849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확인 사항 (서면 질의)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828299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RFP의 '비상주(원격) 수행 원칙'(MHR-001)과 '동일 장소 합동 상주'(MHR-003) 문구는 비상주 원칙을 기준으로 이해했으며, 본공고 전 의견으로 확인합니다.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정보시스템 유지보수 수행방안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오류 수정 · 콘텐츠 운영 지원 · 환경 변화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유지보수 수행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(13개 누리집 공통 절차) 오류는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원인 분석 → 수정 → 재발방지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콘텐츠는 게시 지원 · 기술 문의 응대, 조직 · 전시실 개편은 구조 변경으로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MAR-001, PSR-002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62524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· 기능 결함 조치, 원인 분석 · 재발방지 대책, 디자인 개선 · 퍼블리싱 · 검색 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부가기능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게시판 · 첨부 · 검색 · 웹에디터 · 문서뷰어 · 문자발송 상시 확인, 이상 시 솔루션 업체 연계 (결함 수정은 제공업체)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운영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전시 · 교육 · 행사 · 소장품 콘텐츠 게시 오류 조치 · 게시 지원, 담당자 기술 문의 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 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 개편 · 전시실 개편 · 관람정책 변경 시 내용 · 구조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대표누리집 · e뮤지엄 연계 변경 협의, 연계 오류 원인 파악 · 즉시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환경설정 · 응용SW 설치 · 설정 변경, 장비 · OS · DBMS 교체 · 업그레이드 시 변경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091244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091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50444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 · 재현 · 영향 범위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7091244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7091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수정 ·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7350444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테스트 환경 · 기관 확인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7091244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7091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7350444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결함은 13개 일괄 점검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정보시스템 유지보수 수행방안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소규모 기능개선 절차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유지보수 수행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(사업자가 임의 판단하지 않음) 기능개선은 SR로 접수해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소요 M/D · 일정을 산정 · 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범위 내 처리 여부를 주관기관 · 해당 기관과 협의해 결정함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SR 도구 접수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 내용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기능개선 SR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산정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소요 M/D · 일정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영향 범위 · 접근성 검토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산정서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협의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범위 내 처리 여부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주관기관 · 기관 협의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처리 결정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개발 · 시험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테스트 환경 사전 검증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접근성 · 표준 준수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 결과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반영 · 안내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배포 · 롤백 방안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공지 · 공문 안내 지원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 보고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기능개선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편의성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 · 검색 · 예약 안내 화면 개선, 모바일 화면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· 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취약점 · 개인정보 보호 조치, 보안평가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·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변경 반영, OS · DBMS 등 환경 변화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 · 이벤트 페이지 제작, 팝업 · 배너 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정보시스템 유지보수 수행방안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소스 · 산출물 형상관리 및 배포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형상 · 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(13개 누리집 하나의 형상 저장소) 소스 · 설정 · 산출물을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누리집별 저장소로 버전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테스트 환경 검증 · 롤백 방안을 갖춘 배포만 운영에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MAR-006, PMR-005, QUR-001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9524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누리집별 형상 저장소 (Git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), 변경 사유 · 일시 · 담당 · 내역 기록, 주석에 개선 일시 · 이슈 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매뉴얼 · 현황자료 · 장애보고서 · 표준산출물 버전 관리, EA 시스템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산출물 · 응용 설정을 발주기관 지정 장소에 주기 백업 (서버 · 데이터는 인프라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환경 검증 → 기관 일정 협의 → 배포 → 롤백 대비, 배포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 구조 · 기능 · 연계 · 솔루션 버전 · 담당자 — 착수 2개월 제출, 분기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61244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61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49244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 번호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05704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61244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61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49244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브랜치 · 주석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05704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61244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61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49244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테스트 DB · 환경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05704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61244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61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49244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일정 협의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05704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61244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61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49244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이력 · 롤백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865244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865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919243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315244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배포 전 테스트 검증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01000" y="7865244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01000" y="7865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09000" y="7919243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분기 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9000" y="8315244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현황자료 현행화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정보시스템 유지보수 수행방안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3.2.2 산출물 종류 및 제출 시기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형상 · 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 연계) 착수 · 공통 · 유지관리 · 완료 단계별 산출물을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RFP 제출 기한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맞춰 제출하고, SW사업정보 데이터를 산출물 목록에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PMR-005, 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07642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756239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기한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착수계 · 사업수행계획서 (조직 · 방법론 · 일정 · 품질 · 위험 · 보안 · 13개 기관 대응 체계)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· 13개 누리집 현황자료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후 2개월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및 절차 매뉴얼(SPM)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1회 · 요청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월간보고서 · 실적보고서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주간업무보고 / 월간업무보고 · 보안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/ 월간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운영매뉴얼 · 웹접근성 진단 결과 · 보안취약점 진단 결과(대표이사 확약서) · 만족도 · 모니터링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사업완료보고 · 외부인력 보안 관리 확인서 · 업무 인수인계 확인서 · SW사업정보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검사완료 후 7일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50642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월간 운영보고서 제출 · 확인은 월별 검수 및 기성금 지급 요건 (MAR-007)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6722424"/>
            <a:ext cx="6332400" cy="75542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67764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산출물 작성 원칙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6974424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「정보시스템 구축 · 운영 지침」 제44조 표준산출물 기준으로 작성하고, 유지관리 수행에 따른 변경을 버전으로 현행화합니다.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585851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58585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800" y="7639851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4800" y="8035851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수행계획서 제출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01000" y="7585851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01000" y="758585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09000" y="7639851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9000" y="8035851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완료 산출물 (검사 후)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품질보증방안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품질보증 조직 · 방법 · 절차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품질보증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(수행 담당과 분리된 품질 점검) 품질 담당이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계획 · 점검 · 시정 · 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매월 품질을 확인하고, 「정보시스템 구축 · 운영 지침」의 반복 업무를 매뉴얼로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PMR-001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품질보증 계획 · 점검표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SLA · 산출물 기준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품질보증 계획서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배포 전 코드 · 접근성 · 보안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월간 산출물 검토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 결과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· 미흡 시정 요구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재점검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완료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지표 월간 보고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과제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 보고서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400" cy="2880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상태 1일 24시간 · 365일 상시 운영 (점검기간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표준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개발 서비스 KWCAG 2.1 이상 · 전자정부 웹사이트 품질관리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개발보안 가이드 준수, 배포 전 보안약점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연관 기능 데이터 일관성, DB 품질 정비 · 공공데이터 품질관리(연 1회)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SP인증 등 품질인증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【보유 여부 · 인증명 확인 후 기입】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352000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406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품질보증 인력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60400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품질 점검은 수행 담당이 아닌 지원 조직의 품질 담당 </a:t>
            </a:r>
            <a:r>
              <a:rPr sz="11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 맡아 객관성을 확보합니다.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서비스수준 관리방안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SLA 지표 선정 및 적용 ·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SLA 지표 및 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가능한 약속)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 가용률 · 장애 복구 · SR 처리 · 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4개 영역 지표를 IRM 등급별 필수 지표와 함께 적용하고, 매월 측정 결과를 보고함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MAR-002, MAR-003, MAR-007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61558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721610"/>
                <a:gridCol w="1799865"/>
                <a:gridCol w="17998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SLA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(제안)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가용률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【99.5】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 이상 (점검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 5분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처리 착수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(외 4시간) 이내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장애보고서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가동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 (외 8시간) 이내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장애보고서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장애 재발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내 재발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회신 준수율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기한 준수율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운영보고서 적기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08158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0815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 협의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6958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1개월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6233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08158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0815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SLA 체결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6958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표준안 적용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6233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08158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0815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월간 측정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6958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수동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6233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08158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0815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 · 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6958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미달 원인 분석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6233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08158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0815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 조정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6958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반기 검토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3415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목표값은 제안값이며 SLA 체결 시 주관기관과 협의하여 확정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위험 및 이슈관리방안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위험 · 이슈 관리 절차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위험 · 이슈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(발견 당일 보고) 위험은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식별 · 평가 · 대응 · 추적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이슈는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등록 · 담당 · 기한 · 종결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관리하고, 등급이 높은 이슈는 당일 주관기관에 보고함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주간 점검 · SR 추이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기관 의견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위험관리대장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15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15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21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발생 가능성 × 영향도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등급 (상 · 중 · 하)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15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대응 우선순위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41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41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01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예방 · 완화 계획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941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계획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73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73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추적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80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월간 보고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73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종결 · 교훈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579999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중단 · 보안 사고 · 다수 기관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(유선) + 당일 서면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지연 · 일부 기능 장애 · 기관 간 충돌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문의 · 경미한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7883999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37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요구사항 추적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35999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접수된 요구사항이 완료까지 추적되도록 SR 번호로 관리하고, 월간 보고 시 요구사항 추적표를 제출합니다 (PMR-002).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추진일정계획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12개월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추진일정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(첫 2개월 인수 · 이후 정례 운영) 1 ~ 2월에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인수 · SR 도구 · 현황자료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마치고, 3월부터 정례 운영 · 품질 활동을 연간 일정에 고정함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34598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91275"/>
                <a:gridCol w="391275"/>
                <a:gridCol w="391275"/>
                <a:gridCol w="391275"/>
                <a:gridCol w="391275"/>
                <a:gridCol w="391275"/>
                <a:gridCol w="391275"/>
                <a:gridCol w="391275"/>
                <a:gridCol w="391275"/>
                <a:gridCol w="391275"/>
                <a:gridCol w="391275"/>
                <a:gridCol w="3912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인수 (3차수)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개통 ·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현황자료 작성 ·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유지관리 · SR ·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실무자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모니터링단 (상 · 하반기)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만족도 조사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진단 ·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표준화 (연 1회)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인수인계 · 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775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만족도 조사 · 모니터링단 · 인증 일정은 착수 시 주관기관과 협의하여 확정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799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99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804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844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통합 인수 완료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99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99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804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844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월간 운영보고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99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99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804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844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반기 실무자 회의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추진일정계획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7.1.2 마일스톤 · 중간목표 · 자원 배분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추진일정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(중간목표로 일정 통제) 6개 마일스톤마다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완료 기준과 확인 주체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정하고, 인수 기간에는 응용SW 인력을 집중 배치함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46410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2817180"/>
                <a:gridCol w="11738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MS1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 승인 · 보안서약 · 비상연락망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MS2 SR 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개통 · 13개 기관 계정 ·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 · 13개 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MS3 인수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2월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결과서 3건 · 현황자료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MS4 상반기 결산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실무자 회의 · 모니터링단 1차 · SLA 반기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 · 13개 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MS5 품질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조사 · 모니터링단 2차 · 접근성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MS6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완료보고서 · 인수인계 · SR 이력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7107076"/>
          <a:ext cx="6260400" cy="185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배분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~ 2월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응용SW 집중 (인수 · 현황자료), 퍼블리싱은 SR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~ 12월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응용SW · 퍼블리싱 정례 운영, 품질 활동 시기에 지원 조직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8. 보고 및 검토계획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8.1.1 보고회의 및 검토계획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8.1 보고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(정기 · 수시 보고) 착수 · 주간 · 월간 · 반기 · 완료 보고를 운영하고,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PM이 매월 국립중앙박물관을 방문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월간 운영보고와 검수를 진행함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MAR-007, 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0714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1095570"/>
                <a:gridCol w="1486844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 ·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 · 13개 기관 대응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→ 주관기관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· 장애 · 주요 이슈 (서면)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(방문)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 ·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운영보고서 · SLA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실무자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반기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 · 주관기관 ·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운영결과 · 요구 수렴 → 2주 내 조치계획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기관 ·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· 보안 · 긴급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 · 용역책임자 ·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연간 결과 · 성과 · 차년도 권고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73146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7314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61146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 · 장애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6573146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657314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월간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861146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 · 검수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6573146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657314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861146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실무자 회의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6573146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657314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861146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완료보고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0800" y="7869146"/>
            <a:ext cx="6332400" cy="575291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6799" y="79231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검토 결과 반영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6799" y="8121146"/>
            <a:ext cx="6080400" cy="26929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보고회의에서 나온 요구 · 지적 사항은 SR로 등록해 처리 결과까지 추적합니다.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9. 기타 관리방안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사업관리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9.1.1 전자적 사업진척관리 · EA 관리 · 지침 준수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9.1 전자적 사업진척 · EA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(도구로 투명하게) SR 도구 · 형상 저장소 · 모니터링 대시보드로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진척을 전자적으로 공유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변경 내용은 국립중앙박물관 EA 시스템에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QUR-001, 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전자적 진척관리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통계 · 형상 이력 · 모니터링 대시보드를 주관기관이 상시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· 시스템 변경 내용을 EA 시스템에 반영, 연계정보 정리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행정기관 및 공공기관 정보시스템 구축 · 운영 지침 (2025-1호), 제59조 반복 업무 매뉴얼화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SW사업정보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SW사업정보 데이터 PM 1차 작성 · 제출, 단계별 산출물 목록에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951328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495132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SR 도구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210528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 · 처리 · 통계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4951328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495132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형상 저장소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210528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 · 산출물 이력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4951328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495132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210528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가용성 · 성능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16800" y="6211328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접수 · 처리 · 지연 건수,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누리집별 배포 이력 · 변경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가용률 · 응답속도 · 장애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280800" y="8227328"/>
            <a:ext cx="6332400" cy="56671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6799" y="8281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연계정보 정리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799" y="8479328"/>
            <a:ext cx="6080400" cy="26071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 · 외부 시스템 간 연계정보를 정리해 시스템 개발 참고자료로 관리합니다 (QUR-001).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지원부문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운영지원계획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기술이전계획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보안사항 이행방안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비상대책계획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기타 지원사항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교육훈련계획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대상자별 교육훈련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교육훈련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(대상별 맞춤 교육) 기관 담당자에게는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SR 도구 · 콘텐츠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주관기관 관리자에게는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통합 조회 · 운영 현황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투입인력에게는 서비스 · 보안 교육을 실시함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PSR-004, MAR-002, MHR-003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415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04160"/>
                <a:gridCol w="1252080"/>
                <a:gridCol w="133033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기관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사용법 · 콘텐츠 등록 · 수정 · 팝업 · 배너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· 매뉴얼 · 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(개통 시) · 신규 담당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주관기관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조회 · 통계 · SLA · 모니터링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1월 · 반기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전화응대 · 시스템별 서비스 · 개인정보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· 전문 강사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· 연 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인사이동 시 누리집 운영 기초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407585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도구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담당자용 · 관리자용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누리집별 콘텐츠 관리 · 자주 묻는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 3분 영상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711585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7115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765585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기관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161585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담당자 교육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01000" y="7711585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1000" y="77115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9000" y="7765585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연 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9000" y="8161585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전문 강사 교육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운영지원계획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유지관리 계획 · 조직 · 절차 · 범위 · 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유지관리 운영지원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(12개월 통합 운영) 유지관리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범위 · 조직 · 절차 · 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명확히 정하고, 문화체육관광부 · 주관기관 · 연계기관과의 협조 체계로 현안을 해결함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MAR-001, PSR-002, 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47449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연간 운영계획 · 월간 계획 수립, 정례 품질 활동 일정 고정 (Ⅲ.7)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용역책임자 · PM · 응용SW · 퍼블리싱/디자인 · 지원 조직 (Ⅰ.4)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→ 검토 → 처리 → 확인 → 보고 (Ⅱ.3.1), 장애 대응 절차 (Ⅱ.3.3)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13개 누리집 응용시스템 · 부가기능 모니터링 · 연계 조율 (인프라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2027.1.1 ~ 12.31, 차기 사업자 미선정 시 자동 연장 기간 동일 수준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문화체육관광부 · 주관기관 · 연계기관 역할 정의, 현안 · 법제도 개선 협의 (PSR-003)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940497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940497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· 총괄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7012497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문화체육관광부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7012497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국립중앙박물관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6940497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협의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7401297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7401297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7473297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 (응용 유지관리)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7473297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13개 소속박물관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7401297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요청 · 처리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7862097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7862097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7934097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 유지관리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4000" y="7934097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한국문화정보원 · 솔루션 업체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7862097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합동 대응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운영지원계획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사업 종료 인수인계 · 기술지원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인수인계 ·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(차기 사업자도 바로 운영) 종료 2주 전 산출물을 완비하고,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종료 1개월 전부터 인계 · SR 이력 전량 이관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운영 공백 없이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PSR-002,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1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인수인계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1개월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차기 사업자 인계 착수, 누리집별 인계 일정 ·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2주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산출물 · 인수인계 자료 작성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이력 전량 이관 (이관 가능 형태), 인수인계확인서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미선정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계약 전까지 유지관리 계속 수행 (일할 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80000"/>
          <a:ext cx="6260400" cy="248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주기적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업무장애 · 외부시스템 장애 시 긴급복구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 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· OS · DBMS 교체 · 업그레이드 시 시스템 변경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·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이전 · 재구성 요청 시 지원방안 제출 ·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172000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22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인수와 같은 기준으로 인계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424000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때 사용한 인수 체크리스트를 그대로 인계에 사용해, 차기 사업자가 같은 기준으로 확인할 수 있게 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기술이전계획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운영 노하우 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(노하우를 기관 자산으로) 13개 누리집의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· 장애 대응 · 배포 노하우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매뉴얼과 실습으로 주관기관 관리자에게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10769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82415"/>
                <a:gridCol w="1173825"/>
                <a:gridCol w="125208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 · 기능 · 연계 · 솔루션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현황자료 ·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3월 · 분기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 · 배포 · 롤백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·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시나리오 · 복구 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모의훈련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 · 성능 · 보안 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· 설명회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구조 · 표준화 · 공공문화정보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·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276769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27676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564769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매뉴얼 · 현황자료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687256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6276769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627676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설명회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564769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주관기관 관리자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687256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6276769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627676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564769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배포 · 장애 훈련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687256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6276769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627676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564769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결과 보고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0800" y="7680769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6799" y="773476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지속적 정보 제공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6799" y="793276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기간 중 관련 분야 정보기술 동향과 보안 권고를 월간 운영보고서에 함께 제공합니다.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보안사항 이행방안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보안지침 준수 · 관리적 · 물리적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이행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전 과정 보안) 국가 사이버보안 기본지침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보안지침을 준수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대표자 보안서약 · 비밀유지계약 · 누출금지 정보 대장 관리로 기밀을 보호함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SER-004, MHR-003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75671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619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 사이버보안 기본지침 · 용역업체 보안관리 가이드라인 · 클라우드 보안 · 개인정보 안전성 확보조치 · SW 개발보안 · 문체부 개인정보 보호지침 등 (공고일 최신)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수행계획서에 자료 · 장비 · 네트워크 보안대책, 대표자 보안서약서, 비밀유지계약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보안서약서 · 개인정보 처리위탁 계약 · 위탁 보안서약서, 착수 전 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 11종 자료관리 대장 (인계자 · 인수자 서명), 지정 PC · 파일서버 저장, 종료 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· IDC 승인 경로 · 단말기만 사용, 접속 기록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위반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위약금(A ~ D 등급) 수용, 즉시 보고 · 차단 · 재발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222719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22271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보안서약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481919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· 전 인원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4400" y="7222719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4400" y="722271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보안교육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0400" y="7481919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전 · 정기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2000" y="7222719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722271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승인 단말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0" y="7481919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 접속 통제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79600" y="7222719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79600" y="722271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5600" y="7481919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보안점검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보안사항 이행방안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4.1.2 기술적 보안 · 데이터 보안 · 취약점 제거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이행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(13개 누리집 취약점 0건 유지) 시큐어코딩 · 보안약점 진단으로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취약점을 찾아 제거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개인정보 접속기록 · 암호화 · 웹쉘 모니터링을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SER-002, SER-003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9042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인증정보 · 비밀번호 암호화 저장 · 하드코딩 금지, 개인정보 접속기록 (ID · 일시 · IP · 정보주체 · 수행업무) 1년(해당 시 2년)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개인정보처리방침에 따른 처리 · 파기, 백업 데이터 생성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개발보안 가이드 준용 — 입력값 검증 · 인증 · 접근제어 · 에러 처리 · 캡슐화 ·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보안약점 진단가이드 기준 분석 · 조치, 문화체육관광 사이버안전센터 권고 준용, 대표이사 명의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경로 · 확장자 통제, 웹쉘 주기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결과 대외비 관리, 기관 보안담당자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056424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056424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6128424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6164424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취약점 점검 계획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6164424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13개 누리집 일정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6056424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 계획서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794424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794424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866424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902424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도구 · 수동 점검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6902424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웹쉘 모니터링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794424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 결과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532424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532424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7604424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7640424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보안약점 제거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7640424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재점검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7532424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결과서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8270424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8270424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8342424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8378424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보안담당자 확인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8378424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대표이사 확인서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8270424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비상대책계획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백업 · 복구 및 장애대응 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백업 · 복구 · 장애대응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(응용 계층 복구 책임)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응용 소스 · 산출물 · 설정을 백업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언제든 이전 버전으로 되돌리고, 장애 등급별 대응 목표와 비상연락 체계로 복구함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MAR-006, MAR-003,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5507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756239"/>
                <a:gridCol w="11738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· 복구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 소스 ·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저장소 + 발주기관 지정 장소 백업, 배포 전 백업 · 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시 · 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관리 · 지정 장소 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유지관리 사업 범위 — 복구 시 응용 검증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016769"/>
          <a:ext cx="6260400" cy="2550769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누리집 서비스 중단 · 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2시간 착수 · 4시간 정상화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기능(예약 · 검색 · 게시판)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착수 · 4시간 정상화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화면 · 콘텐츠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 처리 기준 (3일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7675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675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963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모니터링 · 신고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271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675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675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7963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주관기관 · 기관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271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675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675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격리 · 우회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7963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안내 페이지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271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675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675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7963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롤백 · 수정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271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675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675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7963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비상대책계획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5.2.1 예비 인력 · 장비 보유현황 및 지원 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5.2 예비 자원 · 지원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(사람이 예비 자원) 응용 유지관리의 예비 자원은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예비 인력 · 원격 작업 단말 · 테스트 환경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이며, 결원 · 장애 시 즉시 투입해 서비스 공백을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COR-004,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· 지원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예비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응용SW · 퍼블리싱 분야별 예비 인력 지정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결원 시 1주 내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작업 단말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단말 예비 1대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보안 프로그램 설치 · 봉인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시험 환경 (유휴 장비 활용, 발주기관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예비장비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· 네트워크 H/W는 인프라 유지관리 사업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646769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570076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확인 사항 (서면 질의)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589876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COR-004의 '예비장비 · 부품 부족 시 해지' 조항은 H/W가 범위에서 제외된 본 사업 특성상 예비 인력 · 작업 단말로 해석했으며, 본공고 전 의견으로 확인합니다.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6544508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65445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4800" y="6598508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 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4800" y="6994508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예비 인력 투입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6544508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65445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6598508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×365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6994508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비상연락 체계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53450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53450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예비 인력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79370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분야별 지정 · 1주 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3600" y="753450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3600" y="753450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작업 단말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9600" y="779370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단말 예비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0400" y="753450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50400" y="753450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테스트 환경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6400" y="779370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사전 검증 · 복구 시험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기타 지원사항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지원부문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RFP 외 추가 지원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(통합 효과를 키우는 제안) 13개 누리집이 같은 환경임을 활용한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공통 개선 패키지 · 통합 현황 대시보드 · 차년도 개선 로드맵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추가로 제공함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126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개선 패키지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646000"/>
            <a:ext cx="5540400" cy="43248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13개 누리집에 공통으로 필요한 접근성 · 성능 · 보안 개선을 하나의 패키지로 만들어 순차 적용합니다.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799" y="3096489"/>
            <a:ext cx="5540400" cy="51295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8799" y="3132489"/>
            <a:ext cx="5432400" cy="45895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1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한 번 개발, 13개 적용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1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기관별 일정 조율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717444"/>
            <a:ext cx="6260400" cy="126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717444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760644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 현황 대시보드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4005444"/>
            <a:ext cx="5540400" cy="43248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SR · 장애 · 가용성 · 이용통계를 13개 기관 비교 화면으로 제공해 주관기관이 한눈에 관리합니다.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4799" y="4455934"/>
            <a:ext cx="5540400" cy="51295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799" y="4491934"/>
            <a:ext cx="5432400" cy="45895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1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기관별 · 전체 비교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1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월간보고와 같은 지표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5076889"/>
            <a:ext cx="6260400" cy="126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507688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799" y="5120089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차년도 개선 로드맵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5364889"/>
            <a:ext cx="5540400" cy="43248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1년 운영 데이터를 바탕으로 누리집 공통 템플릿 · 표준화 방향을 완료보고서에 제안합니다.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4799" y="5815378"/>
            <a:ext cx="5540400" cy="51295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799" y="5851378"/>
            <a:ext cx="5432400" cy="45895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1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공통 템플릿 검토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1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예산 · 일정 제안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647233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647233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4800" y="6526333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800" y="692233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공통 개선 효과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01000" y="647233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01000" y="647233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09000" y="6526333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화면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09000" y="692233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통합 현황 조회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462333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51633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추가 비용 없음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7714333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추가 제안 항목은 본 사업 범위와 인력 안에서 수행하며, 별도 비용을 요구하지 않습니다.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하도급계획의 적정성 및 기타사항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하도급 계획 적정성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기타사항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하도급 계획 적정성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하도급계획의 적정성 및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하도급 계획 및 관리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하도급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(직접 수행) 본 사업의 전 과업은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당사 인력이 직접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 하도급 계획이 없음 — 향후 필요 시 사전승인 · 대금지급 기준을 준수함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4307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당사 직접 수행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 후 [별지 제6호 서식] 제출】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향후 하도급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사전승인, 사업금액 50% 이하, 재하도급 불허, 10% 초과 시 하수급인과 공동수급체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적정성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적정성 판단 자기평가표 85점 이상인 경우에 한함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대금 지급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유지관리료 수령 후 15일 이내 지급, 7일 이내 지급내역 서면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실태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준수실태보고서 익월 초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6410307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6464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직접 수행의 장점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6662307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PM · 응용SW · 퍼블리싱/디자인 · 품질 · 보안이 모두 당사 소속이므로 지시 · 보고 단계가 짧고, 보안 책임이 한 곳에 모입니다.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7308046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7308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4800" y="7362046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4800" y="7758046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하도급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7308046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7308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7362046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7758046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당사 직접 수행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기타사항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하도급계획의 적정성 및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지식재산권 · 손해배상 · 제재 · 해지 조건 이행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계약 조건 이행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 조건 전부 수용) 지식재산권 귀속 · 손해배상 · 지체상금 · 해지 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그대로 수용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지체상금이 발생하지 않도록 장애 대응 기준을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947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개발산출물 공동소유, 유지관리 산출물 발주기관 귀속, 2차 소속기관 공동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· 반출 시 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관리부실 장애 시 사업 손실 상당액 배상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· 예방점검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지체상금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규정시간 초과 시 시간당 월 유지보수료 1000분의 2.5 공제, 24시간 내 재발은 연속고장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· SLA로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사전승인 없는 양도 · 성과 미달 · 요구 수준 미이행 연 3회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분쟁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분쟁기간 중에도 용역 수행 중지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6360746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64147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확인 사항 (서면 질의)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6612746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지체상금 기준의 '규정시간(근무지내 6시간 / 근무지외 12시간)'과 장애 대응 기준(2시간 착수 · 4시간 정상가동)의 관계를 본공고 전 의견으로 확인합니다.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7258485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72584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4800" y="7312485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4800" y="7708485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지체상금 발생 목표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7258485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72584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7312485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7708485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계약 조건 수용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