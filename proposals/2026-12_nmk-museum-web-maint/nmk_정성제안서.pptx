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4"/>
  </p:sldMasterIdLst>
  <p:notesMasterIdLst>
    <p:notesMasterId r:id="rId225"/>
  </p:notesMasterIdLst>
  <p:handoutMasterIdLst>
    <p:handoutMasterId r:id="rId226"/>
  </p:handoutMasterIdLst>
  <p:sldIdLst>
    <p:sldId id="7488" r:id="rId16"/>
    <p:sldId id="7489" r:id="rId17"/>
    <p:sldId id="7490" r:id="rId18"/>
    <p:sldId id="7491" r:id="rId19"/>
    <p:sldId id="7492" r:id="rId20"/>
    <p:sldId id="7493" r:id="rId21"/>
    <p:sldId id="7494" r:id="rId22"/>
    <p:sldId id="7495" r:id="rId23"/>
    <p:sldId id="7496" r:id="rId24"/>
    <p:sldId id="7497" r:id="rId25"/>
    <p:sldId id="7498" r:id="rId26"/>
    <p:sldId id="7499" r:id="rId27"/>
    <p:sldId id="7500" r:id="rId28"/>
    <p:sldId id="7501" r:id="rId29"/>
    <p:sldId id="7502" r:id="rId30"/>
    <p:sldId id="7503" r:id="rId31"/>
    <p:sldId id="7504" r:id="rId32"/>
    <p:sldId id="7505" r:id="rId33"/>
    <p:sldId id="7506" r:id="rId34"/>
    <p:sldId id="7507" r:id="rId35"/>
    <p:sldId id="7508" r:id="rId36"/>
    <p:sldId id="7509" r:id="rId37"/>
    <p:sldId id="7510" r:id="rId38"/>
    <p:sldId id="7511" r:id="rId39"/>
    <p:sldId id="7512" r:id="rId40"/>
    <p:sldId id="7513" r:id="rId41"/>
    <p:sldId id="7514" r:id="rId42"/>
    <p:sldId id="7515" r:id="rId43"/>
    <p:sldId id="7516" r:id="rId44"/>
    <p:sldId id="7517" r:id="rId45"/>
    <p:sldId id="7518" r:id="rId46"/>
    <p:sldId id="7519" r:id="rId47"/>
    <p:sldId id="7520" r:id="rId48"/>
    <p:sldId id="7521" r:id="rId49"/>
    <p:sldId id="7522" r:id="rId50"/>
    <p:sldId id="7523" r:id="rId51"/>
    <p:sldId id="7524" r:id="rId52"/>
    <p:sldId id="7525" r:id="rId53"/>
    <p:sldId id="7526" r:id="rId54"/>
    <p:sldId id="7527" r:id="rId55"/>
    <p:sldId id="7528" r:id="rId56"/>
    <p:sldId id="7529" r:id="rId57"/>
    <p:sldId id="7530" r:id="rId58"/>
    <p:sldId id="7531" r:id="rId59"/>
    <p:sldId id="7532" r:id="rId60"/>
    <p:sldId id="7533" r:id="rId61"/>
    <p:sldId id="7534" r:id="rId62"/>
    <p:sldId id="7535" r:id="rId63"/>
    <p:sldId id="7536" r:id="rId64"/>
    <p:sldId id="7537" r:id="rId65"/>
    <p:sldId id="7538" r:id="rId66"/>
    <p:sldId id="7539" r:id="rId67"/>
    <p:sldId id="7540" r:id="rId68"/>
    <p:sldId id="7541" r:id="rId69"/>
    <p:sldId id="7542" r:id="rId70"/>
    <p:sldId id="7543" r:id="rId71"/>
    <p:sldId id="7544" r:id="rId72"/>
    <p:sldId id="7545" r:id="rId73"/>
    <p:sldId id="7546" r:id="rId74"/>
    <p:sldId id="7547" r:id="rId75"/>
    <p:sldId id="7548" r:id="rId76"/>
  </p:sldIdLst>
  <p:sldSz cx="6858000" cy="9906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  <p15:guide id="3" pos="170" userDrawn="1">
          <p15:clr>
            <a:srgbClr val="A4A3A4"/>
          </p15:clr>
        </p15:guide>
        <p15:guide id="4" pos="4163" userDrawn="1">
          <p15:clr>
            <a:srgbClr val="A4A3A4"/>
          </p15:clr>
        </p15:guide>
        <p15:guide id="5" pos="348" userDrawn="1">
          <p15:clr>
            <a:srgbClr val="A4A3A4"/>
          </p15:clr>
        </p15:guide>
        <p15:guide id="6" pos="3972" userDrawn="1">
          <p15:clr>
            <a:srgbClr val="A4A3A4"/>
          </p15:clr>
        </p15:guide>
        <p15:guide id="7" pos="221" userDrawn="1">
          <p15:clr>
            <a:srgbClr val="A4A3A4"/>
          </p15:clr>
        </p15:guide>
        <p15:guide id="8" pos="40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DEEBF7"/>
    <a:srgbClr val="A1DEED"/>
    <a:srgbClr val="D9D9D9"/>
    <a:srgbClr val="FFFFFF"/>
    <a:srgbClr val="2F76B6"/>
    <a:srgbClr val="0070BA"/>
    <a:srgbClr val="2C4F78"/>
    <a:srgbClr val="64C3DC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7" autoAdjust="0"/>
    <p:restoredTop sz="94660"/>
  </p:normalViewPr>
  <p:slideViewPr>
    <p:cSldViewPr snapToGrid="0">
      <p:cViewPr>
        <p:scale>
          <a:sx n="75" d="100"/>
          <a:sy n="75" d="100"/>
        </p:scale>
        <p:origin x="1506" y="936"/>
      </p:cViewPr>
      <p:guideLst>
        <p:guide orient="horz" pos="3120"/>
        <p:guide pos="2160"/>
        <p:guide pos="170"/>
        <p:guide pos="4163"/>
        <p:guide pos="348"/>
        <p:guide pos="3972"/>
        <p:guide pos="221"/>
        <p:guide pos="409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Relationship Id="rId44" Type="http://schemas.openxmlformats.org/officeDocument/2006/relationships/slide" Target="slides/slide34.xml"/><Relationship Id="rId45" Type="http://schemas.openxmlformats.org/officeDocument/2006/relationships/slide" Target="slides/slide35.xml"/><Relationship Id="rId46" Type="http://schemas.openxmlformats.org/officeDocument/2006/relationships/slide" Target="slides/slide36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0.xml"/><Relationship Id="rId51" Type="http://schemas.openxmlformats.org/officeDocument/2006/relationships/slide" Target="slides/slide41.xml"/><Relationship Id="rId52" Type="http://schemas.openxmlformats.org/officeDocument/2006/relationships/slide" Target="slides/slide42.xml"/><Relationship Id="rId53" Type="http://schemas.openxmlformats.org/officeDocument/2006/relationships/slide" Target="slides/slide43.xml"/><Relationship Id="rId54" Type="http://schemas.openxmlformats.org/officeDocument/2006/relationships/slide" Target="slides/slide44.xml"/><Relationship Id="rId55" Type="http://schemas.openxmlformats.org/officeDocument/2006/relationships/slide" Target="slides/slide45.xml"/><Relationship Id="rId56" Type="http://schemas.openxmlformats.org/officeDocument/2006/relationships/slide" Target="slides/slide46.xml"/><Relationship Id="rId57" Type="http://schemas.openxmlformats.org/officeDocument/2006/relationships/slide" Target="slides/slide47.xml"/><Relationship Id="rId58" Type="http://schemas.openxmlformats.org/officeDocument/2006/relationships/slide" Target="slides/slide48.xml"/><Relationship Id="rId59" Type="http://schemas.openxmlformats.org/officeDocument/2006/relationships/slide" Target="slides/slide49.xml"/><Relationship Id="rId60" Type="http://schemas.openxmlformats.org/officeDocument/2006/relationships/slide" Target="slides/slide50.xml"/><Relationship Id="rId61" Type="http://schemas.openxmlformats.org/officeDocument/2006/relationships/slide" Target="slides/slide51.xml"/><Relationship Id="rId62" Type="http://schemas.openxmlformats.org/officeDocument/2006/relationships/slide" Target="slides/slide52.xml"/><Relationship Id="rId63" Type="http://schemas.openxmlformats.org/officeDocument/2006/relationships/slide" Target="slides/slide53.xml"/><Relationship Id="rId64" Type="http://schemas.openxmlformats.org/officeDocument/2006/relationships/slide" Target="slides/slide54.xml"/><Relationship Id="rId65" Type="http://schemas.openxmlformats.org/officeDocument/2006/relationships/slide" Target="slides/slide55.xml"/><Relationship Id="rId66" Type="http://schemas.openxmlformats.org/officeDocument/2006/relationships/slide" Target="slides/slide56.xml"/><Relationship Id="rId67" Type="http://schemas.openxmlformats.org/officeDocument/2006/relationships/slide" Target="slides/slide57.xml"/><Relationship Id="rId68" Type="http://schemas.openxmlformats.org/officeDocument/2006/relationships/slide" Target="slides/slide58.xml"/><Relationship Id="rId69" Type="http://schemas.openxmlformats.org/officeDocument/2006/relationships/slide" Target="slides/slide59.xml"/><Relationship Id="rId70" Type="http://schemas.openxmlformats.org/officeDocument/2006/relationships/slide" Target="slides/slide60.xml"/><Relationship Id="rId71" Type="http://schemas.openxmlformats.org/officeDocument/2006/relationships/slide" Target="slides/slide61.xml"/><Relationship Id="rId72" Type="http://schemas.openxmlformats.org/officeDocument/2006/relationships/slide" Target="slides/slide62.xml"/><Relationship Id="rId73" Type="http://schemas.openxmlformats.org/officeDocument/2006/relationships/slide" Target="slides/slide63.xml"/><Relationship Id="rId74" Type="http://schemas.openxmlformats.org/officeDocument/2006/relationships/slide" Target="slides/slide64.xml"/><Relationship Id="rId75" Type="http://schemas.openxmlformats.org/officeDocument/2006/relationships/slide" Target="slides/slide65.xml"/><Relationship Id="rId76" Type="http://schemas.openxmlformats.org/officeDocument/2006/relationships/slide" Target="slides/slide66.xml"/><Relationship Id="rId225" Type="http://schemas.openxmlformats.org/officeDocument/2006/relationships/notesMaster" Target="notesMasters/notesMaster1.xml"/><Relationship Id="rId226" Type="http://schemas.openxmlformats.org/officeDocument/2006/relationships/handoutMaster" Target="handoutMasters/handoutMaster1.xml"/><Relationship Id="rId227" Type="http://schemas.openxmlformats.org/officeDocument/2006/relationships/presProps" Target="presProps.xml"/><Relationship Id="rId228" Type="http://schemas.openxmlformats.org/officeDocument/2006/relationships/viewProps" Target="viewProps.xml"/><Relationship Id="rId229" Type="http://schemas.openxmlformats.org/officeDocument/2006/relationships/theme" Target="theme/theme1.xml"/><Relationship Id="rId2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FC88C87-A870-CEB0-ED88-C071B57713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E2BC45F-FED5-D4BC-E846-A726E2675E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A53264-FF37-4A28-A320-34D44B9DA959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FF340D6-2F04-0925-A1CA-8AEFCB2ADB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C895D71-45E6-1EE8-27B3-45C23B4D7F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E9521-B036-447B-9F05-EA285466CC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7598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D334089-59B3-40BB-96F8-BCCD425B3E10}" type="datetimeFigureOut">
              <a:rPr lang="ko-KR" altLang="en-US" smtClean="0"/>
              <a:t>2026-07-25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57438" y="1279525"/>
            <a:ext cx="239077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E228262F-01A3-4CFF-895B-FDF42B6E38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8756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902511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7612334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049829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450424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75855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025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880929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199795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05159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906429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00550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C76020E4-D3BF-2E23-3FDA-C00182CF9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045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컨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0B0BCB0-8223-B3D9-E890-81D448F5CD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9971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41A63F8-CD22-3A28-E2D3-10878032E2D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4905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638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0C846F1-727C-0585-985D-8DD19A4411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3359" t="1639" r="80900" b="92396"/>
          <a:stretch>
            <a:fillRect/>
          </a:stretch>
        </p:blipFill>
        <p:spPr>
          <a:xfrm>
            <a:off x="0" y="0"/>
            <a:ext cx="1256670" cy="673100"/>
          </a:xfrm>
          <a:prstGeom prst="rect">
            <a:avLst/>
          </a:prstGeom>
        </p:spPr>
      </p:pic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23850" y="257983"/>
            <a:ext cx="5318423" cy="32008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1600" smtClean="0" b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defRPr>
            </a:lvl1pPr>
            <a:lvl2pPr marL="104478" indent="0">
              <a:buNone/>
              <a:defRPr lang="ko-KR" altLang="en-US" sz="823" smtClean="0"/>
            </a:lvl2pPr>
            <a:lvl3pPr marL="313432" indent="0">
              <a:buNone/>
              <a:defRPr lang="ko-KR" altLang="en-US" sz="823" smtClean="0"/>
            </a:lvl3pPr>
            <a:lvl4pPr marL="522387" indent="0">
              <a:buNone/>
              <a:defRPr lang="ko-KR" altLang="en-US" smtClean="0"/>
            </a:lvl4pPr>
            <a:lvl5pPr marL="731342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9" name="슬라이드 번호 개체 틀 2">
            <a:extLst>
              <a:ext uri="{FF2B5EF4-FFF2-40B4-BE49-F238E27FC236}">
                <a16:creationId xmlns:a16="http://schemas.microsoft.com/office/drawing/2014/main" id="{CE098A9A-461E-2B74-D55E-49CB2DCBB94A}"/>
              </a:ext>
            </a:extLst>
          </p:cNvPr>
          <p:cNvSpPr txBox="1">
            <a:spLocks/>
          </p:cNvSpPr>
          <p:nvPr userDrawn="1"/>
        </p:nvSpPr>
        <p:spPr>
          <a:xfrm>
            <a:off x="3174610" y="9688018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2A9537A-DB42-4D35-B31B-5C8E293FF6D7}" type="slidenum">
              <a:rPr lang="ko-KR" altLang="en-US" sz="900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ctr"/>
              <a:t>‹#›</a:t>
            </a:fld>
            <a:endParaRPr lang="ko-KR" altLang="en-US" sz="100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8406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C174FC7F-2931-4560-A3C1-364B07A5E3B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4234" y="1453800"/>
            <a:ext cx="6109424" cy="181525"/>
          </a:xfrm>
          <a:noFill/>
        </p:spPr>
        <p:txBody>
          <a:bodyPr wrap="square" rtlCol="0">
            <a:spAutoFit/>
          </a:bodyPr>
          <a:lstStyle>
            <a:lvl1pPr marL="0" indent="0">
              <a:buNone/>
              <a:defRPr lang="ko-KR" altLang="en-US" sz="64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 lang="ko-KR" altLang="en-US" sz="823" smtClean="0"/>
            </a:lvl2pPr>
            <a:lvl3pPr>
              <a:defRPr lang="ko-KR" altLang="en-US" sz="823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사각형: 둥근 한쪽 모서리 6">
            <a:extLst>
              <a:ext uri="{FF2B5EF4-FFF2-40B4-BE49-F238E27FC236}">
                <a16:creationId xmlns:a16="http://schemas.microsoft.com/office/drawing/2014/main" id="{B541F7BF-9ADF-46AB-81E5-B13C2B27F216}"/>
              </a:ext>
            </a:extLst>
          </p:cNvPr>
          <p:cNvSpPr/>
          <p:nvPr userDrawn="1"/>
        </p:nvSpPr>
        <p:spPr>
          <a:xfrm>
            <a:off x="0" y="473287"/>
            <a:ext cx="524014" cy="852098"/>
          </a:xfrm>
          <a:prstGeom prst="round1Rect">
            <a:avLst/>
          </a:prstGeom>
          <a:solidFill>
            <a:srgbClr val="008B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F5F91E45-9FCF-43BD-A8FF-24BD1BC3E732}"/>
              </a:ext>
            </a:extLst>
          </p:cNvPr>
          <p:cNvCxnSpPr>
            <a:cxnSpLocks/>
          </p:cNvCxnSpPr>
          <p:nvPr userDrawn="1"/>
        </p:nvCxnSpPr>
        <p:spPr>
          <a:xfrm>
            <a:off x="0" y="1325385"/>
            <a:ext cx="6608862" cy="0"/>
          </a:xfrm>
          <a:prstGeom prst="line">
            <a:avLst/>
          </a:prstGeom>
          <a:ln w="19050">
            <a:solidFill>
              <a:srgbClr val="0074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B014F6E5-DAED-4795-8473-F27C314E903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69969" y="699426"/>
            <a:ext cx="5023588" cy="233013"/>
          </a:xfrm>
          <a:noFill/>
        </p:spPr>
        <p:txBody>
          <a:bodyPr wrap="square" rtlCol="0">
            <a:spAutoFit/>
          </a:bodyPr>
          <a:lstStyle>
            <a:lvl1pPr marL="0" indent="0">
              <a:lnSpc>
                <a:spcPct val="100000"/>
              </a:lnSpc>
              <a:buNone/>
              <a:defRPr lang="ko-KR" altLang="en-US" sz="914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defRPr>
            </a:lvl1pPr>
          </a:lstStyle>
          <a:p>
            <a:pPr marL="0"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2ECBBF39-A383-4AFE-9C30-8005D916AD6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69" y="655398"/>
            <a:ext cx="377293" cy="544593"/>
          </a:xfrm>
          <a:noFill/>
        </p:spPr>
        <p:txBody>
          <a:bodyPr wrap="square" rtlCol="0">
            <a:noAutofit/>
          </a:bodyPr>
          <a:lstStyle>
            <a:lvl1pPr marL="0" indent="0" algn="r">
              <a:buNone/>
              <a:defRPr lang="ko-KR" altLang="en-US" sz="1097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G마켓 산스 TTF Medium" panose="02000000000000000000" pitchFamily="2" charset="-127"/>
                <a:ea typeface="G마켓 산스 TTF Medium" panose="02000000000000000000" pitchFamily="2" charset="-127"/>
              </a:defRPr>
            </a:lvl1pPr>
          </a:lstStyle>
          <a:p>
            <a:pPr marL="0" lvl="0" algn="ctr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BF7D64-638A-0DB1-1838-1BFE0A31C328}"/>
              </a:ext>
            </a:extLst>
          </p:cNvPr>
          <p:cNvSpPr txBox="1"/>
          <p:nvPr userDrawn="1"/>
        </p:nvSpPr>
        <p:spPr>
          <a:xfrm>
            <a:off x="6522317" y="9372523"/>
            <a:ext cx="335685" cy="34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ko-KR" sz="823" b="0" i="0" u="none" strike="noStrike" kern="1200" cap="none" spc="0" normalizeH="0" baseline="0" noProof="0">
                <a:ln>
                  <a:noFill/>
                </a:ln>
                <a:solidFill>
                  <a:srgbClr val="171616"/>
                </a:solidFill>
                <a:effectLst/>
                <a:uLnTx/>
                <a:uFillTx/>
                <a:latin typeface="나눔스퀘어"/>
                <a:ea typeface="나눔스퀘어"/>
                <a:cs typeface="+mn-cs"/>
              </a:rPr>
              <a:t>&lt;#&gt;</a:t>
            </a:r>
            <a:endParaRPr lang="ko-KR" altLang="en-US" sz="823"/>
          </a:p>
        </p:txBody>
      </p:sp>
    </p:spTree>
    <p:extLst>
      <p:ext uri="{BB962C8B-B14F-4D97-AF65-F5344CB8AC3E}">
        <p14:creationId xmlns:p14="http://schemas.microsoft.com/office/powerpoint/2010/main" val="5559893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2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5ED841-3E70-2D52-DBCB-E944C07C3B70}"/>
              </a:ext>
            </a:extLst>
          </p:cNvPr>
          <p:cNvSpPr/>
          <p:nvPr userDrawn="1"/>
        </p:nvSpPr>
        <p:spPr>
          <a:xfrm>
            <a:off x="3487937" y="2693909"/>
            <a:ext cx="3125255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9" name="슬라이드 번호 개체 틀 2">
            <a:extLst>
              <a:ext uri="{FF2B5EF4-FFF2-40B4-BE49-F238E27FC236}">
                <a16:creationId xmlns:a16="http://schemas.microsoft.com/office/drawing/2014/main" id="{B2797B26-B1E8-6159-7F70-D2371837A9AB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81165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21875-ABEF-94C5-5C9F-62A6F241B498}"/>
              </a:ext>
            </a:extLst>
          </p:cNvPr>
          <p:cNvSpPr/>
          <p:nvPr userDrawn="1"/>
        </p:nvSpPr>
        <p:spPr>
          <a:xfrm>
            <a:off x="244810" y="2693909"/>
            <a:ext cx="6368380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8" name="슬라이드 번호 개체 틀 2">
            <a:extLst>
              <a:ext uri="{FF2B5EF4-FFF2-40B4-BE49-F238E27FC236}">
                <a16:creationId xmlns:a16="http://schemas.microsoft.com/office/drawing/2014/main" id="{1F5EF080-74F1-2009-15B4-D5D932E8218F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35162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42A813A-2054-9B7A-A3EE-537D2323E4B8}"/>
              </a:ext>
            </a:extLst>
          </p:cNvPr>
          <p:cNvSpPr/>
          <p:nvPr userDrawn="1"/>
        </p:nvSpPr>
        <p:spPr>
          <a:xfrm>
            <a:off x="0" y="0"/>
            <a:ext cx="6858000" cy="81687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823"/>
          </a:p>
        </p:txBody>
      </p:sp>
      <p:sp>
        <p:nvSpPr>
          <p:cNvPr id="3" name="자유형: 도형 2">
            <a:extLst>
              <a:ext uri="{FF2B5EF4-FFF2-40B4-BE49-F238E27FC236}">
                <a16:creationId xmlns:a16="http://schemas.microsoft.com/office/drawing/2014/main" id="{CC0A6FCF-E2F3-8AD2-0209-5A0ACB9F8120}"/>
              </a:ext>
            </a:extLst>
          </p:cNvPr>
          <p:cNvSpPr/>
          <p:nvPr userDrawn="1"/>
        </p:nvSpPr>
        <p:spPr>
          <a:xfrm>
            <a:off x="56168" y="2"/>
            <a:ext cx="291683" cy="832380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chemeClr val="tx1">
              <a:lumMod val="95000"/>
              <a:lumOff val="5000"/>
              <a:alpha val="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4" name="자유형: 도형 3">
            <a:extLst>
              <a:ext uri="{FF2B5EF4-FFF2-40B4-BE49-F238E27FC236}">
                <a16:creationId xmlns:a16="http://schemas.microsoft.com/office/drawing/2014/main" id="{0CB78D1D-B4FE-DA6C-EE5A-0D2C0C024C53}"/>
              </a:ext>
            </a:extLst>
          </p:cNvPr>
          <p:cNvSpPr/>
          <p:nvPr userDrawn="1"/>
        </p:nvSpPr>
        <p:spPr>
          <a:xfrm>
            <a:off x="0" y="0"/>
            <a:ext cx="317814" cy="906949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5949" h="647701">
                <a:moveTo>
                  <a:pt x="0" y="0"/>
                </a:moveTo>
                <a:lnTo>
                  <a:pt x="545949" y="0"/>
                </a:ln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  <a:close/>
              </a:path>
            </a:pathLst>
          </a:custGeom>
          <a:solidFill>
            <a:srgbClr val="0074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5B00E28-9584-240E-0333-89C94C82345D}"/>
              </a:ext>
            </a:extLst>
          </p:cNvPr>
          <p:cNvSpPr/>
          <p:nvPr userDrawn="1"/>
        </p:nvSpPr>
        <p:spPr>
          <a:xfrm>
            <a:off x="-1749" y="0"/>
            <a:ext cx="283035" cy="846485"/>
          </a:xfrm>
          <a:custGeom>
            <a:avLst/>
            <a:gdLst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7" fmla="*/ 88356 w 545949"/>
              <a:gd name="connsiteY7" fmla="*/ 94325 h 647701"/>
              <a:gd name="connsiteX0" fmla="*/ 0 w 545949"/>
              <a:gd name="connsiteY0" fmla="*/ 0 h 647701"/>
              <a:gd name="connsiteX1" fmla="*/ 545949 w 545949"/>
              <a:gd name="connsiteY1" fmla="*/ 0 h 647701"/>
              <a:gd name="connsiteX2" fmla="*/ 545949 w 545949"/>
              <a:gd name="connsiteY2" fmla="*/ 3 h 647701"/>
              <a:gd name="connsiteX3" fmla="*/ 374465 w 545949"/>
              <a:gd name="connsiteY3" fmla="*/ 568337 h 647701"/>
              <a:gd name="connsiteX4" fmla="*/ 346936 w 545949"/>
              <a:gd name="connsiteY4" fmla="*/ 613539 h 647701"/>
              <a:gd name="connsiteX5" fmla="*/ 252547 w 545949"/>
              <a:gd name="connsiteY5" fmla="*/ 647701 h 647701"/>
              <a:gd name="connsiteX6" fmla="*/ 0 w 545949"/>
              <a:gd name="connsiteY6" fmla="*/ 647701 h 647701"/>
              <a:gd name="connsiteX0" fmla="*/ 545949 w 545949"/>
              <a:gd name="connsiteY0" fmla="*/ 0 h 647701"/>
              <a:gd name="connsiteX1" fmla="*/ 545949 w 545949"/>
              <a:gd name="connsiteY1" fmla="*/ 3 h 647701"/>
              <a:gd name="connsiteX2" fmla="*/ 374465 w 545949"/>
              <a:gd name="connsiteY2" fmla="*/ 568337 h 647701"/>
              <a:gd name="connsiteX3" fmla="*/ 346936 w 545949"/>
              <a:gd name="connsiteY3" fmla="*/ 613539 h 647701"/>
              <a:gd name="connsiteX4" fmla="*/ 252547 w 545949"/>
              <a:gd name="connsiteY4" fmla="*/ 647701 h 647701"/>
              <a:gd name="connsiteX5" fmla="*/ 0 w 545949"/>
              <a:gd name="connsiteY5" fmla="*/ 647701 h 647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5949" h="647701">
                <a:moveTo>
                  <a:pt x="545949" y="0"/>
                </a:moveTo>
                <a:lnTo>
                  <a:pt x="545949" y="3"/>
                </a:lnTo>
                <a:lnTo>
                  <a:pt x="374465" y="568337"/>
                </a:lnTo>
                <a:cubicBezTo>
                  <a:pt x="369409" y="585063"/>
                  <a:pt x="360294" y="600804"/>
                  <a:pt x="346936" y="613539"/>
                </a:cubicBezTo>
                <a:cubicBezTo>
                  <a:pt x="328957" y="630593"/>
                  <a:pt x="299367" y="647701"/>
                  <a:pt x="252547" y="647701"/>
                </a:cubicBezTo>
                <a:lnTo>
                  <a:pt x="0" y="647701"/>
                </a:lnTo>
              </a:path>
            </a:pathLst>
          </a:cu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823"/>
          </a:p>
        </p:txBody>
      </p:sp>
      <p:sp>
        <p:nvSpPr>
          <p:cNvPr id="6" name="텍스트 개체 틀 9">
            <a:extLst>
              <a:ext uri="{FF2B5EF4-FFF2-40B4-BE49-F238E27FC236}">
                <a16:creationId xmlns:a16="http://schemas.microsoft.com/office/drawing/2014/main" id="{5CC61270-E58C-4CD3-75BC-975AFBC2C20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7897" y="271413"/>
            <a:ext cx="5635526" cy="2063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0" indent="0">
              <a:buNone/>
              <a:defRPr lang="ko-KR" altLang="en-US" sz="823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10000"/>
                  </a:schemeClr>
                </a:solidFill>
                <a:latin typeface="경기천년제목 Bold" panose="02020803020101020101" pitchFamily="18" charset="-127"/>
                <a:ea typeface="경기천년제목 Bold" panose="02020803020101020101" pitchFamily="18" charset="-127"/>
              </a:defRPr>
            </a:lvl1pPr>
            <a:lvl2pPr marL="104479" indent="0">
              <a:buNone/>
              <a:defRPr lang="ko-KR" altLang="en-US" sz="823" smtClean="0"/>
            </a:lvl2pPr>
            <a:lvl3pPr marL="313437" indent="0">
              <a:buNone/>
              <a:defRPr lang="ko-KR" altLang="en-US" sz="823" smtClean="0"/>
            </a:lvl3pPr>
            <a:lvl4pPr marL="522394" indent="0">
              <a:buNone/>
              <a:defRPr lang="ko-KR" altLang="en-US" smtClean="0"/>
            </a:lvl4pPr>
            <a:lvl5pPr marL="731351" indent="0">
              <a:buNone/>
              <a:defRPr lang="ko-KR" altLang="en-US"/>
            </a:lvl5pPr>
          </a:lstStyle>
          <a:p>
            <a:pPr marL="0" marR="0" lvl="0" fontAlgn="auto">
              <a:spcAft>
                <a:spcPts val="0"/>
              </a:spcAft>
              <a:buClrTx/>
              <a:buSzTx/>
              <a:tabLst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0DC690-6E34-460F-B6A4-6CF5A62EB2C3}"/>
              </a:ext>
            </a:extLst>
          </p:cNvPr>
          <p:cNvSpPr/>
          <p:nvPr userDrawn="1"/>
        </p:nvSpPr>
        <p:spPr>
          <a:xfrm>
            <a:off x="244811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72717FD-D39F-8E98-379C-C3F05153C648}"/>
              </a:ext>
            </a:extLst>
          </p:cNvPr>
          <p:cNvSpPr/>
          <p:nvPr userDrawn="1"/>
        </p:nvSpPr>
        <p:spPr>
          <a:xfrm>
            <a:off x="4624058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5475A5-6520-B581-0354-5E7DA0EF6ADD}"/>
              </a:ext>
            </a:extLst>
          </p:cNvPr>
          <p:cNvSpPr/>
          <p:nvPr userDrawn="1"/>
        </p:nvSpPr>
        <p:spPr>
          <a:xfrm>
            <a:off x="2434435" y="2693909"/>
            <a:ext cx="1989132" cy="6634241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>
            <a:outerShdw blurRad="241300" dist="38100" dir="5400000" algn="t" rotWithShape="0">
              <a:srgbClr val="9DCCDF">
                <a:alpha val="16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z="823"/>
          </a:p>
        </p:txBody>
      </p:sp>
      <p:sp>
        <p:nvSpPr>
          <p:cNvPr id="7" name="슬라이드 번호 개체 틀 2">
            <a:extLst>
              <a:ext uri="{FF2B5EF4-FFF2-40B4-BE49-F238E27FC236}">
                <a16:creationId xmlns:a16="http://schemas.microsoft.com/office/drawing/2014/main" id="{D7A74A86-AF2F-4131-0264-FB4B27ABEF36}"/>
              </a:ext>
            </a:extLst>
          </p:cNvPr>
          <p:cNvSpPr txBox="1">
            <a:spLocks/>
          </p:cNvSpPr>
          <p:nvPr userDrawn="1"/>
        </p:nvSpPr>
        <p:spPr>
          <a:xfrm>
            <a:off x="6349221" y="9545322"/>
            <a:ext cx="508780" cy="527403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2A9537A-DB42-4D35-B31B-5C8E293FF6D7}" type="slidenum">
              <a:rPr lang="ko-KR" altLang="en-US" sz="457" smtClean="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pPr algn="r"/>
              <a:t>‹#›</a:t>
            </a:fld>
            <a:endParaRPr lang="ko-KR" altLang="en-US" sz="640"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9313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447B-F4B4-4E30-97EE-52936639FAEF}"/>
              </a:ext>
            </a:extLst>
          </p:cNvPr>
          <p:cNvSpPr txBox="1"/>
          <p:nvPr userDrawn="1"/>
        </p:nvSpPr>
        <p:spPr>
          <a:xfrm flipH="1">
            <a:off x="489703" y="1285390"/>
            <a:ext cx="2125266" cy="2279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731" kern="1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2">
                    <a:lumMod val="2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n-cs"/>
              </a:rPr>
              <a:t>템인트 프레젠테이션 템플릿 저작권</a:t>
            </a:r>
            <a:endParaRPr lang="en-US" altLang="ko-KR" sz="731" kern="120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2">
                  <a:lumMod val="2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F0AAC5-6251-4A45-9BE4-4EDC00C4FF72}"/>
              </a:ext>
            </a:extLst>
          </p:cNvPr>
          <p:cNvSpPr txBox="1"/>
          <p:nvPr userDrawn="1"/>
        </p:nvSpPr>
        <p:spPr>
          <a:xfrm flipH="1">
            <a:off x="489703" y="2089168"/>
            <a:ext cx="5747149" cy="709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본 템플릿에 제공되는 디자인 재산권은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템인트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(quiethee8)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 소유하고 있습니다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어떠한 경우에도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템인트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템플릿 및 디자인을 유료로 복제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판매하는 것은 금지하며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재배포를 금지합니다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본 프레젠테이션은 비영리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비상업적인 목적으로만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또한 홍보 목적이 아닌 내부 자료로는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b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</a:b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홍보목적인 경우에는 구매 후 사용 가능합니다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상업적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영리목적일 시에는 블로그 혹은 메일로 연락 </a:t>
            </a:r>
            <a:r>
              <a:rPr lang="ko-KR" altLang="en-US" sz="548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주시길</a:t>
            </a: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바랍니다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262A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</a:p>
          <a:p>
            <a:pPr>
              <a:lnSpc>
                <a:spcPct val="130000"/>
              </a:lnSpc>
              <a:spcBef>
                <a:spcPts val="275"/>
              </a:spcBef>
            </a:pPr>
            <a:r>
              <a:rPr lang="ko-KR" altLang="en-US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이는 다운받는 블로그에도 기재되어 있으며 다운받고 사용시에 동의한 것으로 간주합니다</a:t>
            </a:r>
            <a:r>
              <a:rPr lang="en-US" altLang="ko-KR" sz="548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.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26E1EB96-6ED2-443B-ACE2-CF11854FC42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282227894"/>
              </p:ext>
            </p:extLst>
          </p:nvPr>
        </p:nvGraphicFramePr>
        <p:xfrm>
          <a:off x="489705" y="4615250"/>
          <a:ext cx="5878595" cy="4249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775">
                  <a:extLst>
                    <a:ext uri="{9D8B030D-6E8A-4147-A177-3AD203B41FA5}">
                      <a16:colId xmlns:a16="http://schemas.microsoft.com/office/drawing/2014/main" val="318238632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2510118193"/>
                    </a:ext>
                  </a:extLst>
                </a:gridCol>
                <a:gridCol w="2622910">
                  <a:extLst>
                    <a:ext uri="{9D8B030D-6E8A-4147-A177-3AD203B41FA5}">
                      <a16:colId xmlns:a16="http://schemas.microsoft.com/office/drawing/2014/main" val="579559814"/>
                    </a:ext>
                  </a:extLst>
                </a:gridCol>
              </a:tblGrid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분류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허용범위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사용금지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(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예시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)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DCC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181525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학생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과제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발표용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공모전 출품 금지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[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문의가능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]</a:t>
                      </a:r>
                      <a:endParaRPr lang="ko-KR" altLang="en-US" sz="17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52909"/>
                  </a:ext>
                </a:extLst>
              </a:tr>
              <a:tr h="9121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등의 홍보자료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693132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학교 내부 강의자료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 자료 및 강의자료 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159216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기업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내부자료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보안용 자료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대외용 발표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방송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행사</a:t>
                      </a:r>
                      <a:r>
                        <a:rPr lang="en-US" altLang="ko-KR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프로모션 등 사용 금지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042118"/>
                  </a:ext>
                </a:extLst>
              </a:tr>
              <a:tr h="6675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700" kern="120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기타 사용 부분에는 문의 바랍니다</a:t>
                      </a:r>
                    </a:p>
                  </a:txBody>
                  <a:tcPr marL="51435" marR="51435" marT="66040" marB="66040"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kern="120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AD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031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222598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D51B42-B0E4-4F72-9081-FD856815FA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133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8" r:id="rId14"/>
    <p:sldLayoutId id="2147483687" r:id="rId15"/>
    <p:sldLayoutId id="2147483686" r:id="rId16"/>
    <p:sldLayoutId id="2147483650" r:id="rId17"/>
    <p:sldLayoutId id="2147483654" r:id="rId18"/>
    <p:sldLayoutId id="2147483656" r:id="rId19"/>
    <p:sldLayoutId id="2147483655" r:id="rId20"/>
    <p:sldLayoutId id="2147483652" r:id="rId21"/>
  </p:sldLayoutIdLst>
  <p:hf hdr="0" ftr="0" dt="0"/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TextBox 5">
            <a:extLst>
              <a:ext uri="{FF2B5EF4-FFF2-40B4-BE49-F238E27FC236}">
                <a16:creationId xmlns:a16="http://schemas.microsoft.com/office/drawing/2014/main" id="{5E46FF42-C36A-87C9-3A55-247FEA1EEF60}"/>
              </a:ext>
            </a:extLst>
          </p:cNvPr>
          <p:cNvSpPr txBox="1"/>
          <p:nvPr/>
        </p:nvSpPr>
        <p:spPr>
          <a:xfrm>
            <a:off x="2826170" y="1555100"/>
            <a:ext cx="3584636" cy="1632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ko-KR" altLang="en-US" sz="14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정성제안서</a:t>
            </a:r>
            <a:endParaRPr lang="en-US" altLang="ko-KR" sz="14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맑은 고딕" panose="00000600000000000000" pitchFamily="2" charset="-127"/>
              <a:ea typeface="맑은 고딕" panose="00000600000000000000" pitchFamily="2" charset="-127"/>
              <a:cs typeface="맑은 고딕" panose="00000600000000000000" pitchFamily="2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2027년 국립박물관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  <a:p>
            <a:pPr algn="r">
              <a:lnSpc>
                <a:spcPct val="150000"/>
              </a:lnSpc>
            </a:pPr>
            <a:r>
              <a:rPr lang="en-US" altLang="ko-KR" sz="28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대표누리집 통합 유지관리</a:t>
            </a:r>
            <a:endParaRPr lang="en-US" altLang="ko-KR" sz="280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70C0"/>
              </a:solidFill>
              <a:latin typeface="a옛날사진관5" panose="02020600000000000000" pitchFamily="18" charset="-127"/>
              <a:ea typeface="a옛날사진관5" panose="02020600000000000000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EF8EA-14B3-6E55-F0E1-066986D1E0FA}"/>
              </a:ext>
            </a:extLst>
          </p:cNvPr>
          <p:cNvSpPr txBox="1"/>
          <p:nvPr/>
        </p:nvSpPr>
        <p:spPr>
          <a:xfrm>
            <a:off x="4601846" y="3560894"/>
            <a:ext cx="17604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사업PM </a:t>
            </a:r>
            <a:r>
              <a:rPr lang="ko-KR" altLang="en-US" sz="1200" b="1">
                <a:solidFill>
                  <a:srgbClr val="E00000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【성명】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8C5FC7-1811-9A2D-3F96-29EC88554124}"/>
              </a:ext>
            </a:extLst>
          </p:cNvPr>
          <p:cNvSpPr txBox="1"/>
          <p:nvPr/>
        </p:nvSpPr>
        <p:spPr>
          <a:xfrm>
            <a:off x="3660241" y="4152781"/>
            <a:ext cx="2291653" cy="1177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제출기관: 주식회사 에이치나인</a:t>
            </a:r>
          </a:p>
          <a:p>
            <a:pPr marL="130598" indent="-130598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</a:rPr>
              <a:t>발주기관: 국립중앙박물관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TextBox 12">
            <a:extLst>
              <a:ext uri="{FF2B5EF4-FFF2-40B4-BE49-F238E27FC236}">
                <a16:creationId xmlns:a16="http://schemas.microsoft.com/office/drawing/2014/main" id="{64DC8926-ACD6-EA8A-8DE2-83D5D453BA15}"/>
              </a:ext>
            </a:extLst>
          </p:cNvPr>
          <p:cNvSpPr txBox="1"/>
          <p:nvPr/>
        </p:nvSpPr>
        <p:spPr>
          <a:xfrm>
            <a:off x="1403350" y="142102"/>
            <a:ext cx="39830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&lt; 요구사항 대비 수용여부 조견표 (32개) &gt;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03999" y="468000"/>
          <a:ext cx="5867999" cy="8423976"/>
        </p:xfrm>
        <a:graphic>
          <a:graphicData uri="http://schemas.openxmlformats.org/drawingml/2006/table">
            <a:tbl>
              <a:tblPr firstRow="0" bandRow="0"/>
              <a:tblGrid>
                <a:gridCol w="827999"/>
                <a:gridCol w="756000"/>
                <a:gridCol w="2592000"/>
                <a:gridCol w="612000"/>
                <a:gridCol w="1080000"/>
              </a:tblGrid>
              <a:tr h="2552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고유번호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요구사항 명칭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255272">
                <a:tc rowSpan="10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소속박물관 누리집 통합 유지관리 기본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16~18, 20~21, 26, 38, 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SR(서비스요청) 접수·처리 체계 및 도구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 19~20, 26~27, 43, 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수행 체계 및 장애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24, 29~31, 43, 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소규모 기능개선 및 서비스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26, 39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관리 및 웹 최적화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소스·산출물 백업 및 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25, 40, 56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통계 관리 및 정기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17, 20, 28, 43, 47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만족도 조사 및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MAR-009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모니터링단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MAR-010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품질인증 획득·갱신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MHR-001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 요건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14, 35~37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MHR-002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 변경관리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MHR-003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37, 50, 54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 관련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42, 48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사업장 운영방안 및 유지관리 업무환경 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21, 35, 44, 47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데이터 작성 및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41, 48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및 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40~41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rowSpan="5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업무 인수인계 시 품질 유지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19, 24~25, 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 51~52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관련기관 간 원활한 협조체계 유지 및 운영방안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14, 51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 이전 및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50, 53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PSR-005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문화체육관광부 &lt;공공문화정보 통합관리시스템&gt;과 정보 연계 추진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 준수 및 웹 취약점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SER-004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수행에 대한 보안정책 및 지침준수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QUR-001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정보시스템 운영 전반에 대한 품질관리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31, 33, 40, 42, 48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제약사항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지적 재산권 및 계약일반사항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손해배상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56~57, 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제재방안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30, 61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55272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COR-004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계약의 해지, 해제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52, 57, 61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7" name="TextBox 16">
            <a:extLst>
              <a:ext uri="{FF2B5EF4-FFF2-40B4-BE49-F238E27FC236}">
                <a16:creationId xmlns:a16="http://schemas.microsoft.com/office/drawing/2014/main" id="{1ED316A1-3D0B-757D-AEF4-F34868C8FC6D}"/>
              </a:ext>
            </a:extLst>
          </p:cNvPr>
          <p:cNvSpPr txBox="1"/>
          <p:nvPr/>
        </p:nvSpPr>
        <p:spPr>
          <a:xfrm>
            <a:off x="963899" y="1892346"/>
            <a:ext cx="4179139" cy="43088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altLang="ko-KR" sz="2800" b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70C0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CONTENTS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27787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일반현황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26712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28933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26730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1689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34735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전략 및 방법론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33660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35881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33678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38637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1683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사업관리 부문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0608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2829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0626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45585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48631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지원부문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47556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49777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47574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2533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923660C-AD3D-186F-0EF1-52BEE39D9A52}"/>
              </a:ext>
            </a:extLst>
          </p:cNvPr>
          <p:cNvSpPr txBox="1"/>
          <p:nvPr/>
        </p:nvSpPr>
        <p:spPr>
          <a:xfrm>
            <a:off x="1792637" y="5557982"/>
            <a:ext cx="3027013" cy="276999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defPPr>
              <a:defRPr lang="ko-KR"/>
            </a:defPPr>
            <a:lvl1pPr algn="ctr">
              <a:defRPr sz="2000">
                <a:solidFill>
                  <a:srgbClr val="00FEF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oPub돋움체 Bold" pitchFamily="18" charset="-127"/>
                <a:ea typeface="KoPub돋움체 Bold" pitchFamily="18" charset="-127"/>
              </a:defRPr>
            </a:lvl1pPr>
          </a:lstStyle>
          <a:p>
            <a:pPr algn="l" defTabSz="487783"/>
            <a:r>
              <a:rPr lang="ko-KR" altLang="en-US" sz="1800" b="1">
                <a:solidFill>
                  <a:schemeClr val="tx1"/>
                </a:solidFill>
                <a:effectLst/>
                <a:latin typeface="맑은 고딕" panose="00000800000000000000" pitchFamily="2" charset="-127"/>
                <a:ea typeface="맑은 고딕" panose="00000800000000000000" pitchFamily="2" charset="-127"/>
              </a:rPr>
              <a:t>하도급계획의 적정성 및 기타사항</a:t>
            </a: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973BF974-F27A-A26D-92AE-A3FDA5DBD9B9}"/>
              </a:ext>
            </a:extLst>
          </p:cNvPr>
          <p:cNvSpPr/>
          <p:nvPr/>
        </p:nvSpPr>
        <p:spPr>
          <a:xfrm>
            <a:off x="997744" y="5450465"/>
            <a:ext cx="463836" cy="463836"/>
          </a:xfrm>
          <a:prstGeom prst="ellipse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10800000" scaled="0"/>
          </a:gra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anose="00000300000000000000" pitchFamily="2" charset="-127"/>
              <a:ea typeface="맑은 고딕" panose="00000300000000000000" pitchFamily="2" charset="-127"/>
              <a:cs typeface="+mn-cs"/>
            </a:endParaRPr>
          </a:p>
        </p:txBody>
      </p: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AFF93279-6419-FEFA-DC07-59D0D037F171}"/>
              </a:ext>
            </a:extLst>
          </p:cNvPr>
          <p:cNvCxnSpPr>
            <a:cxnSpLocks/>
          </p:cNvCxnSpPr>
          <p:nvPr/>
        </p:nvCxnSpPr>
        <p:spPr>
          <a:xfrm>
            <a:off x="1457325" y="5672504"/>
            <a:ext cx="179070" cy="0"/>
          </a:xfrm>
          <a:prstGeom prst="straightConnector1">
            <a:avLst/>
          </a:prstGeom>
          <a:ln>
            <a:solidFill>
              <a:srgbClr val="00B0F0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5C71D9D8-E904-42CE-D557-CF9EB8160CF4}"/>
              </a:ext>
            </a:extLst>
          </p:cNvPr>
          <p:cNvSpPr txBox="1"/>
          <p:nvPr/>
        </p:nvSpPr>
        <p:spPr>
          <a:xfrm>
            <a:off x="1026096" y="5452289"/>
            <a:ext cx="4191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87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Ⅴ</a:t>
            </a:r>
            <a:endParaRPr kumimoji="0" lang="ko-KR" altLang="en-US" sz="24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cxnSp>
        <p:nvCxnSpPr>
          <p:cNvPr id="71" name="직선 연결선 70">
            <a:extLst>
              <a:ext uri="{FF2B5EF4-FFF2-40B4-BE49-F238E27FC236}">
                <a16:creationId xmlns:a16="http://schemas.microsoft.com/office/drawing/2014/main" id="{706EACA4-2A8B-84E5-3AB9-081E6CC8A010}"/>
              </a:ext>
            </a:extLst>
          </p:cNvPr>
          <p:cNvCxnSpPr/>
          <p:nvPr/>
        </p:nvCxnSpPr>
        <p:spPr>
          <a:xfrm>
            <a:off x="1792637" y="5948146"/>
            <a:ext cx="2715863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평가항목 조견표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기술성 평가항목 조견표 (1/2)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「기술성 평가기준」의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평가요소 · 관련 목차 · 쪽 · 제안 포인트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81948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017315"/>
                <a:gridCol w="1330335"/>
                <a:gridCol w="1330335"/>
                <a:gridCol w="547785"/>
                <a:gridCol w="1252080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관련 목차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0847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및 인력 (정량)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경영상태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최근년도 경영상태 평가 (정량제안서 별도 제출)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 및 매출액 (최근 3년, [별지 제2호 서식])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기업신용평가등급 BBB0 (배점의 100%)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9317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 및 방법론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사업이해도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개발목표·내용 이해, 문제파악, 업무분석체계, 목표시스템 구성, 제안요청서 부합성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개요 및 추진 배경 / 현황 문제와 통합 유지관리 개선 방향 / 제안의 목적 · 범위 · 전제조건 / 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16~21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최초 사업 이해, 범위 경계 명확화, 4계층 운영체계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931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추진전략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위험요소를 고려한 추진전략의 창의성 · 타당성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비전 · 목표 · 추진전략 / 4대 추진전략 세부 내용 / 위험 요소별 대안 / 착수 2개월 통합 인수 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22~25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창구 · 도구 · SLA · 공통 개선, 2개월 3차수 인수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9317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및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운영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시스템 운영 절차 및 방법, 비상상황 발생 시 대응방안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유지관리 운영 절차 / 통합 SR 처리 도구 / 통계 산출 및 정기 보고 / 통합 모니터링 · 성능 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26~33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필수 기능 8종, 5분 모니터링, 2h 착수 · 4h 정상화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931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인력 요구사항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조직 및 참여인력의 적정성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수행조직 및 13개 기관 대응 체계 / 분야별 투입인력 및 역할 / 인력 운영 · 변경 · 근무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35, 36~37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SPOC, 누리집별 정/부 담당, 2주 병행 인수인계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8893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기술적 보안 구현, 물리적 · 관리적 보안 체계 및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보안지침 준수 · 관리적 · 물리적 보안 / 기술적 보안 · 데이터 보안 · 취약점 제거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54~55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대장, 승인 단말, 시큐어코딩 · 웹쉘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9317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요구사항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도구 · 구현 · 테스트 방안, 단계별 품질 점검 · 검토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수정 · 콘텐츠 운영 지원 · 환경 변화 대응 / 소규모 기능개선 절차 / 소스 · 산출물 형상관리 및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38~41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환경 검증 배포, 형상관리, 접근성 · 표준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8647948"/>
            <a:ext cx="6332400" cy="738271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870194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평가 비율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8899948"/>
            <a:ext cx="6080400" cy="43227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기술평가 90 (정성 85 · 정량 5) : 가격평가 10, 기술능력평가 배점 한도의 85% 이상인 자를 협상적격자로 선정함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기술성 평가항목 조견표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평가항목 조견표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기술성 평가항목 조견표 (2/2)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평가항목별 제안내용 및 해당 쪽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(평가항목 → 제안 쪽) RFP 「기술성 평가기준」의 평가항목마다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평가요소 · 관련 목차 · 쪽 · 제안 포인트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정리함 (쪽은 표지부터 센 전체 쪽수)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616362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017315"/>
                <a:gridCol w="1330335"/>
                <a:gridCol w="1330335"/>
                <a:gridCol w="547785"/>
                <a:gridCol w="125208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평가부문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평가항목 (배점)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평가요소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제안서 관련 목차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제안 포인트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1058319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관리방법론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 · 위험(이슈) · 보안 · 형상 · 문서 관리, 보고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지표 선정 및 적용 · 운영 / 위험 · 이슈 관리 절차 / 보고회의 및 검토계획 / 전자적 사업진척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43, 44, 47, 48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7개 지표, 이슈 등급별 당일 보고, 전자적 진척관리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4431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일정계획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세부활동 · 기간 · 배열, 중간목표, 자원배분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12개월 세부 추진일정 / 마일스톤 · 중간목표 · 자원 배분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45~46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12개월 일정 · 6개 마일스톤 · 시기별 자원 배분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4431">
                <a:tc rowSpan="4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프로젝트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품질보증계획 · 인력 · 사업자 보증 능력, SP인증 등 품질인증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조직 · 방법 ·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담당 분리 점검, 계획 · 점검 · 시정 ·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4431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교육훈련 방법 · 내용 · 일정 · 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대상자별 교육훈련 계획 / 운영 노하우 기술이전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50, 53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 SR · 콘텐츠 교육, 운영 노하우 기술이전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1375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(10점)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계획 · 조직 · 절차 · 범위 · 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 계획 · 조직 · 절차 · 범위 · 기간 / 사업 종료 인수인계 · 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51~52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· 조직 · 절차 · 기간, 종료 1개월 전 인계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01375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비상대책 (5점)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/ 복구 대책, 장애대응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및 장애대응 대책 / 예비 인력 · 장비 보유현황 및 지원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56~57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 백업 · 롤백, 등급별 대응, 예비 인력 1주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8082363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813636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요구사항 수용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8334363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요구사항 32개 전체를 수용하고, 요구사항별 해당 쪽은 요구사항 대비 수용여부 조견표에 표시함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일반현황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Ⅰ.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 일반현황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제안사의 조직 및 인원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주요사업 내용 및 실적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및 업무분장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일반현황 ([별지 제1호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(사용자 중심 디지털 서비스 전문기업) 2010년 설립 이후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기획·디자인부터 플랫폼 개발·AI 구축·운영까지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수행해 온 S/W개발 및 디자인 전문기업임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0800" y="2358000"/>
            <a:ext cx="6332400" cy="702407"/>
          </a:xfrm>
          <a:prstGeom prst="roundRect">
            <a:avLst>
              <a:gd name="adj" fmla="val 6000"/>
            </a:avLst>
          </a:prstGeom>
          <a:solidFill>
            <a:srgbClr val="FFF4E5"/>
          </a:solidFill>
          <a:ln w="12700">
            <a:solidFill>
              <a:srgbClr val="F4B1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90000" bIns="9000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7F3F00"/>
                </a:solidFill>
                <a:latin typeface="맑은 고딕"/>
                <a:ea typeface="맑은 고딕"/>
                <a:cs typeface="맑은 고딕"/>
              </a:rPr>
              <a:t>"우리는 기술을 통해 창의적인 경험을 만들어갑니다. 사려 깊은 디자인과 사용자 중심의 접근 방식을 바탕으로, 사람과 제품, 디지털 서비스 간의 의미 있는 연결을 만드는 것이 우리의 목표입니다."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02400" y="3182807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2400" y="3168407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일반현황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3492407"/>
          <a:ext cx="6260400" cy="3886392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31746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주식회사 에이치나인 (HNINE)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최우식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S/W개발 및 공급, 전문/종합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서울 성동구 뚝섬로1길 25, 1001호 ~ 1005호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TEL 02-521-0518 / FAX 02-567-0518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회사설립년도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해당부문 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2010년 04월 ~ 2026년 10월 (16년 7개월)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09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입찰자격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소프트웨어사업자(컴퓨터관련서비스사업 1468), 직접생산확인(정보시스템유지관리서비스 8111189901), 중 · 소기업 · 소상공인 확인서(공공기관 입찰용)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임직원 129명 (2026년 7월 기준), 6개 실 · 22개 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신용평가등급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BBB0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【신용평가기관 · 평가일 · 유효기간 — 신용평가등급확인서 기준】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302400" y="75012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74868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본 사업과 연결되는 핵심 역량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① 국립중앙박물관 플랫폼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28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교육 플랫폼 '모두' 유지보수(2024) · 개선 및 유지보수(2025), iF Design Award 2023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336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336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② 다수 사이트 통합 운영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696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LG LIFE 및 그룹 홈페이지 사이트 운영(2025 ~), 경기 컬처패스 플랫폼 운영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50400" y="7810800"/>
            <a:ext cx="2026800" cy="90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50400" y="7810800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③ 웹표준 · 접근성 ·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6400" y="8070000"/>
            <a:ext cx="1954800" cy="648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퍼블리싱 · 디자인 조직 직접 보유, 우수디자인전문기업 (한국디자인진흥원)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1.1.2 주요 연혁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일반현황 및 주요 연혁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(검증된 서비스 품질) iF · Good Design · ICT AWARD KOREA 등 국내외 수상과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한국디자인진흥원 우수디자인전문기업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선정으로 서비스 품질을 입증함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6172379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5477850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연혁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ㆍ㈜에이치나인 설립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ㆍ창업진흥원 혁신적 기업가상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 광고 대상 미디어 부문 은상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ㆍ칸느 광고제 미디어 부문 동상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골드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ㆍKorea Design Award 올해의 디자인 프로젝트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우수디자인(GD) 서비스/경험디자인 부문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ㆍ스마트 앱 어워드 KT 고객센터 커뮤니케이션 분야 최우수상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ㆍK-DESIGN AWARD "Everything Moments"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ㆍGood Design 코레일톡 플러스 모바일 앱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2019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ㆍ중소벤처기업부 사내벤처육성기업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전문 디자인 기업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ㆍKIDP 한국디자인진흥원 "우수 디자인 전문 회사 선도 부문"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Communication 부문 "모스랜드 헌터스"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우수 디자인(GD) 선정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ㆍi-AWARDS WEB AWARD KOREA (쇼핑몰 부문 통합대상)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ㆍHCI Korea 온라인 학술대회 우수논문 수상 (반려동물을 위한 AR카메라 Owao)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14831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Website 부문 수상 (국립중앙박물관 교육플랫폼 '모두')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ㆍ서울시 청소년 문제해결 프로젝트 디자인 가치상 (DMI 미국 디자인경영연구소)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ㆍ한국무역협회 1백만불 수출의 탑 수상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887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ㆍiF Design Award Communication 부문 수상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ㆍICT AWARD KOREA 디지털 서비스혁신 분야 GOLD PRIZE</a:t>
                      </a:r>
                    </a:p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ㆍ한국디자인진흥원 2024 우수디자인전문기업 선정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ㆍDesign Award 2025 Service 부문 수상 (Daishin Securities MTS)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제안사 일반현황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자본금 및 매출액 (최근 3년, [별지 제2호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자본금 및 부문별 매출액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(안정적 재무 기반) 최근 3년 매출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95억 ~ 111억 원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유지하고, 부채비율을 104.7%에서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71.8%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낮춰 재무 건전성을 높임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자본금 및 매출액 (단위: 원)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2682000"/>
          <a:ext cx="6260397" cy="1674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100,000,000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(임대료수입)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38,800,000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(용역매출)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11,077,940,671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 합계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9,885,377,589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9,460,127,326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11,116,740,671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02400" y="447839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400" y="446399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주요 재무 지표 (단위: 백만원)</a:t>
            </a:r>
          </a:p>
        </p:txBody>
      </p:sp>
      <p:graphicFrame>
        <p:nvGraphicFramePr>
          <p:cNvPr id="35" name="Table 34"/>
          <p:cNvGraphicFramePr>
            <a:graphicFrameLocks noGrp="1"/>
          </p:cNvGraphicFramePr>
          <p:nvPr/>
        </p:nvGraphicFramePr>
        <p:xfrm>
          <a:off x="316800" y="4788000"/>
          <a:ext cx="6260397" cy="4068000"/>
        </p:xfrm>
        <a:graphic>
          <a:graphicData uri="http://schemas.openxmlformats.org/drawingml/2006/table">
            <a:tbl>
              <a:tblPr firstRow="0" bandRow="0"/>
              <a:tblGrid>
                <a:gridCol w="1799865"/>
                <a:gridCol w="1486844"/>
                <a:gridCol w="1486844"/>
                <a:gridCol w="1486844"/>
              </a:tblGrid>
              <a:tr h="30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2023년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매출원가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매출총이익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9,885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9,460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11,116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경상이익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602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918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650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당기순이익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559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893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625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자산총계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13,127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12,458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12,288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6,714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5,352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5,136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자본총계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6,412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7,105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7,152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부채비율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104.7%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75.3%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71.8%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유동비율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102.4%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157.9%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149.7%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매출액순이익률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9.4%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5.6%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280800" y="892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공인회계사 확인 재무제표 별도 첨부 (부채·유동비율, 매출액순이익률은 표준 산식 적용)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0800" y="9107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결산 공고된 최근 3년간 재무제표와 신용평가등급확인서는 정량제안서에 첨부함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제안사의 조직 및 인원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제안사 조직 및 인원현황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조직 및 인원 현황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(6개 실 · 22개 팀, 129명) 기획 · 디자인 · 퍼블리싱 · 개발 · 운영 · 품질 조직을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한 회사 안에 모두 갖춰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13개 누리집 유지관리를 외부 의존 없이 직접 수행함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45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대표이사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36684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경영 · 사업 총괄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81200" y="23580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최우식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2872800"/>
            <a:ext cx="4874400" cy="45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4800" y="28728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부문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32800" y="2944800"/>
            <a:ext cx="1807199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공공 · 문화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94000" y="2944800"/>
            <a:ext cx="1807199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기업 플랫폼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28728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 · PMO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387600"/>
            <a:ext cx="4874400" cy="45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33876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기획 · 디자인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34596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UX 기획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73600" y="34596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UI 디자인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914400" y="34596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퍼블리싱 · 접근성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281200" y="33876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16800" y="3902400"/>
            <a:ext cx="4874400" cy="45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4800" y="39024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 · 운영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432800" y="3974399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Java · JSP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673600" y="3974399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운영 · SR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914400" y="3974399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모니터링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81200" y="39024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4417200"/>
            <a:ext cx="4874400" cy="450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4800" y="4417200"/>
            <a:ext cx="1044000" cy="45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· 보안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32800" y="44892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품질보증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73600" y="44892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점검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914400" y="4489200"/>
            <a:ext cx="1186800" cy="30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형상 관리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81200" y="4417200"/>
            <a:ext cx="1296000" cy="45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【실명】</a:t>
            </a:r>
          </a:p>
        </p:txBody>
      </p:sp>
      <p:graphicFrame>
        <p:nvGraphicFramePr>
          <p:cNvPr id="57" name="Table 56"/>
          <p:cNvGraphicFramePr>
            <a:graphicFrameLocks noGrp="1"/>
          </p:cNvGraphicFramePr>
          <p:nvPr/>
        </p:nvGraphicFramePr>
        <p:xfrm>
          <a:off x="316800" y="5003999"/>
          <a:ext cx="6260400" cy="3180769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1173825"/>
                <a:gridCol w="31302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전체 임직원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129명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2026년 7월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기획 · 디자인 · 퍼블리싱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웹표준 · 접근성 · 반응형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Java · JSP · Oracle · MariaDB · MySQL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· 보안 · PMO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· 보안 점검 · 형상관리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280800" y="825676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분야별 인원은 [별지 제3호 서식] 기준으로 확정 후 기입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주요사업 내용 및 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분야별 주요 사업내용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주요 사업내용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(디지털 서비스 전 과정)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UX 기획 · 디자인 · 구축 · 운영 · 유지관리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직접 수행하며, 공공 · 문화 분야에서는 국립중앙박물관 교육 플랫폼을 2년간 유지관리함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2667984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3286710"/>
                <a:gridCol w="17216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대표 고객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대규모 기업 · 그룹 사이트 통합 운영, 공공 플랫폼 유지보수, SR 처리 · 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국립중앙박물관, ㈜엘지씨엔에스, ㈜마이비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역할별 권한 · 화면을 갖춘 통합운영 플랫폼 구축, 데이터 표준 아키텍처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삼성에스디에스㈜, 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UX ·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글로벌 표준 CX · UX/UI 가이드, 디자인 시스템, 웹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삼성전자㈜, 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AI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생성형 AI Agent, ML/DL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에스케이㈜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316800" y="5133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5133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4800" y="5187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4800" y="5583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디지털 서비스 업력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9600" y="5133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9600" y="5133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47600" y="5187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7600" y="5583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국립중앙박물관 플랫폼 유지관리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62400" y="51339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62400" y="51339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0400" y="51879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129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70400" y="55839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임직원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6123985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6123985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6167185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공공 · 문화 분야 운영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6411985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국립중앙박물관 교육 플랫폼 '모두'를 2024 ~ 2025년 유지보수하며 박물관 콘텐츠 · 교육 서비스 운영 절차를 익혔습니다.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799" y="6829434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799" y="6865434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콘텐츠 게시 지원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웹 접근성 대응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7418619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6800" y="7418619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7461819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다수 사이트 통합 운영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799" y="7706619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그룹사 다수 사이트를 하나의 운영 조직이 표준 절차로 운영해 온 경험을 13개 누리집 통합 운영에 적용합니다.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799" y="8124067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799" y="8160067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표준 보고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주요사업 내용 및 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유사사업 실적 (최근 3년, [별지 제14호 서식])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주요 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(운영 · 유지관리 · 구축 7건) 최근 3년간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국립중앙박물관 플랫폼 유지보수, 그룹 사이트 통합 운영, 통합운영 플랫폼 구축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이행 완료함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800" y="2358000"/>
            <a:ext cx="6332400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&lt; 유사사업 실적 (단위 백만원, 최근 계약일 순, 이행완료 기준) &gt;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592000"/>
          <a:ext cx="6260400" cy="4832064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269395"/>
                <a:gridCol w="1252080"/>
                <a:gridCol w="626040"/>
                <a:gridCol w="1017315"/>
                <a:gridCol w="704295"/>
              </a:tblGrid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계약금액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경기 컬처패스 플랫폼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2025.10.01 ~ 2025.12.31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144.000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㈜마이비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25년 국립중앙박물관 모두 플랫폼 개선 및 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2025.07.01 ~ 2025.12.31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86.200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LG LIFE 및 그룹 홈페이지 사이트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2025.01.01 ~ 2025.12.31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661.298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5.0 운영고도화 CX 외주계약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2025.01.01 ~ 2025.12.31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1,235.530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(주)엘지경영개발원인화원 LG Awards 시스템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2025.01.01 ~ 2025.05.31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30.000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㈜엘지씨엔에스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2024년 국립중앙박물관 교육 플랫폼 [모두] 유지보수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2024.07.18 ~ 2025.01.14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100.000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040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CELLO SQUARE 통합운영플랫폼 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2024.04.02 ~ 2024.12.31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1,444.700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삼성에스디에스㈜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7496063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수행 중인 사업 제외, 최근 계약일 순(최신 먼저) / 수행실적증명서 첨부 — 2026년 LG LIFE 및 그룹 홈페이지 운영(수행 중) 별도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771206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71206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76606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16206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운영 · 유지관리 · 구축
이행완료 (최근 3년)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39600" y="771206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439600" y="771206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47600" y="776606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3,702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백만원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7600" y="816206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실적 합계
(사업규모 198 대비 18.7배)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62400" y="7712064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62400" y="771206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0400" y="7766063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70400" y="8162064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국립중앙박물관
유지보수 실적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주요사업 내용 및 실적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3.2.2 본 사업에 적용하는 수행 경험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주요 사업실적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(같은 발주기관 · 같은 업무) 국립중앙박물관 플랫폼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2년 유지관리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다수 사이트 통합 운영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경험을 13개 소속박물관 누리집 통합 유지관리에 그대로 적용함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2400" y="2372400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92400" y="235800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교육 플랫폼 '모두' 유지보수 · 개선 (2024 ~ 2025)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0800" y="2682000"/>
            <a:ext cx="6332400" cy="13247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2718000"/>
            <a:ext cx="6224400" cy="12887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(같은 기관의 운영 기준) 국립중앙박물관 보안 · 원격 접속 · 산출물 · 월간보고 절차에 맞춘 유지보수 수행, 콘텐츠 게시 지원 · 기능 개선 · 웹 접근성 대응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MAR-001 콘텐츠 운영 지원, MAR-004 기능개선, MAR-010 웹 접근성, SER-004 보안 절차, PMR-005 산출물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2400" y="411110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400" y="4096710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LG LIFE 및 그룹 홈페이지 사이트 운영 (2025 ~ 수행 중)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0800" y="4420710"/>
            <a:ext cx="6332400" cy="1324710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4456710"/>
            <a:ext cx="6224400" cy="1288710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(다수 사이트 단일 창구) 그룹사 다수 사이트를 하나의 운영 조직이 요청 접수 · 처리 · 배포 · 보고까지 표준 절차로 운영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MAR-002 통합 SR 체계, MAR-007 기관별 · 통합 통계 · 월간보고, PMR-002 13개 기관 대응 체계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02400" y="584981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400" y="583541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CELLO SQUARE 통합운영플랫폼 구축 · 5.0 운영고도화 (2024 ~ 2025)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0800" y="6159419"/>
            <a:ext cx="6332400" cy="1142032"/>
          </a:xfrm>
          <a:prstGeom prst="rect">
            <a:avLst/>
          </a:prstGeom>
          <a:noFill/>
          <a:ln w="12700">
            <a:solidFill>
              <a:srgbClr val="1D4E8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6195419"/>
            <a:ext cx="6224400" cy="1106032"/>
          </a:xfrm>
          <a:prstGeom prst="rect">
            <a:avLst/>
          </a:prstGeom>
          <a:noFill/>
        </p:spPr>
        <p:txBody>
          <a:bodyPr wrap="square" lIns="36000" rIns="36000" tIns="36000" bIns="360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(운영 중 고도화) 서비스 중단 없이 기능 개선 · 배포 · 성능 관리, 형상관리 · 테스트 환경 기반 배포</a:t>
            </a:r>
          </a:p>
          <a:p>
            <a:pPr marL="108000" indent="-10800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(본 사업 적용) MAR-005 성능 관리, MAR-006 형상 · 배포 관리, QUR-001 품질관리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16800" y="7391452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 Same Side Corner Rectangle 42"/>
          <p:cNvSpPr/>
          <p:nvPr/>
        </p:nvSpPr>
        <p:spPr>
          <a:xfrm>
            <a:off x="316800" y="739145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같은 기관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800" y="7679452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국립중앙박물관 운영 절차</a:t>
            </a:r>
          </a:p>
        </p:txBody>
      </p:sp>
      <p:sp>
        <p:nvSpPr>
          <p:cNvPr id="45" name="Isosceles Triangle 44"/>
          <p:cNvSpPr/>
          <p:nvPr/>
        </p:nvSpPr>
        <p:spPr>
          <a:xfrm rot="5400000">
            <a:off x="1811700" y="793325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908900" y="7391452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 Same Side Corner Rectangle 46"/>
          <p:cNvSpPr/>
          <p:nvPr/>
        </p:nvSpPr>
        <p:spPr>
          <a:xfrm>
            <a:off x="1908900" y="739145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다수 사이트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44900" y="7679452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단일 창구 통합 운영</a:t>
            </a:r>
          </a:p>
        </p:txBody>
      </p:sp>
      <p:sp>
        <p:nvSpPr>
          <p:cNvPr id="49" name="Isosceles Triangle 48"/>
          <p:cNvSpPr/>
          <p:nvPr/>
        </p:nvSpPr>
        <p:spPr>
          <a:xfrm rot="5400000">
            <a:off x="3403800" y="793325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3501000" y="7391452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Round Same Side Corner Rectangle 50"/>
          <p:cNvSpPr/>
          <p:nvPr/>
        </p:nvSpPr>
        <p:spPr>
          <a:xfrm>
            <a:off x="3501000" y="739145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무중단 개선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537000" y="7679452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형상 · 배포 · 성능</a:t>
            </a:r>
          </a:p>
        </p:txBody>
      </p:sp>
      <p:sp>
        <p:nvSpPr>
          <p:cNvPr id="53" name="Isosceles Triangle 52"/>
          <p:cNvSpPr/>
          <p:nvPr/>
        </p:nvSpPr>
        <p:spPr>
          <a:xfrm rot="5400000">
            <a:off x="4995900" y="793325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5093100" y="7391452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ound Same Side Corner Rectangle 54"/>
          <p:cNvSpPr/>
          <p:nvPr/>
        </p:nvSpPr>
        <p:spPr>
          <a:xfrm>
            <a:off x="5093100" y="7391452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접근성 · UX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129100" y="7679452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웹표준 · 품질인증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수행조직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Ⅰ. 일반현황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수행조직 및 업무분장 개요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수행조직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(임원급 용역책임자 + PM 단일 창구) 임원급 용역책임자가 사업을 책임지고, PM이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13개 기관의 단일 창구(SPOC)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응용SW · 퍼블리싱/디자인 담당을 지휘함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MHR-001, PSR-003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432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발주기관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국립중앙박물관 디지털박물관과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94000" y="2430000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소속박물관 담당자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281200" y="23580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총괄 · 검수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2854800"/>
            <a:ext cx="4874400" cy="432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4800" y="28548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용역책임자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32800" y="2926799"/>
            <a:ext cx="36684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(임원급)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81200" y="28548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사업 책임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16800" y="3351599"/>
            <a:ext cx="4874400" cy="432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4800" y="3351599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사업PM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32800" y="3423599"/>
            <a:ext cx="36684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 — 단일 창구 (SPOC)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3351599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월 1회 방문 보고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3848400"/>
            <a:ext cx="4874400" cy="432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38484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수행팀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39203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응용SW 유지관리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4000" y="3920399"/>
            <a:ext cx="1807199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퍼블리싱 · 디자인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8484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원격 수행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345200"/>
            <a:ext cx="4874400" cy="432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345200"/>
            <a:ext cx="1044000" cy="432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지원 조직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품질 · 보안 점검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웹 접근성 진단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4417200"/>
            <a:ext cx="1186800" cy="288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예비 인력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4345200"/>
            <a:ext cx="1296000" cy="4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비상주 지원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4913999"/>
          <a:ext cx="6260400" cy="347009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업무분장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용역책임자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계약 이행 책임, 인력 · 자원 지원, 분기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 단일 창구, 일정 · 위험 · 품질 · 보안 관리, 월간보고 · 반기 실무자 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응용SW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누리집 오류 수정 · 기능개선, SR 처리, 장애 대응, 성능 · 형상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퍼블리싱 · 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개선, 웹표준 · 접근성 대응, 팝업 · 배너 · 이벤트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품질보증 점검, 보안 취약점 점검, 웹 접근성 진단, 결원 시 대체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280800" y="8456097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하도급 없이 당사 인력이 직접 수행 (Ⅴ.1 하도급 계획)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전략 및 방법론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Ⅱ.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사업 이해도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추진전략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시스템 운영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사업 개요 및 추진 배경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사업 개요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(통합 최초 사업) 13개 소속박물관이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기관별로 따로 맺던 누리집 유지관리를 국립중앙박물관 중심으로 통합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하는 첫 사업으로, 서비스 편차 해소와 표준 운영체계 확립이 핵심임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457289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500832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2027년 국립박물관 대표누리집 통합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2027. 1. 1. ~ 12. 31. (12개월)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소요예산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198백만원 (부가가치세 포함)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추진방식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제한경쟁입찰, 협상에 의한 계약 (기술 90 : 가격 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1328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경주 · 광주 · 전주 · 부여 · 공주 · 진주 · 청주 · 김해 · 제주 · 춘천 · 나주 · 익산 · 대구 국립박물관 대표누리집 13종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JSP/Java, 한국문화정보원 문화정보통합센터(IDC) 가상화 시스템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937689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923289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사업 목적 (RFP Ⅰ.2)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24728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24728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중단 없는 서비스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50648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장애 시 신속한 복구체계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724728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724728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 편차 해소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750648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 발주 · 통합 관리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724728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724728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표준 원격 체계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750648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 · 장애 · 정기보고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724728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724728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담당자 부담 경감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750648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중앙집중형 관리체계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1.2.1 현황 문제와 통합 유지관리 개선 방향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1.2 현황 및 문제점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(개별 계약의 한계) 기관마다 업체 · 방식 · 보고가 달라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서비스 수준이 들쭉날쭉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했으므로, 하나의 SR 도구 · SLA · 보고 체계로 13개 누리집을 같은 기준에서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MAR-001, MAR-002, MAR-007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67548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504160"/>
                <a:gridCol w="27389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 (개별 유지관리)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유지관리 개선 (요구사항)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· 창구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기관별 개별 계약 · 업체 ·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단일 창구 (SPOC) · 기관별 담당 지정 (MHR-001, PMR-002)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업체 게시판 등록 → 내부 처리 → 회신, 이력 단절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기반 통합 SR 도구 · 단계별 상태 · 영구 이력 (MAR-002)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정기 운영 · 통계 보고 표준 미흡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8개 항목 · 반기 실무자 회의 (MAR-007)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품질 편차, SLA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지표 · 처리 목표시간 공통 적용 (Ⅲ.5)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소스 · 산출물 보유 수준 상이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2개월 인수 · 현황자료 현행화 (PSR-001, MAR-006)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접근성 · 만족도 활동 편차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 조사 · 모니터링단 · 접근성 인증 공통 운영 (MAR-008~010)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7141492"/>
            <a:ext cx="6332400" cy="99560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719549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사업 이해의 핵심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7393492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13개 누리집을 한 업체가 맡는 것만으로는 통합이 되지 않습니다. 같은 SR 도구 · 같은 처리 기준 · 같은 보고 양식으로 운영해야 기관 간 편차가 사라지고, 국립중앙박물관이 전체 현황을 한눈에 관리할 수 있습니다.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1.3.1 제안의 목적 · 범위 · 전제조건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제안의 목적 · 범위 · 특징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(범위 경계를 명확히) 본 사업은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누리집 응용시스템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맡고, IDC 서버 · 상용SW · 네트워크 · 보안관제는 인프라 유지관리 사업과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역할을 나눠 합동 대응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3571060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3756239"/>
                <a:gridCol w="15651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86753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본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응용시스템 — 서비스유지 · 오류수정 · 기능개선 · 콘텐츠 · 만족도조사 · 모니터링 · SR · 취약점점검 · DB 표준화 · 장애 1차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부가기능(게시판 · 검색 · 에디터 · 문서뷰어 · 문자발송) · 연계 콘텐츠 모니터링 및 연계 조율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(솔루션 결함은 제공업체)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별도 사업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IDC 가상화 서버 · 상용SW(OS · DBMS · WEB/WAS · 백신) · 네트워크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유지관리 사업자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보안관제(방화벽 · 웹방화벽 · IPS · DDoS) · 백업 · 소산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유지관리 사업자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02400" y="6051461"/>
            <a:ext cx="46800" cy="2232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2400" y="6037061"/>
            <a:ext cx="6156000" cy="251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시 확정할 전제조건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6361061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636106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기존 산출물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6620261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13개 누리집 소스 · 산출물 보유 현황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6361061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636106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원격 접속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6620261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발주기관 · IDC 승인 경로 · 단말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6361061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636106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개발 환경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6620261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테스트 서버 · 유휴 장비 활용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6361061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6361061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인증 일정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6620261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기관별 접근성 인증 만료일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800" y="7837061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6799" y="7891061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범위 경계 원칙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06799" y="8089061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부가기능 · 연계 콘텐츠의 이상은 당사가 먼저 원인을 파악하고 해당 업체 · 기관에 즉시 통보해 조치가 끝날 때까지 조율합니다. 13개 기관 입장에서는 당사 한 곳에만 요청하면 됩니다.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1.3.2 제안의 특징 및 장점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1.3 제안의 목적 · 범위 · 특징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(4가지 차별점) 국립중앙박물관 플랫폼 유지관리 경험 위에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통합 SR · 통합 모니터링 · 표준 인수 · 접근성 공통 개선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더해 첫 통합 사업을 안정적으로 시작함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MAR-002, PSR-001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같은 기관을 이미 아는 사업자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799" y="2646000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국립중앙박물관 교육 플랫폼을 2년간 유지관리하며 보안 · 원격 · 보고 절차를 익혀 착수 첫 달부터 기관 기준에 맞게 운영합니다.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4799" y="3063448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8799" y="3099448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보안 · 원격 접속 절차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월간보고 · 산출물 양식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652633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16800" y="3652633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3695833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13개 기관 하나의 SR 도구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799" y="3940633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기관별 계정 · 권한 분리, 단계별 상태, 기관별 · 전체 통계를 갖춘 웹 SR 도구를 착수 2주 안에 개통합니다.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64799" y="4358082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8799" y="4394082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필수 기능 8종 충족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총괄 담당자 통합 조회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4947267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4947267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4990467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2개월 표준 인수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4799" y="5235267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13개 누리집을 3차수로 나눠 같은 체크리스트로 소스 · 산출물 · 계정 · 운영 현황을 인수하고 미비사항을 목록화합니다.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64799" y="5652716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18799" y="5688716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누리집별 인수 체크리스트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미비사항 보완 계획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6241901"/>
            <a:ext cx="6260400" cy="1204633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6800" y="6241901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4799" y="6285101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개선으로 효과를 13배로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4799" y="6529901"/>
            <a:ext cx="5540400" cy="39944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13개 누리집이 같은 JSP/Java 환경임을 활용해 접근성 · 성능 · 보안 개선을 공통 모듈로 만들어 함께 적용합니다.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799" y="6947350"/>
            <a:ext cx="5540400" cy="481185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8799" y="6983350"/>
            <a:ext cx="5432400" cy="42718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 개선 패키지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0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기관별 일정 조율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757253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16800" y="757253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4800" y="762653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4800" y="802253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국립중앙박물관 유지관리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39600" y="757253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439600" y="757253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47600" y="762653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8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종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7600" y="802253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SR 필수 기능 충족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62400" y="757253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62400" y="757253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670400" y="762653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차수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70400" y="802253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2개월 표준 인수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1.4.1 목표 운영체계 구성도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(4계층 통합 운영체계)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기관 채널 · 통합 SR · 유지관리 수행 · 운영 기반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4계층으로 13개 누리집을 하나의 체계로 운영하고, 인프라 사업자와 연계함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MAR-001, MAR-002, MAR-007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4874400" cy="54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기관 채널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432800" y="24300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국립중앙박물관 총괄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73600" y="24300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소속박물관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14400" y="24300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이용자 · 모니터링단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23580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요청 · 확인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2962800"/>
            <a:ext cx="4874400" cy="54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29628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통합 SR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30348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웹 SR 도구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673600" y="30348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기관별 계정 · 통계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914400" y="30348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알림 (메일 · 문자)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281200" y="29628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567600"/>
            <a:ext cx="4874400" cy="54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5676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유지관리 수행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32800" y="36396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오류 수정 · 기능개선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73600" y="36396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콘텐츠 · 화면 개선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14400" y="36396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장애 대응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35676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MAR-001 · 003 · 004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172400"/>
            <a:ext cx="4874400" cy="54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1724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품질 활동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42444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성능 · 검색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673600" y="42444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접근성 · 표준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14400" y="42444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만족도 · 모니터링단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281200" y="41724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MAR-005 · 008~010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4777200"/>
            <a:ext cx="4874400" cy="540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47772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 기반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432800" y="48492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형상관리 · 테스트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673600" y="48492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모니터링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914400" y="4849200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통계 · 보고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81200" y="47772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MAR-006 · 007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6800" y="5382000"/>
            <a:ext cx="4874400" cy="540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34800" y="5382000"/>
            <a:ext cx="1044000" cy="54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 기관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432800" y="5453999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인프라 유지관리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673600" y="5453999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한국문화정보원 IDC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14400" y="5453999"/>
            <a:ext cx="1186800" cy="39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솔루션 제공업체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281200" y="5382000"/>
            <a:ext cx="1296000" cy="54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합동 대응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316800" y="6058799"/>
          <a:ext cx="6260400" cy="176305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구성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누리집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경주 · 광주 · 전주 · 부여 · 공주 · 진주 · 청주 · 김해 · 제주 · 춘천 · 나주 · 익산 · 대구 (JSP/Java, IDC 가상화)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상위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대표누리집 · e뮤지엄 · 공공문화정보 통합관리시스템 (PSR-005)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Rectangle 67"/>
          <p:cNvSpPr/>
          <p:nvPr/>
        </p:nvSpPr>
        <p:spPr>
          <a:xfrm>
            <a:off x="280800" y="7929856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6799" y="798385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운영체계의 핵심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06799" y="8181856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모든 요청은 SR 도구로, 모든 상태는 모니터링으로, 모든 결과는 월간 운영보고서로 모입니다.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사업 이해도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1.4.2 13개 누리집 운영 대상 및 관리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1.4 목표시스템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(누리집별 정/부 담당) 13개 누리집마다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정 · 부 담당자를 지정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 같은 점검 주기 · 처리 기준을 적용해 기관 간 서비스 수준을 맞춤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MAR-001, 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6768000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1330335"/>
                <a:gridCol w="2112885"/>
                <a:gridCol w="1212952"/>
                <a:gridCol w="1212952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URL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국립경주박물관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gyeongju.museum.go.kr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국립광주박물관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gwangju.museum.go.kr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국립전주박물관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jeonju.museum.go.kr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국립부여박물관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buyeo.museum.go.kr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국립공주박물관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gongju.museum.go.kr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국립진주박물관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jinju.museum.go.kr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국립청주박물관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cheongju.museum.go.kr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국립김해박물관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gimhae.museum.go.kr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국립제주박물관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jeju.museum.go.kr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국립춘천박물관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chuncheon.museum.go.kr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국립나주박물관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naju.museum.go.kr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국립익산박물관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iksan.museum.go.kr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국립대구박물관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daegu.museum.go.kr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【응용SW】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【퍼블리싱】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9198000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정/부가 동시에 부재하지 않도록 휴가 · 교육 일정을 조정 (MHR-003)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비전 · 목표 · 추진전략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추진전략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(비전: 13개 박물관이 같은 품질로 서비스하는 누리집)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단일 창구 · 도구 기반 · SLA 기반 · 공통 개선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4대 전략으로 통합 유지관리 체계를 1년 안에 정착시킴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4874400" cy="630000"/>
          </a:xfrm>
          <a:prstGeom prst="rect">
            <a:avLst/>
          </a:prstGeom>
          <a:solidFill>
            <a:srgbClr val="1C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4800" y="23580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32800" y="2430000"/>
            <a:ext cx="36684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국립박물관 누리집, 하나의 품질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16800" y="3052800"/>
            <a:ext cx="4874400" cy="630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4800" y="30528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432800" y="31248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무중단 서비스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73600" y="31248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편차 해소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914400" y="3124800"/>
            <a:ext cx="1186800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신속한 SR · 장애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281200" y="30528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RFP 추진목표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6800" y="3747600"/>
            <a:ext cx="4874400" cy="630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4800" y="37476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432800" y="38196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PM 단일 창구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94000" y="38196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기관별 정/부 담당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281200" y="37476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4442400"/>
            <a:ext cx="4874400" cy="630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44424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2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32800" y="45144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웹 SR 도구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94000" y="45144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통합 모니터링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81200" y="44424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도구 기반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5137200"/>
            <a:ext cx="4874400" cy="630000"/>
          </a:xfrm>
          <a:prstGeom prst="rect">
            <a:avLst/>
          </a:prstGeom>
          <a:solidFill>
            <a:srgbClr val="2BA0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51372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432800" y="52092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SLA 지표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94000" y="5209200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월간 · 반기 보고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281200" y="51372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SLA 기반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5832000"/>
            <a:ext cx="4874400" cy="630000"/>
          </a:xfrm>
          <a:prstGeom prst="rect">
            <a:avLst/>
          </a:prstGeom>
          <a:solidFill>
            <a:srgbClr val="5BA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4800" y="5832000"/>
            <a:ext cx="1044000" cy="63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전략 4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32800" y="5903999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 개선 패키지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294000" y="5903999"/>
            <a:ext cx="1807199" cy="4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접근성 · 성능 · 보안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81200" y="5832000"/>
            <a:ext cx="1296000" cy="630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 개선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168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68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248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48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장애 착수 (근무시간)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089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9089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169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시간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0169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정상 가동 (근무시간)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5010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5010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090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6090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누리집 단일 창구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93100" y="6598799"/>
            <a:ext cx="14841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93100" y="6598799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201100" y="6652799"/>
            <a:ext cx="13221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01100" y="7048799"/>
            <a:ext cx="13221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 인수 완료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0800" y="7588799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06799" y="76427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성과 측정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06799" y="784079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목표마다 SLA 지표(가용률 · 장애 복구 · SR 처리)를 연결해 매월 달성 여부를 보고하고, 반기 실무자 회의에서 13개 기관과 함께 점검합니다.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2.1.2 4대 추진전략 세부 내용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추진전략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(전략 → 실행 과제 → 지표) 전략마다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실행 과제 · 산출물 · 측정 지표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정해 월간 운영보고서로 이행 결과를 확인함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4120112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582415"/>
                <a:gridCol w="1330335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실행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단일 창구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SPOC 지정, 기관별 정/부 담당, 에스컬레이션 경로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체계표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회신 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우선순위 · 기관 간 충돌 조정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절차서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처리 3일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도구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SR 도구 개통 · 계정 발급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·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2주 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누리집 가용성 · 응답속도 통합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 주기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기반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지표 · 목표값 협의, 월간 측정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월간보고서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지표 달성률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· 성능 · 보안 공통 개선 → 13개 순차 적용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 개선 패키지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유지 13개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280800" y="6586113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6799" y="664011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첫 해 통합 사업의 성패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6799" y="6838113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첫 두 달의 인수와 SR 도구 정착이 1년 운영의 품질을 좌우합니다. 인수 차수마다 결과를 보고해 미비사항을 조기에 드러내고, 기관 담당자가 SR 도구에 익숙해지도록 기관별 교육을 먼저 실시합니다.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800" y="7663988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800" y="7663988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단일 창구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2800" y="7923188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 SPOC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904400" y="7663988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904400" y="7663988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도구 기반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7923188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 · 모니터링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92000" y="7663988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492000" y="7663988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SLA 기반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8000" y="7923188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지표 · 보고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79600" y="7663988"/>
            <a:ext cx="14976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79600" y="7663988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공통 개선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5600" y="7923188"/>
            <a:ext cx="14256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13개 일괄 적용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위험 요소별 대안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위험 요소와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(통합 최초 사업의 위험)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인수 부실 · 요청 집중 · 복합 장애 · 인력 공백 · 접근성 인증 · 범위 분쟁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6대 위험을 착수 시 등록하고 위험마다 예방 · 대안을 준비함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MAR-003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675488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252080"/>
                <a:gridCol w="1956375"/>
                <a:gridCol w="19563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위험 요소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 대안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부실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산출물 · 계정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전 기존 업체 협조 요청 공문, 인수 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서버 소스 추출 · 역설계 문서화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집중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특정 시기 SR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전시 개막 · 예약 개시 일정 사전 수집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우선순위 조정 · 예비 인력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복합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공방 · 복구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사업자 · IDC 합동 대응 절차 사전 합의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원인 무관 즉시 1차 대응 · 합동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공백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정/부 동시 부재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정/부 일정 조정 · 업무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인력 1주 내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 만료 · 재심사 지연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만료일 관리 · 3개월 전 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 개선 · 재진단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분쟁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초과 요청 거부 논란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M/D 산정 · 협의 절차 공지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대안 제시 · 차기 계획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1414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1414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71954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대 위험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75914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착수 시 등록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1414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1414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71954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당일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75914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이슈 보고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141492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141492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7195492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 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7591492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예비 인력 투입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8131492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8185492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위험 관리 방식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8383492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6대 위험을 착수 보고 때 위험관리대장에 등록하고 주간 점검에서 등급을 다시 평가합니다.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추진전략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2.2.2 착수 2개월 통합 인수 전략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위험 요소와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(3차수 표준 인수) 13개 누리집을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4 · 4 · 5개씩 3차수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나눠 같은 체크리스트로 인수하고, 차수마다 결과와 미비사항 보완 계획을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MAR-006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354096"/>
        </p:xfrm>
        <a:graphic>
          <a:graphicData uri="http://schemas.openxmlformats.org/drawingml/2006/table">
            <a:tbl>
              <a:tblPr firstRow="0" bandRow="0"/>
              <a:tblGrid>
                <a:gridCol w="782550"/>
                <a:gridCol w="1173825"/>
                <a:gridCol w="2738925"/>
                <a:gridCol w="15651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누리집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1 ~ 3주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【4개 기관 — 요청 빈도 · 규모 기준 선정】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4주 ~ 2월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【4개 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 2 ~ 4주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【5개 기관】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3 · 종합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4820097"/>
          <a:ext cx="6260400" cy="275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소스와 형상 저장소 일치 여부, 설정파일, 빌드 · 배포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설계서 · 매뉴얼 · DB 명세 보유 여부, 최신화 수준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계정 · 권한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관리자 · DB · 서버 접근 계정, 원격 접속 경로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구조 · 기능 · 연계 · 솔루션 버전 · 담당자 (MAR-006 현황자료)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7682097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7360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인수 중에도 서비스는 계속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7934097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인수 기간에도 1월 1일부터 SR 접수와 장애 대응은 즉시 시작합니다. 인수 전 누리집은 기존 업체 인계 자료와 운영 서버 확인으로 1차 대응합니다.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통합 유지관리 운영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운영 절차 및 방법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(접수 → 검토 → 처리 → 확인 → 보고) 모든 요청을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SR 도구 한 곳에서 접수해 기관 확인까지 끊김 없이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처리하고, 결과는 월간 운영보고서로 모음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MAR-001, MAR-002, MAR-004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SR 도구 등록 (기관 담당자)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접수 즉시 회신 · 처리 예정일 안내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접수 4시간 이내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15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15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검토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21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유형 · 범위 · 소요 M/D 산정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범위 초과 시 대안 · 협의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15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담당자 · 기한 지정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41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41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처리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01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테스트 환경 검증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배포 · 롤백 방안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941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형상 이력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73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73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80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요청 기관 확인(검수)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완료 알림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73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종결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525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525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597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63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월간 운영보고서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63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반기 실무자 회의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525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통계 · 개선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371999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2347650"/>
                <a:gridCol w="1956375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회신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단순 문의 · 콘텐츠 게시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오류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소규모 기능개선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협의된 일정 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TextBox 61"/>
          <p:cNvSpPr txBox="1"/>
          <p:nvPr/>
        </p:nvSpPr>
        <p:spPr>
          <a:xfrm>
            <a:off x="280800" y="8639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처리 목표시간은 RFP MAR-002 기준, 세부 기준은 SLA 체결 시 협의하여 확정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통합 SR 처리 도구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운영 절차 및 방법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(필수 기능 8종 충족) 웹 브라우저로 접속하는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SR 처리 도구를 착수 2주 안에 개통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13개 기관 계정 · 권한 분리와 기관별 · 전체 통계를 제공함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5298640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347650"/>
                <a:gridCol w="35214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RFP 필수 기능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제공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브라우저 접수 (별도 SW 불필요)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SR 도구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【제품 · 구성 확정】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모바일 브라우저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기관별 계정 · 권한 분리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프로젝트 · 역할 권한, 자기 기관 요청만 조회 · 등록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단계별 상태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검토 → 처리중 → 완료 → 확인 워크플로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유형 · 처리기한 · 담당자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/ 기능개선 / 콘텐츠 / 문의 유형, 기한 자동 계산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이력 영구 보존 ·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 이력 보존, 사업 종료 시 전량 이관 (CSV · DB 덤프)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· 전체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건수 · 유형별 · 기간별 · 평균 처리시간 · 지연 건수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· 완료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이메일 · 문자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첨부파일 등록 ·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캡처 · 문서 첨부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764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764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 1주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8052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 구성 · 계정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8306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764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764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착수 2주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8052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개통 · 기관 교육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8306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764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764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1개월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8052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이용 정착 점검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8306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764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764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매월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8052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통계 · 보고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8306442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764642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764642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종료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8052642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이력 전량 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9024642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국립중앙박물관 총괄 담당자는 13개 기관 전체 현황을 통합 조회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통계 산출 및 정기 보고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운영관리 정책 · 통계 · 보고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(월간보고 = 검수 요건) 13개 누리집 이용통계와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8개 필수 항목을 담은 월간 운영보고서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매월 제출하고, 기관 담당자는 자기 기관 통계를 직접 조회함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412808"/>
        </p:xfrm>
        <a:graphic>
          <a:graphicData uri="http://schemas.openxmlformats.org/drawingml/2006/table">
            <a:tbl>
              <a:tblPr firstRow="0" bandRow="0"/>
              <a:tblGrid>
                <a:gridCol w="391275"/>
                <a:gridCol w="2504160"/>
                <a:gridCol w="33649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필수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누리집별 가용률 · 장애 내역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모니터링 가용성 측정 · 장애보고서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접수 · 처리 현황 · 미처리 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통계 (기관별 · 유형별 · 기간별)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기능개선 수행 · 진행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· 형상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측정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응답속도 · 첫 화면 로딩 · 페이지 용량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이용통계 (기관별 · 전체)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방문자 · 페이지뷰 · 기기 · 브라우저 · 유입 · 인기 페이지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점검 ·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취약점 점검 · 웹쉘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측정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표준안 · IRM 등급별 필수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익월 계획 · 건의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요청 · 개선 과제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6878808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1173825"/>
                <a:gridCol w="391275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(PM 방문)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·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실무자 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운영결과 보고 · 요구 수렴 → 2주 내 조치계획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연간 결과 · 성과 · 미해결 과제 · 차년도 권고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3.2.2 통합 모니터링 · 성능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운영관리 정책 · 통계 · 보고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(이상을 먼저 발견) 13개 누리집의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가용성 · 응답속도를 5분 주기로 자동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「전자정부 웹사이트 품질관리 지침」 성능 기준에 맞춰 개선함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MAR-005, MAR-003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47449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756239"/>
                <a:gridCol w="11738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누리집별 주요 페이지 자동 호출 · 이상 시 담당 알림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응답속도 · 첫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로딩 시간 · 페이지 용량 측정, 기준 초과 페이지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저하 요인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비효율 SQL · 대용량 이미지 · 불필요 스크립트 분석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집중 접속 대비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전시 개막 · 예약 개시 일정 사전 점검 · 인프라 사업자 공유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검색 정상 동작 · 색인 정합성 · 주요 검색어 결과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반응형 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브라우저 · 모바일 기기별 표시 오류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9404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9404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69944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5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73904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가용성 자동 점검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69404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69404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69944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73904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누리집 통합 대시보드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6940497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6940497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6994497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월 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7390497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성능 개선 보고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7930497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9844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인프라 이상 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8182497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자원 사용량 · 트래픽 이상은 즉시 인프라 유지관리 사업자에 통보하고 원인 확인에 함께 참여합니다 (MAR-005).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29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3.3.1 장애 대응 기준 및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비상상황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(2시간 착수 · 4시간 정상화) 장애통보 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2시간(근무시간 외 4시간) 내 착수, 4시간(외 8시간) 내 정상 가동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지키고, 24시간 365일 비상연락 체계를 운영함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MAR-003, COR-003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196000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2152012"/>
                <a:gridCol w="2152012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근무시간 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처리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가동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8시간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비상연락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정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· 휴일 당번 · 부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662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4662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감지 · 접수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473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477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모니터링 알림 · 기관 신고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477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장애 등급 분류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4662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즉시 보고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545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545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1차 대응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552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556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원인 구분 (응용 / 인프라)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556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응급 조치 · 임시 안내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545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2시간 내 착수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6245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6245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6317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635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복구 지침 수행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6353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합동 대응 (인프라 · IDC)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6245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4시간 내 정상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7037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7037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7109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7145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장애보고서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7145999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예방 조치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7037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매뉴얼 갱신</a:t>
            </a:r>
          </a:p>
        </p:txBody>
      </p:sp>
      <p:graphicFrame>
        <p:nvGraphicFramePr>
          <p:cNvPr id="56" name="Table 55"/>
          <p:cNvGraphicFramePr>
            <a:graphicFrameLocks noGrp="1"/>
          </p:cNvGraphicFramePr>
          <p:nvPr/>
        </p:nvGraphicFramePr>
        <p:xfrm>
          <a:off x="316800" y="7883999"/>
          <a:ext cx="6260400" cy="1142528"/>
        </p:xfrm>
        <a:graphic>
          <a:graphicData uri="http://schemas.openxmlformats.org/drawingml/2006/table">
            <a:tbl>
              <a:tblPr firstRow="0" bandRow="0"/>
              <a:tblGrid>
                <a:gridCol w="62604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장애보고서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장애내역 · 등급 · 원인분석 · 발생 · 조치경과(일시 · 확인 · 조치자) · 향후 위험요소 · 재발방지 조치 · 장애처리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3.3.2 복합장애 합동 대응 및 장애 예방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3.3 비상상황 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(원인 소재와 무관하게 먼저 움직임) 응용 · 인프라 원인이 불분명해도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즉시 1차 대응하고 인프라 사업자 · IDC와 합동 점검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하며, 누리집별 장애 시나리오로 예방함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MAR-003, QUR-001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680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 Same Side Corner Rectangle 31"/>
          <p:cNvSpPr/>
          <p:nvPr/>
        </p:nvSpPr>
        <p:spPr>
          <a:xfrm>
            <a:off x="31680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장애 접수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80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당사 1차 대응</a:t>
            </a:r>
          </a:p>
        </p:txBody>
      </p:sp>
      <p:sp>
        <p:nvSpPr>
          <p:cNvPr id="34" name="Isosceles Triangle 33"/>
          <p:cNvSpPr/>
          <p:nvPr/>
        </p:nvSpPr>
        <p:spPr>
          <a:xfrm rot="5400000">
            <a:off x="149328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59048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 Same Side Corner Rectangle 35"/>
          <p:cNvSpPr/>
          <p:nvPr/>
        </p:nvSpPr>
        <p:spPr>
          <a:xfrm>
            <a:off x="159048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계층 점검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2648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응용 로그 · 응답</a:t>
            </a:r>
          </a:p>
        </p:txBody>
      </p:sp>
      <p:sp>
        <p:nvSpPr>
          <p:cNvPr id="38" name="Isosceles Triangle 37"/>
          <p:cNvSpPr/>
          <p:nvPr/>
        </p:nvSpPr>
        <p:spPr>
          <a:xfrm rot="5400000">
            <a:off x="276696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286416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 Same Side Corner Rectangle 39"/>
          <p:cNvSpPr/>
          <p:nvPr/>
        </p:nvSpPr>
        <p:spPr>
          <a:xfrm>
            <a:off x="286416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합동 점검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0016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인프라 · IDC 통보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04064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13784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 Same Side Corner Rectangle 43"/>
          <p:cNvSpPr/>
          <p:nvPr/>
        </p:nvSpPr>
        <p:spPr>
          <a:xfrm>
            <a:off x="413784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공동 복구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7384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역할 분담</a:t>
            </a:r>
          </a:p>
        </p:txBody>
      </p:sp>
      <p:sp>
        <p:nvSpPr>
          <p:cNvPr id="46" name="Isosceles Triangle 45"/>
          <p:cNvSpPr/>
          <p:nvPr/>
        </p:nvSpPr>
        <p:spPr>
          <a:xfrm rot="5400000">
            <a:off x="5314320" y="2899800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411520" y="2358000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 Same Side Corner Rectangle 47"/>
          <p:cNvSpPr/>
          <p:nvPr/>
        </p:nvSpPr>
        <p:spPr>
          <a:xfrm>
            <a:off x="5411520" y="2358000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결과 공유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47520" y="2646000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보고서 · 개선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316800" y="3654000"/>
          <a:ext cx="6260399" cy="291209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756239"/>
                <a:gridCol w="11738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예방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일일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접속 · 주요 기능 · 부가기능(게시판 · 검색 · 에디터 · 뷰어 · 문자)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로그 · 오류 추이 · 용량 · 보안 패치 영향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시나리오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누리집별 장애 시나리오 · 등급별 복구 지침 작성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2개월 · 분기 현행화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장애 모의훈련 참여 · 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" name="Rectangle 50"/>
          <p:cNvSpPr/>
          <p:nvPr/>
        </p:nvSpPr>
        <p:spPr>
          <a:xfrm>
            <a:off x="280800" y="6674097"/>
            <a:ext cx="6332400" cy="772583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06799" y="67280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원인 공방 없는 대응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06799" y="6926097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원인 소재를 이유로 대응을 미루지 않습니다. 당사가 먼저 응용 계층을 점검해 결과를 공유하고, 인프라 계층이 원인이면 해당 사업자의 복구를 지원합니다.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16800" y="755468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16800" y="755468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24800" y="760868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매일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4800" y="800468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일일 예방점검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01000" y="755468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01000" y="755468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09000" y="760868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609000" y="800468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누리집 장애 시나리오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31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3.4.1 이용자 만족도 조사 · 누리집 모니터링단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3.4 서비스 품질 향상 활동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(이용자 목소리로 개선)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연 1회 온라인 만족도 조사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상 · 하반기 모니터링단(회당 10명 이상)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운영하고, 결과를 기관별로 분석해 조치함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MAR-008, MAR-009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387753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621542"/>
                <a:gridCol w="2621542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 조사 (MAR-008)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모니터링단 (MAR-009)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 (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상반기 · 하반기 (연 2회)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방식 · 규모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조사, 배너 · 팝업 참여 유도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국민 회당 10명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 편의성 · 콘텐츠 충실도 · 검색 · 디자인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오탈자 · 깨진 링크 · 메뉴 · 콘텐츠 정확성 · 모바일 · 개선 의견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· 전체 구분 분석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유형별 분류 · 조치 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개선 계획 · 시행 · 결과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조치 완료 / 장기 검토 / 조치 불가 사유 · 대안 (분기 보고)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34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34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63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항목 · 대상 협의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693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34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34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모집 · 안내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63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배너 · 공지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693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34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34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63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응답 · 과제 수행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693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34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34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분석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63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기관별 결과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6939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343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343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631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· 보고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7711538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모니터링단 사례비는 주관기관 부담 — 당사는 명단 · 참여 확인 · 선정 자료 제출로 지급 절차 지원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16800" y="7927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16800" y="7927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24800" y="79815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연 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4800" y="83775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만족도 조사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39600" y="7927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439600" y="7927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7600" y="79815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연 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547600" y="83775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모니터링단 (회당 10명+)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62400" y="7927538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62400" y="7927538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670400" y="7981538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분기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70400" y="8377538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조치 결과 보고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시스템 운영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Ⅱ. 전략 및 방법론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3.4.2 웹 접근성 품질마크 · DB 표준화 · 문화정보 연계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3.4 서비스 품질 향상 활동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(13개 WA 품질마크 유지) 기관별 인증 만료일에 맞춰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KWCAG 2.2 사전 진단 → 개선 → 신청 · 심사 대응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지원하고, 모바일 웹접근성 진단 · 보완과 DB 표준화를 함께 수행함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MAR-010, PSR-005, QUR-001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일정 관리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13개 기관 인증 만료일 정리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만료 3개월 전 착수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인증 일정표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15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15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사전 진단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21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진단도구 · 전문가 진단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KWCAG 2.2 기준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15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진단 결과서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41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41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01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공통 개선 → 기관별 적용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호환성 · 표준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941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결과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73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73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신청 · 심사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80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신청 서류 작성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심사 대응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73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인증 획득 · 갱신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579999"/>
          <a:ext cx="6260400" cy="29415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3677985"/>
                <a:gridCol w="117382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모바일 웹접근성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진단도구 · 전문가 활용 진단, 미흡 항목 보완 · 결과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표준화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문화체육관광부 주관 공공기관 데이터베이스 표준화 · 품질관리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공공문화정보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공공문화정보 통합관리시스템 메타데이터 연계, 스키마 · 코드 · 수집 query 안내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웹표준 · 호환성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브라우저 · 모바일 호환성 점검 ·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280800" y="859358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인증 심사 · 수수료는 주관기관 부담 (MAR-010), 진단 · 개선 · 신청 지원은 당사 수행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사업관리 부문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Ⅲ.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수행조직 및 업무분장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조직운영 및 인력투입계획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유지보수 수행방안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품질보증방안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서비스수준 관리방안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위험 및 이슈관리방안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추진일정계획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보고 및 검토계획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 관리방안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수행조직 및 업무분장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수행조직 및 13개 기관 대응 체계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수행조직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(PM 단일 창구 + 기관별 담당) PM이 13개 기관의 단일 창구를 맡고, 누리집마다 정/부 담당을 지정해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응대 시간 · 수단 · 에스컬레이션 경로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명확히 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MHR-001, 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33048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1565100"/>
                <a:gridCol w="367798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 ·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정/부 담당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SR · 문의 응대 (평일 09:00 ~ 18:00, SR 도구 · 전화 · 메일)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지연 · 범위 초과 · 기관 간 요청 충돌 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용역책임자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중대 장애 · 계약 이슈 · 인력 추가 투입 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주말 · 휴일 당번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접수 (24시간 · 365일 비상연락망)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299048"/>
          <a:ext cx="6260400" cy="227504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상황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조정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우선순위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&gt; 보안 &gt; 오류 &gt; 콘텐츠 게시 &gt; 기능개선 순, 기관 일정(전시 개막 등)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간 충돌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기간 다수 요청 시 PM이 처리 순서안 제시 → 주관기관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 초과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M/D 산정 · 사유 · 대안 제시 → 주관기관 · 해당 기관 협의 후 결정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7682097"/>
            <a:ext cx="6332400" cy="772583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773609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연락 체계 공유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7934097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비상연락망(주 · 부 담당)을 주관기관과 13개 기관에 착수 시 제공하고, 변경 시 즉시 갱신합니다.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조직운영 및 인력투입계획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분야별 투입인력 및 역할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투입인력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(3개 분야 · 원격 수행) RFP 분야(사업 총괄 · 응용SW · 퍼블리싱/디자인)별로 인력을 배치하고, 13개 누리집의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Java/JSP · Windows/Linux · Apache · Tomcat · Oracle · MariaDB · MySQL 환경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모두 다루는 인력을 투입함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MHR-001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44992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782550"/>
                <a:gridCol w="1252080"/>
                <a:gridCol w="704295"/>
                <a:gridCol w="242590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등급 · 자격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총괄 (PM)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 · 자격】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SPOC, 일정 · 품질 · 보안 관리, 월간보고 · 반기 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응용SW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 · 자격】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누리집 오류 수정 · 기능개선 · SR ·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응용SW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 · 자격】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성능 · 형상 · 보안 취약점 조치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퍼블리싱/디자인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 · 자격】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개선 · 웹표준 · 접근성 · 팝업 · 배너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지원 (비상주)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【등급 · 자격】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필요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진단 · 보안 점검 · 예비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37499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인원 · 투입률은 사업비 기준 확정 (예산 증감 시 협의 조정), 착수계 시 경력 · 졸업 · 4대보험 증빙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316800" y="6590995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역량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언어 · 프레임워크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Java · JSP · Spring · JavaScript · HTML5 · CSS3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WEB/WAS · OS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Apache · Nginx · Tomcat, Windows · Linux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DBMS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Oracle · MariaDB · MySQL, SQL 튜닝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조직운영 및 인력투입계획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인력 운영 · 변경 · 근무 관리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인력 운영 ·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(원격 원칙 · 현장 대응 확보) 원격 수행을 원칙으로 하되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필요 시 현장 방문 인력을 확보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PM은 사업 기간 중 교체하지 않으며 변경 시 2주 병행 인수인계함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MHR-001, MHR-002, MHR-003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057584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 형태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수행 원칙, 장애 · 협의 · 회의 시 현장 방문 (서울 본사 → 소속박물관 당일 이동 계획)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정규직원, 월 1회 이상 국립중앙박물관 방문 보고, 반기 1회 실무자 회의 참석, 사업 기간 중 교체 없음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인력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2주 전 사전 협의 · 승인, 동급 이상 교체, 2주 병행 근무 인수인계 (인건비 별도 청구 없음)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정/부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업무별 정/부 담당, 동시 부재 금지, 주말 · 휴일 당번 지정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근무상태 자체 관리 · 발주기관 협의, 야간 · 휴일 근무 수당은 당사 부담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역량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 자체 서비스 교육, 연 2회 전문 강사 교육, 개인정보 · 보안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5235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6523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65775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69735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PM 교체 (사업 기간)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65235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6523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65775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69735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교체 시 병행 근무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6523585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6523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6577585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월 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6973585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PM 방문 보고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0800" y="7513585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06799" y="7567585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근무 형태 운영 기준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6799" y="7765585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비상주(원격) 수행을 기준으로 인력을 운영하고, 장애 대응 · 회의 등 현장 업무는 방문 인력을 바로 보냅니다. 주관기관이 상주를 요청하는 업무는 협의해 같은 장소에 배치합니다.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37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정보시스템 유지보수 수행방안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오류 수정 · 콘텐츠 운영 지원 · 환경 변화 대응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유지보수 수행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(13개 누리집 공통 절차) 오류는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원인 분석 → 수정 → 재발방지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콘텐츠는 게시 지원 · 기술 문의 응대, 조직 · 전시실 개편은 구조 변경으로 지원함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MAR-001, PSR-002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62524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오류 수정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화면 · 기능 결함 조치, 원인 분석 · 재발방지 대책, 디자인 개선 · 퍼블리싱 · 검색 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부가기능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게시판 · 첨부 · 검색 · 웹에디터 · 문서뷰어 · 문자발송 상시 확인, 이상 시 솔루션 업체 연계 (결함 수정은 제공업체)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콘텐츠 운영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전시 · 교육 · 행사 · 소장품 콘텐츠 게시 오류 조치 · 게시 지원, 담당자 기술 문의 응대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 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 개편 · 전시실 개편 · 관람정책 변경 시 내용 · 구조 변경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연계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국립중앙박물관 대표누리집 · e뮤지엄 연계 변경 협의, 연계 오류 원인 파악 · 즉시 통보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환경설정 · 응용SW 설치 · 설정 변경, 장비 · OS · DBMS 교체 · 업그레이드 시 변경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091244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091244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원인 분석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350444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로그 · 재현 · 영향 범위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7091244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7091244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수정 · 검증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7350444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테스트 환경 · 기관 확인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7091244"/>
            <a:ext cx="20268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7091244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7350444"/>
            <a:ext cx="19548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결함은 13개 일괄 점검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38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정보시스템 유지보수 수행방안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3.1.2 소규모 기능개선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유지보수 수행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(사업자가 임의 판단하지 않음) 기능개선은 SR로 접수해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소요 M/D · 일정을 산정 · 제시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범위 내 처리 여부를 주관기관 · 해당 기관과 협의해 결정함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요청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SR 도구 접수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요구 내용 확인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기능개선 SR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산정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소요 M/D · 일정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영향 범위 · 접근성 검토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산정서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협의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범위 내 처리 여부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주관기관 · 기관 협의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처리 결정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개발 · 시험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테스트 환경 사전 검증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 접근성 · 표준 준수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시험 결과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6800" y="5310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34800" y="5310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반영 · 안내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34800" y="5382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324800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배포 · 롤백 방안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446999" y="5418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공지 · 공문 안내 지원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69200" y="5310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완료 보고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316800" y="6102000"/>
          <a:ext cx="6260400" cy="2394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기능개선 유형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편의성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· 검색 · 예약 안내 화면 개선, 모바일 화면 개선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· 개인정보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취약점 · 개인정보 보호 조치, 보안평가 결과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 · 제도 ·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법 · 제도 변경 반영, OS · DBMS 등 환경 변화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이벤트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설문 · 이벤트 페이지 제작, 팝업 · 배너 제작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" name="Rectangle 6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39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정보시스템 유지보수 수행방안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3.2.1 소스 · 산출물 형상관리 및 배포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형상 · 산출물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(13개 누리집 하나의 형상 저장소) 소스 · 설정 · 산출물을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누리집별 저장소로 버전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테스트 환경 검증 · 롤백 방안을 갖춘 배포만 운영에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MAR-006, PMR-005, QUR-001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95240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누리집별 형상 저장소 (Git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), 변경 사유 · 일시 · 담당 · 내역 기록, 주석에 개선 일시 · 이슈 번호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매뉴얼 · 현황자료 · 장애보고서 · 표준산출물 버전 관리, EA 시스템 반영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소스 · 산출물 · 응용 설정을 발주기관 지정 장소에 주기 백업 (서버 · 데이터는 인프라 사업)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환경 검증 → 기관 일정 협의 → 배포 → 롤백 대비, 배포 이력 기록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구조 · 기능 · 연계 · 솔루션 버전 · 담당자 — 착수 2개월 제출, 분기 현행화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변경 요청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 번호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개발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브랜치 · 주석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시험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테스트 DB · 환경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승인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기관 일정 협의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057043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6461244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6461244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배포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6749244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이력 · 롤백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6800" y="786524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6800" y="7865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4800" y="791924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4800" y="831524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배포 전 테스트 검증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501000" y="7865244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501000" y="7865244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09000" y="791924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분기 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9000" y="8315244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현황자료 현행화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정보시스템 유지보수 수행방안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3.2.2 산출물 종류 및 제출 시기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3.2 형상 · 산출물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(검수 연계) 착수 · 공통 · 유지관리 · 완료 단계별 산출물을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RFP 제출 기한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에 맞춰 제출하고, SW사업정보 데이터를 산출물 목록에 포함함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PMR-005, PMR-004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8" cy="4076424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3756239"/>
                <a:gridCol w="15651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기한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착수계 · 사업수행계획서 (조직 · 방법론 · 일정 · 품질 · 위험 · 보안 · 13개 기관 대응 체계)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14일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· 13개 누리집 현황자료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후 2개월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공통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표준 및 절차 매뉴얼(SPM)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 · 요청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월간보고서 · 실적보고서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주간업무보고 / 월간업무보고 · 보안 보고서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 / 월간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운영매뉴얼 · 웹접근성 진단 결과 · 보안취약점 진단 결과(대표이사 확약서) · 만족도 · 모니터링 결과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요청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사업완료보고 · 외부인력 보안 관리 확인서 · 업무 인수인계 확인서 · SW사업정보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검사완료 후 7일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Box 31"/>
          <p:cNvSpPr txBox="1"/>
          <p:nvPr/>
        </p:nvSpPr>
        <p:spPr>
          <a:xfrm>
            <a:off x="280800" y="6506424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월간 운영보고서 제출 · 확인은 월별 검수 및 기성금 지급 요건 (MAR-007)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0800" y="6722424"/>
            <a:ext cx="6332400" cy="755427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6776424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산출물 작성 원칙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6974424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「정보시스템 구축 · 운영 지침」 제44조 표준산출물 기준으로 작성하고, 유지관리 수행에 따른 변경을 버전으로 현행화합니다.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758585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758585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4800" y="763985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800" y="803585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수행계획서 제출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501000" y="7585851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01000" y="7585851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09000" y="7639851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7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609000" y="8035851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완료 산출물 (검사 후)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41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품질보증방안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품질보증 조직 · 방법 ·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품질보증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(수행 담당과 분리된 품질 점검) 품질 담당이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계획 · 점검 · 시정 · 보고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순서로 매월 품질을 확인하고, 「정보시스템 구축 · 운영 지침」의 반복 업무를 매뉴얼로 관리함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QUR-001, PMR-001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품질보증 계획 · 점검표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SLA · 산출물 기준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품질보증 계획서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096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096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167999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배포 전 코드 · 접근성 · 보안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04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월간 산출물 검토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096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 결과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834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834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시정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3906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결함 · 미흡 시정 요구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3942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재점검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834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완료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572000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572000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644000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품질 지표 월간 보고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680000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개선 과제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572000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품질 보고서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364000"/>
          <a:ext cx="6260400" cy="2880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상태 1일 24시간 · 365일 상시 운영 (점검기간 제외)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표준 · 접근성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추가 개발 서비스 KWCAG 2.1 이상 · 전자정부 웹사이트 품질관리 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개발보안 가이드 준수, 배포 전 보안약점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품질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연관 기능 데이터 일관성, DB 품질 정비 · 공공데이터 품질관리(연 1회)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SP인증 등 품질인증 </a:t>
                      </a:r>
                      <a:r>
                        <a:rPr sz="10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【보유 여부 · 인증명 확인 후 기입】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8352000"/>
            <a:ext cx="6332400" cy="755427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8406000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품질보증 인력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604000"/>
            <a:ext cx="6080400" cy="449427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품질 점검은 수행 담당이 아닌 지원 조직의 품질 담당 </a:t>
            </a:r>
            <a:r>
              <a:rPr sz="1100" b="1">
                <a:solidFill>
                  <a:srgbClr val="E00000"/>
                </a:solidFill>
                <a:latin typeface="맑은 고딕"/>
                <a:ea typeface="맑은 고딕"/>
                <a:cs typeface="맑은 고딕"/>
              </a:rPr>
              <a:t>【성명】</a:t>
            </a:r>
            <a:r>
              <a:rPr sz="11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 맡아 객관성을 확보합니다.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42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서비스수준 관리방안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SLA 지표 선정 및 적용 · 운영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SLA 지표 및 운영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(측정 가능한 약속)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서비스 가용률 · 장애 복구 · SR 처리 · 보고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 4개 영역 지표를 IRM 등급별 필수 지표와 함께 적용하고, 매월 측정 결과를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MAR-002, MAR-003, MAR-007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615584"/>
        </p:xfrm>
        <a:graphic>
          <a:graphicData uri="http://schemas.openxmlformats.org/drawingml/2006/table">
            <a:tbl>
              <a:tblPr firstRow="0" bandRow="0"/>
              <a:tblGrid>
                <a:gridCol w="939059"/>
                <a:gridCol w="1721610"/>
                <a:gridCol w="1799865"/>
                <a:gridCol w="179986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SLA 지표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목표 (제안)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측정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가용률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【99.5】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% 이상 (점검 제외)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모니터링 5분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rowSpan="3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처리 착수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(외 4시간) 이내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장애보고서 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정상 가동 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4시간 (외 8시간) 이내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장애보고서 시각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동일 장애 재발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24시간 내 재발 0건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rowSpan="2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회신 준수율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 vMerge="1"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/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기한 준수율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95% 이상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통계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적기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100%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제출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7081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7081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지표 협의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369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1개월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493280" y="7623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590480" y="7081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590480" y="7081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SLA 체결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26480" y="7369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표준안 적용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2766960" y="7623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864160" y="7081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2864160" y="7081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월간 측정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00160" y="7369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자동 · 수동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040640" y="7623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137840" y="7081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4137840" y="7081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평가 · 개선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73840" y="7369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미달 원인 분석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5314320" y="7623385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411520" y="7081585"/>
            <a:ext cx="116568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 Same Side Corner Rectangle 48"/>
          <p:cNvSpPr/>
          <p:nvPr/>
        </p:nvSpPr>
        <p:spPr>
          <a:xfrm>
            <a:off x="5411520" y="7081585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지표 조정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47520" y="7369585"/>
            <a:ext cx="109368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반기 검토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80800" y="8341585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목표값은 제안값이며 SLA 체결 시 주관기관과 협의하여 확정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43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위험 및 이슈관리방안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위험 · 이슈 관리 절차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위험 · 이슈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(발견 당일 보고) 위험은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식별 · 평가 · 대응 · 추적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이슈는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등록 · 담당 · 기한 · 종결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로 관리하고, 등급이 높은 이슈는 당일 주관기관에 보고함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800" y="2358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식별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234800" y="2430000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324800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주간 점검 · SR 추이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46999" y="2466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기관 의견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69200" y="2358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위험관리대장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3150000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3150000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평가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800" y="3221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324800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발생 가능성 × 영향도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446999" y="3258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등급 (상 · 중 · 하)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569200" y="3150000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대응 우선순위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3941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4800" y="3941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대응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34800" y="4013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1324800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예방 · 완화 계획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46999" y="4050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담당 · 기한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69200" y="3941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계획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16800" y="4733999"/>
            <a:ext cx="5162400" cy="720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4800" y="4733999"/>
            <a:ext cx="864000" cy="720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추적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34800" y="4805999"/>
            <a:ext cx="7200" cy="576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24800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주간 점검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446999" y="4842000"/>
            <a:ext cx="2032200" cy="522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월간 보고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69200" y="4733999"/>
            <a:ext cx="1007999" cy="720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종결 · 교훈</a:t>
            </a:r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316800" y="5579999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3286710"/>
                <a:gridCol w="195637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이슈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서비스 중단 · 보안 사고 · 다수 기관 영향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(유선) + 당일 서면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처리 지연 · 일부 기능 장애 · 기관 간 충돌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 문의 · 경미한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55"/>
          <p:cNvSpPr/>
          <p:nvPr/>
        </p:nvSpPr>
        <p:spPr>
          <a:xfrm>
            <a:off x="280800" y="7883999"/>
            <a:ext cx="6332400" cy="77258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937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요구사항 추적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8135999"/>
            <a:ext cx="6080400" cy="46658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접수된 요구사항이 완료까지 추적되도록 SR 번호로 관리하고, 월간 보고 시 요구사항 추적표를 제출합니다 (PMR-002).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추진일정계획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7.1.1 12개월 세부 추진일정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추진일정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(첫 2개월 인수 · 이후 정례 운영) 1 ~ 2월에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인수 · SR 도구 · 현황자료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마치고, 3월부터 정례 운영 · 품질 활동을 연간 일정에 고정함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400" cy="5345988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391275"/>
                <a:gridCol w="391275"/>
                <a:gridCol w="391275"/>
                <a:gridCol w="391275"/>
                <a:gridCol w="391275"/>
                <a:gridCol w="391275"/>
                <a:gridCol w="391275"/>
                <a:gridCol w="391275"/>
                <a:gridCol w="391275"/>
                <a:gridCol w="391275"/>
                <a:gridCol w="391275"/>
                <a:gridCol w="391275"/>
              </a:tblGrid>
              <a:tr h="37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11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 · 수행계획서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인수 (3차수)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개통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현황자료 작성 · 현행화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유지관리 · SR ·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실무자 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모니터링단 (상 · 하반기)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이용자 만족도 조사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 접근성 진단 ·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표준화 (연 1회)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399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인수인계 · 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280800" y="7775999"/>
            <a:ext cx="6332400" cy="18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r>
              <a:rPr sz="950" b="0">
                <a:solidFill>
                  <a:srgbClr val="666666"/>
                </a:solidFill>
                <a:latin typeface="맑은 고딕"/>
                <a:ea typeface="맑은 고딕"/>
                <a:cs typeface="맑은 고딕"/>
              </a:rPr>
              <a:t>※ 만족도 조사 · 모니터링단 · 인증 일정은 착수 시 주관기관과 협의하여 확정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6800" y="799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99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4800" y="804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4800" y="844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 인수 완료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439600" y="799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39600" y="799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47600" y="804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7600" y="844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월간 운영보고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62400" y="7992000"/>
            <a:ext cx="20148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562400" y="7992000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70400" y="8045999"/>
            <a:ext cx="18528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70400" y="8442000"/>
            <a:ext cx="18528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반기 실무자 회의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7. 추진일정계획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7.1.2 마일스톤 · 중간목표 · 자원 배분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7.1 추진일정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(중간목표로 일정 통제) 6개 마일스톤마다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완료 기준과 확인 주체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정하고, 인수 기간에는 응용SW 인력을 집중 배치함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16800" y="2358000"/>
          <a:ext cx="6260399" cy="4641076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939059"/>
                <a:gridCol w="2817180"/>
                <a:gridCol w="11738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마일스톤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 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MS1 착수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승인 · 보안서약 · 비상연락망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MS2 SR 개통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2주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개통 · 13개 기관 계정 ·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· 13개 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MS3 인수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2월 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 결과서 3건 · 현황자료 제출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MS4 상반기 결산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실무자 회의 · 모니터링단 1차 · SLA 반기 검토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· 13개 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MS5 품질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만족도 조사 · 모니터링단 2차 · 접근성 인증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MS6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완료보고서 · 인수인계 · SR 이력 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7107076"/>
          <a:ext cx="6260400" cy="185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자원 배분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 ~ 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· 응용SW 집중 (인수 · 현황자료), 퍼블리싱은 SR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 ~ 12월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응용SW · 퍼블리싱 정례 운영, 품질 활동 시기에 지원 조직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8. 보고 및 검토계획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8.1.1 보고회의 및 검토계획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8.1 보고 체계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(정기 · 수시 보고) 착수 · 주간 · 월간 · 반기 · 완료 보고를 운영하고,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PM이 매월 국립중앙박물관을 방문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월간 운영보고와 검수를 진행함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MAR-007, PMR-002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4107144"/>
        </p:xfrm>
        <a:graphic>
          <a:graphicData uri="http://schemas.openxmlformats.org/drawingml/2006/table">
            <a:tbl>
              <a:tblPr firstRow="0" bandRow="0"/>
              <a:tblGrid>
                <a:gridCol w="1095570"/>
                <a:gridCol w="1095570"/>
                <a:gridCol w="1486844"/>
                <a:gridCol w="258241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보고 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참석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착수보고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후 14일 이내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·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사업수행계획서 · 13개 기관 대응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PM → 주관기관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· 장애 · 주요 이슈 (서면)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(방문)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·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월간 운영보고서 · SLA · 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실무자 회의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 · 주관기관 ·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운영결과 · 요구 수렴 → 2주 내 조치계획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발생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관련 기관 ·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· 보안 · 긴급 요청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완료보고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사업 종료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· 용역책임자 · PM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연간 결과 · 성과 · 차년도 권고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57314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57314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86114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SR · 장애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657314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657314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월간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686114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보고서 · 검수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657314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657314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반기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686114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실무자 회의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7114946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6573146"/>
            <a:ext cx="1484100" cy="117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6573146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6861146"/>
            <a:ext cx="1412100" cy="90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완료보고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7869146"/>
            <a:ext cx="6332400" cy="575291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79231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0462DA"/>
                </a:solidFill>
                <a:latin typeface="맑은 고딕"/>
                <a:ea typeface="맑은 고딕"/>
                <a:cs typeface="맑은 고딕"/>
              </a:rPr>
              <a:t>검토 결과 반영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8121146"/>
            <a:ext cx="6080400" cy="269291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보고회의에서 나온 요구 · 지적 사항은 SR로 등록해 처리 결과까지 추적합니다.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47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9. 기타 관리방안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Ⅲ. 사업관리 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9.1.1 전자적 사업진척관리 · EA 관리 · 지침 준수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9.1 전자적 사업진척 · EA 관리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(도구로 투명하게) SR 도구 · 형상 저장소 · 모니터링 대시보드로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진척을 전자적으로 공유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변경 내용은 국립중앙박물관 EA 시스템에 반영함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PMR-001, QUR-001, PMR-004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48532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 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전자적 진척관리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통계 · 형상 이력 · 모니터링 대시보드를 주관기관이 상시 조회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EA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 · 시스템 변경 내용을 EA 시스템에 반영, 연계정보 정리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773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행정기관 및 공공기관 정보시스템 구축 · 운영 지침 (2025-1호), 제59조 반복 업무 매뉴얼화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SW사업정보 데이터 PM 1차 작성 · 제출, 단계별 산출물 목록에 명시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4951328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495132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SR 도구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5210528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요청 · 처리 · 통계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33600" y="4951328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33600" y="495132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형상 저장소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69600" y="5210528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소스 · 산출물 이력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0400" y="4951328"/>
            <a:ext cx="2026800" cy="1115999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50400" y="4951328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모니터링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86400" y="5210528"/>
            <a:ext cx="1954800" cy="864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가용성 · 성능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316800" y="6211328"/>
          <a:ext cx="6260400" cy="1908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조회 화면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기관별 접수 · 처리 · 지연 건수, 평균 처리시간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누리집별 배포 이력 · 변경 사유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가용률 · 응답속도 · 장애 이력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Rectangle 41"/>
          <p:cNvSpPr/>
          <p:nvPr/>
        </p:nvSpPr>
        <p:spPr>
          <a:xfrm>
            <a:off x="280800" y="8227328"/>
            <a:ext cx="6332400" cy="566713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6799" y="828132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연계정보 정리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06799" y="8479328"/>
            <a:ext cx="6080400" cy="260713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내 · 외부 시스템 간 연계정보를 정리해 시스템 개발 참고자료로 관리합니다 (QUR-001).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48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992060" y="1498812"/>
            <a:ext cx="455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지원부문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Ⅳ.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교육훈련계획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운영지원계획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기술이전계획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보안사항 이행방안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비상대책계획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 지원사항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교육훈련계획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대상자별 교육훈련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교육훈련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(대상별 맞춤 교육) 기관 담당자에게는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SR 도구 · 콘텐츠 관리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주관기관 관리자에게는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통합 조회 · 운영 현황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, 투입인력에게는 서비스 · 보안 교육을 실시함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PSR-004, MAR-002, MHR-003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94158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2504160"/>
                <a:gridCol w="1252080"/>
                <a:gridCol w="1330335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기관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사용법 · 콘텐츠 등록 · 수정 · 팝업 · 배너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온라인 · 매뉴얼 · 영상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(개통 시) · 신규 담당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주관기관 관리자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통합 조회 · 통계 · SLA · 모니터링 대시보드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방문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1월 · 반기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052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투입인력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전화응대 · 시스템별 서비스 · 개인정보 ·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자체 · 전문 강사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매월 · 연 2회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담당자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인사이동 시 누리집 운영 기초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407585"/>
          <a:ext cx="6260400" cy="2196000"/>
        </p:xfrm>
        <a:graphic>
          <a:graphicData uri="http://schemas.openxmlformats.org/drawingml/2006/table">
            <a:tbl>
              <a:tblPr firstRow="0" bandRow="0"/>
              <a:tblGrid>
                <a:gridCol w="1565100"/>
                <a:gridCol w="469530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교육 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도구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기관 담당자용 · 관리자용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운영 매뉴얼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누리집별 콘텐츠 관리 · 자주 묻는 질문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영상 가이드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 3분 영상 </a:t>
                      </a:r>
                      <a:r>
                        <a:rPr sz="10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0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316800" y="771158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6800" y="7711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4800" y="776558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개 기관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4800" y="816158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담당자 교육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01000" y="771158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501000" y="771158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09000" y="776558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연 2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09000" y="816158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전문 강사 교육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운영지원계획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유지관리 계획 · 조직 · 절차 · 범위 · 기간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유지관리 운영지원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(12개월 통합 운영) 유지관리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범위 · 조직 · 절차 · 기간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명확히 정하고, 문화체육관광부 · 주관기관 · 연계기관과의 협조 체계로 현안을 해결함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MAR-001, PSR-002, PSR-003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474496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50865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연간 운영계획 · 월간 계획 수립, 정례 품질 활동 일정 고정 (Ⅲ.7)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용역책임자 · PM · 응용SW · 퍼블리싱/디자인 · 지원 조직 (Ⅰ.4)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접수 → 검토 → 처리 → 확인 → 보고 (Ⅱ.3.1), 장애 대응 절차 (Ⅱ.3.3)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13개 누리집 응용시스템 · 부가기능 모니터링 · 연계 조율 (인프라 제외)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2027.1.1 ~ 12.31, 차기 사업자 미선정 시 자동 연장 기간 동일 수준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협조 체계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문화체육관광부 · 주관기관 · 연계기관 역할 정의, 현안 · 법제도 개선 협의 (PSR-003)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940497"/>
            <a:ext cx="4874400" cy="396000"/>
          </a:xfrm>
          <a:prstGeom prst="rect">
            <a:avLst/>
          </a:prstGeom>
          <a:solidFill>
            <a:srgbClr val="1F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940497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정책 · 총괄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32800" y="7012497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문화체육관광부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4000" y="7012497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국립중앙박물관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1200" y="6940497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협의 · 승인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6800" y="7401297"/>
            <a:ext cx="4874400" cy="396000"/>
          </a:xfrm>
          <a:prstGeom prst="rect">
            <a:avLst/>
          </a:prstGeom>
          <a:solidFill>
            <a:srgbClr val="2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4800" y="7401297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수행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432800" y="7473297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당사 (응용 유지관리)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94000" y="7473297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13개 소속박물관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281200" y="7401297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요청 · 처리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7862097"/>
            <a:ext cx="4874400" cy="396000"/>
          </a:xfrm>
          <a:prstGeom prst="rect">
            <a:avLst/>
          </a:prstGeom>
          <a:solidFill>
            <a:srgbClr val="0E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4800" y="7862097"/>
            <a:ext cx="1044000" cy="39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연계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32800" y="7934097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인프라 유지관리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94000" y="7934097"/>
            <a:ext cx="1807199" cy="25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000" rIns="18000" tIns="18000" bIns="180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한국문화정보원 · 솔루션 업체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81200" y="7862097"/>
            <a:ext cx="1296000" cy="396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8800" rIns="28800" tIns="28800" bIns="288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합동 대응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51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운영지원계획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2.2.1 사업 종료 인수인계 · 기술지원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2.2 인수인계 · 기술지원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(차기 사업자도 바로 운영) 종료 2주 전 산출물을 완비하고,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종료 1개월 전부터 인계 · SR 이력 전량 이관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으로 운영 공백 없이 넘김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PSR-001, PSR-002, COR-004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11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인수인계 활동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1개월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차기 사업자 인계 착수, 누리집별 인계 일정 · 체크리스트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2주 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모든 산출물 · 인수인계 자료 작성 완료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종료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이력 전량 이관 (이관 가능 형태), 인수인계확인서 승인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미선정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신규 계약 전까지 유지관리 계속 수행 (일할 계산)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580000"/>
          <a:ext cx="6260400" cy="2484000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주기적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업무장애 · 외부시스템 장애 시 긴급복구 기술지원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환경 변화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장비 · OS · DBMS 교체 · 업그레이드 시 시스템 변경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· 재구성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이전 · 재구성 요청 시 지원방안 제출 · 수행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80800" y="8172000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799" y="822599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인수와 같은 기준으로 인계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06799" y="8424000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착수 때 사용한 인수 체크리스트를 그대로 인계에 사용해, 차기 사업자가 같은 기준으로 확인할 수 있게 합니다.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52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3. 기술이전계획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3.1.1 운영 노하우 기술이전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3.1 기술이전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(노하우를 기관 자산으로) 13개 누리집의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운영 · 장애 대응 · 배포 노하우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를 매뉴얼과 실습으로 주관기관 관리자에게 이전함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PSR-004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10769"/>
        </p:xfrm>
        <a:graphic>
          <a:graphicData uri="http://schemas.openxmlformats.org/drawingml/2006/table">
            <a:tbl>
              <a:tblPr firstRow="0" bandRow="0"/>
              <a:tblGrid>
                <a:gridCol w="1252080"/>
                <a:gridCol w="2582415"/>
                <a:gridCol w="1173825"/>
                <a:gridCol w="125208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이전 기술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구조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메뉴 · 기능 · 연계 · 솔루션 현황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현황자료 · 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3월 · 분기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운영 · 배포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형상관리 · 배포 · 롤백 절차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실습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시나리오 · 복구 지침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모의훈련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연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품질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접근성 · 성능 · 보안 점검 방법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매뉴얼 · 설명회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10월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운영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DB 구조 · 표준화 · 공공문화정보 연계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문서 · 설명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협의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3168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ound Same Side Corner Rectangle 32"/>
          <p:cNvSpPr/>
          <p:nvPr/>
        </p:nvSpPr>
        <p:spPr>
          <a:xfrm>
            <a:off x="3168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문서화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매뉴얼 · 현황자료</a:t>
            </a:r>
          </a:p>
        </p:txBody>
      </p:sp>
      <p:sp>
        <p:nvSpPr>
          <p:cNvPr id="35" name="Isosceles Triangle 34"/>
          <p:cNvSpPr/>
          <p:nvPr/>
        </p:nvSpPr>
        <p:spPr>
          <a:xfrm rot="5400000">
            <a:off x="1811700" y="687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9089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 Same Side Corner Rectangle 36"/>
          <p:cNvSpPr/>
          <p:nvPr/>
        </p:nvSpPr>
        <p:spPr>
          <a:xfrm>
            <a:off x="19089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설명회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449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주관기관 관리자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3403800" y="687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5010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 Same Side Corner Rectangle 40"/>
          <p:cNvSpPr/>
          <p:nvPr/>
        </p:nvSpPr>
        <p:spPr>
          <a:xfrm>
            <a:off x="35010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실습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370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배포 · 장애 훈련</a:t>
            </a:r>
          </a:p>
        </p:txBody>
      </p:sp>
      <p:sp>
        <p:nvSpPr>
          <p:cNvPr id="43" name="Isosceles Triangle 42"/>
          <p:cNvSpPr/>
          <p:nvPr/>
        </p:nvSpPr>
        <p:spPr>
          <a:xfrm rot="5400000">
            <a:off x="4995900" y="6872569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093100" y="6276769"/>
            <a:ext cx="148410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 Same Side Corner Rectangle 44"/>
          <p:cNvSpPr/>
          <p:nvPr/>
        </p:nvSpPr>
        <p:spPr>
          <a:xfrm>
            <a:off x="5093100" y="6276769"/>
            <a:ext cx="148410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29100" y="6564769"/>
            <a:ext cx="141210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이전 결과 보고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80800" y="7680769"/>
            <a:ext cx="6332400" cy="789739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6799" y="7734769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지속적 정보 제공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06799" y="7932769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사업 기간 중 관련 분야 정보기술 동향과 보안 권고를 월간 운영보고서에 함께 제공합니다.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보안사항 이행방안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4.1.1 보안지침 준수 · 관리적 · 물리적 보안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보안 이행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(사업 전 과정 보안) 국가 사이버보안 기본지침 등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보안지침을 준수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대표자 보안서약 · 비밀유지계약 · 누출금지 정보 대장 관리로 기밀을 보호함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SER-001, SER-004, MHR-003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4756717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861973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지침 준수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국가 사이버보안 기본지침 · 용역업체 보안관리 가이드라인 · 클라우드 보안 · 개인정보 안전성 확보조치 · SW 개발보안 · 문체부 개인정보 보호지침 등 (공고일 최신)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계약 단계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수행계획서에 자료 · 장비 · 네트워크 보안대책, 대표자 보안서약서, 비밀유지계약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 보안서약서 · 개인정보 처리위탁 계약 · 위탁 보안서약서, 착수 전 보안교육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자료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누출금지 정보 11종 자료관리 대장 (인계자 · 인수자 서명), 지정 PC · 파일서버 저장, 종료 시 회수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접속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발주기관 · IDC 승인 경로 · 단말기만 사용, 접속 기록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위반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보안 위약금(A ~ D 등급) 수용, 즉시 보고 · 차단 · 재발 방지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7222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16800" y="7222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보안서약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800" y="7481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대표 · 전 인원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04400" y="7222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04400" y="7222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보안교육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40400" y="7481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착수 전 · 정기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92000" y="7222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92000" y="7222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승인 단말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28000" y="7481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원격 접속 통제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79600" y="7222719"/>
            <a:ext cx="1497600" cy="1332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79600" y="7222719"/>
            <a:ext cx="14976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15600" y="7481919"/>
            <a:ext cx="1425600" cy="1080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월 1회 보안점검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4. 보안사항 이행방안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4.1.2 기술적 보안 · 데이터 보안 · 취약점 제거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4.1 보안 이행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(13개 누리집 취약점 0건 유지) 시큐어코딩 · 보안약점 진단으로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취약점을 찾아 제거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개인정보 접속기록 · 암호화 · 웹쉘 모니터링을 적용함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SER-002, SER-003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590424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4930065"/>
              </a:tblGrid>
              <a:tr h="45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영역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이행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데이터 보안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인증정보 · 비밀번호 암호화 저장 · 하드코딩 금지, 개인정보 접속기록 (ID · 일시 · IP · 정보주체 · 수행업무) 1년(해당 시 2년) 보관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 처리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개인정보처리방침에 따른 처리 · 파기, 백업 데이터 생성 금지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시큐어코딩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개발보안 가이드 준용 — 입력값 검증 · 인증 · 접근제어 · 에러 처리 · 캡슐화 · API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6080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취약점 점검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SW 보안약점 진단가이드 기준 분석 · 조치, 문화체육관광 사이버안전센터 권고 준용, 대표이사 명의 확인서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웹쉘 대응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업로드 경로 · 확장자 통제, 웹쉘 주기 모니터링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86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결과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점검 결과 대외비 관리, 기관 보안담당자 확인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316800" y="6056424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4800" y="6056424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계획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800" y="6128424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324800" y="6164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취약점 점검 계획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46999" y="6164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13개 누리집 일정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69200" y="6056424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 계획서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800" y="6794424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4800" y="6794424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34800" y="6866424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324800" y="6902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도구 · 수동 점검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46999" y="6902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웹쉘 모니터링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569200" y="6794424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점검 결과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6800" y="7532424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4800" y="7532424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800" y="7604424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24800" y="7640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보안약점 제거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46999" y="7640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재점검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69200" y="7532424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조치 결과서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16800" y="8270424"/>
            <a:ext cx="5162400" cy="666000"/>
          </a:xfrm>
          <a:prstGeom prst="rect">
            <a:avLst/>
          </a:prstGeom>
          <a:noFill/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4800" y="8270424"/>
            <a:ext cx="864000" cy="666000"/>
          </a:xfrm>
          <a:prstGeom prst="rect">
            <a:avLst/>
          </a:prstGeom>
          <a:noFill/>
        </p:spPr>
        <p:txBody>
          <a:bodyPr wrap="square" lIns="18000" rIns="18000" tIns="18000" bIns="1800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확인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234800" y="8342424"/>
            <a:ext cx="7200" cy="522000"/>
          </a:xfrm>
          <a:prstGeom prst="rect">
            <a:avLst/>
          </a:prstGeom>
          <a:solidFill>
            <a:srgbClr val="BAD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324800" y="8378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보안담당자 확인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446999" y="8378424"/>
            <a:ext cx="2032200" cy="468000"/>
          </a:xfrm>
          <a:prstGeom prst="roundRect">
            <a:avLst>
              <a:gd name="adj" fmla="val 3000"/>
            </a:avLst>
          </a:prstGeom>
          <a:solidFill>
            <a:srgbClr val="D7EAF2"/>
          </a:solidFill>
          <a:ln w="12700">
            <a:solidFill>
              <a:srgbClr val="215F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대표이사 확인서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569200" y="8270424"/>
            <a:ext cx="1007999" cy="666000"/>
          </a:xfrm>
          <a:prstGeom prst="rect">
            <a:avLst/>
          </a:prstGeom>
          <a:solidFill>
            <a:srgbClr val="D7EAF2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비상대책계획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5.1.1 백업 · 복구 및 장애대응 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5.1 백업 · 복구 · 장애대응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(응용 계층 복구 책임)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응용 소스 · 산출물 · 설정을 백업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해 언제든 이전 버전으로 되돌리고, 장애 등급별 대응 목표와 비상연락 체계로 복구함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MAR-006, MAR-003, COR-002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399" cy="2550769"/>
        </p:xfrm>
        <a:graphic>
          <a:graphicData uri="http://schemas.openxmlformats.org/drawingml/2006/table">
            <a:tbl>
              <a:tblPr firstRow="0" bandRow="0"/>
              <a:tblGrid>
                <a:gridCol w="1330335"/>
                <a:gridCol w="3756239"/>
                <a:gridCol w="11738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백업 · 복구 방안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 소스 · 설정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형상 저장소 + 발주기관 지정 장소 백업, 배포 전 백업 · 롤백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배포 시 · 주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산출물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버전 관리 · 지정 장소 백업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월 1회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데이터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인프라 유지관리 사업 범위 — 복구 시 응용 검증 지원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16800" y="5016769"/>
          <a:ext cx="6260400" cy="2550769"/>
        </p:xfrm>
        <a:graphic>
          <a:graphicData uri="http://schemas.openxmlformats.org/drawingml/2006/table">
            <a:tbl>
              <a:tblPr firstRow="0" bandRow="0"/>
              <a:tblGrid>
                <a:gridCol w="1017315"/>
                <a:gridCol w="2895435"/>
                <a:gridCol w="2347650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장애 등급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기준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대응 목표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긴급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누리집 서비스 중단 · 보안 사고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즉시 보고 · 2시간 착수 · 4시간 정상화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중요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기능(예약 · 검색 · 게시판) 장애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2시간 착수 · 4시간 정상화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일부 화면 · 콘텐츠 오류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SR 처리 기준 (3일 이내)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316800" y="7675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ound Same Side Corner Rectangle 33"/>
          <p:cNvSpPr/>
          <p:nvPr/>
        </p:nvSpPr>
        <p:spPr>
          <a:xfrm>
            <a:off x="316800" y="7675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감지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2800" y="7963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모니터링 · 신고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1493280" y="8271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590480" y="7675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 Same Side Corner Rectangle 37"/>
          <p:cNvSpPr/>
          <p:nvPr/>
        </p:nvSpPr>
        <p:spPr>
          <a:xfrm>
            <a:off x="1590480" y="7675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보고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480" y="7963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주관기관 · 기관</a:t>
            </a:r>
          </a:p>
        </p:txBody>
      </p:sp>
      <p:sp>
        <p:nvSpPr>
          <p:cNvPr id="40" name="Isosceles Triangle 39"/>
          <p:cNvSpPr/>
          <p:nvPr/>
        </p:nvSpPr>
        <p:spPr>
          <a:xfrm rot="5400000">
            <a:off x="2766960" y="8271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2864160" y="7675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 Same Side Corner Rectangle 41"/>
          <p:cNvSpPr/>
          <p:nvPr/>
        </p:nvSpPr>
        <p:spPr>
          <a:xfrm>
            <a:off x="2864160" y="7675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격리 · 우회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00160" y="7963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안내 페이지</a:t>
            </a:r>
          </a:p>
        </p:txBody>
      </p:sp>
      <p:sp>
        <p:nvSpPr>
          <p:cNvPr id="44" name="Isosceles Triangle 43"/>
          <p:cNvSpPr/>
          <p:nvPr/>
        </p:nvSpPr>
        <p:spPr>
          <a:xfrm rot="5400000">
            <a:off x="4040640" y="8271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4137840" y="7675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ound Same Side Corner Rectangle 45"/>
          <p:cNvSpPr/>
          <p:nvPr/>
        </p:nvSpPr>
        <p:spPr>
          <a:xfrm>
            <a:off x="4137840" y="7675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복구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73840" y="7963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롤백 · 수정</a:t>
            </a:r>
          </a:p>
        </p:txBody>
      </p:sp>
      <p:sp>
        <p:nvSpPr>
          <p:cNvPr id="48" name="Isosceles Triangle 47"/>
          <p:cNvSpPr/>
          <p:nvPr/>
        </p:nvSpPr>
        <p:spPr>
          <a:xfrm rot="5400000">
            <a:off x="5314320" y="8271338"/>
            <a:ext cx="86400" cy="79200"/>
          </a:xfrm>
          <a:prstGeom prst="triangle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411520" y="7675538"/>
            <a:ext cx="1165680" cy="127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ound Same Side Corner Rectangle 49"/>
          <p:cNvSpPr/>
          <p:nvPr/>
        </p:nvSpPr>
        <p:spPr>
          <a:xfrm>
            <a:off x="5411520" y="7675538"/>
            <a:ext cx="1165680" cy="2592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재발 방지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7520" y="7963538"/>
            <a:ext cx="1093680" cy="1007999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보고서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56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5. 비상대책계획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25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5.2.1 예비 인력 · 장비 보유현황 및 지원 대책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5.2 예비 자원 · 지원 대책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(사람이 예비 자원) 응용 유지관리의 예비 자원은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예비 인력 · 원격 작업 단말 · 테스트 환경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이며, 결원 · 장애 시 즉시 투입해 서비스 공백을 막음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COR-004, COR-002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2833048"/>
        </p:xfrm>
        <a:graphic>
          <a:graphicData uri="http://schemas.openxmlformats.org/drawingml/2006/table">
            <a:tbl>
              <a:tblPr firstRow="0" bandRow="0"/>
              <a:tblGrid>
                <a:gridCol w="1408590"/>
                <a:gridCol w="4851810"/>
              </a:tblGrid>
              <a:tr h="522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자원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보유 · 지원 대책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37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예비 인력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응용SW · 퍼블리싱 분야별 예비 인력 지정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【성명】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결원 시 1주 내 투입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원격 작업 단말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승인 단말 예비 1대 </a:t>
                      </a:r>
                      <a:r>
                        <a:rPr sz="110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 】</a:t>
                      </a: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, 보안 프로그램 설치 · 봉인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테스트 환경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 · 시험 환경 (유휴 장비 활용, 발주기관 협의)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58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H/W 예비장비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서버 · 네트워크 H/W는 인프라 유지관리 사업 범위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5299048"/>
            <a:ext cx="6332400" cy="969875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5353048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예비 자원 부족으로 복구가 늦어지지 않게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5551048"/>
            <a:ext cx="6080400" cy="66387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H/W가 범위에서 제외된 본 사업에서는 예비 인력 · 승인 작업 단말 · 테스트 환경을 예비 자원으로 확보해, 예비 자원 부족으로 장애 복구가 지연되는 일이 없게 합니다 (COR-004).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63769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63769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800" y="64309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주 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" y="68269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예비 인력 투입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1000" y="637692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01000" y="637692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9000" y="643092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24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×365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9000" y="682692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비상연락 체계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6800" y="7366923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16800" y="736692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예비 인력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800" y="7626123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분야별 지정 · 1주 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433600" y="7366923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33600" y="736692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작업 단말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9600" y="7626123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승인 단말 예비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50400" y="7366923"/>
            <a:ext cx="2026800" cy="1224000"/>
          </a:xfrm>
          <a:prstGeom prst="rect">
            <a:avLst/>
          </a:prstGeom>
          <a:solidFill>
            <a:srgbClr val="F4F8FC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550400" y="7366923"/>
            <a:ext cx="2026800" cy="234000"/>
          </a:xfrm>
          <a:prstGeom prst="rect">
            <a:avLst/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94EA7"/>
                </a:solidFill>
                <a:latin typeface="맑은 고딕"/>
                <a:ea typeface="맑은 고딕"/>
                <a:cs typeface="맑은 고딕"/>
              </a:rPr>
              <a:t>테스트 환경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86400" y="7626123"/>
            <a:ext cx="1954800" cy="972000"/>
          </a:xfrm>
          <a:prstGeom prst="rect">
            <a:avLst/>
          </a:prstGeom>
          <a:noFill/>
        </p:spPr>
        <p:txBody>
          <a:bodyPr wrap="square" lIns="18000" rIns="18000" tIns="18000" bIns="180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사전 검증 · 복구 시험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57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6. 기타 지원사항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Ⅳ. 지원부문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5940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6.1.1 RFP 외 추가 지원 제안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6.1 추가 제안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(통합 효과를 키우는 제안) 13개 누리집이 같은 환경임을 활용한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공통 개선 패키지 · 통합 현황 대시보드 · 차년도 개선 로드맵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을 추가로 제공함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800" y="2358000"/>
            <a:ext cx="6260400" cy="126944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800" y="2358000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799" y="2401200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공통 개선 패키지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799" y="2646000"/>
            <a:ext cx="5540400" cy="43248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13개 누리집에 공통으로 필요한 접근성 · 성능 · 보안 개선을 하나의 패키지로 만들어 순차 적용합니다.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799" y="3096489"/>
            <a:ext cx="5540400" cy="51295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8799" y="3132489"/>
            <a:ext cx="5432400" cy="45895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한 번 개발, 13개 적용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기관별 일정 조율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16800" y="3717444"/>
            <a:ext cx="6260400" cy="126944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16800" y="3717444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799" y="3760644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통합 현황 대시보드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4799" y="4005444"/>
            <a:ext cx="5540400" cy="43248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SR · 장애 · 가용성 · 이용통계를 13개 기관 비교 화면으로 제공해 주관기관이 한눈에 관리합니다.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799" y="4455934"/>
            <a:ext cx="5540400" cy="51295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8799" y="4491934"/>
            <a:ext cx="5432400" cy="45895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기관별 · 전체 비교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월간보고와 같은 지표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800" y="5076889"/>
            <a:ext cx="6260400" cy="1269444"/>
          </a:xfrm>
          <a:prstGeom prst="rect">
            <a:avLst/>
          </a:prstGeom>
          <a:solidFill>
            <a:srgbClr val="FFFFFF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800" y="5076889"/>
            <a:ext cx="540000" cy="5400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799" y="5120089"/>
            <a:ext cx="55404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2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차년도 개선 로드맵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799" y="5364889"/>
            <a:ext cx="5540400" cy="43248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1년 운영 데이터를 바탕으로 누리집 공통 템플릿 · 표준화 방향을 완료보고서에 제안합니다.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4799" y="5815378"/>
            <a:ext cx="5540400" cy="512954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8799" y="5851378"/>
            <a:ext cx="5432400" cy="458955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공통 템플릿 검토</a:t>
            </a:r>
          </a:p>
          <a:p>
            <a:pPr marL="108000" indent="-108000">
              <a:lnSpc>
                <a:spcPct val="125000"/>
              </a:lnSpc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150" b="0">
                <a:solidFill>
                  <a:srgbClr val="1F3864"/>
                </a:solidFill>
                <a:latin typeface="맑은 고딕"/>
                <a:ea typeface="맑은 고딕"/>
                <a:cs typeface="맑은 고딕"/>
              </a:rPr>
              <a:t>예산 · 일정 제안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16800" y="647233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6800" y="647233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4800" y="652633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13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4800" y="692233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공통 개선 효과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01000" y="6472333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01000" y="6472333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09000" y="6526333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화면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09000" y="6922333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통합 현황 조회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0800" y="7462333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6799" y="7516333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추가 비용 없음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06799" y="7714333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추가 제안 항목은 본 사업 범위와 인력 안에서 수행하며, 별도 비용을 요구하지 않습니다.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58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TextBox 4">
            <a:extLst>
              <a:ext uri="{FF2B5EF4-FFF2-40B4-BE49-F238E27FC236}">
                <a16:creationId xmlns:a16="http://schemas.microsoft.com/office/drawing/2014/main" id="{8DF5FEDB-ABA7-CD11-C7AD-E40BDE3B293E}"/>
              </a:ext>
            </a:extLst>
          </p:cNvPr>
          <p:cNvSpPr txBox="1"/>
          <p:nvPr/>
        </p:nvSpPr>
        <p:spPr>
          <a:xfrm>
            <a:off x="1416060" y="1498812"/>
            <a:ext cx="5126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>
                <a:solidFill>
                  <a:srgbClr val="0070C0"/>
                </a:solidFill>
                <a:latin typeface="a옛날사진관5" panose="02020600000000000000" pitchFamily="18" charset="-127"/>
                <a:ea typeface="a옛날사진관5" panose="02020600000000000000" pitchFamily="18" charset="-127"/>
              </a:rPr>
              <a:t>하도급계획의 적정성 및 기타사항</a:t>
            </a:r>
          </a:p>
        </p:txBody>
      </p:sp>
      <p:sp>
        <p:nvSpPr>
          <p:cNvPr id="6" name="TextBox 17">
            <a:extLst>
              <a:ext uri="{FF2B5EF4-FFF2-40B4-BE49-F238E27FC236}">
                <a16:creationId xmlns:a16="http://schemas.microsoft.com/office/drawing/2014/main" id="{1D84C8F8-5169-F371-3701-8467EC5A1DB8}"/>
              </a:ext>
            </a:extLst>
          </p:cNvPr>
          <p:cNvSpPr txBox="1"/>
          <p:nvPr/>
        </p:nvSpPr>
        <p:spPr>
          <a:xfrm>
            <a:off x="315018" y="1209008"/>
            <a:ext cx="1101042" cy="1142350"/>
          </a:xfrm>
          <a:prstGeom prst="rect">
            <a:avLst/>
          </a:prstGeom>
          <a:noFill/>
          <a:effectLst/>
        </p:spPr>
        <p:txBody>
          <a:bodyPr wrap="none" lIns="34022" tIns="17011" rIns="34022" bIns="17011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defTabSz="208696" latinLnBrk="0">
              <a:defRPr/>
            </a:pPr>
            <a:r>
              <a:rPr kumimoji="1" lang="en-US" altLang="ko-KR" sz="7200" b="1">
                <a:ln>
                  <a:solidFill>
                    <a:srgbClr val="4FD1FF">
                      <a:alpha val="0"/>
                    </a:srgbClr>
                  </a:solidFill>
                </a:ln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dhabi" panose="01000000000000000000" pitchFamily="2" charset="-78"/>
                <a:ea typeface="맑은 고딕" panose="00000800000000000000" pitchFamily="2" charset="-127"/>
                <a:cs typeface="Aldhabi" panose="01000000000000000000" pitchFamily="2" charset="-78"/>
              </a:rPr>
              <a:t>Ⅴ.</a:t>
            </a:r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4E0BB873-3323-D7E3-9919-67D51240FAB2}"/>
              </a:ext>
            </a:extLst>
          </p:cNvPr>
          <p:cNvCxnSpPr>
            <a:cxnSpLocks/>
          </p:cNvCxnSpPr>
          <p:nvPr/>
        </p:nvCxnSpPr>
        <p:spPr>
          <a:xfrm>
            <a:off x="713137" y="2472264"/>
            <a:ext cx="3528663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A023684-4D4D-73A4-B973-1E990C2DFFB4}"/>
              </a:ext>
            </a:extLst>
          </p:cNvPr>
          <p:cNvSpPr txBox="1"/>
          <p:nvPr/>
        </p:nvSpPr>
        <p:spPr>
          <a:xfrm>
            <a:off x="713137" y="2517722"/>
            <a:ext cx="4913749" cy="37087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하도급 계획 적정성</a:t>
            </a:r>
          </a:p>
          <a:p>
            <a:pPr marL="361950" indent="-361950">
              <a:lnSpc>
                <a:spcPct val="200000"/>
              </a:lnSpc>
              <a:buFont typeface="+mj-lt"/>
              <a:buAutoNum type="arabicPeriod"/>
            </a:pPr>
            <a:r>
              <a:rPr lang="ko-KR" altLang="en-US" sz="2000" b="1"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기타사항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1. 하도급 계획 적정성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하도급계획의 적정성 및 기타사항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4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1.1.1 하도급 계획 및 관리 방안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1.1 하도급 계획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(직접 수행) 본 사업의 전 과업은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당사 인력이 직접 수행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하며 하도급 계획이 없음 — 향후 필요 시 사전승인 · 대금지급 기준을 준수함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PMR-003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944307"/>
        </p:xfrm>
        <a:graphic>
          <a:graphicData uri="http://schemas.openxmlformats.org/drawingml/2006/table">
            <a:tbl>
              <a:tblPr firstRow="0" bandRow="0"/>
              <a:tblGrid>
                <a:gridCol w="1956375"/>
                <a:gridCol w="430402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항목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여부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없음 — 당사 직접 수행 </a:t>
                      </a:r>
                      <a:r>
                        <a:rPr sz="1150" b="1">
                          <a:solidFill>
                            <a:srgbClr val="E00000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【확정 후 [별지 제6호 서식] 제출】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향후 하도급 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사전승인, 사업금액 50% 이하, 재하도급 불허, 10% 초과 시 하수급인과 공동수급체 구성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적정성 판단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적정성 판단 자기평가표 85점 이상인 경우에 한함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6769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대금 지급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유지관리료 수령 후 15일 이내 지급, 7일 이내 지급내역 서면 통보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준수 실태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하도급 준수실태보고서 익월 초 보고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6410307"/>
            <a:ext cx="6332400" cy="789739"/>
          </a:xfrm>
          <a:prstGeom prst="rect">
            <a:avLst/>
          </a:prstGeom>
          <a:solidFill>
            <a:srgbClr val="EA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6464307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1E7B4F"/>
                </a:solidFill>
                <a:latin typeface="맑은 고딕"/>
                <a:ea typeface="맑은 고딕"/>
                <a:cs typeface="맑은 고딕"/>
              </a:rPr>
              <a:t>직접 수행의 장점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6662307"/>
            <a:ext cx="6080400" cy="48373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PM · 응용SW · 퍼블리싱/디자인 · 품질 · 보안이 모두 당사 소속이므로 지시 · 보고 단계가 짧고, 보안 책임이 한 곳에 모입니다.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730804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73080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800" y="736204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" y="775804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하도급 비율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1000" y="7308046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01000" y="7308046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9000" y="7362046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9000" y="7758046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당사 직접 수행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D9F520BA-26D9-1D94-37C1-390B16677E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2559" y="229408"/>
            <a:ext cx="5318423" cy="320088"/>
          </a:xfrm>
        </p:spPr>
        <p:txBody>
          <a:bodyPr/>
          <a:lstStyle/>
          <a:p>
            <a:r>
              <a:rPr lang="en-US" altLang="ko-KR" sz="1600">
                <a:solidFill>
                  <a:schemeClr val="tx1"/>
                </a:solidFill>
              </a:rPr>
              <a:t>2. 기타사항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0F69D74-9EAF-CEEE-AF7B-E2FF8AD04DB7}"/>
              </a:ext>
            </a:extLst>
          </p:cNvPr>
          <p:cNvSpPr txBox="1"/>
          <p:nvPr/>
        </p:nvSpPr>
        <p:spPr>
          <a:xfrm>
            <a:off x="3895725" y="298577"/>
            <a:ext cx="28238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r" defTabSz="914400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200" b="1">
                <a:ln>
                  <a:solidFill>
                    <a:srgbClr val="4472C4">
                      <a:shade val="50000"/>
                      <a:alpha val="0"/>
                    </a:srgb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Ⅴ. 하도급계획의 적정성 및 기타사항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C64E1C-7DCB-6DC9-8F48-316B5313706F}"/>
              </a:ext>
            </a:extLst>
          </p:cNvPr>
          <p:cNvSpPr/>
          <p:nvPr/>
        </p:nvSpPr>
        <p:spPr bwMode="auto">
          <a:xfrm>
            <a:off x="588602" y="1003444"/>
            <a:ext cx="3708000" cy="215442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ct val="0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100" b="0" i="0" u="none" strike="noStrike" kern="1200" cap="none" normalizeH="0" baseline="0" noProof="0">
                <a:ln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600000000000000" pitchFamily="2" charset="-127"/>
                <a:ea typeface="맑은 고딕" panose="00000600000000000000" pitchFamily="2" charset="-127"/>
                <a:cs typeface="맑은 고딕" panose="00000600000000000000" pitchFamily="2" charset="-127"/>
                <a:sym typeface="Monotype Sorts"/>
              </a:rPr>
              <a:t>2.1.1 지식재산권 · 손해배상 · 제재 · 해지 조건 이행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2CE8A46-6233-C6A4-2BE2-039EC8621B50}"/>
              </a:ext>
            </a:extLst>
          </p:cNvPr>
          <p:cNvSpPr/>
          <p:nvPr/>
        </p:nvSpPr>
        <p:spPr bwMode="auto">
          <a:xfrm>
            <a:off x="509839" y="698078"/>
            <a:ext cx="5838321" cy="230831"/>
          </a:xfrm>
          <a:prstGeom prst="rect">
            <a:avLst/>
          </a:prstGeom>
          <a:ln>
            <a:noFill/>
          </a:ln>
        </p:spPr>
        <p:txBody>
          <a:bodyPr wrap="square" lIns="0" tIns="0" rIns="0" bIns="0" anchor="b" anchorCtr="0">
            <a:spAutoFit/>
          </a:bodyPr>
          <a:lstStyle/>
          <a:p>
            <a:pPr marL="0" lvl="1" fontAlgn="base">
              <a:spcBef>
                <a:spcPts val="188"/>
              </a:spcBef>
              <a:buClr>
                <a:prstClr val="white">
                  <a:lumMod val="50000"/>
                </a:prstClr>
              </a:buClr>
              <a:buSzPct val="100000"/>
              <a:defRPr/>
            </a:pPr>
            <a:r>
              <a:rPr kumimoji="0" lang="en-US" altLang="ko-KR" sz="1500" b="1" i="0" u="none" strike="noStrike" kern="1200" cap="none" normalizeH="0" baseline="0" noProof="0">
                <a:ln w="3175">
                  <a:solidFill>
                    <a:srgbClr val="D0D5DB">
                      <a:alpha val="0"/>
                    </a:srgbClr>
                  </a:solidFill>
                </a:ln>
                <a:effectLst/>
                <a:uLnTx/>
                <a:uFillTx/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  <a:sym typeface="Monotype Sorts"/>
              </a:rPr>
              <a:t>2.1 계약 조건 이행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BE032AD2-3F32-1F05-D1B6-C16ED22DC291}"/>
              </a:ext>
            </a:extLst>
          </p:cNvPr>
          <p:cNvSpPr/>
          <p:nvPr/>
        </p:nvSpPr>
        <p:spPr>
          <a:xfrm>
            <a:off x="279083" y="1371599"/>
            <a:ext cx="6331426" cy="862661"/>
          </a:xfrm>
          <a:prstGeom prst="roundRect">
            <a:avLst>
              <a:gd name="adj" fmla="val 5153"/>
            </a:avLst>
          </a:prstGeom>
          <a:solidFill>
            <a:schemeClr val="accent5">
              <a:lumMod val="20000"/>
              <a:lumOff val="80000"/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72000" tIns="72000" rIns="72000" bIns="72000" rtlCol="0" anchor="ctr"/>
          <a:lstStyle/>
          <a:p>
            <a:pPr>
              <a:lnSpc>
                <a:spcPts val="1700"/>
              </a:lnSpc>
            </a:pP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(계약 조건 전부 수용) 지식재산권 귀속 · 손해배상 · 지체상금 · 해지 조건을 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solidFill>
                  <a:srgbClr val="0462DA"/>
                </a:solidFill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그대로 수용</a:t>
            </a:r>
            <a:r>
              <a:rPr lang="ko-KR" altLang="en-US" sz="1200" b="1">
                <a:ln w="12700">
                  <a:solidFill>
                    <a:schemeClr val="tx1">
                      <a:alpha val="0"/>
                    </a:schemeClr>
                  </a:solidFill>
                </a:ln>
                <a:latin typeface="맑은 고딕" panose="00000800000000000000" pitchFamily="2" charset="-127"/>
                <a:ea typeface="맑은 고딕" panose="00000800000000000000" pitchFamily="2" charset="-127"/>
                <a:cs typeface="맑은 고딕" panose="00000800000000000000" pitchFamily="2" charset="-127"/>
              </a:rPr>
              <a:t>하고, 지체상금이 발생하지 않도록 장애 대응 기준을 지킴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1200" y="846000"/>
            <a:ext cx="2228400" cy="324000"/>
          </a:xfrm>
          <a:prstGeom prst="roundRect">
            <a:avLst>
              <a:gd name="adj" fmla="val 5000"/>
            </a:avLst>
          </a:prstGeom>
          <a:solidFill>
            <a:srgbClr val="DCE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43200" bIns="4320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COR-001, COR-002, COR-003, COR-004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16800" y="2358000"/>
          <a:ext cx="6260400" cy="3894744"/>
        </p:xfrm>
        <a:graphic>
          <a:graphicData uri="http://schemas.openxmlformats.org/drawingml/2006/table">
            <a:tbl>
              <a:tblPr firstRow="0" bandRow="0"/>
              <a:tblGrid>
                <a:gridCol w="1173825"/>
                <a:gridCol w="3130200"/>
                <a:gridCol w="1956375"/>
              </a:tblGrid>
              <a:tr h="594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조건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내용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당사 이행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0462DA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지식재산권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개발산출물 공동소유, 유지관리 산출물 발주기관 귀속, 2차 소속기관 공동 활용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· 반출 시 확약서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손해배상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관리부실 장애 시 사업 손실 상당액 배상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· 예방점검 강화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지체상금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규정시간 초과 시 시간당 월 유지보수료 1000분의 2.5 공제, 24시간 내 재발은 연속고장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 · SLA로 관리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02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해지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사전승인 없는 양도 · 성과 미달 · 요구 수준 미이행 연 3회 등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3000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분쟁 중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EEF3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분쟁기간 중에도 용역 수행 중지 불가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222222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수용</a:t>
                      </a:r>
                    </a:p>
                  </a:txBody>
                  <a:tcPr marL="36000" marR="36000" marT="18000" marB="18000" anchor="ctr">
                    <a:lnL w="10160">
                      <a:solidFill>
                        <a:srgbClr val="C8D3E0"/>
                      </a:solidFill>
                    </a:lnL>
                    <a:lnR w="10160">
                      <a:solidFill>
                        <a:srgbClr val="C8D3E0"/>
                      </a:solidFill>
                    </a:lnR>
                    <a:lnT w="10160">
                      <a:solidFill>
                        <a:srgbClr val="C8D3E0"/>
                      </a:solidFill>
                    </a:lnT>
                    <a:lnB w="10160">
                      <a:solidFill>
                        <a:srgbClr val="C8D3E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280800" y="6360746"/>
            <a:ext cx="6332400" cy="995608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6799" y="6414746"/>
            <a:ext cx="608040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1050" b="1">
                <a:solidFill>
                  <a:srgbClr val="FFE699"/>
                </a:solidFill>
                <a:latin typeface="맑은 고딕"/>
                <a:ea typeface="맑은 고딕"/>
                <a:cs typeface="맑은 고딕"/>
              </a:rPr>
              <a:t>지체상금 기준보다 엄격하게 관리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6799" y="6612746"/>
            <a:ext cx="6080400" cy="689608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지체상금 규정시간(근무지내 6시간 · 근무지외 12시간)보다 짧은 2시간 착수 · 4시간 정상가동(근무시간 외 4 · 8시간)을 내부 기준으로 관리해 지체상금이 발생하지 않게 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6800" y="746435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16800" y="746435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24800" y="751835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4800" y="791435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지체상금 발생 목표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501000" y="7464355"/>
            <a:ext cx="3076200" cy="864000"/>
          </a:xfrm>
          <a:prstGeom prst="rect">
            <a:avLst/>
          </a:prstGeom>
          <a:solidFill>
            <a:srgbClr val="EEF4FB"/>
          </a:solidFill>
          <a:ln w="12700">
            <a:solidFill>
              <a:srgbClr val="BADB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01000" y="7464355"/>
            <a:ext cx="43200" cy="864000"/>
          </a:xfrm>
          <a:prstGeom prst="rect">
            <a:avLst/>
          </a:prstGeom>
          <a:solidFill>
            <a:srgbClr val="046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09000" y="7518355"/>
            <a:ext cx="291420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r>
              <a:rPr sz="24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100</a:t>
            </a:r>
            <a:r>
              <a:rPr sz="1100" b="1">
                <a:solidFill>
                  <a:srgbClr val="1D4E89"/>
                </a:solidFill>
                <a:latin typeface="맑은 고딕"/>
                <a:ea typeface="맑은 고딕"/>
                <a:cs typeface="맑은 고딕"/>
              </a:rPr>
              <a:t>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9000" y="7914355"/>
            <a:ext cx="2914200" cy="377999"/>
          </a:xfrm>
          <a:prstGeom prst="rect">
            <a:avLst/>
          </a:prstGeom>
          <a:noFill/>
        </p:spPr>
        <p:txBody>
          <a:bodyPr wrap="square" lIns="7200" rIns="7200" tIns="7200" bIns="7200" anchor="t">
            <a:noAutofit/>
          </a:bodyPr>
          <a:lstStyle/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계약 조건 수용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88000" y="9630000"/>
            <a:ext cx="882000" cy="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00000" y="9648000"/>
            <a:ext cx="1458000" cy="23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04040"/>
                </a:solidFill>
                <a:latin typeface="맑은 고딕"/>
                <a:ea typeface="맑은 고딕"/>
                <a:cs typeface="맑은 고딕"/>
              </a:rPr>
              <a:t>61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맑은 고딕" panose="020F0302020204030204"/>
        <a:ea typeface="맑은 고딕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맑은 고딕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sz="1200" dirty="0" smtClean="0">
            <a:latin typeface="KoPubWorld돋움체 Bold" panose="00000800000000000000" pitchFamily="2" charset="-127"/>
            <a:ea typeface="KoPubWorld돋움체 Bold" panose="00000800000000000000" pitchFamily="2" charset="-127"/>
            <a:cs typeface="KoPubWorld돋움체 Bold" panose="00000800000000000000" pitchFamily="2" charset="-127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200" dirty="0" smtClean="0">
            <a:latin typeface="KoPubWorld돋움체 Medium" panose="00000600000000000000" pitchFamily="2" charset="-127"/>
            <a:ea typeface="KoPubWorld돋움체 Medium" panose="00000600000000000000" pitchFamily="2" charset="-127"/>
            <a:cs typeface="KoPubWorld돋움체 Medium" panose="00000600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D30EBE9304C2346AD8EC6952A85F23C" ma:contentTypeVersion="16" ma:contentTypeDescription="새 문서를 만듭니다." ma:contentTypeScope="" ma:versionID="0beda8d242283ca8ad5cd5bb1aa1bc86">
  <xsd:schema xmlns:xsd="http://www.w3.org/2001/XMLSchema" xmlns:xs="http://www.w3.org/2001/XMLSchema" xmlns:p="http://schemas.microsoft.com/office/2006/metadata/properties" xmlns:ns2="e7514280-9163-4412-ad0a-e8ade9193bee" xmlns:ns3="296b340d-c22f-4484-96dd-ad8bc868af40" targetNamespace="http://schemas.microsoft.com/office/2006/metadata/properties" ma:root="true" ma:fieldsID="c503c7f92b65afe15150ee6451e3405f" ns2:_="" ns3:_="">
    <xsd:import namespace="e7514280-9163-4412-ad0a-e8ade9193bee"/>
    <xsd:import namespace="296b340d-c22f-4484-96dd-ad8bc868af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7514280-9163-4412-ad0a-e8ade9193b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이미지 태그" ma:readOnly="false" ma:fieldId="{5cf76f15-5ced-4ddc-b409-7134ff3c332f}" ma:taxonomyMulti="true" ma:sspId="dbb9d562-bd20-43bc-a33e-5cbb7cafe3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b340d-c22f-4484-96dd-ad8bc868af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89e01bde-2108-4b34-9411-c6bd49ed7aa3}" ma:internalName="TaxCatchAll" ma:showField="CatchAllData" ma:web="296b340d-c22f-4484-96dd-ad8bc868af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7514280-9163-4412-ad0a-e8ade9193bee">
      <Terms xmlns="http://schemas.microsoft.com/office/infopath/2007/PartnerControls"/>
    </lcf76f155ced4ddcb4097134ff3c332f>
    <TaxCatchAll xmlns="296b340d-c22f-4484-96dd-ad8bc868af4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62CDAD-107A-43D7-A7FF-44C6CD012359}">
  <ds:schemaRefs>
    <ds:schemaRef ds:uri="296b340d-c22f-4484-96dd-ad8bc868af40"/>
    <ds:schemaRef ds:uri="e7514280-9163-4412-ad0a-e8ade9193be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756E700-2809-459B-84AD-EC3318970829}">
  <ds:schemaRefs>
    <ds:schemaRef ds:uri="296b340d-c22f-4484-96dd-ad8bc868af40"/>
    <ds:schemaRef ds:uri="e7514280-9163-4412-ad0a-e8ade9193b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BF8794B-BC40-4BF3-B2D9-ECCD52D4CB8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21f85bf-30cf-4a3f-b20f-fc38a03d9031}" enabled="0" method="" siteId="{c21f85bf-30cf-4a3f-b20f-fc38a03d903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5876</TotalTime>
  <Words>54759</Words>
  <Application>Microsoft Office PowerPoint</Application>
  <PresentationFormat>A4 용지(210x297mm)</PresentationFormat>
  <Paragraphs>8851</Paragraphs>
  <Slides>220</Slides>
  <Notes>137</Notes>
  <HiddenSlides>0</HiddenSlides>
  <MMClips>0</MMClips>
  <ScaleCrop>false</ScaleCrop>
  <HeadingPairs>
    <vt:vector size="6" baseType="variant">
      <vt:variant>
        <vt:lpstr>사용한 글꼴</vt:lpstr>
      </vt:variant>
      <vt:variant>
        <vt:i4>22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220</vt:i4>
      </vt:variant>
    </vt:vector>
  </HeadingPairs>
  <TitlesOfParts>
    <vt:vector size="243" baseType="lpstr">
      <vt:lpstr>a옛날사진관5</vt:lpstr>
      <vt:lpstr>G마켓 산스 TTF Bold</vt:lpstr>
      <vt:lpstr>G마켓 산스 TTF Medium</vt:lpstr>
      <vt:lpstr>KoPubWorld돋움체 Bold</vt:lpstr>
      <vt:lpstr>KoPubWorld돋움체 Medium</vt:lpstr>
      <vt:lpstr>KoPubWorld바탕체 Light</vt:lpstr>
      <vt:lpstr>KoPub돋움체_Pro Medium</vt:lpstr>
      <vt:lpstr>KoPub바탕체 Bold</vt:lpstr>
      <vt:lpstr>Pretendard</vt:lpstr>
      <vt:lpstr>경기천년제목 Bold</vt:lpstr>
      <vt:lpstr>나눔스퀘어</vt:lpstr>
      <vt:lpstr>나눔스퀘어 Bold</vt:lpstr>
      <vt:lpstr>나눔스퀘어_ac</vt:lpstr>
      <vt:lpstr>나눔스퀘어_ac ExtraBold</vt:lpstr>
      <vt:lpstr>맑은 고딕</vt:lpstr>
      <vt:lpstr>맑은 고딕</vt:lpstr>
      <vt:lpstr>함초롬바탕</vt:lpstr>
      <vt:lpstr>Aldhabi</vt:lpstr>
      <vt:lpstr>Arial</vt:lpstr>
      <vt:lpstr>Calibri</vt:lpstr>
      <vt:lpstr>Calibri Light</vt:lpstr>
      <vt:lpstr>Wingdings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황보정운</dc:creator>
  <cp:lastModifiedBy>황보정운</cp:lastModifiedBy>
  <cp:revision>239</cp:revision>
  <cp:lastPrinted>2026-06-25T07:15:15Z</cp:lastPrinted>
  <dcterms:created xsi:type="dcterms:W3CDTF">2021-09-24T12:12:26Z</dcterms:created>
  <dcterms:modified xsi:type="dcterms:W3CDTF">2026-07-27T02:17:50Z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0x0101009D30EBE9304C2346AD8EC6952A85F23C</vt:lpwstr>
  </property>
  <property fmtid="{D5CDD505-2E9C-101B-9397-08002B2CF9AE}" pid="3" name="MediaServiceImageTags">
    <vt:lpwstr/>
  </property>
</Properties>
</file>