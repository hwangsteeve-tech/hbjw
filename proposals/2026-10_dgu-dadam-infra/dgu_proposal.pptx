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225"/>
  </p:notesMasterIdLst>
  <p:handoutMasterIdLst>
    <p:handoutMasterId r:id="rId226"/>
  </p:handoutMasterIdLst>
  <p:sldIdLst>
    <p:sldId id="7488" r:id="rId16"/>
    <p:sldId id="7489" r:id="rId17"/>
    <p:sldId id="7490" r:id="rId18"/>
    <p:sldId id="7491" r:id="rId19"/>
    <p:sldId id="7492" r:id="rId20"/>
    <p:sldId id="7493" r:id="rId21"/>
    <p:sldId id="7494" r:id="rId22"/>
    <p:sldId id="7495" r:id="rId23"/>
    <p:sldId id="7496" r:id="rId24"/>
    <p:sldId id="7497" r:id="rId25"/>
    <p:sldId id="7498" r:id="rId26"/>
    <p:sldId id="7499" r:id="rId27"/>
    <p:sldId id="7500" r:id="rId28"/>
    <p:sldId id="7501" r:id="rId29"/>
    <p:sldId id="7502" r:id="rId30"/>
    <p:sldId id="7503" r:id="rId31"/>
    <p:sldId id="7504" r:id="rId32"/>
    <p:sldId id="7505" r:id="rId33"/>
    <p:sldId id="7506" r:id="rId34"/>
    <p:sldId id="7507" r:id="rId35"/>
    <p:sldId id="7508" r:id="rId36"/>
    <p:sldId id="7509" r:id="rId37"/>
    <p:sldId id="7510" r:id="rId38"/>
    <p:sldId id="7511" r:id="rId39"/>
    <p:sldId id="7512" r:id="rId40"/>
    <p:sldId id="7513" r:id="rId41"/>
    <p:sldId id="7514" r:id="rId42"/>
    <p:sldId id="7515" r:id="rId43"/>
    <p:sldId id="7516" r:id="rId44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7" autoAdjust="0"/>
    <p:restoredTop sz="94660"/>
  </p:normalViewPr>
  <p:slideViewPr>
    <p:cSldViewPr snapToGrid="0">
      <p:cViewPr>
        <p:scale>
          <a:sx n="75" d="100"/>
          <a:sy n="75" d="100"/>
        </p:scale>
        <p:origin x="1506" y="936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225" Type="http://schemas.openxmlformats.org/officeDocument/2006/relationships/notesMaster" Target="notesMasters/notesMaster1.xml"/><Relationship Id="rId226" Type="http://schemas.openxmlformats.org/officeDocument/2006/relationships/handoutMaster" Target="handoutMasters/handoutMaster1.xml"/><Relationship Id="rId227" Type="http://schemas.openxmlformats.org/officeDocument/2006/relationships/presProps" Target="presProps.xml"/><Relationship Id="rId228" Type="http://schemas.openxmlformats.org/officeDocument/2006/relationships/viewProps" Target="viewProps.xml"/><Relationship Id="rId229" Type="http://schemas.openxmlformats.org/officeDocument/2006/relationships/theme" Target="theme/theme1.xml"/><Relationship Id="rId2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ctr"/>
              <a:t>‹#›</a:t>
            </a:fld>
            <a:endParaRPr lang="ko-KR" altLang="en-US" sz="100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r"/>
              <a:t>‹#›</a:t>
            </a:fld>
            <a:endParaRPr lang="ko-KR" altLang="en-US" sz="64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r"/>
              <a:t>‹#›</a:t>
            </a:fld>
            <a:endParaRPr lang="ko-KR" altLang="en-US" sz="64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r"/>
              <a:t>‹#›</a:t>
            </a:fld>
            <a:endParaRPr lang="ko-KR" altLang="en-US" sz="64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기술제안서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AI기반 맞춤형 학습지원 서비스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운영 인프라 구축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사업PM 【성명】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제출기관: (주)에이치나인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발주기관: 동국대학교 (정보운영팀)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 spc="-68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제안개요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4735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사업추진 방안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3660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5881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3678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8637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1683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기술부문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0608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2829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0626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5585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8631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제안사 일반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7556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9777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7574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Ⅳ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2533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5579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기타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4504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6725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4522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Ⅴ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9481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제안개요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제안배경 및 목적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제안범위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제안의 특장점 및 기대효과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제안배경 및 목적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제안개요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다담 프로젝트 운영 인프라의 필요성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제안배경 및 목적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(서비스 연속성 확보) 생성형 AI 학습지원 서비스 「다담 프로젝트」가 이용자 증가에도 멈추지 않도록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이중화된 가상화 기반 운영 인프라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를 구축함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추진 배경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682000"/>
          <a:ext cx="6260399" cy="2206836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543287"/>
                <a:gridCol w="2543287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현황·과제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본 사업 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서비스 연속성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다담 프로젝트의 안정적 운영과 서비스 연속성 확보 필요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서버 2대 HA 클러스터, 장애 시 VM 자동 재시작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확장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이용자 증가·서비스 확장(비교과 통합) 예정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Scale-up·Scale-out 가능한 서버·스토리지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처리 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생성형 AI 서비스의 응답 지연은 학습 경험에 직결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128코어·768GB 서버, All-NVMe 스토리지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정보보안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학습 이력·개인정보를 다루는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RBAC·감사 로그·TPM 2.0·스토리지 데이터 잠금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5011236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4996836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사업 목적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16800" y="5320836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316800" y="5320836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① 안정성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800" y="5608836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이중화로 단일 장애점 제거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1811700" y="570063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908900" y="5320836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1908900" y="5320836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② 성능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44900" y="5608836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최신 Xeon 6·NVMe로 처리속도 개선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3403800" y="570063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501000" y="5320836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3501000" y="5320836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③ 확장성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37000" y="5608836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비교과 통합 서비스까지 수용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4995900" y="570063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093100" y="5320836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093100" y="5320836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④ 보안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29100" y="5608836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대학 정보보안 체계 강화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제안범위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제안개요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도입 품목 및 구축 범위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제안범위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(공급부터 운영 이관까지) 운영 서버 2대 · All-NVMe 저장장치 1식 · 가상화 SW 1식을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공급·설치·구성·시험·교육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 3년 유지보수를 제공함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ECR-001, ECR-002, ECR-003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도입 대상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732428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626040"/>
                <a:gridCol w="2504160"/>
                <a:gridCol w="195637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품목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제안 제품 (안)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용도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운영 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HPE ProLiant DL380 Gen12 【제조사 견적 확정】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다담 프로젝트 가상화 호스트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저장장치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All-NVMe 통합 스토리지 【제조사·모델 확정】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VM·데이터 저장, NAS 파일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가상화 SW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HPE Morpheus VM Essentials 【확정】 + RHEL 라이선스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HA 클러스터·VM 관리·백업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432428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구축 범위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666428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수행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공급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정품 공급·제조사 기술지원 확약서, 3년 내 단종되지 않는 최신 제품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대학 지정 장소 랙 설치·전원·네트워크 결선 (업무 외 시간 작업)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RAID·스토리지 볼륨, 하이퍼바이저 클러스터, VM·RHEL 구성, 백업 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시험·이관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HA·마이그레이션·성능 시험, 운영지침서·교육, 다담 프로젝트 이관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서버 3년 24x7 On-site, 스토리지 36개월 기술지원, 월 1회 정기점검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제안의 특장점 및 기대효과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제안개요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3.1.1 제안의 특장점과 기대효과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3.1 특장점 · 기대효과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(운영자 관점의 인프라) AI 서비스를 직접 기획·개발·운영해 온 경험으로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장비 납품을 넘어 다담 서비스가 실제로 잘 돌아가는 구성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제안함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① 서비스 맞춤 VM 설계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1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다담 서비스 계층별 VM·CPU·메모리 할당안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한 대 장애 시에도 전 VM 수용 (N+1)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92000" y="235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920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② 무중단 이중화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0" y="261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HA 자동 재시작·라이브 마이그레이션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스토리지 듀얼 컨트롤러·경로 이중화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34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334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③ 라이선스 위험 제거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360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RHEL 가상 데이터센터형 (VM 수 무제한)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하이퍼바이저 서버당 128코어 이상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92000" y="334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92000" y="334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④ 확장 대비 구조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8000" y="360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메모리 8TB·PCIe Gen5 확장 여유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스토리지 SSD·I/O Scale-out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433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16800" y="433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⑤ 데이터 보호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2800" y="459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내장 백업·스냅샷·CDP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NAS 감사 로그·데이터 잠금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492000" y="433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492000" y="433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⑥ 자체 운영 역량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28000" y="459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경미 장애 조치 교육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한글 운영지침서·매뉴얼 제공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02400" y="539639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92400" y="5382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기대효과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5706000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기대효과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서비스 안정성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단일 장애점 제거로 다담 서비스 중단 위험 최소화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업무 효율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통합 대시보드·자동화 스크립트로 VM 생성·운영 시간 단축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정보보안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역할 기반 접근통제·감사 이력으로 대학 정보보안 체계 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확장 기반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다담 프로젝트와 비교과 통합 서비스 운영 인프라 기반 마련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사업추진 방안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추진전략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적용기술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사업추진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추진 목표와 단계별 전략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추진전략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(2개월 내 무중단 구축) 계약 즉시 장비를 발주하고, 입고 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구성 설계와 VM 계획을 확정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하여 입고 후 3주 안에 설치·시험·이관을 마침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PMR-002, PMR-003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① 착수·설계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사업수행계획서 (7일 내)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현행 환경 조사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24800" y="291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VM·자원 할당 설계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446999" y="291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구성도 확정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69200" y="2358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구성 설계서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6800" y="3438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4800" y="3438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② 발주·입고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34800" y="3510000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324800" y="354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계약 즉시 발주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446999" y="354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제조사 납기 관리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324800" y="3996000"/>
            <a:ext cx="41544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입고 검사 (규격 대조)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569200" y="3438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납품내역서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16800" y="4518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4800" y="4518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③ 설치·구성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234800" y="4590000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324800" y="462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랙 설치·결선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446999" y="462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RAID·스토리지 볼륨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324800" y="507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하이퍼바이저 클러스터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446999" y="507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VM·RHEL 구성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569200" y="4518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구성 내역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16800" y="5598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34800" y="5598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④ 시험·이관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234800" y="5670000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1324800" y="570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HA·마이그레이션 시험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446999" y="570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성능·백업 복구 시험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324800" y="6156000"/>
            <a:ext cx="41544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다담 서비스 이관 지원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69200" y="5598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시험 결과서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16800" y="6678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34800" y="6678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⑤ 교육·검수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234800" y="6750000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1324800" y="678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운영자 교육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446999" y="678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운영지침서 (한글)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324800" y="7236000"/>
            <a:ext cx="41544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구축완료 보고서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569200" y="6678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검수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80800" y="7812000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34800" y="7848000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(무중단 원칙) 설치·전환 작업은 대학 업무에 지장이 없는 시간에 수행하고, 다담 서비스 이관은 사전 리허설 후 진행함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사업추진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1.2.1 사업 위험요소와 대응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1.2 위험 대응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(납기·호환·라이선스 위험 선제 대응) 2개월 일정에 직결되는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장비 납기, 호환성, 라이선스 산정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위험을 계약 전부터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PMR-005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758428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547785"/>
                <a:gridCol w="2191140"/>
                <a:gridCol w="219114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예방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발생 시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장비 납기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계약 즉시 발주, 제조사 재고·납기 확약 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제조사 대체 재고 확보, 일정 즉시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신버전 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계약 후 3개월 내 신버전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동등 이상 최신 버전으로 납품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서버-스토리지 호환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제조사 호환성 매트릭스 사전 대조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제조사 기술지원으로 펌웨어·드라이버 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라이선스 부족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VM 계획 기반 산정, VM 무제한형 RHEL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부족분은 제안사 부담 (RFP 조건)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다담 이관 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이관 리허설·롤백 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기존 환경으로 즉시 원복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성능 미달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설계 단계 자원 산정·성능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자원 재배치·튜닝, 미달 시 교체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238828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224428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이슈 관리 절차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5548428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554842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식별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5836428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주간 회의·현장 점검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811700" y="592822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908900" y="5548428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908900" y="554842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분석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44900" y="5836428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영향도·긴급도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3403800" y="592822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501000" y="5548428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501000" y="554842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조치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37000" y="5836428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담당 지정·기한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995900" y="592822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93100" y="5548428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093100" y="554842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보고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9100" y="5836428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주간보고·수시보고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적용기술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사업추진 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핵심 적용기술과 확장성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적용기술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(검증된 엔터프라이즈 기술) Xeon 6 서버 · All-NVMe 스토리지 · HA 하이퍼바이저를 조합하고,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확장 여유와 이기종 이전 경로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를 함께 확보함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ECR-001, ECR-002, ECR-003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155652"/>
        </p:xfrm>
        <a:graphic>
          <a:graphicData uri="http://schemas.openxmlformats.org/drawingml/2006/table">
            <a:tbl>
              <a:tblPr firstRow="0" bandRow="0"/>
              <a:tblGrid>
                <a:gridCol w="1095570"/>
                <a:gridCol w="2582415"/>
                <a:gridCol w="258241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적용 기술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확장성·고려사항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Intel Xeon 6710E (E-Core) 64코어 × 2, DDR5 768GB, PCIe Gen5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메모리 최대 8TB·32슬롯, PCIe Gen5 8슬롯, OCP 3.0 2슬롯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스토리지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All-NVMe TLC SSD, 듀얼 컨트롤러, 25GbE Host, NAS·블록 통합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SSD·I/O Scale-up/Scale-out, 기존 데이터 Migration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가상화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HA·라이브 마이그레이션·DRS·스토리지 마이그레이션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클러스터 확장·축소, VMware 이미지 변환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 보호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하이퍼바이저 내장 백업 (NFS·CIFS·S3), 스냅샷·CDP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Veeam 등 타사 백업 통합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운영 자동화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VM 프로비저닝 Bash·PowerShell, 운영 워크플로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서비스 플랜으로 표준 VM 반복 생성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운영체제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RHEL 최신 지원 버전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가상 데이터센터형 구독으로 VM 증가에도 추가 비용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280800" y="5621652"/>
            <a:ext cx="6332400" cy="52227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E-Core 기반 Xeon 6710E는 고밀도 병렬 처리에 맞는 프로세서로, 다수 VM으로 분산되는 웹·API·RAG 계층 운영에 적합함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기술부문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시스템 구성도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기능 요건 충족 방안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보안 요건 충족 방안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프로젝트 관리 요건 충족 방안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시스템 구성도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H/W 물리적 구성도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물리적 구성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(경로까지 이중화) 서버 2대와 듀얼 컨트롤러 스토리지를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10GbE·25GbE 이중 경로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로 연결하여 어떤 구성 요소 하나가 멈춰도 서비스가 유지됨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ECR-001, ECR-002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612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대학 네트워크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807199" cy="46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코어 스위치 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4000" y="2430000"/>
            <a:ext cx="1807199" cy="46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코어 스위치 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358000"/>
            <a:ext cx="1296000" cy="61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서비스망 10GbE 이중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034800"/>
            <a:ext cx="4874400" cy="612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3034800"/>
            <a:ext cx="104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운영 서버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3106799"/>
            <a:ext cx="1807199" cy="46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서버 #1 (Xeon 6710E×2, 768GB)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94000" y="3106799"/>
            <a:ext cx="1807199" cy="46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서버 #2 (Xeon 6710E×2, 768GB)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81200" y="3034800"/>
            <a:ext cx="1296000" cy="61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HA 클러스터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6800" y="3711599"/>
            <a:ext cx="4874400" cy="612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34800" y="3711599"/>
            <a:ext cx="104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연결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432800" y="3783599"/>
            <a:ext cx="1186800" cy="46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서비스망 10G×2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73600" y="3783599"/>
            <a:ext cx="1186800" cy="46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스토리지망 10/25G×2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914400" y="3783599"/>
            <a:ext cx="1186800" cy="46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관리망 1G (iLO)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81200" y="3711599"/>
            <a:ext cx="1296000" cy="61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NIC 본딩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6800" y="4388400"/>
            <a:ext cx="4874400" cy="612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34800" y="4388400"/>
            <a:ext cx="104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저장장치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432800" y="4460400"/>
            <a:ext cx="1186800" cy="46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컨트롤러 A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673600" y="4460400"/>
            <a:ext cx="1186800" cy="46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컨트롤러 B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914400" y="4460400"/>
            <a:ext cx="1186800" cy="46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NVMe 3.84TB × 6↑ (RAID6)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81200" y="4388400"/>
            <a:ext cx="1296000" cy="61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Usable 10TB↑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80800" y="51372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망 구성 (안) &gt;</a:t>
            </a:r>
          </a:p>
        </p:txBody>
      </p:sp>
      <p:graphicFrame>
        <p:nvGraphicFramePr>
          <p:cNvPr id="54" name="Table 53"/>
          <p:cNvGraphicFramePr>
            <a:graphicFrameLocks noGrp="1"/>
          </p:cNvGraphicFramePr>
          <p:nvPr/>
        </p:nvGraphicFramePr>
        <p:xfrm>
          <a:off x="316800" y="5371200"/>
          <a:ext cx="6260399" cy="167720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973689"/>
                <a:gridCol w="211288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망 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이중화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서비스망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서버 10G 2-port NIC × 2 → 코어 스위치 A/B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NIC 팀/본딩, 스위치 분산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스토리지망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서버 → 스토리지 10GbE (25GbE 확장)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멀티패스, 컨트롤러별 분산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vMotion·HA망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서버 간 전용 VLAN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별도 포트 분리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iLO7·스토리지 관리 1G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관리 전용 VLAN 격리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5" name="TextBox 54"/>
          <p:cNvSpPr txBox="1"/>
          <p:nvPr/>
        </p:nvSpPr>
        <p:spPr>
          <a:xfrm>
            <a:off x="280800" y="7120404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실제 IP·스위치 포트·VLAN은 누출금지 정보로, 착수 후 현장 조사로 확정하고 구축완료 보고서에만 기재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시스템 구성도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1.2.1 VM 구성 및 Application별 자원 할당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1.2 논리적 구성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(N+1 자원 설계) 다담 서비스를 계층별 VM으로 나누고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한 대 장애 시에도 전체 VM을 다른 한 대가 수용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하도록 CPU·메모리를 서버 용량의 50% 이내로 할당함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ECR-003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VM 구성 및 자원 할당 (안) — 다담 프로젝트 구성 확인 후 확정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310042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547785"/>
                <a:gridCol w="704295"/>
                <a:gridCol w="860805"/>
                <a:gridCol w="273892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VM 그룹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vCPU/VM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메모리/VM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배치·역할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Web/WAS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32GB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호스트 분산 배치, L4/LB 뒤 Active-Active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API 게이트웨이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32GB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LLM 호출·프롬프트·세션 관리, Active-Active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RAG·검색 (벡터 DB)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64GB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학습자료 임베딩 검색, 복제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96GB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Primary-Standby 복제, 호스트 분리 (Anti-Affinity)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배치·학습 데이터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64GB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학습 이력 분석·임베딩 생성 야간 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관리·모니터링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16GB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모니터링·로그 수집·백업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132 vCPU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560GB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총 용량 256코어·1,536GB 대비 52%·36%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80800" y="5800428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5836428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(장애 수용) 서버 한 대(128코어·768GB)로 전체 132 vCPU·560GB 수용 → HA 재시작 후에도 서비스 지속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(확장 여유) 잔여 자원으로 비교과 통합 서비스 VM 추가 수용, 부족 시 메모리 증설(최대 8TB)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시스템 구성도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1.3.1 구성 요소별 이중화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1.3 이중화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(단일 장애점 제거) 호스트·스토리지·네트워크·전원·디스크·애플리케이션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6개 계층 모두에 이중화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를 적용함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ECR-001, ECR-002, ECR-003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758428"/>
        </p:xfrm>
        <a:graphic>
          <a:graphicData uri="http://schemas.openxmlformats.org/drawingml/2006/table">
            <a:tbl>
              <a:tblPr firstRow="0" bandRow="0"/>
              <a:tblGrid>
                <a:gridCol w="1095570"/>
                <a:gridCol w="2738925"/>
                <a:gridCol w="242590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계층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이중화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장애 시 동작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호스트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2노드 HA 클러스터, DRS 자동 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장애 호스트의 VM을 다른 호스트에서 자동 재시작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스토리지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듀얼 컨트롤러, RAID6 (디스크 2개 동시 장애 허용)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컨트롤러 자동 인계, 서비스 연속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네트워크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NIC 본딩·멀티패스·코어 스위치 분산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경로 하나 장애 시 잔여 경로로 지속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전원·팬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이중 전원·냉각팬 Hot-Swap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운영 중 교체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부팅 장치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이중화 NVMe 부팅 장치 + RAID 1 내장 HDD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부팅 디스크 장애에도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애플리케이션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Web·AI API Active-Active, DB Primary-Standby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서비스 수준 이중화로 재시작 시간도 무중단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238828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224428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데이터 보호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5548428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554842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스냅샷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5836428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작업 전·일 단위 스냅샷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811700" y="592822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908900" y="5548428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908900" y="554842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내장 백업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44900" y="5836428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VM 일일 백업 (NFS·S3)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3403800" y="592822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501000" y="5548428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501000" y="554842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CDP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37000" y="5836428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스토리지 연속 데이터 보호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995900" y="592822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93100" y="5548428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093100" y="554842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복구 시험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9100" y="5836428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검수 전 백업 복구 검증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시스템 구성도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1.4.1 다담 프로젝트 연계 구성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1.4 다담 프로젝트 연계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(서비스 이관까지 책임) 다담 프로젝트의 현행 구성과 개발 일정을 확인해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운영 VM 표준 템플릿과 이관 절차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를 함께 마련하고, 비교과 통합 확장 경로를 설계함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680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 Same Side Corner Rectangle 30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① 현행 확인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다담 구성·용량·의존성 조사</a:t>
            </a:r>
          </a:p>
        </p:txBody>
      </p:sp>
      <p:sp>
        <p:nvSpPr>
          <p:cNvPr id="33" name="Isosceles Triangle 32"/>
          <p:cNvSpPr/>
          <p:nvPr/>
        </p:nvSpPr>
        <p:spPr>
          <a:xfrm rot="5400000">
            <a:off x="149328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59048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② 템플릿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2648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RHEL 표준 VM 템플릿·서비스 플랜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276696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86416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③ 리허설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0016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시험 VM으로 이관 리허설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404064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13784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④ 이관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7384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업무 외 시간 전환·검증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531432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41152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⑤ 안정화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4752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모니터링·튜닝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3330000"/>
          <a:ext cx="6260400" cy="215161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연계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VM 이미지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기존 VMware 이미지는 하이퍼바이저 변환 기능으로 이전, 신규는 표준 템플릿 배포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스토리지 Migration 기능 또는 NAS 복제로 학습자료·파일 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하이퍼바이저 관리 계정은 대학 AD/LDAP 연동, 역할별 권한 부여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LLM API 호출 경로·방화벽 정책은 대학 보안 정책에 따라 정보운영팀과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확장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비교과 통합 서비스는 별도 프로젝트(테넌트)·QoS로 자원 격리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Box 49"/>
          <p:cNvSpPr txBox="1"/>
          <p:nvPr/>
        </p:nvSpPr>
        <p:spPr>
          <a:xfrm>
            <a:off x="280800" y="5553612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다담 프로젝트의 애플리케이션 구성·용량은 공개 자료가 없어 착수 시 개발 주체와 확인 후 VM 계획(Ⅲ-1.2)을 확정함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시스템별 기술 및 기능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운영 서버 규격 충족 (ECR-001)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기능 요건 충족 — 서버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(전 항목 충족) RFP 서버 규격을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항목별로 대조해 동급 이상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공급하며, 제조사 기술지원 확약서와 3년 24x7 On-site 보증을 제출함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ECR-001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3924734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2425905"/>
                <a:gridCol w="2269395"/>
                <a:gridCol w="626040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RFP 요구 규격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제안 규격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충족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아키텍처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 x86 (Dell·HP)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HPE ProLiant DL380 Gen12 【확정】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프로세서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Xeon 6710E 2.4GHz 64코어 × 2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Xeon 6710E 64코어 × 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메모리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DDR5 768GB↑ (최대 8TB, 32슬롯↑)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DDR5 768GB, 최대 8TB·32슬롯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스토리지 컨트롤러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이중화 NVMe 부팅, RAID 1/5/6/10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이중 NVMe 부팅 + 제조사 RAID 컨트롤러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내장 디스크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1.2TB SAS 10K × 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1.2TB SAS 12G 10K × 2 (RAID 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I/O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10G 2-port × 2, 1G 4-port × 1, PCIe Gen5 8슬롯↑, OCP 3.0 × 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동일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OS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Windows·RHEL·SLES·VMware·Hyper-V 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제조사 인증 OS 목록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iLO7·OneView·Compute Ops Mgmt, TPM 2.0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iLO7 Advanced, TPM 2.0 내장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2U 랙, 전원·팬 이중화 Hot-Swap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2U, 이중 전원·팬 Hot-Swap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3년 24x7 Part/Labor/On-site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제조사 3년 24x7 On-site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6354734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규격 충족 증빙: 제조사 사양서·정품공급확약서·기술지원확약서 첨부 【제조사 발급 후 첨부】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시스템별 기술 및 기능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2.2.1 All-NVMe 저장장치 규격 충족 (ECR-002)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2.2 기능 요건 충족 — 저장장치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(엔터프라이즈 All-NVMe) 듀얼 컨트롤러 · RAID6 Usable 10TB 이상 · NAS 통합 스토리지로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성능·보호·감사 기능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모두 충족함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ECR-002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4123468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2582415"/>
                <a:gridCol w="2112885"/>
                <a:gridCol w="626040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RFP 요구 규격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제안 규격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충족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아키텍처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All-NVMe SSD, NAS, 듀얼 컨트롤러, Cache 128GB↑, Scale-up/out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【모델 확정】 동급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인터페이스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1GbE 8포트↑, 10GbE 8포트↑ (SFP+ 포함), 25GbE SFP28 Host 8포트↑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동일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디스크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NVMe TLC 3.84TB × 6↑, RAID6 Usable 10TB↑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3.84TB × 【6↑】, RAID6 Usable 10TB↑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프로토콜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FC, iSCSI, NFS, CIFS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통합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가속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DPU Smart I/O 또는 동등 HW 오프로드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【제품 기능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 보호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CDP, 파일·데이터 잠금, Secure Erase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감사·연동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NAS 접근·변경 Audit, DNS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성능 제어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서비스별 QoS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복제·이전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Snapshot·Clone·Replication, 데이터 Migration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기술지원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Controller·SSD·NAS SW 36개월↑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제조사 36개월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280800" y="6589468"/>
            <a:ext cx="6332400" cy="52227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Usable 10TB는 RAID6 패리티와 시스템 영역을 제외한 값으로 산정하며, 산정 근거를 구성 설계서에 기재함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시스템별 기술 및 기능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2.3.1 가상화 솔루션 규격 충족 (ECR-003)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2.3 기능 요건 충족 — 가상화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(가용성·보호·자동화) HA·라이브 마이그레이션·DRS·내장 백업·RBAC·VMware 이미지 변환을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하이퍼바이저 기본 기능으로 충족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ECR-003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366101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2817180"/>
                <a:gridCol w="2425905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RFP 요구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충족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Intel·AMD 인증, HA, VMware·HPE·MS·Nutanix 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HPE Morpheus VM Essentials 【확정】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가용성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라이브 마이그레이션, 장애 시 자동 재시작, DRS, 스토리지 마이그레이션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클러스터 기본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 보호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내장 백업 (CIFS·NFS·S3), 타사 백업 통합, 신규 VM 자동 백업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서비스 플랜에 백업 정책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오브젝트·파일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S3 버킷·NFS·CIFS 탐색·업로드·다운로드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스토리지 NAS·S3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외부 스토리지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iSCSI·NFS·FC 상 VM 실행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제안 스토리지 iSCSI·NFS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자동화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Bash·PowerShell 프로비저닝·운영 워크플로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 초기화 스크립트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내장 사용자, AD·LDAP, SAML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대학 AD/LDAP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RBAC·VM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7개 권한 영역, 스냅샷·복제·템플릿·HW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역할 3종 (관리자·운영자·조회자)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라이선스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소켓 단위 또는 서버당 128코어↑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서버 2대 × 128코어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대시보드·보고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통합 대시보드, 이미지 변환, Activity Report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기본 기능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운영체제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RHEL 최신 버전, 수량은 제안사 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RHEL for Virtual Datacenters 2식 (호스트당, VM 무제한)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시스템별 기술 및 기능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2.4.1 유지보수 · 기술지원 · 교육 · 인수인계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2.4 유지관리 정책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(3년 책임 운영) 서버 3년 24x7 On-site, 스토리지 36개월 기술지원과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4시간 착수 · 8시간 복구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기준으로 장애를 처리하고, 대학이 자체 조치할 수 있도록 교육함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장애 대응 기준 &gt;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592000"/>
          <a:ext cx="6260400" cy="2361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장애 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장애 신고 후 4시간 이내 복구 작업 착수 (대학 감독 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장애 복구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신고 시각부터 8시간 이내 정상 서비스 복구, 장애처리 결과 보고서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정기점검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월 1회 하드웨어·펌웨어·로그·백업 상태 점검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비상연락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24시간 비상연락체계 (PM·엔지니어·제조사 기술지원)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유상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무상기간 이후 도입 금액의 10% 이내 요율 확인서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확장·이전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무상기간 중 대학 사정의 확장·이전 구축 기술지원 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061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교육 및 인수인계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295204"/>
          <a:ext cx="6260400" cy="146761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관리자 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서버 iLO·스토리지 관리·하이퍼바이저 VM 운영·백업 복구·경미 장애 조치 (실습)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인수인계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구축완료 보고서(규격·구성도·설정·사진·납품내역·유지보수 체계도), 관리자·사용자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운영지침서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업무흐름도·관리자 매뉴얼·사용자 매뉴얼 (한글파일), 검수 이전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시스템별 기술 및 기능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2.5.1 시스템 보안 및 사업 보안관리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2.5 보안 요건 충족 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(시스템·사업 이중 보안) 장비·가상화 계층의 접근통제와 감사 이력을 설정하고,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참여 인력·자료·PC·누출금지 정보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를 대학 보안 규정에 맞게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PMR-011, PMR-012, PMR-013, PMR-014, PMR-015, PMR-016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시스템 보안 적용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809612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계층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적용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TPM 2.0·보안 부팅, iLO 관리망 분리·기본 계정 변경, 펌웨어 최신화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가상화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RBAC 역할 분리, AD/LDAP 연동, Activity Report 감사, 콘솔 접근 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스토리지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NAS Audit 로그, 파일·데이터 잠금, 퇴역 시 Secure Erase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운영체제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RHEL 보안 업데이트, 불필요 서비스 비활성, 주요정보통신기반시설 기술적 취약점 기준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50961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사업 보안관리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743612"/>
          <a:ext cx="6260400" cy="1809612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보안관리 책임자 지정, 전원 보안서약서·대표자 보안각서 제출, 교체 시 대학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PC·자료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반입 PC 대학 보안 프로그램 설치·신고, 인터넷 연결 금지, 웹하드·웹메일 사용 금지, 이중 시건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누출금지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IP·구성도·계정·설정정보 등 13종 관리, 사업 종료 시 반환·소각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침해사고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불법 SW 사용 금지, 침해 발생 시 즉시 보고·격리·백업 기반 긴급복구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시스템별 기술 및 기능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2.6.1 관리방법론 및 상세 일정계획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2.6 프로젝트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(2개월 · 8주 완료) 계약 후 7일 내 사업수행계획서를 제출하고,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발주-입고-설치-시험-검수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를 8주 안에 마치며 주간·월간 보고로 진척을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PMR-002, PMR-003, PMR-006, PMR-007, PMR-008, PMR-010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상세 일정계획 (계약일 기준 8주)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7" cy="2700000"/>
        </p:xfrm>
        <a:graphic>
          <a:graphicData uri="http://schemas.openxmlformats.org/drawingml/2006/table">
            <a:tbl>
              <a:tblPr firstRow="0" bandRow="0"/>
              <a:tblGrid>
                <a:gridCol w="792455"/>
                <a:gridCol w="2139630"/>
                <a:gridCol w="416039"/>
                <a:gridCol w="416039"/>
                <a:gridCol w="416039"/>
                <a:gridCol w="416039"/>
                <a:gridCol w="416039"/>
                <a:gridCol w="416039"/>
                <a:gridCol w="416039"/>
                <a:gridCol w="416039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활동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1주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3주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4주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5주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6주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7주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8주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사업수행계획서 (7일 내)·착수보고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현행 조사·구성 설계·VM 계획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발주·입고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제조사 발주·납기 관리·입고 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설치·구성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랙 설치·스토리지·클러스터·VM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HA·마이그레이션·성능·백업 복구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다담 서비스 이관 리허설·전환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교육·검수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교육·운영지침서·구축완료 보고·검수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5364000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검수는 준공계 접수일부터 14일 이내 / 장비 입고 일정은 제조사 납기 확약 후 확정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0800" y="5580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보고 및 산출물 &gt;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316800" y="5813999"/>
          <a:ext cx="6260400" cy="146761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정기보고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업무일지 기반 주간·월간보고서, 착수·중간·완료보고서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수시보고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대학 요청 시 수시 보고서, 주요 이슈 당일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보안각서·사업수행계획서·장비/SW 안분내역서(계약 시), 구축완료 보고서·매뉴얼(검수 3일 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시스템별 기술 및 기능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기술부문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2.6.2 수행조직 · 품질 · 요구사항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2.6 프로젝트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(책임 있는 단일 수행) PM이 공급·설치·구성·이관을 총괄하고,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품질관리자(QAO)가 규격 대조와 시험 결과를 독립 점검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하며 요구사항을 끝까지 추적함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PMR-001, PMR-004, PMR-009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수행조직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1095570"/>
                <a:gridCol w="391275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담당 업무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사업관리자 (PM)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 총괄, 일정·위험·보고, 대학 협의 단일 창구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인프라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서버·스토리지 설치·구성, 네트워크·이중화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가상화·OS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하이퍼바이저 클러스터, VM·RHEL·백업 구성, 다담 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품질관리자 (QAO)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품질보증계획, 규격 대조·시험 결과 점검, 시정조치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제조사 기술지원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【제조사】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제품 기술지원·펌웨어·장애 대응 (기술지원 확약서)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683204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하도급 없이 수행하며, 제조사 기술지원은 확약서에 따른 제품 지원 범위로 함 / 인력 교체는 대학 사전 승인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0800" y="4899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품질·요구사항 관리 &gt;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316800" y="5133204"/>
          <a:ext cx="6260400" cy="1335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품질보증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품질보증계획서 수립, 단계별 품질 목표·점검, 결함 분석·시정조치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ECR·PMR 요구사항별 설계 반영 → 시험 항목 → 검수 증빙 추적표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입고 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납품 장비 규격·수량·시리얼을 요구 규격과 대조, 사진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제안사 일반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Ⅳ.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일반현황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조직 및 인원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주요사업내용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주요사업실적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제안사 일반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회사 개요 및 재무 현황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일반현황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(재무 건전성) 2010년 설립, 임직원 129명, 2025년 매출 111억 원의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디지털 서비스 전문기업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신용등급 BBB0 【확인서 첨부】를 보유함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회사명 / 대표자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주식회사 에이치나인 (HNINE) / 최우식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서울특별시 성동구 뚝섬로1길 25, 10층 (성수동1가, 서울숲한라에코밸리)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2010년 4월 (16년 6개월)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S/W개발 및 공급업, 서비스업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신용등급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BBB0 【신용평가등급확인서 첨부】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280800" y="4485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자본금 및 매출액 (단위: 천원)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4719204"/>
          <a:ext cx="6260400" cy="1335204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1565100"/>
                <a:gridCol w="1565100"/>
                <a:gridCol w="156510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자본금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매출액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9,885,377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9,460,127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11,116,740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부채비율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6162408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주요 연혁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6396407"/>
          <a:ext cx="6260400" cy="1674000"/>
        </p:xfrm>
        <a:graphic>
          <a:graphicData uri="http://schemas.openxmlformats.org/drawingml/2006/table">
            <a:tbl>
              <a:tblPr firstRow="0" bandRow="0"/>
              <a:tblGrid>
                <a:gridCol w="782550"/>
                <a:gridCol w="5477850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(주)에이치나인 법인 설립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2014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벤처기업 인증 획득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한국무역협회 1백만불 수출의 탑, iF Design Award (국립중앙박물관 MODU)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ICT AWARD KOREA GRAND PRIZE·GOLD PRIZE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조직 및 인원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제안사 일반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조직 구성 및 기술인력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조직 및 인원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(자체 기술인력) 6개 실·22개 팀,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특급 기술자 22명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포함한 기술인력 117명이 기획·개발·인프라·품질을 수행함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4874400" cy="50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800" y="23580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경영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32800" y="2430000"/>
            <a:ext cx="36684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CEO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81200" y="23580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CFO: 경영기획팀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6800" y="2926799"/>
            <a:ext cx="4874400" cy="50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4800" y="2926799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기획·디자인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432800" y="2998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UX실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673600" y="2998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비주얼실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914400" y="2998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인터렉션실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281200" y="2926799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서비스 기획·UI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6800" y="3495599"/>
            <a:ext cx="4874400" cy="50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4800" y="3495599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개발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432800" y="3567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서비스개발실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73600" y="3567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DT개발실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914400" y="3567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신사업개발실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281200" y="3495599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플랫폼·인프라·AI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16800" y="4064399"/>
            <a:ext cx="4874400" cy="50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4800" y="4064399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관리·품질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432800" y="4136399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PMO그룹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294000" y="4136399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품질관리팀(CTO)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81200" y="4064399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사업관리·품질보증</a:t>
            </a:r>
          </a:p>
        </p:txBody>
      </p:sp>
      <p:graphicFrame>
        <p:nvGraphicFramePr>
          <p:cNvPr id="51" name="Table 50"/>
          <p:cNvGraphicFramePr>
            <a:graphicFrameLocks noGrp="1"/>
          </p:cNvGraphicFramePr>
          <p:nvPr/>
        </p:nvGraphicFramePr>
        <p:xfrm>
          <a:off x="316800" y="4705200"/>
          <a:ext cx="6260400" cy="65120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017315"/>
                <a:gridCol w="1017315"/>
                <a:gridCol w="1017315"/>
                <a:gridCol w="1017315"/>
                <a:gridCol w="101731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기술등급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특급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고급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중급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초급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22명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16명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19명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60명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117명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주요사업내용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제안사 일반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3.1.1 분야별 주요사업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3.1 주요사업내용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(AI 서비스 운영 경험) 서비스 기획·개발부터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AI Agent·데이터 처리 인프라 구축·운영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까지 수행하여 AI 서비스가 요구하는 인프라 조건을 이해함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AI 서비스·Agent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1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SK가스 Trading AI Agent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SK하이닉스 MES AI Agent(MOSAIC)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92000" y="235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920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플랫폼 구축·운영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0" y="261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CELLO SQUARE 통합운영플랫폼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LG 그룹 홈페이지 운영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34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334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교육 플랫폼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360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국립중앙박물관 교육 플랫폼 '모두'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구축·유지보수 (공공)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92000" y="334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92000" y="334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데이터·표준 아키텍처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8000" y="360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SK하이닉스 표준 아키텍처 Ph1~Ph3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제조 DT 시스템 데이터 연계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주요사업실적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제안사 일반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4.1.1 최근 3년 서버 납품 및 유사사업 실적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4.1 주요사업실적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(정직한 실적 제시) 최근 3년 서버 납품 실적과 대학·공공기관 대상 유사사업 실적을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별지서식 3·4와 증명서로 제출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최근 3년 서버 납품 실적 [별지서식 3·4] &gt;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592000"/>
          <a:ext cx="6260400" cy="990000"/>
        </p:xfrm>
        <a:graphic>
          <a:graphicData uri="http://schemas.openxmlformats.org/drawingml/2006/table">
            <a:tbl>
              <a:tblPr firstRow="0" bandRow="0"/>
              <a:tblGrid>
                <a:gridCol w="2347650"/>
                <a:gridCol w="1173825"/>
                <a:gridCol w="1173825"/>
                <a:gridCol w="782550"/>
                <a:gridCol w="782550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금액(천원)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【서버 납품 실적 1】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【서버 납품 실적 2】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3690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대학·공공기관 대상 유사사업 실적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3924000"/>
          <a:ext cx="6260400" cy="1188734"/>
        </p:xfrm>
        <a:graphic>
          <a:graphicData uri="http://schemas.openxmlformats.org/drawingml/2006/table">
            <a:tbl>
              <a:tblPr firstRow="0" bandRow="0"/>
              <a:tblGrid>
                <a:gridCol w="2738925"/>
                <a:gridCol w="1330335"/>
                <a:gridCol w="1330335"/>
                <a:gridCol w="860805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금액(원)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25년 국립중앙박물관 모두 플랫폼 개선 및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2025.07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86,200,000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2024년 국립중앙박물관 교육 플랫폼 [모두]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2024.07 ~ 2025.01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5184734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실적 인정 범위(평가기준 '유사사업' / 서식 '서버 납품')는 질의 후 확정 — 서버 납품 실적이 없으면 수행실적 7점(최저 구간) 적용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기타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Ⅴ.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추가 제안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추가 제안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Ⅴ. 기타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추가 제안 및 제약·고려사항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추가 제안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(추가 비용 없이) 다담 서비스 안정 운영을 앞당기는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운영 표준화·모니터링·확장 계획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함께 제공함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① 표준 VM 서비스 플랜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1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Web·AI API·DB 표준 템플릿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신규 VM 자동 백업 포함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92000" y="235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920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② 용량 모니터링 보고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0" y="261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월 정기점검 시 CPU·메모리·스토리지 추이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증설 필요 시점 사전 안내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34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334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③ 비교과 통합 확장안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360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테넌트·QoS 기반 자원 분리안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증설 규모·비용 초안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92000" y="334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92000" y="334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④ 장애 대응 모의훈련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8000" y="360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호스트 장애 HA 동작 훈련 1회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운영자 자체 조치 절차 숙달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0800" y="4392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제약 및 고려사항 &gt;</a:t>
            </a:r>
          </a:p>
        </p:txBody>
      </p:sp>
      <p:graphicFrame>
        <p:nvGraphicFramePr>
          <p:cNvPr id="43" name="Table 42"/>
          <p:cNvGraphicFramePr>
            <a:graphicFrameLocks noGrp="1"/>
          </p:cNvGraphicFramePr>
          <p:nvPr/>
        </p:nvGraphicFramePr>
        <p:xfrm>
          <a:off x="316800" y="4626000"/>
          <a:ext cx="6260400" cy="133520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다담 구성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애플리케이션 구성·용량 미공개 → 착수 시 확인 후 VM 계획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LLM 연산 자원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 사업 서버에는 GPU가 없음 — LLM은 외부 API 또는 별도 자원 전제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네트워크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코어 스위치 포트·VLAN·방화벽은 대학 정보운영팀과 협의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5876</TotalTime>
  <Words>54759</Words>
  <Application>Microsoft Office PowerPoint</Application>
  <PresentationFormat>A4 용지(210x297mm)</PresentationFormat>
  <Paragraphs>8851</Paragraphs>
  <Slides>220</Slides>
  <Notes>137</Notes>
  <HiddenSlides>0</HiddenSlides>
  <MMClips>0</MMClips>
  <ScaleCrop>false</ScaleCrop>
  <HeadingPairs>
    <vt:vector size="6" baseType="variant">
      <vt:variant>
        <vt:lpstr>사용한 글꼴</vt:lpstr>
      </vt:variant>
      <vt:variant>
        <vt:i4>22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220</vt:i4>
      </vt:variant>
    </vt:vector>
  </HeadingPairs>
  <TitlesOfParts>
    <vt:vector size="243" baseType="lpstr">
      <vt:lpstr>a옛날사진관5</vt:lpstr>
      <vt:lpstr>G마켓 산스 TTF Bold</vt:lpstr>
      <vt:lpstr>G마켓 산스 TTF Medium</vt:lpstr>
      <vt:lpstr>KoPubWorld돋움체 Bold</vt:lpstr>
      <vt:lpstr>KoPubWorld돋움체 Medium</vt:lpstr>
      <vt:lpstr>KoPubWorld바탕체 Light</vt:lpstr>
      <vt:lpstr>KoPub돋움체_Pro Medium</vt:lpstr>
      <vt:lpstr>KoPub바탕체 Bold</vt:lpstr>
      <vt:lpstr>Pretendard</vt:lpstr>
      <vt:lpstr>경기천년제목 Bold</vt:lpstr>
      <vt:lpstr>나눔스퀘어</vt:lpstr>
      <vt:lpstr>나눔스퀘어 Bold</vt:lpstr>
      <vt:lpstr>나눔스퀘어_ac</vt:lpstr>
      <vt:lpstr>나눔스퀘어_ac ExtraBold</vt:lpstr>
      <vt:lpstr>맑은 고딕</vt:lpstr>
      <vt:lpstr>맑은 고딕</vt:lpstr>
      <vt:lpstr>함초롬바탕</vt:lpstr>
      <vt:lpstr>Aldhabi</vt:lpstr>
      <vt:lpstr>Arial</vt:lpstr>
      <vt:lpstr>Calibri</vt:lpstr>
      <vt:lpstr>Calibri Light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황보정운</dc:creator>
  <cp:lastModifiedBy>황보정운</cp:lastModifiedBy>
  <cp:revision>239</cp:revision>
  <cp:lastPrinted>2026-06-25T07:15:15Z</cp:lastPrinted>
  <dcterms:created xsi:type="dcterms:W3CDTF">2021-09-24T12:12:26Z</dcterms:created>
  <dcterms:modified xsi:type="dcterms:W3CDTF">2026-07-27T02:17:50Z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