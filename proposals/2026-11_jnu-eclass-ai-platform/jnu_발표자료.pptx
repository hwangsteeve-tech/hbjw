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기반 지능형 플랫폼(e클래스2.0) 구축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전남대학교 교육혁신본부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전남대학교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4536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 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 및 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특성 · 목표 이해, 위험 고려 대안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 및 개발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 · 실현 가능성, 방법론 · 경험 ·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11~13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장비구성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규격 충족, 인터페이스 · 확장성, 운영 · 유지관리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및 보안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구체적 분석 · 구현 방안, 보안 설계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 16~17, 19~23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요구사항 및 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전환 · 검증 · 에러 처리, 제약 충족 ·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성능 분석 · 구현 ·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방안 장단점 · 최적안, UI 설계 · 검토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 및 일정계획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진도 · 보안 · 형상, 활동 · 중간목표 · 자원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28~29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시험운영 및 교육훈련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운영 방법 · 조직, 교육 방법 ·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 및 기밀보안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· 유지보수, 기밀 보호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 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· 장애대응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적용 기술 및 방법론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성능 및 품질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관리 및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이해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이해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현황과 개선 방향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목표시스템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추진 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위험 · 조건별 대응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AI와 함께 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가르치고 배우는</a:t>
            </a: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 전남대 e클래스2.0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LMS 전면 재구축 + AI 교수 · 학습 지원 + 교과 · 비교과 통합 포털 — 120일 안에 학기 운영 영향 없이 전환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전남대학교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교육혁신본부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계약일로부터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120일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4억 9,500만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131개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기능 15개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현황 문제와 e클래스2.0 개선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추진 배경을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교수자 부담 · 학습자 경험 · 학습위기 · 다국어 · 통합 운영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다섯 축으로 묶고,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요구사항과 1:1로 연결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교수자의 반복 업무는 AI가 덜고, 학습자는 수업 자료 기반 답을 받고, 학교는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위기 학생을 먼저 찾는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플랫폼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829919" cy="4715998"/>
        </p:xfrm>
        <a:graphic>
          <a:graphicData uri="http://schemas.openxmlformats.org/drawingml/2006/table">
            <a:tbl>
              <a:tblPr firstRow="0" bandRow="0"/>
              <a:tblGrid>
                <a:gridCol w="1173892"/>
                <a:gridCol w="2667937"/>
                <a:gridCol w="2988090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문제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e클래스2.0 개선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부담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퀴즈 · 루브릭 수작업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퀴즈 · 루브릭 · 문제출제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부담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학기마다 강의실 재구성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코스워크 · 차시 · 복사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학습자 경험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질문해도 답이 늦음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· Q&amp;A · 요약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학습위기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부진 · 이탈 늦게 파악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위기 예측 · 조기경고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다국어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유학생 강의 이해 어려움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자막 · 실시간 번역 12개 언어+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 · 비교과 분리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 · 성장마루 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31592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92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131개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92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전부 수용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46560" y="1260000"/>
            <a:ext cx="222264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560" y="131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15개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560" y="1782000"/>
            <a:ext cx="222264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기능 (SFR-073~087)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920" y="2160000"/>
            <a:ext cx="455328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7919" y="22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사업범위 10개 항목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87919" y="24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9919" y="2484000"/>
            <a:ext cx="444528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LMS 재구축 · AI 교수학습 · 자막 · 번역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모바일 앱 · LCMS · 이관 · 아카이브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비교과 통합 · 학습위기 · 포털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목표시스템 — 표준 LMS 엔진 + AI 서비스 계층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사용자 채널 · LMS · AI · 미디어 · 연계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5계층으로 나누고, 학내 클라우드의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WEB/WAS 2식 · DB · Cache · 개발서버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위에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플러그인으로 교체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오픈소스 온프레미스와 OpenAI · Anthropic · Google API를 같은 화면에서 관리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965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사용자 채널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학생 · 교수자 포털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468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e클래스2.0 반응형 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456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모바일 앱 (iOS · Android)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4400" y="1324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MOOC · 비학위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9200" y="1260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한 · 영 · 일 · 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000" y="2106000"/>
            <a:ext cx="965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LMS 서비스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480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강좌 · 차시 · 학습활동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468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출결 · 시험 · 과제 · 성적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56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토론 · 팀 · 설문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4400" y="2170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관리 · 통계 · 모니터링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69200" y="2106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SFR-004~072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000" y="2951999"/>
            <a:ext cx="965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480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튜터 · Q&amp;A · 요약 · 번역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468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퀴즈 · 문제 · 루브릭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456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자막 · 실시간 자막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4400" y="3016799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학습위기 예측 · LLM 관리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69200" y="2951999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SFR-073~087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000" y="3798000"/>
            <a:ext cx="965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0000" y="379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미디어 · 데이터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480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CMS · 트랜스코더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468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스트리밍 · VOD CDN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456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벡터 DB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44400" y="3862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아카이브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69200" y="3798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ECR-002 · 003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000" y="4644000"/>
            <a:ext cx="965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464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480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학사행정 · 성적 · 출석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468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SSO · 전자출결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456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성장마루 · KOCW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4400" y="4708800"/>
            <a:ext cx="20448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Mail · SMS · 강의녹화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69200" y="4644000"/>
            <a:ext cx="180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SFR-003 · 005 · 006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4대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표준 기반 신속 구축 · AI 교수학습 · 데이터 기반 학습지원 · 무중단 전환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120일 안에 개강 전 오픈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표준 기반 신속 구축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IMS LTI · SCORM 지원 LMS 엔진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전남대 고유 기능만 맞춤 개발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3주 차 프로토타입 시연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89100" y="1260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1100" y="1303200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AI 교수학습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1100" y="1555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00" y="1584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LLM 교체형 AI 서비스 계층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답변마다 교안 · 영상 출처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교수자 검토 후 공개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데이터 기반 학습지원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 로그 표준화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부진 · 중단 · 이탈 예측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 1회 조기경고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9100" y="3915000"/>
            <a:ext cx="32751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61100" y="3958199"/>
            <a:ext cx="31311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무중단 전환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1100" y="4210200"/>
            <a:ext cx="31311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3100" y="4239000"/>
            <a:ext cx="31671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방학 중 선 이관 · 병행 검증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개강 전 전환 · 4주 전 동결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49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 e클래스 아카이브 조회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6199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26199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6199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페이지 응답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51700" y="12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51700" y="13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3,000명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1700" y="17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출석 동시접속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26199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26199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12개+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6199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자막 · 번역 언어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51700" y="2160000"/>
            <a:ext cx="2317500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1700" y="2214000"/>
            <a:ext cx="23175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1700" y="2682000"/>
            <a:ext cx="2317500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결함 조치율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위험 요소와 조건별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 이해 및 추진 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6대 위험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착수 시 등록하고, RFP에 정해지지 않은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AI 추론 자원 · 현행 LMS · 화상강의 라이선스 · AI 기본법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은 경우별로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어떤 조건이 확정되어도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착수 2주 안에 방식을 정하고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일정 · 범위 변경 없이 진행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600" cy="4715998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120일 단기 일정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엔진 · 병렬 개발, 개강 필수 기능 우선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학기 중 전환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방학 중 전환, 구 e클래스 병행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 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 이관 3회 · 건수 대사 · 롤백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답변 오류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 범위 제한 · 출처 · 비공개 전환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내 API 명세 · 임시 파일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73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· API 비용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경량 모델 · 캐시 · 사용량 한도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7600" y="1260000"/>
          <a:ext cx="5691600" cy="422705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미확정 조건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경우 A / 경우 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추론 자원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학내 GPU → 온프레미스 / 미제공 → 클라우드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LMS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구조 → 직접 변환 / 비표준 → 협조 추출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화상강의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 계정 → API / 미보유 → 링크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기본법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→ 위험관리 · 고지 / 비해당 →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77600" y="5595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인공지능 기본법 이행 비용은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제안가격에 포함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 기술 및 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적용 기술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AI 서비스 계층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프로토타입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개발방법론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적용 기술 — 검증된 표준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적용 기술 및 방법론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영역마다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공개 표준과 운영 실적이 있는 기술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쓰고, 상용 S/W는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RFP가 요구한 항목만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구매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6829919" cy="5220000"/>
        </p:xfrm>
        <a:graphic>
          <a:graphicData uri="http://schemas.openxmlformats.org/drawingml/2006/table">
            <a:tbl>
              <a:tblPr firstRow="0" bandRow="0"/>
              <a:tblGrid>
                <a:gridCol w="1614344"/>
                <a:gridCol w="5215575"/>
              </a:tblGrid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코어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LMS 엔진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— LTI · SCORM · QTI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오픈소스 LLM + vLLM, LLM 게이트웨이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검색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· 벡터 DB · 임베딩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음성 · 번역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Whisper 계열 STT · LLM 번역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로그 표준화 · ML 예측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미디어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트랜스코더 · 스트리밍(영구) · VOD CDN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인증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REST API · DB 연계 · SSO 3식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920" y="1260000"/>
            <a:ext cx="455328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7919" y="1303200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확장성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87919" y="1555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9919" y="1584000"/>
            <a:ext cx="444528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기능별 컴포넌트 · 플러그인 구조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LLM · RAG 데이터 소스 동적 추가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LTI로 외부 학습도구 연결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3차 확장 시 모듈 단위 추가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920" y="3915000"/>
            <a:ext cx="455328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7919" y="3958199"/>
            <a:ext cx="440928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실현 가능성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87919" y="4210200"/>
            <a:ext cx="440928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9919" y="4239000"/>
            <a:ext cx="444528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엔진으로 일정 위험 감소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3주 차 동작 시연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제품 · 모델은 착수 2주 내 확정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96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기술적용계획표 [별첨 12] 제출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AI 서비스 계층 — 근거를 제시하는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적용 기술 및 방법론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모든 AI 기능이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하나의 LLM 게이트웨이 · RAG 엔진 · 평가 체계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함께 써서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모델을 바꿔도 기능은 그대로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클라우드 API 요청에서는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학번 · 성명 · 연락처를 제거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하고, 학습 데이터는 학내에만 저장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자료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50344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264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7264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벡터화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1584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85208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28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128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 (RAG)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6448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720072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9919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9919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(LLM)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312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954935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18560" y="1260000"/>
            <a:ext cx="215064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18560" y="126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· 출처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1760" y="1602000"/>
            <a:ext cx="206424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1835999"/>
          <a:ext cx="11545199" cy="4140000"/>
        </p:xfrm>
        <a:graphic>
          <a:graphicData uri="http://schemas.openxmlformats.org/drawingml/2006/table">
            <a:tbl>
              <a:tblPr firstRow="0" bandRow="0"/>
              <a:tblGrid>
                <a:gridCol w="2220230"/>
                <a:gridCol w="7400769"/>
                <a:gridCol w="1924200"/>
              </a:tblGrid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요소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게이트웨이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온프레미스 · OpenAI · Anthropic · Google 플러그인, 응답시간 · 토큰 모니터링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RAG 엔진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txt · docx · md · csv · html · xlsx 학습, 데이터 소스 동적 추가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SFR-082 · 087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대화 · 언어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스레드 · 공유, 입력 언어 자동 감지 · 같은 언어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SFR-083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프로토타입 · 개발방법론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적용 기술 및 방법론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3주 차에 실제 강의자료로 동작하는 프로토타입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시연하고, LMS는 단계형 · AI는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평가셋 기반 2주 반복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개발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시연 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· 차시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시험 강좌 · 동영상 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첫 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강의자료 1과목 질의응답 · 출처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자동자막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 영상 자막 · 영어 번역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· 교수자 위젯 시안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080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718632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5552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552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872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836424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3344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3344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664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954216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1136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1136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456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1072008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889280" y="1260000"/>
            <a:ext cx="97992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889280" y="1260000"/>
            <a:ext cx="97992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32480" y="1602000"/>
            <a:ext cx="89352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177600" y="1835999"/>
            <a:ext cx="5691600" cy="227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9600" y="1879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방법론 적용 경험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49600" y="2131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1600" y="2160000"/>
            <a:ext cx="5583600" cy="1917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교육 플랫폼 '모두' — UX 리서치 + 단계형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Trading AI Agent — 평가셋 반복형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SKHy 표준 아키텍처 — 산출물 중심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CELLO SQUARE — 단계형 + 단계 오픈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7600" y="4203000"/>
            <a:ext cx="5691600" cy="227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9600" y="4246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단계별 산출물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9600" y="4498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1600" y="4527000"/>
            <a:ext cx="5583600" cy="1917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착수: 사업수행계획서 (10일 이내)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분석 · 설계: 요구사항정의서 · 설계서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시험: 통합 · 성능 · 보안 결과서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726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종료: 완료보고서 · SW사업정보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 및 기능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시스템 장비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LMS 기능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AI 기능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포털 · 통합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보안 · 데이터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시스템 장비 구성 — 학내 클라우드 · 미디어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RFP 기준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서버 5식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학내 클라우드에 구성하고, 트랜스코더 · 스트리밍(영구)과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계약기간 무제한 VOD CDN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제공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OS · WAS · DBMS 라이선스와 기술지원, SSO 클라이언트 3식은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당사 부담 · 제안가격 포함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6209016" cy="4716000"/>
        </p:xfrm>
        <a:graphic>
          <a:graphicData uri="http://schemas.openxmlformats.org/drawingml/2006/table">
            <a:tbl>
              <a:tblPr firstRow="0" bandRow="0"/>
              <a:tblGrid>
                <a:gridCol w="1826181"/>
                <a:gridCol w="3408872"/>
                <a:gridCol w="973963"/>
              </a:tblGrid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 (vCore · GB · GB)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WEB/WAS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 · 32 · 100 (부하 분산)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DB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 · 32 · 500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Cache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 · 8 · 100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개발서버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· 4 · 300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추론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【GPU 제공 여부 확정】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695018" y="1260000"/>
            <a:ext cx="1145045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95018" y="1260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8218" y="1602000"/>
            <a:ext cx="1058645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7868863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8063" y="1260000"/>
            <a:ext cx="1145045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38063" y="1260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1263" y="1602000"/>
            <a:ext cx="1058645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921190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81109" y="1260000"/>
            <a:ext cx="1145045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81109" y="1260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CDN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4309" y="1602000"/>
            <a:ext cx="1058645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10554954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724154" y="1260000"/>
            <a:ext cx="1145045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724154" y="1260000"/>
            <a:ext cx="114504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67354" y="1602000"/>
            <a:ext cx="1058645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695018" y="1835999"/>
            <a:ext cx="5174181" cy="202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7018" y="1879200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5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운영 · 유지관리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7018" y="2131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9018" y="2160000"/>
            <a:ext cx="5066181" cy="166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78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CPU · 메모리 · 디스크 감시 · SMS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78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원클릭 CMS ↔ CDN 전환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78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강의녹화 · 저작 S/W 자동 배포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478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현행 LMS 장비와 이관 기간 병행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95018" y="3951000"/>
            <a:ext cx="5174181" cy="202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7018" y="3994200"/>
            <a:ext cx="5030181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5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미디어 S/W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7018" y="4246200"/>
            <a:ext cx="5030181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9018" y="4275000"/>
            <a:ext cx="5066181" cy="166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37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트랜스코더 1식 · 멀티 코덱 · 큐 처리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37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스트리밍 1식 영구 · HLS · 로드밸런싱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637"/>
              </a:spcAft>
              <a:buFont typeface="Segoe UI Symbol"/>
              <a:buChar char="✓"/>
            </a:pPr>
            <a:r>
              <a:rPr sz="135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VOD CDN 용량 · 트래픽 무제한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교수자 기능 — 차시 설계 · 평가 · 독려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주차 · 토픽 아래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차시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설계하고, 시험 · 과제 · 팀 · 동료 평가를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성적부로 자동 집계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19998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코스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 · 토픽 · 차시, 모듈 이동 · 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분반 · 합반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분반 동기화 · 합반 · 학기 복사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· 과제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문제은행 · 첨삭 · 표절검사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· 동료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팀 편성 · 공동 문서 · 익명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출석 · 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차시별 출석부 · 진도율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독려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미학습 선별 → 푸시 · 메일 · SMS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1600" y="1260000"/>
            <a:ext cx="2233800" cy="28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현재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5400" y="1260000"/>
            <a:ext cx="2233800" cy="28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8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e클래스2.0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7600" y="1584000"/>
            <a:ext cx="936000" cy="158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학기 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1600" y="1584000"/>
            <a:ext cx="2233800" cy="158399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1600" y="1602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강의실 새로 구성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73400" y="2268000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35400" y="1584000"/>
            <a:ext cx="2233800" cy="1583999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5400" y="1602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이전 학기 복사 · 분반 동기화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7600" y="3240000"/>
            <a:ext cx="936000" cy="158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1600" y="3240000"/>
            <a:ext cx="2233800" cy="158399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1600" y="3258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문항 직접 작성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473400" y="3923999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35400" y="3240000"/>
            <a:ext cx="2233800" cy="1583999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35400" y="3258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생성 → 검토 → 문제은행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7600" y="4896000"/>
            <a:ext cx="936000" cy="1583999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학생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1600" y="4896000"/>
            <a:ext cx="2233800" cy="158399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1600" y="4914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미학습자 수동 확인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73400" y="5579999"/>
            <a:ext cx="144000" cy="216000"/>
          </a:xfrm>
          <a:prstGeom prst="rightArrow">
            <a:avLst/>
          </a:prstGeom>
          <a:solidFill>
            <a:srgbClr val="9DB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35400" y="4896000"/>
            <a:ext cx="2233800" cy="1583999"/>
          </a:xfrm>
          <a:prstGeom prst="rect">
            <a:avLst/>
          </a:prstGeom>
          <a:solidFill>
            <a:srgbClr val="E3E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35400" y="4914000"/>
            <a:ext cx="2233800" cy="158399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자동 선별 · 독려 발송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학습자 · 출결 · 모바일 · 원격수업 지침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학습자 메인에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할 일 · 마감 · 진도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모으고, 출석은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온 · 오프라인 통합 · 동시 3,000명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앱은 iOS · Android 스토어 등록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학습자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할 일 · 마감 · 공지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이어보기 · 2.0배속 · 자막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진도 · 출석 · 성적 그래프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4800" y="1260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86800" y="1303200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스마트 출석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86800" y="1555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68800" y="1584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번호 · 사진 · 비콘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온 · 오프라인 통합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동시 3,000명 · 부정 방지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모바일 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iOS · Android 2종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스토어 등록 · 운영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푸시 알림 · 과제 제출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4800" y="3915000"/>
            <a:ext cx="2800800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86800" y="3958199"/>
            <a:ext cx="2656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원격수업 지침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86800" y="4210200"/>
            <a:ext cx="2656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68800" y="4239000"/>
            <a:ext cx="2692800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차시 학습분량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대리출석 본인 인증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부족 차시 일괄 표시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76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화상강의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Zoom · Teams 연계, 참여 시간 출결 반영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· DM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 알림 채널 · 1:1 메시지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MOOC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정규 → 공개 전환, 기수 · 수료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동기화 모니터링 · 통계 · SMS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부정행위 방지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전체화면 · 단축키 차단 · 1기기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교수 · 학습 지원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AI 자막 · 실시간 번역 · 문서 번역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업로드 영상은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자동자막 12개 언어+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대면 수업은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실시간 자막 최대 4개 언어 동시 · QR 개인 자막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교수자가 등록한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강좌 용어집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자막 · 번역에 반영해 전공 용어 오인식을 줄임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128396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음성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041996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1481196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50396" y="1260000"/>
            <a:ext cx="1128396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650396" y="1260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3596" y="1602000"/>
            <a:ext cx="1041996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2807593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76793" y="1260000"/>
            <a:ext cx="1128396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6793" y="1260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9993" y="1602000"/>
            <a:ext cx="1041996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413398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3189" y="1260000"/>
            <a:ext cx="1128396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03189" y="1260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번역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6389" y="1602000"/>
            <a:ext cx="1041996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ight Arrow 25"/>
          <p:cNvSpPr/>
          <p:nvPr/>
        </p:nvSpPr>
        <p:spPr>
          <a:xfrm>
            <a:off x="5460386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29586" y="1260000"/>
            <a:ext cx="1128396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29586" y="1260000"/>
            <a:ext cx="1128396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72786" y="1602000"/>
            <a:ext cx="1041996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4000" y="1835999"/>
          <a:ext cx="6433982" cy="4140000"/>
        </p:xfrm>
        <a:graphic>
          <a:graphicData uri="http://schemas.openxmlformats.org/drawingml/2006/table">
            <a:tbl>
              <a:tblPr firstRow="0" bandRow="0"/>
              <a:tblGrid>
                <a:gridCol w="1754722"/>
                <a:gridCol w="4679260"/>
              </a:tblGrid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자동자막 (073)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시 생성 · 교정 · 학습자 언어 선택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문서뷰어 (076)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서식 유지 번역본 열람 · 다운로드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35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자막 (077)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4개 언어 동시 · 스크립트 · 요약 · 공개 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6919982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9982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12개+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9982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자막 언어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48591" y="1260000"/>
            <a:ext cx="2420608" cy="79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48591" y="1314000"/>
            <a:ext cx="2420608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8591" y="1782000"/>
            <a:ext cx="2420608" cy="25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실시간 동시 언어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19982" y="2160000"/>
            <a:ext cx="4949217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지원 언어는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유학생 국적 기준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으로 확정 </a:t>
            </a:r>
            <a:r>
              <a:rPr sz="1207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 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19982" y="2639811"/>
            <a:ext cx="4949217" cy="33361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1982" y="2683011"/>
            <a:ext cx="4805217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대면 수업 활용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1982" y="2935011"/>
            <a:ext cx="4805217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3982" y="2963811"/>
            <a:ext cx="4841217" cy="2976188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교안 화면 하단 실시간 한글 · 다국어 자막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학생은 QR로 자기 언어 자막 선택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수업 후 스크립트 · 요약 공개 설정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5. AI 튜터 · Q&amp;A · 요약 · 개인화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오픈소스 LLM + RAG로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수강 강좌 자료에 근거한 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수준별로 주고,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답마다 교안 쪽 · 영상 시점 출처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붙임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튜터 (082)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7종 문서 학습 · 상태값 · 플러그인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Q&amp;A (083)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출처 · FAQ · 파라미터 · 스레드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요약 · 번역 (084)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대비 · 주차별 · 과제 지시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개인화 (086)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 · 학년 · 전공 맞춤 · 공지 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관리 (087)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플러그인 교체 · 사용량 모니터링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답변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ight Arrow 21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6" name="Rectangle 25"/>
          <p:cNvSpPr/>
          <p:nvPr/>
        </p:nvSpPr>
        <p:spPr>
          <a:xfrm>
            <a:off x="61776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76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76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답변 출처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774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774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74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모델 교체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7600" y="2664000"/>
            <a:ext cx="56916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9600" y="270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교수자 통제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9600" y="2959199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1600" y="2987999"/>
            <a:ext cx="558360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강의실별 AI 튜터 사용 여부 · 답변 범위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요약 · 번역은 승인 후 공개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대화 기록 저장 · 재개설 과목 재사용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6. AI 출제 · 루브릭 · 코스워크 · 토론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강의자료 · 영상 구간에서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난이도 · 목적 · 유형을 정해 문항을 생성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루브릭 · 피드백 · 토론 요약은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교수자 확정 후 공개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3059509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000" y="130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퀴즈 생성 (074)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55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000" y="1584000"/>
            <a:ext cx="2951509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영상 구간 · 난이도 지정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복습 가이드 (쪽 · 시점)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자동 평가 · 피드백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3509" y="1260000"/>
            <a:ext cx="3059509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5509" y="130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문제출제 (085)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5509" y="155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509" y="1584000"/>
            <a:ext cx="2951509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문제은행 · 난이도 분류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보충자료 추천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부정방지 솔루션 연동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000" y="3915000"/>
            <a:ext cx="3059509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000" y="3958199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코스워크 (075)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" y="4210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000" y="4239000"/>
            <a:ext cx="2951509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강의 유형별 템플릿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가져오기 · 내보내기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모듈 이동 · 백업 · 복구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3509" y="3915000"/>
            <a:ext cx="3059509" cy="256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5509" y="3958199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과제 · 토론 (079~081)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45509" y="4210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7509" y="4239000"/>
            <a:ext cx="2951509" cy="2205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루브릭 · 과제 도우미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토론 요약 · 참여 분석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694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협업 과제 · 버전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95018" y="1260000"/>
            <a:ext cx="1592727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95018" y="1260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8218" y="1602000"/>
            <a:ext cx="1506327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9" name="Right Arrow 28"/>
          <p:cNvSpPr/>
          <p:nvPr/>
        </p:nvSpPr>
        <p:spPr>
          <a:xfrm>
            <a:off x="8316545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85745" y="1260000"/>
            <a:ext cx="1592727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485745" y="1260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8945" y="1602000"/>
            <a:ext cx="1506327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3" name="Right Arrow 32"/>
          <p:cNvSpPr/>
          <p:nvPr/>
        </p:nvSpPr>
        <p:spPr>
          <a:xfrm>
            <a:off x="10107272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276472" y="1260000"/>
            <a:ext cx="1592727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276472" y="1260000"/>
            <a:ext cx="1592727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활용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9672" y="1602000"/>
            <a:ext cx="1506327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6695018" y="1835999"/>
            <a:ext cx="5174181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AI 결과물은 모두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초안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— 교수자가 확인한 뒤에만 학생에게 공개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695018" y="2315811"/>
          <a:ext cx="5174181" cy="4164185"/>
        </p:xfrm>
        <a:graphic>
          <a:graphicData uri="http://schemas.openxmlformats.org/drawingml/2006/table">
            <a:tbl>
              <a:tblPr firstRow="0" bandRow="0"/>
              <a:tblGrid>
                <a:gridCol w="1724727"/>
                <a:gridCol w="3449454"/>
              </a:tblGrid>
              <a:tr h="8328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328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문항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선다 · 단답 · 서술 · O/X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28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난이도 · 목적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형성평가 · 중간 · 기말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28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 언어 이상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283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· 수동 · 루브릭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7. 학습위기 예측 · 포털 · 성장마루 통합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 로그로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부진 · 중단 · 이탈 위험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주 1회 예측하고, 역할별 포털에서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교과 · 비교과 · 진단 결과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한 화면으로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위기 경고 학생에게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성장마루 비교과 프로그램을 바로 추천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교과 · 비교과 통합의 효과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76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4000" y="1260000"/>
            <a:ext cx="176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200" y="1602000"/>
            <a:ext cx="167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4" name="Right Arrow 13"/>
          <p:cNvSpPr/>
          <p:nvPr/>
        </p:nvSpPr>
        <p:spPr>
          <a:xfrm>
            <a:off x="2118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87200" y="1260000"/>
            <a:ext cx="176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87200" y="1260000"/>
            <a:ext cx="176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0400" y="1602000"/>
            <a:ext cx="167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8" name="Right Arrow 17"/>
          <p:cNvSpPr/>
          <p:nvPr/>
        </p:nvSpPr>
        <p:spPr>
          <a:xfrm>
            <a:off x="4081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50400" y="1260000"/>
            <a:ext cx="17652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250400" y="1260000"/>
            <a:ext cx="17652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3600" y="1602000"/>
            <a:ext cx="16788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240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0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0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부진 · 중단 · 이탈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238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238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주 1회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238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위험 예측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000" y="2664000"/>
            <a:ext cx="5691600" cy="331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000" y="270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조기경고 기준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6000" y="2959199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8000" y="2987999"/>
            <a:ext cx="5583600" cy="2952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출결 규정 기준 부진 · 결석 누적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과제 미제출 · 점수 미달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집중도 · 상호작용 · 제출 패턴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77600" y="1260000"/>
          <a:ext cx="5691600" cy="4716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대시보드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진도 · 제출 · 출석 차트, 할 일 통합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 포털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교과 · 성적 · 비교과 · 진단 위젯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 포털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지도학생 · 강의실 · 역량진단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32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· 데이터 유지, 화면 일원화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8. 보안 · 데이터 이관 · 제약사항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기술 및 기능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SW 개발보안 · 모의해킹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취약점 0건에 마무리하고, 데이터는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3회 모의 이관 · 건수 대사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오류 없이 전환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600" cy="473105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로그인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5회 실패 10분 차단 · 동시 로그인 차단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암호화 저장 · 마스킹 · 열람 이력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취약점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SQL 삽입 · XSS · 웹쉘 차단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462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전문가 취약점 점검 · 모의해킹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24000" y="6099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웹 표준 · 3종 브라우저 ·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접근성 2.2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· ActiveX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선 이관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5" name="Right Arrow 14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모의 이관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9" name="Right Arrow 18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최종 이관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3" name="Right Arrow 22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아카이브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177600" y="1835999"/>
          <a:ext cx="5691600" cy="464400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3912975"/>
              </a:tblGrid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건수 · 합계 대사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누락 0건 · 성적 합계 일치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에러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원인별 자동 재이관 · 보정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61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DB 1일 1회 · 월 복구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성능 및 품질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성능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인터페이스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성능 — 3초 응답 · 3,000명 출석 · 5분 자동 복구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성능 및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캐시 · 쿼리 튜닝 · CDN으로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모든 페이지 3초 이내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만들고, 부하 시험으로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개강 첫 주 수준을 재현해 증명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5691599" cy="5220000"/>
        </p:xfrm>
        <a:graphic>
          <a:graphicData uri="http://schemas.openxmlformats.org/drawingml/2006/table">
            <a:tbl>
              <a:tblPr firstRow="0" bandRow="0"/>
              <a:tblGrid>
                <a:gridCol w="1593647"/>
                <a:gridCol w="1252152"/>
                <a:gridCol w="2845800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페이지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Redis 캐시 · 쿼리 튜닝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 단계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장기 작업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진행 팝업 · 비동기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대량 조회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5,000건+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 안내 · 백그라운드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2식 · 자동 재기동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177600" y="1260000"/>
          <a:ext cx="5691600" cy="4392000"/>
        </p:xfrm>
        <a:graphic>
          <a:graphicData uri="http://schemas.openxmlformats.org/drawingml/2006/table">
            <a:tbl>
              <a:tblPr firstRow="0" bandRow="0"/>
              <a:tblGrid>
                <a:gridCol w="2371500"/>
                <a:gridCol w="3320100"/>
              </a:tblGrid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합격 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응답시간 (주요 화면 50개)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3초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(출석 3,000명 혼합)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오류율 1% 미만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내구 (8시간)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저하 없음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84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복구 (WAS 중단)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177600" y="5760000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7600" y="5813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7600" y="6282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응답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77400" y="5760000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7400" y="5813999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7400" y="6282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자동 복구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인터페이스 — 연계 방식 비교 · 사용자 검증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성능 및 품질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연계 대상별로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API · DB 배치 · SSO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의 장단점을 비교해 정하고, 화면은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사용성 분석 → 시안 → 프로토타입 검증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순서로 확정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국립중앙박물관 교육 플랫폼 '모두'로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iF Design Award(2023)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 받은 디자인 조직이 화면을 맡음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260000"/>
          <a:ext cx="5691598" cy="4227050"/>
        </p:xfrm>
        <a:graphic>
          <a:graphicData uri="http://schemas.openxmlformats.org/drawingml/2006/table">
            <a:tbl>
              <a:tblPr firstRow="0" bandRow="0"/>
              <a:tblGrid>
                <a:gridCol w="1778625"/>
                <a:gridCol w="2015774"/>
                <a:gridCol w="1897199"/>
              </a:tblGrid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학사행정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배치 + 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1회+ · 수동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전자출결 · 성적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일괄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SSO 모듈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 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541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성장마루 · KOCW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· 일 1회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24000" y="5595054"/>
            <a:ext cx="5691600" cy="371811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9525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연계 실패는 </a:t>
            </a:r>
            <a:r>
              <a:rPr sz="120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자동 재시도 3회</a:t>
            </a:r>
            <a:r>
              <a:rPr sz="1207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 · 정합성 리포트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76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76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08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6" name="Right Arrow 15"/>
          <p:cNvSpPr/>
          <p:nvPr/>
        </p:nvSpPr>
        <p:spPr>
          <a:xfrm>
            <a:off x="74807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50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50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3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0" name="Right Arrow 19"/>
          <p:cNvSpPr/>
          <p:nvPr/>
        </p:nvSpPr>
        <p:spPr>
          <a:xfrm>
            <a:off x="8953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22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22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5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4" name="Right Arrow 23"/>
          <p:cNvSpPr/>
          <p:nvPr/>
        </p:nvSpPr>
        <p:spPr>
          <a:xfrm>
            <a:off x="10425599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94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594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380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177600" y="1835999"/>
            <a:ext cx="5691600" cy="414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9600" y="1879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메시지 · 유니버설 디자인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9600" y="2131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1600" y="2160000"/>
            <a:ext cx="5583600" cy="3780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모든 이벤트 확인 메시지 · 해결 방법 안내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고대비 · 글자 크기 · 키보드 조작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메인 · 서브 통일 디자인 시스템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저작권 문제 없는 폰트 · 이미지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관리 및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수행조직 · 관리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120일 일정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시험운영 · 교육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유지보수 · 보안 · 비상대책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수행조직 · 관리방법론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사업PM이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교육혁신본부 · 정보화본부 · 학사과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협의를 한 창구로 받고, 위험 · 진도 · 보안 · 형상 · 문서를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주간 단위로 관리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4496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000" y="12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48000" y="13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교육혁신본부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42800" y="1324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정보화본부 · 학사과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63600" y="1260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2106000"/>
            <a:ext cx="44496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21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총괄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48000" y="21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사업PM </a:t>
            </a:r>
            <a:r>
              <a:rPr sz="1092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42800" y="2170800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PMO · 보안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3600" y="2106000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2951999"/>
            <a:ext cx="44496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2951999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48000" y="3016799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LMS ·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42800" y="3016799"/>
            <a:ext cx="15407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연계 · 디자인 · 모바일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63600" y="2951999"/>
            <a:ext cx="1152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 직접 수행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4000" y="3851999"/>
          <a:ext cx="5691600" cy="2628000"/>
        </p:xfrm>
        <a:graphic>
          <a:graphicData uri="http://schemas.openxmlformats.org/drawingml/2006/table">
            <a:tbl>
              <a:tblPr firstRow="0" bandRow="0"/>
              <a:tblGrid>
                <a:gridCol w="1541475"/>
                <a:gridCol w="1067175"/>
                <a:gridCol w="3082950"/>
              </a:tblGrid>
              <a:tr h="657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회의체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7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완료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 · 결과 승인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7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회의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 · 이슈 (서류 대체 가능)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7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공정 · 위험 · 변경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1776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660050"/>
                <a:gridCol w="4031550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이슈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· 이슈대장, 당일 보고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WBS 공정률 · 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서약 · 교육 · 반출입 통제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AI 프롬프트 · 모델 설정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·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목록 · 131개 추적표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120일 일정 — 개강 전 오픈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분석 · 설계 → 개발 → 시험 · 이관 → 시범 운영 · 오픈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순서로 6개 마일스톤을 두고,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개강 4주 전 기능 동결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1260000"/>
          <a:ext cx="7005044" cy="5220000"/>
        </p:xfrm>
        <a:graphic>
          <a:graphicData uri="http://schemas.openxmlformats.org/drawingml/2006/table">
            <a:tbl>
              <a:tblPr firstRow="0" bandRow="0"/>
              <a:tblGrid>
                <a:gridCol w="2521816"/>
                <a:gridCol w="1120807"/>
                <a:gridCol w="1120807"/>
                <a:gridCol w="1120807"/>
                <a:gridCol w="1120807"/>
              </a:tblGrid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분석 ·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프로토타입 시연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 3주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LMS · AI 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· 포털 · 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 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 2 · 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· 성능 · 보안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25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시범 운영 · 교육 · 오픈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1046" y="1260000"/>
          <a:ext cx="4378153" cy="5219998"/>
        </p:xfrm>
        <a:graphic>
          <a:graphicData uri="http://schemas.openxmlformats.org/drawingml/2006/table">
            <a:tbl>
              <a:tblPr firstRow="0" bandRow="0"/>
              <a:tblGrid>
                <a:gridCol w="2501802"/>
                <a:gridCol w="1876351"/>
              </a:tblGrid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프로토타입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설계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개발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시험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M+3 중순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571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오픈 · 완료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120일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품질보증 · 시험운영 · 교육훈련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PMO 품질 담당이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결함 조치율 100%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관리하고, 실제 강좌 시범 운영 후 오픈하며,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대상자별 교육 · 국 · 영문 매뉴얼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단위 시험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2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16272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964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7964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시험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96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17" name="Right Arrow 16"/>
          <p:cNvSpPr/>
          <p:nvPr/>
        </p:nvSpPr>
        <p:spPr>
          <a:xfrm>
            <a:off x="30996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688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688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시범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999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1" name="Right Arrow 20"/>
          <p:cNvSpPr/>
          <p:nvPr/>
        </p:nvSpPr>
        <p:spPr>
          <a:xfrm>
            <a:off x="4572000" y="1386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41200" y="1260000"/>
            <a:ext cx="1274400" cy="468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41200" y="1260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84400" y="1602000"/>
            <a:ext cx="1188000" cy="108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/>
        </p:txBody>
      </p:sp>
      <p:sp>
        <p:nvSpPr>
          <p:cNvPr id="25" name="Rectangle 24"/>
          <p:cNvSpPr/>
          <p:nvPr/>
        </p:nvSpPr>
        <p:spPr>
          <a:xfrm>
            <a:off x="3240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0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0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결함 조치율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800" y="1835999"/>
            <a:ext cx="2791800" cy="72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23800" y="1890000"/>
            <a:ext cx="27918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3800" y="2358000"/>
            <a:ext cx="2791800" cy="1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개강 상주 지원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000" y="2664000"/>
            <a:ext cx="5691600" cy="38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000" y="2707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품질보증 절차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000" y="2959199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000" y="2987999"/>
            <a:ext cx="5583600" cy="3456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계획 → 점검 → 시정 → 보고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 종료마다 산출물 검토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 추적률 100%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177600" y="1260000"/>
          <a:ext cx="5691600" cy="5220000"/>
        </p:xfrm>
        <a:graphic>
          <a:graphicData uri="http://schemas.openxmlformats.org/drawingml/2006/table">
            <a:tbl>
              <a:tblPr firstRow="0" bandRow="0"/>
              <a:tblGrid>
                <a:gridCol w="1541475"/>
                <a:gridCol w="4150125"/>
              </a:tblGrid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교수자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강의실 설계 · 평가 · AI 퀴즈 · 튜터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· 온라인 가이드 · 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채점 · 출석 · 게시판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학사 연동 · 통계 · LLM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· 백업 · 장애 · 모델 운영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4. 유지보수 · 기밀보안 · 비상대책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사업 관리 및 지원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시스템 전체 12개월 무상 하자보수 · 4시간 이내 보수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전원 보안서약 · 누출금지 정보 통제,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일 1회 백업 · 5분 자동 복구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검증된 표준 기술과 교육 플랫폼 · AI 경험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120일 안에 e클래스2.0을 열겠습니다 — 주식회사 에이치나인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1260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000" y="1303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000" y="1555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000" y="1584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최종 검수일부터 12개월 · 시스템 전체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접수 후 4시간 이내 보수 · 원격 접속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패치 · 성능 개선 · 정기 점검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3663000"/>
            <a:ext cx="5691600" cy="231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3706200"/>
            <a:ext cx="55476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기밀보안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6000" y="3958200"/>
            <a:ext cx="55476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8000" y="3987000"/>
            <a:ext cx="5583600" cy="1953000"/>
          </a:xfrm>
          <a:prstGeom prst="rect">
            <a:avLst/>
          </a:prstGeom>
          <a:noFill/>
        </p:spPr>
        <p:txBody>
          <a:bodyPr wrap="square" anchor="ctr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책임자 · 서약 · 교육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누출금지 정보 10종 · 원격지 통제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363"/>
              </a:spcAft>
              <a:buFont typeface="Segoe UI Symbol"/>
              <a:buChar char="✓"/>
            </a:pPr>
            <a:r>
              <a:rPr sz="14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위반 시 보안 위약금 · 책임 수용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177600" y="1260000"/>
          <a:ext cx="5691600" cy="2304000"/>
        </p:xfrm>
        <a:graphic>
          <a:graphicData uri="http://schemas.openxmlformats.org/drawingml/2006/table">
            <a:tbl>
              <a:tblPr firstRow="0" bandRow="0"/>
              <a:tblGrid>
                <a:gridCol w="1541475"/>
                <a:gridCol w="4150125"/>
              </a:tblGrid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4시간 이내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1시간 이내 보고 · 4시간 이내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 조치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77600" y="3671999"/>
          <a:ext cx="5691600" cy="2304000"/>
        </p:xfrm>
        <a:graphic>
          <a:graphicData uri="http://schemas.openxmlformats.org/drawingml/2006/table">
            <a:tbl>
              <a:tblPr firstRow="0" bandRow="0"/>
              <a:tblGrid>
                <a:gridCol w="1541475"/>
                <a:gridCol w="4150125"/>
              </a:tblGrid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이중화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 2식 · 5분 자동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1회 · 월 복구 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기간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동결 · 집중 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