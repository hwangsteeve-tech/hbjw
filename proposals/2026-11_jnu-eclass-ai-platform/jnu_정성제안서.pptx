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579" r:id="rId107"/>
    <p:sldId id="7580" r:id="rId108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  <p:sldId id="7549" r:id="rId77"/>
    <p:sldId id="7550" r:id="rId78"/>
    <p:sldId id="7551" r:id="rId79"/>
    <p:sldId id="7552" r:id="rId80"/>
    <p:sldId id="7553" r:id="rId81"/>
    <p:sldId id="7554" r:id="rId82"/>
    <p:sldId id="7555" r:id="rId83"/>
    <p:sldId id="7556" r:id="rId84"/>
    <p:sldId id="7557" r:id="rId85"/>
    <p:sldId id="7558" r:id="rId86"/>
    <p:sldId id="7559" r:id="rId87"/>
    <p:sldId id="7560" r:id="rId88"/>
    <p:sldId id="7561" r:id="rId89"/>
    <p:sldId id="7562" r:id="rId90"/>
    <p:sldId id="7563" r:id="rId91"/>
    <p:sldId id="7564" r:id="rId92"/>
    <p:sldId id="7565" r:id="rId93"/>
    <p:sldId id="7566" r:id="rId94"/>
    <p:sldId id="7567" r:id="rId95"/>
    <p:sldId id="7568" r:id="rId96"/>
    <p:sldId id="7569" r:id="rId97"/>
    <p:sldId id="7570" r:id="rId98"/>
    <p:sldId id="7571" r:id="rId99"/>
    <p:sldId id="7572" r:id="rId100"/>
    <p:sldId id="7573" r:id="rId101"/>
    <p:sldId id="7574" r:id="rId102"/>
    <p:sldId id="7575" r:id="rId103"/>
    <p:sldId id="7576" r:id="rId104"/>
    <p:sldId id="7577" r:id="rId105"/>
    <p:sldId id="7578" r:id="rId106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지능형 플랫폼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(e클래스2.0)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전남대학교 교육혁신본부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(131개)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40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18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872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19, 21, 26, 35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rowSpan="4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17~20, 27, 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웹 설계·구현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학사행정시스템, 전자출결시스템, 화상강의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21, 30, 39, 74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다양한 교육과정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인증 체계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21, 39, 74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기간(기운영)시스템 연계방안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30, 37, 39, 74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66~67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환경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스마트 출석관리 및 온라인 출결조회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편리한 파일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관리 기능 및 알람 서비스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에디터 기능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설문조사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원격수업 운영지침에따른 콘텐츠 학습분량 점검기능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원격수업 운영지침에따른 대리출석 방지기능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유니버설 디자인 적용 (Universal Design)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38, 75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분반 동기화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합반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교수학습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코스설계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강의 설문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시험관리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실시간 수업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수업조교/청강 신청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외부 콘텐츠 탑재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자기/동료 평가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수강생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수강생 독려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강좌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출석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성적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학습 진도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강좌백업&amp;복구&amp;이전 복사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과제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팀 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학습활동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강의자료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게시판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메인 페이지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학습현황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 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21639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14122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36161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15946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11803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064496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956979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179018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958803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454660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707353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및 품질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599836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821875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601660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097517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350210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242693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464732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244517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740374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993067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885550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107589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887374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383231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635924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붙임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528407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750446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530231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Ⅶ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7026088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 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일반 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제안사의 조직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및 업무분장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 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일반현황 ([별첨 8])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8863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8111159901), 중소기업 · 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(2026년 7월 기준), 6개 실 · 22개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신용평가등급확인서 기준】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501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86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교육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개선 · 유지보수, iF Design Award 2023 (Website) 수상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생성형 AI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근거를 함께 제시하는 업무 AI Agent, ML/DL 분석 (에스케이㈜, 2026)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대규모 플랫폼 ·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역할별 권한 · 화면을 갖춘 통합운영 플랫폼 구축, 우수디자인전문기업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 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 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매출액 (최근 3년)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자본금 및 부문별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재무제표와 신용평가등급확인서는 정량적 제안서에 첨부함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 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수행 실적 총괄표 ([별첨 9])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(교육 플랫폼 + AI + 정보시스템 구축 11건) 최근 3년간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 플랫폼 개선, 생성형 AI Agent 개발, 대규모 업무 플랫폼 · 데이터 표준 아키텍처 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이행 완료함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 실적 총괄표 (단위 백만원, 최근 계약일 순)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4896460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191140"/>
                <a:gridCol w="860805"/>
                <a:gridCol w="626040"/>
                <a:gridCol w="1721610"/>
                <a:gridCol w="469529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32.325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업무 적용 (2026.07)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운영 시스템 구축 (2026.05~06)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129.385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· ML/DL 분석 (2026.04~06)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확산_FABMOS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32.853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시스템 확산 (2026.03~06)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차세대 제조 시스템 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27.440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시스템 확산 (2026.03~06)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 원가선투입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1,170.490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아키텍처 (2026.01~06)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1,999.758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아키텍처 (2025.08~12)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86.200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플랫폼 개선 (2025.07~12)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25년 차세대 표준 아키텍처 구축 Ph1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220.104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아키텍처 (2024.12~2025.01)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플랫폼 (2024.07~2025.01)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1,444.700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통합운영 플랫폼 (2024.04~12)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56046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수행 중인 사업 제외, 최근 계약일 순(최신 먼저) / 수행실적증명서 또는 이행실적확인서 첨부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77646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77646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83046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22646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 · AI · 구축
이행완료 실적 (최근 3년)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77646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77646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83046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5,281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백만원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22646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실적 합계
(사업규모 495 대비 10.7배)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77646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77646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83046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22646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디지털 서비스 업력
(2010년 설립)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 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본 사업에 적용하는 수행 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문제를 풀어 본 경험)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 플랫폼 운영 · 개선, 근거를 제시하는 생성형 AI, 역할별 대규모 플랫폼 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경험을 e클래스2.0에 그대로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(2024 ~ 2025, iF Design Award 2023)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(교육 플랫폼) 학습자 · 교사 · 운영자 역할별 교육 콘텐츠 탐색 · 신청 · 학습 화면을 설계 · 개선하고 2년간 유지보수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SFR-040~049 학습자 화면, SFR-090 · 091 포털 대시보드, SFR-092 성장마루 UI/UX 통합, SFR-017 유니버설 디자인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07933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06493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개발 · SK가스 Trading AI (에스케이㈜, 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38894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42494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 제시 AI) 질의에 </a:t>
            </a:r>
            <a:r>
              <a:rPr sz="11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데이터의 출처 · 위치를 함께 표시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하는 Agent, ML/DL 기반 예측 분석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SFR-082~083 AI 튜터 · Q&amp;A의 출처 제시, SFR-078 학습위기 예측 모델, SFR-087 LLM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2400" y="578628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00" y="577188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CELLO SQUARE 통합운영플랫폼 · SKHy 표준 아키텍처 Ph1~Ph3 (2024 ~ 2026)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609588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613188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(플랫폼 · 데이터 표준) 역할별 권한 · 화면을 갖춘 대규모 플랫폼 구축, 표준 용어 · 코드와 AS-IS/TO-BE 데이터 매핑 설계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SFR-050~058 관리자 기능, SFR-008 · DAR-001~004 데이터 표준화 · 이관, SFR-003 학사 연동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800" y="747882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168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 플랫폼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776682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학습자 · 포털 (SFR-040~049 · 090~092)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1811700" y="79666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908900" y="747882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19089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제시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4900" y="776682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튜터 · Q&amp;A (SFR-082~087)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3403800" y="79666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01000" y="747882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5010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 분석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7000" y="776682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학습위기 (SFR-078)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4995900" y="79666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93100" y="7478820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50931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표준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9100" y="7766820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이관 · 연동 (SFR-003 · 008)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제안사 조직구성 및 인력 관리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조직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(6개 실 · 22개 팀, 129명) 기획 · 디자인 · 개발 · AI · 품질 조직을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 회사 안에 모두 갖춰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외부 의존 없이 분석부터 오픈까지 직접 수행함 (하도급 불허 사업)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39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대표이사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경영 · 사업 총괄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1200" y="2358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최우식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2818800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28188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부문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32800" y="28908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(공공 · 교육)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4000" y="28908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(기업 플랫폼)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28188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 · PMO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279600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2796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 · 디자인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3515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 기획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73600" y="33515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UI 디자인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4400" y="33515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퍼블리싱 · 접근성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32796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3740400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37404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38124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백엔드 · 연계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73600" y="38124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프론트엔드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14400" y="38124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모바일 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7404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4201200"/>
            <a:ext cx="4874400" cy="396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42012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· 데이터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42732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· RAG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73600" y="42732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음성 · 번역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14400" y="42732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81200" y="42012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6800" y="4662000"/>
            <a:ext cx="4874400" cy="396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4800" y="4662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32800" y="47339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품질보증(QA)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73600" y="47339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점검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914400" y="47339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형상 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4662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16800" y="5194800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인력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인력 그대로 투입, 교체 시 동급 이상 자격 · 경력자로 발주기관 사전 승인 후 2주 인수인계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웹 접근성 · 보안 사내 교육 연 4회, 신규 기술(LLM 서빙 · STT) 사내 검증 환경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근태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인력 보안서약서 · 보안교육 이수 후 투입, 출입 · 작업 기록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역할(PM · AI · 백엔드 · 모바일)마다 예비 인력 1명 지정, 장기 결원 시 1주 내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수행조직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수행조직 및 의사소통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단일 창구) 사업PM이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교육혁신본부 · 정보화본부 · 학사과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와의 협의를 한 창구로 받고, 5개 수행팀이 LMS · AI · 연계 · 디자인 · 품질을 나눠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37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교육혁신본부 (사업총괄)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정보화본부 · 학사과 (협력)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 · 승인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00800"/>
            <a:ext cx="4874400" cy="37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008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8728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8728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 · 품질 · 보안 책임자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008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243600"/>
            <a:ext cx="4874400" cy="37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2436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LMS 개발팀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315599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교수자 · 학습자 · 관리자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4000" y="3315599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출결 · 시험 · MOOC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2436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SFR-004~072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686400"/>
            <a:ext cx="4874400" cy="37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6864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개발팀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7584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튜터 · Q&amp;A · 요약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758400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자막 · 번역 · 학습분석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6864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SFR-073~087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4129199"/>
            <a:ext cx="4874400" cy="378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4129199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 · 인프라팀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4201199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 · SSO · 성장마루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4000" y="4201199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CDN · 이관 · 서버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129199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 · SFR-003·008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572000"/>
            <a:ext cx="4874400" cy="378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4572000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디자인 · 모바일팀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643999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UI/UX · 포털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4000" y="4643999"/>
            <a:ext cx="1807199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iOS · Android 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572000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SFR-009·090~092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5086800"/>
          <a:ext cx="6260399" cy="331430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939059"/>
                <a:gridCol w="1799865"/>
                <a:gridCol w="23476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회의체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 · 협력부서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 · 결과 보고,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실무 담당자 · PM · 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 · 이슈 · 다음 주 계획, 서류 보고 대체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사업총괄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공정률 · 위험 · 변경 요청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부서 · 담당 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SSO · 클라우드 연계 결정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수행조직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 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역할별 업무분장 및 투입 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업무분장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(역할 · 책임 명확화) 요구사항 131개를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담당 팀 · 책임자에 1:1로 배정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기능점수 산정 전문가와 정보보호 전문가를 포함함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610675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860805"/>
                <a:gridCol w="2738925"/>
                <a:gridCol w="1486844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총괄, 일정 · 위험 · 범위 관리, 보고, 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PMR-001~004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·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· 산출물 검토 · 테스트 총괄, 기능점수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 · QUR · PSR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 · 교육, 취약점 점검 · 모의해킹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SER-001~009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개발 리더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· 출결 · 시험 · 성적 · 과제 · MOOC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SFR-004~072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리더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서빙 · RAG · 자막 · 번역 · 학습분석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SFR-073~087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SSO · 전자출결 · 성장마루 연계, 데이터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SFR-003·005·008, DAR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· 미디어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구성 · CDN · 트랜스코더 · 스트리밍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ECR-001~003, SFR-062·063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UI/UX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시안 · 포털 · 웹 접근성 · 유니버설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SFR-017·090~092, SIR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iOS · Android 앱, 비콘 출석, 스토어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SFR-009·069·088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53675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성명 · 자격 · 경력은 참여인력 확정 후 기입, 모든 인력은 당사 소속 (하도급 불허)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 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 기술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개발방법론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 개요 및 추진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개요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(학습관리시스템 전면 재구축 + AI) 기존 e클래스를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교수 · 학습 지원이 들어간 e클래스2.0으로 120일 안에 전환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교과 · 비교과를 하나의 포털로 묶는 사업으로 이해함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58169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전남대학교 AI 기반 지능형 플랫폼(e클래스2.0)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계약일로부터 120일 이내 (시범 운영 · 안정화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사업예산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495,000,000원 (부가세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제한경쟁입찰, 협상에 의한 계약 (기술 90 : 가격 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교육혁신본부(사업총괄) · 정보화본부 · 학사과(협력) · 사업수행 전담 사업자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재구축, AI 교수 · 학습 지원, 자막 · 번역, 모바일 앱 · LCMS, 데이터 이관, 비교과(성장마루) 통합, 학습위기 예측, 포털, 아카이브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606209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604769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 배경 (RFP Ⅰ.2)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6371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6371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초개인화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6630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획일적 서비스 → 개인 맞춤 원격교육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4400" y="6371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04400" y="6371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학습환경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0400" y="6630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기능이 포함된 LMS 도입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6371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6371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학습위기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6630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학습데이터 분석 · 맞춤 지도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9600" y="6371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9600" y="6371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다국어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5600" y="6630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유학생 · 글로벌 인재 자막 · 번역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7577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6800" y="7577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기반 혁신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800" y="7836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원격 · 대면 동등 상호작용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4400" y="7577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04400" y="7577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원격교육 시스템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0400" y="7836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시공간 제약 없는 콘텐츠 공유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92000" y="7577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92000" y="7577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교육의 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8000" y="7836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교수 · 학습 체계 · 지속 가능성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9600" y="7577697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79600" y="7577697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플랫폼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15600" y="7836897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교과 · 비교과 통합 에듀테크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현황 문제와 e클래스2.0 개선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현황 및 요구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(문제 → 원인 → 개선) RFP의 추진 배경과 요구사항을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교수자 부담 · 학습자 경험 · 학습위기 · 다국어 · 통합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다섯 축으로 묶고, 요구사항에 1:1로 연결함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7" cy="5212476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956375"/>
                <a:gridCol w="1486844"/>
                <a:gridCol w="1878119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e클래스2.0 개선 (요구사항)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퀴즈 · 루브릭 · 피드백을 수작업으로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저작 · 평가 도구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퀴즈 · 루브릭 · 문제출제 (SFR-074 · 079 · 085)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설계 · 학기 복사 · 분반 관리 반복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템플릿 · 모듈 구조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코스워크 · 차시 설계 (SFR-075 · 066 · 018)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학습자 경험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질문해도 바로 답을 받기 어려움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 자료 기반 답변 체계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Q&amp;A · 요약 (SFR-082~084)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· 모바일 화면과 기능 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최적화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· 모바일 앱 (SFR-002 · 009 · 069)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학습위기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부진 · 이탈 학생을 늦게 파악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 미활용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학습위기 예측 · 조기경고 (SFR-078)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유학생의 강의 이해 어려움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자막 · 번역 수작업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자막 · 실시간 번역 · 문서 번역 (SFR-073 · 076 · 077)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교과(e클래스) · 비교과(성장마루)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· 화면 체계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· 성장마루 통합 (SFR-090~092)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원격수업 지침 점검 · 대리출석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수작업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학습분량 점검 · 대리출석 방지 (SFR-015 · 016)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7678476"/>
            <a:ext cx="6332400" cy="94414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773247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사업 이해의 핵심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7930476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e클래스2.0은 기능을 늘리는 사업이 아니라 교수자의 반복 업무를 AI가 덜어 주고, 학습자는 언제든 수업 자료 기반 답을 받고, 학교는 학습위기 학생을 먼저 찾는 교육 플랫폼으로 바꾸는 사업입니다.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1.2.2 요구사항 구성 분석 (131개)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현황 및 요구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(기능 92개가 70%) 요구사항 131개 중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92개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LMS 기본 · 교수자 · 학습자 · 관리자 · AI · 통합 6개 영역으로 나누어 담당 팀과 일정에 배정함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20123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626040"/>
                <a:gridCol w="3286710"/>
                <a:gridCol w="93905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 (ECR)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구성, CMS · CDN, 강의저작 S/W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8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(SFR)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기본 19 · 교수자 20 · 학습자 10 · 관리자 · MOOC 15 · 동영상 · 출결 · 모바일 · 알림 10 · AI 15 · 포털 · 통합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Ⅲ.2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(PER)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3초, 오류 응답 3초, 5분 이내 자동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(SIR)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시안 · 유니버설 디자인, 메시지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Ⅳ.2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(DAR)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표준화, 암호화, 이행 테스트, 이행 방안, 백업, SQL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Ⅲ.4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(TER)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· 통합 테스트 계획 · 결과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(SER)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로그인, 인증정보, 개인정보, 웹 취약점, 구간 암호화, 모의해킹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Ⅲ.3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(QUR)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 24시간, 백업 절차,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 (COR)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개인정보보호법, 웹 표준 · 호환성, 개발 지침, 저작권, 모듈화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지원 (PMR · PSR)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· 산출물 · 보안 관리, 하자보수 · 기술이전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 · 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66724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66724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72124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11724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(전부 수용)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66724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66724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72124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11724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기능 요구사항
(SFR-073~087)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66724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66724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72124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11724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분석 ~ 오픈 · 안정화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제안의 목적 · 범위 · 전제조건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제안의 목적 · 범위 ·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(목적: AI로 가르치고 배우는 e클래스2.0) RFP 사업범위 10개 항목을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그대로 제안 범위로 삼고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일정 · 비용에 영향을 주는 전제조건을 착수 전에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ECR-001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040518"/>
        </p:xfrm>
        <a:graphic>
          <a:graphicData uri="http://schemas.openxmlformats.org/drawingml/2006/table">
            <a:tbl>
              <a:tblPr firstRow="0" bandRow="0"/>
              <a:tblGrid>
                <a:gridCol w="2504160"/>
                <a:gridCol w="375623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사업범위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범위 (요구사항)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코스웨어 · 퀴즈 · 루브릭 · 토론 분석 · 학습위기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코스워크 · 퀴즈 자동생성 · 루브릭 · 토론 요약 (SFR-074 · 075 · 079 · 080 · 078)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기반 실시간 응답 · 모의고사 ·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Q&amp;A · 문제출제 · 과제 지원 (SFR-081~085)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자동 자막 · 번역 (12개 언어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자동자막 · 문서 번역 · 실시간 자막 4개 언어 동시 (SFR-073 · 076 · 077)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대면 수업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대면 실시간 자막 · QR 개인 자막 · 스마트 출석 (SFR-077 · 068 · 088)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LMS(App) · LCMS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iOS · Android 앱, 동영상 관리 · 트랜스코딩 · CDN (SFR-009 · 063, ECR-002)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 · 검증 · 오류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· 사용자 · 수강 · 성적 · 로그 이관 (SFR-008, DAR-003 · 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비교과 통합 관리시스템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성장마루 UI/UX 전환 · 시스템 통합 (SFR-092)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학습위기 예측 · 시각화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모델 · 조기경고 · 역할별 대시보드 (SFR-078 · 065)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포털 UI/UX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교수자 포털 대시보드 (SFR-090 · 091)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데이터 아카이브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e클래스 읽기 전용 아카이브 (SFR-008)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52092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50652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전 확정할 전제조건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830525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83052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학내 클라우드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8089725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서버 5식 자원 · GPU 제공 여부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7830525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783052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현행 LMS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8089725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【현행 LMS 솔루션】</a:t>
            </a: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DB 구조 · 데이터 규모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7830525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783052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대상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8089725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학사 · SSO · 전자출결 · 성장마루 API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7830525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783052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오픈 시점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8089725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학기 개강 전 전환 일정 합의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제안의 특징 및 장점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제안의 목적 · 범위 ·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(4가지 차별점)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LMS 엔진 + AI 플러그인 구조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120일 안에 전 영역을 구축하고, 학기 운영에 영향 없이 전환함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SFR-087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123703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LMS 엔진 위에 전남대 맞춤 개발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2646000"/>
            <a:ext cx="5540400" cy="41596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IMS LTI · SCORM을 지원하는 오픈소스 LMS 엔진을 코어로 쓰고 전남대 고유 기능만 새로 개발합니다.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799" y="3079969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799" y="3115969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주차 · 토픽 · 차시 구조, 모듈형 활동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라이선스 비용 없음 (GPL)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685039"/>
            <a:ext cx="6260400" cy="123703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68503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728239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LLM 교체형 AI 플러그인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3973039"/>
            <a:ext cx="5540400" cy="41596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기능 15개를 LMS와 분리된 AI 계층으로 만들고 LLM을 플러그인으로 교체합니다.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799" y="4407008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799" y="4443008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온프레미스 + OpenAI · Anthropic · Google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응답시간 · 토큰 사용량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5012078"/>
            <a:ext cx="6260400" cy="123703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5012078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5055278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근거를 제시하는 AI 튜터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5300078"/>
            <a:ext cx="5540400" cy="41596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답변마다 교안 쪽 · 영상 시점 출처를 붙이고, 교수자가 답변 범위와 공개 여부를 정합니다.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799" y="5734047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799" y="5770047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RAG · 출처 링크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교수자 검토 후 배포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6339117"/>
            <a:ext cx="6260400" cy="123703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00" y="633911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638231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학기 무중단 전환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799" y="6627117"/>
            <a:ext cx="5540400" cy="41596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방학 중 선 이관 → 병행 검증 → 개강 전 전환, 구 e클래스는 읽기 전용 아카이브로 유지합니다.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799" y="7061086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799" y="7097086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단계별 선 이관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아카이브 조회 유지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77021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6800" y="77021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4800" y="77561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800" y="81521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LMS 엔진 라이선스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9600" y="77021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39600" y="77021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7600" y="77561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7600" y="81521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 플러그인 유형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62400" y="77021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62400" y="77021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70400" y="77561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70400" y="81521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답변 출처 제시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목표시스템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(5계층 구조)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사용자 채널 · LMS 서비스 · AI 서비스 · 미디어 · 연계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계층으로 나누고, 학내 클라우드 위에 운영 WEB/WAS 2식 · DB · Cache · 개발서버를 구성함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SFR-003, SFR-005, SFR-087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5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채널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포털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e클래스 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모바일 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MOOC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· 4개 언어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2980800"/>
            <a:ext cx="4874400" cy="55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29808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LMS 서비스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30527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강좌 · 차시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63400" y="30527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출결 · 성적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30527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시험 · 과제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24600" y="30527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토론 · 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29808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SFR-004~072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3603600"/>
            <a:ext cx="4874400" cy="55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36036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36755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튜터 · Q&amp;A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63400" y="36755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퀴즈 · 루브릭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6755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자막 · 번역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24600" y="36755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학습분석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1200" y="36036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SFR-073~087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226399"/>
            <a:ext cx="4874400" cy="55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226399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 · 데이터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32800" y="42983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63400" y="42983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트랜스코더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94000" y="42983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스트리밍 · CDN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24600" y="42983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벡터 DB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81200" y="4226399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ECR-002 · 003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4849200"/>
            <a:ext cx="4874400" cy="558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48492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328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학사행정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34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· 출결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40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성장마루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24600" y="49211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Mail · SMS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81200" y="48492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 · 005 · 006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6800" y="5472000"/>
            <a:ext cx="4874400" cy="558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4800" y="5472000"/>
            <a:ext cx="104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인프라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432800" y="55439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WEB/WAS 2식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63400" y="55439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DB 1식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94000" y="55439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Cache 1식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24600" y="5543999"/>
            <a:ext cx="876600" cy="413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개발서버 1식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81200" y="5472000"/>
            <a:ext cx="1296000" cy="55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학내 클라우드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316800" y="6166800"/>
          <a:ext cx="6260400" cy="238234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채널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교수자 포털, e클래스2.0 반응형 웹, iOS · Android 앱, MOOC · 비학위 과정 (한 · 영 · 일 · 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게이트웨이 · RAG 엔진 · STT · 번역 · 예측 모델 — 오픈소스 LLM과 클라우드 API를 플러그인으로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학사행정(구성원 · 강의 · 수강 · 성적 · 출석), SSO, 전자출결, 화상강의, 성장마루, KOCW, 강의녹화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 6vCore · 32GB × 2, DB 16vCore · 32GB, Cache 4vCore · 8GB, 개발 2vCore · 4GB + AI 추론 자원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【GPU 제공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280800" y="862115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AI 추론 자원은 학내 GPU 제공 여부에 따라 온프레미스 / 클라우드 API 조합을 확정 (Ⅱ.2.2.2 조건별 대응)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1.4.2 사용자별 서비스 구성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(역할 중심 설계) 학생 · 교수자 · 조교 · 관리자 · MOOC 운영자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5개 역할별로 첫 화면과 권한(CRUD)을 나눠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필요한 기능만 보이게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SFR-065, SFR-090, SFR-091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95240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643355"/>
                <a:gridCol w="1956375"/>
                <a:gridCol w="17998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화면 (대시보드)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진도율 · 과제 · 출석 · 할 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수강 · 동영상 · 과제 · 시험 · 토론 ·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요약 · 번역 · 자막 · 과제 도우미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목록 · 미제출 · 위기학생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코스 설계 · 출석 · 성적 · 평가 · 독려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퀴즈 · 루브릭 · 문제출제 · 토론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조교 · 청강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강좌 · 채점 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채점 보조 · 게시판 · 출석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 · 서버 · 연동 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· 사용자 · 강좌 · 통계 · 팝업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관리 · 사용량 · 학습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MOOC 운영자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과정 · 기수 · 수료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비학위 과정 · 외부 회원 · 수료증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과정 콘텐츠 요약 · 번역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 (SSO)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 · 소속 확인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역할별 포털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위젯 · 바로가기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주차 · 차시 학습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지원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튜터 · 자막 · 평가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· 피드백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진도 · 위기 경고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865244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91924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권한 설계 원칙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117243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역할마다 데이터 CRUD 권한을 따로 부여하고, 권한이 없는 메뉴는 화면에 나타나지 않게 해 부여되지 않은 기능 접근을 원천 차단합니다.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비전 · 목표 · 추진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전략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(비전: 모두를 위한 AI 교육 플랫폼)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기반 신속 구축 · AI 교수학습 · 데이터 기반 학습지원 · 무중단 전환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4대 전략으로 120일 안에 목표를 달성함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63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AI와 함께 가르치고 배우는 e클래스2.0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3052800"/>
            <a:ext cx="4874400" cy="63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30528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1248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반복업무 경감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63400" y="31248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맞춤 학습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4000" y="31248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위기 조기 대응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600" y="3124800"/>
            <a:ext cx="8766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교과 · 비교과 통합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1200" y="30528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RFP 기대효과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747600"/>
            <a:ext cx="4874400" cy="63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7476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2800" y="38196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 LMS 엔진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4000" y="38196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전남대 맞춤 모듈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37476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신속 구축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4442400"/>
            <a:ext cx="4874400" cy="63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44424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45144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교체형 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4000" y="45144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출처 · 교수자 통제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44424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교수학습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5137200"/>
            <a:ext cx="4874400" cy="63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51372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52092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학습 로그 표준화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94000" y="52092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예측 · 조기경고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51372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기반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832000"/>
            <a:ext cx="4874400" cy="630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8320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5903999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방학 중 선 이관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94000" y="5903999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개강 전 전환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81200" y="58320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무중단 전환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68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68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8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8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페이지 응답 (PER-001)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089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089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169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3,000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69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출석 동시접속 (SFR-010)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010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010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90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언어+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90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자막 · 번역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931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931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011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011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조치율 (QUR-002)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0800" y="7588799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6799" y="76427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성과 측정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6799" y="784079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각 목표는 오픈 후 첫 학기 동안 AI 기능 사용률 · 교수자 만족도 · 위기 경고 대응률로 측정해 완료 보고서에 담습니다.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4대 추진 전략 세부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전략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(전략 → 실행 과제) 전략마다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실행 과제 · 산출물 · 측정 지표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정해 주간 회의에서 진척을 확인함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67548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1408590"/>
                <a:gridCol w="133033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기반 신속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엔진 설치 · 학내 클라우드 배포 (착수 3주)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환경 · 프로토타입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3주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전남대 맞춤 모듈 개발 (출결 · 분반 · 원격수업 지침)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 설계서 · 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추적률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교수학습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 계층 · LLM 게이트웨이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아키텍처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교체 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튜터 · 퀴즈 · 루브릭 · 자막 · 번역 평가셋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제시율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기반 학습지원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로그 수집 · 표준화, 위기 예측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모델 ·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 조기경고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무중단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 이관 → 병행 검증 → 본 이관 → 아카이브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계획 ·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오류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141492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19549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120일 일정의 성패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393492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 만들 부분과 표준 엔진으로 해결할 부분을 착수 2주 안에 나누고, 맞춤 개발에 인력을 집중하는 것이 120일 일정의 핵심입니다. 착수 3주 차에 프로토타입을 시연해 화면 · 흐름을 먼저 합의합니다.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위험 요소별 대안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위험 요소와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(위험을 먼저 줄임)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 · 학기 운영 · 데이터 이관 · AI 품질 · 연계 · 비용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6대 위험을 착수 시 등록하고, 위험마다 예방 · 발생 시 대안을 준비함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24516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330335"/>
                <a:gridCol w="1956375"/>
                <a:gridCol w="17998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120일 단기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영역 동시 구축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엔진 활용, 영역별 병렬 개발, 주간 공정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우선순위(개강 필수 기능) 먼저 오픈, 나머지 순차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중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 운영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방학 중 전환, 개강 4주 전 동결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e클래스 병행 운영 후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· 성적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3회 모의 이관, 건수 · 합계 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건 자동 재이관, 원본 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답변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잘못된 학습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범위 제한, 출처 표시, 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비공개 전환, 답변 차단 키워드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SSO 데이터 미동기화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 내 API 명세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임시 일괄 파일 연계 후 API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· API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응답 지연 · 비용 증가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경량 모델 · 캐시 · 사용량 한도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클라우드 API 플러그인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6711170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676517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위험 관리 방식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6963170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6대 위험을 착수 보고 때 위험관리대장에 등록하고, 주간 회의에서 발생 가능성 · 영향도를 다시 평가해 등급이 오른 위험은 당일 교육혁신본부에 보고합니다.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59175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59175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64575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위험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04175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시 등록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59175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59175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64575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04175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이슈 보고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59175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59175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64575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04175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모의 이관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미확정 조건별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위험 요소와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(어떤 조건이 나와도 목표 달성) RFP에 정해지지 않은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추론 자원 · 현행 LMS · 화상강의 라이선스 · AI 기본법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조건을 경우별로 설계하고 착수 2주 안에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SFR-072, SFR-087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176965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112885"/>
                <a:gridCol w="2112885"/>
                <a:gridCol w="7825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미확정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 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 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추론 자원 (GPU)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클라우드 GPU 제공 → 오픈소스 LLM 온프레미스 서빙 (vLLM)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미제공 → 경량 모델 + 클라우드 API (사용량 한도 · 개인정보 비식별)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LMS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DB 구조 → 이관 도구로 직접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비표준 · 암호화 → 현행 사업자 협조 추출 후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화상강의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학교 보유 Zoom · Teams → API 연계 (SFR-072)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미보유 → 링크 연계 · 참여 기록 수동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기본법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고영향 해당 → 위험관리 · 이용자 고지 · 기록 · 문서화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비해당 → AI 생성물 표시 · 이용 안내만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자막 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PC · 마이크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무선 마이크 · 송출 PC 필요 시 목록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6642968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669696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인공지능 기본법 대응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6894968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「인공지능 발전과 신뢰 기반 조성 등에 관한 법률」 대상 여부를 설계 단계에서 검토하고, 해당 시 위험관리 계획 · AI 생성 결과 표시 · 이용자 안내 · 처리 기록 · 문서화를 구현합니다. 관련 비용은 제안가격에 포함했습니다.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7746577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774657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7800577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조건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8196577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경우별 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1000" y="7746577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1000" y="774657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9000" y="7800577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9000" y="8196577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후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 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적용 기술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주요 적용 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표준 기술) LMS · AI · 미디어 · 연계 영역마다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공개 표준과 운영 실적이 있는 기술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고르고, 상용 S/W는 RFP가 요구한 항목만 구매함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COR-005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604422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82415"/>
                <a:gridCol w="250416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코어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LMS 엔진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【Moodle 4.5 LTS (GPL v3) — 착수 전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IMS LTI · SCORM · QTI 지원, 주차 · 토픽 · 활동 모듈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· 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웹(HTML5 · CSS3), 모바일 앱 iOS · Android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Active-X 없음, 접근성 2.2 · 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LLM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【모델명 — 평가 후 선정】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vLLM, LLM 게이트웨이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플러그인 교체, 온프레미스 · 클라우드 API 동시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· 벡터 DB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【제품명】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임베딩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· 자막 근거 검색, 출처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· 번역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Whisper 계열 STT (일괄 · 실시간), LLM 번역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 언어 이상, 실시간 4개 언어 동시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로그 수집(xAPI 형식) · ML 예측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부진 · 중단 · 이탈 조기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미디어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트랜스코더 S/W 1식 · 스트리밍 S/W 1식 (영구) · VOD CDN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 코덱 · HLS · 로드밸런싱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 · DB 연계, SSO 클라이언트 3식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출결 · 성장마루 ·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【DBMS】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Redis · 형상관리 Git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포함, 라이선스 당사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47422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제품 · 모델명은 착수 2주 내 성능 · 보안 · 라이선스 검토 후 발주기관 승인으로 확정, 기술적용계획표([별첨 12])에 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 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AI 서비스 계층 기술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주요 적용 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(LMS와 분리된 AI 계층) 모든 AI 기능이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하나의 LLM 게이트웨이 · RAG 엔진 · 평가 체계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함께 써서 모델을 바꿔도 기능은 그대로 동작함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SFR-082, SFR-083, SFR-087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자료 수집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강의자료 · 과제 · 자막 · FAQ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전처리 · 벡터화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문서 분할 · 임베딩 · 상태값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 (RAG)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강좌 범위 · 권한 필터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(LLM)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게이트웨이 → 모델 선택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· 출처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링크 · 금칙어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400" cy="397156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939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게이트웨이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· OpenAI · Anthropic · Google 모델 플러그인 등록 · 교체, 기능별 모델 지정, 응답시간 · 토큰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39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txt · docx · md · csv · html · xlsx 학습, 학습 완료 · 학습 중 · 실패 상태값, 데이터 소스 동적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SFR-082 · 087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스레드, 이전 대화 탐색 · 이어하기, 저장 · 불러오기 · 공유 · 편집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언어 자동 감지 · 동일 언어 응답 (한국어 · 영어 기본)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SFR-082 · 083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·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기능별 평가셋, 출처 제시 여부 점검, 교수자 공개 · 비공개, 파라미터(온도 · 응답 수) 조절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SFR-083 · 084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80800" y="7733570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78757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개인정보 보호 원칙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7985570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클라우드 API로 보내는 요청에서는 학번 · 성명 · 연락처를 제거하고, 학습 데이터는 학내 클라우드 안에만 저장합니다.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 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3.1.3 Prototype 구현 및 실현 가능성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주요 적용 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(착수 3주 차 시연) LMS 엔진 · SSO · AI 튜터 · 자동자막을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실제 강의자료로 동작하는 프로토타입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먼저 보여 주고, 화면 · 흐름을 합의한 뒤 본 개발함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2453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738925"/>
                <a:gridCol w="211288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· 차시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시험 강좌 1개, 주차 · 차시 구성, 동영상 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구조 · 메뉴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SSO 시험 계정 로그인 · 역할별 첫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방식 · 권한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제공 강의자료 1과목 학습 → 질의응답 · 출처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품질 · 범위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자동자막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 영상 1편 자동자막 · 영어 번역 ·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자막 정확도 · 편집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교수자 위젯 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방향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711313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5711313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5783313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5819313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엔진 설치 · 개발 환경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5819313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SSO 시험 연동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5711313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개발서버 구축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6449313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6449313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2주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6521313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6557313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시험 강좌 구성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6557313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튜터 · 자막 연결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6449313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내부 점검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7187313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7187313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3주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7259313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7295313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프로토타입 시연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7295313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의견 반영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7187313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화면 · 흐름 합의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797931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00" y="797931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4800" y="803331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4800" y="842931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프로토타입 시연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01000" y="797931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01000" y="797931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09000" y="803331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영역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09000" y="842931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시연 범위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 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통합 · 연계 범위와 개발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대상 업무별 개발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(엔진 활용 · 맞춤 개발 · 연계 구분) 92개 기능을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엔진 기본 기능 설정 · 맞춤 개발 · 신규 AI · 연계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나누어 개발 방식과 인력을 배정함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SFR-003, SFR-006, SFR-092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3476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95570"/>
                <a:gridCol w="2738925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개발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· 학습활동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+ 맞춤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 구조, 분반 동기화 · 합반, 강좌 복사 · 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SFR-018~039 · 066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맞춤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 · 오프라인 통합 출석, 인증번호 · 사진 · 비콘, 대리출석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SFR-010 · 016 · 068 · 088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원격수업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맞춤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차시별 학습분량 합산 · 부족 차시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+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문제은행, 표절검사 연동, 부정행위 방지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SFR-023 · 079 · 089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튜터 · Q&amp;A · 요약 · 번역 · 퀴즈 · 루브릭 · 자막 · 학습분석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SFR-073~087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MOOC · 비학위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+ 맞춤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과정 · 기수 · 외부 회원 · 수료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SFR-059~061 · 064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· 비교과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교수자 포털, 성장마루 UI/UX 전환 ·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SFR-090~092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인증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학사(구성원 · 강의 · 수강 · 성적 · 출석), SSO, Mail · SMS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 · 005 · 006 · 050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미디어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구매 +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트랜스코더 · 스트리밍 · CDN, 강의녹화 · 저작 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ECR-002 · 003, SFR-062 · 063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기능 요구사항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신규 AI 기능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학내 연계 대상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개발방법론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적용 방법론 및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개발방법론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(구조적 방법론 + 2주 반복) LMS · 연계는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산출물 중심 단계형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AI 기능은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평가셋 기반 2주 반복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개발해 단기 일정에서도 품질 근거를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COR-003, COR-005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e클래스 · 연계 분석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상세화 · 추적표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요구사항정의서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아키텍처 · 데이터 · 화면 설계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이관 · 연계 설계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설계서 · 시안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LMS 맞춤 · 연계 개발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2주 반복 (평가 → 개선)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소스 · 단위시험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 · 성능 · 보안 시험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모의 이관 3회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 결과서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전개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본 이관 · 시범 운영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 · 오픈 · 안정화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완료보고서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54361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기법 ·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131개 요구사항 → 설계 · 소스 · 시험 케이스까지 추적, 주간 추적률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모델링 · 영향분석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용어 · 코드 기반 설계, 변경 영향 분석 (RFP 데이터관리 사항)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 (Git) · 이슈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산출물 · AI 프롬프트 · 모델 설정 버전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기능별 질의 · 정답 · 출처 쌍으로 반복마다 자동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개발방법론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4.1.2 단계별 산출물 및 제출 시기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개발방법론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(단계 종료마다 승인) 단계별 산출물의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종류 · 내용 · 제출 시기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정하고, SW사업정보(기능점수 포함)를 산출물 목록에 넣음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6464992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956375"/>
                <a:gridCol w="2504160"/>
                <a:gridCol w="101731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· 보안서약서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· 일정 · 조직 · 산출물 · 위험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10일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 ·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131개 요구사항 상세 · 수용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 중순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시스템 · 데이터 분석서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LMS · 연계 · 데이터 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 중순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데이터 · 화면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구성도 · ERD · 화면 · AI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 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매핑 · 검증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단위시험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· 시험 케이스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중순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 · 보안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3초 · 취약점 조치 · AI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결과서 · 매뉴얼(국 · 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대사 · 사용자 · 관리자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M+4 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 · SW사업정보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· 기능점수 · 기술이전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8949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정기 보고는 RFP에 따라 서류 보고로 대체 가능 / 검수는 완료보고서 접수일부터 14일 이내 (PMR-002)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개발방법론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유사 사업 방법론 적용 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방법론 적용 경험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방법론 · 다른 사업) 당사가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 플랫폼 · AI Agent · 대규모 플랫폼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사업에서 같은 단계형 + 반복형 방법론을 적용한 경험을 본 사업에 씀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496717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1408590"/>
                <a:gridCol w="1565100"/>
                <a:gridCol w="15651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교육 플랫폼 '모두' (2024 ~ 2025)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UX 리서치 + 단계형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iF Design Award 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· 학습자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(2026)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기반 반복형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제시 AI Agent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Q&amp;A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표준 아키텍처 Ph1 ~ Ph3 (2024 ~ 2026)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중심 단계형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· 매핑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· 데이터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(2024)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단계형 + 단계 오픈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통합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권한 · 오픈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962719"/>
            <a:ext cx="6260400" cy="126944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596271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6005919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검증을 일정에 고정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6250719"/>
            <a:ext cx="5540400" cy="43248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설계 · 시험 단계마다 교수자 · 학생 대표와 화면을 확인해 오픈 후 변경을 줄입니다.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799" y="6701209"/>
            <a:ext cx="5540400" cy="51295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799" y="6737209"/>
            <a:ext cx="5432400" cy="45895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프로토타입 3주 차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시범 운영 M+4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7322164"/>
            <a:ext cx="6260400" cy="126944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7322164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7365364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품질을 숫자로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7610164"/>
            <a:ext cx="5540400" cy="43248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반복마다 평가셋으로 출처 제시율 · 답변 정확도를 측정해 개선 근거를 남깁니다.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799" y="8060653"/>
            <a:ext cx="5540400" cy="51295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799" y="8096653"/>
            <a:ext cx="5432400" cy="45895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2주 반복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품질 보고서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장비 구성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제약사항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 구성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서버 · 시스템 S/W 구성 (학내 클라우드)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인프라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(요구 규격 충족 · 확장 가능) RFP 기준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WEB/WAS 2식 · DB · Cache · 개발서버 5식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학내 클라우드에 구성하고, OS · WAS · DBMS 라이선스와 기술지원은 당사가 부담함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서버 구성 (학내 클라우드, RFP ECR-001 기준)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314042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408590"/>
                <a:gridCol w="704295"/>
                <a:gridCol w="704295"/>
                <a:gridCol w="704295"/>
                <a:gridCol w="469529"/>
                <a:gridCol w="1330335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(vCore)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MEM (GB)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DISK (GB)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WEB/WAS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· 포털 ·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L4 이중화 · 세션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· 학습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1회 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Cache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· 조회 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Redis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시험 ·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운영과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추론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STT · 임베딩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제공 시 (Ⅱ.2.2.2)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840424"/>
          <a:ext cx="6260400" cy="254361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【OS 제품 · 버전】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5식, 보안 패치 · 설정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 1식 + 기술지원 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【DBMS 제품】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1식 + 기술지원 1식 (상용이면 라이선스 일체)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장비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LMS 장비 · 스토리지와 연결 가능한 구성으로 설계, 이관 기간 병행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80800" y="8492040"/>
            <a:ext cx="6332400" cy="94414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854604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운영 · 유지관리 계획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744040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WEB/WAS 2식은 부하 분산으로 한 대 장애 시에도 서비스를 유지하고, 서버별 CPU · 메모리 · 디스크 · 네트워크를 관리자 화면(SFR-055)에서 감시해 임계치 도달 시 SMS로 알립니다.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 구성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CMS · VOD CDN · 트랜스코더 · 스트리밍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인프라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(동영상 학습 안정성) 트랜스코더 · 스트리밍 S/W(영구)와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계약기간 무제한 VOD CDN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제공하고, 관리자가 콘텐츠별로 CMS ↔ CDN 서비스 위치를 한 번에 전환함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ECR-002, SFR-062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mp4 · 웹 콘텐츠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트랜스코딩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멀티 코덱 · 큐 처리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CDN 자동 업로드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변환 즉시 배포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스트리밍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HLS · 모든 기기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진도 · 출석 반영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학습시간 연계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61999"/>
          <a:ext cx="6260400" cy="417696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4304025"/>
                <a:gridCol w="7825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 ·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트랜스코더 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· 고성능 인코딩, H.264/AVC 등 멀티 코덱 (AVI · WMV · MOV · MP4 · MKV · MP3 · WAV 등), 큐 기반 · 기기별 동시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스트리밍 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RTSP · RTMP · HLS · MPEG-TS 등 멀티 프로토콜, 멀티 서버 로드밸런싱, 고화질, 영구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VOD CDN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계약기간 내 스트리밍 용량 · 트래픽 무제한, HTTPS · SSL 인증서, 등록 도메인 접근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소스 URL 재생성으로 기존 영상 보관, 원본 서버와 HTTPS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위치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원클릭 CMS ↔ CDN 전환, 학내 CMS와 CDN 동시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801096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트랜스코더 · 스트리밍 · CDN 제품명은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【제품명】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으로 확정 후 기재, 비용은 제안가격에 포함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 구성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1.1.3 강의저작 S/W · 강의녹화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인프라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(녹화 → 자동 배포) 강의저작 S/W와 학내 강의녹화 시스템에서 만든 영상을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플랫폼으로 바로 전송하고 강의 · 주차에 자동 배포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ECR-003, SFR-006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344823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738925"/>
                <a:gridCol w="211288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강의저작 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연동 업로드 API, 저작 도구에서 강좌 · 주차 선택 후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녹화 영상 직접 전송 · 자동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강의녹화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녹화 완료 이벤트 → 자동 저장 → 강의실 탑재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수작업 업로드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CMS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콘텐츠 일괄 관리 · 재사용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자동자막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탑재 즉시 AI 자동자막 대기열 등록 (SFR-073)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자막 · 번역 자동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810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810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녹화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882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91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강의저작 S/W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91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강의녹화 시스템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810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영상 생성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494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494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566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602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연동 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602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강좌 · 주차 지정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494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CMS 저장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178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178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250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286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트랜스코딩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286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자동자막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178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CDN 배포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862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862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934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97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주차 · 차시 탑재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97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학생 알림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862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시작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76008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76548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0508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교수자 수동 업로드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01000" y="76008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010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09000" y="76548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9000" y="80508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주차 배포 · 자막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표준 준수 · 반응형 · 다국어 · 유니버설 디자인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공통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(누구나 · 어디서나)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IMS · SCORM 표준, 반응형 웹, 한 · 영 · 일 · 중 4개 언어, 유니버설 디자인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공통 기반으로 모든 화면에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SFR-002, SFR-007, SFR-011, SFR-013, SFR-017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625240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 (SFR-001)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IMS Global(LTI · QTI) · ADL SCORM 콘텐츠 호환, Active-X 없음, PC · Tablet · Mobile, Windows · MacOS · Linux · iOS · Android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웹 (SFR-002)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정보를 모바일에서도 차별 없이 제공, 특정 플랫폼 전용 기능 배제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 (SFR-007)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· 영어 · 일본어 · 중국어 기본, 사용자 언어 선택 · 강의실 언어 지정, 영문 온라인 매뉴얼(학생 · 교수 · 관리자, 검색)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업로드 (SFR-011)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드래그 앤 드롭 · 다중 파일 · 대용량 분할 업로드, 진행률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에디터 (SFR-013)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멀티미디어 삽입 · 표 · 수식, 붙여넣기 서식 정리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유니버설 디자인 (SFR-017)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한국형 웹 콘텐츠 접근성 지침 2.2, 고대비 · 글자 크기 조절 · 키보드 조작 · 대체 텍스트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09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09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14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언어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54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UI 기본 지원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09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09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14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54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브라우저 호환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09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09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14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54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접근성 지침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8081244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81352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표준 준수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8333244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W3C 문법 검사 · 브라우저 교차 시험 · 접근성 점검 결과를 시험 결과서에 첨부합니다.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학사 · 전자출결 · 화상강의 연동 및 통합 인증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공통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(무결점 동기화) 학사 정보를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1일 1회 이상 자동 · 수강신청 기간 상시 동기화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관리자가 동기화 과정과 개인별 결과를 실시간으로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SFR-003, SFR-005, SFR-006, SFR-050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21449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130200"/>
                <a:gridCol w="187811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 ·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학사행정 · 통합포털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구성원 · 조직 · 학사일정 · 강의 · 수강 · 학적 · 수업계획서 · 성적 · 출석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· DB, 1일 1회 이상 + 수동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전자출결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수업(화상강의) 출결 · 성적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API, 실시간 · 일괄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SSO 통합 인증 (클라이언트 라이선스 3식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Mail · SMS 발송, 강의녹화 자료 자동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모듈별 사용 여부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680497"/>
          <a:ext cx="6260400" cy="330074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기능 (SFR-050)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운영 학기 · 학사 연동 학기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동기화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주기 · 시간 설정, 수동 동기화, 진행 · 결과 실시간 모니터링, 개인별 결과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정합성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· 키 비교 정합성 리포트, 분반 · 합반 처리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인증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구성원 가입 · 로그인, 동시 로그인 차단, 최종 접속 IP · 시간 표시, 자동 로그아웃, 실패 시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2.1.3 교육과정 · 분반 · 합반 · 강좌 복사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공통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(학사제도 그대로 반영) 정규 · 비정규 강좌와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분반 동기화 · 합반 · 학기 간 복사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지원해 교수자가 학기마다 강의실을 다시 만들지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SFR-004, SFR-018, SFR-019, SFR-034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99114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다양한 교육과정 (SFR-004)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 · 비정규 · 비교과 · MOOC 강좌 유형, 과정별 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분반 동기화 (SFR-018)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교과목 분반 간 자료 · 활동 동기화, 분반별 성적 · 출석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합반 관리 (SFR-019)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여러 분반을 하나의 강의실로 운영, 원 분반 정보 유지 · 학사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백업 · 복구 · 복사 (SFR-034)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단위 백업 · 복구, 이전 학기 강좌 가져오기 · 선택 복사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457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457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학사 연동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745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교과목 · 분반 생성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998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457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457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분반 · 합반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745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동기화 · 묶음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998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457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457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이전 학기 복사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745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 · 활동 선택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998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457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457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745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분반별 성적 · 출석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998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457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457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학기 종료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745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백업 · 아카이브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6753146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68071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교수자 시간 절약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700514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학기 시작 시 이전 학기 강의실을 복사하고 분반 동기화를 켜면, 같은 교과목의 여러 분반을 한 번에 준비할 수 있습니다.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633729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63372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800" y="7892929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학사 연동 강좌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4400" y="7633729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04400" y="763372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비정규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40400" y="7892929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특강 · 연수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92000" y="7633729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92000" y="763372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비교과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8000" y="7892929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성장마루 연계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9600" y="7633729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79600" y="763372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MOOC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15600" y="7892929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강좌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교수학습 · 코스 설계 · 강좌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교수자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(차시 단위 설계) 주차 · 토픽 아래에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두어 학습자원의 선후 관계와 출결을 차시 단위로 관리하고, 강의실 홈에서 현황을 한눈에 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SFR-020, SFR-021, SFR-030, SFR-038, SFR-039, SFR-066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12011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교수학습 관리 (SFR-020)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강의계획서(학사 연동) 표시, 수업 방법(일반 · 온라인 · 혼합)별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코스 설계 (SFR-021)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 · 토픽 형식 선택, 학습자원 · 활동 모듈 추가 · 이동 · 복제 · 숨김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 단위 강의실 (SFR-066)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 아래 차시 위계 · 선후 조건, 차시별 출결 기준, 자료 등록 현황 시각화, 강의실 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관리 (SFR-030)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정보 · 공개 기간 · 메뉴 · 언어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관리 (SFR-038)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자료실 · 폴더, 다운로드 허용 · 기간 설정, AI 문서뷰어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관리 (SFR-039)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 · Q&amp;A · 자유 · 팀 게시판 생성, 익명 · 비밀글 옵션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86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586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주차 · 토픽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658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694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1주차 · 2주차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694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토픽 형식 선택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586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강좌 뼈대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378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378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450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486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1차시 영상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486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2차시 퀴즈 · 토론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378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선후 조건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8170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8170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학습활동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8242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8278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자료 · 과제 · 시험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8278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퀴즈 · 튜터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8170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출결 · 진도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시험 · 과제 · 팀 프로젝트 · 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교수자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 업무 일원화) 시험 · 과제 · 팀 프로젝트 · 자기 · 동료 평가 결과가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성적부로 자동 집계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되고, 학사 성적으로 전송됨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SFR-023, SFR-027, SFR-032, SFR-035, SFR-036, SFR-037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7499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관리 (SFR-023)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선다 · 단답 · 서술 · O/X · 짝짓기, 문제은행 · 무작위 출제, 응시 시간 · 횟수 · IP 제한, 자동 · 수동 채점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관리 (SFR-035)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기간 · 지각 제출, 일괄 다운로드 · 피드백, 웹 문서뷰어 열람 · 첨삭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프로젝트 (SFR-036)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자동 · 수동 편성, 팀 게시판 · 공동 문서, 팀 단위 제출 ·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 · 동료 평가 (SFR-027)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· 익명 배정, 결과 가중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학습활동 (SFR-037)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토론 · 위키 · 설문 · 퀴즈 · 외부 도구(LTI) 활동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성적 관리 (SFR-032)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항목별 비율 · 등급, 엑셀 입출력, 성적 공개 설정, 학사 성적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0409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0409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0949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4909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문항 유형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0409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0409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0949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4909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성적부 집계 · 학사 전송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0409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0409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0949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4909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루브릭 · 피드백 초안 (SFR-079)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8030995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80849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평가 결과 일원화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8282995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평가 결과가 성적부 한 곳에 모이고, 교수자가 확정한 성적만 학사 시스템으로 전송됩니다.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2.2.3 수강생 · 출석 · 진도 관리 · 독려 · 실시간 수업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교수자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(학생을 놓치지 않는 운영) 진도 · 출석 · 제출 현황을 한 화면에서 보고,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미학습자에게 독려 메시지를 바로 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SFR-022, SFR-024, SFR-025, SFR-026, SFR-028, SFR-029, SFR-031, SFR-033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1110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수강생 관리 (SFR-028)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수강생 · 조교 · 청강생 목록, 그룹 · 사진 명부, 엑셀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수강생 독려 (SFR-029)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미학습 · 미제출 · 결석 대상 자동 선별 → 앱 푸시 · 메일 · SMS 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출석 관리 (SFR-031)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차시별 출석부, 온 · 오프라인 통합, 출결 수정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진도 관리 (SFR-033)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콘텐츠별 학습시간 · 진도율, 미달 학습자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 설문 (SFR-022)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 중간 설문 · 익명, 결과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수업조교 · 청강 (SFR-025)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조교 · 청강 신청 · 승인, 역할별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콘텐츠 (SFR-026)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YouTube · KOCW · LTI 도구 · SCORM 패키지 탑재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수업 (SFR-024)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수업 · 협동 · 토론, PBL용 공동 문서 편집 · 그룹 게시판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57705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57705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현황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86505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진도 · 출석 · 제출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8118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757705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757705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선별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786505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미학습 · 미제출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8118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757705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757705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독려 발송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786505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푸시 · 메일 · SMS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8118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757705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757705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786505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 재개 여부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학습자 메인 · 학습현황 · 학습활동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학습자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(할 일이 먼저 보이는 화면) 학습자 메인에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오늘 할 일 · 마감 · 진도 · 새 소식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모으고, 강의실에서 시험 · 과제 · 동영상 · 실시간 수업을 바로 이어서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SFR-040, SFR-041, SFR-042, SFR-043, SFR-044, SFR-045, SFR-046, SFR-047, SFR-048, SFR-049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642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페이지 (SFR-040)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수강 강좌 · 할 일 · 마감 임박 · 공지 · 알림, 지난 강좌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학습현황 (SFR-041)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강좌별 진도율 · 출석 · 제출 · 성적 그래프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· 설문 (SFR-042 · 043)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게시판 글 · 댓글 · 첨부, 설문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프로젝트 (SFR-044)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게시판 · 공동 문서 · 팀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과제 (SFR-045 · 046)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응시 · 결과 확인, 과제 초안 저장 · 제출 · 피드백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 · 동영상 (SFR-047 · 048)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 · 차시 학습, 이어보기 · 배속 · 자막 언어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수업 (SFR-049)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화상강의 바로 입장 (모바일 포함), 참여 기록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42424"/>
            <a:ext cx="6260400" cy="102290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542424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6585624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마감을 놓치지 않게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799" y="6830424"/>
            <a:ext cx="5540400" cy="21772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마감 24시간 · 1시간 전 앱 푸시와 메인 할 일 목록으로 미제출을 줄입니다.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799" y="7066148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8799" y="7102148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할 일 통합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마감 알림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655333"/>
            <a:ext cx="6260400" cy="1022909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6800" y="765533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769853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어디서나 같은 학습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799" y="7943333"/>
            <a:ext cx="5540400" cy="21772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PC에서 보던 영상을 모바일에서 이어 보고, 진도는 하나로 합산합니다.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799" y="8179057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8799" y="8215057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이어보기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진도 통합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2.4.1 사용자 · 강좌 · 콘텐츠 · 통계 · 모니터링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관리자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(운영자 한 명이 전체를 관리) 사용자 · 강좌 · 콘텐츠 · 통계 · 서버 상태를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하나의 관리자 화면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에서 다루고, 장애 · 연동 오류는 SMS로 즉시 통지함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SFR-051, SFR-052, SFR-053, SFR-054, SFR-055, SFR-056, SFR-057, SFR-058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1110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관리 (SFR-051)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구성원 · 외부 사용자 조회 · 권한(역할) 부여, 일괄 등록, 접속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관리 (SFR-052)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학기별 강좌 개설 · 폐강 · 교수자 변경, 강좌 일괄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관리 (SFR-053)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콘텐츠 · 용량 · 사용처, CMS ↔ CDN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관리 (SFR-054)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· 학과 · 강좌별 이용 · 활동 · 콘텐츠 통계, 원격수업 운영 현황, 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모니터링 (SFR-055)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서버별 CPU · Memory · Disk · Network, 서비스 · 학사 연동 장애 · 임계치 SMS 통지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KOCW 연계 (SFR-056)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KOCW 메타데이터 추출, 강의 공개 · 공시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접속현황 (SFR-057)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· 기간별 접속자, 기기 · 브라우저 분포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팝업 관리 (SFR-058)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· 기간 · 위치별 팝업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5770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577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6310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영역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0270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 기능 통합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5770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577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6310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SMS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0270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장애 · 임계치 통지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5770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577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6310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실시간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0270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접속 · 서버 현황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2.4.2 MOOC · 비학위 과정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관리자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(정규 강의 → 공개 강의) 정규 교과 강의를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MOOC로 전환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외부 회원 · 기수 · 수료를 관리자 · 운영자 · 학습자 화면에서 일원화해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SFR-059, SFR-060, SFR-061, SFR-064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21449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(SFR-059)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일반 · SNS 사용자 관리, 일괄 추가, 정규 → MOOC 전환, 기초학력 진단평가, 학문 영역 분류, 과정 운영자 지정, 교과 · 비교과 역량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(SFR-060)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과정 단위 콘텐츠 · 기수 · 수강 · 수료 관리 (평가 · 성적은 교수자만)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학습자 (SFR-061)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과정 탐색 · 신청 · 학습 · 수료증 발급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비학위과정 (SFR-064)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학습자 페이지 일원화, 공개(Open) · 비공개(Private) 전환, 기수 운영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68049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68049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과정 개설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96849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정규 → MOOC 전환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2762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568049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568049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기수 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596849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모집 · 승인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2762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568049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568049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596849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외부 회원 · SNS 로그인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2762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568049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568049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596849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수료증 · 이력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7084497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71384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권한 분리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733649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과정 운영자는 콘텐츠 · 기수 · 수강 · 수료만 관리하고, 평가와 성적은 교수자만 다루도록 권한을 나눕니다.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98223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798223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00" y="803623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00" y="843223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회원 유형 (학사 · 일반 · SNS)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01000" y="798223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01000" y="798223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09000" y="803623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화면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09000" y="843223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 · 학습 일원화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2.5.1 동영상 학습관리 · 원격수업 운영지침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학습 운영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(원격수업 운영지침 준수) 고등교육법 시행령 제14조의2의 원격수업 기준에 맞춰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차시별 학습분량을 자동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대리출석을 본인 인증으로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SFR-015, SFR-016, SFR-063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3474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동영상 학습 (SFR-063)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플래시 미사용, PC · 모바일 진도 체크(구간 확인), 이어보기, 1.0~2.0배속, 다국어 자막 등록 · 편집 · 재생 동기화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학습분량 점검 (SFR-015)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차시별 콘텐츠 재생시간 합산, 토론 · 퀴즈 학습시간 지정 · 합산, 전체 주차 일괄 점검 (재생시간 · 총 학습시간 부족 차시 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대리출석 방지 (SFR-016)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생체 인증(안면 · 지문 — 단말 기능 활용), SMS · OTP · 이메일 본인 인증, 학습 시작 · 중간 무작위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100746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100746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172746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208746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차시 콘텐츠 · 활동 등록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208746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학습시간 지정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100746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분량 자동 합산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946746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946746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018746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054746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전체 주차 일괄 점검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054746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부족 차시 표시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946746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교수자 보완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792746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792746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864746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900746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본인 인증 후 학습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900746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구간 진도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792746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출석 인정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69274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7692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00" y="774674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2.0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배속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00" y="814274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재생 속도 조절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01000" y="769274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01000" y="7692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09000" y="774674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일괄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09000" y="814274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 주차 분량 점검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2.5.2 스마트 출석 관리 (온 · 오프라인 통합)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학습 운영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(동시 3,000명 출석) 인증번호 · 사진 · 비콘 출석을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PC · 모바일 양방향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지원하고, 온라인 학습시간과 오프라인 출석을 하나의 출석 결과로 합산함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SFR-010, SFR-068, SFR-088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16469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전자출결 (SFR-010)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인증번호 · 사진 등록 인증, 동시접속 3,000명, 부정 출결 방지(IP · 기기 · 시간 제한), 실시간 이력 · 수동 입력, 사진 · 리스트형 출석부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출석 (SFR-068)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온라인(동영상 학습시간 · 화상강의 참여 · 과제 · 퀴즈) + 오프라인 출석 통합 산출, 하이플렉스 수업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스마트 출석부 (SFR-088)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출석부 API(강좌 · 분반 · 수강생 · 시간표 · 출석부 연동), 앱 오프라인 출석부, iOS · Android 비콘 인식 자동 출결 · 상태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수업 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출석 열기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번호 · 사진 · 비콘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출석 · 지각 · 결석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 · 오프라인 합산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학사 전송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전자출결 연동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66864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66864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67404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3,000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1364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출석 동시접속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9600" y="66864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39600" y="66864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7600" y="67404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7600" y="71364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출석 방식 (번호 · 사진 · 비콘)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2400" y="66864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400" y="66864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0400" y="67404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0400" y="71364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출석부 연동 (SFR-088)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0800" y="7676470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6799" y="773047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부정 출결 방지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799" y="7928470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인증번호 유효시간 제한, 같은 기기 · IP의 다중 출석 차단, 비콘 신호 세기 확인으로 대리 출석을 막습니다.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2.5.3 모바일 LMS 앱 (iOS · Android)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학습 운영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(앱 개발 · 스토어 등록 · 운영) iOS · Android 앱 2종을 개발해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앱스토어 · 플레이스토어에 등록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앱 운영 · 유지보수와 서버 · 트래픽을 당사가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SFR-009, SFR-069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2474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앱 개발 (SFR-009)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iOS · Android 2종, 학사 연동 로그인, 설치 안내(PC · 모바일), 스토어 등록 ·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· 동영상(이어보기 · 배속 · 자막) · 과제 제출 · 시험 · 토론 · 게시판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출석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인증번호 · 비콘 자동 출결 · 오프라인 출석부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푸시 알림(공지 · 마감 · 독려 · 메시지), 알림 수신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 기기 (SFR-069)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스마트폰 · 태블릿, 반응형 · 동일 UI, 모바일 전자정부 접근성 · 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요약 · 번역 · QR 개인 자막 (SFR-077)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9907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9907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2787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iOS · Android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5865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9907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9907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2787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기기 · OS별 호환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5865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9907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9907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심사 · 등록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2787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스토어 등록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5865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9907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9907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 · 안내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2787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설치 안내 · QR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5865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9907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9907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2787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업데이트 · 모니터링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83587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스토어 심사 기간(1~2주)을 고려해 M+3 말 심사 제출, 개강 전 등록 완료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2.5.4 일정 · 알림 · 메시지 · 설문 · 수업만족도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학습 운영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(필요한 사람에게 필요한 때) 학사 · 강좌 일정과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개인화된 실시간 알림 · 1:1 메시지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소통하고, 설문과 수업만족도를 결과 통계까지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SFR-012, SFR-014, SFR-067, SFR-070, SFR-071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9474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알람 (SFR-012)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학사일정 · 강좌 일정 · 개인 일정 통합 캘린더, 마감 알람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설문조사 (SFR-014)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· 강좌 설문, 문항 유형 · 대상 지정, 익명 · 결과 통계 · 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수업만족도 (SFR-067)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말 만족도 조사, 강좌 · 학과별 결과, 교수자 열람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메시지 DM (SFR-070)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↔ 학생 · 학생 간 1:1 · 그룹 메시지, 첨부 · 읽음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알람 (SFR-071)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사용자별 알림 유형 · 채널(앱 푸시 · 메일 · SMS) 설정, 강좌 새 소식 실시간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3607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3607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앱 푸시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619946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마감 · 공지 · 독려 · DM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63607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63607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메일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6619946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학내 Mail 연계 (SFR-006)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63607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63607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6619946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학내 SMS 연계 · 장애 통지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7836746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78907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알림 피로 줄이기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088746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사용자가 알림 유형과 채널을 직접 고르고, 같은 내용의 알림은 하나로 묶어 보냅니다.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2.5.5 실시간 화상 강의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학습 운영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(Zoom · Teams 연계) 교수 · 강의실 · 주차 단위로 화상강의를 만들고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참여 시작 · 종료 · 전체 시간을 출결로 자동 반영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SFR-072, SFR-049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1430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화상강의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· 강의실 · 주차 단위 생성, 생성 시 학생 알림, URL 클릭 자동 접속 (모바일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참여자 정보 · 참여 시작 · 종료 · 전체 시간 열람, 엑셀 다운로드, 통합 출석(SFR-068)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강의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녹화 · 자막 기반 AI 강의 요약 (SFR-084 연계)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화상회의 S/W 라이선스는 RFP에 따라 별도 (학교 보유 계정 연계)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78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78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06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주차 · 강의실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78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78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06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학생 앱 푸시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78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78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06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URL 자동 접속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78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78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출결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06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 시간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78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78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06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강의 요약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184307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238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확인 사항 (서면 질의)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7436307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RFP의 'Zoom · Teams 연계 지원'과 '화상회의 S/W 라이선스 별도' 문구에 따라, 학교 보유 계정 · API 사용 범위를 분석 단계에서 확정하고 미보유 시 링크 연계 방식으로 대응합니다 (Ⅱ.2.2.2).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2.6.1 AI 자동자막 · 실시간 자막 · AI 문서뷰어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(12개 언어 이상 · 대면 수업 실시간) 업로드 영상은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자동자막 · 번역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대면 수업은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실시간 자막 최대 4개 언어 동시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강의자료는 서식을 유지한 번역 문서로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SFR-073, SFR-076, SFR-077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816469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자동자막 (SFR-073)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업로드 시 자동 생성, 12개국 이상 언어, 교수자 자막 언어 설정, 다운로드 · 교정 후 재업로드, 학습자 자막 언어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문서뷰어 (SFR-076)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뷰어 · 다운로드, 페이지 구성 · 이미지 · 표를 유지한 번역본, 학습자 언어 선택 열람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자막 · 번역 (SFR-077)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대면 수업 발화 언어 선택, 동시 최대 4개 언어 자막, PC · 모바일(QR 개인 자막), STT 텍스트 · 요약 · 스크립트 수정 · 공개 설정, 강의별 사용 · 언어 설정 · 이용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음성 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 · 강의실 마이크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Whisper 계열 · 스트리밍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교정 · 용어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강좌 용어집 반영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번역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LLM 번역 12개 언어+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8782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28247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2824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57047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 하단 · QR 개인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686470"/>
          <a:ext cx="6260400" cy="1274248"/>
        </p:xfrm>
        <a:graphic>
          <a:graphicData uri="http://schemas.openxmlformats.org/drawingml/2006/table">
            <a:tbl>
              <a:tblPr firstRow="0" bandRow="0"/>
              <a:tblGrid>
                <a:gridCol w="4695300"/>
                <a:gridCol w="15651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언어 (예시 12개)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· 영어 · 중국어 · 일본어 · 베트남어 · 몽골어 · 우즈베크어 · 인도네시아어 · 러시아어 · 스페인어 · 프랑스어 · 독일어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【유학생 국적 기준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280800" y="8068719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6799" y="812271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강좌 용어집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799" y="832071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교수자가 전공 용어를 등록하면 자막 · 번역에 그대로 반영해 전문 용어 오인식을 줄입니다.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2.6.2 AI 퀴즈 자동생성 · 문제출제 · 루브릭 평가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(교수자 출제 부담 경감) 강의자료 · 영상 구간에서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난이도 · 목적 · 유형을 지정해 문항을 생성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교수자 검토 후 문제은행에 쌓아 재사용함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SFR-074, SFR-079, SFR-085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0442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퀴즈 자동생성 (SFR-074)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· 영상 기반 생성, 영상 출제 구간 지정, 난이도 · 출제 목적 · 문항 유형 설정, 12개 언어 이상, 복습 가이드(자료 쪽 · 영상 시점)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자동화 (SFR-074)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루브릭 평가, AI 자동 평가 · 피드백 초안 (교수자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문제출제 · 추천 (SFR-085)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기반 출제, 성취도 분석 후 보충자료 추천, 멀티미디어 에디터, 중간 · 기말 · 형성평가, 선다 · 단답 · 서술 · O/X, 자동 · 수동 채점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문제은행 (SFR-085)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문항 재사용 · 관리, 난이도 자동 분류, 부정행위 방지 솔루션 연동, 서술형 평가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루브릭 (SFR-079)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루브릭 생성 → 교수자 수정 → 루브릭 기반 채점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570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570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642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678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자료 · 구간 선택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678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난이도 · 유형 지정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570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문항 초안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308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308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380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416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교수자 수정 · 승인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416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출처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308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문제은행 저장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046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046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118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154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자동 채점 · 루브릭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154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피드백 초안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046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성적 반영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838424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8924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교수자가 최종 결정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090424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AI가 만든 문항 · 루브릭 · 피드백은 모두 초안이며, 교수자가 확인한 뒤에만 학생에게 공개됩니다.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2.6.3 AI 코스워크 · AI 과제 · AI 토론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 · 과제 · 토론에 AI) 강의실 템플릿으로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강의 유형에 맞는 코스를 바로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과제 작성 도우미와 토론 요약 · 활동 분석을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SFR-075, SFR-080, SFR-081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730512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939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코스워크 (SFR-075)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 유형(학사 메타데이터) · 방법(일반 · 온라인 · 혼합)별 템플릿, 모듈 선택 구성 · 수정 · 복제 · 삭제, 주차 · 차시 이동 · 재배치, 주차 · 토픽 선택, 가져오기 · 내보내기, 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상호작용 활동 (SFR-080)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주제 · 자유 발언 토론, 보드 · 스레드형, 팀별 토론방, 자기 · 동료 평가, AI 토론 요약 · 참여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39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제출 활동 (SFR-081)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 첨부 · 댓글, 초안 저장, AI 학습지원도구(계획 수립 · 목차 · 구조 설계 · AI 피드백), 제출 상태 조회, 협업 과제 · 버전 관리, 모바일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196513"/>
            <a:ext cx="6260400" cy="104705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519651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523971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코스 템플릿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799" y="5484513"/>
            <a:ext cx="5540400" cy="22598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강의 유형별 기본 주차 · 활동을 자동 배치해 학기 준비 시간을 줄입니다.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799" y="5728498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8799" y="5764498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일반 · 온라인 · 혼합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가져오기 · 내보내기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333568"/>
            <a:ext cx="6260400" cy="104705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6800" y="6333568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6376768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도우미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799" y="6621568"/>
            <a:ext cx="5540400" cy="22598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답을 대신 쓰지 않고 계획 · 목차 · 구조를 안내하고 초안에 피드백합니다.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799" y="6865552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8799" y="6901552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학습 과정 지원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교수자 사용 설정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470622"/>
            <a:ext cx="6260400" cy="104705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6800" y="7470622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7513822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토론 분석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799" y="7758622"/>
            <a:ext cx="5540400" cy="22598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토론 핵심 쟁점 요약과 학생별 참여 · 상호작용 지표를 교수자에게 제공합니다.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799" y="8002607"/>
            <a:ext cx="5540400" cy="49707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8799" y="8038607"/>
            <a:ext cx="5432400" cy="443070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요약 · 쟁점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참여 지표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2.6.4 AI 튜터 · AI Q&amp;A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(수업 자료 기반 · 출처 제시) 오픈소스 LLM 엔진과 RAG로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강의자료 · 과제 · 영상에 근거한 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학습자 수준에 맞춰 주고, 답마다 교안 · 링크 출처를 붙임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SFR-082, SFR-083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182640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엔진 (SFR-082)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LLM 기반 엔진 구축, 추천 질의, 강의자료 · 과제 · 영상 기반 응답, 수준별 맞춤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학습 (SFR-082)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txt · docx · md · csv · html · htm · xlsx, RAG 벡터 구성 필수, 학습 완료 · 학습 중 · 학습 실패 상태값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 (SFR-082 · 083)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· 영어 기본, 입력 언어 자동 감지 · 같은 언어 응답 (교안 원문 언어와 무관)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Q&amp;A (SFR-083)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자연어 맥락 이해, FAQ 데이터셋 연동, 근거 · 출처 제시, 파라미터(온도 · 유사 답변 수) 조절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관리 (SFR-083)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스레드 · 이전 대화 탐색 · 이어하기, 재개설 과목용 저장 · 불러오기 · 공유 · 편집, 질의응답 데이터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플러그인 (SFR-082)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강의실에 AI 튜터 플러그인 추가 · 사용 여부 설정 (교수자)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언어 자동 감지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범위 검색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수강 강좌 자료만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수준별 설명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교안 쪽 · 영상 시점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대화 저장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스레드 · 공유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944642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94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99864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394642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학습 문서 형식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944642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94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99864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394642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답변 출처 표시 (평가셋)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2.6.5 AI 요약 · 번역 · 개인화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(핵심을 빠르게 · 나에게 맞게) 강의자료 · 영상 · 피드백 · 공지를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시험 대비 · 주차별 · 과제 지시 요약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만들고, 수강 · 소속 · 학년 · 전공을 고려해 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SFR-084, SFR-086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05758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요약 (SFR-084)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· 영상 · 교수 피드백 · 공지 자동 분석, 시험 대비 핵심 · 주차별 · 과제 지시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번역 (SFR-084)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↔ 영어 기본 + 추가 언어, 교수자 검토 · 승인 후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경로 (SFR-084)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대시보드 위젯 · 과목 자료실 '요약 · 번역' 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 (SFR-086)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수강정보 기반 강의 질의응답, 소속 · 학년 · 전공 고려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에이전트 (SFR-086)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학사정보시스템 공지 · 학교 소식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설정 (SFR-086)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정보 활용 범위 사용자 설정, 동기화 주기 · 방식 관리자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2358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5235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 대비 요약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8278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개념 · 예상 문항 포인트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652358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65235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주차별 요약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678278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주차 핵심 · 다음 주 준비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652358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65235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과제 지시 요약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678278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제출물 · 기한 · 평가 기준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7891585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79455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품질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143585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번역 · 요약 자료는 교수자 승인 상태(검토 중 · 승인 · 반려)를 표시하고, 승인된 자료만 학생에게 공개합니다.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2.6.6 AI LLM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(모델은 바뀌어도 서비스는 그대로) LLM을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플러그인으로 추가 · 교체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모델별 응답시간 · 토큰 사용량을 모니터링하며 RAG 데이터 소스를 화면에서 추가함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SFR-087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437056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플러그인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AI 모델 + 클라우드 API 최신 모델(OpenAI · Anthropic · Google 및 유사 서비스) 등록 · 교체, 기능별 기본 모델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데이터 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· 파일 · 게시판 데이터 소스 동적 추가, 수집 주기 · 범위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모델별 응답시간 · 토큰 사용량 · 오류율, 기간별 추이, 사용량 한도 · 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기설치 모델 업데이트, 서버 변경 시 재설치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관리자가 지정한 정보(홈페이지 · 파일) 학습 · 상태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903056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903056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기능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59750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튜터 · Q&amp;A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63400" y="59750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요약 · 번역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4000" y="59750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퀴즈 · 루브릭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24600" y="59750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토론 분석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5903056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SFR-074~086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6399856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6399856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게이트웨이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64718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라우팅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63400" y="64718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사용량 한도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4000" y="64718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24600" y="64718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로그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6399856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SFR-087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6896656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6896656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69686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온프레미스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63400" y="69686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OpenAI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4000" y="69686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Anthropic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24600" y="6968656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Google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6896656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플러그인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800" y="74294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클라우드 API 이용료 부담 주체는 서면 질의로 확인 (RFP 미기재), 미확정 시 사용량 한도 기본값 적용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6454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6454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800" y="76994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 이내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800" y="80954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모델 교체 · 적용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01000" y="76454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01000" y="76454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9000" y="76994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실시간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9000" y="80954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응답시간 · 토큰 모니터링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2.6.7 학습 모니터링 · 학습위기 예측 · 조기경고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AI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(위기 학생을 먼저 찾음) 학습 로그로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학업 부진 · 학습활동 중단 · 중도이탈 가능성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주 1회 예측하고, 교수자 · 운영자 대시보드에 조기경고와 맞춤 피드백을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SFR-078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44080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현황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· 개별 학습 현황, 콘텐츠별 학습시간 · 진도, 엑셀 다운로드, 강좌 행동 기록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패턴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그룹별 비교 · 선호 학습 시간대 · 콘텐츠 선호도 인사이트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출결 규정 기준 부진자 · 과제 미제출자 · 점수 미달자 자동 판별 · 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학습 데이터 학습 → 부진 · 중단 · 이탈 위험 점수, 위험 요인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참여도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집중도 · 상호작용 빈도 · 과제 제출 패턴 종합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위험군 대시보드, 학생별 맞춤 피드백 · 상담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90680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90680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97880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014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접속 · 진도 · 출석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014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제출 · 성적 · 토론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90680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로그 표준화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64480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64480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71680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752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규칙 기반 조기경고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752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ML 위험 예측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64480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위험 점수 · 요인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38280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38280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45480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490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교수자 독려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490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상담 · 비교과 추천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38280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결과 추적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174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8174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00" y="8228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위험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00" y="8624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부진 · 중단 · 이탈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01000" y="8174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01000" y="8174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09000" y="8228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주 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09000" y="8624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위험 예측 갱신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2.7.1 역할별 대시보드 · 학생 · 교수자 포털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포털 · 통합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(교내 사이트를 한 포털로) SSO로 로그인한 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역할별 위젯 포털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에서 교과 · 성적 · 비교과 · 진단 결과와 교내 사이트 바로가기를 한 화면으로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SFR-065, SFR-090, SFR-091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3474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대시보드 (SFR-065)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과목 · 과거 강좌, 메시지 · 새 소식 · 할 일 통합, 역할별(학생 · 교수 · 관리자) 위젯, 진도율 · 제출 · 출석률 차트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포털 (SFR-090)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 사이트 통합 포털, 학사종합정보 등 데이터 연동, SSO · SSL, 위젯 포틀릿 · 바로가기, 교과 · 성적 · 비교과 · 진단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포털 (SFR-091)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지도학생 관리, 교수자별 강의실 목록, 역량진단 결과 통합 관리, 바로가기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1007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51007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위젯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35994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진도 · 과제 · 출석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51007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51007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성적 ·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535994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성적 · 역량진단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51007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51007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비교과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535994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성장마루 신청 · 이수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51007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51007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바로가기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535994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교내 사이트 SSO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6576746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66307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위젯 구성 원칙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6828746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사용자가 위젯을 추가 · 이동 · 숨길 수 있고, 학교가 지정한 필수 위젯(공지 · 할 일)은 고정합니다.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6800" y="747448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316800" y="74744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SSO 로그인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800" y="776248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 확인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1493280" y="80702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590480" y="747448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1590480" y="74744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26480" y="776248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역할별 위젯</a:t>
            </a:r>
          </a:p>
        </p:txBody>
      </p:sp>
      <p:sp>
        <p:nvSpPr>
          <p:cNvPr id="54" name="Isosceles Triangle 53"/>
          <p:cNvSpPr/>
          <p:nvPr/>
        </p:nvSpPr>
        <p:spPr>
          <a:xfrm rot="5400000">
            <a:off x="2766960" y="80702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864160" y="747448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>
            <a:off x="2864160" y="74744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교내 사이트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00160" y="776248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바로가기</a:t>
            </a:r>
          </a:p>
        </p:txBody>
      </p:sp>
      <p:sp>
        <p:nvSpPr>
          <p:cNvPr id="58" name="Isosceles Triangle 57"/>
          <p:cNvSpPr/>
          <p:nvPr/>
        </p:nvSpPr>
        <p:spPr>
          <a:xfrm rot="5400000">
            <a:off x="4040640" y="80702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137840" y="747448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>
            <a:off x="4137840" y="74744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e클래스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73840" y="776248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강의실</a:t>
            </a:r>
          </a:p>
        </p:txBody>
      </p:sp>
      <p:sp>
        <p:nvSpPr>
          <p:cNvPr id="62" name="Isosceles Triangle 61"/>
          <p:cNvSpPr/>
          <p:nvPr/>
        </p:nvSpPr>
        <p:spPr>
          <a:xfrm rot="5400000">
            <a:off x="5314320" y="80702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411520" y="747448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>
            <a:off x="5411520" y="74744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성장마루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7520" y="776248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비교과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2.7.2 성장마루(비교과) UI/UX 고도화 · 시스템 통합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포털 · 통합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(기능 · 데이터는 유지, 화면은 하나로) 성장마루의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비교과 조회 · 신청 · 이수 · 역량진단 · 상담 기능과 데이터를 유지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하면서 e클래스2.0 UI/UX 체계로 전환함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SFR-092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1076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27389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(성장마루)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 후 (e클래스2.0 체계)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· 신청 화면 별도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상세 · 신청 화면 일원화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이수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· 이수 현황 별도 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위젯 · 학습현황과 함께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역량진단 · 상담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기능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유지, 결과를 포털 진단 위젯에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성장마루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데이터 유지 · 연계 API로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로그인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통합 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현행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화면 · 기능 목록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87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디자인 체계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컴포넌트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87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전환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화면 우선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87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 · 시험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정합성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7680769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773476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교과 · 비교과 통합 효과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793276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학생은 한 포털에서 수업과 비교과 활동을 함께 관리하고, 학습위기 경고 학생에게 비교과 프로그램을 바로 추천할 수 있습니다.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2.7.3 온라인시험 부정행위 방지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포털 · 통합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(공정한 온라인 시험) 부정방지 시스템을 LMS 시험과 연동해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전체화면 전환 · 단축키 · 타 프로그램 차단 · 1기기 응시 · 웹캠 녹화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SFR-089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6752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출제 시 부정행위 방지 사용 설정, 학습자 부정방지 서비스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녹화 기기 준비 자동 체크, 설치 PC 자가점검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응시 중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웹캠 영상 · 사진 자동 녹화, 전체화면 전환, 브라우저 메뉴 · 도구 제한, 복사 · 붙여넣기 단축키 차단, 화면 공유 · 캡처 · 녹화 · 인쇄 등 타 앱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기기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계정 동시 응시 1대, 동일 계정 1개 기기 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응시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 · 기기 · 브라우저 종류 · 이벤트 로그 관리자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출제 설정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부정방지 사용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사전 점검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기기 · 웹캠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전체화면 · 차단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녹화 · 로그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 · 이벤트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· 교수자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790152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부정방지 솔루션은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【제품명 · 연동 방식】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확정 후 기재 (학교 보유 솔루션 연동 또는 제공)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81175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81175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00" y="817152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800" y="85675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계정당 응시 기기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01000" y="81175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01000" y="81175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9000" y="817152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9000" y="85675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웹캠 녹화 · 로그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인증 · 관리자 · 전송 구간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구현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(로그인부터 전송까지) 관리자 로그인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5회 실패 시 10분 차단 · 동시 로그인 차단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인증정보 하드코딩 금지, 전 구간 TLS 암호화를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SER-002, SER-005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1430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로그인 (SER-001)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5회 이상 실패 시 10분 접속 제한, 동일 계정 동시 로그인 차단, 관리자 접속 IP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 보호 (SER-002)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 · 비밀번호 하드코딩 금지(환경 변수 · 비밀 저장소), 주민번호 대체 수단(I-PIN · 휴대폰), 개인정보 암호화, SSL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암호화 (SER-005)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PC ~ 웹서버 TLS 1.2 이상, 로그인 정보 스니핑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로그아웃, 최종 접속 IP · 시간 표시, 세션 고정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780307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780307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구간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58523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TLS 1.2+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3600" y="58523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인증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14400" y="58523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자동 로그아웃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5780307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241107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241107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애플리케이션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63131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권한(RBAC · CRUD)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63131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입력값 검증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63131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로그인 제한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6241107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SER-001 · 004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701907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701907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67739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개인정보 암호화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67739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6773907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접근 이력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6701907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SER-003 · 009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2347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72347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800" y="72887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800" y="76847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실패 시 10분 차단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9600" y="72347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39600" y="72347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7600" y="72887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TLS 1.2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47600" y="76847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 구간 암호화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62400" y="72347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62400" y="72347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70400" y="72887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70400" y="76847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하드코딩 인증정보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개인정보 · 데이터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구현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(저장 · 화면 · 이력 모두 보호) 개인정보는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DB 암호화 저장 · 관리자 화면 마스킹 · 이력 암호화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적용하고, 업무 · 데이터 중요도별로 접근 권한을 차등 부여함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SER-003, SER-009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440769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비밀번호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단방향 암호화(SHA-256 이상 · Salt)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 · 계좌 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양방향 암호화(ARIA · AES-256) 저장, 관리자 화면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 화면 · 이력 정보도 암호화, 미암호화 정보 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 · 변조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무결성 검증, 중요 데이터 변경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· 데이터 중요도별 차등 권한, 개인정보 열람 사유 ·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전송 시 학번 · 성명 비식별, 학습 데이터 학내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906769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90676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암호화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165969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단방향 · 양방향 구분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6906769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690676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7165969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화면 포함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6906769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690676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접근 이력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7165969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열람 사유 · 통계 (COR-001)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3.1.3 웹 취약점 · SW 개발보안 · 모의해킹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구현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종료 전 취약점 0건) 행정안전부 「SW 개발보안 가이드」를 설계부터 적용하고,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정보보호 전문가가 참여한 취약점 점검 · 모의해킹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후 조치 결과를 정보보안 담당관 검토로 마무리함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SER-004, SER-006, SER-007, SER-008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0411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보안 (SER-004)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SQL 삽입 · XSS · 웹쉘 업로드 · 임의 파일 다운로드 차단, 입력값 검증 · 오류 정보 노출 방지 · 디버그 코드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규정 (SER-006)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보안 지침, OS · 웹서버 보안 패치 · 설정, 소스코드 보안약점 진단, 착수 전 보안교육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취약점 · 모의해킹 (SER-007)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NIA 「정보시스템 구축 단계별 정보보호 가이드라인」 준수, 정보보호 전문가(석사 · 경력 3년 · CISSP · CISA · SIS) 참여, 점검 보고서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보안 (SER-008)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XML 서명 · 암호화 · WS-Security · SAML, ARIA · RSA 2048비트 이상, 검증필 암호모듈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470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470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542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578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 요구 반영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578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시큐어코딩 기준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470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 설계서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262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262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334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370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정적 분석 도구 진단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370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보안약점 조치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262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 결과서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054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054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126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162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취약점 점검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162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모의해킹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054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 보고서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846113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846113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918113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954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· 재점검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954113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정보보안 담당관 검토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846113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사업 종료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데이터 표준화 · 품질 · SQL 튜닝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데이터 표준 ·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(표준 용어 · 코드부터) 현행 데이터 표준과 요구를 바탕으로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용어 · 도메인 · 코드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정하고, 변경 DB의 품질과 성능을 SQL 점검으로 유지함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DAR-001, DAR-002, DAR-006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8430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 (DAR-001)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 항목 도출 → 표준 용어 · 도메인 · 코드 정의 → 명명 규칙 적용 → 표준 준수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 (DAR-002)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대상 식별, 양방향 · 단방향 암호화 구분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SQL 튜닝 (DAR-006)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관리(표준 용어 · 정규화), 인덱스 조정, 문제 쿼리 사전 발견(실행계획 · 느린 쿼리 로그) ·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15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15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현행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43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용어 · 코드 · 구조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74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15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15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43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용어 · 도메인 · 코드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74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15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15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43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논리 · 물리 ERD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74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15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15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43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준수율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74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15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15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튜닝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43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실행계획 · 인덱스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6554307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6554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6608307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004307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 용어 준수 (신규 테이블)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6554307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6554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6608307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7004307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주요 조회 쿼리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7544307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7598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데이터 모델링 도구 적용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779630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RFP 데이터관리 사항에 따라 모델링 도구와 애플리케이션 영향분석 도구로 표준화 설계 · 개발하고, 변경 시 영향 범위를 확인합니다.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데이터 이관 계획 및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데이터 이관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(3회 모의 이관 후 본 이관) 콘텐츠 · 사용자 · 수강 · 성적 · 로그를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선 이관 대상과 최종 이관 대상으로 나누어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개통 직전 이관 시간을 최소화함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SFR-008, DAR-003, DAR-004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콘텐츠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동영상 파일 · 강의자료실 · 과제 첨부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 이관 (M+2)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강좌 소개 · 공지사항 · 질의응답 · 상담게시판 · 각종 게시물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 이관 + 변경분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수강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정보 · 수강이력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이관 (개통 직전)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성적 · 출석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성적 · 출석 · 과제 제출 ·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로그 · 접속 이력 (분석용)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 이관 + 변경분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42080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42080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49280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528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DB · 파일 분석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528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매핑 · 코드 변환 정의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42080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 계획서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15880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15880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모의 이관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23080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266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1차 (구조) · 2차 (전체)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266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3차 (시간 측정)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15880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 시나리오 확정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89680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89680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본 이관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96880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004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선 이관 · 최종 이관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00480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검증 · 대사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89680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 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688808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74280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이관 시간 최소화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794080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용량이 큰 동영상 · 첨부는 미리 옮기고 개통 직전에는 변경분과 사용자 · 성적만 옮겨, 서비스 중단 시간을 최소화합니다.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4.2.2 이관 검증 · 에러 데이터 처리 · 아카이브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데이터 이관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(이관 오류 0건) 단계별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건수 · 합계 · 표본 대사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무결성을 확인하고, 오류 데이터는 원인별로 자동 재처리하며, 구 e클래스는 아카이브로 조회함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SFR-008, DAR-003, DAR-004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286710"/>
                <a:gridCol w="17998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건수 · 파일 수 · 용량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누락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매핑 · 형식 검증, 메타데이터 코드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오류 목록화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· 합계(성적 · 출석) 대사, 표본 화면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· 합계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· 운영자 표본 강좌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서명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299048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에러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불일치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 테이블 보완 후 자동 재이관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필수값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확인 → 기본값 · 담당자 확인 후 보정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손상 ·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재추출, 불가 시 목록 보고 · 교수자 재등록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키 기준 병합 · 이력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161048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21504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아카이브 체계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413048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 e클래스 데이터는 읽기 전용 아카이브로 남겨 지난 강좌 · 성적 · 게시물을 계속 조회하게 하고, 복구가 필요하면 원본으로 되돌릴 수 있게 보존합니다.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4.3.1 백업 요구사항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백업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(일 1회 전체 백업)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소스와 DB 전체를 1일 단위로 백업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학교 백업시스템과 연동 · 설정을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1430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173825"/>
                <a:gridCol w="2347650"/>
                <a:gridCol w="140859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 (전체) + 수시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덤프 · 증분, 학교 백업시스템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【보관 기간 협의】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 · 배포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 저장소 + 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 (증분)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동기화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 · 변경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벡터 DB · 모델 설정 스냅숏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 4회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78030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78030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06830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 1회 자동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578030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578030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06830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복구 테스트 월 1회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578030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578030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06830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학교 백업시스템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37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5780307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5780307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068307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장애 시 절차 실행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7184307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6800" y="7184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4800" y="7238307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4800" y="7634307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백업 주기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01000" y="7184307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01000" y="7184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09000" y="7238307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월 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9000" y="7634307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복구 시험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0800" y="8174307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6799" y="8228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학교 백업시스템 연동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799" y="842630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학내 백업시스템의 대상 · 주기 설정을 지원하고, 복구 절차서를 운영자에게 넘깁니다.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법 · 지침 준수 및 대응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제약사항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(제약사항 → 구현 → 테스트) 개인정보보호법 · 웹 표준 · 개발 지침을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설계 기준으로 반영하고, 테스트 항목으로 확인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COR-001, COR-002,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250905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738925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939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개인정보보호법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열람 이력 · 사유 입력, 이력 통계 화면, 고유식별정보 암호화, 접근 · 열람 · 저장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처리 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39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 · 호환성 (COR-002)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W3C Markup · CSS 검사 통과, 3종 이상 브라우저, Windows 8 이상, ActiveX 금지, KWCAG 2.1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W3C 검사 · 브라우저 교차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09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지침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구축 · 운영지침, 웹사이트 구축운영 가이드, 호환성 지침, 접근성 제작기법 2.2, 모바일 전자정부 지침, SW 개발보안 · 보안약점 진단 가이드, 전남대 정보보안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지침 준수 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5716906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577090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웹 접근성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596890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RFP는 KWCAG 2.1과 접근성 제작기법 2.2를 함께 제시하므로, 상위 기준인 2.2를 적용해 두 기준을 모두 충족합니다.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800" y="6597489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316800" y="659748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 수립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6885489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 표준안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493280" y="713928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590480" y="6597489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1590480" y="659748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6480" y="6885489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설계서 점검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2766960" y="713928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64160" y="6597489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2864160" y="659748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0160" y="6885489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시큐어코딩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040640" y="713928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137840" y="6597489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4137840" y="659748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테스트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3840" y="6885489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점검표 · 도구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5314320" y="713928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11520" y="6597489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5411520" y="659748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7520" y="6885489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결과서 제출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893489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89348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800" y="7947489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800" y="8343489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브라우저 호환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01000" y="7893489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01000" y="789348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9000" y="7947489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9000" y="8343489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ActiveX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5.1.2 저작권 · 지식재산권 · 모듈화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제약사항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(저작권 분쟁 0건 · 컴포넌트 구조) 디자인 · 이미지 · 폰트 · S/W는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구매 또는 공개 라이선스만 사용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기능별 컴포넌트로 개발해 확장 · 재사용을 보장함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COR-004, COR-005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· 콘텐츠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· 폰트는 구매 또는 상업 이용 가능 라이선스, 사용 목록 · 증빙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라이선스(GPL · Apache · MIT 등) 목록 · 의무 사항 정리, 고지문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권리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발주자 · 사업자 공동 소유 원칙, 세부 협의, 관할 법원은 발주자 소재지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모듈화 (COR-005)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기능별 컴포넌트 · 공통 서비스 분리, 내 · 외부 연계 공통 기능 포함, 표준화된 절차 ·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847076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847076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5919076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UI 컴포넌트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5919076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역할별 화면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5847076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디자인 시스템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6307876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6307876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모듈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6379876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강좌 · 출결 · 시험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6379876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· 미디어 · 포털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6307876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플러그인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6768676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6768676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서비스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6840676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인증 · 권한 · 알림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6840676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· 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6768676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재사용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7301476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735547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저작권 분쟁 대응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7553476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저작권 침해 분쟁이 생기면 민 · 형사상 책임을 당사가 지며, 사용한 모든 이미지 · 폰트 · 오픈소스의 라이선스 목록을 산출물로 제출합니다.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품질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인터페이스 요구사항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응답시간 · 오류 응답 · 자동 복구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성능 목표 및 구현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(모든 페이지 3초 이내) 웹페이지 응답과 오류 메시지를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3초 이내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구현하고, 10초 이상 작업과 5,000건 이상 대량 처리는 팝업으로 알리며, 장애는 5분 이내 자동 복구함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20430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330335"/>
                <a:gridCol w="35214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캐시(Redis) · 쿼리 튜닝 · 정적 자원 CDN · 페이지 분할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단계 검증(클라이언트 · 서버), 조치 방법을 담은 메시지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작업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비동기 처리 · 진행 팝업 · 완료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대량 조회 · 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5,000건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시작 시 영향 안내 팝업, 백그라운드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2식 부하 분산 · 상태 점검 · 자동 재기동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출석 동시접속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출석 전용 경량 API · 캐시 · 큐 처리 (SFR-010)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응답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스트리밍 응답 · 캐시 · 모델 경량화 (GPU 확정 후 목표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63430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성능 예외: 조회 10,000건 초과, 500KB 이상 이미지 · 동영상 페이지, 배치 업무 처리 중 (PER-001)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8503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850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9043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3003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페이지 · 오류 응답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8503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850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9043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분 이내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3003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장애 자동 복구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8503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8503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9043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3,000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3003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출석 동시접속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성능 분석 도구 · 시험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성능 시험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(측정해서 증명) 부하 시험 도구로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개강 첫 주 수준의 동시 사용 시나리오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재현하고, 목표 미달 구간은 튜닝 후 재시험해 결과서로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PER-002, TER-001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94430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208454"/>
                <a:gridCol w="17216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응답시간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 50개 반복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출석 3,000명 동시 · 강의실 · 동영상 혼합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오류율 1% 미만 · 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 연속 정상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누수 · 응답 저하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복구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1식 강제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 이내 자동 복구 · 서비스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성능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자막 동시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【목표 응답】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410307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410307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482307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518307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시나리오 · 목표 정의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518307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부하 도구 · 모니터링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410307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성능 시험 계획서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256307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256307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328307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364307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단계별 부하 증가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364307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병목 측정 (APM)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256307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측정 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8102307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8102307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8174307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8210307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쿼리 · 캐시 · 설정 튜닝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8210307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8102307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성능 시험 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연계 방안 비교 및 선정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시스템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(연계 대상별 최적 방식) 연계 방식의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장단점을 비교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실시간성이 필요한 곳은 API, 대량 동기화는 배치, 인증은 SSO로 정하고 오류 시 자동 재시도함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SFR-003, SFR-005, SFR-006, SFR-092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370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721610"/>
                <a:gridCol w="1721610"/>
                <a:gridCol w="16433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· 표준 · 확장 쉬움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상대 시스템 API 개발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전자출결 · 성장마루 · 출석부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연계 (View · 배치)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대량 처리 · 개발 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실시간성 낮음 · 구조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구성원 · 강의 · 수강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로그인 · 보안 일원화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정책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인증 · 포털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가장 단순 · 임시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수작업 ·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지연 시 임시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LTI · SCORM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표준 · 콘텐츠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도구별 설정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학습도구 · 콘텐츠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903056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408590"/>
                <a:gridCol w="1408590"/>
                <a:gridCol w="203463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학사행정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배치 +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 이상 · 수동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건별 실패 기록 ·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전자출결 · 성적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· 일괄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재시도 3회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 비상 로그인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성장마루 · KOCW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· 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정합성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UI/UX 분석 · 설계 · 디자인 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사용자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(사용자가 검증한 화면) 교수자 · 학생 대상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사용성 분석 → 디자인 시안 → 프로토타입 검증 → 구현 → 접근성 · 사용성 시험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순서로 화면을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SIR-002, SFR-017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e클래스 사용성 진단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교수자 · 학생 인터뷰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 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 과제 목록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312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정보구조 · 화면 흐름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312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디자인 시스템 (색 · 글꼴 · 컴포넌트)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화면 설계서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158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메인 · 서브 시안 2종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158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최신 트렌드 · 유니버설 디자인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시안 확정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5004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프로토타입 사용성 평가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5004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접근성 · 호환성 시험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 반영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795999"/>
          <a:ext cx="6260400" cy="198753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(SIR-001)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최신 트렌드 시안 제시, 직관적 인터페이스, 메인 · 서브 통일성, 저작권 문제 없는 디자인 · 폰트, 신규 콘텐츠 이미지 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메시지 제공 (SIR-002)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· 수정 · 삭제 등 모든 이벤트 확인 메시지, 오류 내용과 해결 방법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891538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94553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수상 경험을 가진 디자인 조직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143538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국립중앙박물관 교육 플랫폼 '모두'로 iF Design Award(2023)를 받은 디자인 조직이 e클래스2.0의 화면과 디자인 시스템을 맡습니다.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관리방법론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일정계획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위험 · 진도 · 보안 · 형상 · 문서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(5개 관리 영역)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사업위험 · 사업진도 · 보안 · 형상 · 문서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관리 도구와 주간 보고로 관리하고, 이슈는 발견 당일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PMR-002, 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625240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660670"/>
                <a:gridCol w="1565100"/>
                <a:gridCol w="93905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이슈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식별 · 평가 · 대응 계획, 이슈대장 · 담당자 · 기한, 발견 당일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위험관리대장 · 이슈대장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공정률 · 마일스톤, 계획 대비 지연 시 만회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· 주간보고서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 · 교육, 자료 반출입 통제, 원격지 개발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· 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산출물 · AI 프롬프트 · 모델 설정 버전, 변경 요청 ·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· 변경관리대장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표준 양식 · 목록 · 승인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131개 추적표, 변경 시 영향 분석 · 과업심의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09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09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37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 회의 · 현장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68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09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09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37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이슈 · 위험대장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68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09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09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37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 · 원인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68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09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09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37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 · 기한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68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09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09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· 보고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37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보고 체계 · 검수 · 산출물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(보고는 간결하게, 검수는 근거로) 착수 · 완료 보고와 주간 · 월간 보고를 운영하고, 정기 보고는 RFP에 따라 서류 보고로 대체 가능하게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14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330335"/>
                <a:gridCol w="375623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10일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· 조직 · 일정 · 위험 · 보안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공정률 · 이슈 · 다음 주 계획 (서류 보고 대체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 달성 · 위험 · 변경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· 산출물 · 성능 · 보안 점검 결과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80000"/>
          <a:ext cx="6260400" cy="268430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보고서 접수일부터 14일 이내, 계약서 · 과업지시서 · 수행계획서 대조, 불일치 시 즉시 보완 · 재검수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종류 · 주요 내용 · 작성 및 제출 시기 · 부수를 일정 · 품질보증 계획과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반출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 행사용 반출 요청 시 누출금지 정보 삭제 · 대표 명의 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2.1.1 120일 세부 추진 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(학기 시작 전 오픈) 120일을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분석 · 설계 4주 → 개발 8주 → 시험 · 이관 3주 → 시범 운영 · 오픈 · 안정화 2주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나누고, 마일스톤마다 발주기관 확인을 받음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7" cy="55704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978187"/>
                <a:gridCol w="978187"/>
                <a:gridCol w="978187"/>
                <a:gridCol w="978187"/>
                <a:gridCol w="939059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 (1~30일)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 (31~60일)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 (61~90일)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(91~120일)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착수 보고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3주 차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맞춤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2주 반복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2주 반복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포털 · 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스토어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모바일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모의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모의 2 ·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본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 · 보안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모의해킹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운영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· 안정화 ·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800042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계약일 확정 후 학기 일정(개강 · 수강신청)에 맞춰 오픈 시점을 조정하고, 개강 4주 전 기능 동결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8216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821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82704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666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프로토타입 시연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8216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821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82704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666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모의 이관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8216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821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82704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666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완료 · 안정화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마일스톤 · 중간목표 · 자원 배치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(중간목표로 일정 통제) 6개 마일스톤마다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완료 기준과 확인 주체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정하고, 활동별로 담당 팀과 인력을 배정해 병렬로 진행함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410714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939059"/>
                <a:gridCol w="2738925"/>
                <a:gridCol w="11738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승인 · 보안서약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프로토타입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· 강의실 · AI 튜터 · 자막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설계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설계서 · 디자인 시안 · 이관 계획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 · 정보화본부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개발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단위시험 완료 · 추적률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시험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중순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 · 보안 시험 통과, 결함 조치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· 정보보안 담당관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오픈 ·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이관 · 시범 운영 · 교육 · 오픈 · 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6573146"/>
            <a:ext cx="9534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6573146"/>
            <a:ext cx="9534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MS1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6861146"/>
            <a:ext cx="8814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(10일)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2810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78200" y="6573146"/>
            <a:ext cx="9534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378200" y="6573146"/>
            <a:ext cx="9534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MS2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4200" y="6861146"/>
            <a:ext cx="8814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시연 (3주)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3424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39600" y="6573146"/>
            <a:ext cx="9534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439600" y="6573146"/>
            <a:ext cx="9534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MS3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75600" y="6861146"/>
            <a:ext cx="8814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(M+1)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34038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501000" y="6573146"/>
            <a:ext cx="9534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3501000" y="6573146"/>
            <a:ext cx="9534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MS4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6999" y="6861146"/>
            <a:ext cx="8814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 (M+2)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44652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62400" y="6573146"/>
            <a:ext cx="9534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4562400" y="6573146"/>
            <a:ext cx="9534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MS5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8400" y="6861146"/>
            <a:ext cx="8814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시험 (M+3)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55266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623800" y="6573146"/>
            <a:ext cx="9534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>
            <a:off x="5623800" y="6573146"/>
            <a:ext cx="9534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MS6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59800" y="6861146"/>
            <a:ext cx="8814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오픈 (120일)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0800" y="7869146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799" y="79231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일정 지연 대응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799" y="812114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마일스톤 1주 이상 지연 예상 시 즉시 보고하고, 인력 추가 투입 · 기능 우선순위 조정(개강 필수 기능 우선)으로 오픈 일정을 지킵니다.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시험운영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교육훈련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유지보수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기밀보안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비상대책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품질보증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품질보증 조직 · 방법 ·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품질보증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(수행 조직과 분리된 품질 담당) PMO 품질 담당이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계획 · 점검 · 시정 · 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순서로 단계마다 품질을 확인하고, 테스트 결함 조치율 100%를 지킴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QUR-001, QUR-002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품질보증 계획 · 기준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테스트 계획 (단계 · 절차 · 조직)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품질보증 계획서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 종료 산출물 검토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코드 · 보안 · 접근성 점검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등록 · 조치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재점검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조치율 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지표 주간 보고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최종 검수 기준 확인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 보고서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0906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(TER-001)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방법 · 절차 · 참여조직 · 역할 · 점검 사항 · 최종 검수 기준 · 조치 방안, 충분한 테스트 케이스, 초기부터 지속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 (QUR-001)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업무시간 가용성 보장, 정상 상태 24시간 무중단, 모든 채널 동일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관리 (QUR-002)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수 · 지속시간 측정, 조치율 100%, 미조치는 발주자 승인, 일정 영향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7562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562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76166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012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조치율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562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39600" y="7562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7600" y="76166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012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추적률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562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62400" y="7562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0400" y="761665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012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무중단 운영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단위 · 통합 시험 및 시범 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시험 및 시범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(실제 강좌로 시범 운영) 단위 · 통합 시험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 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 강좌 · 교수자 · 학생이 참여하는 시범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실제 학습 흐름을 확인하고, 결과를 반영해 오픈함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430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721610"/>
                <a:gridCol w="2191140"/>
                <a:gridCol w="11738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92개 ·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케이스 · 자동화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업무 흐름 ·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→ 학습 → 성적 전송 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· 연계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보안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· 부하 · 취약점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도구 · 모의해킹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· 보안 전문가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· 학생 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시나리오 수행 · 의견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교육혁신본부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 강좌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강의 운영 · 출석 ·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· 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1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1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 데이터 구축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69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 · 시범용 (DAR-003)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00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1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1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시험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69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00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1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1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 운영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69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실제 강좌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00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1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1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69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의견 · 결함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0061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10307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103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698307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전환 · 안정화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814307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868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운영 전환 지원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06630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오픈 후 안정화 기간에 당사 인력이 상주 · 원격으로 문의와 장애에 대응하고, 운영자에게 일일 운영 현황을 보고합니다.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시스템 이용 · 관리 운영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개발 완료 후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(학교가 직접 운영할 수 있게) 오픈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절차 · 모니터링 · 정기 점검 · 학기 전환 작업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문서와 도구로 넘기고, 첫 학기 동안 운영을 함께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SFR-055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430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677985"/>
                <a:gridCol w="11738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서비스 · 학사 연동 상태, 임계치 SMS (SFR-055)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· 용량 · 백업 · 보안 패치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설정 · 학사 동기화 · 강좌 생성 · 이전 학기 아카이브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시작 ·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사용량 · 응답시간 · 답변 품질 점검, 학습 데이터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문의 창구 · 장애 접수 · FAQ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410307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41030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매뉴얼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669507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절차 · 점검표 · 장애 대응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6410307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641030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관리 도구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6669507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모니터링 · 통계 · LLM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6410307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641030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첫 학기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6669507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개강 주간 집중 지원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7886307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7940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첫 학기 집중 지원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13830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개강 첫 2주는 당사 인력이 상주해 교수자 · 학생 문의와 장애에 바로 대응하고, 일일 운영 현황을 보고합니다.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교육훈련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대상자별 교육 · 기술이전 · 매뉴얼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교육훈련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(대상별 맞춤 교육) 교수자 · 학생 · 조교 · 관리자 · 운영자로 나누어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 내용 · 방법 · 일정 · 인원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정하고, 국 · 영문 매뉴얼과 영상 가이드를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PSR-003, PSR-004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56211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04160"/>
                <a:gridCol w="1408590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 ·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설계 · 출석 · 평가 · AI 퀴즈 · 루브릭 · 튜터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영상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운영 전 · 개강 전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과제 · 시험 · AI 튜터 · 자막 · 앱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온라인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채점 · 게시판 · 출석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개강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· 사용자 · 강좌 · 통계 · LLM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·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(기술이전)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배포 · 백업 · 장애 대응 · 모델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 · 기술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·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028113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교수용, 국문 · 영문, 온라인 검색 (SFR-007)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운영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기능 · 운영 절차 · 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 3분 영상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변경분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· 기능 변경 시 학교 매뉴얼 삽입용 자료 제공 (PSR-004)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유지보수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하자보수 계획 · 조직 ·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하자보수 및 유지보수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(시스템 전체 12개월 무상) 최종 검수일부터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12개월 무상 하자보수를 시스템 전체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적용하고, 장애 접수 후 4시간 이내 보수함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PSR-002, QUR-003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516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검수일부터 12개월 (추가 무상 기간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개월 제안), 개발 S/W · H/W · S/W 시스템 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접수 후 4시간 이내 보수, 긴급 장애 즉시 원격 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책임자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기술지원 담당 (LMS · AI · 연계 · 인프라)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처리, 보안 패치 · 성능 개선, 정상 운영 지원, 정기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유상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무상 기간 후 지원 방안 · 비용 제시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(QUR-003)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017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017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089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125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전화 · 메일 · 이슈 등록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125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등급 분류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017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 번호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701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701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773608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809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원인 분석 · 복구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809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4시간 이내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701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385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385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457608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493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근본 원인 · 패치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493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운영자 공유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385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하자보수 보고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7123607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장애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· 비상복구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자동 재기동 · 부하 분산 전환, 원인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재시도 · 수동 동기화, 학사 담당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응답 지연 ·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 모델 전환 · 사용량 한도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기밀보안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기밀보안 · 저작권 · 개인정보 보호 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기밀보안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중 · 사업 후 비밀 유지)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책임자 지정, 전원 보안서약 · 교육, 누출금지 정보 통제, 원격지 개발 통제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기밀을 보호하고 저작권을 존중함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PMR-003, PMR-004, SER-006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749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· 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책임자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지정, 착수 전 보안서약서(대표 · 개인) · 보안교육, 주기적 교육 · 결과 보고, 인력 교체 시 인계인수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10종(IP · 구성도 · 계정 · 취약점 · 소스 등) 등급 표시 · 반출 통제, 사업 종료 후 반납 · 파기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시건 · CCTV 출입통제 공간, 정보시스템 관리대장 · 백신 · 매체 제어 · HDD 봉인, 반출입 대장, 반출 시 포맷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개인정보처리위탁 계약, 접근 최소화 · 이력, 이관 데이터 암호화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· 폰트 · S/W 정품 · 라이선스 증빙, 산출물 권리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위약금(A~D 등급) · 민 · 형사 책임 수용, 즉시 보고 · 차단 · 재발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040995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04099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보안서약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30019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· 전 인원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7040995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704099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730019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전 · 주기적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7040995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704099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매체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730019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USB 차단 · 승인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7040995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704099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730019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 1회 보안점검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비상대책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백업 · 복구 및 장애대응 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백업 · 복구 · 장애대응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(5분 자동 복구 · 일 1회 백업) 장애 등급별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대응 절차 · 연락 체계 · 복구 목표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정하고, 월 1회 복구 시험으로 백업이 실제로 쓰이는지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QUR-002, DAR-005,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50769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23476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서비스 중단 · 데이터 손상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4시간 이내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기능(출석 · 시험 · 동영상)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이내 보고 · 4시간 이내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화면 · 기능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 조치 · 다음 배포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01676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01676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30476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모니터링 · SMS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61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01676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01676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30476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운영자 · PM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61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01676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01676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격리 · 전환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30476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WAS 전환 · 대체 모델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61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01676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01676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30476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백업 · 롤백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61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01676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01676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30476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 · 보고서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420769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 2식 부하 분산, 5분 이내 자동 복구 (PER-002)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DB 1일 1회, 월 1회 복구 시험, 배포 전 백업 · 롤백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기간 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 · 기말 시험 기간 배포 동결 · 집중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280060" y="1498812"/>
            <a:ext cx="426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붙임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Ⅶ.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기술적용계획표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기술성 평가항목 조견표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기술적용계획표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붙임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법률 · 고시 · 기술 적용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기술적용계획표 ([별첨 12])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(적용 계획 명시) [별첨 12] 기술적용계획표의 법률 · 고시 · 기술 항목별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 여부와 적용 방안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제시하며, 서식 원본은 별도 첨부함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971691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2582415"/>
                <a:gridCol w="54778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· 열람 이력 · 위탁 계약 (SER · 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진흥법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제출 · 과업심의 · 영향평가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정보통신망법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· 보안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 · 호환성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인공지능 발전과 신뢰 기반 조성 등에 관한 법률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여부 검토 · 투명성 · 이용자 안내 (Ⅱ.2.2.2)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· 고령자 정보 접근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KWCAG 2.2 · 유니버설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전자정부서비스 호환성 준수지침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 이상 브라우저 · ActiveX 배제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개인정보의 안전성 확보조치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접근통제 · 암호화 · 접속기록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개발보안 가이드 · 보안약점 진단가이드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· 진단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분리발주 대상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△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상용 S/W 확인 후 적용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 (HTML5 · CSS3 · W3C 검사)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W3C 검사 통과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이러닝 표준 (IMS LTI · QTI · SCORM)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· 도구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 알고리즘 (ARIA · SHA-256 · RSA 2048+)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검증필 암호모듈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40170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○ 적용 / △ 협의 후 적용 — 전체 항목은 [별첨 12] 서식에 작성해 별도 제출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붙임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기술성 평가항목 조견표 (1/3)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[붙임1] 「제안서 기술 평가 항목 및 배점표」의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제안내용과 해당 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799432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1799865"/>
                <a:gridCol w="62604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 (제안서 목차)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371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제안사의 신용평가 등급 확인 (정량적 제안서 별도 제출)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412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 및 추진전략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 · 목표, 주변 환경 · 업무 연관관계 이해, 일관된 방향과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개요 및 추진 배경 / 현황 문제와 e클래스2.0 개선 방향 / 요구사항 구성 분석 (131개) / 제안의 목적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16~22, 23~26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41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 및 개발 방법론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확장성을 고려한 실현 가능한 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 구성 / AI 서비스 계층 기술 / Prototype 구현 및 실현 가능성 / 통합 · 연계 범위와 개발 방안 /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27~30, 31~33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6265434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631943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평가 비율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6517434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기술평가 90 (정성 85 · 정량 5) : 가격평가 10, 기술능력평가 점수가 배점 한도의 85% 이상인 자를 협상적격자로 선정함 (차등점수제 미적용). 평가위원 점수 중 최고 · 최저를 1개씩 제외한 평균으로 기술평가 점수를 산출함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36904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36904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42304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781904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정량평가 (경영상태)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36904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36904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42304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781904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전략 및 방법론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36904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36904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42304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781904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정성평가 합계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붙임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기술성 평가항목 조견표 (2/3)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[붙임1] 「제안서 기술 평가 항목 및 배점표」의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제안내용과 해당 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426987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1799865"/>
                <a:gridCol w="62604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 (제안서 목차)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58175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규격 충족 장비, 현 시스템 인터페이스 · 확장성, 운영 · 유지관리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시스템 S/W 구성 (학내 클라우드) / CMS · VOD CDN · 트랜스코더 · 스트리밍 / 강의저작 S/W ·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35~37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8175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및 보안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방법론 · 분석도구로 구체적 분석, 구현 방안 · 적용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 · 반응형 · 다국어 · 유니버설 디자인 / 학사 · 전자출결 · 화상강의 연동 및 통합 인증 / 교육과정 · 분반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38~61, 62~64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8175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요구사항 및 제약사항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전환 계획 · 검증 방법 · 에러 데이터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 · 품질 · SQL 튜닝 / 데이터 이관 계획 및 절차 / 이관 검증 · 에러 데이터 처리 · 아카이브 / 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65~68, 69~70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231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성능 충족을 위한 분석 · 구현 · 테스트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응답시간 · 오류 응답 · 자동 복구 / 성능 분석 도구 · 시험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72~73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231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방안 장단점 분석 · 최적안, 사용자 인터페이스 분석 · 설계 ·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방안 비교 및 선정 / UI/UX 분석 · 설계 · 디자인 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74~75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6892988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694698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 및 기능 · 성능 및 품질 (40점)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14498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 131개 전체를 수용하고, 요구사항 대비 수용여부 조견표(본문 앞)에 요구사항별 해당 쪽을 표시함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75641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7564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81041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20641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1000" y="775641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01000" y="77564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9000" y="781041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9000" y="820641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 및 품질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붙임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2.1.3 기술성 평가항목 조견표 (3/3)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[붙임1] 「제안서 기술 평가 항목 및 배점표」의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제안내용과 해당 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463160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1799865"/>
                <a:gridCol w="62604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 (제안서 목차)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1841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 및 일정계획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진도 · 보안 · 형상 · 문서 관리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진도 · 보안 · 형상 · 문서 관리 / 보고 체계 · 검수 · 산출물 관리 / 120일 세부 추진 일정 / 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77~78, 79~80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412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및 교육훈련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조직 · 방법 ·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조직 · 방법 · 절차 / 단위 · 통합 시험 및 시범 운영 / 시스템 이용 · 관리 운영 방안 / 대상자별 교육 ·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 83~84, 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719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및 기밀보안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· 유지보수 계획 · 절차 · 범위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계획 · 조직 · 절차 / 기밀보안 · 저작권 · 개인정보 보호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86, 87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372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 대책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및 장애대응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및 장애대응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6929163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698316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프로젝트 관리 · 지원 (25점)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181163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120일 일정의 마일스톤 · 품질보증 · 시험운영 · 교육 · 하자보수 12개월 · 기밀보안 · 비상대책을 쪽별로 제시함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826902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82690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88090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276902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프로젝트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1000" y="7826902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01000" y="782690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9000" y="788090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9000" y="8276902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프로젝트 지원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(131개)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40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18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87200">
                <a:tc rowSpan="4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게시판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설문조사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팀 프로젝트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시험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과제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수업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동영상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(학습자) 실시간 수업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44, 51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통합학사연동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사용자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강좌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콘텐츠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통계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시스템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45, 84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KOCW 연계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시스템 접속현황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(관리자) 팝업관리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(MOOC) 관리자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(MOOC) 운영자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(MOOC) 학습자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외부시스템연계 – CDN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동영상 학습관리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비학위과정 관리기능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차시단위 강의실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수업만족도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스마트 출석 관리(온/오프라인 통합)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메시지 기능(DM)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개인화된 실시간 알람 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화상 강의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자동자막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자동 퀴즈생성 및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코스워크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문서뷰어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실시간 자막 및 번역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모니터링 및 학습분석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과제 및 제출형 학습활동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기반의 상호작용 학습활동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학습활동(과제)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28, 55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Q&amp;A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28, 55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요약 및 번역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2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문제출제 및 추천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(131개)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3976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19145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91454">
                <a:tc rowSpan="7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개인화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LLM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20~21, 26, 28,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스마트출석부(온오프라인 출결관리)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온라인시험 부정 행위 방지 기능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(학생) 포털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SFR-091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(교수자) 포털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SFR-092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성장마루(비교과 통합관리 시스템) UI/UX 고도화 및 시스템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30, 60, 74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72~73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응답시간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72~73, 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메시지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6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표준화 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이행 테스트 데이터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66~67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최적의 데이터 이행 방안 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66~67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68, 88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SQL튜닝요구사항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요구 일반사항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73, 82~83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9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관리자로그인 보안조치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인증정보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보안규정 및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64, 87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취약점 점검 수행 및 점검 보고서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시스템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 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82, 84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대응을 위한 백업절차 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82, 88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개인정보보호법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웹표준 및 호환성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개발관련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31, 69, 90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 및 지적재산권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모듈화 설계 및 개발 표준화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27, 31, 70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 조직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13~14, 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및 산출물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 77~78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 및 보안지침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77, 87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참여인원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 지원 및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145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교육 및 매뉴얼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