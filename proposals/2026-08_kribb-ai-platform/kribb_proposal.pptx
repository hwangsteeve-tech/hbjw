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연구행정 데이터 기반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플랫폼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한국생명공학연구원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제안업체 일반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사업수행 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사업관리 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579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서식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504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6725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522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481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 목적 및 배경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범위 및 전제조건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시스템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제안의 특징 및 장점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 목적 및 배경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연구행정 AI 전환의 필요성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 및 제안 목적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 몰입 환경) 규정·지침·매뉴얼과 MIS 데이터를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폐쇄망 안에서 AI가 즉시 찾아 답하고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구매 이상징후를 먼저 알려 연구자의 행정 부담을 줄이는 것이 본 사업의 목적임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228117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43287"/>
                <a:gridCol w="2543287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현황 및 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사업으로 달라지는 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학술 정보와 내부 연구 자료를 연구자가 개별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학술 DB 연동 최신 연구 추천·요약, 내부 DB 기반 전문 질의응답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일반행정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연구개발혁신법·연구원 규정·매뉴얼을 찾아 해석하는 데 시간 소요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조항 단위 근거와 함께 답하는 RAG 질의응답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룰 기반 점검으로 반복·분할구매, 업체 편중 등 비정형 이상징후 탐지 한계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 이력 기반 이상거래 탐지·알림 + 생성형 AI 구매 도우미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AI 사용 시 국가 핵심 기술·연구 데이터 유출 우려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폐쇄망 온프레미스 LLM, 적재 전 개인정보 비식별화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476157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474717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 목적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5071177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507117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연구·행정 효율 극대화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5330377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연구행정 업무 안내 서비스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연구자·행정 담당자 시간 확보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3600" y="5071177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3600" y="507117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보안 내재화 AI 거버넌스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9600" y="5330377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폐쇄망 온프레미스 인프라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외부 유출 원천 차단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0400" y="5071177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50400" y="507117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연구행정 모니터링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6400" y="5330377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구매 이상거래 선제 탐지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사고 미연 방지·내부 통제 강화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6115177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611517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4800" y="6169177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4800" y="6565177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계약일 ~ 2026.12.31
구축부터 시범운영까지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08900" y="6115177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908900" y="611517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16900" y="6169177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37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6900" y="6565177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9개 분류 요구사항
전건 대응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01000" y="6115177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501000" y="611517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09000" y="6169177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%↑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09000" y="6565177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 테스트셋
답변 정답률 목표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93100" y="6115177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93100" y="611517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01100" y="6169177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영업일↑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01100" y="6565177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준공 전 실환경
시범운영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80800" y="7105177"/>
            <a:ext cx="6332400" cy="72111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6799" y="715917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본 사업의 성공 기준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6799" y="7357177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연구자와 행정 담당자가 담당 부서에 묻기 전에 AI에 먼저 묻는 상태를 4개월 안에 만드는 것입니다. 이를 위해 정확한 근거, 안전한 폐쇄망, 현업이 바로 쓰는 화면을 동시에 갖춥니다.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0800" y="7934293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사업 개요 &gt;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8168293"/>
          <a:ext cx="6260400" cy="100146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 ·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연구행정 데이터 기반 AI 플랫폼 구축 / 계약일 ~ 2026.12.31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소요예산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94,579,000원 (VAT 포함) / 제한경쟁, 협상에 의한 계약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범위 및 전제조건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사업 범위 및 제안 전제조건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(4개월 내 완성) 계약일부터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2026년 12월 31일까지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생성형 AI 플랫폼 · 연구행정 RAG · 구매 이상거래 탐지 · 보안 체계를 구축하고 10영업일 이상 시범운영으로 검증함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1141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599730"/>
                <a:gridCol w="133033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Docker 컨테이너 환경, 부하 분산·자동 복구, LLM 서빙(vLLM 등), 20B 이상 한국어 LLM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ECR-001, SFR-001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지식베이스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MIS·업무포털 데이터 동기화, 청킹·임베딩 자동화, Vector DB, 피드백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SFR-002, DAR-001~003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연구행정 RAG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연구개발혁신법·연구원 규정·매뉴얼·공지 질의응답, 조항 근거·멀티턴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SFR-003, PER-003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 이상거래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반복·분할구매, 업체 편중, 지속거래, 단가·주기 이상 탐지, 구매 도우미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보안·권한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MIS 인사 연동 SSO·RBAC, 개인정보 마스킹, 감사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SFR-005, COR-003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검증·안정화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단위·통합 시험, UAT, 10영업일 시범운영, 교육·기술이전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TER-001, PSR-001~003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559450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558010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 전제조건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800" y="5904106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5940106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(GPU 인프라) GPU 서버는 연구원이 확보하며, 본 사업은 운영 서버 SW 환경 구축과 기술지원을 수행함 — 서버 사양은 착수 시 확인 후 모델 크기·동시 처리량 확정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(데이터 제공) MIS·PMS·업무포털 연계 계정·DB View·문서 원본은 연구원이 제공하고, 연계 방식은 착수 2주 내 협의 확정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(하도급 없음) 본 사업 전 범위를 에이치나인이 직접 수행함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7775206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6799" y="782920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전제조건 확정 시점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799" y="8027206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착수 2주 안에 GPU 사양, 데이터 제공 범위·방식, 표준 테스트셋 판정 기준을 연구원과 합의하고, 사업수행계획서에 확정하여 검수 기준으로 사용합니다.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목표 시스템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연구행정 AI 플랫폼 목표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(폐쇄망 · 모듈화) 데이터 · 지식 · 모델 · 서비스 · 채널을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계층별 독립 모듈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구성하여 모델 교체나 기능 추가가 다른 모듈에 영향을 주지 않게 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540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채널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챗봇 (업무포털 내장)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73600" y="24300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관리자 운영 도구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14400" y="24300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구매 모니터링 대시보드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SSO · RBAC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962800"/>
            <a:ext cx="4874400" cy="540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9628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서비스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0348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연구행정 RAG 질의응답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63400" y="30348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연구지원 (학술 추천·요약)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4000" y="30348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구매 이상거래 탐지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24600" y="30348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구매 도우미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9628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태스크별 서비스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567600"/>
            <a:ext cx="4874400" cy="540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5676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6396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서빙 (vLLM)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6396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임베딩 · Reranker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6396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게이트웨이 (OpenAI 호환)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5676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멀티 모델 · 교체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172400"/>
            <a:ext cx="4874400" cy="540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1724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42444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Vector DB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42444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문서 구조화 (Markdown·JSON)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42444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메타데이터 · 버전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41724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현행화 관리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777200"/>
            <a:ext cx="4874400" cy="540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47772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8492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MIS (인사·구매)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363400" y="48492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PMS · 업무포털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294000" y="48492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규정·매뉴얼 문서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224600" y="48492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학술 DB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7772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 파이프라인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800" y="54539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4800" y="5489999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(단계별 목표) 1단계 지식베이스·데이터 연동 체계 → 2단계 RAG·구매 이상거래 등 업무 지원 서비스 순으로 구축함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(폐쇄망 운영) 모든 구성요소를 연구원 내부망에 설치하고 외부 인터넷 연결 없이 구동하며, 외부 학술 DB는 승인된 연계 구간으로만 수집함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80800" y="690048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계층별 구현 원칙 &gt;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16800" y="7134479"/>
          <a:ext cx="6260400" cy="19833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채널 ·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업무포털 안에서 SSO로 진입, 역할에 따라 노출 서비스와 메뉴를 다르게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게이트웨이로 서비스와 모델을 분리, 모델 교체 시 서비스 코드 변경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문서·조항 단위 메타데이터와 버전을 관리하여 출처 표시와 현행화의 기준으로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시스템은 수정하지 않고 View·API로만 읽어오며, 적재 전 개인정보 비식별화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제안의 특징 및 장점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에이치나인 제안의 4가지 차별점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특징 및 장점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(근거 · 탐지 · 보안 · 사용성) 근거 조항을 보여주는 RAG,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LLM이 설명하는 이상거래 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폐쇄망 보안, UX 전문기업의 사용성으로 짧은 기간에 현업이 쓰는 시스템을 만듦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조항 단위 근거 제시 RAG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법령·규정을 조·항·호 구조로 청킹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답변마다 근거 조항·원문 링크 표시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없으면 '확인 불가' 응답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설명하는 이상거래 탐지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통계·룰 탐지 + LLM 사유 설명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담당자가 바로 이해하는 알림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자연어 구매 도우미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폐쇄망 보안 내재화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온프레미스 LLM·영구 라이선스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적재 전 개인정보 가명·마스킹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인사 연동 권한 자동 회수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현업 중심 사용성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UX 전문기업의 업무 흐름 분석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업무포털 내장 챗봇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UAT·설문 결과 즉시 반영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444722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유사 수행 경험의 적용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681224"/>
          <a:ext cx="6260400" cy="1790248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경험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(근거 위치 제시형 응답)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연구행정 RAG의 근거 조항·원문 위치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MES AI Agent 'MOSAIC' (이상 탐지·Judge 품질 평가)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 이상거래 탐지, 답변 정확도 자동 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'모두' 공공 플랫폼 구축·운영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공공기관 보안·웹 접근성 기준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Rectangle 43"/>
          <p:cNvSpPr/>
          <p:nvPr/>
        </p:nvSpPr>
        <p:spPr>
          <a:xfrm>
            <a:off x="280800" y="6579473"/>
            <a:ext cx="6332400" cy="72111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799" y="663347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차별점이 평가에 연결되는 방식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799" y="6831473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제시 RAG는 기능 요구사항·사업 이해도에, 설명하는 이상거래 탐지는 기술 구현 역량에, 폐쇄망 보안은 기밀보안에, 현업 중심 사용성은 인터페이스 요구사항·시험운영 평가에 각각 대응합니다.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740858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차별점의 확인 방법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7642589"/>
          <a:ext cx="6260400" cy="14923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31302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차별점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 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조항 단위 근거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Ⅲ-1.3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PoC 없이도 시범운영 시나리오에서 근거 링크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설명하는 이상거래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Ⅲ-1.4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구매 이력으로 탐지 결과·사유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폐쇄망 보안 내재화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Ⅲ-1.5, Ⅳ-4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정보보안팀 점검 및 취약점 점검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제안업체 일반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재무상황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조직 및 인원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주요 사업내용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518141"/>
          <a:ext cx="6260400" cy="424064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08월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소프트웨어사업자(1468), 직접생산확인(정보시스템개발서비스 8111159901), 중소기업확인서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벤처기업 인증 (2014), 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881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86679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8190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8190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UX 설계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449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현업 업무 흐름 관찰 기반 화면 설계, 우수디자인전문기업 선정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8190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8190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Agent 구축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449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제시형 응답, 이상 탐지, 품질 자동 평가 Agent 구축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8190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8190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449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구축·운영, 공공 보안·접근성 준수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주요 연혁 및 수상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(검증된 서비스 품질) iF · Good Design · ICT AWARD KOREA 등 국내외 수상과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한국디자인진흥원 우수디자인전문기업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선정으로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172379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ㆍ㈜에이치나인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 광고 대상 미디어 부문 은상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ㆍ칸느 광고제 미디어 부문 동상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골드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ㆍKorea Design Award 올해의 디자인 프로젝트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우수디자인(GD) 서비스/경험디자인 부문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ㆍ스마트 앱 어워드 KT 고객센터 커뮤니케이션 분야 최우수상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ㆍK-DESIGN AWARD "Everything Moments"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ㆍGood Design 코레일톡 플러스 모바일 앱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ㆍ중소벤처기업부 사내벤처육성기업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전문 디자인 기업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ㆍKIDP 한국디자인진흥원 "우수 디자인 전문 회사 선도 부문"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Communication 부문 "모스랜드 헌터스"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우수 디자인(GD) 선정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ㆍi-AWARDS WEB AWARD KOREA (쇼핑몰 부문 통합대상)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8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Website 부문 수상 (국립중앙박물관 교육플랫폼 '모두')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ㆍ서울시 청소년 문제해결 프로젝트 디자인 가치상 (DMI 미국 디자인경영연구소)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ㆍ한국무역협회 1백만불 수출의 탑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ㆍiF Design Award Communication 부문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ㆍICT AWARD KOREA 디지털 서비스혁신 분야 GOLD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ㆍ한국디자인진흥원 2024 우수디자인전문기업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ㆍDesign Award 2025 Service 부문 수상 (Daishin Securities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재무상황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자본금 및 매출액 (최근 3년)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재무상황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(안정적 재무 기반) 최근 3년 매출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95억 ~ 111억 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유지하고, 부채비율을 104.7%에서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71.8%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낮춰 재무 건전성을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자본금 및 매출액 (단위: 원)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7" cy="167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(임대료수입)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38,800,000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(용역매출)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11,077,940,671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478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4639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재무 지표 (단위: 백만원)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4788000"/>
          <a:ext cx="6260397" cy="4068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매출원가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매출총이익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경상이익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당기순이익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자산총계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12,458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12,288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6,714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5,352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5,136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6,412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104.7%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유동비율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102.4%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157.9%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149.7%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매출액순이익률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92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공인회계사 확인 재무제표 별도 첨부 (부채·유동비율, 매출액순이익률은 표준 산식 적용)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기업신용평가등급: BBB0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【신용평가기관·평가일·유효기간 확인】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조직 구성 및 기술인력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조직 및 인력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(전문 인력 기반) 2026년 7월 기준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임직원 129명, 6개 실·22개 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구성되어 있으며 특급 기술자 22명을 보유하여 기획·디자인·개발·품질을 자체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조직도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682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2754000"/>
            <a:ext cx="36684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CEO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682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CFO: 경영기획팀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250800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32508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기획·디자인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비주얼실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인터렉션실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32508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사용자 리서치·UI·인터랙션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819600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8196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서비스개발실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DT개발실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신사업개발실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8196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플랫폼·데이터·AI 개발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88400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884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관리·품질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PMO그룹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40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품질관리팀(CTO)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사업관리·품질보증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2400" y="50435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2400" y="50292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기술등급별 인력 구성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53200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1173825"/>
                <a:gridCol w="273892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PM·AI 아키텍트·데이터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RAG·이상탐지 개발, UX 설계, 보안·품질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16.2%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개발·퍼블리싱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지원·시험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기술인력 기준 (전체 임직원 129명)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7909200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963199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본 사업 투입 원칙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61199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PM과 AI·데이터 담당은 특급·고급 인력으로 구성하고, 품질관리팀(CTO)이 수행 조직과 별도로 산출물과 품질 지표를 검토합니다.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주요 사업내용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사업 분야 및 주요 수행실적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주요 사업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(대규모 플랫폼 수행 역량) UX·S/W개발·AI·데이터·운영 분야에서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 10억 원 이상 규모의 플랫폼 구축·운영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수행하여 단기 복합 사업을 감당할 역량을 갖춤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14976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UX 컨설팅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14256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 기획·리서치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UI/UX 디자인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4400" y="2358000"/>
            <a:ext cx="14976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044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플랫폼 개발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40400" y="2617200"/>
            <a:ext cx="14256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웹·모바일·포털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 고도화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92000" y="2358000"/>
            <a:ext cx="14976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920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· DT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0" y="2617200"/>
            <a:ext cx="14256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Agent·RAG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제조 DT·데이터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79600" y="2358000"/>
            <a:ext cx="14976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796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15600" y="2617200"/>
            <a:ext cx="14256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사이트 운영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유지보수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316800" y="3401999"/>
          <a:ext cx="6260397" cy="4492846"/>
        </p:xfrm>
        <a:graphic>
          <a:graphicData uri="http://schemas.openxmlformats.org/drawingml/2006/table">
            <a:tbl>
              <a:tblPr firstRow="0" bandRow="0"/>
              <a:tblGrid>
                <a:gridCol w="2672121"/>
                <a:gridCol w="1526926"/>
                <a:gridCol w="992502"/>
                <a:gridCol w="1068848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129,385,380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1,107,180,000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26년 Cello Square 플랫폼 UX기획 및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928,320,000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LG LIFE 및 그룹 홈페이지 사이트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661,298,000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중진공 전용 플랫폼 CX 기획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2025.10 ~ 2026.01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2025.08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1,999,758,400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86,200,000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5.0 운영고도화 CX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2025.01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1,235,530,000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경기 컬처패스 플랫폼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2025.10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144,000,000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㈜마이비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LG Awards 고도화 (엘지경영개발원 인화원)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2024.09 ~ 2025.02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126,900,000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48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CELLO SQUARE 통합운영플랫폼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2024.04 ~ 2024.12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1,444,700,000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Rectangle 42"/>
          <p:cNvSpPr/>
          <p:nvPr/>
        </p:nvSpPr>
        <p:spPr>
          <a:xfrm>
            <a:off x="280800" y="8002846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6799" y="805684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수행 경험의 본 사업 적용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799" y="8254846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대규모 업무 플랫폼(CELLO SQUARE)의 권한·화면 설계 경험은 업무포털 내장 챗봇과 관리자 도구에, 공공 플랫폼(국립중앙박물관 '모두') 운영 경험은 공공기관 보안·접근성 기준 준수에 적용합니다.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주요 사업내용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4.2.1 근거 제시형 AI Agent · 이상 탐지 Agent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4.2 본 사업 관련 수행사례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 사업과 같은 기술) 근거 위치를 함께 제시하는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Trading AI Agent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와 이상 징후를 탐지·설명하는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MES AI Agent 'MOSAIC'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경험을 RAG·구매 이상거래 탐지에 그대로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개발 (SK가스, 2026)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(근거 기반 응답) 자연어 질의에 </a:t>
            </a:r>
            <a:r>
              <a:rPr sz="12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근거 데이터의 정확한 위치를 함께 제시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하는 추적 가능한 Agent 응답 체계 구현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(이상탐지) 시황 데이터 통계적 이상탐지 자동화와 일일 리포트 자동 생성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SFR-003 근거 조항·원문 링크 표시, SFR-004 통계 기반 이상거래 탐지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45675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5531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SK하이닉스 MES AI Agent 'MOSAIC' (2026)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4877100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4913100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(이상 탐지·원인 분석) MES 운영 로그와 시스템 상태를 실시간 분석해 이상 징후를 탐지하고 원인 후보를 설명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(품질 평가) Judge Agent가 정확성·관련성·</a:t>
            </a:r>
            <a:r>
              <a:rPr sz="1200" b="1">
                <a:solidFill>
                  <a:srgbClr val="0462DA"/>
                </a:solidFill>
                <a:latin typeface="맑은 고딕"/>
                <a:ea typeface="맑은 고딕"/>
                <a:cs typeface="맑은 고딕"/>
              </a:rPr>
              <a:t>근거 충실도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·응답 지연 기준으로 결과를 자동 평가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(본 사업 적용) PER-003 답변 정확도 자동 평가, SFR-004 이상거래 사유 설명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6800" y="6748200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316800" y="6748200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제시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" y="7036200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조항·원문 위치 (SFR-003)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342400" y="71280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439600" y="6748200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439600" y="6748200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이상 탐지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75600" y="7036200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통계·룰 + LLM 설명 (SFR-004)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465200" y="71280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562400" y="6748200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562400" y="6748200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품질 평가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98400" y="7036200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정답률·근거 충실도 (PER-003)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7720200"/>
            <a:ext cx="6332400" cy="72111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799" y="77742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본 사업에 그대로 가져오는 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799" y="7972200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위치를 함께 보여주는 응답 구조, 이상 징후를 탐지하고 이유를 설명하는 구조, 답변 품질을 자동으로 평가하는 구조 세 가지를 연구행정 데이터에 맞게 적용합니다.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사업수행 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시스템 기능개선 방안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제약사항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컨테이너 기반 운영 서버 SW 환경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AI 인프라 및 운영 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(멈추지 않는 AI 서비스) GPU 서버 위에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Docker 컨테이너 오케스트레이션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구성하고 부하 분산 · 자동 복구 · LLM 전용 서빙 엔진으로 안정적인 추론 환경을 만듦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ECR-001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서비스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챗봇·포털 API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RAG 서비스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이상거래 배치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관리자 도구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컨테이너별 독립 배포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926799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9267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vLLM (LLM 추론)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임베딩 서버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Reranker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9267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OpenAI 호환 API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495599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4955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Docker 컨테이너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부하 분산 (L7)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헬스체크·자동 재기동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4955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Auto-healing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4064399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40643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인프라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GPU 서버 (연구원 확보)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스토리지·백업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 (GPU·지연)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0643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폐쇄망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4705200"/>
          <a:ext cx="6260400" cy="285794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Docker 기반 서비스별 컨테이너 분리, 설정·이미지 버전 관리 (폐쇄망 내부 레지스트리)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게이트웨이에서 요청 분산, LLM 요청 대기열 관리로 GPU 과부하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헬스체크 실패 시 컨테이너 자동 재기동, 장애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vLLM 연속 배칭·KV 캐시로 추론 가속, 소형 모델·임베딩은 경량 엔진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아키텍처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302400" y="768554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2400" y="767114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폐쇄망 배포 절차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16800" y="7995146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 Same Side Corner Rectangle 59"/>
          <p:cNvSpPr/>
          <p:nvPr/>
        </p:nvSpPr>
        <p:spPr>
          <a:xfrm>
            <a:off x="316800" y="7995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이미지 빌드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2800" y="828314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외부망에서 빌드·취약점 점검</a:t>
            </a:r>
          </a:p>
        </p:txBody>
      </p:sp>
      <p:sp>
        <p:nvSpPr>
          <p:cNvPr id="62" name="Isosceles Triangle 61"/>
          <p:cNvSpPr/>
          <p:nvPr/>
        </p:nvSpPr>
        <p:spPr>
          <a:xfrm rot="5400000">
            <a:off x="1493280" y="8428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590480" y="7995146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 Same Side Corner Rectangle 63"/>
          <p:cNvSpPr/>
          <p:nvPr/>
        </p:nvSpPr>
        <p:spPr>
          <a:xfrm>
            <a:off x="1590480" y="7995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반입 승인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26480" y="828314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정보보안팀 검토</a:t>
            </a:r>
          </a:p>
        </p:txBody>
      </p:sp>
      <p:sp>
        <p:nvSpPr>
          <p:cNvPr id="66" name="Isosceles Triangle 65"/>
          <p:cNvSpPr/>
          <p:nvPr/>
        </p:nvSpPr>
        <p:spPr>
          <a:xfrm rot="5400000">
            <a:off x="2766960" y="8428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864160" y="7995146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ound Same Side Corner Rectangle 67"/>
          <p:cNvSpPr/>
          <p:nvPr/>
        </p:nvSpPr>
        <p:spPr>
          <a:xfrm>
            <a:off x="2864160" y="7995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내부 등록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00160" y="828314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레지스트리 적재</a:t>
            </a:r>
          </a:p>
        </p:txBody>
      </p:sp>
      <p:sp>
        <p:nvSpPr>
          <p:cNvPr id="70" name="Isosceles Triangle 69"/>
          <p:cNvSpPr/>
          <p:nvPr/>
        </p:nvSpPr>
        <p:spPr>
          <a:xfrm rot="5400000">
            <a:off x="4040640" y="8428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137840" y="7995146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ound Same Side Corner Rectangle 71"/>
          <p:cNvSpPr/>
          <p:nvPr/>
        </p:nvSpPr>
        <p:spPr>
          <a:xfrm>
            <a:off x="4137840" y="7995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73840" y="828314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서비스별 순차 배포</a:t>
            </a:r>
          </a:p>
        </p:txBody>
      </p:sp>
      <p:sp>
        <p:nvSpPr>
          <p:cNvPr id="74" name="Isosceles Triangle 73"/>
          <p:cNvSpPr/>
          <p:nvPr/>
        </p:nvSpPr>
        <p:spPr>
          <a:xfrm rot="5400000">
            <a:off x="5314320" y="842894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411520" y="7995146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ound Same Side Corner Rectangle 75"/>
          <p:cNvSpPr/>
          <p:nvPr/>
        </p:nvSpPr>
        <p:spPr>
          <a:xfrm>
            <a:off x="5411520" y="799514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확인·롤백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47520" y="8283146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헬스체크, 이상 시 복원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1.1.2 폐쇄망 LLM 도입 및 멀티 모델 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AI 인프라 및 운영 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(교체 가능한 LLM)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20B 이상 한국어 특화 · 128K 컨텍스트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모델을 영구 라이선스로 폐쇄망에 탑재하고, 모델 게이트웨이로 구조 변경 없이 모델을 추가·교체함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LLM 선정 기준 (후보는 착수 후 연구원 데이터로 비교 평가해 확정)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3253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191140"/>
                <a:gridCol w="27389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규모·언어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20B 이상, 한국어 특화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연구원 규정 테스트셋 정답률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128K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장문 규정·다중 문서 질의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온프레미스 영구 사용, 상업 이용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라이선스 조항 검토서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첫 토큰 3초 · 전체 10초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사양 기준 부하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【EXAONE · Qwen 계열 등 오픈 가중치 모델】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1개월 내 벤치마크 후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5025321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5025321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모듈화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509732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5133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연동 · UI · 데이터 처리 모듈 분리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6999" y="5133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모듈별 독립 배포·시험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5025321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부분 업데이트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5655321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5655321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 게이트웨이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572732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5763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OpenAI 호환 API로 모델 통합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46999" y="5763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서비스는 모델명만 지정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5655321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 변경 없는 교체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6285321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6285321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 도구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635732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6393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관리 프로그램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46999" y="6393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추론 API 서버 · 모니터링 도구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69200" y="6285321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관리자 직접 운영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6915321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6915321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업그레이드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34800" y="698732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324800" y="7023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신규 모델 벤치마크 → 승인 → 전환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46999" y="7023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학습 내용(지식) 갱신 절차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69200" y="6915321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연구원 협의 확정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80800" y="7599320"/>
            <a:ext cx="6332400" cy="892674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765332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모델 업그레이드 · 학습 내용 갱신 운영 방안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851320"/>
            <a:ext cx="6080400" cy="586674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신규 모델은 벤치마크(정답률·속도) 결과를 관리자에게 보고하고 승인 후 전환하며, 문제 발생 시 이전 모델로 즉시 되돌립니다. 학습 내용 갱신은 지식베이스 재색인을 기본으로 하고, 미세 조정은 피드백 데이터셋이 충분히 쌓인 뒤 연구원과 협의해 수행합니다.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전주기 데이터 자동화 파이프라인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지식베이스 및 데이터 파이프라인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(사람 손 없이 최신 지식) MIS · 업무포털 데이터와 규정 문서를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수집 → 정제 → 구조화 → 청킹 → 임베딩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까지 자동 처리하고, 실패 건은 자동 재시도·모니터링함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SFR-002, DAR-002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MIS·포털 동기화 (실시간/정기)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중복 제거·개인정보 마스킹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표·서식 → Markdown·JSON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청킹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문서 유형별 전략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임베딩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Vector DB 적재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330000"/>
          <a:ext cx="6260400" cy="24742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동기화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MIS·업무포털 DB View/API 연계, 변경분 증분 동기화, 문서는 등록·개정 시 자동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복잡 레이아웃 구조화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표·다단·서식 문서를 레이아웃 분석 후 Markdown·JSON으로 변환하여 맥락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실패 자동 재시도, 재시도 초과 건 관리자 알림·수동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동기화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화면에서 소스별 처리 건수·실패·지연 실시간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변경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스키마 신규·변경은 사업 담당자 사전 서면 승인, 변경 이력 기록 (DAR-002)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80800" y="591224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소스별 수집 방식 (안) — 연계 방식은 착수 2주 내 확정 &gt;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6146249"/>
          <a:ext cx="6260400" cy="19833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1721610"/>
                <a:gridCol w="11738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인사·조직, 구매 이력, 업체·품목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View 조회 (읽기 전용)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변경분 실시간 / 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PMS · 업무포털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 정보, 공지사항, 게시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또는 DB View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규정·매뉴얼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규정·지침·매뉴얼 원문 (HWP·PDF)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등록 시 자동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등록·개정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학술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논문 메타데이터·초록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승인된 연계 구간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80800" y="8237570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06799" y="829157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설계 관점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6799" y="8489570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RAG 답변 품질은 모델보다 데이터 처리에서 결정됩니다. 본 사업에서 가장 많은 시간을 들이는 영역으로 보고, 착수 1개월 안에 대상 문서 진단과 파이프라인 1차 구축을 마칩니다.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1.2.2 지능형 검색 · 출처 관리 · 피드백 학습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지식베이스 및 데이터 파이프라인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(쓸수록 정확해지는 검색)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Multi-Query · Rerank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정밀 검색으로 근거를 찾고, 사용자 '좋아요/싫어요' 피드백으로 검색 순위와 학습 데이터셋을 계속 개선함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질의 확장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Multi-Query: 질문을 여러 표현으로 확장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법령 용어·약어 사전 적용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누락 감소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하이브리드 검색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키워드(BM25) + 벡터 검색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권한 범위 필터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문서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재순위화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Cross-encoder Reranker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관련성 임계 미만 제외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Top-k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출처 관리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문서·조항·버전·효력일 메타데이터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링크 생성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출처 표시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2400" y="516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2400" y="514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피드백 기반 학습 체계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16800" y="5472000"/>
          <a:ext cx="6260400" cy="2721293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답변별 좋아요/싫어요·오답 신고·사유 입력, 질의·근거·답변 이력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대시보드에서 만족도 추이·오답 유형·저평가 문서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피드백 점수를 검색 랭킹 가중치에 반영, 오답 신고 건은 관리자 검토 후 지식 보정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검증된 질의-답변 쌍을 미세 조정(Fine-tuning)용 데이터셋으로 생성·관리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 개정·문서 갱신 시 재색인, 효력 종료 문서 검색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80800" y="8301297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6799" y="835529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피드백이 품질로 돌아오는 주기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6799" y="8553297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오답 신고는 다음 영업일 안에 관리자가 원인을 분류하고, 지식 보정·랭킹 반영 결과는 주간 품질 측정으로 확인합니다.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1.2.3 문서 유형별 청킹 최적화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지식베이스 및 데이터 파이프라인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(문맥이 끊기지 않는 분할) 규정 · 보고서 · 매뉴얼의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구조를 따라 나누고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중첩 구간과 메타데이터를 붙여, 조항 하나를 물어도 상위 맥락까지 함께 검색되게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3253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738925"/>
                <a:gridCol w="23476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청킹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메타데이터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법령·규정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조·항·호 단위, 상위 장·조 제목 상속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법령명·조항 번호·시행일·개정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서론·본론·결론 논리 단위, 의미 경계 분할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문서명·작성 부서·작성일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절차 단위, 절차 목록은 분할하지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업무명·담당 부서·버전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공지사항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게시물 단위, 첨부파일 별도 청크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게시일·게시 부서·유효기간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단위 보존 + 행 요약 청크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제목·열 이름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791321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791321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문장 단위 분할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86332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899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글자 수 기준 분할 지양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899321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문장 경계 유지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791321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문맥 단절 방지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21321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421321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의미 기반 분할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49332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529321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인접 문장 임베딩 유사도 기준 경계 결정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5421321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주제 단위 청크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605132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605132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중첩 최적화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612332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61593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문서 유형별 Overlap 구간 실험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61593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테스트셋 정답률로 결정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605132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 Overlap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668132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668132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메타데이터 매핑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675332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678932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속성·장절 위치·핵심 키워드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69200" y="668132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정밀 필터·출처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0800" y="73653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청킹 전략 검증 방법 &gt;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7599320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유형별로 2~3개 청킹 전략(단위·중첩 크기)을 준비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표본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표본 질의로 검색 재현율·정답률을 전략별로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최고 성능 전략을 청킹 전략 정의서에 근거와 함께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법령 · 규정 RAG 기반 질의응답 서비스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연구행정 RAG 질의응답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(조항으로 답하는 AI)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연구개발혁신법 전문과 연구원 전체 규정 · 매뉴얼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조항 단위로 색인하고, 답변마다 근거 조항과 원문 링크를 함께 보여줌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태스크별 특화 서비스 (관리자가 서비스별 지식 범위·프롬프트 관리)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347650"/>
                <a:gridCol w="27389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연구개발혁신법·시행령·유권해석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조항별·주제별 검색, 유권해석 자동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연구원 전체 규정·지침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근거·시행일 표시, 개정 전후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구매·검수 등 업무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 단계 안내, 담당 부서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공지사항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업무포털 공지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유효기간 내 공지만 답변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학술 DB·내부 연구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최신 연구 추천·요약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4727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4727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질의 분석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5015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의도·법령 용어 분석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5107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4727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4727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조항 검색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5015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조·항 단위 정밀 검색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5107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4727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4727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답변 생성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5015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기반 생성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5107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4727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4727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표시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5015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조항·단락 하이라이트, 원문 링크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0800" y="5699464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5735464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(멀티턴) 이전 대화 맥락을 유지하여 "그럼 예외는?" 같은 후속 질문에 연속 응답함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(현행화) 법령 개정 시 해당 조항만 재색인하고 구 조항은 이력으로 보관하는 현행화 관리 기능 제공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695532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답변 구성 예시 (화면 표시 항목)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7189324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본문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질문에 대한 요약 답변 (근거 문서 범위 안에서만 작성)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법령·규정명, 조·항·호, 시행일 — 원문 하이라이트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부서, 관련 서식·절차 매뉴얼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도움 됨 / 안 됨, 오답 신고 (사유 입력)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1.3.2 답변 정확도 90% 및 환각 방지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연구행정 RAG 질의응답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(측정해서 보장) 연구원 규정 기반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표준 테스트셋으로 정답률 90% 이상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검증하고, 근거 강제 · 자기 검증 · 오답 피드백으로 환각을 억제함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품질 지표 및 목표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130200"/>
                <a:gridCol w="17216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테스트셋 질의, 정답 대비 자동·수동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Faithfulness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RAGAS — 답변이 근거 문서에 기반한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【95%】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Context Precision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RAGAS — 검색 근거의 관련성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조항·단락이 실제 근거와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【95%】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4385464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4385464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강제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4457464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449346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문헌 기반으로만 답변 생성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6999" y="449346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없으면 '확인할 수 없음'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4385464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환각 차단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5015464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5015464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자기 검증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5087464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512346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 후 근거 대조 (Faithfulness 점수)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46999" y="512346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미달 시 재생성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5015464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검증된 답변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5645464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5645464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정기 측정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5717464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575346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테스트셋 정기 평가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46999" y="575346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품질 측정 결과 보고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69200" y="5645464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추이 관리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6275464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6275464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오답 보정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34800" y="6347464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324800" y="638346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오답·환각 사례 즉시 분석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46999" y="638346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프롬프트 수정·데이터 보정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69200" y="6275464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정답률 상승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0800" y="692346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표준 테스트셋은 착수 후 지식정보실·현업과 함께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 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문항으로 구성하고 정답을 확정함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0800" y="7139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표준 테스트셋 구성 (안) &gt;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316800" y="7373464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834495"/>
                <a:gridCol w="11738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질문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특정 조항의 내용·기한·금액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【40%】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두 개 이상 조항을 종합해야 하는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【25%】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구매·검수 등 업무 절차 단계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【25%】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지식베이스에 없는 내용 (응답 거절 확인)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1.4.1 생성형 AI 기반 구매 이상거래 탐지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1.4 구매 이상거래 탐지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(먼저 알리고 이유를 설명) 구매 이력에서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반복 · 분할구매, 업체 편중, 지속거래, 단가 · 주기 이상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탐지하고, LLM이 탐지 사유를 담당자가 이해하기 쉽게 설명함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탐지 유형 및 기준 (임계값은 과거 구매 이력 분석 후 연구원과 확정)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518392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443220"/>
                <a:gridCol w="15651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탐지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반복구매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품목·업체 단기간 반복 구매 횟수 기준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담당자·감사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분할구매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수의계약 한도 회피 의심 — 근접 일자 동일 품목 분할 합계가 한도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업체 편중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업체별·물품별 구매 집중도 상위 비율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지속거래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연구자-업체 간 장기 지속 거래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단가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품목 과거 단가 분포 대비 이탈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품목별 평균 구매 주기 대비 급변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5218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5218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5506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MIS 구매 이력·업체·품목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5598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5218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5218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탐지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5506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통계·룰 기반 점수화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5598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5218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5218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설명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5506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LLM이 사유·근거 요약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5598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5218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5218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알림·조치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5506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대시보드·알림, 조치 기록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0800" y="6190392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6226392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(오탐 관리) 담당자가 '정상 거래' 판정 시 사유를 기록하고 유사 건 탐지 기준에 반영하여 오탐을 줄임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7021632"/>
            <a:ext cx="6332400" cy="892674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6799" y="707563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판정과 설명을 나누는 이유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799" y="7273632"/>
            <a:ext cx="6080400" cy="586674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탐지 여부는 통계·룰 기준으로 결정하여 같은 데이터에는 항상 같은 결과가 나오게 하고, LLM은 탐지 사유를 설명하는 데만 사용합니다. 그래서 감사 근거로 쓸 수 있고 담당자도 이유를 바로 이해할 수 있습니다.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0800" y="802230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탐지 건 처리 상태 관리 &gt;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8256306"/>
          <a:ext cx="6260400" cy="100146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탐지 사유·근거 거래·관련 규정과 함께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중 → 종결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담당자 검토 후 '조치 필요' 또는 '정상 거래(사유 기록)'로 종결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1.4.2 구매 모니터링 대시보드 및 생성형 AI 구매 도우미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1.4 구매 이상거래 탐지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(한눈에 보고 물어보는 구매) 이상거래 현황을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업체별 · 물품별 대시보드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보여주고, 구매이력 · MRO상품 · 계약업체 · 구매절차를 자연어로 묻고 답하게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이상거래 현황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유형별 탐지 건수·추이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미처리·처리 상태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편중 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261720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업체별·물품별 집중도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상위 업체 거래 추이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상세 조회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261720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탐지 사유·근거 거래 목록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이력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0800" y="351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생성형 AI 구매 도우미 &gt;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316800" y="3744000"/>
          <a:ext cx="6260400" cy="2170645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738925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"우리 과제에서 지난달 시약 구매 내역 보여줘"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MIS 구매 데이터 조회 (본인 권한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MRO상품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"피펫 팁 MRO 등록 상품 있어?"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MRO 상품 목록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계약업체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"이 품목 단가계약 업체 어디야?"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계약업체 정보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"500만원 초과 장비 구매 절차는?"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 규정·매뉴얼 RAG + 근거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280800" y="6022648"/>
            <a:ext cx="6332400" cy="757125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6058648"/>
            <a:ext cx="6224400" cy="721124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(안전한 조회) 자연어를 사전 정의된 조회 함수로 변환하여 실행하고, 임의 SQL 생성·DB 직접 접근은 허용하지 않음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2400" y="688417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2400" y="686977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구매 도우미 처리 흐름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6800" y="7193773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316800" y="719377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질문 입력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800" y="7481773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자연어 질문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1811700" y="762757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908900" y="7193773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1908900" y="719377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의도 분류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4900" y="7481773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이력·상품·업체·절차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3403800" y="762757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501000" y="7193773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3501000" y="719377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조회 함수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37000" y="7481773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권한 범위 내 실행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4995900" y="762757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093100" y="7193773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5093100" y="719377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29100" y="7481773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결과 표 + 근거 조항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0800" y="8273773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06799" y="832777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연구자와 구매 담당 모두를 위한 도우미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799" y="8525773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연구자는 구매 절차와 계약업체를 바로 확인하고, 구매 담당자는 반복 문의 응대를 줄입니다. 조회 결과는 본인 권한 범위 안에서만 보여줍니다.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1.5.1 인사 연동 SSO · RBAC 통합 보안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1.5 보안 및 권한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(사람이 바뀌면 권한도 바뀐다)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MIS 인사 DB 실시간 연동과 SSO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단일 접속을 구현하고, 역할 기반 권한과 인사 변동 시 자동 회수로 지식 접근을 통제함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SFR-005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SSO 로그인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업무포털 단일 접속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인사 연동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부서·직급·역할 실시간 반영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권한 적용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RBAC 지식·기능 권한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접속·질의·조회 로그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834392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504160"/>
                <a:gridCol w="250416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지식베이스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연구자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법령·규정·매뉴얼·공지, 본인 과제 구매이력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챗봇·구매 도우미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소관 업무 내부 자료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지식 등록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구매·감사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구매 이력·이상거래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이상거래 대시보드·조치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(개인정보 마스킹 적용)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지식·모델·권한·모니터링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280800" y="5272392"/>
            <a:ext cx="6332400" cy="159047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5308392"/>
            <a:ext cx="6224400" cy="155447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(자동 회수) 퇴직·전보 등 인사 변동을 감지하여 권한을 즉시 회수·변경하고 변경 이력을 남김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(검색 단계 통제) 권한 밖 문서는 검색 단계에서 제외하여 답변에 포함될 수 없게 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(감사 로그) 접속·질의·조회·권한 변경 로그를 위·변조 방지 저장하고 정기 점검함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695287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인사 변동 시 권한 처리 예시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7186872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521475"/>
                <a:gridCol w="133033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인사 변동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이동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이전 부서 지식 권한 회수, 새 부서 권한 부여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인사 반영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휴직 · 퇴직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 사용 중지, 전체 권한 회수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인사 반영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구매·감사 등 업무 권한 재계산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인사 반영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1.6.1 응답 속도 및 동시 접속 100명 성능 보장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1.6 성능 및 데이터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(기다리지 않는 AI)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첫 토큰 평균 3초 · 전체 응답 10초 이내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동시 100명 부하에서도 지키도록 스트리밍 · 대기열 · 캐시를 적용하고 구간별 지연을 실시간 감시함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PER-001, PER-002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176392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확보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첫 토큰 3초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스트리밍 출력, 검색·재순위화 병렬 처리, 프롬프트 길이 최적화, 자주 묻는 질의 캐시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10초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Top-k 제한, 답변 길이 가이드, vLLM 연속 배칭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100명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대기열·우선순위 관리, GPU 사용률 기반 동시 처리 수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배분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CPU·GPU·메모리 실시간 감시, 특정 요청 쏠림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병목 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저하 전조(대기열 길이·지연 증가) 시 관리자 즉시 알림, 부하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5679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4239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관리자 성능 모니터링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4966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4966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구간 측정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254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검색·재순위·생성 구간별 지연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346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4966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4966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임계치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254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3초/10초 초과 감지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346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4966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4966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기록·알림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254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로그 기록·관리자 알림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346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4966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4966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튜닝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254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 구간 최적화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590239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동시 100명 부하 시험은 시험 단계에서 수행하고 결과를 단계별 테스트 결과서에 포함 (Ⅳ-6 참조)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1183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6800" y="61183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4800" y="61723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4800" y="65683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첫 토큰 표시 (평균)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39600" y="61183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439600" y="61183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47600" y="61723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47600" y="65683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전체 응답 완료 (최대)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62400" y="611839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62400" y="611839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70400" y="617239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70400" y="656839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동시 접속에서도 기준 유지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0800" y="710839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성능 시험 시나리오 (측정 조건은 착수 시 합의) &gt;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16800" y="7342392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2582415"/>
                <a:gridCol w="17216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사용자 규정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첫 토큰·전체 응답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다수 사용자 동시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평균·최대 응답 시간, 오류율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100명 이상 단계적 증가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장문 근거 참조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응답 완료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질의 혼합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1.6.2 데이터베이스 표준화 및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1.6 성능 및 데이터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(표준을 지키는 데이터) 『공공기관의 데이터베이스 표준화 지침』과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연구원 DB 표준지침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에 따라 설계하고, 모든 DB 변경은 사전 승인과 이력 관리로 통제함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DAR-001, DAR-002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998643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용어·도메인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연구원 표준 단어·용어·도메인 사전 적용, 신규 용어는 표준화 협의 후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정합성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데이터 건수·합계 대사, 인터페이스 오류 시 재처리·알림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참조 무결성·필수값 검증, 연계 원천과 주기적 비교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스키마 신규·변경 → 사업 담당자 사전 검토·서면 승인 →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요청·승인·반영 이력을 형상관리 도구로 기록, 임의 변경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테이블 정의서, 데이터 사전, 데이터 관리 및 운영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47904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6464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DB 변경 승인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788648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7886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요청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07664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사유·영향 범위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2224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5788648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57886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07664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 담당자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2224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5788648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57886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서면 승인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07664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승인 기록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2224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5788648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57886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07664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스크립트 적용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2224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5788648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578864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이력 등록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076648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형상관리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0800" y="686864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데이터 품질 점검 항목 &gt;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7102648"/>
          <a:ext cx="6260400" cy="203399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834495"/>
                <a:gridCol w="117382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건수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대비 적재 건수 일치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동기화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 항목 누락·형식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동기화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문서·레코드 중복 적재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마스킹 누락 표본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 기능개선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업무포털 내장 AI 챗봇 화면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사용자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(익숙한 곳에서 바로) AI 챗봇을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업무포털 안에 내장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근거 조항 · 원문을 답변 옆에 바로 보여주어, 별도 교육 없이도 쓸 수 있는 화면을 만듦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질문 영역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 선택 (법령·규정·매뉴얼·구매)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추천 질문·최근 질문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33600" y="2358000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답변 영역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9600" y="2617200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스트리밍 답변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 조항 하이라이트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좋아요/싫어요·오답 신고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50400" y="2358000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패널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6400" y="2617200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원문 문서 미리보기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조항·단락 위치 이동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시행일·개정 이력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316800" y="3429612"/>
          <a:ext cx="6260399" cy="202746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흐름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구매·검수 담당자와 연구자 업무 흐름 관찰 후 화면 구성 (UX 리서치)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신뢰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답변마다 근거 개수·출처·기준일 표시, 근거 없음은 명확히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멀티턴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대화 이력 유지, 주제 전환 시 새 대화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접근성·호환성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콘텐츠 접근성 지침 2.2 준수, 주요 브라우저·OS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프로토타입 사용성 점검 → UAT·설문으로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302400" y="557947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00" y="556507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사용자 이용 흐름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6800" y="588907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16800" y="5889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포털 접속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617707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SSO 자동 로그인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1493280" y="6268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590480" y="588907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1590480" y="5889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서비스 선택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26480" y="617707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추천 질문 제시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2766960" y="6268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864160" y="588907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2864160" y="5889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질문·답변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00160" y="617707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스트리밍 답변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4040640" y="6268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137840" y="588907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4137840" y="5889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확인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73840" y="617707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원문 조항 이동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5314320" y="626887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411520" y="588907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5411520" y="588907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47520" y="617707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한 번의 클릭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0800" y="686107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화면 목록 (안) &gt;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7095076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챗봇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서비스별 질의응답, 대화 이력, 근거 패널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이상거래 목록·상세, 조치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콘솔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지식·서비스·모델·권한·품질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 기능개선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지식베이스 · 모델 · 품질 관리자 도구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관리자 운영 도구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(연구원이 직접 운영) 문서 등록 · 재색인 · 서비스별 프롬프트 · 모델 전환 · 품질 대시보드를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관리자 화면 하나로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제공하여 사업 후에도 연구원이 스스로 운영함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3202392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등록·수정·폐기, 재색인 실행, 법령 개정 반영, 효력기간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태스크별 서비스(법령·규정·매뉴얼·공지) 지식 범위·프롬프트·추천 질문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 모델 목록, 서비스별 모델 지정·전환, 벤치마크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소스별 동기화 상태·실패·재처리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품질·피드백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만족도 추이, 오답 신고 처리, 테스트셋 평가 실행·결과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구간별 지연, 동시 접속, GPU 사용률, 임계치·알림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비식별화 대상 항목·예외 단어 설정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권한·감사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역할별 권한, 감사 로그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568279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566839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관리자 핵심 업무와 소요 시간 목표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5992392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599239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규정 개정 반영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6251592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개정 문서 업로드 → 자동 재색인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목표: 당일 반영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92000" y="5992392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92000" y="599239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오답 신고 처리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0" y="6251592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 분류 → 지식 보정 → 회신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목표: 다음 영업일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6982392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698239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서비스 추가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" y="7241592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 범위·프롬프트 설정만으로 추가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개발 없이 관리자 직접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92000" y="6982392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492000" y="698239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품질 점검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0" y="7241592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테스트셋 평가 실행·결과 확인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월 1회 이상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0800" y="8026392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06799" y="808039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사업 종료 후에도 연구원이 직접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799" y="8278392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관리 기능은 화면에서 처리되며 개발 지식 없이 사용할 수 있도록 관리자 매뉴얼과 실습 교육(Ⅳ-7)을 함께 제공합니다.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 기능개선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AI 구축 방법론 및 분석 도구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수행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(짧은 기간, 확실한 단계) 분석 → 설계 → 구현 → 시험 → 시범운영 단계마다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산출물과 검증 기준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정하고, 정답률 테스트셋을 처음부터 기준으로 삼아 반복 개선함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545239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286710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상세화, 업무 절차 분석(구매·검수), 데이터·문서 현황 진단, 테스트셋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정의서, 데이터 현황 분석서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아키텍처·데이터 파이프라인·청킹 전략·화면·권한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아키텍처 설계서, 화면 설계서, 테이블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인프라·LLM 구축, RAG·이상거래·관리자 도구 개발, 주간 정답률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소스코드, 프로그램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단위·통합 시험, 부하 시험, 보안 취약점 점검, UAT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테스트 결과서, 취약점 점검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10영업일 이상 실환경 운영, 설문·인터뷰,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운영 결과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교육·기술이전, 운영 매뉴얼, 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 및 운영 매뉴얼, 완료보고서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601124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분석 · 관리 도구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245244"/>
          <a:ext cx="6260399" cy="203399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【프로젝트 관리 도구 (Jira 등)】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일정·이슈·위험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(폐쇄망 내부 저장소) — 소스·산출물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RAGAS 기반 평가 스크립트, 테스트셋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부하·보안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【부하 시험 도구】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, 소스코드 보안 약점 점검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387243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44124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정답률을 처음부터 기준으로 삼는 이유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639244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기능이 완성된 뒤에 정확도를 맞추면 일정이 부족합니다. 분석 단계에서 테스트셋을 먼저 만들고 구현 기간 매주 정답률을 측정해, 문제를 일찍 찾아 고칩니다.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저작권 · 웹 접근성 · 개인정보 · 개발표준 준수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제약사항 준수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(제약을 설계에 반영) 오픈소스 라이선스 검토,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웹 접근성 · 호환성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적재 전 개인정보 가명 · 마스킹, 기술적용계획표 준수를 착수 단계부터 설계 기준으로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COR-001, COR-002, COR-003, COR-004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580592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저작권·지식재산권 (COR-001)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오픈소스·모델 라이선스 목록과 이용 조건 검토서 제출, 제3자 권리 침해 시 제안사 책임, 지식재산권 공동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(COR-002)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기술 사용·기능 모듈화, 사용자 OS·브라우저 호환성 시험, 접근성 지침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개인정보보호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적재 전 개인정보 탐지 → 가명(예: 홍○동)·마스킹(예: 010-</a:t>
                      </a:r>
                      <a:r>
                        <a:rPr sz="1100" b="1">
                          <a:solidFill>
                            <a:srgbClr val="0462D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**-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**), 관리자 화면에서 탐지 항목·예외 단어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개발표준 (COR-004)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「행정기관 및 공공기관 정보시스템 구축·운영 지침」 기술적용계획표 작성·준수, 상이 시 사유 기술 및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06099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04659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개인정보 비식별화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370595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37059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탐지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658595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성명·연락처·주민번호·주소 등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804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370595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37059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658595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가명·마스킹 (맥락 유지)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804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370595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37059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658595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관리자 예외 단어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804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370595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370595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658595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비식별 데이터만 Vector DB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64145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제약사항 미충족이 발생하면 영향 범위와 대체 방안을 즉시 보고하고 연구원 승인 후 조치함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663059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기술적용계획표 주요 항목 적용 방향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864595"/>
          <a:ext cx="6260400" cy="203399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모듈화, 표준 API, 모델 교체 시 응용 변경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연구원 DB 표준 준수, 변경 승인·이력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시큐어코딩, 소스 취약점 점검, 접근 통제·감사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표준·접근성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지침 2.2, 주요 브라우저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사업관리 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사업수행조직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품질보증계획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사업관리계획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보안관리계획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보고 및 검토 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시험운영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교육훈련 및 기술이전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하자보수 및 비상대책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사업수행조직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사업수행조직 및 업무분장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 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(PM 직할 소수 정예)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· 데이터 · 개발 · UX · 품질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담당을 두고 지식정보실 · 정보보안팀과 정기 협의하여 4개월 일정을 책임지고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PMR-001, PMR-002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8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연구원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지식정보실 (사업 총괄)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정보보안팀 (보안 검토)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경영기획실 (주관)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08800"/>
            <a:ext cx="4874400" cy="48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088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사업총괄책임자 (PM)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품질보증 (QA)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보안관리 책임자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9088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계약이행 책임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459600"/>
            <a:ext cx="4874400" cy="48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4596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5315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AI·LLM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363400" y="35315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데이터·RAG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94000" y="35315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이상거래·백엔드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24600" y="35315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UX·화면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4596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분석 · 개발 · 시험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4082400"/>
          <a:ext cx="6260399" cy="2518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939059"/>
                <a:gridCol w="704295"/>
                <a:gridCol w="32867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총괄, 일정·위험·품질 관리, 연구원 협의, 제안 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AI·LLM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도입·서빙, 모델 게이트웨이, 컨테이너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데이터·RAG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파이프라인, 청킹·검색, 정확도 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이상거래·백엔드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 이상거래 탐지, MIS·SSO 연동, 관리자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UX·화면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챗봇·대시보드 화면 설계, 사용성·접근성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품질(QA)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품질보증, 시험, 산출물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80800" y="667279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투입인력 교체 시 동급 이상 인력, 15일 이상 인수인계, 연구원 승인 / 비상연락망 구축·수시 갱신 / 하도급 없음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0800" y="688879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연구원 협업 채널 &gt;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7122792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3130200"/>
                <a:gridCol w="15651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채널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지식정보실 담당자 · 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현업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구매·검수·연구지원 부서 · 담당 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격주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정보보안팀 · 보안관리 책임자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반입·배포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품질보증계획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품질보증 조직 · 활동 · 형상관리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품질보증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(독립 품질 검토) 수행 조직과 분리된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품질보증 담당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이 단계별 산출물 · 정답률 · 결함을 점검하고, 소스와 산출물을 형상관리 시스템으로 버전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QUR-001, QUR-002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품질관리 활동 계획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369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정답률 90% 이상, 응답 3초/10초, 중대 결함 0건, 산출물 적기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조직·책임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담당(QA) — PM과 독립 보고, 품질관리팀(CTO)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검토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체크리스트, RAGAS 평가 스크립트, 소스 보안 약점 점검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활동·시기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종료 시 산출물 검토, 주간 정답률 측정, 시험 결함 추적·재시험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서비스·데이터 신뢰성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대비 자동 복구·백업, 데이터 정합성 대사, 변경 승인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표준처리절차, 장애 처리 절차, 배포 절차서 제작·관리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069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형상관리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303464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폐쇄망 Git 저장소, 브랜치 전략, 변경 요청-검토-병합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버전 번호·변경 이력, 승인본 기준선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버전별 배포 기록, 문제 시 이전 버전 복원으로 연속성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71892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품질보증역량: 소프트웨어프로세스 품질인증(SP인증) 등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【보유 인증 확인】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6934928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6799" y="698892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품질 결과 보고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799" y="7186928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주간 정답률·결함 현황은 주간보고에, 단계별 산출물 검토 결과와 품질 지표 추이는 월간보고에 포함하며, 기준 미달 항목은 원인과 조치 계획을 함께 보고합니다.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2400" y="777844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2400" y="776404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형상 변경 절차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6800" y="808804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16800" y="80880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요청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800" y="837604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요청자·사유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1493280" y="84678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590480" y="808804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1590480" y="80880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영향 분석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26480" y="837604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모듈·산출물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2766960" y="84678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864160" y="808804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2864160" y="80880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00160" y="837604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 / 연구원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4040640" y="84678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137840" y="808804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4137840" y="80880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73840" y="837604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배포·기록</a:t>
            </a:r>
          </a:p>
        </p:txBody>
      </p:sp>
      <p:sp>
        <p:nvSpPr>
          <p:cNvPr id="56" name="Isosceles Triangle 55"/>
          <p:cNvSpPr/>
          <p:nvPr/>
        </p:nvSpPr>
        <p:spPr>
          <a:xfrm rot="5400000">
            <a:off x="5314320" y="846784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411520" y="808804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 Same Side Corner Rectangle 57"/>
          <p:cNvSpPr/>
          <p:nvPr/>
        </p:nvSpPr>
        <p:spPr>
          <a:xfrm>
            <a:off x="5411520" y="808804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47520" y="837604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결과 확인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사업관리계획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4개월 세부 추진 일정 및 중간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추진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(12월 31일 완료) 1개월 차에 인프라와 지식베이스 기반을 완성하고,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3개월 차 중반 통합 시험 · 10영업일 시범운영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거쳐 12월 중 안정화와 완료보고를 마침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PMR-003, PMR-007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7" cy="3193887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347650"/>
                <a:gridCol w="645603"/>
                <a:gridCol w="645603"/>
                <a:gridCol w="645603"/>
                <a:gridCol w="645603"/>
              </a:tblGrid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 (9월)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M+1 (10월)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 (11월)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M+3 (12월)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LLM·RAG 운영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(요구사항·시스템)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구축 (컨테이너·LLM·파이프라인)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행정·연구 지원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(업무 절차·데이터)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(RAG·이상거래·관리자 도구)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단위/통합 시험 및 UAT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시범운영·안정화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(10영업일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지원·교육·완료보고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59887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중간 목표 (마일스톤)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93887"/>
          <a:ext cx="6260400" cy="1834392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23476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+10일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사업수행계획서·요구사항 정의서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서빙·지식베이스 1차 구축, 테스트셋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정답률 측정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 중순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기능 구현·통합 시험 완료, 정답률 90%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중간보고회·테스트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M+3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시범운영·보완 완료, 교육·이행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완료보고회·검수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7836280"/>
            <a:ext cx="6332400" cy="72111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789028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역산 일정의 핵심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8088280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10영업일 이상 시범운영과 보완 기간을 확보하기 위해 11월 중순까지 통합 시험을 마치는 것을 일정의 기준점으로 삼고, 주간 진척률로 관리합니다.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사업관리계획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위험관리 · 산출물 관리 · 자원관리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위험 · 산출물 · 문서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(4개월의 위험을 먼저) 데이터 제공 지연 · GPU 성능 · 정답률 미달 등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고유 위험 5건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착수 시 식별하고, 산출물 계획과 개발환경을 첫 주에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PMR-004, PMR-005, PMR-006, PMR-009, PMR-010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857942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469529"/>
                <a:gridCol w="2269395"/>
                <a:gridCol w="226939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데이터·연계 제공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2주 내 연계 방식·일정 합의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기반 RAG 선행, 연계 후속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성능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GPU 사양 기준 모델 크기·동시 처리량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양자화·경량 모델 병행, 대기열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정답률 90%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테스트셋 조기 확정, 주간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청킹·검색·프롬프트 집중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이상거래 오탐 과다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이력으로 임계값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담당자 판정 반영, 기준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진척 관리, 병행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인력 추가 투입 (동급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32394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산출물 · 자원 관리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557946"/>
          <a:ext cx="6260400" cy="2721293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산출물 종류·작성 내용·제출 시기를 사업수행계획서에 명시, 검토·승인 후 기준선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회의록·보고자료·작업 문서를 형상관리 저장소에 일원화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개발·시험용 H/W·S/W·관리 도구는 제안사 부담 준비, 작업 장소는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일정별 진행검사, 시정요구 시 즉시 보완·재검사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책임이행·분쟁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안전사고·손해 발생 시 귀책 당사자 책임·배상, 분쟁은 상호 협의 후 관계 규정에 따름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8387243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844124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위험관리 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8639244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위험은 등록부로 관리하고 주간 회의에서 상태를 점검하며, 영향이 큰 위험은 발생 즉시 연구원에 보고하고 대응안을 함께 제시합니다.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보안관리계획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물리적 · 관리적 · 기술적 보안대책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보안관리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(정보는 연구원 밖으로 나가지 않는다) 투입 인력 보안교육 · 서약,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지정 PC 외 자료 생산 금지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장비 · 매체 반출입 통제, 소스 보안 취약점 점검을 이행함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SER-001, SER-002, SER-003, SER-004, SER-005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75396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4147515"/>
                <a:gridCol w="11738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인력 전원 정보보안교육, 착수 1개월 내 결과보고서 제출, 보안서약서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연구원 지정 PC에서만 자료 생산, 생산 자료 반출 금지, 개인 노트북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인원·문서·장비 보안관리 계획 수립, 누출금지 대상정보 관리, 위반 시 제재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반출입 대장(식별번호·일자·사용자·점검·승인), USB 라벨·관리대장, 반출 시 완전 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PC CMOS·로그인·화면보호기 비밀번호(9자 이상 조합), 월 1회 PC 보안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국정원 8대·OWASP Top 10 취약점 제거, 개발보안 가이드 준수 점검, 결과·조치 보고서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 활용 보안 가이드라인 준수 — 폐쇄망 운영, 프롬프트 인젝션 차단, 개인정보 마스킹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23436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21996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저작권 존중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6543963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6579963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(라이선스 관리) 사용 오픈소스·모델·글꼴의 라이선스를 목록화하여 제출하고, 상업 이용 제한 라이선스는 사용하지 않음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2400" y="73896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00" y="737520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 사고 대응 절차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6800" y="7699203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316800" y="769920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" y="7987203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탐지·신고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1493280" y="807900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590480" y="7699203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1590480" y="769920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즉시 보고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26480" y="7987203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 담당자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2766960" y="807900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864160" y="7699203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2864160" y="769920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차단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00160" y="7987203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계정·서비스 격리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4040640" y="807900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137840" y="7699203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4137840" y="769920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분석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73840" y="7987203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로그 분석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5314320" y="807900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411520" y="7699203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5411520" y="7699203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재발 방지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47520" y="7987203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대책 보고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보고 및 검토 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정기 · 수시 보고 및 단계별 검토회의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보고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(투명한 진척 공유) 주간 · 월간 보고와 착수 · 중간 · 완료 보고회를 운영하고, 모든 업무회의 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회의록을 제출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결정 사항을 남김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PMR-008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998643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095570"/>
                <a:gridCol w="2973689"/>
                <a:gridCol w="117382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10일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사업수행계획서·산출내역서·일정·조직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지식정보실·PM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진척률·이슈·위험·다음 주 계획, 주간 정답률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담당자·PM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매월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실적·산출물 현황·품질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지식정보실·PM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 중순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시험 결과·정답률·시범운영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부서·PM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M+3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결과·설문 분석·산출물·이행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부서·PM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발생·요구 변경·연구원 요청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5464648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546464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회의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752648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업무회의·검토회의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58984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5464648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546464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회의록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5752648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결정 사항·조치 항목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58984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5464648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546464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5752648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 담당자 확인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589844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5464648"/>
            <a:ext cx="148410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546464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5752648"/>
            <a:ext cx="141210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완료까지 관리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654464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보고서 구성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6778648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금주 실적·차주 계획, 진척률, 이슈·위험, 주간 정답률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실적, 산출물 현황, 품질 지표 추이, 위험 대응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회의록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참석자, 논의 내용, 결정 사항, 조치 항목·담당·기한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80800" y="8506648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799" y="856064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결정 사항의 추적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799" y="8758648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회의에서 정한 조치 항목은 이슈 목록에 등록하여 담당자·기한을 지정하고, 완료될 때까지 주간보고에서 상태를 보고합니다.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시험운영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단계별 시험 · UAT · 10영업일 시범운영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시험 및 시범운영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(실제 업무로 검증) 단위 · 통합 · 부하 시험 후 현업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UAT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거쳐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10영업일 이상 전체 사용자 시범운영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하고, 설문 · 인터뷰 결과를 보완한 뒤 검수를 요청함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TER-001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단위 시험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개발 단위 기능 검증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시험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MIS·SSO 연동 정합성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부하 시험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동시 100명, 3초/10초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현업 업무 시나리오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시범운영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10영업일↑ 전체 사용자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330000"/>
          <a:ext cx="6260400" cy="26673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총괄, QA 시험 관리, 개발 담당 결함 조치, 지식정보실·현업 UAT 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UAT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구매·검수·연구 지원 실제 시나리오로 현업 연구원이 완성도·편의성 점검, 개선 요구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준공 전 실업무 환경과 동일 조건, 일일 장애·오답 점검, 헬프데스크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사용자 설문(만족도·정확도·UI/UX) + 심층 인터뷰, 결과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보완·검수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오류·불편 사항 조치 완료 후 최종 검수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테스트 결과서(결함 조치 내역 포함), 시범 운영 결과 보고서(설문 분석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316800" y="610532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610532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4800" y="615932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영업일↑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4800" y="655532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실환경 시범운영
(준공 전 필수)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39600" y="610532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439600" y="610532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47600" y="615932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47600" y="655532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부하 시험
동시 접속 기준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62400" y="6105321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62400" y="6105321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70400" y="615932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90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%↑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70400" y="6555321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정확도 시험
정답률 기준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7095321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시범운영 평가 지표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16800" y="7329320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443220"/>
                <a:gridCol w="17998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정답률, 근거 제시율, '확인 불가' 응답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첫 토큰·전체 응답 시간, 동시 접속 시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유용성 · 사용성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시간 단축 체감, 화면 이해도, 재사용 의향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5점 척도 설문·인터뷰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교육훈련 및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대상별 교육훈련 및 기술이전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교육 및 기술지원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(사업 후 자립 운영) 착수 시 교육계획서를 제출하고, 사용자 · 관리자 · 운영자별 교육과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기술이전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연구원이 지식과 모델을 스스로 관리하게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281176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1173825"/>
                <a:gridCol w="117382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챗봇 사용법, 근거 확인, 피드백·오답 신고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설명회·사용 안내서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구매·감사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이상거래 대시보드, 탐지 사유 확인, 조치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UAT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등록·재색인, 서비스·프롬프트·권한·비식별화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실습·매뉴얼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컨테이너·LLM 서빙 운영, 모델 전환, 장애 조치·백업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 세션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747177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기술이전 산출물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981177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 및 운영 매뉴얼, 장애 대응·백업 복구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아키텍처 설계서, 파이프라인·청킹 설정, 모델 교체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테스트셋·평가 스크립트·실행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6396641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교육계획서에 목적·내용·대상·방법·일정·장소·강사진 명시, 연구원 요청 시 추가 교육 지원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2400" y="66270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661264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기술이전 단계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693664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693664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문서 인계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722464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매뉴얼·설계서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1493280" y="731644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590480" y="693664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1590480" y="693664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6480" y="722464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관리자·운영자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2766960" y="731644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864160" y="693664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2864160" y="693664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공동 운영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00160" y="722464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수행사 입회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040640" y="731644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137840" y="693664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4137840" y="693664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단독 운영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73840" y="722464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원격 지원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5314320" y="731644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411520" y="693664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5411520" y="693664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이전 확인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7520" y="722464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확인서 제출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908641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96264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교육의 목표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60641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사용법 전달이 아니라, 연구원이 외부 지원 없이 지식을 갱신하고 품질을 점검할 수 있는 상태를 만드는 것을 목표로 하며, 교육 결과 보고서와 기술이전 확인서를 제출합니다.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8. 하자보수 및 비상대책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8.1.1 하자보수 체계 및 장애 · 백업 · 복구 대책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8.1 하자보수 및 장애복구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(완료 후에도 책임) 검수 완료 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1년 무상 하자보수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이행하고, 긴급 장애는 야간 · 휴일에도 대응하며 백업 · 복구 절차를 교육하고 문서로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PSR-002, PSR-003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하자보수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기간·범위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완료 후 1년, 본 사업 개발 S/W 전체 무상 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연구원 근무시간 기준, 긴급 장애는 야간·휴일 관계없이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내 착수, 일반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영업일 내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【분기】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1회 정기 점검 — 정답률·성능·로그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4385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4385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4673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전화·메일 단일 창구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4765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4385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4385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4673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긴급·일반, HW·SW·모델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4765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4385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4385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4673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원격(승인)·방문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4765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4385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4385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4673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원인·조치·재발방지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5357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비상대책 (장애·백업·복구)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5591464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자동 재기동, 서빙 장애 시 대체 모델 전환, 24시간 장애처리체계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Vector DB·설정·관리 데이터 일 단위 백업, 모델 파일·이미지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복구 절차서·복구 훈련, 목표 복구 시간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응급상황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응급상황처리대책 제출·교육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80800" y="7384928"/>
            <a:ext cx="6332400" cy="549558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6799" y="743892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하자보수 이력 관리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799" y="7636928"/>
            <a:ext cx="6080400" cy="24355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접수·원인·조치·완료 일시를 하자보수 이력으로 남기고 분기 점검 결과와 함께 연구원에 보고합니다.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804248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6800" y="804248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4800" y="809648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4800" y="849248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검수 후 무상 하자보수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39600" y="804248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39600" y="804248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47600" y="809648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47600" y="849248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장애처리체계 운영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62400" y="804248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562400" y="804248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70400" y="809648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365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70400" y="849248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긴급 장애 야간·휴일 지원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서식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제안서 붙임 서식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제안서 붙임 서식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서식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붙임 서식 제출 목록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제출 서식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(서식 별도 첨부) 제안요청서 [붙임] 서식 1~8호는 아래 목록에 따라 작성 · 날인하여 제출하며, 해당 없는 서식은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'해당사항 없음'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표기함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8" cy="3275993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3756239"/>
                <a:gridCol w="15651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제1호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입찰참가신청서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제2호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수집·이용 동의서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제3호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각서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제4호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제안업체 관련서류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제6호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제안업체 관련서류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제7~9호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공동수급협정서·합의각서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해당사항 없음 (단독)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570600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서식 명칭·번호는 제안요청서 [붙임] 원문 기준으로 최종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0800" y="5922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입찰서 기타서류 (공고문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155999"/>
          <a:ext cx="6260400" cy="2307294"/>
        </p:xfrm>
        <a:graphic>
          <a:graphicData uri="http://schemas.openxmlformats.org/drawingml/2006/table">
            <a:tbl>
              <a:tblPr firstRow="0" bandRow="0"/>
              <a:tblGrid>
                <a:gridCol w="2738925"/>
                <a:gridCol w="35214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사업자등록증, 법인등기부등본, 법인인감증명서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최신 발급본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중소기업확인서, 직접생산확인증명서, 신용평가등급확인서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입찰마감 전일까지 유효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경쟁입찰참가자격등록증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나라장터 출력본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입찰보증서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입찰금액 5%, 마감일부터 90일 이상 유효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8571297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862529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제출 방식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8823297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정성제안서와 입찰서 기타서류는 각각 하나의 PDF 파일로 분리하여 나라장터에 온라인 제출합니다 (총 200MB 이내).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