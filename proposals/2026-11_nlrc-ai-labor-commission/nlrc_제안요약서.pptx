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제안요약서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디지털노동위원회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구축 2차 사업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중앙노동위원회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및 사업 이해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및 품질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 및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및 사업 이해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현황 및 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 및 목표시스템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현황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개요와 유사사업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유사사업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(생성형 AI 업무 적용 + 업무 시스템 구축) 16년간 디지털 서비스를 구축해 온 기업으로, 최근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 제시형 AI Agent와 운영 중 업무 시스템 확산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이행 완료함 (→ 6~10)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5681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 / 소재지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/ 서울 성동구 뚝섬로1길 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2025년 매출 111억 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직접생산확인(8111159901), 중·소기업·소상공인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5034128"/>
          <a:ext cx="6260399" cy="2484431"/>
        </p:xfrm>
        <a:graphic>
          <a:graphicData uri="http://schemas.openxmlformats.org/drawingml/2006/table">
            <a:tbl>
              <a:tblPr firstRow="0" bandRow="0"/>
              <a:tblGrid>
                <a:gridCol w="2895435"/>
                <a:gridCol w="1486844"/>
                <a:gridCol w="860805"/>
                <a:gridCol w="1017315"/>
              </a:tblGrid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금액(백만원)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차세대 제조 시스템 FAB MOS (M14 · M15X · 용인 Y1, 3건)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【최근 3년 완료 정보시스템 구축 · 개발 실적】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62656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62656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제시형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88576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· 위치를 함께 보이는 응답 → 판정서 인용 검증 · 유사 판정서 추천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762656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762656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업무 양식 초안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788576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반복 문서 자동 작성 → 조정 · 이행강제 · 고발 · 소송 초안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762656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762656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무중단 확산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788576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가동 중 시스템 고도화 → 노사마루 · 연계 단계 오픈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1차 사업의 한계와 2차 사업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(3개년 계획의 2단계) 1차 사업 결과를 확장해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조사 · 판정 · 소송 업무에 AI를 넣고 노사마루를 강화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사업으로 이해하며, 11개 문제를 요구사항과 1:1로 연결함 (→ 15~17)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33784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04160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쟁점 누락 · 무관 쟁점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판정서 위키 (SFR-017 · 029)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 · 표 · 스캔본 인식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구조 분석 (SFR-020)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지연, 첨부 7개 · 500MB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30% 단축 · 10개 1GB (PER-002 · 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초안이 심판에만 한정, 직권조사 품질 편차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· 이행강제 · 고발 · 소송 초안, 직권조사 (SFR-018 · 022 · 028)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인용 오류, 참조문서 갱신 곤란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검증, 참조문서 관리 (SFR-019 · 023)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부재 · 통계 불일치 · 의견 미반영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EAI, 통계 표준화, 편의 기능 (SFR-003~016)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출력물 보안 미흡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· 워터마크 · 비정상접근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7803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7803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7857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8253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전체 수용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7803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7803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7857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8253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
처리시간 단축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7803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7803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7857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8253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H/W
(현행 자원 활용)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1차 대비 2차 사업 · 산출물 인수 · 3차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자원 · 4배 넘는 기능) GPU 80GB 7장과 기존 LLM을 그대로 쓰면서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7개 → 29개, 처리시간 30% 단축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달성하고, 1차 산출물을 인수해 3차 사업계획까지 이어 감 (→ 17, 22, 32, 87)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50753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425905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사업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15.33억 원 · 12개월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11.35억 원 · 10개월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80GB 7장 (국가정보자원관리원 대전센터)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환경 · 추가 H/W 없음 (VLM은 배치, 그래프는 CPU)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27B 이상 온프레미스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모델 고도화 · 동일 GPU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시작 3초 · 초안 5초 · 요약 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실측 대비 30% 이상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·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· 500MB / 7개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· 1GB / 29개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평가셋 약 100건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자체 통합테스트 1,250건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97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97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1차 산출물 인수 (착수 2주)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723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소스 · 설계서 · 모델 · 프롬프트 · 평가셋 · 라이선스 현황 점검, 형상 기준선 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697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697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책임 구분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723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기준선 이전 결함은 1차 하자보수, 2차 변경분은 당사 조치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697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697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3차 연계 (CSR-001)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723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요구 · 성능 결과 분석 → 3차 사업계획 · 제안요청서(안) 작성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목표시스템 구성 및 추진전략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(기존 자원 위에 AI 서비스 계층 확장) 1차 GPU 환경을 그대로 쓰면서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전처리 · 지식 · 생성 · 검증 서비스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나누고, 기준선 측정부터 시작하는 4대 전략으로 추진함 (→ 19~25)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39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34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위원노사마루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온라인사건신청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6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노동위원회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 강화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18800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188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업무 서비스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8908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질의 · 분석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3400" y="28908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문서초안 확대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4000" y="28908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직권조사 · 화해 · 조정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4600" y="28908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8188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SFR-018~028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279600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2796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계층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지식그래프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634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위키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40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참조문서 색인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46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판례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2796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SFR-017·023·029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3740400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37404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· 전처리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서빙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634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VLM 분석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40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STT 화자분리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46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1200" y="37404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SFR-020·021·027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4201200"/>
            <a:ext cx="4874400" cy="39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00" y="42012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 · 연계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328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사건처리 · 통계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634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전자결재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940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노사누리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246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온-나라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81200" y="42012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6800" y="4734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6800" y="4734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4799" y="4777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기준선 먼저, 개선은 측정으로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799" y="5022000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착수 1개월 내 1차 응답시간 · 품질 기준선 확정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6800" y="5472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6800" y="5472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799" y="551519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 기반 위에 초안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4799" y="5760000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지식그래프 · 위키가 초안 모델에 쟁점 · 법령 · 판례 공급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6800" y="6210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6800" y="6210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799" y="6253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 흐름 안에 AI 배치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799" y="6498000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노사마루 사건 화면에서 AI 호출 · 결과 저장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6800" y="6948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6800" y="694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4799" y="699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사용자가 검증하는 단계별 오픈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799" y="7236000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구축지원반 검토 · 승인 기능만 오픈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0800" y="7722000"/>
            <a:ext cx="6332400" cy="721116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6799" y="7776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구성의 원칙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799" y="7974000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서비스는 노사마루 화면에서 버튼 · 메뉴로 호출하고 결과는 사건정보와 함께 저장해, 조사관이 새 시스템을 따로 익히지 않아도 됩니다.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미확정 조건별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(어떤 조건이어도 목표 달성) GPU · 언어모델 권한 · 측정 조건 · 범위 · 작업장소가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확인 결과에 따라 달라져도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경우별 대응 경로를 미리 정해 두고 착수 2주 안에 확정함 (→ 24~25)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42369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경우별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세대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A100급: 양자화 · 서빙 엔진 최적화 / H100급: 캐시 · 스트리밍 · 문서분할 등 처리 구조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여유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충분: 기존 서버 배치 / 부족: 경량화 · 야간 배치 · 동시 생성 조정 / 불가: 근거 보고 후 범위 협의 · 3차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튜닝 가능: 1차 모델 추가 학습 / 제한: 지시문 · 검색 · 분할 · 서빙 개선 + 오픈소스 병행안 비교 (승인 후 교체)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30% 측정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조건: 서빙 최적화 · 캐시 · 스트리밍 / 2차 조건 · 동시 100명: 비동기 · 대기열 포함, 일반 · 최대 조건 분리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제한 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· 처리 시간: 설정 조정 · 비동기 처리 / 컨텍스트 · GPU 메모리: 구간 분할 · 요약 · 양자화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상용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 제시: 업무 분류 · 보안 구조 · 3차 반영안 / 시범 연동: 비민감 업무 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세종 상주: 인근 작업장 / 서울 원격지: 보안 작업장 + 원격지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산출물 · 의견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인수: 재활용 일정 / 일부 · 지연: 분석 기간 확보 / 목록 미제공: RFP 명시 항목 기준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889698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94369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확정 원칙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141698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조건은 착수보고회 전까지 발주기관과 서면으로 확정하고, 결과를 사업수행계획서의 성능 목표 · 일정 · 작업장소에 그대로 반영합니다.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기반 업무 구조화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성능 · 운영 고도화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업무시스템 고도화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· 데이터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AI 기반 업무 구조화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지식그래프 · 지식 위키 · 직권조사 계획서 · 판정서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지식 플랫폼 · 직권조사 · 판정서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(쟁점 정확도의 기반) 판정서 · 조사보고서로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사건유형 → 쟁점 → 판단기준 → 법령 · 판례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지식을 만들고, 직권조사 계획서와 판정서 검증에 함께 활용함 (→ 33~36)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(SFR-017)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쟁점 · 사실관계 · 판단기준 · 법령 · 판례 개체 · 관계, 조사관 정의 화면, 초안 생성에 쟁점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위키 (SFR-029)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판정서별 200자 요약 · 쟁점 분류 · 법령 링크 · 유사 판정서 5건, 신규 등록 시 자동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계획서 (SFR-018)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필요성 · 조사방법 · 필요 자료 제안, 체크리스트 대조, 표준양식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검증 (SFR-019 · 013)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기초정보 · 법령 · 판례 인용 대조, 기준값 · 오류 유형 · 수정 권고, '검증 및 교정' 버튼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553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553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자료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582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이유서 · 답변서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607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553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553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쟁점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582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지식그래프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607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553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553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탐색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582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위키 · 판례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607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553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553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초안 · 계획서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582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표준양식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607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553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553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582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인용 · 기초정보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832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6832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6886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자 이내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7282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판정서 자동 요약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9600" y="6832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39600" y="6832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7600" y="6886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7600" y="7282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 판정서 추천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62400" y="6832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62400" y="6832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0400" y="6886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 이상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70400" y="7282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직권조사 계획
시험사례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800" y="7822195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799" y="7876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799" y="8074195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징계해고 사건이면 징계 사유 · 양정 · 절차를 필수 쟁점으로 먼저 제시하는 것처럼, 사건유형별 필수 쟁점을 그래프에서 가져와 무관한 쟁점 생성을 줄입니다.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AI 성능 · 운영 고도화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전처리 · 언어모델 고도화 · 문서초안 확대 · 업무지원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전처리 · 모델 · 초안 확대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(입력 품질부터 업무 확장까지) VLM으로 비정형 문서 인식을 개선하고, 같은 GPU에서 모델을 고도화해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조정 · 이행강제금 · 고발 · 소송 초안과 화해 · 조정 지원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까지 넓힘 (→ 37~43)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265240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(SFR-020)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OCR · 파서 결과 진단, VLM 구조 분석 결과와 통합 (배치 처리로 GPU 경합 방지)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(SFR-021)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시간순 · 당사자별 경위, 하이브리드 검색 · 재순위화, 노동위원회 문장 형식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확대 (SFR-022 · 028)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· 이행강제금 · 고발 조사보고서, 답변서 · 준비서면 · 항소이유서, 패소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화해 · 조정 (SFR-025 · 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성립 가능성 · 화해금 범위 · 권고 시점, 쟁점별 조정안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· 참조문서 (SFR-027 · 023)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화자분리 · 타임스탬프, 참조문서 화면 등록 · 무중단 자동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대국민 AI (SFR-024)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사용자 사건신청 지원 · 본인 사건 진행현황 자연어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 확대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초안 업무
(조정 · 이행강제 · 고발 · 소송)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 판정서 추천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무중단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참조문서 반영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00" y="7721244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775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모델 교체 원칙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7973244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모델은 같은 평가셋에서 품질과 응답시간이 모두 1차 모델 이상일 때만 적용하고, 문제가 생기면 즉시 이전 모델로 되돌립니다.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업무시스템 고도화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노사마루 기능 개선 · 유관기관 연계 · 통계 강화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노사마루 · 연계 · 통계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(1차 의견수렴 미반영 과제 이행) 전자송달 대시보드 · 중복사건 검증 · 이행강제금 자동 계산과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노사누리 EAI 연계, 통계 150종 표준화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조사관 수작업을 줄임 (→ 44~50)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91396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사건처리 (SFR-003~006)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전자송달 상태 대시보드 · 미열람 알림, 중복 · 유사사건 검증, 사건명 · 직권조사 실적 · 이행강제금 자동 산출, 조정 수신처 자동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정보연계 (SFR-007)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EAI — 공인노무사 자격 · 처리결과 통보 사건 · 확정 구제명령 · 노동조합 정보, 연계 이력 · 재발송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편의 기능 (SFR-008 · 011 · 013)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11차 표준산업분류, 계정 · 사인 관리, 미입력 알림, 공통 알림 컴포넌트, 사건별 메모, 위원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(SFR-009)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150종 전수 진단 → 150종 이내 재구축, 통계 DB 표준화, 기관평가 통계, 로데이터 조회 50종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전자결재 · 우편 (SFR-010 · 012)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온-나라 템플릿 기반 연계 (하드코딩 제거), e-그린 회수 · 재발송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온라인사건신청 (SFR-014~016)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 튜토리얼 · 서류 안내 · 미입력 표시 · 개인정보 탐지, 이유서 예시 · 체크리스트, 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 이내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장표 재구축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표준산업분류 현행화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노사누리 연계 정보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6800" y="7369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16800" y="7369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접수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800" y="7657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중복 · 유사 검증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1493280" y="7857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90480" y="7369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1590480" y="7369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송달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6480" y="7657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전자송달 대시보드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2766960" y="7857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864160" y="7369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2864160" y="7369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 · 판정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0160" y="7657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초안 · 검증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4040640" y="7857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137840" y="7369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4137840" y="7369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이행 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3840" y="7657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이행강제금 자동 계산</a:t>
            </a:r>
          </a:p>
        </p:txBody>
      </p:sp>
      <p:sp>
        <p:nvSpPr>
          <p:cNvPr id="58" name="Isosceles Triangle 57"/>
          <p:cNvSpPr/>
          <p:nvPr/>
        </p:nvSpPr>
        <p:spPr>
          <a:xfrm rot="5400000">
            <a:off x="5314320" y="7857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11520" y="7369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>
            <a:off x="5411520" y="7369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 · 통계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7520" y="7657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노사누리 · 기관평가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 · 데이터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보안 · 취약점 진단 · 데이터 표준 · 제약사항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보안 · 데이터 · 제약사항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 단계부터 내재화) 사건자료는 기관 밖으로 나가지 않게 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감리와 별도로 취약점 진단 · 조치 · 재진단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DA · DBA가 데이터 표준과 품질을 관리함 (→ 51~58)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(SER-001~005)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교육 · 적용, DB 암호화, AI 데이터 외부 이동 금지, C · S · O 등급별 처리, 보안 위반 시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취약점 진단 (SER-003)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보안약점 · 웹 취약점 · AI 지시문 주입 점검 → 조치 → 재진단, 잔여 0건 확인 후 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(DAR-001~008)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 환경 구성, 개념 · 논리 · 물리 모델, 표준사전, 업무규칙 기반 값 검증, 메타데이터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 (COR-001~007)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체크리스트, 설계 · 종료 감리, 웹 접근성 인증마크, 전자정부 표준프레임워크, 지식재산권 공동소유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53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553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559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598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개시 시점 잔여 취약점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553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553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559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598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 준수율 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553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553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559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C·S·O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598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 등급별 처리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6800" y="652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16800" y="652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 계획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800" y="681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보안약점 필수 항목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1493280" y="706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90480" y="652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1590480" y="652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진단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6480" y="681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소스 · 웹 · AI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2766960" y="706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864160" y="652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2864160" y="652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0160" y="681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 · 기한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4040640" y="706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137840" y="652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4137840" y="652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재진단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3840" y="681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잔여 0건</a:t>
            </a:r>
          </a:p>
        </p:txBody>
      </p:sp>
      <p:sp>
        <p:nvSpPr>
          <p:cNvPr id="58" name="Isosceles Triangle 57"/>
          <p:cNvSpPr/>
          <p:nvPr/>
        </p:nvSpPr>
        <p:spPr>
          <a:xfrm rot="5400000">
            <a:off x="5314320" y="7067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11520" y="6526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>
            <a:off x="5411520" y="6526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개시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7520" y="6814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조치 완료 확인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800" y="7822195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799" y="7876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사건자료 보호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799" y="8074195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지식그래프 · 위키 · 임베딩에는 개선된 비식별화를 적용한 문서만 쓰고, 검색 단계에서 사용자 권한을 적용해 권한 밖 사건이 답변에 섞이지 않게 합니다.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품질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· 테스트 · 인터페이스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30% 단축 · 대용량 첨부 처리 · 동시 사용자 100명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응답속도 · 대용량 · 동시 사용자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GPU에서 30% 이상 단축) 처리 구간별 병목을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비동기 전처리 · 검색 축소 · 서빙 최적화 · 스트리밍 · 배치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제거하고, 구간 분할 처리로 대용량 첨부의 누락을 막음 (→ 60~62)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74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전처리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시점 비동기 전처리 · 결과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+ 재순위화로 입력 토큰 감소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배치 · 접두 캐시 · 경량화 검토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【1차 서빙 환경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스트리밍으로 첫 응답 즉시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경합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· 색인 배치 작업은 업무시간 외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6210000"/>
          <a:ext cx="6260400" cy="2684307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평균 처리시간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기준(착수 1개월 내 동일 조건 측정) 대비 30% 이상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 10개 이상 · 총 1GB 이상, 문서 400MB · 500쪽, 음성 300MB, 구간 누락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· 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질의 3초 이내, 시스템당 100명 이상, CPU · 메모리 80%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· 테스트 · 인터페이스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품질 관리 · 생성형 AI 통합테스트 · 연계 방식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품질 · 테스트 ·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(요구사항마다 판정) 단계별 품질 점검과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생성형 AI 자체 통합테스트 1,250건 이상(10회 이상 분할)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수행하고, 연계는 기관별 최적 방식(EAI · ESB · DB 복제 · API)을 적용함 (→ 63~68)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11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095570"/>
                <a:gridCol w="383449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 · 위원 · 대국민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 · 분량 · 품질 · 구조 다양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보고서 체크리스트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필수조사사항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5580000"/>
          <a:ext cx="6260400" cy="3180769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(추가)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 직접연계 — 자격 · 사건 · 노동조합 정보, 이력 · 재발송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법제처 · 우정사업본부 (기존)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ESB (행정정보공동이용)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4개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구축 DB 복제 무중단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↔ 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API, 사건번호 기준 요청 · 결과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 및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· 일정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지원 · 하자보수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수행조직 · 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프로젝트 관리 및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수행조직 · 10개월 일정 · 관리방법론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수행조직 · 일정 ·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창구 · 10개월 3회 보고회) 주사업자 소속 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· 업무시스템 · 기반 · 품질 부문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두고, 착수 · 중간 · 완료 보고회와 주간 · 월간 회의로 관리함 (→ 11~13, 70~75)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37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사무처장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3600" y="2430000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기획총괄과장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14400" y="2430000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구축전담반 · 지원반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검증 · 승인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00800"/>
            <a:ext cx="4874400" cy="37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008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8728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8728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 (품질 · 보안)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008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보고 · 위험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243600"/>
            <a:ext cx="4874400" cy="37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2436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 부문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15599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부문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315599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업무시스템 부문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315599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기반 · 품질 부문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2436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단독 수행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16800" y="3758400"/>
          <a:ext cx="6260400" cy="394430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39127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상세화, 응답시간 · 품질 기준선, 통계 구축 대상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모델, AI 호출 API · 연계 규격, 화면 설계 (설계감리)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~ M7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 · 노사마루 기능 · 통계 · 연계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M7 ~ 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통합테스트 10회 이상, 업무 통합테스트 3회 이상, 성능 · 취약점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개통 ·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· 교육 · 인수테스트 · 완료보고 (종료감리)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Rectangle 47"/>
          <p:cNvSpPr/>
          <p:nvPr/>
        </p:nvSpPr>
        <p:spPr>
          <a:xfrm>
            <a:off x="316800" y="7810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7810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800" y="7864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4800" y="8260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39600" y="7810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39600" y="7810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47600" y="7864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7600" y="8260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보고회 (착수 · 중간 · 완료)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62400" y="7810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62400" y="7810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70400" y="7864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주 1회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0400" y="8260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주간회의 · 보고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지원 · 하자보수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프로젝트 관리 및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품질보증 · 시험운영 · 교육 · 하자보수 · 기밀보안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프로젝트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후에도 자체 운영 가능) 대상자별 교육과 기술이전,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검사완료일부터 12개월 무상 하자보수 · 4시간 이내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인원 · 문서 · 장비 · 시스템 보안대책을 제공함 (→ 77~81)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70784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품질 담당의 계획 · 교육 · 점검 · 시정조치 · 보고,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【품질 인증】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구축지원반 시범운영 → 개통 → 안정화, 결함 심각도별 조치 (긴급 4시간)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 · 위원 · 관리자 · 운영자별 교육, 관리자 · 운영자 · 사용자 매뉴얼, 기술이전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12개월 무상, 4시간 이내 조치, 보안취약점 조치, 요소기술별 하자보수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보안각서 · 서약서 · 비밀유지, 반출입 대장, 비상대책 (모델 롤백 · 배포 복구)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홍보 콘텐츠, 세미나 · 워크숍 1회 이상, SW 사업정보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173846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2278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425846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에이치나인은 근거를 찾아 제시하는 AI와 운영 중인 업무 시스템을 멈추지 않고 고도화한 경험으로, 조사관 · 위원 · 민원인이 매일 체감하는 디지털 노동위원회를 만들겠습니다.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