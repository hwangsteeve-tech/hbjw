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77" r:id="rId105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  <p:sldId id="7565" r:id="rId93"/>
    <p:sldId id="7566" r:id="rId94"/>
    <p:sldId id="7567" r:id="rId95"/>
    <p:sldId id="7568" r:id="rId96"/>
    <p:sldId id="7569" r:id="rId97"/>
    <p:sldId id="7570" r:id="rId98"/>
    <p:sldId id="7571" r:id="rId99"/>
    <p:sldId id="7572" r:id="rId100"/>
    <p:sldId id="7573" r:id="rId101"/>
    <p:sldId id="7574" r:id="rId102"/>
    <p:sldId id="7575" r:id="rId103"/>
    <p:sldId id="7576" r:id="rId104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디지털노동위원회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구축 2차 사업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중앙노동위원회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[별지 1호] 제안요청 준수표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3958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1959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959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컨설팅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디지털노동위원회 고도화 방안 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15~18, 21~22, 25, 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도입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 24, 31~32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2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구축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18~19, 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보안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전자송달 기능 확대 및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중복·유사사건 사전 검증·조회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사건처리 자동화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조정사건 처리 기능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27, 46, 67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편의 기능 신설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기능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전자결재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 기록관리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전자우편(e-그린 서비스)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 사용 편의성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사건신청 항목 정비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이유서 작성 예시 및 체크리스트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및 온라인사건신청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작성을 위한 Graph DB 기반 지식그래프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직권조사 계획서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정보ㆍ인용 오류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비정형 문서 전처리 및 구조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26, 32, 37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성능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24, 26, 32, 38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작성 기능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참조문서 관리체계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사건신청 및 조회서비스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화해 업무 지원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조정 업무 지원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자료에 대한 분석 기능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32, 42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소송문서 작성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기반 내부 지식 위키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응답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 24~25, 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첨부파일 AI 처리성능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17, 25, 61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 및 처리 능력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인터페이스 및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내ㆍ외부 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27, 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 수행기준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54, 72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데이터보안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34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23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45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23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73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90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79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01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79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29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466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및 품질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35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58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36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85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02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92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14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92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41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9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8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70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8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8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15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하도급계획 적정성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04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26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04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54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716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기타 사항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60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83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61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Ⅷ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10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사업수행사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사업수행사의 조직 및 업무분장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일반현황 ([별지 2호])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886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중·소기업·소상공인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신용평가등급확인서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501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86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생성형 AI 업무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위치를 함께 제시하는 업무 AI Agent, 사내 업무 시스템 연동형 AI 구축 (에스케이㈜)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업무 시스템 고도화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제조 운영 시스템(FAB MOS) 확산·고도화, 공공 플랫폼 구축·개선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사용자 경험(UX)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조사관·위원·민원인 화면을 업무 흐름 기준으로 설계 (iF · GD 수상 디자인 조직)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3년, [별지 3호])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 및 신용평가등급확인서는 정량제안서에 첨부함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유사사업 실적 (입찰공고일 기준 최근 3년, [별지 4호])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유사사업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(생성형 AI 업무 적용 + 업무 시스템 구축) 최근 3년간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Agent 개발과 업무 시스템 구축·확산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이행 완료했으며, 발주자 발급 실적증명서와 계약서를 첨부함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유사사업 실적 (단위 백만원, 이행완료 기준)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4675488"/>
        </p:xfrm>
        <a:graphic>
          <a:graphicData uri="http://schemas.openxmlformats.org/drawingml/2006/table">
            <a:tbl>
              <a:tblPr firstRow="0" bandRow="0"/>
              <a:tblGrid>
                <a:gridCol w="2582415"/>
                <a:gridCol w="1252080"/>
                <a:gridCol w="704295"/>
                <a:gridCol w="782550"/>
                <a:gridCol w="93905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M15X Ph4 차세대 제조 시스템 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 · 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확산_FABMOS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2026.03.16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 · 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 · 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Ph1_FAB MOS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 · 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【방법론 · 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【최근 3년 완료 정보시스템 구축·개발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【증빙쪽】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33949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연도순 기재, 현재 수행 중인 사업 및 운영·유지보수 사업은 제외 (공동도급은 지분 금액만 기재) / 민간 발주 실적은 발주자 발급 수행실적증명서 · 계약서 · 세금계산서 첨부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555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555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609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005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· 업무 시스템
이행완료 실적 (2026)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555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555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609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005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디지털 서비스 업력
(2010년 설립)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555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555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609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129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005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임직원
(2026년 7월 기준)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본 사업에 적용하는 수행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유사사업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문제를 풀어 본 경험) 대용량 업무 문서에서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 위치를 함께 제시하는 AI Agent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중인 업무 시스템의 무중단 확산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경험을 AI 노동위원회·노사마루 고도화에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개발 및 ML/DL 분석 (에스케이㈜, 2026)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3247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2887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제시형 응답) 자연어 질의에 답하면서 </a:t>
            </a:r>
            <a:r>
              <a:rPr sz="11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데이터의 출처·위치를 함께 표시</a:t>
            </a: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하는 Agent 응답 구조 구현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SFR-019 판정서 법령·판례 인용 검증, SFR-021 RAG 정확도 고도화, SFR-029 유사 판정서 추천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11110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09671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SKHy 차세대 제조 시스템 FAB MOS 확산 (M14 · M15X · 용인 Y1, 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420710"/>
            <a:ext cx="6332400" cy="13247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456710"/>
            <a:ext cx="6224400" cy="12887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(운영 중 시스템 확산) 24시간 가동 중인 제조 운영 시스템을 </a:t>
            </a:r>
            <a:r>
              <a:rPr sz="11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라인별로 중단 없이</a:t>
            </a: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확산·고도화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노사마루·위원노사마루 운영 중 기능 개선, 온-나라·노사누리 연계 전환, 단계별 오픈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58498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58354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SK가스 Trading AI (2026)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6159419"/>
            <a:ext cx="6332400" cy="13247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6195419"/>
            <a:ext cx="6224400" cy="12887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(업무 문서 자동화) 담당자가 반복 작성하던 분석 문서를 </a:t>
            </a:r>
            <a:r>
              <a:rPr sz="11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업무 양식에 맞춘 초안</a:t>
            </a: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으로 자동 생성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SFR-022 조정·이행강제금·고발 조사보고서, SFR-028 소송 문서 초안 작성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7574129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757412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862129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인용 위치 표시 (SFR-019·029)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811700" y="80619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908900" y="7574129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908900" y="757412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양식 초안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4900" y="7862129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 서식 자동 작성 (SFR-022·028)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3403800" y="80619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1000" y="7574129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501000" y="757412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무중단 확산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7000" y="7862129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시스템 개선 (SFR-001~016)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995900" y="806192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3100" y="7574129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5093100" y="757412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100" y="7862129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조사관·위원 화면 (SIR-001)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사업수행사의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수행조직 및 의사소통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 추진체계와 1:1 대응) 「구축전담반」·「구축지원반」에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아래 AI 부문 · 업무시스템 부문 · 기반·품질 부문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두고, PM이 단일 창구로 의사결정을 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사무처장 (총괄)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기획총괄과장 (팀장)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구축전담반 · 구축지원반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우선순위 결정 · 검증 ·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 (품질 · 보안 · 일정)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 · 월간 보고, 위험 관리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부문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전처리 · VLM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634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· RAG · 성능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40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지식그래프 · 위키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6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초안 · 업무지원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SFR-017~029, PER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848400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38484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 부문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39203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 · 위원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63400" y="39203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통계 · 전자결재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4000" y="39203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온라인사건신청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600" y="39203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(EAI)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8484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SFR-001~016, SIR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345200"/>
            <a:ext cx="4874400" cy="43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43452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기반 · 품질 부문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 · TA · AA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736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· 취약점 점검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144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테스트 · 품질보증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1200" y="43452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DAR · SER · TER · QUR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16800" y="4913999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521475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및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단일 의사소통 창구, 일정·위험·과업변경·보고 관리, 제안 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구축전담반 (기획총괄과)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전처리·언어모델 고도화·응답속도 30% 단축, 지식그래프·AI 초안·업무지원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구축지원반 (조사관·위원)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기능 개선, 통계 150종 정비, 온-나라·노사누리·온라인사건신청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구축지원반 · 시스템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기반·품질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표준·구조, 시큐어코딩·취약점 진단, 단계별 테스트·품질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 담당 · 감리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사업수행사의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부문별 업무분장 · 공동수급 · 하도급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업무분장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(단독 수행 · 책임 일원화) 본 사업은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에이치나인 단독으로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계약상 책임과 의사소통을 일원화하고, 하도급이 필요한 경우 계약 전 발주기관의 사전승인을 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PMR-002, 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095570"/>
                <a:gridCol w="3130200"/>
                <a:gridCol w="86080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사업수행계획, WBS, 주간·월간 보고, 위험·형상·산출물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SFR-017~029, PER-002·003, 생성형 AI 통합테스트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SFR-001~016, SIR-001~003, 통계·연계·전자결재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기반·품질 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에이치나인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DAR-001~008, SER-001~005, TER, QUR, 감리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단독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【해당 시 업체명】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【하도급 예정 업무 — 없음/해당 업무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【%】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5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4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공동수급 · 하도급 관리 원칙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하도급 계약 전 [별지 6호] 하도급 계획서 제출, 적정성 평가 85점 이상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비율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사업금액 50% 이하, 재하도급 불허, 10% 초과 시 공동수급체 구성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동일 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보안서약·보안교육·시큐어코딩·산출물 기준을 자사 인력과 같게 적용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86784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86784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책임 일원화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7127045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지시는 PM을 통해 전달, 계약상 책임은 당사가 부담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800" y="83078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하도급 계획: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【하도급 여부 · 업무 · 금액 비율 확정 후 기입 — [별지 6호] 하도급 계획서와 일치】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사업수행사의 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사업관리자(PM) 자격 및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사업관리자(PM)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(주사업자 소속 · 교체 없음) PM은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에이치나인 소속으로 입찰공고일 전부터 평가일까지 계속 재직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제안 발표부터 완료 검사까지 사업 전체를 직접 총괄함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0313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 / 직위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/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【직위】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5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· 재직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에이치나인,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【입사일】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입사 (입찰공고일 2026.10.19 이전부터 계속 재직)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【정보관리기술사 · PMP · 정보처리기사 등 보유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【정보시스템 구축 · AI 사업 PM 경력 (사업명 · 기간 · 역할)】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5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총괄, 의사결정 창구, 일정·위험·보안 관리, 보고회 주관, 제안 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98353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96913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 운영 원칙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293138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2931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상주 총괄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552338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착수부터 완료 검사까지 전 기간 투입, 교체 없음 (특별한 사유 시 발주기관 승인)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293138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2931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의사결정 기록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6552338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주간회의 결정사항·미결사항을 회의록과 이슈대장에 기록, 다음 회의에서 점검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293138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2931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 즉시 보고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6552338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일정 지연·연계 지연·품질 미달 징후는 발견 당일 구축전담반에 보고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00" y="7661138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71513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발표 및 질의 대응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7913138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제안서 발표(20분)와 질의응답(10분)은 PM이 직접 진행하고, 발표 내용은 계약 후 사업수행계획서에 그대로 반영합니다.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프레임워크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개발방법론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개요 및 추진 배경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(3개년 정보화 계획의 2단계) '24년 ISP로 수립한 3개년('25~'27) 계획 중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1차 사업 결과를 확장해 노동분쟁 처리 전 과정에 AI를 넣는 2단계 사업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이해함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1625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디지털노동위원회 구축 2차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10개월(300일)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사업예산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1,135백만원 (부가세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제한경쟁입찰 (협상에 의한 계약)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업무 구조화, AI 노동위원회 성능·운영 고도화, 업무시스템(노사마루) 고도화, 디지털 플랫폼 기반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노사마루, 위원노사마루, 홈페이지(온라인사건신청), AI 노동위원회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3개년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15.33억 원 · 12개월 ('25.7~'26.7) → 2차 11.35억 원 · 10개월 (본 사업) → 3차 후속 (2차에서 계획 · 제안요청서 작성)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99665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98225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 경과와 본 사업의 위치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306256"/>
            <a:ext cx="1165680" cy="109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3062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'02 ~ '19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594256"/>
            <a:ext cx="1093680" cy="8270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구축 · 연계 확대 · 전면개편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68115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6306256"/>
            <a:ext cx="1165680" cy="109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63062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'22 ~ '23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6594256"/>
            <a:ext cx="1093680" cy="8270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클라우드 전환 · 원격영상심문 도입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68115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6306256"/>
            <a:ext cx="1165680" cy="109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63062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'24 ISP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6594256"/>
            <a:ext cx="1093680" cy="8270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디지털노동위원회 3개년 계획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68115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6306256"/>
            <a:ext cx="1165680" cy="109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63062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'25.7 ~ '26.7 1차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6594256"/>
            <a:ext cx="1093680" cy="8270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· AI 노동위원회 구축 (’26.6 서비스 개시)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68115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6306256"/>
            <a:ext cx="1165680" cy="109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63062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(본 사업)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6594256"/>
            <a:ext cx="1093680" cy="8270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업무 구조화 · 성능 고도화 · 업무시스템 강화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7529313"/>
            <a:ext cx="6332400" cy="91840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799" y="75833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사업 이해의 핵심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799" y="7781313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1차 사업이 'AI를 쓸 수 있는 환경'을 만들었다면, 2차 사업은 조사관·위원이 매일 쓰는 조사보고서·판정서·통계·연계 업무를 AI와 업무시스템이 함께 처리하도록 만드는 단계입니다. 3차 사업에서 확장할 수 있도록 지식그래프·참조문서·연계 구조를 표준화해 남깁니다.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1차 사업의 한계와 2차 사업 개선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현황 및 문제점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(문제 → 원인 → 2차 목표) RFP가 제시한 11개 문제를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품질 · AI 기능 범위 · 업무시스템 · 정보보안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묶고, 각 문제를 해결하는 요구사항을 1:1로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6709284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2034630"/>
                <a:gridCol w="1565100"/>
                <a:gridCol w="17998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 후 문제점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개선 (요구사항)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 초안 쟁점 누락·무관 쟁점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사건유형별 쟁점 지식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지식 위키 (SFR-017·029)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사진·표·스캔본 인식 정확도 낮음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OCR·파서 중심 전처리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구조 분석 (SFR-020)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기초정보·법령·판례 인용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기능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오류 검증 (SFR-019)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지연, 첨부 7개·500MB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한계 · 순차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30% 단축 · 10개 1GB (SFR-021, PER-002·003)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문서초안이 심판에만 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유형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조정·이행강제·고발·소송 확대 (SFR-022·028)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검토 인력 부족, 품질 편차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 숙련도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계획서 · 화해·조정 지원 (SFR-018·025·026)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참조문서 갱신 어려움, 대국민 AI 단순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화면·인증 연계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참조문서 관리 · AI 사건신청·조회 (SFR-023·024)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유관기관 연계 부재로 수작업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연계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 연계 (SFR-007, SIR-003)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장표 노후 · 수치 불일치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비표준 통계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표준화 · 기관평가 통계 (SFR-009)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의견수렴 미반영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예산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중복사건 · 자동책갈피 · 메모 등 (SFR-003~016)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출력물 보안 미흡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인증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· 워터마크 · 비정상접근 차단 (SFR-002·008)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1차 사업 대비 2차 사업 비교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현황 및 문제점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자원 · 4배 넘는 기능) 1차 사업이 만든 GPU · LLM · 상용SW 기반을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그대로 쓰면서 기능을 7개에서 29개로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늘리고 응답시간은 30% 이상 줄여야 하는 사업으로 이해함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CSR-001, ECR-001, PER-002, PER-003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1차 사업(2025.7~2026.7) 대비 2차 사업 비교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8" cy="4725645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191140"/>
                <a:gridCol w="2191140"/>
                <a:gridCol w="93905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사업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15.33억 원 · 12개월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11.35억 원 · 10개월(300일)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사업개요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80GB 7장 (국가정보자원관리원 대전센터)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1차와 동일 환경, H/W 확장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 · 평가기준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27B 이상 온프레미스 LLM, 미세조정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LLM 고도화 (추론 · 대용량 · 정확도 · 속도)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STT · OCR · 비식별화 수행사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보유 S/W 활용, 신규 직접구매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 · 붙임 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시작 3초, 초안 5초, 요약 3초, 동시 100명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기준 대비 평균 처리시간 30% 이상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7개 · 500MB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· 1GB, 문서 400MB · 500쪽, 음성 300MB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중심 7개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29개 (업무시스템 16 + AI 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SFR-001~029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평가셋 약 100건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자체 통합테스트 1,250건 이상 (10회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 사업계획 · 제안요청서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38964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1차 수치는 1차 제안요청서 기준, 실제 사양 · 실측 성능은 현장 열람 후 착수 단계에서 확정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7605648"/>
            <a:ext cx="6332400" cy="91840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765964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2차 사업의 성격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7857647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엔진을 새로 들이는 사업이 아니라, 이미 운영 중인 엔진을 같은 자원에서 더 잘 쓰게 만들고 그 위에 조사관 · 위원의 업무 기능을 얹는 사업입니다. 따라서 성능 최적화와 업무시스템 개발 역량이 함께 필요합니다.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제안의 목적과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(목표: 노동분쟁 예방·해결을 위한 차세대 디지털 노동위원회)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사건 접수부터 조사·판정·소송까지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조사관·위원·민원인의 업무를 AI와 업무시스템으로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CSR-001, SFR-001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36684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차세대 디지털 노동위원회 구현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81200" y="2358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RFP Ⅲ장 추진목표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2890800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800" y="2890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추진전략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328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기반 업무 구조화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736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업무시스템 고도화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14400" y="29627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디지털플랫폼 기반 강화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908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3대 전략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423600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423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업무 구조화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지식그래프 · 위키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직권조사 계획서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오류 검증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4236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SFR-017~019·029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956399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3956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성능·운영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전처리 · VLM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736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· 30% 단축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144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초안 · 참조문서 · 조회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3956399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SFR-020~028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4489200"/>
            <a:ext cx="4874400" cy="468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44892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32800" y="45611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유관기관 연계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73600" y="45611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통계 강화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14400" y="45611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사용자 개선의견 반영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44892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SFR-003~016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5022000"/>
            <a:ext cx="4874400" cy="468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5022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플랫폼 기반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32800" y="50939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인증 · 출력물 보안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673600" y="50939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비정상접근 차단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14400" y="50939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보안 · 등급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81200" y="5022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SFR-002·008, SER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16800" y="5626800"/>
          <a:ext cx="6260400" cy="299114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사업으로 달라지는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 접수 시 중복사건 자동 확인, 직권조사 계획서·조사보고서 초안 자동 작성, 이행강제금 자동 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대시보드로 담당 사건 확인, 판정서 맞춤법·법령·판례 인용 자동 검증, 화자별 심문 진술 정리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AI로 사건 신청 안내·작성 지원, 로그인 후 본인 사건 진행현황을 자연어로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관리자·정책부서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기관평가 통계 자동 집계, 로데이터 확인, 참조문서를 화면에서 바로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목표시스템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(기존 자원 위에 AI 서비스 계층 확장) 1차 사업의 GPU·시스템 환경을 그대로 쓰면서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전처리 · 지식 · 생성 · 검증 서비스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계층으로 나누고, 노사마루와는 표준 API로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SIR-003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위원노사마루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온라인사건신청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노동위원회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LDAP · 모바일공무원증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업무 서비스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9088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질의 · 문서분석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63400" y="29088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문서초안 확대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29088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직권조사 · 화해 · 조정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24600" y="29088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검증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SFR-018~028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계층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지식그래프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634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위키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참조문서 색인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246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판례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SFR-017·023·029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· 전처리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28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서빙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634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VLM 분석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940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STT 화자분리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246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SFR-020·021·027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업무시스템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328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사건처리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634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통계 · 리포팅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940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전자결재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246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e-그린 우편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SFR-003~016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6800" y="4752000"/>
            <a:ext cx="4874400" cy="413999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800" y="4752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4328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노사누리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634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온-나라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940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법제처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24600" y="48239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우정사업본부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81200" y="4752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SIR-003 · SFR-007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800" y="52667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H/W · S/W · N/W 상세 구성은 보안서약서 제출 후 현장 열람 내용을 바탕으로 착수 단계에서 확정 (현행 자원 범위 내 구성)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0800" y="5482799"/>
            <a:ext cx="6332400" cy="721116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6799" y="55367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구성의 원칙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6799" y="5734799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AI 서비스는 노사마루 화면에서 버튼·메뉴로 호출하고, 결과는 노사마루 사건정보와 함께 저장합니다. 조사관이 새 시스템을 따로 익히지 않아도 기존 업무 흐름 안에서 AI를 쓰게 됩니다.</a:t>
            </a:r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316800" y="6311915"/>
          <a:ext cx="6260400" cy="213754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 (현행)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사업 (목표)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업무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 · 문서분석 · 심판 조사보고서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조정 · 이행강제 · 고발 · 소송 초안, 직권조사, 화해 · 조정, 판정서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임베딩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지식그래프, 판정서 위키, 참조문서 관리 · 자동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· 전처리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OCR · 파서 · STT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고도화 LLM, VLM 구조 분석, 화자분리, 개선 비식별화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· 법제처 · 과태료 · 우편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노사누리 EAI, 온-나라 템플릿, AI 호출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Rectangle 7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4대 추진전략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목표 및 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(위험을 먼저 줄이는 순서)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기준선 측정 → 지식 기반 구축 → 업무 기능 확장 → 사용자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순서로 진행해 '같은 GPU로 30% 단축'과 '초안 품질 향상'을 함께 달성함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97461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기준선 먼저, 개선은 측정으로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646000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착수 1개월 안에 1차 사업 서비스별 응답시간·품질을 같은 조건으로 측정해 기준선을 확정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799" y="2865204"/>
            <a:ext cx="5540400" cy="44941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799" y="2901204"/>
            <a:ext cx="5432400" cy="39541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서비스별 시험셋 · 측정 조건 문서화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모든 개선은 기준선 대비 수치로 보고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422619"/>
            <a:ext cx="6260400" cy="97461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42261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46581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 기반 위에 초안 생성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710619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판정서 지식 위키와 지식그래프를 먼저 만들어 초안 생성 모델에 쟁점·법령·판례를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799" y="3929823"/>
            <a:ext cx="5540400" cy="44941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799" y="3965823"/>
            <a:ext cx="5432400" cy="39541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무관 쟁점 · 쟁점 누락 감소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3차 사업에서 그대로 확장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487238"/>
            <a:ext cx="6260400" cy="97461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48723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453043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 흐름 안에 AI 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4775238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노사마루 사건 화면에서 AI를 호출하고 결과를 사건정보와 함께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799" y="4994442"/>
            <a:ext cx="5540400" cy="44941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8799" y="5030442"/>
            <a:ext cx="5432400" cy="39541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별도 시스템 학습 부담 없음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결과 검토 · 승인 이력 저장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5551856"/>
            <a:ext cx="6260400" cy="97461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5551856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5595056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사용자가 검증하는 단계별 오픈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5839857"/>
            <a:ext cx="5540400" cy="20120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구축지원반 조사관·위원이 단계마다 결과를 검토하고 승인한 기능만 오픈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799" y="6059060"/>
            <a:ext cx="5540400" cy="44941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8799" y="6095061"/>
            <a:ext cx="5432400" cy="39541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생성형 AI 통합테스트 10회 이상 분할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의견수렴 결과를 다음 단계에 반영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316800" y="6652476"/>
          <a:ext cx="6260400" cy="2021661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721610"/>
                <a:gridCol w="27389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평균 처리시간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기준 대비 30% 이상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조건 시험셋, 질의 시작 ~ 첫 응답 표시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첨부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 10개 이상 · 총 1GB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누락 0건 (페이지 처리 이력 대조)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질의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테스트 · 운영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시스템당 100명 이상, CPU · 메모리 80%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테스트 · 시험운영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AI 노동위원회 · 노사마루 통합 추진 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단계별 추진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(두 트랙을 한 일정에) AI 트랙과 업무시스템 트랙을 병행하되,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연계 지점(AI 호출 API · 사건정보 · 인증)은 설계 단계에서 먼저 고정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후반 통합 위험을 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 (M1~M2)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 결과 · 헬프데스크 · 의견 분석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96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응답시간 · 품질 기준선 측정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54399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150종 전수 진단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요구사항 상세화 · 기준선 보고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 (M2~M3)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지식그래프 모델 · 데이터 구조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396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호출 API · 연계 규격 확정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399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화면 · 템플릿 설계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설계서 · 연계 규격서 (설계감리)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 (M3~M7)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전처리 · LLM 고도화 · 초안 확대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396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노사마루 기능 · 통계 · 연계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4399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· 인증 기능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단계별 기능 시연 · 단위테스트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검증 (M7~M9)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248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통합테스트 10회 이상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96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업무시스템 통합테스트 3회 이상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54399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 · 취약점 진단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· 성능 · 보안 결과보고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5742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5742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오픈 · 안정화 (M9~M10)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800" y="5813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3248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시범운영 · 사용자 교육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396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인수테스트 · 안정화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54399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완료보고 · 종료감리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9200" y="5742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완료보고서 · 산출물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800" y="6642000"/>
            <a:ext cx="6332400" cy="995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799" y="6695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외부 상용 AI 병행 활용 방안 (CSR-001)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6799" y="6893999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업무망 AI 노동위원회를 계속 쓰면서, 보안 등급 O(공개) 자료에 한해 외부 상용 AI를 쓸 수 있도록 요청 단계에서 등급을 판별하고 C·S 등급 자료는 외부 전송을 차단하는 운영방안을 설계 단계에서 제시합니다.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6800" y="774560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6800" y="77456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4800" y="779960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M1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800" y="8195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응답시간 · 품질
기준선 확정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39600" y="774560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39600" y="77456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47600" y="779960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M3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47600" y="8195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호출 API ·
연계 규격 고정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62400" y="774560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62400" y="77456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70400" y="779960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M9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70400" y="8195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시범운영 ·
개통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1차 산출물 인수 및 1차 사업 연속성 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단계별 추진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(이어받아 바로 개선) 착수 2주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소스코드 · 설계서 · 모델 · 프롬프트 · 평가셋 · 라이선스 현황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인수 · 점검하고, 1차 하자보수와 2차 개발의 책임 범위를 문서로 나눔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CSR-001, PSR-003, COR-007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07845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738925"/>
                <a:gridCol w="226939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·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· 노사마루 연동부 소스, 아키텍처 · 인터페이스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기준선 설정, 변경 영향도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· 서빙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모델명 · 규모 · 미세조정 이력 · 서빙 엔진 · GPU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 고도화 · 30% 단축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· 검색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지시문 · 검색 파라미터 · 참조문서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전후 비교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· 성능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RAG 평가셋(약 100건), 검수 시 성능 측정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평가셋 1,250건 이상으로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상용SW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STT · OCR · 비식별화 라이선스 소유 주체 · 기간 · 사용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튜닝 · 교체 가능 범위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· 헬프데스크 · 사용자 의견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CSR-001 신규 과업 도출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18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717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1차 하자보수 기간과 2차 개발의 책임 구분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49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49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기준선 확정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75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인수 시점 소스 · 모델 · 설정을 형상 기준선으로 등록, 이후 변경은 2차 책임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749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749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결함 구분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75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기준선 이전 결함은 1차 하자보수, 2차 변경분 결함은 당사 조치 (발주기관 확인)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749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749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협조 체계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75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1차 수행사 · 상용SW 기술지원 주체와 연락 체계 수립, 협조 요청은 발주기관 경유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사업 위험요소별 대응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위험요소와 대응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(예상 위험을 착수 전에 정의)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H/W 증설 없는 성능 개선, 외부 기관 연계 지연, 생성 품질 기준 합의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3대 위험으로 보고 착수 단계부터 대응함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501447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2973689"/>
                <a:gridCol w="86080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28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H/W 증설 없이 30%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최적화 · 캐싱 · 비동기 전처리 · VLM 배치 분리로 GPU 경합 제거, 월 단위 기준선 대비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8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· 온라인사건신청 연계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협의 M2 착수, 모의 연계(Mock)로 선개발, 지연 시 즉시 보고 후 범위·방식 조정 (SFR-007)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품질 목표 미합의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SFR별 평가항목 · 방법 · 목표를 설계 단계에서 발주기관과 확정, 평가셋 사전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범위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150종 이내 전수 진단 후 「통계 구축 대상 목록」 승인으로 범위 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사건자료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 데이터만 학습·색인, 외부 반출 금지, 작업장 보안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28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· 상용SW 권한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 내 라이선스 · 가중치 · 튜닝 권한 확인, 권한 밖이면 지시문 · 검색 · 서빙 최적화로 목표 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테스트 GPU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GPU의 업무 외 시간을 시험에 배정, 성능 시험은 동일 조건 재현 환경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· 행정사항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낮음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 최소 기능 반영 (SFR-001), 과업심의위원회 절차로 범위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749487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748047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위험 관리 절차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6800" y="7804475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8044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092476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주간회의 · 이슈대장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2382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804475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8044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8092476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 · 발생가능성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2382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804475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8044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8092476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 · 기한 지정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2382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804475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8044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8092476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발견 즉시 구축전담반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2382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804475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8044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8092476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조치 이력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2.3.2 미확정 조건별 대응 방안 ① 인프라 · 언어모델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위험요소와 대응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(어떤 조건이어도 목표 달성) GPU 세대 · 여유 자원 · 언어모델 권한이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확인 결과에 따라 달라져도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경우별 대응 경로를 미리 정해 두고 착수 2주 안에 하나로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SFR-021,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662476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408590"/>
                <a:gridCol w="37562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세대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A100급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8bit 양자화 · 서빙 엔진 최적화 · 연속 배치로 추론 속도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H100급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엔진 성능이 이미 높으므로 캐시 · 스트리밍 · 문서분할 · 비동기 전처리 등 처리 구조 개선 중심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여유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기능을 기존 서버에 배치 (VLM은 OCR 서버, 화자분리는 STT 서버)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경량화, 배치 작업 야간 이동, 동시 생성 수 조정으로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최적화로도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부족량을 사용률 · 부하 시험 근거로 보고하고 범위 협의, 증설 필요량은 3차 계획에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라이선스 · 튜닝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모델을 이어받아 노동위원회 문서로 추가 학습 + 서빙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1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튜닝 제한 · 기간제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모델은 그대로 두고 지시문 · 검색(RAG) · 문서분할 · 서빙 개선으로 목표 달성, 오픈소스 모델 병행안을 비교 제시 (교체는 발주기관 승인 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가중치 · 학습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/ 미인수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시 이어서 학습 · 미인수 시 학습 환경 재구축 기간을 분석 단계에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 엔진 / 자체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범용이면 엔진 설정 · 교체로 개선, 자체 엔진이면 기술지원 협조 범위를 착수 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812847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81284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열람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841647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구성도 · 제품 · 버전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8616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812847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81284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점검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841647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사용률 · 권한 · 산출물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8616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812847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81284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경로 확정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841647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2주 · 발주기관 승인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8616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812847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81284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기준선 측정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841647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1개월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86162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812847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81284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 · 측정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841647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단위 보고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2.3.3 미확정 조건별 대응 방안 ② 측정 · 범위 · 작업장소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위험요소와 대응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(측정 조건과 범위를 먼저 고정) 30% 단축 측정 조건, 첨부 제한 원인, 외부 상용 AI 범위, 작업장소가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어느 쪽으로 정해져도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같은 원칙으로 대응하고 착수 단계에서 서면으로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PER-002, PER-003, CSR-001, PSR-007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497272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408590"/>
                <a:gridCol w="375623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30% 단축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조건 · 단일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최적화 · 캐시 · 스트리밍으로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조건 · 동시 100명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비동기 처리 · 대기열 · 분할 처리까지 포함, 일반 조건과 최대 조건 시험을 분리해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제한 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설정 · 처리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· 저장소 조정, 업로드 즉시 비동기 처리와 진행률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컨텍스트 한도 · GPU 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분할 · 단계별 요약 · 근거 추적, 양자화 · 처리 순서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증설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/ 별도 발주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자원 기준으로 구성하고, 증설 시 확장 배치안을 함께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상용 AI (CSR-001)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 제시 / 시범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분류 · 보안 구조 · 3차 반영안 작성 / 비민감 업무 한정 시범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세종 상주 / 서울 원격지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세종 인근 작업장 확보 / 보안 작업장(출입통제 · CCTV · 망분리) + 원격지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/ 일부 /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재활용 일정 / 현행 분석 · 역설계 반영 / 착수 초기 분석 기간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미반영 의견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/ 미제공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항목별 요구사항 매핑표 / RFP 명시 항목 기준 이행, 추가 항목은 과업변경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963272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801727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확정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215272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모든 조건은 착수보고회 전까지 발주기관과 서면으로 확정하고, 확정 결과는 사업수행계획서의 성능 목표 · 일정 · 작업장소에 그대로 반영합니다.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문서 전처리 개선 · Graph DB · 문서초안 고도화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AI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(정확도는 입력과 지식에서 결정)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VLM 구조 분석으로 입력 품질을, 지식그래프로 쟁점 근거를, 분할 생성으로 대용량 처리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보장하는 3단 구조로 초안 품질을 높임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SFR-017, SFR-020, SFR-021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0782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91140"/>
                <a:gridCol w="1956375"/>
                <a:gridCol w="93905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해결하는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전처리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 · 파서 결과와 VLM 구조 분석 결과 비교 · 통합, 표 셀 병합 · 페이지 번호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 · 표 · 스캔본 인식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쟁점 · 사실관계 · 판단기준 · 법령 · 판례 개체와 관계를 Graph DB로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쟁점 · 쟁점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증강(RAG)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키워드 + 벡터 하이브리드 검색, 재순위화, 그래프 탐색 결과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관련성 낮은 참조문서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문서를 구간 단위로 나눠 사실관계 추출 후 통합, 구간별 처리 이력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한계로 인한 구간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배치 · 접두 캐시 · 스트리밍 응답, 전처리 결과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STT 화자분리 고도화, 불명확 구간 표시, 타임스탬프 재생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심문 진술 당사자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073827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07382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전처리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61827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OCR + VLM 통합 · 비식별화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5616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073827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07382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쟁점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361827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사건유형별 핵심 쟁점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5616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073827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07382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지식 탐색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361827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그래프 · 위키 · 판례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5616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073827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07382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분할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361827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구간 추출 → 통합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56162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073827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07382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361827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필수항목 · 근거 대조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8261827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831582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실현 가능성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513827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구성요소는 1차 사업의 GPU·서버 위에서 동작하도록 설계하고, VLM처럼 연산이 큰 처리는 문서 업로드 시점의 배치 작업으로 분리해 실시간 질의 응답과 GPU를 나눠 쓰지 않게 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노사마루 통계 · 기능 개선 · 시스템 연계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업무시스템 · 연계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(현행 기술 위에서 확장) 노사마루의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넥사크로 · Java · 전자정부프레임워크 · 보유 연계 솔루션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그대로 활용해 유지관리 부담 없이 기능을 확장함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SFR-007, SFR-009, SFR-010, SIR-003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2601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895435"/>
                <a:gridCol w="203463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DB 표준화(표준단어 · 용어 · 도메인 · 코드), 리포팅 툴 · 시각화 솔루션 활용, 로데이터 조회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수치 불일치 해소, 기관평가 통계 자동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전자결재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온-나라 공통 서식(템플릿) + 누름틀 데이터 바인딩, Java 하드코딩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서식 변경 시 소스 수정 불필요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유관기관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EAI 연계(자격 · 사건 · 노동조합 정보), 연계 이력 · 재발송 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 수작업 · 확인 누락 해소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넥사크로 공통 알림 컴포넌트, 미입력 항목 하이라이트 · 사이드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누락 감소, 화면 일관성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→ AI 서비스 REST API (사건번호 · 기록목록 전달, 결과 수신)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이행강제금 계산 · 교정 등 AI 결과를 업무 화면에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연동, 장기 미접속 잠금 · 동시접속 제한, 출력물 워터마크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강화, 비정상접근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700641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99201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대상 업무별 개발 방안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31601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3160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통합 · 연계 범위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57521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 4개 시스템은 기 구축 DB 복제를 활용하고, 외부는 기관별 기존 방식(ESB · EAI) 유지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731601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73160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프로토타입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57521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 단계에서 AI 초안 · 대시보드 · 통계 화면 시제품을 만들어 구축지원반 검토 후 확정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7316017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73160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단계별 오픈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575217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묶음별로 검증 · 승인 후 운영 반영, 운영 중 시스템 중단 없이 배포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프레임워크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전자정부 표준프레임워크 적용 계획과 예상 문제점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표준 프레임워크 적용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(표준 위에서 개발 · 개방형 기술) 노사마루는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전자정부 표준프레임워크 기반으로 개발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AI 서비스는 범용 언어와 개방형 기술로 구현해 특정 제품에 종속되지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COR-005,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713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표준프레임워크 실행환경 (현행 버전 확인 후 착수 전 공표된 최신 버전 적용 검토)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개발환경 · 공통컴포넌트 활용, 코딩 표준 · 명명 규칙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넥사크로 기반 유지, 공통 컴포넌트(알림 · 그리드 · 팝업) 일괄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기반 서비스, REST API로 노사마루와 연계, 컨테이너 단위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패치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 포털(egovframe.go.kr) 보안패치 상시 확인 ·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45172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43732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예상 문제점과 대응 방안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761328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문제점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업그레이드 시 기존 기능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영향도 분석 후 개발 서버에서 회귀 테스트, 업그레이드 범위를 발주기관과 협의해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넥사크로 화면과 표준프레임워크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연동 구조를 분석해 공통 서비스 계층으로 일원화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서비스(Python)와 Java 시스템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규격서로 요청 · 응답 · 오류코드를 표준화, 연계 이력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80800" y="7959985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6799" y="80139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기술적용계획표 (COR-003)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799" y="8211985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 기술적용계획표의 표준이 본 사업에 맞는지 착수 단계에서 검토하고, 변경이 필요한 항목은 사유를 제시해 협의합니다. 완료 시 기술적용결과표를 작성해 제출합니다.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적용 방법론과 단계별 산출물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개발방법론 및 산출물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(구조적 방법론 + AI 반복 개선) 업무시스템은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단계별 산출물 중심의 표준 방법론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으로, AI 기능은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평가셋 기반 반복 개선 주기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진행해 감리 · 검수 기준을 동시에 충족함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964598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191140"/>
                <a:gridCol w="2347650"/>
                <a:gridCol w="7825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 · WBS · 보안서약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사업수행계획서, 보안각서, 산출물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분석 · 요구사항 상세화 · 기준선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요구사항정의서, 현행분석서, 성능 기준선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데이터 · 화면 · 연계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설계서, 데이터 모델, 화면 · 인터페이스 설계서, 지식그래프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단위테스트 · 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소스코드, 단위테스트 결과서, 보안약점 진단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· 생성형 AI 통합테스트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성능테스트 결과서, AI 품질 평가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인수테스트 · 교육 ·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추적표, 과업대비표, 매뉴얼, 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4305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4305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평가셋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71859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사건유형별 대표 사례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80263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4305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4305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71859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전처리 · 프롬프트 · 검색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80263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4305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4305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71859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품질 · 응답시간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80263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4305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4305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검토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71859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구축지원반 의견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802639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430599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430599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718599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2주 단위 반복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87985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적용 방법론: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【당사 표준 방법론 명칭 · 적용 사업 사례 확인】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/ 방법론 경험은 유사사업 실적 비고란에 사업별로 기재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장비구성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별도 장비 확장 없는 자원 구성 및 최적화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현행 자원 활용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(H/W 확장 없이 수용) 신규 AI 기능을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실시간 처리 · 배치 처리로 나눠 GPU 사용 시간대를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발주기관이 보유한 상용 S/W 20종을 최대한 활용해 추가 구매 없이 구현함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8198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425905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운영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(업무시간)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일반질의검색, 문서분석, 문서초안, 사건조회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서빙 우선 배정, 연속 배치 · 접두 캐시로 처리량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준실시간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검증, 맞춤법 교정, 이행강제금 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큐로 순차 처리, 결과 완료 시 노사마루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(야간 · 유휴)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전처리, 지식그래프 · 위키 갱신, 임베딩 재생성, 비식별화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외 시간 일괄 처리, 실시간 질의와 GPU 경합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66238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64798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보유 S/W 활용 계획 (ECR-001)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971985"/>
          <a:ext cx="6260400" cy="368082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112885"/>
                <a:gridCol w="1017315"/>
                <a:gridCol w="21128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주민번호 등 중요 개인정보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전처리 결과 · VLM 결과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키워드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화자분리 고도화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변환 · 뷰어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· 판정서 PDF 변환, 근거 위치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위키 입력 문서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출력물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워터마크 (기관 · 사용자)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리포팅 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장표 · 사인 이미지 서식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4개 시스템 실시간 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대시보드 차트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601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웹기안기 · 한컴 변환기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편집 · HWP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OTP · 웹필터 · 전자서명 · 위변조방지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기능 유지 ·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872480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본 과업 수행이 솔루션 추가 구매를 유발하는 경우 발주기관과 협의하여 제외 (SFR-002) / GPU · 서버 사양은 현장 열람 후 사업수행계획서에 확정 기재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【현행 GPU 사양】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GPU 자원 배치 및 신규 기능 수용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현행 자원 활용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(GPU 7장 안에서 신규 기능 수용) 1차 사업의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GPU 80GB 7장 배치를 유지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하면서 VLM은 OCR 서버의 배치 시간대에, 화자분리는 STT 서버에, 지식그래프는 GPU가 아닌 CPU · 메모리 자원에 배치함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SFR-020, SFR-021, SFR-027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GPU 서버별 현행 용도와 2차 추가 배치 (1차 제안요청서 기준 구성, 현장 열람 후 확정)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3690429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242590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망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추가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서버 (80GB × 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 · 문서분석 · 문서초안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고도화 모델 서빙, 직권조사 · 화해 · 조정 · 소송 초안, 판정서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서버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·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재순위화, 위키 · 참조문서 임베딩 (야간 갱신)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STT 서버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인식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화자분리 고도화 (SFR-027)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 서버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인식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구조 분석 (업무 외 시간 배치, SFR-020)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인터넷망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서버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대국민 AI 노동위원회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사건신청 · 조회 (SFR-024)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서버 (80GB)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대국민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FAQ · 신청 안내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서버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Graph DB 지식그래프 · 위키 검색 (GPU 미사용)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639043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639043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644443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684043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GPU 80GB
(1차 구성 유지)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639043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639043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644443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684043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서버 · GPU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639043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639043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644443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미만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684043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CPU · 메모리 사용률
(PER-004)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800" y="73444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국가정보자원관리원(대전센터) 운영환경 ([붙임 8]) / GPU 모델 · 사용률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【현장 열람 후 확정】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560432"/>
            <a:ext cx="6332400" cy="91840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61443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자원이 부족할 때의 순서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7812432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실측 결과 GPU 여유가 부족하면 ① 배치 작업 시간 이동 ② 모델 경량화 ③ 동시 생성 수 조정 순서로 대응하고, 그래도 부족한 자원은 증설 필요량을 근거와 함께 3차 사업계획(CSR-001)에 반영합니다.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문서초안 작성을 위한 Graph DB 기반 지식그래프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기반 업무 구조화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(쟁점 정확도의 기반) 조사보고서·판정서에서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사건유형 → 쟁점 → 판단기준 → 법령·판례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관계를 추출해 지식그래프로 만들고, 초안 생성 시 사건별 필수 쟁점을 공급함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9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사건유형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신청취지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판정결과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노사마루 사건정보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818800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8188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쟁점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주요쟁점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당사자 주장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사실관계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8188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조사보고서 추출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279600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2796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판단기준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 이유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3515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유사 사건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2796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판정서 추출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3740400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37404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조문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대법원 판례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38124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노동위원회 판정례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404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법령 · 판례 연계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4273200"/>
          <a:ext cx="6260400" cy="380991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신청취지 · 당사자 주장 · 주요쟁점 · 사실관계 · 판단기준 · 판정결과 · 법령 · 판례를 개체로 정의, 서식 확대에 대비한 확장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생성 ·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비식별화된 문서에서 개체 · 관계 자동 추출, 누락 · 중복 · 잘못된 연결 검증, 관리자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 · 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조사관이 사건유형 → 쟁점 → 법령 · 판례 관계를 직접 정의, 노드 · 연결선으로 시각화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이유서 · 답변서 등록 시 핵심 쟁점 분석 → 유사 사건 · 판단기준 · 법령 · 판례 탐색 → 초안 모델에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개선된 비식별화 기능을 적용한 문서만 사용, 기존 비식별 문서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8191119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799" y="824511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8443119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징계해고 사건이면 '해고 존부'가 아닌 '징계 사유 · 양정 · 절차'를 필수 쟁점으로 먼저 제시하는 것처럼, 사건유형별 필수 쟁점을 그래프에서 가져와 무관한 쟁점 생성을 줄입니다.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판정서 기반 내부 지식 위키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기반 업무 구조화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(판정서 전체를 지식으로) 비식별 판정서마다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200자 요약 · 쟁점 분류 · 법령 링크 · 유사 판정서 5건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자동 생성하고, 신규 판정서 등록 시 위키를 자동 갱신함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28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판정서별 200자 이내 요약 (사건 개요 → 주요 쟁점 → 판정 결과), 담당자 검토 · 수정 · 승인 워크플로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노동위원회 분류체계로 쟁점 자동 추출 · 분류, 관리자가 분류체계 추가 ·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인용 법령명 · 조항 자동 인식, 법령 원문 · 링크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유사도 기반 관련 판정서 최대 5건, 유사도 점수 · 핵심 공통 쟁점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자연어 질의 검색, 법령 조항 · 쟁점 선택 시 인용 판정서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판정서 등록 → 비식별화 → 요약 · 분류 → 위키 반영 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94097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9409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판정서 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82097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358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94097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9409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82097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기능 적용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358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94097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9409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요약 · 분류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82097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 배치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358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94097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9409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82097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3589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94097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9409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 · 그래프 반영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82097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검색 · 추천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790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790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844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자 이내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240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판정서별 자동 요약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7790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7790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7844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8240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 판정서 추천
(유사도 · 공통 쟁점 표시)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7790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7790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7844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8240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신규 판정서 등록 시
위키 갱신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2.1.3 AI 기반 직권조사 계획서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기반 업무 구조화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(조사관 숙련도와 무관한 조사 품질) 사건 초기 자료로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직권조사 필요성 · 조사방법 · 필요 자료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제안하는 계획서 초안을 발주기관 표준양식으로 자동 작성함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64107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계획서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사건정보 · 신청서 · 이유서 · 답변서 분석, 발주기관 표준양식으로 작성 (별도 메뉴 · 화면 · 절차)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필요성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쟁점 · 제출자료 분석 결과와 사유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조사방법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자료제출 요구 · 현장조사 · 출석조사 · 관계기관 협조 · 전문기관 자문 중 적합한 방법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정의 체크리스트 적용, 쟁점별 필수 확인사항 · 확인자료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제출된 자료는 사건기록 위치를 연결, 미제출 자료는 추가 확보 대상으로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화해 정보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SFR-025 화해 성립 가능성 · 유사 사례 정보를 계획서에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10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10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초기 자료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9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이유서 · 답변서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70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10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10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쟁점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39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지식그래프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70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10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10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필요성 · 방법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39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사유와 함께 제안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70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10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10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체크리스트 대조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39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· 미제출 구분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70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10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10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계획서 초안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39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표준양식 · 조사관 수정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847507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검증: 기존 사건 50건 이상 시험사례로 쟁점 반영 · 조사방법 적정성 평가 (세부 평가항목 · 목표 수준은 발주기관과 협의 확정)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2.1.4 판정서 정보 · 인용 오류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기반 업무 구조화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(판정서 발송 전 자동 점검) 사건 기초정보 · 법령 · 판례 인용을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원천 정보와 항목별로 대조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판정서 기재값 · 기준값 · 오류 유형 · 수정 권고안을 함께 보여 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SFR-019, SFR-013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68356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425905"/>
                <a:gridCol w="266067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대조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기초정보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사건부 (사건번호 · 사건명 · 신청인 · 피신청인 · 대리인 · 판정일 · 결과)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항목 · 위치 표시, 불일치 시 두 값 함께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국가법령정보시스템 등 연계 (법령명 · 조 · 항 · 호 존재 및 원문 일치)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기재 내용 · 기준값 · 오류 유형 · 수정 권고안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판례 + 연계 판례 (법원명 · 선고일자 · 사건번호 · 판결), 직접 인용 문구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인용 위치 · 원문 일치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 · 표현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판정서 작성 용어 · 표현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비표준 표현 · 권고 표현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범위 밖 · 조회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오류가 아닌 '검증 불가 · 확인 필요'로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16397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14957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위원 사용 편의 연계 (SFR-013)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47357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47357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'검증 및 교정' 버튼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73277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판정요지 작성 · 판정서 검토 화면에서 클릭 → AI 서비스가 맞춤법 · 띄어쓰기 교정과 인용 검증을 처리하고 교정 반영 파일을 돌려줌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2000" y="6473570"/>
            <a:ext cx="30852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92000" y="647357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위원노사마루 대시보드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0" y="6732770"/>
            <a:ext cx="30132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 사건 현황(심문 예정 · 판정 대기 · 완료)을 한 화면 위젯으로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7733570"/>
            <a:ext cx="6332400" cy="75542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799" y="77875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신규 판례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799" y="798557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신규 판례와 기존 판례의 변경 · 보완 자료는 SFR-023 참조문서 관리 화면에서 관리자가 직접 등록 · 수정 · 삭제하고, 다음 검증부터 바로 반영됩니다.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비정형 문서 전처리 및 구조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(입력 품질부터 개선) 2015년~2026년 6월 조사보고서 약 10만 건 · 판정서 약 5.7만 건 등을 대상으로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기존 OCR·파서 결과를 진단해 미흡 문서를 분류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VLM 구조 분석 결과와 통합해 전처리 데이터를 다시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기존 전처리 문서 품질진단 대상 ('26.6월 기준, RFP)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330335"/>
                <a:gridCol w="1330335"/>
                <a:gridCol w="22693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3,294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 · 법령 · 그 외 문서 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6,295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 · 법령 · 그 외 문서 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6,673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 · 법령 · 그 외 문서 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 ~ 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74,887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43,231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연도별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100,394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57,323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시 최신 데이터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580000"/>
          <a:ext cx="6260400" cy="32453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OCR · 파서 처리 절차 · 결과 · 오류 사례 분석, 오인식 · 깨진 문자 · 표 구조 손실 문서를 '품질 미흡'으로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보정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원문과 인식 결과 비교 화면에서 수정 ·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구조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텍스트 · 표 · 이미지 · 도형 통합 분석, 표 제목 · 행열 · 셀 병합 · 페이지 번호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OCR · 파서 결과와 VLM 결과 비교 · 통합 → 일반질의 · 문서분석 · 초안용 최종 전처리 데이터 재생성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사진 · 스캔본 · 캡처 · 이미지 PDF · 복잡한 표 문서로 전 · 후 비교, 기준 · 목표는 발주기관과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9731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 수행 시점의 최신 데이터를 포함해 진단, VLM 처리는 야간 · 유휴 시간 배치로 수행해 실시간 서비스 자원과 분리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언어모델 성능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GPU에서 더 정확하고 빠르게) 1차 사업과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동일한 GPU · 시스템 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모델 고도화 · 문서분할 · 컨텍스트 관리로 추론 · 대용량 · 정확도 · 속도 · 도메인 이해력을 함께 높임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07784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12885"/>
                <a:gridCol w="2973689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 파악, 사건 경위를 시간순 · 당사자별로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사실관계를 일자 · 당사자 · 근거자료로 구조화 추출 후 시간순 재구성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컨텍스트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사실관계 · 쟁점 · 근거 누락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분할 추출 → 통합 생성, 구간별 처리 이력으로 누락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정확도 고도화, 판단 항목 논거 구체화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· 그래프 탐색, 사건유형별 판단기준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 · 문서분석 · 초안 시간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최적화 · 캐시 · 스트리밍 (PER-002 30% 단축)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도메인 이해력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노동위원회 문장 형식 · 용어 · 서술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 기준 · 용어집을 지시문과 평가 기준에 반영, 표준 문형 학습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진단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1차 모델 · 서빙 환경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후보 비교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동일 GPU 수용 모델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도메인 최적화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지시문 · 미세조정 </a:t>
            </a:r>
            <a:r>
              <a:rPr sz="12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【협의】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평가셋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품질 · 속도 동시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교체 · 롤백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 후 단계 적용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947846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80018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모델 교체 원칙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199845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 모델은 같은 평가셋에서 품질과 응답시간이 모두 1차 모델 이상일 때만 적용하며, 문제가 생기면 즉시 이전 모델로 되돌릴 수 있도록 서빙 설정을 버전으로 관리합니다.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2.2.3 문서초안 작성 기능 확대 (조정 · 이행강제금 · 고발)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(심판 외 3개 업무로 확대) 조정 · 이행강제금 부과 · 고발 결정 조사보고서를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사건정보 자동 반영 + 필수 항목 체크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방식으로 생성하고, 자료에 없는 사실은 만들지 않도록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79659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973689"/>
                <a:gridCol w="211288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포함 항목 (RFP)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조사보고서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당사자 개요, 교섭대표노동조합, 조정 신청사항, 조정신청 경위, 단체교섭 경위, 임금 관련 참고자료, 사업장 경영자료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신청서 · 쟁의자료 · 조사관 입력자료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이행강제금 부과 조사보고서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표지, 구제명령 내용 및 이행내역, 결정 및 이행경위, 당사자 주장, 부과내역, 산출금액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 자동 산출 결과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고발 결정 조사보고서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표지, 구제명령 내용 및 이행내역, 결정 및 이행경위, 그 밖의 조사결과, 관련 법령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사건기록 · 법령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2625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2625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사건정보 자동 반영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5217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사건명 · 사건번호 · 당사자 · 사건 결과를 서식에 자동 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52625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52625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필수 항목 검사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55217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 유형별 필수 항목 누락 시 생성 결과에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52625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52625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없는 사실 차단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55217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생성 문장마다 근거 자료 위치를 연결, 근거 없는 문장은 표시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800" y="65945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검증: 조정 · 이행강제금 · 고발 사건별 평가용 데이터로 필수 항목 누락 · 사실 생성 여부 점검 (세부 평가항목 · 목표는 발주기관과 협의 확정)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6810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6810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선택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098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사건 화면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493280" y="7352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590480" y="6810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590480" y="6810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자료 수집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26480" y="7098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기록목록 · 조사관 입력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2766960" y="7352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864160" y="6810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2864160" y="6810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항목별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0160" y="7098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서식 항목 단위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040640" y="7352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137840" y="6810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4137840" y="6810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 · 근거 검사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3840" y="7098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누락 · 근거 없는 문장 표시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5314320" y="7352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11520" y="6810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>
            <a:off x="5411520" y="6810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조사관 편집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47520" y="7098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웹기안기 · HWP 변환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0800" y="8106595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6799" y="81605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이행강제금과의 연결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799" y="835859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이행강제금 부과 조사보고서는 SFR-005 자동 산출 결과(산정 기준일 · 구제명령 내용 · 미이행 사유 · 산출금액)를 그대로 받아 작성하므로 금액을 다시 계산하거나 옮겨 적지 않습니다.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2.2.4 AI 기반 소송문서 작성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(소송 대응 시간 단축) 사건자료 · 판정서 · 판결문 · 소장을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답변서 · 준비서면 · 항소이유서 초안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법원 제출 양식으로 만들고, 패소 원인을 보고서와 통계로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6752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소송 문서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사건자료 · 조사보고서 · 판정서 · 판결문 · 소장 분석 → 답변서 · 준비서면 · 항소이유서 초안 (법원 제출 양식 · 문구 구성)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판결문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 판례와 비교해 승소 · 패소에 영향을 준 주요 원인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패소 원인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논거 부실 · 절차상 하자 · 법령 해석 오류 · 증거 부족 등 원인별 보고서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소송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사건유형별 소송 결과 · 패소 원인 통계 생성 ·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법무 초안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상소 포기 의견서 등 법무 업무 초안 (RFP 추진내용)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소장 · 판결문 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소송 메뉴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쟁점 · 원인 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 판례 비교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초안 작성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답변서 · 준비서면 · 항소이유서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 검토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수정 · 승인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2932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33523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3352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통계 축적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21523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패소 원인 유형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9375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9375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99152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3875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소송 문서 초안
(답변서 · 준비서면 · 항소이유서)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9375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9375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991522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3875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패소 원인 분류
(논거 · 절차 · 해석 · 증거)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2.2.5 AI 기반 화해 · 조정 업무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(합의를 돕는 참고지표) 과거 화해 · 조정 사례로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성립 가능성 · 화해금 범위 · 권고 시점 · 쟁점별 권고안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제공하고, 화해조서 · 조정안 초안 작성을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SFR-025, SFR-026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707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화해 지원 (SFR-025)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지원 (SFR-026)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사례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직종 · 근속기간 · 해고 사유로 유사 화해사례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 기반 유사 조정 성립사례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성립 가능성 예측, 임금 · 위로금 범위 · 합의조건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임금 · 근로조건 · 단체협약 당사자 입장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·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 단계별 화해 성립률로 권고 적합 시점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특별 · 긴급조정 절차 · 처리기한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사건정보 · 합의조건 반영 화해조서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쟁점별 권고안 포함 조정안 초안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축적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불성립 사유 · 유형 축적, 직권조사 계획서(SFR-018)에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메뉴 · 화면 · 업무처리 절차로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173244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173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참고지표로만 제공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432444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예측 결과는 조사관 판단을 돕는 참고 정보로 표시하고 근거 사례를 함께 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173244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173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예측 적정성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6432444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과거 사건으로 예측 결과와 실제 화해 결과를 비교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173244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173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정확성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6432444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유사사례 검색 적합성 · 합의조건 정확성 · 초안 근거 반영 검증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6800" y="754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16800" y="754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특성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800" y="782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유형 · 직종 · 근속 · 사유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1811700" y="808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908900" y="754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1908900" y="754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유사 사례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4900" y="782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성립 · 불성립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3403800" y="808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501000" y="754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3501000" y="754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참고지표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37000" y="782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가능성 · 금액 범위 · 시점</a:t>
            </a:r>
          </a:p>
        </p:txBody>
      </p:sp>
      <p:sp>
        <p:nvSpPr>
          <p:cNvPr id="52" name="Isosceles Triangle 51"/>
          <p:cNvSpPr/>
          <p:nvPr/>
        </p:nvSpPr>
        <p:spPr>
          <a:xfrm rot="5400000">
            <a:off x="4995900" y="8083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93100" y="7541244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5093100" y="754124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9100" y="7829244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화해조서 · 조정안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2.2.6 음성 자료 분석 고도화 · 참조문서 관리체계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(정확한 진술 · 최신 참조문서) 심문회의 음성을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화자별 · 타임스탬프 단위로 구분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판정서 진술내용에 반영하고, 참조문서는 관리자 화면에서 등록하면 서비스 중단 없이 즉시 반영됨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SFR-027, SFR-023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음성 자료 분석 고도화 (SFR-027)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2682000"/>
          <a:ext cx="6260400" cy="2912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음성 인식 · 화자분리 품질 진단 (다수 화자 · 동시발화 · 잡음 사례)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화자분리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 화자 발언 구분 · 추출, 불명확 구간 별도 표시해 사용자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'심문회의 진술내용'을 신청인 · 피신청인별로 구분 작성, 타임스탬프로 원본 즉시 재생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화자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조사관이 화자명(신청인 · 피신청인 · 위원 · 조사관) 지정 ·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571649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70209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참조문서 관리체계 (SFR-023)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6026097"/>
          <a:ext cx="6260400" cy="2912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가이드 · 지침 등록 · 수정 · 삭제, 사용여부 설정, 변경 이력 관리 (DB 직접 수정 불필요)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 메타데이터(제목 · 문서유형) 자동 추출 → 전처리 · 임베딩 자동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무중단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색인을 별도로 만든 뒤 전환해 갱신 중에도 서비스 정상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직후 해당 문서를 근거로 한 시험 질의로 즉시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2.2.7 AI 사건신청 및 조회 서비스 (대국민)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AI 노동위원회 성능 · 운영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(민원인 편의) 로그인 여부에 따라 기능을 나눠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비인증 사용자는 일반질의, 인증 사용자는 사건신청 지원 · 본인 사건 조회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자연어로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1753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82415"/>
                <a:gridCol w="242590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 (기존과 동일)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자료 기반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사건신청 지원, 본인 사건 진행현황 · 처리결과 · 일정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온라인사건신청 인증정보 연계, 본인 권한 사건만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필요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전 질의 중 인증이 필요한 질의 판별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요청 → 인증 후 기존 질의 유지하며 이어서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08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08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37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노동위원회 (대국민)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567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08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08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의도 판별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537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 · 신청 · 본인 사건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567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08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08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537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필요 시 로그인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567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08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08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신청 지원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537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요건 · 서류 · 누락 안내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567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08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08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 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537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쉬운 자연어 답변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6487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6487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모든 사건 신청 지원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800" y="6746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부당해고 구제신청 등 사건유형별 신청 요건 · 제출자료 · 유의사항을 질의응답으로 안내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3600" y="6487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33600" y="6487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작성 · 누락 안내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69600" y="6746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 내용을 분석해 필요한 항목을 안내하고 누락 · 보완사항을 알림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0400" y="6487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50400" y="6487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86400" y="6746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온라인사건신청 환경을 분석해 인증 · 사건정보 연계 방식을 설계 단계에서 제안 · 확정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800" y="7963538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6799" y="801753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개인정보 보호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799" y="8215538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본인 사건 조회는 온라인사건신청에서 인증된 사용자 본인의 권한 사건만 조회하며, 질의 · 응답 기록에는 개인정보를 마스킹해 저장합니다.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기본 구축 방향 · 공통 보안 요구사항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(현행 분석 위에 재설계) 4개 시스템의 환경 · 기능을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ISP 결과와 변화된 IT 기술을 반영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개인정보 화면 · 출력물 · 다운로드 파일에 공통 보안 기능을 일괄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기본 구축 방향 (SFR-001)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2682000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· 위원노사마루 · 홈페이지 · AI 노동위원회 환경과 기능 분석, ISP 산출물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프로세스 재설계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위원회 업무 프로세스 분석 후 재설계 필요 사항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변경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 내 법령 · 규칙 · 행정사항 변경 시 처리에 필요한 최소 기능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디지털노동위원회 방향에 맞는 DB 구조 설계, 아키텍처 전문가(DA · TA · AA)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연계 고려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사건 신청 등 AI 노동위원회와의 연계를 전제로 설계 ·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595838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594398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보안 요구사항 (SFR-002)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6267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6267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화면 통제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6527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 조회 화면 캡처 방지 · 소스보기 · 인쇄 · 복사 · 우클릭 통제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6267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6267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6527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중요 개인정보 특정 자리수 '*' 치환 표시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6267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6267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워터마크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6527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출력물에 기관 · 사용자 워터마크 (부적정 출력물은 협의 제외)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7473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6800" y="7473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문서 보안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800" y="7733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 포함 파일 다운로드 시 암호화 · 무단 반출 열람 방지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33600" y="7473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33600" y="7473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보안등급 설정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9600" y="7733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사용기간 · 열람 · 인쇄횟수 · 편집 · 복사 · 저장 · 캡처 허용 여부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50400" y="7473985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50400" y="747398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DB 암호화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86400" y="7733185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주민등록번호 등 중요 개인정보 암호화 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2.3.2 전자송달 확대 · 중복·유사사건 검증 · 사건처리 자동화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(접수부터 송달까지 자동화)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전자송달 대시보드, 접수 단계 중복 · 유사사건 검증, 사건명 · 직권조사 실적 · 이행강제금 자동 산출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조사관 수작업을 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SFR-003, SFR-004, SFR-005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889463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408590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전자송달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· 발송대기 · 발송완료 · 열람 · 미열람 · 통지완료 상태 정의, 상태별 건수 실시간 표시, 클릭 시 일건 메뉴 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미열람 알림 ·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일정기간 미열람 시 담당 조사관 알림, 발송 · 수신확인 일시 · 발송인 로그 자동 저장, 제출 파일 사건기록목록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· 유사사건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단계에서 신청인 · 피신청인 · 사건유형 · 접수일자 조합으로 기 접수 사건 조회 ·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사건명 자동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· 복수노조 신청서의 사건유형 · 피신청인 정보로 표준 형식 사건명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 실적 자동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자료요구 · 출석조사 · 현장조사 · 전문기관 활용 실적을 기관평가 통계와 연계 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이행강제금 자동 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송달일 입력 → 이행기한 자동 계산, AI 서비스가 판정서 · 이행여부 결과통보서 분석 → 기준일 · 내용 · 미이행 사유 · 산출금액 회신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35546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35546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송달일 등록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64346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일건메뉴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89726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35546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35546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이행기한 계산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64346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89726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35546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35546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64346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판정서 · 결과통보서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89726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35546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35546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금액 산출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64346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부과기준 규칙 계산 (AI는 근거 추출)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89726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35546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35546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조사관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64346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귀책정도 · 이행정보 함께 제공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2.3.3 조정사건 처리 개선 · 유관기관 정보연계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(기관 간 수작업 해소) 조정사건 수신처를 자동 지정하고,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노사누리와 EAI로 공인노무사 자격 · 사건 · 노동조합 정보를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연계 이력과 실패 건 재발송까지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SFR-006, SFR-007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조정사건 처리 기능 개선 (SFR-006)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268200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71800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(수신처 자동 지정) 사업장 · 노동조합 소재지로 소속기관 · 부서 자동 지정 (일반 → 노사관계지원과, 교원 → 공공노사관계과), 조정사건부에 표시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(기안문 자동 입력 · 이력 표시) 행정관청 통보 기안문에 사건번호 · 당사자 · 신청사항 자동 입력, 대표사업체의 최근 1년 조정 신청 건수와 세부현황 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2400" y="407933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400" y="406493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노사누리 EAI 정보연계 (SFR-007)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16800" y="4388940"/>
          <a:ext cx="6260400" cy="29327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817180"/>
                <a:gridCol w="21128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시점 ·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공인노무사 자격정보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자격정보 변경 시 최신 정보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대리인 신청 · 확인 단계 자격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처리결과 통보 사건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노동위원회규칙 제192조 대상 사건 (해고금지기간 해고, 노동조합 관련, 차별시정, 조정 · 중재) — 통보 결재완료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후속 관리 프로세스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구제명령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노동조합법 제85조 확정 사건, 고용상 성차별 · 직장 내 성희롱 확정 시정명령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확보 업무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노동조합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노동조합 정보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 신청 · 접수 · 처리 단계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316800" y="7429717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6800" y="74297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현황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" y="7688917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성공 · 실패, 송수신 건수, 처리결과, 오류사유, 처리일시 조회와 실패 건 재발송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33600" y="7429717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33600" y="74297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보유 솔루션 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9600" y="7688917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연계 솔루션을 최대한 활용, 규격 협의 · 데이터 검증 · 기술지원 수행 (비용은 계약금액 포함)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50400" y="7429717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50400" y="7429717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지연 시 즉시 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86400" y="7688917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인터페이스 변경 · 기술지원 지연 시 즉시 보고하고 연계 범위 · 방식을 협의 조정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2.3.4 업무 편의 기능 신설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(1차 의견수렴 미반영 과제 이행)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11차 표준산업분류 현행화, 계정 · 사인 관리, 미입력 알림, 공통 알림 컴포넌트, 모바일공무원증 인증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일상 업무의 불편을 해소함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163061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업종코드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업종코드 적재 현황 분석 → 11차 표준산업분류 매핑 기준 마련 · 변경, 선택 화면 전수조사, 5단계 구조 선택 + 코드 · 업종명 텍스트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대리인 선임 횟수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권리구제대리인 결과회신 시 신청인의 1년간 선임 횟수를 연계기안문에 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병합 재심 고발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2개 이상 병합 재심사건의 고발소장 접수 시 병합 사건 모두 입력 (구조 · 프로세스 개선)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계정정보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계정명 옆 설정 버튼 → LDAP 기본정보 · 권한 확인 · 사인 이미지 관리, 사인은 리포팅 서식 사인 영역에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미입력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단계별 필수 항목 미입력 시 알림 → 사건부로 바로 이동, 하이라이트 · 사이드 패널 · 툴팁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알림 컴포넌트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알림 전수조사 → 넥사크로 공통 컴포넌트 일괄 적용 (안내 · 확인 · 경고 · 오류 유형별 디자인)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강화 인증 · 비정상접근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등 인증 연동, 장기 미접속 계정 잠금 · 동시접속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62906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62906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68306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07906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표준산업분류 코드
현행화 (구 데이터 매핑)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62906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62906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68306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07906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업종 선택 구조
(대 ~ 세세분류)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62906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62906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68306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전수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07906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브라우저 알림 →
넥사크로 공통 컴포넌트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2.3.5 통계 기능 강화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(믿을 수 있는 통계) 현행 약 150종을 전수 진단해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150종 이내로 재구축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통계 DB를 표준화해 수치 불일치를 없애며 기관평가 지표 · 로데이터 조회를 자동화함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수요 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조사관 · 심판담당 · 통계부서 인터뷰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96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헬프데스크 · 설문 · 워크숍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54399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신규 통계 · 산출기준 · 우선순위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발주기관 승인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전수 진단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약 150종 진단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396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유지 · 재구축 / 통폐합 / 폐기 분류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399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구축 대상 선정 (150종 이내)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「통계 구축 대상 목록」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DB 표준화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테이블 · 컬럼 · 코드 전수 조사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396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명명규칙 · 중복 · 코드 불일치 도출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4399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표준단어 · 용어 · 도메인 · 코드 적용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표준 통계 DB (DAR-004)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기관평가 통계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248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화해 성립률 · 초심 유지률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96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조정 성립률 · 직권조사 실적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54399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평가기간 설정 · 자동 필터링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자동 산출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5742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5742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로데이터 조회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800" y="5813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3248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수치 클릭 → 원본 데이터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396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적용 장표 50종 이내 협의 선정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54399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조회 시점 기준 결과 표시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9200" y="5742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검증 가능한 통계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68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68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48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150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 이내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48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장표 재구축
(현행 약 150종 전수 진단)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396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396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476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 이내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476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로데이터 조회
적용 장표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624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624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704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지표 이상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704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기관평가 통계
자동 산출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0800" y="7595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시험운영 · 안정화 기간에 사용자 만족도 · 활용도를 분석해 개선사항을 제안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0800" y="7812000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6799" y="7865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통계 수치 불일치 해소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6799" y="8063999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같은 지표를 장표마다 다르게 계산하던 산출식을 「통계산출기준」 하나로 정리하고, 표준화된 통계 DB에서만 집계해 어느 장표에서 보아도 같은 수치가 나오게 합니다.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2.3.6 전자결재 템플릿화 · 사건 기록관리 · 전자우편 고도화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(소스 수정 없는 서식 관리) 온-나라 연계기안을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템플릿 기반으로 바꿔 Java 하드코딩을 제거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사건별 메모와 e-그린 우편 회수 · 재발송 기능을 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SFR-010, SFR-011, SFR-012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전자결재 템플릿 기반 연계 (SFR-010)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26820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심판 · 차별시정 · 복수노조 · 이행강제 · 고발 · 소송 · 재처분 · 조정 · 중재 · 필수유지 · 회의·위원 업무 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템플릿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서식을 온-나라에 등록, 누름틀 · 셀로 데이터 바인딩, 병합사건은 표 행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공문서 작성지침 준수 (글꼴 · 정렬 · 여백 · 표 서식), 맞춤법 · 띄어쓰기 검토, 전 서식 출력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템플릿 구조 · 데이터 매핑 목록 · 누름틀 · 반복영역 정의를 담은 가이드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6171076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171076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사건별 메모 (SFR-011)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430276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개인용 · 공유용 메모, 중요 메모 상단 고정(Pin), 작성자 · 일시 · 키워드 · 첨부, 10개 업무 사건 상세화면 적용, 마이페이지 검색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2000" y="6171076"/>
            <a:ext cx="30852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92000" y="6171076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e-그린 우편 고도화 (SFR-012)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0" y="6430276"/>
            <a:ext cx="30132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연계 전 우편 발송 취소(회수), 정합성 · 제작 실패 건 재발송, 재발송 시 새 등기번호 자동 부여, 관리자 재발송 메뉴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6800" y="764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16800" y="764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서식 정비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" y="793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공문서 작성지침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1493280" y="824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590480" y="764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1590480" y="764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템플릿 등록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26480" y="793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온-나라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2766960" y="824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864160" y="764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2864160" y="764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바인딩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0160" y="793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누름틀 · 셀 · 행 추가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4040640" y="824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37840" y="764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4137840" y="764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출력 검증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73840" y="793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 서식 레이아웃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5314320" y="8242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11520" y="764707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5411520" y="764707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 가이드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7520" y="793507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매핑 목록 · 반복영역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2.3.7 온라인 사건신청 · 홈페이지 개선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업무시스템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(민원인이 혼자서도 정확하게 신청) 항목별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작성 튜토리얼 · 필요서류 자동 안내 · 미입력 표시 · 개인정보 포함 경고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FAQ · 이행강제금 · 고발 절차 안내를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SFR-014, SFR-015, SFR-016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82324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408590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작성 튜토리얼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항목별 예시 · 작성방법 · 관련 법령, 사건유형별 첨부서류 목록 자동 안내 · 서식 즉시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하이라이트, 제출 전 미입력 항목 팝업 · 시각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첨부문서 개인정보 포함 여부 탐지 → 경고 · 개인정보 유형 표시 (보유 홈페이지 개인정보보안 · 웹필터 활용)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이유서 작성 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사건으로 확대, 실제 사건 기반 예시, 자주 틀리는 항목(해고일 · 해고 사유 · 신청 취지) 입력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전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사건유형별 확인 항목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FAQ 신설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헬프데스크 · 만족도 조사 · 타 기관 FAQ 분석 후 게시물 발굴 · 제작, 사건유형 · 신청단계 · 오류유형별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 안내 ·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이행강제금 · 고발 절차 안내, 본인 사건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289244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289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사건유형 선택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577244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831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289244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289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 작성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577244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튜토리얼 · 예시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831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289244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289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서류 첨부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577244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 탐지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831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289244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289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제출 전 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577244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미입력 표시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83104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289244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289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 · 조회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577244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중복 검증 · AI 조회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보안 요구사항 분석 및 적용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적용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(설계 단계부터 보안 내재화) 시큐어코딩 · DB 암호화 · AI 보안을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요구사항 정의 단계부터 설계에 반영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사건자료와 AI 데이터는 기관 밖으로 이동하지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SER-002,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2652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4147515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행안부 개발보안 · 웹 개발보안 · 보안약점 진단 가이드 적용, 요구사항 정의 단계 개발자 교육 ·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민감정보 암호화 보관, 검증필 암호모듈 우선, 암호키 관리, 성능 저하 시 SQL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질의 · 생성 데이터의 기관 외부 직접 이동 금지, 국정원 「AI 보안 가이드북」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C(기밀) · S(민감) · O(공개) 등급별 처리 · 외부 AI 이용 허용 여부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· 출력물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· 캡처 방지 · 워터마크 · 다운로드 문서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모바일공무원증 · 장기 미접속 잠금 · 동시접속 제한, 권한별 사건 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731244"/>
            <a:ext cx="4874400" cy="37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731244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68032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강화 인증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3600" y="68032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권한별 사건 접근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4400" y="68032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비정상접근 차단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6731244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174044"/>
            <a:ext cx="4874400" cy="37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174044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· 출력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72460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72460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캡처 · 복사 통제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72460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워터마크 · 문서 보안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7174044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616844"/>
            <a:ext cx="4874400" cy="37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616844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76888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입력 등급 판별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76888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프롬프트 주입 방어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76888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응답 개인정보 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7616844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059644"/>
            <a:ext cx="4874400" cy="37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059644"/>
            <a:ext cx="1044000" cy="37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81316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DB 암호화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81316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비식별화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8131644"/>
            <a:ext cx="1186800" cy="23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이동 금지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8059644"/>
            <a:ext cx="1296000" cy="37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SER-002, DAR-002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개인정보 · 사건자료 정보유출 방지 및 접근통제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적용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(사건자료는 업무망 안에서만) 개인정보 · 사건자료 · 출력물의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생성 · 조회 · 출력 · 반출 단계별 통제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적용하고, 사업 인력의 보안 위반은 기준에 따라 책임을 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SER-004, SER-005, DAR-002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21610"/>
                <a:gridCol w="35214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색인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 개인정보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개선된 비식별화 적용 문서만 지식그래프 · 위키 · 임베딩에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밖 사건 열람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권한 · 담당 사건 기준 접근통제, 조회 · 다운로드 이력 관리 (개인정보 이력관리 S/W)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응답에 타 사건 정보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단계에서 권한 필터 적용, 응답 개인정보 패턴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 · 다운로드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출력물 · 파일 반출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워터마크, 문서 보안(암호화 · 열람 제한)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사건자료 테스트 외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목적 외 사용 금지, 개발 환경 비식별 데이터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5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4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 준수 및 위반 조치 (SER-004)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 조직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보안관리 책임자 지정, 대표자 보안각서 · 참여자 보안서약서 제출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준수 기준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국가 사이버보안 기본지침, 개인정보 보호법, 안전성 확보조치 기준, [별지 3 · 4] 준수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위반 시 책임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고용노동부 정보보안 기본지침 위반 · 무단 유출 시 [별표 1 · 2] 기준 행정조치 · 위약금 · 민형사 책임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감리와 별도의 취약점 진단 · 조치 · 재진단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취약점 진단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(감리와 독립된 자체 점검) 소스코드 보안약점과 웹 취약점을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감리 보안점검과 별도 절차로 진단 · 조치 · 재진단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조치 완료 확인 후에만 서비스를 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진단 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 · 범위 · 도구 · 일정 수립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96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행안부 지침 별표3 보안약점 필수 포함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54399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취약점 점검 항목 정의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 계획서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1차 진단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소스코드 정적 분석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396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취약점 점검 (테스트 단계)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399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서비스 프롬프트 주입 점검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1차 진단 결과서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조치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취약점별 담당자 · 기한 지정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396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보안약점 제거 · 설정 보완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4399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내역 기록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재진단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248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항목 전수 재점검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96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잔여 취약점 0건 확인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54399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결과서 제출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이행점검 결과서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5742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4800" y="5742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서비스 개시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34800" y="5813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3248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완료 확인 후 오픈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39600" y="5850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하자보수 기간 중 발견 시 즉시 조치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69200" y="5742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개시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68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168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48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48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서비스 개시 시점
잔여 취약점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396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4396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476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 이상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476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진단 · 재진단
(감리와 별도)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62400" y="664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62400" y="664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70400" y="669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70400" y="709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하자보수 기간 중
보안취약점 조치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0800" y="7632000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6799" y="7685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AI 서비스 보안 점검 추가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6799" y="788399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 취약점 외에 AI 서비스 특유의 위험(지시문 주입, 권한 밖 문서 검색, 응답 내 개인정보 노출)을 점검 항목에 추가해 같은 절차로 진단 · 조치합니다.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데이터 수행기준 · 데이터 아키텍처 · 데이터보안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데이터 아키텍처 및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(데이터 전문가 투입) DA · DBA를 투입해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분석 · 설계 · 개발 · 품질점검 · 전환 · 성능점검을 독립 환경으로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데이터 3법에 따라 개인정보 · 민감 데이터를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DAR-001, DAR-002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4753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공공데이터법 · 시행령 · 시행규칙, 공공기관의 데이터베이스 표준화 지침, 공공데이터 관리지침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아키텍트(DA) · DBA 투입 (Ⅴ장 투입인력 참조)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· 데이터 구조(분석 · 설계 · 전환) · 표준 · 코드 · 품질점검 · 성능점검 현황 분석 및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 · 개발 · 품질점검 · 전환 · 성능점검 환경을 분리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713538"/>
          <a:ext cx="6260400" cy="31807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3법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개인정보보호법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이용 최소화, 가명처리 · 비식별화 기능 구현, 처리 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정보통신망법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· 온라인사건신청 개인정보 노출 방지,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신용정보법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정보 처리 여부 검토 후 필요 시 보호조치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민감정보 안전한 알고리즘 암호화, 비밀번호 단방향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데이터 구조 설계 및 표준관리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데이터 구조 · 표준관리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(확장 가능한 구조 · 하나의 표준) 개념 · 논리 · 물리 모델을 단계별로 도출하고,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행안부 공통표준 · 고용노동부 표준 용어 기준의 표준사전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통계 DB까지 일괄 정비함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DAR-003, DAR-004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7461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구축기간 데이터 구조 변경이력 관리, DB 형상과 물리 모델 일치 여부 주기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주제영역 → 개념 → 논리 → 물리 모델 단계별 도출 · 산출물 제출, 인조 식별자 엔터티 '데이터 발생 규칙 정의서'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분류체계 · 명명 규칙 · DB Object 사용기준 정의, 업무 변동에 유연한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개체 · 관계, 위키 요약 · 분류, 참조문서 메타데이터 구조 신규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표준사전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 · 용어 · 도메인 · 코드 정의서 (행안부 공공데이터 공통표준용어 · 고용노동부 표준 용어 준수)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상충 요소는 협의 후 이력 기록, 표준 사전과 데이터 항목 일치 여부 주기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2406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2406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현행 DB 조사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5286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테이블 · 컬럼 · 코드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8364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2406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2406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비표준 도출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5286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명명 · 중복 · 불일치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8364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2406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2406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표준 정의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5286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단어 · 용어 · 도메인 · 코드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8364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2406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2406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일괄 적용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5286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통계 DB · 신규 구조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8364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2406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2406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주기 점검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5286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준수율 · 현행화율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데이터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4.3.1 데이터 검증 · 관리체계 · 품질관리 · 메타데이터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데이터 검증 · 관리체계 · 품질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(운영까지 이어지는 데이터 관리) 업무규칙(BR) 기반 값 검증과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준수율 · 구조 현행화율 · 값 검증 오류율 관리기준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제시하고, 연계데이터 정합성과 메타데이터 등록까지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DAR-005, DAR-006, DAR-007, DAR-008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76104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767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검증 (DAR-005)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검증 범위 · 시기 · 방법을 착수계획에 명시, 법령 · 규정 근거 업무규칙(BR) 정의, 범정부 품질진단 기준 값 검증, 오류 영향도 · 유형별 조치, 재발 방지 · 입력 사전검증, 모델 단계별 검증 (설계자 · 개발자 · 발주기관 · 전문가)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관리체계 (DAR-006)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· 구조 · 값 관리 조직과 역할, 추가 · 변경 · 삭제 절차, 연계데이터 목록(송수신 · 주기 · 항목 · 출처) 정의 · 정기 정합성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 (DAR-007)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표준용어 · 정규화, 문제 쿼리 사전 발견 · 튜닝, 인덱스 조정, 구조 최적화 · DBMS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(DAR-008)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관리시스템 · 중앙메타시스템 등록 · 현행화 지원, 체계 미비 시 초기 단계 관리체계 · 표준 정의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2270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2270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62810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66770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 준수율 목표
(신규 · 변경 항목)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62270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62270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62810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66770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구조 현행화율 목표
(물리 모델 ↔ DB)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62270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62270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62810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【0.1】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66770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값 검증 오류율 목표
(발주기관 협의 확정)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6800" y="72170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16800" y="72170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업무규칙 정의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800" y="75050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법령 · 규정 근거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1493280" y="78128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590480" y="72170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1590480" y="72170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값 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26480" y="75050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범정부 품질진단 기준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2766960" y="78128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864160" y="72170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2864160" y="72170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 개선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00160" y="75050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영향도 · 유형별 조치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4040640" y="78128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137840" y="72170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4137840" y="72170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73840" y="75050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 사전검증</a:t>
            </a:r>
          </a:p>
        </p:txBody>
      </p:sp>
      <p:sp>
        <p:nvSpPr>
          <p:cNvPr id="59" name="Isosceles Triangle 58"/>
          <p:cNvSpPr/>
          <p:nvPr/>
        </p:nvSpPr>
        <p:spPr>
          <a:xfrm rot="5400000">
            <a:off x="5314320" y="78128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411520" y="72170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>
            <a:off x="5411520" y="72170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이관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47520" y="75050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관리체계 · 관리기준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표준 · 지침 준수 · 감리 · 웹 접근성 · 기술적용계획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제약사항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(제약을 일정에 반영) 관련 법령 · 지침 26종을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설계 체크리스트로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감리 대응 · 웹 접근성 인증 · 기술적용결과표를 처음부터 일정과 산출물에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COR-001, COR-002, COR-003, COR-004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14101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973689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· 확인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767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· 지침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구축 · 운영 지침, 웹 · UI/UX 가이드, 개발보안 · 개인정보 · DB 표준화 지침 등을 단계별 체크리스트로 관리, 변경 지침은 설계 완료 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종료 시 체크리스트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 (COR-002)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종료 감리 일정 반영, 감리 점검용 산출물 작성, 인터뷰 대응 공수 사전 편성, 지적사항 후속조치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 시정조치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기술적용계획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기술적용계획표 검토 · 준수, 변경은 사유 제시 후 협의, 개방형 기술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기술적용결과표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· 호환성 (COR-004)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품질인증 표준심사 지침 준수, 인증마크 획득 (비용 당사 부담), 전자정부 웹사이트 품질진단 기준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인증심사 · 품질진단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6070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6070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950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체크리스트 확정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2028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6070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6070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950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설계감리 대응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2028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6070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6070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950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접근성 · 보안 점검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2028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6070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6070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950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인증심사 신청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20281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607015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60701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95015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종료감리 · 결과표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8011015"/>
            <a:ext cx="6332400" cy="789739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806501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감리 대응 공수 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26301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감리 준비와 인터뷰에 드는 시간을 WBS에 별도 작업으로 넣어, 감리 대응이 개발 일정을 밀어내지 않도록 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5.1.2 표준 프레임워크 · 손해배상 · 지식재산권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제약사항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(계약상 책임 명확화) 전자정부 표준프레임워크 기반 개발,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손해배상 · 인수인계 책임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지식재산권 공동소유 원칙 · 라이선스 책임을 제안 단계에서 확약함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COR-005, COR-006, COR-007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95102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(COR-005)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 · 설계 · 테스트 · 운영 전 분야 전자정부 표준프레임워크 기반, 보안패치 상시 적용, 공통컴포넌트 수준 개발 표준, Java · JavaScript · Python 등 범용 언어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손해배상 (COR-006)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고의 · 중과실 장애 및 계약 미이행 시 국가계약법 등에 따라 처리, 계약 해지 시 신규 사업자 인계 완료까지 운영 · 인수인계 성실 수행, SW 배상보험 가입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【가입 여부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 (COR-007)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디자인 · 콘텐츠(폰트 포함) · 공개SW · 솔루션 · 도구 포함, 발주기관과 공동소유 원칙, 침해 발생 시 당사가 전적으로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7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도입 S/W 없음을 원칙으로 하고, 사용 공개SW의 라이선스 종류 · 사용범위 목록을 제출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【Graph DB 등 공개SW 라이선스 목록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6417030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647103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공개SW 사용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6669030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지식그래프 · AI 서빙 등에 사용하는 공개SW는 상업적 사용과 재배포 조건을 확인한 제품만 쓰고, 라이선스 문제가 생기면 당사가 책임지며 발주기관에는 법적 문제가 없도록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52063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52063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공동소유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" y="777983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계약목적물 지식재산권은 발주기관과 공동소유 (발주기관 귀속 필요 시 사유 명시)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3600" y="752063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3600" y="752063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사용권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9600" y="777983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라이선스 종류 · 건수 · 사용범위 · 사용방법을 목록으로 제출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50400" y="7520639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50400" y="7520639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공동 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86400" y="7779839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 SW는 타 기관 공동 활용 계획 없음 (용역계약일반조건 제56조)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및 품질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 요구사항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1차 사업 대비 평균 처리시간 30% 이상 단축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응답속도 30% 단축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(측정 → 병목 제거 → 재측정) 일반질의 · 문서분석 · 문서초안의 처리 구간을 나눠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병목 구간별로 최적화를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동일 조건 시험셋으로 1차 기준 대비 30% 이상 단축을 입증함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PER-002, PER-001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8003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956375"/>
                <a:gridCol w="31302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원인 (진단 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최적화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전처리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시점에 OCR · 파싱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시점 비동기 전처리 · 결과 캐시 → 질의 시 재처리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벡터 검색 · 과다 후보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+ 재순위화로 컨텍스트 축소 (입력 토큰 감소)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요청별 순차 처리 · 캐시 미사용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배치, 접두(시스템 지시문) 캐시, 모델 경량화 적용 검토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【1차 서빙 환경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문서 한 번에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병렬 추출 → 통합 생성 (구간 누락 검증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완료 후 일괄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스트리밍으로 첫 응답 즉시 표시 (RFP 응답시간 정의: 표시 시작 시점)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경합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작업과 실시간 질의 혼재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VLM · 색인 등 배치 작업 업무시간 외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84604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서비스별 목표 (기준은 착수 1개월 내 동일 조건 실측값, 1차 RFP 목표는 참고)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080040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408590"/>
                <a:gridCol w="117382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RFP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실측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목표 (30% 이상 단축)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시작 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【T1 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T1 × 0.7 이하 (3초 기준 시 2.1초)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문서분석 (요약)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【T2 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T2 × 0.7 이하 (3초 기준 시 2.1초)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(500단어 미만)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【T3 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T3 × 0.7 이하 (5초 기준 시 3.5초)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임베딩 (10MB)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【T4 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시점 비동기 처리로 질의 대기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밖의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 (대량 데이터 질의는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0725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오류 발생 시 오류코드 · 재시도 방법을 포함한 안내 메시지 제공 (PER-002) / 개발 중 로그 · 도구로 성능을 상시 모니터링하고 문제를 오픈 전에 조치 (PER-001)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대용량 첨부파일 처리 · 토큰 한계로 인한 품질 저하 방지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대용량 첨부파일 · 동시 사용자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(구간 누락 0건) 첨부를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1회 10개 이상 · 총 1GB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늘리고, 문서를 구간 단위로 나눠 모두 처리했는지 기록 · 대조해 토큰 한계로 내용이 빠지지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95637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(RFP)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 첨부 파일 수 · 총 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7개 · 500MB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 이상 · 1GB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파일당 400MB 이상 · 500페이지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파일당 300MB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외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파일당 100MB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50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50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분할 업로드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57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608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대용량 파일 분할 전송 · 재개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39600" y="4608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업로드 즉시 비동기 전처리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54399" y="4608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진행률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450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업로드 실패 재시도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518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518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구간 분할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525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5292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페이지 · 문단 · 표 단위 구간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39600" y="5292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구간별 고유번호 부여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4399" y="5292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· 더미 데이터 제거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69200" y="518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구간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586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586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구간 추출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4800" y="594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24800" y="5976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사실관계 · 주장 · 쟁점 · 근거 추출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39600" y="5976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구간별 병렬 처리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54399" y="5976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위치 기록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69200" y="586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구조화 사실 목록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6552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4800" y="6552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④ 통합 생성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34800" y="662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324800" y="6660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시간순 · 당사자별 재구성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39600" y="6660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지식그래프 쟁점 대조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54399" y="6660000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필수 항목 검사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69200" y="6552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 결과 · 초안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800" y="7235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800" y="7235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⑤ 누락 검증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34800" y="730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324800" y="7343999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전체 구간 처리 이력 대조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39600" y="7343999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미처리 구간 자동 재처리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54399" y="7343999"/>
            <a:ext cx="13248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검증 결과 표시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69200" y="7235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구간 누락 0건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0800" y="7973999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799" y="8027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근거 추적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6799" y="8225999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분석 결과와 초안의 각 문장에 원문 파일 · 페이지 위치를 연결해, 조사관이 클릭 한 번으로 근거를 확인하고 누락 여부를 직접 검토할 수 있게 합니다.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동시 사용자 처리 · 성능 안정화 · 성능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대용량 첨부파일 · 동시 사용자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(100명 동시 · 자원 80% 미만) 시스템당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동시 사용자 100명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성능 저하가 없고, 시험운영 기간 CPU · 메모리 사용률이 어떤 조건에서도 80%를 넘지 않도록 튜닝 · 점검함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PER-004, PER-005,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721610"/>
                <a:gridCol w="31302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시스템당 평균 100명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테스트로 단계별(25 · 50 · 100 · 120명) 응답시간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사용률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 80%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기간 상시 모니터링, 임계 70% 사전 경보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요청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과부하 시 서비스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대기열 · 동시 생성 수 제한 · 우선순위 (업무망 &gt; 대국민)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피크타임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피크 시간대 점검, 쿼리 · 인덱스 · 캐시 튜닝 지속 실시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36195"/>
          <a:ext cx="6260400" cy="243314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테스트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목적 · 범위 · 측정 지표 · 참여자 · 절차 · 도구 정의, 발주기관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테스트 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· 스트레스 · 지속(장시간) 테스트, 1차 기준 대비 응답시간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·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 구간 튜닝 후 동일 조건 재측정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테스트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07734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07734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813134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 이상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52734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시스템당 동시 사용자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07734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807734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813134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미만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52734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CPU · 메모리 사용률
(시험운영 기간)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07734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807734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813134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52734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평균
처리시간 단축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단계별 품질 요구사항 점검 · 검토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품질 관리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(단계마다 확인하고 넘어감) 분석 · 설계 · 구현 · 테스트 단계 종료 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점검표로 산출물과 품질 요건을 검토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신뢰성 · 사용성 · 유지보수성 · 이식성 · 보안성 · 상호운용성 기준을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314307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130200"/>
                <a:gridCol w="219114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도구 ·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누락 · 모호성, 추적 가능성, 성능 기준선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추적표, 검토회의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일관성, 데이터 표준 준수, 연계 규격, 보안 설계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점검표, 설계감리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코딩 표준 · 보안약점, 단위테스트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 분석 도구, 코드 리뷰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요구사항별 적합 · 부적합, 결함 조치율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관리 도구, 결함대장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780307"/>
          <a:ext cx="6260400" cy="324753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 365일 가용성, 장기 결함 시 비상대책 보고, 오픈 전 결함 전수 조치, 결함 수 · 지속시간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사용성 · 이식성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PC 운영체제 · 웹브라우저 호환성, 기술 플랫폼 무관 확장성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유지보수성 · 상호운용성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코딩 표준 수립 · 주기 점검, 전자정부 표준 코딩 룰셋 이상, 연계 데이터 무결성 · 정합성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접근제어 · 인증 · 무결성 기본 요구사항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테스트 계획 · 단위 · 통합 · 인수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테스트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(요구사항마다 적합 · 부적합 판정) 단위 → 통합(3회 이상) → 성능 → 인수 테스트로 이어지는 계획을 세우고,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84개 요구사항 전부에 판정 기준과 시나리오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TER-002, TER-003, TER-005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3797092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582415"/>
                <a:gridCol w="1486844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방법 · 절차 · 역할 · 점검사항 · 검수기준, 테스트 환경 · 데이터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실행경로 · 오류처리 · 경계값 · 인터페이스 시험, 시나리오 · 데이터 · 예상결과 사전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요건 반영도 · 기능 구현도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단위테스트 결과보고서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 3회 이상, 오류 데이터 포함 시나리오, 연계 담당자와 인터페이스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· 설계사양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결과보고서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87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요구사항별 적합 · 부적합 판정 테스트, 하자는 만족할 때까지 보완 ·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서면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26309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2630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55109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개발자 · 모듈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8048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26309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2630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1차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55109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· 연계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8048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26309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2630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2차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55109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오류 데이터 · 시나리오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8048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26309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2630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3차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55109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환경 동일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80489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26309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26309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55109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요구사항별 판정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559092"/>
            <a:ext cx="6332400" cy="96987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61309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사용자 참여 테스트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811092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구축지원반 조사관 · 위원이 개발 초기부터 단계별 시연과 통합테스트에 참여하고, 노사마루 · 위원노사마루 · 온라인사건신청의 통계 · 편의 기능은 사용자 의견수렴 결과로 검증합니다.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생성형 AI 자체 통합테스트 (1,250건 이상)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테스트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(편중 없는 대표 사례로 10회 이상 분할) 일반질의 1,000건 · 문서분석 100건 · 문서초안 100건 · 직권조사계획 50건 이상을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사건유형 · 쟁점 · 분량 · 난이도별로 고르게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단계적으로 시험함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91209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1017315"/>
                <a:gridCol w="3991004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일반질의검색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1,000개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업무 · 사용환경 반영, 조사관 · 위원 · 대국민 이용대상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형식 · 분량 · 품질 · 구조가 다른 자료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당사자 주장 · 사건 경위 · 법령 · 규정 등 유형별 보고서 체크리스트 반영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직권조사계획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지정 필수조사사항 반영 여부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378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378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시험셋 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450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486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기존 사건 대표성 있게 선정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39600" y="5486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개인정보 · 비공개 정보 목적 외 사용 금지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54399" y="5486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정답 · 체크리스트 정의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5378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발주기관 확인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6170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6170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분할 수행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6242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6278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10회 이상 단계 분할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39600" y="6278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단계별 건수 · 일정 협의 확정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4399" y="6278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자동 측정 + 사용자 평가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69200" y="6170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단계별 결과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6962097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6962097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 · 재시험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4800" y="7034097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324800" y="7070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오류 원인 분석 · 개선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39600" y="7070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동일 조건 재테스트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54399" y="7070097"/>
            <a:ext cx="13248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재테스트는 최초 건수에 미포함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69200" y="6962097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품질 평가 보고서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6800" y="7808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6800" y="7808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4800" y="7862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1,250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 이상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4800" y="8258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
자체 통합테스트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39600" y="7808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39600" y="7808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47600" y="7862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 이상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47600" y="8258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단계적 분할 수행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62400" y="78080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62400" y="78080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70400" y="78620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70400" y="82580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발견 결함 조치율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내 · 외부 시스템 연계 방식 비교 · 선택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시스템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(기관별 최적 방식 유지) 내부 4개 시스템은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 구축 DB 복제로 무중단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외부는 기관별 방식(ESB · EAI)을 비교 · 분석해 노사누리 추가 연계까지 정합성 검증 · 이력 관리를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54914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738925"/>
                <a:gridCol w="939059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법제처 (기존)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사건정보 · 사건판례정보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행정정보공동이용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고용노동부 과태료 (기존)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공시송달 · 압류 · 수납 · 반환 · 독촉 · 부과결정 · 반환금액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우정사업본부 (기존)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우편인쇄 · 등기 · 배달증명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행정정보공동이용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(추가)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구제명령 · 종결사건 통보 등 사건처리 · 결과, 공인노무사 자격정보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4개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· 위원노사마루 · 홈페이지 · AI 노동위원회 실시간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 구축 연동 S/W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015146"/>
          <a:ext cx="6260399" cy="291209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799865"/>
                <a:gridCol w="1799865"/>
                <a:gridCol w="17216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간 직접 · 실시간, 변환 · 재처리 용이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어댑터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추가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ESB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중계 ·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중계기관 일정 의존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법제처 · 우정사업본부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무중단 · 실시간 동기화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변경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시스템 간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호출에 적합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이력 설계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↔ 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AI · 노사마루 연계 오류처리 · 연계이력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시스템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(연계 실패를 놓치지 않음) 모든 연계에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요청 · 응답 이력, 오류 코드, 재처리 규칙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적용하고, 연계 단계마다 건수 · 값 정합성을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SIR-003, SFR-007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고유 ID · 일시 기록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EAI · ESB · API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건수 · 필수값 · 형식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노사마루 사건정보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성공 · 실패 · 사유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유형(통신 · 형식 · 업무규칙) 구분, 자동 재시도 후 실패 건은 관리자 화면에서 재발송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정합성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송신 · 수신 건수 대조, 필수 항목 · 코드값 검증, 일 단위 정합성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성공 · 실패, 송수신 건수, 처리결과, 오류사유, 처리일시 조회 (SFR-007 관리자 기능)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→ AI 요청 · 결과를 사건번호 기준으로 저장, 처리 상태(대기 · 처리 중 · 완료 · 실패)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행정정보 시스템 연계 표준 준수, 연계데이터 목록 관리 (DAR-006)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80800" y="7947846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80018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무중단 연계 전환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19984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신규 연계는 모의 연계 환경에서 먼저 검증하고, 운영 반영은 업무 외 시간에 기존 연계와 병행 운영한 뒤 전환합니다.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인터페이스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및 품질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사용자 인터페이스 · 반응형 웹 설계 및 검토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사용자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(쓰는 사람 기준 화면) 조사관 · 위원 · 민원인별 업무 흐름을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UI/UX와 접근성 2.2를 지키는 화면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설계하고, 프로토타입 검토 → 사용성 테스트 순서로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SIR-002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3277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(조사관)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 화면 안에서 AI 호출 · 결과 확인, 미입력 하이라이트, 공통 알림 컴포넌트,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위원노사마루 (위원)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사건 위젯, '검증 및 교정' 버튼, 진술내용 화자별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· 온라인사건신청 (민원인)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반응형(PC · 스마트폰 · 태블릿), 튜토리얼 · 체크리스트, AI 사건조회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UI/UX 체계, H/W 비종속, 멀티 브라우저(Edge · Chrome · Safari), CSS 크기 지정, 수평 스크롤 지양, 접근성 2.2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398777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398777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470777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506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 인터뷰 · 업무 관찰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39600" y="5506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 의견수렴 · 헬프데스크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398777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사용자 여정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136777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136777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208777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244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화면 흐름 · 와이어프레임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39600" y="6244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프로토타입 (클릭 가능)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136777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화면 설계서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874777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874777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946777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982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구축지원반 검토회의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39600" y="6982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접근성 · 호환성 사전 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874777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확정 화면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612777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612777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테스트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684777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720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사용성 테스트 · 개선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39600" y="7720777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브라우저 · OS 호환 시험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612777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UI 테스트 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836877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이미지는 그래픽 원본 파일과 함께 제출, 디자인 지식재산권 비용은 당사 부담, 글꼴 · 이미지 원본은 유지보수 가능한 형태로 제공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인력구성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개발환경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안전보건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일정 · 위험 · 보안 · 형상 · 문서 관리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사업관리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(관리 영역별 기준과 도구) 일정 · 이슈/위험 · 보안 · 형상 · 산출물 관리를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영역별 기준 · 도구 · 주기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정하고, 문제 발생 시 발견 당일 보고하는 체계를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PMR-005, PMR-007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1396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3521475"/>
                <a:gridCol w="16433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기준 진척률 관리, 지연 · 변경 시 즉시 보고 · 협의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· 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 · 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쟁점 · 미결사항 · 요구사항 상세화 위험 식별 → 대응 → 추적, 반복 위험 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 · 위험대장 · 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 · 보안교육, 작업장 · 장비 · 자료 점검, 반출입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점검표 · 월간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산출물 · 설정(모델 · 지시문 포함) 버전 관리, 변경요청 승인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도구 · 상시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·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계획(종류 · 내역 · 시기 · 부수 · 매체), 품질보증 계획과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목록 · 단계별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과업심의위원회 절차에 따른 변경요청서 제출, 영향도 분석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변경관리대장 · 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39437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37997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문제 발생 시 보고 체계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6703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6703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991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· 부문 책임자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493280" y="7191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590480" y="6703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90480" y="6703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PM 판단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480" y="6991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영향도 · 긴급도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766960" y="7191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64160" y="6703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864160" y="6703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즉시 보고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0160" y="6991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구축전담반 (당일)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040640" y="7191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37840" y="6703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137840" y="6703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결정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3840" y="6991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협의 · 승인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5314320" y="719177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11520" y="670397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5411520" y="670397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· 추적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7520" y="699197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이슈대장 종결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0800" y="7891970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799" y="794597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사업수행계획서 (계약 후 10일 이내)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799" y="814397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 계획, 위험관리계획, 전 참여 인원 보안각서, 주간 · 월간 보고계획, 제품(SW) 납품 일정을 포함해 계약 후 10일 이내에 제출합니다.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보고관리 · 산출물 관리 · 검사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보고 · 산출물 · 검사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(정해진 주기로 투명하게) 착수 · 중간 · 완료 보고회와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주간 · 월간 회의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진행상황을 공유하고, 완료 시 요구사항 추적표 · 과업대비표를 포함한 산출물로 검사를 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PMR-006, PMR-007, PMR-008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74307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095570"/>
                <a:gridCol w="2738925"/>
                <a:gridCol w="14085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1개월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소개, 수행 계획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분야별 추진실적 · 공정률 · 중간성과 · 의견수렴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내용 및 결과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· 계획, 수행방안 점검, 향후 계획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실적 · 계획, 사업추진현황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현안 · 의사결정 · 요청사항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구두 · 자유 양식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040307"/>
            <a:ext cx="3085200" cy="1499907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040307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완료 산출물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299507"/>
            <a:ext cx="3013200" cy="1247907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요구사항 추적표 · 과업대비표, 테스트계획서 · 시나리오 · 결과서 · 검수계획서, 완료보고서(구성도), 추가 인원 보안각서, 운영자 · 관리자 매뉴얼(표준운영절차), 라이선스 · A/S확약서, 산출내역서, 하자보수 확약서, 소스코드 전체 (USB 2식)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92000" y="7040307"/>
            <a:ext cx="3085200" cy="1499907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2000" y="7040307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8000" y="7299507"/>
            <a:ext cx="3013200" cy="1247907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완료보고서 접수 후 14일 이내 검사, 주관기관 지정 양식으로 요청, 제안요청서 · 제안서 · 협상결과 · 계약서 · 수행계획서와 불일치 시 즉시 보완 후 재검사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800" y="864821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운영자 · 사용자 매뉴얼은 업무 사용자 관점으로 작성하고, 제출 전 자체 품질검토 결과서(오탈자 · 용어 일관성 · 완성도) 제출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수행조직 및 인력구성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분야별 전문인력 및 역할분담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투입인력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총괄 + 분야별 전문인력) PM이 AI 노동위원회와 노사마루 개선을 함께 총괄하고,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· 업무시스템 · 데이터(DA · DBA) · 아키텍처 · 보안 · 품질 · 기능점수 전문가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단계별로 투입함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DAR-001, PSR-005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7" cy="6435250"/>
        </p:xfrm>
        <a:graphic>
          <a:graphicData uri="http://schemas.openxmlformats.org/drawingml/2006/table">
            <a:tbl>
              <a:tblPr firstRow="0" bandRow="0"/>
              <a:tblGrid>
                <a:gridCol w="1123661"/>
                <a:gridCol w="2167061"/>
                <a:gridCol w="722353"/>
                <a:gridCol w="561830"/>
                <a:gridCol w="1043400"/>
                <a:gridCol w="642092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 — 사업 총괄 · 발표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 · TA — 목표시스템 · 연계 · 성능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M4,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책임 — LLM · RAG · 30%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전처리 · VLM · STT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위키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초안 · 업무지원 개발 (2명)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~ 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책임 (넥사크로 · Java)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· 위원노사마루 개발 (3명)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~ 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리포팅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연계(EAI) · 전자결재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· 화면 설계 · 퍼블리싱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 · DBA — 표준 · 구조 ·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 ~ M4, 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· 테스트 · 취약점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기능점수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사업정보 · 기능점수 측정 (PSR-005)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86526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투입인력 적정성 심사기준일은 입찰서 제출마감일 전일 / 타 사업 투입 인력을 제안하는 경우 착수 시점부터 투입 / 성명 · 등급 · M/M은 인력 확정 후 기입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10개월 세부 추진일정 (WBS)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세부 추진일정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(10개월 · 3회 보고회) RFP 추진일정에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기반 업무 구조화 · 업무시스템 고도화 · 개통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3개 축을 병행하고, 설계 · 종료 감리와 착수 · 중간 · 완료 보고회를 일정에 고정함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5769396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565100"/>
                <a:gridCol w="375624"/>
                <a:gridCol w="375624"/>
                <a:gridCol w="375624"/>
                <a:gridCol w="375624"/>
                <a:gridCol w="375624"/>
                <a:gridCol w="375624"/>
                <a:gridCol w="375624"/>
                <a:gridCol w="375624"/>
                <a:gridCol w="375624"/>
                <a:gridCol w="375624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중간 ·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업무 구조화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 · 데이터 분석, 기준선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환경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개발 · 연계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품질 검토 ·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(통계 진단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품질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통합테스트 (AI 10회 · 업무 3회)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· 개통 ·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· 종료 감리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▲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▲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19940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● 보고회 / ■ 수행 / ▲ 감리 (세부 일정은 사업수행계획서에서 발주기관과 협의 확정) / WBS에는 Task · 담당 조직 · 산출물 · 시작일 · 종료일을 포함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841540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41540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846940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86540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사업기간
(계약 후 10개월)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41540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841540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846940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86540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보고회
(착수 · 중간 · 완료)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41540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841540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846940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86540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감리
(설계 · 종료)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개발환경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작업장소 · 개발환경 준비 및 원격지 보안대책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작업장소 및 개발 인프라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(착수 즉시 가동하는 작업환경) 발주기관과 협의한 작업장소에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사업수행사 · 발주기관 지원인력 · 품질관리 · 감리원이 함께 쓰는 공간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확보하고, 보안요구사항을 갖춘 개발환경을 준비함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628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【작업장소 위치 — 발주기관 협의 (세종 인근 여부)】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비용(사용료 · 수도광열비 등)은 제안가격에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사무공간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수행사 · 발주기관 지원인력 · 품질관리 · 감리원 동일 공간, 감리 공간 비용은 감리업체와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점검을 마친 개발 PC · 노트북 (반출입 대장 관리, 휴대용 저장매체 통제)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테스트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업무망 개발 서버 사용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 제공 범위 확인】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비식별 데이터만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내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요구 시 협의하여 기관 내에서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10859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09419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원격지 개발 시 보안관리대책 (고용노동부 정보보안 기본지침)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418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418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인원 · 장소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677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참여 인원 명단 · 출입 통제, 지정 장소 외 작업 금지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418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418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장비 · 매체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6677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노트북 · USB 등록 · 반출입 대장, 비인가 매체 사용 차단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418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418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네트워크 · 자료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6677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 외부에서 내부 PC · 시스템 원격 접속 금지, 자료 외부 반출 금지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778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778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4800" y="784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D+10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4800" y="823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사업수행계획서 ·
전원 보안서약 제출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39600" y="778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39600" y="778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7600" y="784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착수 즉시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7600" y="823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공동 사무공간 ·
개발 장비 가동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62400" y="778619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62400" y="778619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70400" y="784019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 1회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70400" y="823619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작업장 보안 점검
(결과 월간보고)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안전보건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도급사업 안전보건관리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안전보건관리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(적격 수급인 '중' 등급 이상) 「도급사업 안전보건관리 운영 매뉴얼」에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안전보건관리계획서 · 책임자 선임 자료 · 재해자 리스트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제출하고, [붙임 7] 자가평가표와 증빙을 첨부함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9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 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 · 직위】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(선임 자료 첨부)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 위험요인 점검(전기 · 화재 · 장시간 작업), 비상연락망 · 대피 경로 게시, 월 1회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참여 인력 착수 시 안전보건 교육, 신규 투입 인력 투입 전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건강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VDT 작업 휴식 시간 준수, 장시간 근무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재해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사고 발생 시 즉시 보고 · 조치, 재해자 리스트 관리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【최근 재해 현황】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중대재해처벌법 안전 · 보건 의무 이행 비용 입찰가격에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15048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1504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03048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[붙임 7] 양식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95684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15048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1504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자가평가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03048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수준 자가평가표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95684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15048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1504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 · 점검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03048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· 월 1회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95684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15048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1504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03048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점검 결과 조치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95684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15048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1504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03048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월간보고 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76750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[붙임 7] 안전보건수준 자가평가표 및 증빙자료는 본 제안서 별첨으로 제출 (증빙 미흡 시 감점 · 재평가 대상)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78910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78910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" y="79450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등급 이상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3410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안전보건관리 수준
(적격 수급인 기준)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9600" y="78910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39600" y="78910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7600" y="79450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 1회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7600" y="83410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작업장 안전 점검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62400" y="78910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2400" y="78910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0400" y="79450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70400" y="83410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참여 인력
안전보건 교육 이수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시험운영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 및 하자보수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기밀보안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품질보증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품질보증 계획 · 수행 · 보고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품질보증 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(수행 조직과 분리된 품질보증) PMO 품질 담당이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품질보증계획 수립 → 교육 → 단계별 점검 → 시정조치 → 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사업 전 기간 수행하고, 대외 품질 인증을 함께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목표 · 표준 · 점검 일정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9600" y="2466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단계별 품질 점검표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품질보증계획서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목표 · 표준 교육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39600" y="3204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시큐어코딩 · 코딩 표준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 종료 시 산출물 점검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39600" y="3942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 · 테스트 품질 점검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결과서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시정조치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분석 · 시정조치 요청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39600" y="4680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완료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시정조치 대장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단계별 품질목표 달성 보고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39600" y="5418000"/>
            <a:ext cx="13248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표준 준수 결과 보고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품질보고서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【SP인증 · ISO 9001 등 품질 관련 인증 보유 여부 및 인증서 첨부】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PMO 품질 담당 (수행 부문과 별도 보고)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조치율 100%, 요구사항 추적률 100%, 보안약점 잔여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80800" y="8118000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799" y="8172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AI 품질도 같은 체계로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799" y="837000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생성형 AI 기능은 평가셋 결과(정확도 · 필수 항목 누락 · 근거 연결률 · 응답시간)를 품질 점검 항목에 포함해, 업무시스템과 같은 단계별 점검 · 시정조치 절차로 관리합니다.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대상 업무별 시험운영 · 안정화 · 운영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시험운영 및 안정화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(단계별 시범운영 후 개통) AI 서비스와 업무시스템을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구축지원반 대상 시범운영 → 전체 개통 → 안정화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순서로 운영하고, 결함은 심각도에 따라 우선 조치함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1819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756239"/>
                <a:gridCol w="133033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구축지원반 조사관 · 위원이 실제 사건으로 AI 초안 · 통계 · 연계 기능 사용, 의견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(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【2주】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결과 반영 후 전체 사용자 개통, 업무 외 시간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지원 · 헬프데스크 · 결함 조치, 성능 · 자원 모니터링 (CPU · 메모리 80% 미만)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47985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심각도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중단 · 데이터 오류 · 보안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착수 · 4시간 이내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 사용 불가 (대체 수단 있음)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 · 낮음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· 화면 · 문구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배포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6279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결함 심각도와 조치 우선순위는 주관기관 판단에 따름 / 테스트 진행상황 · 결함현황 · 조치사항은 공유 게시판으로 실시간 공유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6843985"/>
            <a:ext cx="6332400" cy="94414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68979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개발 완료 후 이용 · 관리 운영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7095985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운영자 매뉴얼(환경설정 · 권한 · 코드 · 장애조치 · 배치 · 운영절차)과 참조문서 · 지식그래프 관리 절차를 운영 담당자에게 인계해 사업 종료 후에도 자체 운영이 가능하게 합니다.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6800" y="789612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316800" y="789612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시범운영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" y="818412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구축지원반 실제 사건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1493280" y="8383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590480" y="789612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1590480" y="789612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의견 반영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6480" y="818412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결함 · 개선 조치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2766960" y="8383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864160" y="789612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2864160" y="789612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00160" y="818412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 외 시간 배포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4040640" y="8383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37840" y="789612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4137840" y="789612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3840" y="818412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현장 지원 · 모니터링</a:t>
            </a:r>
          </a:p>
        </p:txBody>
      </p:sp>
      <p:sp>
        <p:nvSpPr>
          <p:cNvPr id="52" name="Isosceles Triangle 51"/>
          <p:cNvSpPr/>
          <p:nvPr/>
        </p:nvSpPr>
        <p:spPr>
          <a:xfrm rot="5400000">
            <a:off x="5314320" y="838392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11520" y="789612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5411520" y="789612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 · 완료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7520" y="818412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인계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교육훈련 및 하자보수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대상자별 교육훈련 · 매뉴얼 · 기술이전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교육훈련 ·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 대상자별 맞춤 교육) 조사관 · 위원 · 관리자 · 운영자별로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 내용 · 방법 · 일정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나누고, 운영 · 관리 기술은 매뉴얼과 실습으로 이전함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PSR-002, PSR-003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4843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1252080"/>
                <a:gridCol w="10955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조사관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초안 · 직권조사 · 화해 · 조정 지원, 중복사건 · 송달 · 메모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위원노사마루 대시보드, 검증 및 교정, 진술내용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개통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참조문서 · 지식그래프 · 분류체계 관리, 연계 이력 · 재발송, 통계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구성, 장애 대처, 배치 · 모델 설정, 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~ M10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914432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 전반, 장애요소 · 대처방안 유형별 정리 (표준운영절차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권한별 사용 가능 기능 상세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도움말 · 웹페이지로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6642432"/>
            <a:ext cx="2026800" cy="1020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664243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기술이전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6901632"/>
            <a:ext cx="1954800" cy="768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이전 대상(모델 서빙 · 색인 · 그래프 · 연계)과 방법(문서 · 실습 · 동석 운영)을 계획서로 제출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6642432"/>
            <a:ext cx="2026800" cy="1020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664243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이전 · 확장 지원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6901632"/>
            <a:ext cx="1954800" cy="768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사업기간 내 시스템 이전 · 확장 · 타시스템 연계 시 기술지원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6642432"/>
            <a:ext cx="2026800" cy="102081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664243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정보 제공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6901632"/>
            <a:ext cx="1954800" cy="76881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관련 분야 정보기술 정보 제공 · 기술 자문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78072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78072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800" y="78612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800" y="82572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조사관 · 위원 ·
관리자 · 운영자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39600" y="78072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39600" y="78072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7600" y="78612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47600" y="82572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· 운영자 ·
사용자 매뉴얼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62400" y="780724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62400" y="780724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70400" y="786124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M9~M10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70400" y="825724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 · 기술이전 시기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교육훈련 및 하자보수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하자보수 계획 · 조직 · 절차 · 범위 · 기간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하자보수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(검사완료일부터 12개월 무상) 개발 · 수정 S/W 결함은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4시간 이내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요소기술 · 기능 단위로 하자보수 계획을 세워 보안취약점까지 조치함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QUR-003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5160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검사완료일부터 12개월 무상, 당사 공급 제품 · 개발 · 수정 S/W 등 사업 대상 전체 (12개월 이상 보증 제품은 그 기간)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수정 S/W 결함 4시간 이내 조치 (불가 시 주관기관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책임자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AI · 업무시스템 담당자 지정, 원격 · 현장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기간 중 발견된 보안취약점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업그레이드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보안사고 예방 · 성능 개선 패치 제공, 확장 시 상호운용성 · 이식성 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17608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· 지시문 · 검색 설정 오류, 응답 품질 저하 · 지연, 배치 작업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계층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· 위키 갱신 오류, 참조문서 반영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노사마루 · 위원노사마루 · 홈페이지 기능 · 통계 수치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노사누리 · 온-나라 · 온라인사건신청 연계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7159607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1596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447608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전화 · 메일 · 헬프데스크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75934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159607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1596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7447608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 · 영향도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75934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159607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1596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7447608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4시간 이내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75934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159607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1596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7447608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확인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7593407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159607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159607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7447608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하자보수 대장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8239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8239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" y="8293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689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
(검사완료일부터)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9600" y="8239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39600" y="8239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7600" y="8293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 이내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7600" y="8689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개발 · 수정 S/W
결함 조치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62400" y="8239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2400" y="8239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0400" y="8293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상시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70400" y="868960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보안취약점 조치 ·
패치 제공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기밀보안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기밀보안 체계 · 저작권 · 개인정보보호 · 비상대책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기밀보안 및 비상대책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(인원 · 문서 · 장비 · 시스템 4개 영역 통제) 보안관리 책임자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관리적 · 물리적 · 기술적 보안대책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적용하고, 장애 시 비상대책으로 업무 중단을 최소화함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SER-004, COR-007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 보안각서 · 참여자 보안서약서 · 비밀유지 계약서, 착수 · 수시 보안교육, 철수 시 자료 반납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사건자료 · 산출물 등급 표시, 외부 반출 금지, 출력물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노트북 등 전산장비 반출입 대장, 저장매체 통제, 보안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· 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접근권한 최소화, 개인정보 처리 위탁 계약서 체결, 비식별화 ·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공개SW 라이선스 준수, 디자인 · 폰트 · 이미지 저작권 확인, 지식재산권 공동소유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28656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모델 · 설정으로 즉시 되돌림, AI 기능 장애가 노사마루 업무에 전파되지 않도록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전 백업, 업무 외 시간 배포, 실패 시 이전 버전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재시도 · 실패 건 재발송, 장애 기관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차단 · 원인 분석, 재발 방지 대책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8121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8121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409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보안각서 · 서약 · 교육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609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8121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8121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8409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반출입 · 매체 통제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609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8121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8121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8409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1회 보안 점검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609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8121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8121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사고 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8409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즉시 보고 · 차단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6097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812198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81219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840998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반납 · 삭제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하도급계획 적정성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하도급 계획 적정성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하도급 계획 적정성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하도급계획 적정성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하도급 금액 비율 · 표준하도급계약 사용 여부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하도급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(직접 수행 원칙) 본 사업의 핵심 과업은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 인력이 직접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하도급이 필요한 경우 [별지 6호] 하도급 계획서와 같은 내용으로 금액 비율 · 표준하도급계약 사용을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374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계약명 · 업체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【없음 / 해당 업무 · 업체명】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금액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(입찰금액 대비, 합계 50% 이하)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하도급 계약금액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재하도급 금액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0% (재하도급 불허)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10% 초과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하수급인과 공동수급체 구성 (불가 사유 발생 시 사유 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표준하도급계약서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 표준하도급계약서 사용 (○)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84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84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09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하도급 계약 전 발주기관 사전승인, 적정성 평가 85점 이상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684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684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대금 지급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709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정보시스템 구축 · 운영 지침 제19조 기준 준수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6840000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6840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관리 · 보고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7099200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하도급 인력도 같은 보안 · 품질 · 보고 기준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800" y="82800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본 쪽의 하도급 내용은 [별지 6호] 소프트웨어사업 하도급 계획서와 일치하도록 확정 후 기입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568060" y="1498812"/>
            <a:ext cx="397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기타 사항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Ⅷ.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홍보 · 세미나 · SW 사업정보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3차 사업 연계 제언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기술성 평가항목 조견표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기타 지원 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홍보지원 · 세미나 및 워크숍 · SW 사업정보 제출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홍보 · 세미나 · SW 사업정보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성과를 알리고 공유) 대국민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홍보 콘텐츠(PPT · 동영상 · 인포그래픽 · 배너)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제작을 지원하고, 세미나 · 워크숍과 SW 사업정보 제출을 일정에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PSR-004, PSR-005, PSR-006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819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홍보 (PSR-004)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사건신청 · 사건조회, 온라인사건신청 개선 등 대국민 서비스 홍보 콘텐츠 기획 · 제작 (형태 · 수량 협의, 비용 사업비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세미나 · 워크숍 (PSR-006)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 현황 공유 · 협의 세미나 · 워크숍 1회 이상 (비용 공동부담)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사업정보 (PSR-005)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사업 수행 · 실적 정보 데이터 작성 · 제출, 단계별 산출물 목록에 명시, 기능점수 측정 전문가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647985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464798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PPT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4907185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 보고 · 설명용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4647985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464798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동영상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4907185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사건신청 · 조회 안내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4647985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464798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인포그래픽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4907185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온라인 신청 절차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4647985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4647985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4907185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홈페이지 · 민원실 안내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16800" y="5907985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 중간보고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세미나 · 워크숍 — 중간성과 공유, 사용자 의견수렴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M9 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홍보 콘텐츠 배포 — AI 사건신청 · 조회, 온라인사건신청 개선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사업정보 데이터 제출, 기능점수 산정 결과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280800" y="7923985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799" y="79779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홍보 콘텐츠 활용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99" y="8175985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민원인이 AI 사건신청 · 조회를 처음 쓸 때 막히는 지점을 시범운영 기간에 확인하고, 그 지점을 중심으로 안내 콘텐츠를 만듭니다.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3차 사업 연계 제언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2차 성과를 3차 사업으로 잇는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3차 사업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(3개년 계획의 연속성) 2차 사업에서 만든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지식그래프 · 참조문서 체계 · AI 호출 API · 평가셋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표준 산출물로 남겨, 3차 사업이 다시 만들지 않고 확장만 하도록 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87753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사업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 사업에서의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지식그래프 모델 · 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사건유형 · 서식 추가 시 개체 · 관계만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판정서 지식 위키 · 자동 갱신 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판례 · 법령 · 행정소송 자료로 대상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호출 API · 연계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AI 기능을 노사마루에 같은 방식으로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평가셋 (1,250건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교체 · 기능 확대 시 같은 기준으로 품질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표준 DB · 기관평가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분석 · 데이터 개방 확대의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343538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39753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6595538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에이치나인은 업무 문서에서 근거를 찾아 제시하는 AI와 운영 중인 업무 시스템을 멈추지 않고 고도화한 경험으로, 조사관 · 위원 · 민원인이 매일 체감하는 디지털 노동위원회를 만들겠습니다.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44714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44714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50114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789714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
전체 수용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44714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44714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50114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789714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
처리시간 단축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44714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44714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50114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789714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H/W
(현행 자원 활용)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3차 사업 연계 제언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3차 사업계획 및 제안요청서 작성 (CSR-001)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3차 사업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있는 3차 계획) ISP 산출물과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2차 수행 중 쌓인 개선 요구 · 사용자 의견 · 헬프데스크 · 성능 측정 결과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분석해 3차 사업의 과업과 제안요청서를 작성함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CSR-001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현황 수집 (M1~M8)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개선 요구사항 · 사용자 의견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9600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헬프데스크 게시판 분석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54399" y="2466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 · 품질 측정 결과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 요구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신규 과업 도출 (M7~M8)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ISP 산출물과 일관성 대조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39600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ISP 미포함 신규 과업 분석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54399" y="3312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우선순위 · 소요 자원 검토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3차 과업 후보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외부 상용 AI 병행 (M6~M8)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업무망 AI 지속 활용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39600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등급(O) 자료 외부 AI 병행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4399" y="4158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보안정책 준수 운영방안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구축 · 운영방안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 · 제안요청서 (M9~M10)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3248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세부 사업계획 수립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9600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· 평가기준 초안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54399" y="5004000"/>
            <a:ext cx="13248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검토 · 보완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3차 제안요청서(안)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316800" y="5795999"/>
          <a:ext cx="6260400" cy="2550769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31302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 검토 과제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자원 증설 · 모델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성능 측정 결과와 신규 기능 자원 사용량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초안 대상 업무 확대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초안 품질 평가 결과 · 현업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상용 AI 본격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병행 운영방안 · 보안 검토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280800" y="841876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제안요청서는 특정 사업자에게 유리하지 않도록 개방형 기술 기준으로 작성하고, 최종 확정은 발주기관이 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기술성 평가항목 조견표 (1/3)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「기술성 평가기준」의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732504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934416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「조달청 협상에 의한 계약 제안서평가 세부기준」에 따라 평가 (정량제안서 별도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3년, [별지 3호])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441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 3년간 사업수행실적(금액 기준) 합산 (정량제안서 별도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유사사업 실적 (입찰공고일 기준 최근 3년, [별지 4호]) / 본 사업에 적용하는 수행 경험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9~10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962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 (7점)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사업의 한계, 노사마루 기능 강화 · AI 노동위원회 고도화 목표 이해와 추진방향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개요 / 1차 사업의 한계와 2차 사업 개선 목표 / 1차 사업 대비 2차 사업 비교 / 제안의 목적과 범위 / 목표시스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15~19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96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통합 추진 전략, 1차 결과 분석 · 활용, AI 품질 · 응답속도 개선, 연계, 사용자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4대 추진전략 / AI 노동위원회 · 노사마루 통합 추진 단계 / 1차 산출물 인수 및 1차 사업 연속성 확보 / 사업 위험요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441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전처리 개선 · Graph DB · 문서초안 고도화 · 노사마루 기능 개선 · 연계 기술의 적정성 · 실현가능성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전처리 개선 · Graph DB · 문서초안 고도화 기술 / 노사마루 통계 · 기능 개선 · 시스템 연계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26~27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적용 (4점)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적용 여부, 예상 문제점과 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표준프레임워크 적용 계획과 예상 문제점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방법론 (4점)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사업에 적정한 방법론, 적용 경험, 단계별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방법론과 단계별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기술성 평가항목 조견표 (2/3)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「기술성 평가기준」의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484788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32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시스템장비 구성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H/W 확장 없이 현행 자원으로 AI · 노사마루를 구현 · 운영하는 구성과 자원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장비 확장 없는 자원 구성 및 최적화 방안 / GPU 자원 배치 및 신규 기능 수용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31~32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기능(질의 · 분석 · 초안 · 직권조사 · 화해 · 조정 · 참조문서) 구현방안, 노사마루 통계 · 편의 · 연계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문서초안 작성을 위한 Graph DB 기반 지식그래프 / 판정서 기반 내부 지식 위키 / AI 기반 직권조사 계획서 작성 /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33~50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사건자료 · 출력물 접근통제, 감리와 별도 취약점 점검 ·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분석 및 적용 체계 / 개인정보 · 사건자료 정보유출 방지 및 접근통제 / 감리와 별도의 취약점 진단 · 조치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51~53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전환 계획 · 검증 방법, 데이터 오류 처리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수행기준 · 데이터 아키텍처 · 데이터보안 / 데이터 구조 설계 및 표준관리 / 데이터 검증 · 관리체계 · 품질관리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54~56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제약조건 충족을 위한 구현 방안 및 테스트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· 지침 준수 · 감리 · 웹 접근성 · 기술적용계획 / 표준 프레임워크 · 손해배상 · 지식재산권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57~58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대비 응답속도 30% 이상 개선, 대용량 첨부파일 처리, 자체 테스트 ·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사업 대비 평균 처리시간 30% 이상 단축 방안 / 대용량 첨부파일 처리 · 토큰 한계로 인한 품질 저하 방지 / 동시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60~62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도구 · 구현 · 테스트 방안, 단계별 품질 점검 ·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품질 요구사항 점검 · 검토 방안 / 테스트 계획 · 단위 · 통합 · 인수 테스트 / 생성형 AI 자체 통합테스트 (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63~65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934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인터페이스 분석 · 설계 · 구현 · 테스트 방안과 검토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 · 외부 시스템 연계 방식 비교 · 선택 / AI · 노사마루 연계 오류처리 · 연계이력 관리 / 사용자 인터페이스 · 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기타 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3.1.3 기술성 평가항목 조견표 (3/3)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「기술성 평가기준」의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제안내용과 해당 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464484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1173825"/>
                <a:gridCol w="1799865"/>
                <a:gridCol w="1799865"/>
                <a:gridCol w="6260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 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제안내용 (제안서 목차)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69212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 (4점)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 · 보안 · 형상 · 문서 관리, 문제 발생 시 보고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 · 보안 · 형상 · 문서 관리 방법론 / 보고관리 · 산출물 관리 ·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70~71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계획 (4점)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수행기간과 세부일정, 활동별 일정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10개월 세부 추진일정 (WBS)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962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인력구성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· 역할분담, PM 주사업자 소속 총괄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의사소통 체계 / 부문별 업무분장 · 공동수급 · 하도급 / 사업관리자(PM) 자격 및 역할 / 분야별 전문인력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11~13, 72,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 (2점)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안전보건관리계획 적정성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도급사업 안전보건관리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34416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및 하자보수 계획 (2점)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방법 · 내용 · 일정, 하자보수 계획 · 절차 · 범위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대상자별 교육훈련 · 매뉴얼 · 기술이전 / 하자보수 계획 · 조직 · 절차 · 범위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79~80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921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및 비상대책 (3점)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계획 · 절차 · 범위 · 기간 등 (평가표 문구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체계 · 저작권 · 개인정보보호 · 비상대책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(3점)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업무별 시험운영 · 안정화 · 운영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(2점)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방안, SP인증 등 품질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계획 · 수행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[별지 1호] 제안요청 준수표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3958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19590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95906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관리체계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개방 및 메타데이터 관리체계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6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계획 수립 및 일반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64~65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및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 코딩 준수사항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암호화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보안취약점 진단 및 이행점검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준수 및 보안정책 위반에 대한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52, 81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기술 보안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51~52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및 관리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63, 77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구축시스템 품질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및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감리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기술적용계획표 및 결과표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및 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프레임워크 및 개발언어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28, 58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손해배상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 및 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22, 58, 81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사업관리자(PM)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11, 13, 72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공통수급형태의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11~12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29, 70~71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안전보건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22, 79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홍보지원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사업정보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72, 85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세미나 및 워크숍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5906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25, 74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