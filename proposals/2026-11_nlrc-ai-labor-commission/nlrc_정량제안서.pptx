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225"/>
  </p:notesMasterIdLst>
  <p:handoutMasterIdLst>
    <p:handoutMasterId r:id="rId226"/>
  </p:handoutMasterIdLst>
  <p:sldIdLst>
    <p:sldId id="7488" r:id="rId16"/>
    <p:sldId id="7489" r:id="rId17"/>
    <p:sldId id="7490" r:id="rId18"/>
    <p:sldId id="7491" r:id="rId19"/>
    <p:sldId id="7492" r:id="rId20"/>
    <p:sldId id="7493" r:id="rId21"/>
    <p:sldId id="7494" r:id="rId22"/>
    <p:sldId id="7495" r:id="rId23"/>
    <p:sldId id="7496" r:id="rId24"/>
    <p:sldId id="7497" r:id="rId25"/>
    <p:sldId id="7498" r:id="rId26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>
        <p:scale>
          <a:sx n="75" d="100"/>
          <a:sy n="75" d="100"/>
        </p:scale>
        <p:origin x="1506" y="93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25" Type="http://schemas.openxmlformats.org/officeDocument/2006/relationships/notesMaster" Target="notesMasters/notesMaster1.xml"/><Relationship Id="rId226" Type="http://schemas.openxmlformats.org/officeDocument/2006/relationships/handoutMaster" Target="handoutMasters/handoutMaster1.xml"/><Relationship Id="rId227" Type="http://schemas.openxmlformats.org/officeDocument/2006/relationships/presProps" Target="presProps.xml"/><Relationship Id="rId228" Type="http://schemas.openxmlformats.org/officeDocument/2006/relationships/viewProps" Target="viewProps.xml"/><Relationship Id="rId229" Type="http://schemas.openxmlformats.org/officeDocument/2006/relationships/theme" Target="theme/theme1.xml"/><Relationship Id="rId2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smtClean="0" b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ctr"/>
              <a:t>‹#›</a:t>
            </a:fld>
            <a:endParaRPr lang="ko-KR" altLang="en-US" sz="100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정량제안서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디지털노동위원회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구축 2차 사업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사업PM </a:t>
            </a:r>
            <a:r>
              <a:rPr lang="ko-KR" altLang="en-US" sz="1200" b="1">
                <a:solidFill>
                  <a:srgbClr val="E00000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【성명】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제출기관: 주식회사 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발주기관: 중앙노동위원회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정량평가 총괄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4735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경영상태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3660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5881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3678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8637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1683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수행실적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0608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2829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0626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5585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정량평가 총괄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정량평가 항목 및 제출 서류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정량평가 총괄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정량평가 총괄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정량평가 항목별 제출 서류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정량평가 항목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(정량평가 10점) 「조달청 협상에 의한 계약 제안서평가 세부기준」에 따른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경영상태(5점) · 수행실적(5점)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평가 자료와 증빙을 아래 순서로 제출함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1793184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547785"/>
                <a:gridCol w="2347650"/>
                <a:gridCol w="234765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제출 서류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70759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경영상태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입찰공고일 이전 평가 · 유효기간 내 가장 최근 신용평가등급 (나라장터 조회 등급)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신용평가등급확인서, 최근 3년 재무제표 (결산서)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0759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수행실적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사업규모(1,135백만원) 대비 최근 3년 인공지능(AI) 및 생성형AI, 정보시스템 구축 · 개발 실적 합산 금액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수행실적 총괄표, 유사사업 실적 [별지 4호], 수행실적증명서 · 계약서 · 세금계산서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02400" y="4273585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4259185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제출 서류 목록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4583185"/>
          <a:ext cx="6260400" cy="2861994"/>
        </p:xfrm>
        <a:graphic>
          <a:graphicData uri="http://schemas.openxmlformats.org/drawingml/2006/table">
            <a:tbl>
              <a:tblPr firstRow="0" bandRow="0"/>
              <a:tblGrid>
                <a:gridCol w="547785"/>
                <a:gridCol w="3912750"/>
                <a:gridCol w="782550"/>
                <a:gridCol w="101731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서류명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 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신용평가등급확인서 (조달청 제출용)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자본금 및 매출액 (최근 3년) [별지 3호] · 재무제표 결산서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수행실적 총괄표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유사사업 실적 [별지 4호]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수행실적증명서 (발주자 발급)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【건수】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계약서 · 세금계산서 (민간 발주 실적)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【건수】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7517185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입찰공고일 다음날(2026.10.20) 이후 발생 · 수정된 자료와 입찰공고일 다음날 이후 이행완료된 실적은 평가에서 제외됨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80800" y="7733185"/>
            <a:ext cx="6332400" cy="738271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6799" y="778718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작성 기준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6799" y="7985185"/>
            <a:ext cx="6080400" cy="43227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실적은 최근 계약일 순(최신 먼저)으로 기재하고, 현재 수행 중인 사업과 운영 · 유지보수 사업은 기재하지 않습니다. 각 실적의 증빙 첨부 쪽을 비고란에 표시합니다.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경영상태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신용평가등급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자본금 및 매출액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경영상태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경영상태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기업신용평가등급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신용평가등급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(기업신용평가등급 BBB0) 입찰공고일 이전에 평가되고 유효기간 내에 있는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가장 최근의 기업신용평가등급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제출함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3852000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업체명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주식회사 에이치나인 (사업자등록번호 214-88-58206)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 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기업신용평가등급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신용평가등급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BBB0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신용평가기관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【신용평가기관명】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【평가일 — 2026.10.19 이전】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유효기간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【유효기간 시작일 ~ 만료일】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나라장터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【조회 여부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02400" y="633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631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경영상태 평가기준 (RFP, 세부기준 제9조제3항제1호)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642000"/>
          <a:ext cx="6260400" cy="2394000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1408590"/>
                <a:gridCol w="1799865"/>
                <a:gridCol w="125208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기업어음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기업신용평가등급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AAA ~ BBB0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A1 ~ A30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AAA ~ BBB0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배점의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BBB- ~ BB-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A3- ~ B0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BBB- ~ BB-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배점의 95%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B+ ~ B-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B+ ~ B-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배점의 90%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CCC+ 이하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 이하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CCC+ 이하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배점의 70%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910799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신용평가등급확인서 원본 사본을 다음 쪽에 첨부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【확인서 이미지 삽입】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경영상태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경영상태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자본금 및 매출액 (최근 3년, [별지 3호])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자본금 및 매출액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(안정적 재무 기반) 최근 3년 매출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95억 ~ 111억 원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유지하고, 부채비율을 104.7%에서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71.8%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낮춰 재무 건전성을 높임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자본금 및 매출액 (단위: 원)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682000"/>
          <a:ext cx="6260397" cy="1674000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1486844"/>
                <a:gridCol w="1486844"/>
                <a:gridCol w="1486844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2023년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자본금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 (임대료수입)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38,800,000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 (용역매출)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9,885,377,589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9,460,127,326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11,077,940,671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 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9,885,377,589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9,460,127,326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11,116,740,671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447839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4463999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주요 재무 지표 (단위: 백만원)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316800" y="4788000"/>
          <a:ext cx="6260397" cy="4068000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1486844"/>
                <a:gridCol w="1486844"/>
                <a:gridCol w="1486844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2023년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11,116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매출원가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매출총이익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11,116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경상이익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650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당기순이익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559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893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자산총계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13,127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12,458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12,288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부채총계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6,714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5,352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5,136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자본총계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6,412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7,105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7,152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부채비율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104.7%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75.3%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71.8%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유동비율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102.4%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157.9%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149.7%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매출액순이익률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5.6%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9.4%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5.6%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280800" y="892799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공인회계사 확인 재무제표 별도 첨부 (부채·유동비율, 매출액순이익률은 표준 산식 적용)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0800" y="910799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결산 공고된 최근 3년간 재무제표 등 결산서를 붙임으로 첨부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【결산서 첨부 쪽】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수행실적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수행실적 총괄표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유사사업 실적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증빙 서류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수행실적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수행실적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최근 3년 사업수행실적 총괄표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수행실적 총괄표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(입찰공고일 기준 최근 3년 · 이행완료)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인공지능(AI) 및 생성형AI, 정보시스템 구축 · 개발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실적을 합산하며, 수행 중 사업과 운영 · 유지보수 사업은 제외함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수행실적 총괄표 (단위 백만원) &gt;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592000"/>
          <a:ext cx="6260400" cy="5346862"/>
        </p:xfrm>
        <a:graphic>
          <a:graphicData uri="http://schemas.openxmlformats.org/drawingml/2006/table">
            <a:tbl>
              <a:tblPr firstRow="0" bandRow="0"/>
              <a:tblGrid>
                <a:gridCol w="469530"/>
                <a:gridCol w="2504160"/>
                <a:gridCol w="860805"/>
                <a:gridCol w="939060"/>
                <a:gridCol w="704295"/>
                <a:gridCol w="78255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이행완료일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계약금액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SK가스 26년 Trading AI 사업(PP)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· 생성형AI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2026.07.24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32.325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용인 Y1(M17) 제조 DT 시스템 Ph1_FAB MOS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정보시스템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38.007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Trading AI Agent 개발 및 ML/DL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· 생성형AI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129.385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M14 차세대 제조 시스템 확산_FABMOS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정보시스템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32.853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M15X Ph4 차세대 제조 시스템 _FAB MOS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정보시스템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27.440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표준 아키텍처 구축 Ph3 원가선투입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정보시스템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1,170.490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'25년 표준 아키텍처 구축 Ph2 (차세대)(DT)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정보시스템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2025.12.31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1,999.758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25년 차세대 표준 아키텍처 구축 Ph1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정보시스템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2025.01.31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220.104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CELLO SQUARE 통합운영플랫폼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정보시스템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2024.12.31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1,444.700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삼성에스디에스㈜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 (9건)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5,095.062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사업규모 대비 449%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8010863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계약금액은 각 실적증명서 기재 금액 기준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【부가세 포함 · 별도 기준 통일 확인】</a:t>
            </a:r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/ 공동도급 실적은 지분 금액만 기재 / 하도급 실적은 발주처 승인분만 기재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80800" y="8226864"/>
            <a:ext cx="6332400" cy="738271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6799" y="8280863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실적 인정 범위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799" y="8478864"/>
            <a:ext cx="6080400" cy="43227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평가기준의 '인공지능(AI) 및 생성형AI, 정보시스템 구축 · 개발' 실적으로, 민간 발주 실적은 발주자가 발급한 수행실적증명서와 계약서 · 세금계산서를 함께 첨부합니다.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수행실적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수행실적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유사사업 실적 (입찰공고일 기준 최근 3년, [별지 4호])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유사사업 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(최근 계약일 순 · 이행완료 기준) RFP [별지 4호] 서식에 따라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사업명 · 사업기간 · 계약금액 · 발주처 · 비고(개발방법론 · 증빙 쪽)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기재함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유사사업 실적 (단위 백만원) &gt;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592000"/>
          <a:ext cx="6260400" cy="4278303"/>
        </p:xfrm>
        <a:graphic>
          <a:graphicData uri="http://schemas.openxmlformats.org/drawingml/2006/table">
            <a:tbl>
              <a:tblPr firstRow="0" bandRow="0"/>
              <a:tblGrid>
                <a:gridCol w="2425905"/>
                <a:gridCol w="1330335"/>
                <a:gridCol w="704295"/>
                <a:gridCol w="782550"/>
                <a:gridCol w="1017315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계약금액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SK가스 26년 Trading AI 사업(PP)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2026.07.01 ~ 2026.07.24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32.325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【방법론】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/ </a:t>
                      </a: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용인 Y1(M17) 제조 DT 시스템 Ph1_FAB MOS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2026.05.01 ~ 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38.007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【방법론】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/ </a:t>
                      </a: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Trading AI Agent 개발 및 ML/DL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2026.04.08 ~ 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129.385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【방법론】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/ </a:t>
                      </a: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M14 차세대 제조 시스템 확산_FABMOS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2026.03.16 ~ 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32.853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【방법론】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/ </a:t>
                      </a: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M15X Ph4 차세대 제조 시스템 _FAB MOS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2026.03.01 ~ 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27.440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【방법론】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/ </a:t>
                      </a: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표준 아키텍처 구축 Ph3 원가선투입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2026.01.19 ~ 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1,170.490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【방법론】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/ </a:t>
                      </a: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'25년 표준 아키텍처 구축 Ph2 (차세대)(DT)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2025.08.01 ~ 2025.12.31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1,999.758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【방법론】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/ </a:t>
                      </a: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25년 차세대 표준 아키텍처 구축 Ph1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2024.12.01 ~ 2025.01.31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220.104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【방법론】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/ </a:t>
                      </a: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CELLO SQUARE 통합운영플랫폼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2024.04.02 ~ 2024.12.31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1,444.700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삼성에스디에스㈜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【방법론】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/ </a:t>
                      </a: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6978304"/>
          <a:ext cx="6260400" cy="1674000"/>
        </p:xfrm>
        <a:graphic>
          <a:graphicData uri="http://schemas.openxmlformats.org/drawingml/2006/table">
            <a:tbl>
              <a:tblPr firstRow="0" bandRow="0"/>
              <a:tblGrid>
                <a:gridCol w="6260400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[별지 4호] 작성 기준 (RFP)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연도순 기재, 제안과제와 유사하거나 동일한 업무영역 · 사업형태만 기재, 수행 중 사업은 실적 인정 불가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하도급은 발주처 승인분만 작성 (비고란에 원도급회사), 공동도급은 제안사 지분만 기재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사업별 사용 개발방법론을 비고에 기재, 실적증명첨부서류의 쪽을 비고란에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한국소프트웨어산업협회 발급 이행실적확인서 가능한 활용, 확인 불가 실적은 인정하지 않음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수행실적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수행실적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1.3.1 실적별 증빙 서류 목록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1.3 증빙 서류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(실적마다 증빙 연결) 민간 발주 실적은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발주자 발급 수행실적증명서 + 계약서 + 세금계산서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실적 순서대로 첨부하고, 첨부 쪽을 총괄표 · [별지 4호] 비고란과 일치시킴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398" cy="4865253"/>
        </p:xfrm>
        <a:graphic>
          <a:graphicData uri="http://schemas.openxmlformats.org/drawingml/2006/table">
            <a:tbl>
              <a:tblPr firstRow="0" bandRow="0"/>
              <a:tblGrid>
                <a:gridCol w="469529"/>
                <a:gridCol w="2504160"/>
                <a:gridCol w="939059"/>
                <a:gridCol w="704295"/>
                <a:gridCol w="782550"/>
                <a:gridCol w="860805"/>
              </a:tblGrid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수행실적증명서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세금계산서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 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SK가스 26년 Trading AI 사업(PP)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【발급일】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【○】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【○】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용인 Y1(M17) 제조 DT 시스템 Ph1_FAB MOS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【발급일】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【○】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【○】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Trading AI Agent 개발 및 ML/DL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【발급일】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【○】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【○】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M14 차세대 제조 시스템 확산_FABMOS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【발급일】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【○】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【○】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M15X Ph4 차세대 제조 시스템 _FAB MOS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【발급일】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【○】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【○】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표준 아키텍처 구축 Ph3 원가선투입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【발급일】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【○】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【○】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'25년 표준 아키텍처 구축 Ph2 (차세대)(DT)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【발급일】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【○】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【○】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25년 차세대 표준 아키텍처 구축 Ph1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【발급일】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【○】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【○】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CELLO SQUARE 통합운영플랫폼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【발급일】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【○】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【○】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16800" y="7331256"/>
            <a:ext cx="2026800" cy="1007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7331256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증명서 발급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7590455"/>
            <a:ext cx="1954800" cy="75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에스케이㈜ 실적증명서 신청 (발급 2~3일 소요) </a:t>
            </a:r>
            <a:r>
              <a:rPr sz="10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【신청일 · 수령일】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33600" y="7331256"/>
            <a:ext cx="2026800" cy="1007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433600" y="7331256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기재값 일치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9600" y="7590455"/>
            <a:ext cx="1954800" cy="75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사업명 · 기간 · 금액을 증명서 · 계약서 · 세금계산서와 같게 기재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50400" y="7331256"/>
            <a:ext cx="2026800" cy="1007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50400" y="7331256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서식 차이 보완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86400" y="7590455"/>
            <a:ext cx="1954800" cy="75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발주자 증명서 양식이 RFP 양식과 다르면 계약서 · 세금계산서로 완료 · 금액 증빙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0800" y="8447255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증빙 원본 사본은 이 쪽 다음부터 실적 번호 순서로 첨부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【스캔 이미지 삽입】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맑은 고딕" panose="020F0302020204030204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5876</TotalTime>
  <Words>54759</Words>
  <Application>Microsoft Office PowerPoint</Application>
  <PresentationFormat>A4 용지(210x297mm)</PresentationFormat>
  <Paragraphs>8851</Paragraphs>
  <Slides>220</Slides>
  <Notes>137</Notes>
  <HiddenSlides>0</HiddenSlides>
  <MMClips>0</MMClips>
  <ScaleCrop>false</ScaleCrop>
  <HeadingPairs>
    <vt:vector size="6" baseType="variant">
      <vt:variant>
        <vt:lpstr>사용한 글꼴</vt:lpstr>
      </vt:variant>
      <vt:variant>
        <vt:i4>22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43" baseType="lpstr">
      <vt:lpstr>a옛날사진관5</vt:lpstr>
      <vt:lpstr>G마켓 산스 TTF Bold</vt:lpstr>
      <vt:lpstr>G마켓 산스 TTF Medium</vt:lpstr>
      <vt:lpstr>KoPubWorld돋움체 Bold</vt:lpstr>
      <vt:lpstr>KoPubWorld돋움체 Medium</vt:lpstr>
      <vt:lpstr>KoPubWorld바탕체 Light</vt:lpstr>
      <vt:lpstr>KoPub돋움체_Pro Medium</vt:lpstr>
      <vt:lpstr>KoPub바탕체 Bold</vt:lpstr>
      <vt:lpstr>Pretendard</vt:lpstr>
      <vt:lpstr>경기천년제목 Bold</vt:lpstr>
      <vt:lpstr>나눔스퀘어</vt:lpstr>
      <vt:lpstr>나눔스퀘어 Bold</vt:lpstr>
      <vt:lpstr>나눔스퀘어_ac</vt:lpstr>
      <vt:lpstr>나눔스퀘어_ac ExtraBold</vt:lpstr>
      <vt:lpstr>맑은 고딕</vt:lpstr>
      <vt:lpstr>맑은 고딕</vt:lpstr>
      <vt:lpstr>함초롬바탕</vt:lpstr>
      <vt:lpstr>Aldhabi</vt:lpstr>
      <vt:lpstr>Arial</vt:lpstr>
      <vt:lpstr>Calibri</vt:lpstr>
      <vt:lpstr>Calibri Light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황보정운</dc:creator>
  <cp:lastModifiedBy>황보정운</cp:lastModifiedBy>
  <cp:revision>239</cp:revision>
  <cp:lastPrinted>2026-06-25T07:15:15Z</cp:lastPrinted>
  <dcterms:created xsi:type="dcterms:W3CDTF">2021-09-24T12:12:26Z</dcterms:created>
  <dcterms:modified xsi:type="dcterms:W3CDTF">2026-07-27T02:17:50Z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