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 b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ctr"/>
              <a:t>‹#›</a:t>
            </a:fld>
            <a:endParaRPr lang="ko-KR" altLang="en-US" sz="100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pPr algn="r"/>
              <a:t>‹#›</a:t>
            </a:fld>
            <a:endParaRPr lang="ko-KR" altLang="en-US" sz="640"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정량제안서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맑은 고딕" panose="00000600000000000000" pitchFamily="2" charset="-127"/>
              <a:ea typeface="맑은 고딕" panose="00000600000000000000" pitchFamily="2" charset="-127"/>
              <a:cs typeface="맑은 고딕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디지털노동위원회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구축 2차 사업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사업PM </a:t>
            </a:r>
            <a:r>
              <a:rPr lang="ko-KR" altLang="en-US" sz="1200" b="1">
                <a:solidFill>
                  <a:srgbClr val="E00000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제출기관: 주식회사 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</a:rPr>
              <a:t>발주기관: 중앙노동위원회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정량평가 총괄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경영상태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b="1">
                <a:solidFill>
                  <a:schemeClr val="tx1"/>
                </a:solidFill>
                <a:effectLst/>
                <a:latin typeface="맑은 고딕" panose="00000800000000000000" pitchFamily="2" charset="-127"/>
                <a:ea typeface="맑은 고딕" panose="00000800000000000000" pitchFamily="2" charset="-127"/>
              </a:rPr>
              <a:t>수행실적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맑은 고딕" panose="00000300000000000000" pitchFamily="2" charset="-127"/>
              <a:ea typeface="맑은 고딕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정량평가 총괄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정량평가 항목 및 제출 서류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정량평가 총괄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Ⅰ. 정량평가 총괄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정량평가 항목별 제출 서류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정량평가 항목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(정량평가 10점) 「조달청 협상에 의한 계약 제안서평가 세부기준」에 따른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경영상태(5점) · 수행실적(5점)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평가 자료와 증빙을 아래 순서로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179318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547785"/>
                <a:gridCol w="2347650"/>
                <a:gridCol w="2347650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서류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7075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입찰공고일 이전 평가 · 유효기간 내 가장 최근 신용평가등급 (나라장터 조회 등급)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신용평가등급확인서, 최근 3년 재무제표 (결산서)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759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사업규모(1,135백만원) 대비 최근 3년 인공지능(AI) 및 생성형AI, 정보시스템 구축 · 개발 실적 합산 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총괄표, 유사사업 실적 [별지 4호], 수행실적증명서 · 계약서 · 세금계산서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427358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425918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제출 서류 목록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583185"/>
          <a:ext cx="6260400" cy="2861994"/>
        </p:xfrm>
        <a:graphic>
          <a:graphicData uri="http://schemas.openxmlformats.org/drawingml/2006/table">
            <a:tbl>
              <a:tblPr firstRow="0" bandRow="0"/>
              <a:tblGrid>
                <a:gridCol w="547785"/>
                <a:gridCol w="3912750"/>
                <a:gridCol w="782550"/>
                <a:gridCol w="1017315"/>
              </a:tblGrid>
              <a:tr h="378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서류명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신용평가등급확인서 (조달청 제출용)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 및 매출액 (최근 3년) [별지 3호] · 재무제표 결산서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 총괄표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유사사업 실적 [별지 4호]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 (발주자 발급)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 · 세금계산서 (민간 발주 실적)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【건수】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751718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입찰공고일 다음날(2026.10.20) 이후 발생 · 수정된 자료와 입찰공고일 다음날 이후 이행완료된 실적은 평가에서 제외됨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7733185"/>
            <a:ext cx="6332400" cy="738271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6799" y="7787185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작성 기준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799" y="7985185"/>
            <a:ext cx="6080400" cy="432271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실적은 최근 계약일 순(최신 먼저)으로 기재하고, 현재 수행 중인 사업과 운영 · 유지보수 사업은 기재하지 않습니다. 각 실적의 증빙 첨부 쪽을 비고란에 표시합니다.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경영상태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신용평가등급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자본금 및 매출액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기업신용평가등급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신용평가등급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(기업신용평가등급 BBB0) 입찰공고일 이전에 평가되고 유효기간 내에 있는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가장 최근의 기업신용평가등급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제출함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85200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업체명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주식회사 에이치나인 (사업자등록번호 214-88-58206)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신용평가기관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【신용평가기관명】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【평가일 — 2026.10.19 이전】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유효기간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【유효기간 시작일 ~ 만료일】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나라장터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【조회 여부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33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31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경영상태 평가기준 (RFP, 세부기준 제9조제3항제1호)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6642000"/>
          <a:ext cx="6260400" cy="239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08590"/>
                <a:gridCol w="1799865"/>
                <a:gridCol w="125208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회사채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기업어음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기업신용평가등급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 ~ A30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AAA ~ BBB0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A3- ~ B0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BBB- ~ BB-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95%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B+ ~ B-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90%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CCC+ 이하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배점의 70%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신용평가등급확인서 원본 사본을 다음 쪽에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【확인서 이미지 삽입】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경영상태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Ⅱ. 경영상태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자본금 및 매출액 (최근 3년, [별지 3호])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자본금 및 매출액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(안정적 재무 기반) 최근 3년 매출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95억 ~ 111억 원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을 유지하고, 부채비율을 104.7%에서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71.8%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로 낮춰 재무 건전성을 높임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자본금 및 매출액 (단위: 원)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7" cy="1674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(임대료수입)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38,800,000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(용역매출)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11,077,940,671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9,885,377,589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9,460,127,326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11,116,740,671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478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46399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주요 재무 지표 (단위: 백만원)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4788000"/>
          <a:ext cx="6260397" cy="4068000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486844"/>
                <a:gridCol w="1486844"/>
                <a:gridCol w="148684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2023년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2024년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매출원가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매출총이익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9,885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9,460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11,116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경상이익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당기순이익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559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자산총계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13,127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12,458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12,288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6,714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5,352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5,136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자본총계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6,412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7,105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7,152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부채비율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104.7%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75.3%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71.8%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유동비율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102.4%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157.9%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149.7%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매출액순이익률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9.4%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5.6%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92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공인회계사 확인 재무제표 별도 첨부 (부채·유동비율, 매출액순이익률은 표준 산식 적용)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800" y="9107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결산 공고된 최근 3년간 재무제표 등 결산서를 붙임으로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【결산서 첨부 쪽】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수행실적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맑은 고딕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수행실적 총괄표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유사사업 실적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증빙 서류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1.1.1 최근 3년 사업수행실적 총괄표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1.1 수행실적 총괄표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(입찰공고일 기준 최근 3년 · 이행완료)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인공지능(AI) 및 생성형AI, 정보시스템 구축 · 개발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 실적을 합산하며, 수행 중 사업과 운영 · 유지보수 사업은 제외함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수행실적 총괄표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4981336"/>
        </p:xfrm>
        <a:graphic>
          <a:graphicData uri="http://schemas.openxmlformats.org/drawingml/2006/table">
            <a:tbl>
              <a:tblPr firstRow="0" bandRow="0"/>
              <a:tblGrid>
                <a:gridCol w="469530"/>
                <a:gridCol w="2504160"/>
                <a:gridCol w="860805"/>
                <a:gridCol w="939060"/>
                <a:gridCol w="704295"/>
                <a:gridCol w="782550"/>
              </a:tblGrid>
              <a:tr h="52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이행완료일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생성형AI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· 생성형AI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정보시스템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【최근 3년 완료 정보시스템 구축 · 개발 실적 — 실적 대장 확인】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【분야】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【완료일】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7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【260 + 추가분】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645341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계약금액은 각 실적증명서 기재 금액 기준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【부가세 포함 · 별도 기준 통일 확인】</a:t>
            </a:r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 / 공동도급 실적은 지분 금액만 기재 / 하도급 실적은 발주처 승인분만 기재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800" y="7861341"/>
            <a:ext cx="6332400" cy="772583"/>
          </a:xfrm>
          <a:prstGeom prst="rect">
            <a:avLst/>
          </a:prstGeom>
          <a:solidFill>
            <a:srgbClr val="1D4E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799" y="7915341"/>
            <a:ext cx="6080400" cy="19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05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실적 인정 범위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799" y="8113341"/>
            <a:ext cx="6080400" cy="466583"/>
          </a:xfrm>
          <a:prstGeom prst="rect">
            <a:avLst/>
          </a:prstGeom>
          <a:noFill/>
        </p:spPr>
        <p:txBody>
          <a:bodyPr wrap="square" lIns="7200" rIns="7200" tIns="7200" bIns="7200" anchor="t">
            <a:noAutofit/>
          </a:bodyPr>
          <a:lstStyle/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평가기준의 '인공지능(AI) 및 생성형AI, 정보시스템 구축 · 개발' 실적으로, 민간 발주 실적은 발주자가 발급한 수행실적증명서와 계약서 · 세금계산서를 함께 첨부합니다.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1.2.1 유사사업 실적 (입찰공고일 기준 최근 3년, [별지 4호])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1.2 유사사업 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(연도순 · 이행완료 기준) RFP [별지 4호] 서식에 따라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사업명 · 사업기간 · 계약금액 · 발주처 · 비고(개발방법론 · 증빙 쪽)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기재함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&lt; 유사사업 실적 (단위 백만원)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400" cy="3814848"/>
        </p:xfrm>
        <a:graphic>
          <a:graphicData uri="http://schemas.openxmlformats.org/drawingml/2006/table">
            <a:tbl>
              <a:tblPr firstRow="0" bandRow="0"/>
              <a:tblGrid>
                <a:gridCol w="2425905"/>
                <a:gridCol w="1330335"/>
                <a:gridCol w="704295"/>
                <a:gridCol w="782550"/>
                <a:gridCol w="1017315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계약금액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2026.07.01 ~ 2026.07.24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용인 Y1(M17) 제조 DT 시스템 Ph1_FAB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2026.05.01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2026.04.08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M14 차세대 제조 시스템 확산_FABMOS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2026.03.16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'26년 M15X Ph4 차세대 제조 시스템 _FAB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2026.03.01 ~ 2026.06.30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구축 · 개발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【기간】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【금액】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【발주처】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【방법론】</a:t>
                      </a:r>
                      <a:r>
                        <a:rPr sz="100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/ </a:t>
                      </a:r>
                      <a:r>
                        <a:rPr sz="100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6514847"/>
          <a:ext cx="6260400" cy="2468808"/>
        </p:xfrm>
        <a:graphic>
          <a:graphicData uri="http://schemas.openxmlformats.org/drawingml/2006/table">
            <a:tbl>
              <a:tblPr firstRow="0" bandRow="0"/>
              <a:tblGrid>
                <a:gridCol w="6260400"/>
              </a:tblGrid>
              <a:tr h="45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[별지 4호] 작성 기준 (RFP)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5608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연도순 기재, 제안과제와 유사하거나 동일한 업무영역 · 사업형태만 기재, 수행 중 사업은 실적 인정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하도급은 발주처 승인분만 작성 (비고란에 원도급회사), 공동도급은 제안사 지분만 기재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사업별 사용 개발방법론을 비고에 기재, 실적증명첨부서류의 쪽을 비고란에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  <a:tr h="48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한국소프트웨어산업협회 발급 이행실적확인서 가능한 활용, 확인 불가 실적은 인정하지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수행실적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b="1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Ⅲ. 수행실적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600000000000000" pitchFamily="2" charset="-127"/>
                <a:ea typeface="맑은 고딕" panose="00000600000000000000" pitchFamily="2" charset="-127"/>
                <a:cs typeface="맑은 고딕" panose="00000600000000000000" pitchFamily="2" charset="-127"/>
                <a:sym typeface="Monotype Sorts"/>
              </a:rPr>
              <a:t>1.3.1 실적별 증빙 서류 목록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1" i="0" u="none" strike="noStrike" kern="1200" cap="none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  <a:sym typeface="Monotype Sorts"/>
              </a:rPr>
              <a:t>1.3 증빙 서류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(실적마다 증빙 연결) 민간 발주 실적은 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발주자 발급 수행실적증명서 + 계약서 + 세금계산서</a:t>
            </a:r>
            <a:r>
              <a:rPr lang="ko-KR" altLang="en-US" sz="1200" b="1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맑은 고딕" panose="00000800000000000000" pitchFamily="2" charset="-127"/>
                <a:ea typeface="맑은 고딕" panose="00000800000000000000" pitchFamily="2" charset="-127"/>
                <a:cs typeface="맑은 고딕" panose="00000800000000000000" pitchFamily="2" charset="-127"/>
              </a:rPr>
              <a:t>를 실적 순서대로 첨부하고, 첨부 쪽을 총괄표 · [별지 4호] 비고란과 일치시킴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4743845"/>
        </p:xfrm>
        <a:graphic>
          <a:graphicData uri="http://schemas.openxmlformats.org/drawingml/2006/table">
            <a:tbl>
              <a:tblPr firstRow="0" bandRow="0"/>
              <a:tblGrid>
                <a:gridCol w="469529"/>
                <a:gridCol w="2504160"/>
                <a:gridCol w="939059"/>
                <a:gridCol w="704295"/>
                <a:gridCol w="782550"/>
                <a:gridCol w="860805"/>
              </a:tblGrid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수행실적증명서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세금계산서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사업(PP)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용인 Y1(M17) 제조 DT 시스템 Ph1 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M14 차세대 제조 시스템 확산 FABMOS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676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M15X Ph4 차세대 제조 시스템 FAB MOS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【추가 실적】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【발급일】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【○】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【쪽】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16800" y="7209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7209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증명서 발급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7469046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에스케이㈜ 실적증명서 신청 (발급 2~3일 소요) </a:t>
            </a:r>
            <a:r>
              <a:rPr sz="12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【신청일 · 수령일】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7209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7209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기재값 일치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7469046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사업명 · 기간 · 금액을 증명서 · 계약서 · 세금계산서와 같게 기재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7209846"/>
            <a:ext cx="2026800" cy="1332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7209846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94EA7"/>
                </a:solidFill>
                <a:latin typeface="맑은 고딕"/>
                <a:ea typeface="맑은 고딕"/>
                <a:cs typeface="맑은 고딕"/>
              </a:rPr>
              <a:t>서식 차이 보완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7469046"/>
            <a:ext cx="1954800" cy="1080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발주자 증명서 양식이 RFP 양식과 다르면 계약서 · 세금계산서로 완료 · 금액 증빙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0800" y="8649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950" b="0">
                <a:solidFill>
                  <a:srgbClr val="666666"/>
                </a:solidFill>
                <a:latin typeface="맑은 고딕"/>
                <a:ea typeface="맑은 고딕"/>
                <a:cs typeface="맑은 고딕"/>
              </a:rPr>
              <a:t>※ 증빙 원본 사본은 이 쪽 다음부터 실적 번호 순서로 첨부 </a:t>
            </a:r>
            <a:r>
              <a:rPr sz="95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【스캔 이미지 삽입】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맑은 고딕" panose="020F0302020204030204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