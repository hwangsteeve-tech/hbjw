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225"/>
  </p:notesMasterIdLst>
  <p:handoutMasterIdLst>
    <p:handoutMasterId r:id="rId226"/>
  </p:handoutMasterIdLst>
  <p:sldIdLst>
    <p:sldId id="7488" r:id="rId16"/>
    <p:sldId id="7489" r:id="rId17"/>
    <p:sldId id="7490" r:id="rId18"/>
    <p:sldId id="7491" r:id="rId19"/>
    <p:sldId id="7492" r:id="rId20"/>
    <p:sldId id="7493" r:id="rId21"/>
    <p:sldId id="7494" r:id="rId22"/>
    <p:sldId id="7495" r:id="rId23"/>
    <p:sldId id="7496" r:id="rId24"/>
    <p:sldId id="7497" r:id="rId25"/>
    <p:sldId id="7498" r:id="rId26"/>
  </p:sldIdLst>
  <p:sldSz cx="6858000" cy="9906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pos="170" userDrawn="1">
          <p15:clr>
            <a:srgbClr val="A4A3A4"/>
          </p15:clr>
        </p15:guide>
        <p15:guide id="4" pos="4163" userDrawn="1">
          <p15:clr>
            <a:srgbClr val="A4A3A4"/>
          </p15:clr>
        </p15:guide>
        <p15:guide id="5" pos="348" userDrawn="1">
          <p15:clr>
            <a:srgbClr val="A4A3A4"/>
          </p15:clr>
        </p15:guide>
        <p15:guide id="6" pos="3972" userDrawn="1">
          <p15:clr>
            <a:srgbClr val="A4A3A4"/>
          </p15:clr>
        </p15:guide>
        <p15:guide id="7" pos="221" userDrawn="1">
          <p15:clr>
            <a:srgbClr val="A4A3A4"/>
          </p15:clr>
        </p15:guide>
        <p15:guide id="8" pos="40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DEEBF7"/>
    <a:srgbClr val="A1DEED"/>
    <a:srgbClr val="D9D9D9"/>
    <a:srgbClr val="FFFFFF"/>
    <a:srgbClr val="2F76B6"/>
    <a:srgbClr val="0070BA"/>
    <a:srgbClr val="2C4F78"/>
    <a:srgbClr val="64C3DC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7" autoAdjust="0"/>
    <p:restoredTop sz="94660"/>
  </p:normalViewPr>
  <p:slideViewPr>
    <p:cSldViewPr snapToGrid="0">
      <p:cViewPr>
        <p:scale>
          <a:sx n="75" d="100"/>
          <a:sy n="75" d="100"/>
        </p:scale>
        <p:origin x="1506" y="936"/>
      </p:cViewPr>
      <p:guideLst>
        <p:guide orient="horz" pos="3120"/>
        <p:guide pos="2160"/>
        <p:guide pos="170"/>
        <p:guide pos="4163"/>
        <p:guide pos="348"/>
        <p:guide pos="3972"/>
        <p:guide pos="221"/>
        <p:guide pos="40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25" Type="http://schemas.openxmlformats.org/officeDocument/2006/relationships/notesMaster" Target="notesMasters/notesMaster1.xml"/><Relationship Id="rId226" Type="http://schemas.openxmlformats.org/officeDocument/2006/relationships/handoutMaster" Target="handoutMasters/handoutMaster1.xml"/><Relationship Id="rId227" Type="http://schemas.openxmlformats.org/officeDocument/2006/relationships/presProps" Target="presProps.xml"/><Relationship Id="rId228" Type="http://schemas.openxmlformats.org/officeDocument/2006/relationships/viewProps" Target="viewProps.xml"/><Relationship Id="rId229" Type="http://schemas.openxmlformats.org/officeDocument/2006/relationships/theme" Target="theme/theme1.xml"/><Relationship Id="rId2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FC88C87-A870-CEB0-ED88-C071B57713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2BC45F-FED5-D4BC-E846-A726E2675E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53264-FF37-4A28-A320-34D44B9DA959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F340D6-2F04-0925-A1CA-8AEFCB2ADB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895D71-45E6-1EE8-27B3-45C23B4D7F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E9521-B036-447B-9F05-EA285466CC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7598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FD334089-59B3-40BB-96F8-BCCD425B3E1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E228262F-01A3-4CFF-895B-FDF42B6E38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75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02511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61233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9829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50424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75855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30254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80929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99795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05159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06429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30055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76020E4-D3BF-2E23-3FDA-C00182CF9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45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컨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40B0BCB0-8223-B3D9-E890-81D448F5CD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97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41A63F8-CD22-3A28-E2D3-10878032E2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90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638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0C846F1-727C-0585-985D-8DD19A4411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359" t="1639" r="80900" b="92396"/>
          <a:stretch>
            <a:fillRect/>
          </a:stretch>
        </p:blipFill>
        <p:spPr>
          <a:xfrm>
            <a:off x="0" y="0"/>
            <a:ext cx="1256670" cy="673100"/>
          </a:xfrm>
          <a:prstGeom prst="rect">
            <a:avLst/>
          </a:prstGeom>
        </p:spPr>
      </p:pic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850" y="257983"/>
            <a:ext cx="5318423" cy="3200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1600" smtClean="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defRPr>
            </a:lvl1pPr>
            <a:lvl2pPr marL="104478" indent="0">
              <a:buNone/>
              <a:defRPr lang="ko-KR" altLang="en-US" sz="823" smtClean="0"/>
            </a:lvl2pPr>
            <a:lvl3pPr marL="313432" indent="0">
              <a:buNone/>
              <a:defRPr lang="ko-KR" altLang="en-US" sz="823" smtClean="0"/>
            </a:lvl3pPr>
            <a:lvl4pPr marL="522387" indent="0">
              <a:buNone/>
              <a:defRPr lang="ko-KR" altLang="en-US" smtClean="0"/>
            </a:lvl4pPr>
            <a:lvl5pPr marL="731342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9" name="슬라이드 번호 개체 틀 2">
            <a:extLst>
              <a:ext uri="{FF2B5EF4-FFF2-40B4-BE49-F238E27FC236}">
                <a16:creationId xmlns:a16="http://schemas.microsoft.com/office/drawing/2014/main" id="{CE098A9A-461E-2B74-D55E-49CB2DCBB94A}"/>
              </a:ext>
            </a:extLst>
          </p:cNvPr>
          <p:cNvSpPr txBox="1">
            <a:spLocks/>
          </p:cNvSpPr>
          <p:nvPr userDrawn="1"/>
        </p:nvSpPr>
        <p:spPr>
          <a:xfrm>
            <a:off x="3174610" y="9688018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A9537A-DB42-4D35-B31B-5C8E293FF6D7}" type="slidenum">
              <a:rPr lang="ko-KR" altLang="en-US" sz="900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ctr"/>
              <a:t>‹#›</a:t>
            </a:fld>
            <a:endParaRPr lang="ko-KR" altLang="en-US" sz="100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3840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C174FC7F-2931-4560-A3C1-364B07A5E3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4234" y="1453800"/>
            <a:ext cx="6109424" cy="181525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64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 lang="ko-KR" altLang="en-US" sz="823" smtClean="0"/>
            </a:lvl2pPr>
            <a:lvl3pPr>
              <a:defRPr lang="ko-KR" altLang="en-US" sz="823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사각형: 둥근 한쪽 모서리 6">
            <a:extLst>
              <a:ext uri="{FF2B5EF4-FFF2-40B4-BE49-F238E27FC236}">
                <a16:creationId xmlns:a16="http://schemas.microsoft.com/office/drawing/2014/main" id="{B541F7BF-9ADF-46AB-81E5-B13C2B27F216}"/>
              </a:ext>
            </a:extLst>
          </p:cNvPr>
          <p:cNvSpPr/>
          <p:nvPr userDrawn="1"/>
        </p:nvSpPr>
        <p:spPr>
          <a:xfrm>
            <a:off x="0" y="473287"/>
            <a:ext cx="524014" cy="852098"/>
          </a:xfrm>
          <a:prstGeom prst="round1Rect">
            <a:avLst/>
          </a:prstGeom>
          <a:solidFill>
            <a:srgbClr val="008B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5F91E45-9FCF-43BD-A8FF-24BD1BC3E732}"/>
              </a:ext>
            </a:extLst>
          </p:cNvPr>
          <p:cNvCxnSpPr>
            <a:cxnSpLocks/>
          </p:cNvCxnSpPr>
          <p:nvPr userDrawn="1"/>
        </p:nvCxnSpPr>
        <p:spPr>
          <a:xfrm>
            <a:off x="0" y="1325385"/>
            <a:ext cx="6608862" cy="0"/>
          </a:xfrm>
          <a:prstGeom prst="line">
            <a:avLst/>
          </a:prstGeom>
          <a:ln w="19050">
            <a:solidFill>
              <a:srgbClr val="0074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텍스트 개체 틀 13">
            <a:extLst>
              <a:ext uri="{FF2B5EF4-FFF2-40B4-BE49-F238E27FC236}">
                <a16:creationId xmlns:a16="http://schemas.microsoft.com/office/drawing/2014/main" id="{B014F6E5-DAED-4795-8473-F27C314E90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9969" y="699426"/>
            <a:ext cx="5023588" cy="233013"/>
          </a:xfr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buNone/>
              <a:defRPr lang="ko-KR" altLang="en-US" sz="914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2ECBBF39-A383-4AFE-9C30-8005D916A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769" y="655398"/>
            <a:ext cx="377293" cy="544593"/>
          </a:xfrm>
          <a:noFill/>
        </p:spPr>
        <p:txBody>
          <a:bodyPr wrap="square" rtlCol="0">
            <a:noAutofit/>
          </a:bodyPr>
          <a:lstStyle>
            <a:lvl1pPr marL="0" indent="0" algn="r">
              <a:buNone/>
              <a:defRPr lang="ko-KR" altLang="en-US" sz="1097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lvl="0" algn="ctr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F7D64-638A-0DB1-1838-1BFE0A31C328}"/>
              </a:ext>
            </a:extLst>
          </p:cNvPr>
          <p:cNvSpPr txBox="1"/>
          <p:nvPr userDrawn="1"/>
        </p:nvSpPr>
        <p:spPr>
          <a:xfrm>
            <a:off x="6522317" y="9372523"/>
            <a:ext cx="335685" cy="34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23" b="0" i="0" u="none" strike="noStrike" kern="1200" cap="none" spc="0" normalizeH="0" baseline="0" noProof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나눔스퀘어"/>
                <a:ea typeface="나눔스퀘어"/>
                <a:cs typeface="+mn-cs"/>
              </a:rPr>
              <a:t>&lt;#&gt;</a:t>
            </a:r>
            <a:endParaRPr lang="ko-KR" altLang="en-US" sz="823"/>
          </a:p>
        </p:txBody>
      </p:sp>
    </p:spTree>
    <p:extLst>
      <p:ext uri="{BB962C8B-B14F-4D97-AF65-F5344CB8AC3E}">
        <p14:creationId xmlns:p14="http://schemas.microsoft.com/office/powerpoint/2010/main" val="5559893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2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5ED841-3E70-2D52-DBCB-E944C07C3B70}"/>
              </a:ext>
            </a:extLst>
          </p:cNvPr>
          <p:cNvSpPr/>
          <p:nvPr userDrawn="1"/>
        </p:nvSpPr>
        <p:spPr>
          <a:xfrm>
            <a:off x="3487937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9" name="슬라이드 번호 개체 틀 2">
            <a:extLst>
              <a:ext uri="{FF2B5EF4-FFF2-40B4-BE49-F238E27FC236}">
                <a16:creationId xmlns:a16="http://schemas.microsoft.com/office/drawing/2014/main" id="{B2797B26-B1E8-6159-7F70-D2371837A9AB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8116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0" y="2693909"/>
            <a:ext cx="6368380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1F5EF080-74F1-2009-15B4-D5D932E8218F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35162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0DC690-6E34-460F-B6A4-6CF5A62EB2C3}"/>
              </a:ext>
            </a:extLst>
          </p:cNvPr>
          <p:cNvSpPr/>
          <p:nvPr userDrawn="1"/>
        </p:nvSpPr>
        <p:spPr>
          <a:xfrm>
            <a:off x="244811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2717FD-D39F-8E98-379C-C3F05153C648}"/>
              </a:ext>
            </a:extLst>
          </p:cNvPr>
          <p:cNvSpPr/>
          <p:nvPr userDrawn="1"/>
        </p:nvSpPr>
        <p:spPr>
          <a:xfrm>
            <a:off x="4624058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5475A5-6520-B581-0354-5E7DA0EF6ADD}"/>
              </a:ext>
            </a:extLst>
          </p:cNvPr>
          <p:cNvSpPr/>
          <p:nvPr userDrawn="1"/>
        </p:nvSpPr>
        <p:spPr>
          <a:xfrm>
            <a:off x="2434435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7" name="슬라이드 번호 개체 틀 2">
            <a:extLst>
              <a:ext uri="{FF2B5EF4-FFF2-40B4-BE49-F238E27FC236}">
                <a16:creationId xmlns:a16="http://schemas.microsoft.com/office/drawing/2014/main" id="{D7A74A86-AF2F-4131-0264-FB4B27ABEF36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9313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1E447B-F4B4-4E30-97EE-52936639FAEF}"/>
              </a:ext>
            </a:extLst>
          </p:cNvPr>
          <p:cNvSpPr txBox="1"/>
          <p:nvPr userDrawn="1"/>
        </p:nvSpPr>
        <p:spPr>
          <a:xfrm flipH="1">
            <a:off x="489703" y="1285390"/>
            <a:ext cx="2125266" cy="227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731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템인트 프레젠테이션 템플릿 저작권</a:t>
            </a:r>
            <a:endParaRPr lang="en-US" altLang="ko-KR" sz="731" kern="12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F0AAC5-6251-4A45-9BE4-4EDC00C4FF72}"/>
              </a:ext>
            </a:extLst>
          </p:cNvPr>
          <p:cNvSpPr txBox="1"/>
          <p:nvPr userDrawn="1"/>
        </p:nvSpPr>
        <p:spPr>
          <a:xfrm flipH="1">
            <a:off x="489703" y="2089168"/>
            <a:ext cx="5747149" cy="709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본 템플릿에 제공되는 디자인 재산권은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템인트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(quiethee8)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소유하고 있습니다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어떠한 경우에도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템인트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템플릿 및 디자인을 유료로 복제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판매하는 것은 금지하며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재배포를 금지합니다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본 프레젠테이션은 비영리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비상업적인 목적으로만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또한 홍보 목적이 아닌 내부 자료로는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홍보목적인 경우에는 구매 후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영리목적일 시에는 블로그 혹은 메일로 연락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주시길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바랍니다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이는 다운받는 블로그에도 기재되어 있으며 다운받고 사용시에 동의한 것으로 간주합니다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26E1EB96-6ED2-443B-ACE2-CF11854FC42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82227894"/>
              </p:ext>
            </p:extLst>
          </p:nvPr>
        </p:nvGraphicFramePr>
        <p:xfrm>
          <a:off x="489705" y="4615250"/>
          <a:ext cx="5878595" cy="4249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775">
                  <a:extLst>
                    <a:ext uri="{9D8B030D-6E8A-4147-A177-3AD203B41FA5}">
                      <a16:colId xmlns:a16="http://schemas.microsoft.com/office/drawing/2014/main" val="318238632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251011819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579559814"/>
                    </a:ext>
                  </a:extLst>
                </a:gridCol>
              </a:tblGrid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분류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허용범위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사용금지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예시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181525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학생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과제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발표용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공모전 출품 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문의가능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]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52909"/>
                  </a:ext>
                </a:extLst>
              </a:tr>
              <a:tr h="9121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등의 홍보자료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693132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강의자료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 자료 및 강의자료 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159216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42118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 사용 부분에는 문의 바랍니다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031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22259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133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8" r:id="rId14"/>
    <p:sldLayoutId id="2147483687" r:id="rId15"/>
    <p:sldLayoutId id="2147483686" r:id="rId16"/>
    <p:sldLayoutId id="2147483650" r:id="rId17"/>
    <p:sldLayoutId id="2147483654" r:id="rId18"/>
    <p:sldLayoutId id="2147483656" r:id="rId19"/>
    <p:sldLayoutId id="2147483655" r:id="rId20"/>
    <p:sldLayoutId id="2147483652" r:id="rId21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5">
            <a:extLst>
              <a:ext uri="{FF2B5EF4-FFF2-40B4-BE49-F238E27FC236}">
                <a16:creationId xmlns:a16="http://schemas.microsoft.com/office/drawing/2014/main" id="{5E46FF42-C36A-87C9-3A55-247FEA1EEF60}"/>
              </a:ext>
            </a:extLst>
          </p:cNvPr>
          <p:cNvSpPr txBox="1"/>
          <p:nvPr/>
        </p:nvSpPr>
        <p:spPr>
          <a:xfrm>
            <a:off x="2826170" y="1555100"/>
            <a:ext cx="3584636" cy="1632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정량제안서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AI 디지털노동위원회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구축 2차 사업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EF8EA-14B3-6E55-F0E1-066986D1E0FA}"/>
              </a:ext>
            </a:extLst>
          </p:cNvPr>
          <p:cNvSpPr txBox="1"/>
          <p:nvPr/>
        </p:nvSpPr>
        <p:spPr>
          <a:xfrm>
            <a:off x="4601846" y="3560894"/>
            <a:ext cx="17604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사업PM </a:t>
            </a:r>
            <a:r>
              <a:rPr lang="ko-KR" altLang="en-US" sz="1200" b="1">
                <a:solidFill>
                  <a:srgbClr val="E00000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【성명】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C5FC7-1811-9A2D-3F96-29EC88554124}"/>
              </a:ext>
            </a:extLst>
          </p:cNvPr>
          <p:cNvSpPr txBox="1"/>
          <p:nvPr/>
        </p:nvSpPr>
        <p:spPr>
          <a:xfrm>
            <a:off x="3660241" y="4152781"/>
            <a:ext cx="2291653" cy="1177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제출기관: 주식회사 에이치나인</a:t>
            </a:r>
          </a:p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발주기관: 중앙노동위원회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TextBox 16">
            <a:extLst>
              <a:ext uri="{FF2B5EF4-FFF2-40B4-BE49-F238E27FC236}">
                <a16:creationId xmlns:a16="http://schemas.microsoft.com/office/drawing/2014/main" id="{1ED316A1-3D0B-757D-AEF4-F34868C8FC6D}"/>
              </a:ext>
            </a:extLst>
          </p:cNvPr>
          <p:cNvSpPr txBox="1"/>
          <p:nvPr/>
        </p:nvSpPr>
        <p:spPr>
          <a:xfrm>
            <a:off x="963899" y="1892346"/>
            <a:ext cx="417913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28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2778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정량평가 총괄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2671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2893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2673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Ⅰ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168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34735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경영상태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33660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35881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33678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Ⅱ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8637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1683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수행실적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0608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2829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0626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Ⅲ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45585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정량평가 총괄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Ⅰ.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정량평가 항목 및 제출 서류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정량평가 총괄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정량평가 총괄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정량평가 항목별 제출 서류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정량평가 항목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(정량평가 10점) 「조달청 협상에 의한 계약 제안서평가 세부기준」에 따른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경영상태(5점) · 수행실적(5점)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평가 자료와 증빙을 아래 순서로 제출함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1793184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547785"/>
                <a:gridCol w="2347650"/>
                <a:gridCol w="234765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제출 서류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70759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경영상태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입찰공고일 이전 평가 · 유효기간 내 가장 최근 신용평가등급 (나라장터 조회 등급)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신용평가등급확인서, 최근 3년 재무제표 (결산서)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759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수행실적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사업규모(1,135백만원) 대비 최근 3년 인공지능(AI) 및 생성형AI, 정보시스템 구축 · 개발 실적 합산 금액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수행실적 총괄표, 유사사업 실적 [별지 4호], 수행실적증명서 · 계약서 · 세금계산서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02400" y="4273585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4259185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제출 서류 목록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4583185"/>
          <a:ext cx="6260400" cy="2861994"/>
        </p:xfrm>
        <a:graphic>
          <a:graphicData uri="http://schemas.openxmlformats.org/drawingml/2006/table">
            <a:tbl>
              <a:tblPr firstRow="0" bandRow="0"/>
              <a:tblGrid>
                <a:gridCol w="547785"/>
                <a:gridCol w="3912750"/>
                <a:gridCol w="782550"/>
                <a:gridCol w="101731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번호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서류명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첨부 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신용평가등급확인서 (조달청 제출용)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자본금 및 매출액 (최근 3년) [별지 3호] · 재무제표 결산서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수행실적 총괄표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유사사업 실적 [별지 4호]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수행실적증명서 (발주자 발급)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【건수】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계약서 · 세금계산서 (민간 발주 실적)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【건수】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280800" y="7517185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입찰공고일 다음날(2026.10.20) 이후 발생 · 수정된 자료와 입찰공고일 다음날 이후 이행완료된 실적은 평가에서 제외됨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0800" y="7733185"/>
            <a:ext cx="6332400" cy="738271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6799" y="7787185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작성 기준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6799" y="7985185"/>
            <a:ext cx="6080400" cy="432271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실적은 이행완료 시점 기준으로 연도순 기재하고, 현재 수행 중인 사업과 운영 · 유지보수 사업은 기재하지 않습니다. 각 실적의 증빙 첨부 쪽을 비고란에 표시합니다.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경영상태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Ⅱ.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신용평가등급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자본금 및 매출액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경영상태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경영상태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기업신용평가등급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신용평가등급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(기업신용평가등급 BBB0) 입찰공고일 이전에 평가되고 유효기간 내에 있는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가장 최근의 기업신용평가등급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제출함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3852000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업체명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주식회사 에이치나인 (사업자등록번호 214-88-58206)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기업신용평가등급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신용평가등급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BBB0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신용평가기관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【신용평가기관명】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【평가일 — 2026.10.19 이전】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유효기간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【유효기간 시작일 ~ 만료일】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나라장터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【조회 여부 확인】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02400" y="633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631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경영상태 평가기준 (RFP, 세부기준 제9조제3항제1호)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6642000"/>
          <a:ext cx="6260400" cy="2394000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1408590"/>
                <a:gridCol w="1799865"/>
                <a:gridCol w="125208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회사채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기업어음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기업신용평가등급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AAA ~ BBB0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A1 ~ A30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AAA ~ BBB0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배점의 100%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BBB- ~ BB-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A3- ~ B0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BBB- ~ BB-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배점의 95%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B+ ~ B-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B+ ~ B-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배점의 90%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CCC+ 이하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 이하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CCC+ 이하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배점의 70%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280800" y="91079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신용평가등급확인서 원본 사본을 다음 쪽에 첨부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【확인서 이미지 삽입】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경영상태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경영상태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자본금 및 매출액 (최근 3년, [별지 3호])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자본금 및 매출액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(안정적 재무 기반) 최근 3년 매출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95억 ~ 111억 원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유지하고, 부채비율을 104.7%에서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71.8%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낮춰 재무 건전성을 높임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자본금 및 매출액 (단위: 원)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682000"/>
          <a:ext cx="6260397" cy="1674000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1486844"/>
                <a:gridCol w="1486844"/>
                <a:gridCol w="1486844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자본금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(임대료수입)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38,800,000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(용역매출)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9,885,377,589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9,460,127,326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11,077,940,671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합계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9,885,377,589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9,460,127,326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11,116,740,671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02400" y="447839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2400" y="4463999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주요 재무 지표 (단위: 백만원)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316800" y="4788000"/>
          <a:ext cx="6260397" cy="4068000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1486844"/>
                <a:gridCol w="1486844"/>
                <a:gridCol w="1486844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매출원가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매출총이익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경상이익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650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당기순이익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893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자산총계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13,127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12,458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12,288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부채총계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6,714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5,352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5,136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자본총계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6,412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7,105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7,152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부채비율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104.7%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75.3%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71.8%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유동비율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102.4%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157.9%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149.7%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매출액순이익률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5.6%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9.4%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5.6%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280800" y="89279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공인회계사 확인 재무제표 별도 첨부 (부채·유동비율, 매출액순이익률은 표준 산식 적용)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0800" y="91079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결산 공고된 최근 3년간 재무제표 등 결산서를 붙임으로 첨부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【결산서 첨부 쪽】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수행실적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Ⅲ.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수행실적 총괄표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유사사업 실적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증빙 서류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수행실적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수행실적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최근 3년 사업수행실적 총괄표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수행실적 총괄표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(입찰공고일 기준 최근 3년 · 이행완료)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인공지능(AI) 및 생성형AI, 정보시스템 구축 · 개발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실적을 합산하며, 수행 중 사업과 운영 · 유지보수 사업은 제외함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수행실적 총괄표 (단위 백만원) &gt;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592000"/>
          <a:ext cx="6260400" cy="4981336"/>
        </p:xfrm>
        <a:graphic>
          <a:graphicData uri="http://schemas.openxmlformats.org/drawingml/2006/table">
            <a:tbl>
              <a:tblPr firstRow="0" bandRow="0"/>
              <a:tblGrid>
                <a:gridCol w="469530"/>
                <a:gridCol w="2504160"/>
                <a:gridCol w="860805"/>
                <a:gridCol w="939060"/>
                <a:gridCol w="704295"/>
                <a:gridCol w="78255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번호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이행완료일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계약금액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'26년 M15X Ph4 차세대 제조 시스템 _FAB MOS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정보시스템 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2026.06.30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'26년 M14 차세대 제조 시스템 확산_FABMOS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정보시스템 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2026.06.30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Trading AI Agent 개발 및 ML/DL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· 생성형AI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2026.06.30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'26년 용인 Y1(M17) 제조 DT 시스템 Ph1_FAB MOS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정보시스템 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2026.06.30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SK가스 26년 Trading AI 사업(PP)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· 생성형AI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2026.07.24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【최근 3년 완료 정보시스템 구축 · 개발 실적 — 실적 대장 확인】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【분야】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【완료일】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【금액】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【발주처】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【260 + 추가분】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7645341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계약금액은 각 실적증명서 기재 금액 기준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【부가세 포함 · 별도 기준 통일 확인】</a:t>
            </a:r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/ 공동도급 실적은 지분 금액만 기재 / 하도급 실적은 발주처 승인분만 기재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0800" y="7861341"/>
            <a:ext cx="6332400" cy="772583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799" y="7915341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실적 인정 범위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799" y="8113341"/>
            <a:ext cx="6080400" cy="46658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평가기준의 '인공지능(AI) 및 생성형AI, 정보시스템 구축 · 개발' 실적으로, 민간 발주 실적은 발주자가 발급한 수행실적증명서와 계약서 · 세금계산서를 함께 첨부합니다.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수행실적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수행실적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유사사업 실적 (입찰공고일 기준 최근 3년, [별지 4호])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유사사업 실적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(연도순 · 이행완료 기준) RFP [별지 4호] 서식에 따라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사업명 · 사업기간 · 계약금액 · 발주처 · 비고(개발방법론 · 증빙 쪽)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기재함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유사사업 실적 (단위 백만원) &gt;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592000"/>
          <a:ext cx="6260400" cy="3814848"/>
        </p:xfrm>
        <a:graphic>
          <a:graphicData uri="http://schemas.openxmlformats.org/drawingml/2006/table">
            <a:tbl>
              <a:tblPr firstRow="0" bandRow="0"/>
              <a:tblGrid>
                <a:gridCol w="2425905"/>
                <a:gridCol w="1330335"/>
                <a:gridCol w="704295"/>
                <a:gridCol w="782550"/>
                <a:gridCol w="101731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계약금액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'26년 M15X Ph4 차세대 제조 시스템 _FAB MOS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2026.03.01 ~ 2026.06.30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【방법론】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/ </a:t>
                      </a: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'26년 M14 차세대 제조 시스템 확산_FABMOS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2026.03.16 ~ 2026.06.30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【방법론】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/ </a:t>
                      </a: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Trading AI Agent 개발 및 ML/DL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2026.04.08 ~ 2026.06.30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【방법론】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/ </a:t>
                      </a: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'26년 용인 Y1(M17) 제조 DT 시스템 Ph1_FAB MOS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2026.05.01 ~ 2026.06.30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【방법론】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/ </a:t>
                      </a: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SK가스 26년 Trading AI 사업(PP)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2026.07.01 ~ 2026.07.24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【방법론】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/ </a:t>
                      </a: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【추가 구축 · 개발 실적】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【기간】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【금액】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【발주처】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【방법론】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/ </a:t>
                      </a: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6514847"/>
          <a:ext cx="6260400" cy="2468808"/>
        </p:xfrm>
        <a:graphic>
          <a:graphicData uri="http://schemas.openxmlformats.org/drawingml/2006/table">
            <a:tbl>
              <a:tblPr firstRow="0" bandRow="0"/>
              <a:tblGrid>
                <a:gridCol w="62604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[별지 4호] 작성 기준 (RFP)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연도순 기재, 제안과제와 유사하거나 동일한 업무영역 · 사업형태만 기재, 수행 중 사업은 실적 인정 불가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하도급은 발주처 승인분만 작성 (비고란에 원도급회사), 공동도급은 제안사 지분만 기재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사업별 사용 개발방법론을 비고에 기재, 실적증명첨부서류의 쪽을 비고란에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한국소프트웨어산업협회 발급 이행실적확인서 가능한 활용, 확인 불가 실적은 인정하지 않음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수행실적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수행실적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1.3.1 실적별 증빙 서류 목록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1.3 증빙 서류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(실적마다 증빙 연결) 민간 발주 실적은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발주자 발급 수행실적증명서 + 계약서 + 세금계산서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실적 순서대로 첨부하고, 첨부 쪽을 총괄표 · [별지 4호] 비고란과 일치시킴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398" cy="4743845"/>
        </p:xfrm>
        <a:graphic>
          <a:graphicData uri="http://schemas.openxmlformats.org/drawingml/2006/table">
            <a:tbl>
              <a:tblPr firstRow="0" bandRow="0"/>
              <a:tblGrid>
                <a:gridCol w="469529"/>
                <a:gridCol w="2504160"/>
                <a:gridCol w="939059"/>
                <a:gridCol w="704295"/>
                <a:gridCol w="782550"/>
                <a:gridCol w="860805"/>
              </a:tblGrid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번호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수행실적증명서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세금계산서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첨부 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M15X Ph4 차세대 제조 시스템 FAB MOS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【발급일】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【○】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【○】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M14 차세대 제조 시스템 확산 FABMOS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【발급일】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【○】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【○】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Trading AI Agent 개발 및 ML/DL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【발급일】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【○】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【○】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용인 Y1(M17) 제조 DT 시스템 Ph1 FAB MOS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【발급일】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【○】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【○】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SK가스 26년 Trading AI 사업(PP)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【발급일】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【○】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【○】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【추가 실적】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【발급일】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【○】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【○】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16800" y="7209846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800" y="7209846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증명서 발급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7469046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에스케이㈜ 실적증명서 신청 (발급 2~3일 소요) </a:t>
            </a:r>
            <a:r>
              <a:rPr sz="12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【신청일 · 수령일】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33600" y="7209846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33600" y="7209846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기재값 일치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9600" y="7469046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사업명 · 기간 · 금액을 증명서 · 계약서 · 세금계산서와 같게 기재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50400" y="7209846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50400" y="7209846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서식 차이 보완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86400" y="7469046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발주자 증명서 양식이 RFP 양식과 다르면 계약서 · 세금계산서로 완료 · 금액 증빙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0800" y="8649846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증빙 원본 사본은 이 쪽 다음부터 실적 번호 순서로 첨부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【스캔 이미지 삽입】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맑은 고딕" panose="020F0302020204030204"/>
        <a:ea typeface="맑은 고딕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맑은 고딕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 smtClean="0"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KoPubWorld돋움체 Medium" panose="00000600000000000000" pitchFamily="2" charset="-127"/>
            <a:ea typeface="KoPubWorld돋움체 Medium" panose="00000600000000000000" pitchFamily="2" charset="-127"/>
            <a:cs typeface="KoPubWorld돋움체 Medium" panose="000006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D30EBE9304C2346AD8EC6952A85F23C" ma:contentTypeVersion="16" ma:contentTypeDescription="새 문서를 만듭니다." ma:contentTypeScope="" ma:versionID="0beda8d242283ca8ad5cd5bb1aa1bc86">
  <xsd:schema xmlns:xsd="http://www.w3.org/2001/XMLSchema" xmlns:xs="http://www.w3.org/2001/XMLSchema" xmlns:p="http://schemas.microsoft.com/office/2006/metadata/properties" xmlns:ns2="e7514280-9163-4412-ad0a-e8ade9193bee" xmlns:ns3="296b340d-c22f-4484-96dd-ad8bc868af40" targetNamespace="http://schemas.microsoft.com/office/2006/metadata/properties" ma:root="true" ma:fieldsID="c503c7f92b65afe15150ee6451e3405f" ns2:_="" ns3:_="">
    <xsd:import namespace="e7514280-9163-4412-ad0a-e8ade9193bee"/>
    <xsd:import namespace="296b340d-c22f-4484-96dd-ad8bc868af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514280-9163-4412-ad0a-e8ade9193b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dbb9d562-bd20-43bc-a33e-5cbb7cafe3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b340d-c22f-4484-96dd-ad8bc868af4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9e01bde-2108-4b34-9411-c6bd49ed7aa3}" ma:internalName="TaxCatchAll" ma:showField="CatchAllData" ma:web="296b340d-c22f-4484-96dd-ad8bc868af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514280-9163-4412-ad0a-e8ade9193bee">
      <Terms xmlns="http://schemas.microsoft.com/office/infopath/2007/PartnerControls"/>
    </lcf76f155ced4ddcb4097134ff3c332f>
    <TaxCatchAll xmlns="296b340d-c22f-4484-96dd-ad8bc868af4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62CDAD-107A-43D7-A7FF-44C6CD012359}">
  <ds:schemaRefs>
    <ds:schemaRef ds:uri="296b340d-c22f-4484-96dd-ad8bc868af40"/>
    <ds:schemaRef ds:uri="e7514280-9163-4412-ad0a-e8ade9193be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756E700-2809-459B-84AD-EC3318970829}">
  <ds:schemaRefs>
    <ds:schemaRef ds:uri="296b340d-c22f-4484-96dd-ad8bc868af40"/>
    <ds:schemaRef ds:uri="e7514280-9163-4412-ad0a-e8ade9193b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BF8794B-BC40-4BF3-B2D9-ECCD52D4CB8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21f85bf-30cf-4a3f-b20f-fc38a03d9031}" enabled="0" method="" siteId="{c21f85bf-30cf-4a3f-b20f-fc38a03d903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5876</TotalTime>
  <Words>54759</Words>
  <Application>Microsoft Office PowerPoint</Application>
  <PresentationFormat>A4 용지(210x297mm)</PresentationFormat>
  <Paragraphs>8851</Paragraphs>
  <Slides>220</Slides>
  <Notes>137</Notes>
  <HiddenSlides>0</HiddenSlides>
  <MMClips>0</MMClips>
  <ScaleCrop>false</ScaleCrop>
  <HeadingPairs>
    <vt:vector size="6" baseType="variant">
      <vt:variant>
        <vt:lpstr>사용한 글꼴</vt:lpstr>
      </vt:variant>
      <vt:variant>
        <vt:i4>22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220</vt:i4>
      </vt:variant>
    </vt:vector>
  </HeadingPairs>
  <TitlesOfParts>
    <vt:vector size="243" baseType="lpstr">
      <vt:lpstr>a옛날사진관5</vt:lpstr>
      <vt:lpstr>G마켓 산스 TTF Bold</vt:lpstr>
      <vt:lpstr>G마켓 산스 TTF Medium</vt:lpstr>
      <vt:lpstr>KoPubWorld돋움체 Bold</vt:lpstr>
      <vt:lpstr>KoPubWorld돋움체 Medium</vt:lpstr>
      <vt:lpstr>KoPubWorld바탕체 Light</vt:lpstr>
      <vt:lpstr>KoPub돋움체_Pro Medium</vt:lpstr>
      <vt:lpstr>KoPub바탕체 Bold</vt:lpstr>
      <vt:lpstr>Pretendard</vt:lpstr>
      <vt:lpstr>경기천년제목 Bold</vt:lpstr>
      <vt:lpstr>나눔스퀘어</vt:lpstr>
      <vt:lpstr>나눔스퀘어 Bold</vt:lpstr>
      <vt:lpstr>나눔스퀘어_ac</vt:lpstr>
      <vt:lpstr>나눔스퀘어_ac ExtraBold</vt:lpstr>
      <vt:lpstr>맑은 고딕</vt:lpstr>
      <vt:lpstr>맑은 고딕</vt:lpstr>
      <vt:lpstr>함초롬바탕</vt:lpstr>
      <vt:lpstr>Aldhabi</vt:lpstr>
      <vt:lpstr>Arial</vt:lpstr>
      <vt:lpstr>Calibri</vt:lpstr>
      <vt:lpstr>Calibri Light</vt:lpstr>
      <vt:lpstr>Wingdings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황보정운</dc:creator>
  <cp:lastModifiedBy>황보정운</cp:lastModifiedBy>
  <cp:revision>239</cp:revision>
  <cp:lastPrinted>2026-06-25T07:15:15Z</cp:lastPrinted>
  <dcterms:created xsi:type="dcterms:W3CDTF">2021-09-24T12:12:26Z</dcterms:created>
  <dcterms:modified xsi:type="dcterms:W3CDTF">2026-07-27T02:17:50Z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0x0101009D30EBE9304C2346AD8EC6952A85F23C</vt:lpwstr>
  </property>
  <property fmtid="{D5CDD505-2E9C-101B-9397-08002B2CF9AE}" pid="3" name="MediaServiceImageTags">
    <vt:lpwstr/>
  </property>
</Properties>
</file>