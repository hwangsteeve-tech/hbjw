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835999"/>
            <a:ext cx="9000000" cy="36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r>
              <a:rPr sz="1300" b="0">
                <a:solidFill>
                  <a:srgbClr val="8C8C8C"/>
                </a:solidFill>
                <a:latin typeface="맑은 고딕"/>
                <a:ea typeface="맑은 고딕"/>
                <a:cs typeface="맑은 고딕"/>
              </a:rPr>
              <a:t>제안 발표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000" y="2160000"/>
            <a:ext cx="1080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디지털노동위원회 구축 2차 사업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2970000"/>
            <a:ext cx="4798800" cy="432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18800" y="2970000"/>
            <a:ext cx="309600" cy="43200"/>
          </a:xfrm>
          <a:prstGeom prst="rect">
            <a:avLst/>
          </a:prstGeom>
          <a:solidFill>
            <a:srgbClr val="0B1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28400" y="2970000"/>
            <a:ext cx="2631600" cy="43200"/>
          </a:xfrm>
          <a:prstGeom prst="rect">
            <a:avLst/>
          </a:prstGeom>
          <a:solidFill>
            <a:srgbClr val="F6C7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3096000"/>
            <a:ext cx="72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600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510000"/>
            <a:ext cx="7740000" cy="108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000" y="3708000"/>
            <a:ext cx="7920000" cy="10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제안사: 주식회사 에이치나인</a:t>
            </a:r>
          </a:p>
          <a:p>
            <a:pPr algn="l" marL="180000" indent="-1620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Font typeface="Arial"/>
              <a:buChar char="▪"/>
            </a:pPr>
            <a:r>
              <a:rPr sz="138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발주기관: 중앙노동위원회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0000" y="5184000"/>
            <a:ext cx="180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1"/>
                </a:solidFill>
                <a:latin typeface="맑은 고딕"/>
                <a:ea typeface="맑은 고딕"/>
                <a:cs typeface="맑은 고딕"/>
              </a:rPr>
              <a:t>HNINE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0000" y="4680000"/>
            <a:ext cx="5400000" cy="36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0000" y="270000"/>
            <a:ext cx="43200" cy="21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0000" y="216000"/>
            <a:ext cx="5400000" cy="32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평가항목 조견표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0000" y="612000"/>
          <a:ext cx="11473200" cy="5922000"/>
        </p:xfrm>
        <a:graphic>
          <a:graphicData uri="http://schemas.openxmlformats.org/drawingml/2006/table">
            <a:tbl>
              <a:tblPr firstRow="0" bandRow="0"/>
              <a:tblGrid>
                <a:gridCol w="1224000"/>
                <a:gridCol w="1872000"/>
                <a:gridCol w="5832000"/>
                <a:gridCol w="720000"/>
                <a:gridCol w="1825200"/>
              </a:tblGrid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평가기준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35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해당 페이지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2467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정량평가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경영상태 5 · 수행실적 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전략 및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사업이해도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한계, 노사마루 강화 · AI 고도화 목표 이해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5~8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추진전략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통합 추진, 1차 결과 활용 · 30% 개선 · 사용자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7, 9~11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· Graph DB · 초안 고도화 · 연계 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8, 14, 16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적용 여부 · 예상 문제 · 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방법론 · 적용 경험 · 단계별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30~31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시스템장비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확장 없이 현행 자원 활용 ·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11, 13, 25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 구체성 · 품질개선, 노사마루 기능개선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14~18, 20~21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접근통제 · 정보유출 방지, 별도 취약점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전환 · 검증 · 오류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21, 24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 충족 구현 · 테스트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3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및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성능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응답속도 30% 개선, 대용량 첨부, 자체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11, 25~27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단계별 품질 점검 ·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인터페이스 요구사항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UI 분석 · 설계 · 테스트,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18, 20, 28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관리방법론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· 위험 · 보안 · 형상 · 보고 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10, 32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수행기간 · 세부일정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수행조직 및 인력구성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조직 · 역할, PM 주사업자 소속 총괄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30~31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안전보건관리계획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row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교육훈련 · 하자보수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교육 방법 · 내용 · 일정, 하자보수 계획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 · 하자보수 절차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시험운영 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/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품질보증 방안 · 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750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7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24000"/>
            <a:ext cx="7200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000" b="0">
                <a:solidFill>
                  <a:srgbClr val="0B3AA4"/>
                </a:solidFill>
                <a:latin typeface="Arial Black"/>
                <a:ea typeface="Arial Black"/>
                <a:cs typeface="Arial Black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60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4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6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8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4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8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0059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059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4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48059" y="2015999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2059" y="1800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4060" y="1673999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6060" y="1925999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8059" y="2196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6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04059" y="4302000"/>
            <a:ext cx="3384000" cy="1800000"/>
          </a:xfrm>
          <a:prstGeom prst="rect">
            <a:avLst/>
          </a:prstGeom>
          <a:noFill/>
          <a:ln w="1587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059" y="4086000"/>
            <a:ext cx="9360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0059" y="3960000"/>
            <a:ext cx="576000" cy="57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0">
                <a:solidFill>
                  <a:srgbClr val="1E3A8A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2059" y="4212000"/>
            <a:ext cx="900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035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chapter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4059" y="4482000"/>
            <a:ext cx="3384000" cy="16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이해 및 추진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사업 이해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1차 한계와 2차 목표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1차 대비 2차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목표시스템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추진 전략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위험 대응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조건별 대응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1080000"/>
            <a:ext cx="11160000" cy="827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같은 GPU로 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더 빠르고 정확하게</a:t>
            </a:r>
            <a:r>
              <a:rPr sz="34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, 조사 · 판정 · 소송까지 이어지는 AI 노동위원회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944000"/>
            <a:ext cx="11160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 결과를 확장 — AI 기반 업무 구조화 · AI 성능 고도화 · 노사마루 강화 · 플랫폼 보안 (3개년 계획의 2단계)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중앙노동위원회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402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사업기간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402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계약 후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10개월(300일)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8059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사업금액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8059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11억 3,500만 원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(VAT 포함)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2090" y="4536000"/>
            <a:ext cx="2670030" cy="360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2090" y="4896000"/>
            <a:ext cx="2670030" cy="864000"/>
          </a:xfrm>
          <a:prstGeom prst="rect">
            <a:avLst/>
          </a:prstGeom>
          <a:solidFill>
            <a:srgbClr val="FFFFFF"/>
          </a:solidFill>
          <a:ln w="9525">
            <a:solidFill>
              <a:srgbClr val="1E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4대 추진과제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84개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1차 사업의 한계와 2차 사업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사업이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'AI를 쓸 수 있는 환경'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만들었다면, 2차 사업은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· 위원이 매일 쓰는 문서 · 통계 · 연계 업무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AI와 업무시스템이 함께 처리하는 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11개 문제를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요구사항과 1:1로 연결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하고, 3차 사업이 확장만 하도록 지식 · 연계 구조를 표준화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640199" cy="4716000"/>
        </p:xfrm>
        <a:graphic>
          <a:graphicData uri="http://schemas.openxmlformats.org/drawingml/2006/table">
            <a:tbl>
              <a:tblPr firstRow="0" bandRow="0"/>
              <a:tblGrid>
                <a:gridCol w="1106700"/>
                <a:gridCol w="2716445"/>
                <a:gridCol w="2817054"/>
              </a:tblGrid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 후 문제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개선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 쟁점 누락 · 무관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지식그래프 · 판정서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사진 · 표 · 스캔본 인식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품질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지연 · 첨부 7개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단축 · 10개 1GB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초안이 심판에만 한정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· 이행강제 · 고발 · 소송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품질 편차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 계획서 · 화해 ·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부재 · 통계 불일치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· 통계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95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정보보안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· 출력물 보안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모바일공무원증 · 워터마크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126199" y="1260000"/>
            <a:ext cx="35730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22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'24 ISP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50199" y="1324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3개년 계획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89200" y="12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'25~'27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26199" y="2106000"/>
            <a:ext cx="35730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22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0199" y="2170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AI 노동위원회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89200" y="2106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'25.7~'26.7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6199" y="2951999"/>
            <a:ext cx="35730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22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2차 (본 사업)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01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업무 구조화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6699" y="3016799"/>
            <a:ext cx="11025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성능 · 업무시스템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789200" y="2951999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10개월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26199" y="3798000"/>
            <a:ext cx="35730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622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50199" y="3862800"/>
            <a:ext cx="22590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확장 · 고도화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89200" y="379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후속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1차 대비 2차 — 같은 자원에서 4배 넘는 기능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· 기존 LLM은 그대로,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기능은 7개 → 29개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처리시간은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1차 실측 대비 30% 이상 단축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— 1차 산출물을 인수해 바로 개선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착수 2주 안에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소스 · 모델 · 프롬프트 · 평가셋 · 라이선스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를 인수 · 점검하고, 2차 성과로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3차 사업계획 · 제안요청서(CSR-001)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까지 작성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829919" cy="4715998"/>
        </p:xfrm>
        <a:graphic>
          <a:graphicData uri="http://schemas.openxmlformats.org/drawingml/2006/table">
            <a:tbl>
              <a:tblPr firstRow="0" bandRow="0"/>
              <a:tblGrid>
                <a:gridCol w="1300937"/>
                <a:gridCol w="2601874"/>
                <a:gridCol w="2927108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사업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사업 (본 사업)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규모 ·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15.33억 · 12개월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11.35억 · 10개월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80GB 7장 (국정자원 대전)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동일 환경 · 추가 H/W 없음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언어모델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27B 이상 온프레미스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모델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성능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응답 시작 3초 · 초안 5초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실측 대비 30% 이상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· 평가셋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RAG 평가셋 약 100건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29개 · 통합테스트 1,250건+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315920" y="1260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7919" y="1303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1차 산출물 인수 (착수 2주)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7919" y="1555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9919" y="1584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설계서 · 모델 · 서빙 환경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프롬프트 · 평가셋 · 성능 기록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상용SW 라이선스 범위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920" y="3663000"/>
            <a:ext cx="455328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7919" y="3706200"/>
            <a:ext cx="440928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책임 구분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7919" y="3958200"/>
            <a:ext cx="440928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9919" y="3987000"/>
            <a:ext cx="444528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인수 시점을 형상 기준선으로 등록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이전 결함은 1차 하자보수 · 이후는 당사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18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수행사 협조는 발주기관 경유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목표시스템 — 기존 자원 위에 AI 서비스 계층 확장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1차 GPU · 시스템을 그대로 쓰면서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 · 지식 · 생성 ·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계층으로 나누고, 노사마루와는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표준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연결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조사관은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노사마루 사건 화면 안에서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AI를 호출하고 결과를 사건정보와 함께 관리 — 새 시스템을 따로 익히지 않음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260000"/>
            <a:ext cx="9655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2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채널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(조사관)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468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위원노사마루 (위원)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56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온라인사건신청 (민원인)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4400" y="1324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AI 노동위원회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69200" y="1260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LDAP · 모바일공무원증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" y="2106000"/>
            <a:ext cx="96552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0000" y="21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업무 서비스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480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질의 · 문서분석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468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초안 (심판 · 조정 · 이행강제 · 고발 · 소송)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456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직권조사 · 화해 · 조정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44400" y="2170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검증 · 교정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69200" y="2106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SFR-018~028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000" y="2951999"/>
            <a:ext cx="96552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000" y="2951999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계층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480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지식그래프 (Graph DB)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468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 지식 위키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456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참조문서 · 임베딩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44400" y="3016799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69200" y="2951999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 · 023 · 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4000" y="3798000"/>
            <a:ext cx="96552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000" y="379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모델 · 전처리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480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LLM 서빙 (1차 GPU)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468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VLM 구조 분석 (배치)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456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STT 화자분리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44400" y="3862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69200" y="3798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SFR-020 · 021 · 027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000" y="4644000"/>
            <a:ext cx="96552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0000" y="464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 · 연계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480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사건처리 · 통계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468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온-나라 템플릿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456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노사누리 EAI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4400" y="4708800"/>
            <a:ext cx="2044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법제처 · 우정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069200" y="4644000"/>
            <a:ext cx="180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SFR-003~016 · SIR-003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4대 추진전략과 성과지표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기준선 측정 → 지식 기반 → 업무 확장 → 사용자 검증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순서로 위험을 먼저 줄이고, 결과는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같은 조건의 수치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0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0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① 기준선 먼저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착수 1개월 내 1차 응답시간 · 품질 측정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서비스별 시험셋 · 측정 조건 문서화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모든 개선은 기준선 대비 수치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89100" y="1260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1100" y="1303200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② 지식 기반 위에 초안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1100" y="1555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3100" y="1584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지식그래프 · 위키가 쟁점 · 근거 공급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무관 쟁점 · 누락 감소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3차 사업에서 그대로 확장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0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60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③ 업무 흐름 안에 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60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0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노사마루 화면에서 AI 호출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결과 · 승인 이력 사건별 저장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별도 학습 부담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89100" y="3915000"/>
            <a:ext cx="3275100" cy="2565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1100" y="3958199"/>
            <a:ext cx="31311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④ 사용자 검증 후 오픈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1100" y="4210200"/>
            <a:ext cx="31311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3100" y="4239000"/>
            <a:ext cx="3167100" cy="2205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단계별 검토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통합테스트 10회 이상 분할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649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의견수렴 결과 다음 단계 반영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6199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6199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30%↑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6199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처리시간 단축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51700" y="1260000"/>
            <a:ext cx="2317500" cy="79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51700" y="1314000"/>
            <a:ext cx="23175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0대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1700" y="1782000"/>
            <a:ext cx="2317500" cy="25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추가 H/W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126199" y="2160000"/>
          <a:ext cx="4742999" cy="4320000"/>
        </p:xfrm>
        <a:graphic>
          <a:graphicData uri="http://schemas.openxmlformats.org/drawingml/2006/table">
            <a:tbl>
              <a:tblPr firstRow="0" bandRow="0"/>
              <a:tblGrid>
                <a:gridCol w="2439257"/>
                <a:gridCol w="2303742"/>
              </a:tblGrid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성과지표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첨부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누락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응답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100명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사용률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80% 미만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위험요소와 대응 — 착수 전에 정의한 3대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H/W 증설 없는 성능 개선 · 외부 기관 연계 지연 · 생성 품질 기준 합의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3대 위험으로 보고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단계부터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대응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6829918" cy="5219997"/>
        </p:xfrm>
        <a:graphic>
          <a:graphicData uri="http://schemas.openxmlformats.org/drawingml/2006/table">
            <a:tbl>
              <a:tblPr firstRow="0" bandRow="0"/>
              <a:tblGrid>
                <a:gridCol w="1842994"/>
                <a:gridCol w="4011222"/>
                <a:gridCol w="975702"/>
              </a:tblGrid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위험요소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H/W 증설 없이 30% 단축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서빙 최적화 · 캐시 · 비동기 전처리 · VLM 배치 분리, 월 단위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· 온라인사건신청 연계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 규격 협의, 모의 연계로 선개발, 지연 시 즉시 보고 · 범위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6133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품질 목표 미합의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SFR별 평가항목 · 방법 · 목표를 설계 단계에 확정, 평가셋 사전 구성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M2~M3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범위 확대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150종 이내 전수 진단 후 「통계 구축 대상 목록」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M1~M2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7866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사건자료 유출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비식별 데이터만 학습 · 색인, 외부 반출 금지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 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92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92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912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주간 · 이슈대장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33453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74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0374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694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영향 · 가능성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22359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9156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9156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476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710180" y="155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879380" y="1260000"/>
            <a:ext cx="989819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879380" y="1260000"/>
            <a:ext cx="989819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2580" y="1602000"/>
            <a:ext cx="90342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발견 당일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920" y="2172340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· 성능 위험은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발견 당일 구축전담반에 보고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하고, 과업 변경은 과업심의위원회 절차로 협의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미확정 조건별 대응 — 어떤 답이 나와도 목표 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Ⅰ. 사업 이해 및 추진 전략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세대 · 언어모델 권한 · 측정 조건 · 범위 · 작업장소를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경우별로 미리 설계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착수 2주 안에 서면 확정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 수행계획서에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4000" y="1260000"/>
          <a:ext cx="5691598" cy="5220000"/>
        </p:xfrm>
        <a:graphic>
          <a:graphicData uri="http://schemas.openxmlformats.org/drawingml/2006/table">
            <a:tbl>
              <a:tblPr firstRow="0" bandRow="0"/>
              <a:tblGrid>
                <a:gridCol w="1219628"/>
                <a:gridCol w="1524535"/>
                <a:gridCol w="2947435"/>
              </a:tblGrid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A100급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양자화 · 서빙 엔진 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세대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H100급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캐시 · 스트리밍 · 문서분할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경량화 · 야간 배치 · 동시 생성 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가능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모델 추가 학습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0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권한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튜닝 제한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· 검색 · 서빙 개선 + 병행안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177600" y="1260000"/>
          <a:ext cx="5691598" cy="4530108"/>
        </p:xfrm>
        <a:graphic>
          <a:graphicData uri="http://schemas.openxmlformats.org/drawingml/2006/table">
            <a:tbl>
              <a:tblPr firstRow="0" bandRow="0"/>
              <a:tblGrid>
                <a:gridCol w="1219628"/>
                <a:gridCol w="1524535"/>
                <a:gridCol w="2947435"/>
              </a:tblGrid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30%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동시 100명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비동기 · 대기열 · 분리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제한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컨텍스트 한도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· 요약 · 근거 추적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비민감 업무 한정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작업장소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원격지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 작업장 + 원격지 보안대책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501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1차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일부 · 지연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 초기 분석 기간 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확정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착수보고회 전 서면 확인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→ 성능 목표 · 일정 · 작업장소에 그대로 반영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노동위원회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자원 구성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지식 플랫폼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직권조사 · 판정서 검증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전처리 · 모델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초안 확대 · 업무지원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대국민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현행 자원 활용 — 실시간과 배치를 나눠 GPU 경합 제거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GPU 80GB 7장 배치를 유지하고 신규 기능을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실시간 · 배치 · CPU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나눠 얹어 GPU 경합을 없애고, 보유 S/W 20종을 활용해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추가 구매 없이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GPU · 서버 사양은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보안서약 후 현장 열람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확인해 사업수행계획서에 확정 — 현행 자원 범위 안에서 구성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6209016" cy="4715998"/>
        </p:xfrm>
        <a:graphic>
          <a:graphicData uri="http://schemas.openxmlformats.org/drawingml/2006/table">
            <a:tbl>
              <a:tblPr firstRow="0" bandRow="0"/>
              <a:tblGrid>
                <a:gridCol w="1712832"/>
                <a:gridCol w="1712832"/>
                <a:gridCol w="2783352"/>
              </a:tblGrid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서버 (80GB)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2차 추가 배치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LLM × 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질의 · 분석 · 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고도화 모델 · 신규 초안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임베딩 ·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위키 임베딩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STT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화자분리 고도화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업무망 OCR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인식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구조 분석 (야간 배치)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인터넷망 LLM · RAG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대국민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사건신청 · 조회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37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CPU · 메모리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Graph DB 지식그래프 (GPU 미사용)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5018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7018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7018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9018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OCR · STT · 비식별화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PDF 변환 · 뷰어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VLM · 화자분리 기반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7109" y="1260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9109" y="1303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검색 · 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9109" y="1555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1109" y="1584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검색엔진 · 데이터 연동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시각화 · 리포팅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하이브리드 검색 · 통계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5018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7018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7018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49018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DB암호화 · 출력물 보안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개인정보 이력 · 웹필터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마스킹 · 워터마크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7109" y="3663000"/>
            <a:ext cx="2542090" cy="231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99109" y="3706200"/>
            <a:ext cx="239809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99109" y="3958200"/>
            <a:ext cx="239809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109" y="3987000"/>
            <a:ext cx="2434090" cy="1953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웹기안기 · 한컴 변환기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전자서명 · 위변조방지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363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→ 초안 편집 · HWP 변환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지식 플랫폼 — 지식그래프 · 판정서 위키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SFR-017, SFR-029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판정서 · 조사보고서에서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사건유형 → 쟁점 → 판단기준 → 법령 · 판례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추출해, 초안 생성에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사건별 필수 쟁점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공급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21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사건유형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352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신청취지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22400" y="1486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판정결과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5600" y="1422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000" y="2268000"/>
            <a:ext cx="4521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쟁점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480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주요쟁점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352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당사자 주장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2400" y="2332800"/>
            <a:ext cx="10331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사실관계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5600" y="2268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조사보고서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" y="3114000"/>
            <a:ext cx="4521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480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판단기준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78800" y="3178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 이유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5600" y="3114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판정서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" y="3960000"/>
            <a:ext cx="4521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480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조문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78800" y="4024800"/>
            <a:ext cx="1576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판례 · 판정례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5600" y="3960000"/>
            <a:ext cx="1080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법령 · 판례 연계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4000" y="4860000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징계해고 사건이면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징계 사유 · 양정 · 절차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를 필수 쟁점으로 먼저 제시 — 무관 쟁점 생성 감소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177600" y="1422000"/>
          <a:ext cx="5691598" cy="5058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지식 위키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요약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200자 이내 (개요 → 쟁점 → 결과), 검토 ·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쟁점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분류체계 자동 분류, 관리자 수정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 연동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인용 조항 인식 · 원문 링크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유사 추천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최대 5건 · 유사도 · 공통 쟁점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갱신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신규 판정서 → 비식별 → 위키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직권조사 계획서 · 판정서 정보 · 인용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SFR-018, SFR-019, SFR-013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사건 초기 자료로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직권조사 필요성 · 방법 · 필요 자료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제안하고, 판정서 발송 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기초정보 · 법령 · 판례 인용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원천과 대조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65200"/>
            <a:ext cx="36000" cy="180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22000"/>
            <a:ext cx="5619600" cy="27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8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직권조사 계획서 (SFR-018)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0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40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초기 자료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2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이유서 · 답변서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6272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964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7964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396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사유 제시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0996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688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688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방법 제안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1999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자료 · 현장 · 출석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572000" y="2094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41200" y="1800000"/>
            <a:ext cx="1274400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41200" y="1800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4400" y="2142000"/>
            <a:ext cx="1188000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제출 · 미제출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24000" y="2712340"/>
          <a:ext cx="5691600" cy="3767658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계획서 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필요성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사건유형 · 쟁점 · 제출자료 → 결과와 사유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자료제출 · 현장 · 출석 · 관계기관 · 전문기관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제출 자료는 기록 위치 연결, 미제출은 확보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SFR-025 성립 가능성 · 유사 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794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양식 ·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발주기관 표준양식, 50건 이상 시험사례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판정서 검증 (SFR-019)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대조 ·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기초정보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사건부와 항목별 대조, 두 값 함께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국가법령정보 연계 — 조 · 항 · 호 · 원문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법원명 · 선고일 · 사건번호 · 인용 문구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조회 불가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아닌 '검증 불가'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위원 화면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'검증 및 교정' 버튼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맞춤법 · 인용 검증 결과 파일 즉시 수신 (SFR-013)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전처리 · 언어모델 고도화 — 같은 GPU에서 더 정확하게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SFR-020, SFR-021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OCR · 파서 결과 진단 + VLM 구조 분석 통합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입력 품질을 높이고, 동일 GPU에서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시간순 · 당사자별 경위와 판단 논거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까지 개선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전처리 (SFR-020)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진단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조사보고서 약 10만 · 판정서 약 5.7만 건 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미흡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오인식 · 깨진 문자 · 표 구조 손실 분류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 · 셀 병합 · 이미지 · 페이지 번호 보존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OCR · VLM 비교 통합 → 전처리 재생성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고도화 (SFR-021)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사실관계 구조화 → 시간순 · 당사자별 경위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구간 분할 추출 → 통합, 누락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정확도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검색 · 재순위 · 그래프 탐색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노동위원회 문장 형식 ·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새 모델은 같은 평가셋에서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 · 응답시간 모두 1차 이상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일 때만 적용, 즉시 롤백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문서초안 확대 · 소송 · 화해 · 조정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SFR-022, SFR-028, SFR-025, SFR-026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심판에 한정된 초안을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· 이행강제금 · 고발 · 소송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넓히고, 과거 사례로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화해 · 조정 성립을 돕는 참고지표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제공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4301995"/>
        </p:xfrm>
        <a:graphic>
          <a:graphicData uri="http://schemas.openxmlformats.org/drawingml/2006/table">
            <a:tbl>
              <a:tblPr firstRow="0" bandRow="0"/>
              <a:tblGrid>
                <a:gridCol w="1974636"/>
                <a:gridCol w="3716963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 항목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 조사보고서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교섭대표노조 · 신청사항 · 교섭경위 · 경영자료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산출금액 (SFR-005 연계)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고발 결정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구제명령 · 이행경위 · 관련 법령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소송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답변서 · 준비서면 · 항소이유서, 패소 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3240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0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0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초안 업무 확대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72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72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필수 항목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72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누락 자동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90400" y="5832000"/>
            <a:ext cx="18252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0400" y="5885999"/>
            <a:ext cx="18252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연결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0400" y="6353999"/>
            <a:ext cx="18252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문장별 원문 위치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76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96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화해 (SFR-025)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96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16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유형 · 직종 · 근속 · 해고 사유로 유사사례 검색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성립 가능성 예측 (참고지표)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임금 · 위로금 범위 · 합의조건 통계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 단계별 권고 적합 시점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화해조서 초안 · 불성립 사유 축적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68400" y="1422000"/>
            <a:ext cx="2800800" cy="45690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04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조정 (SFR-026)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04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2400" y="1746000"/>
            <a:ext cx="2692800" cy="4209054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조정신청서 · 쟁의자료 분석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노사 주장 · 쟁점 비교 정리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유사 조정 성립사례 · 합의조건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쟁점별 권고안 포함 조정안 초안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1800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특별 · 긴급조정 체크리스트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예측 결과는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근거 사례와 함께 참고지표로만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제공 — 판단은 조사관이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음성 분석 · 참조문서 관리 · 대국민 AI 사건신청 ·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Ⅱ. AI 노동위원회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SFR-027, SFR-023, SFR-024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심문 음성을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화자별 · 타임스탬프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판정서에 반영하고, 참조문서는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무중단 자동 반영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민원인은 로그인 후 본인 사건을 자연어로 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" y="1465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음성 분석 (SFR-027)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717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000" y="1746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기존 인식 · 화자분리 품질 진단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다수 화자 분리 · 불명확 구간 표시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신청인 · 피신청인별 진술을 판정서에 반영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타임스탬프로 원본 즉시 재생 · 화자명 수정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3996000"/>
            <a:ext cx="5174181" cy="24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6000" y="4039200"/>
            <a:ext cx="5030181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참조문서 (SFR-023)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6000" y="4291200"/>
            <a:ext cx="5030181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8000" y="4320000"/>
            <a:ext cx="5066181" cy="2124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매뉴얼 · 지침 화면 등록 · 수정 · 삭제 · 이력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메타데이터 추출 → 전처리 · 임베딩 자동 갱신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새 색인 전환으로 서비스 무중단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884"/>
              </a:spcAft>
              <a:buFont typeface="Segoe UI Symbol"/>
              <a:buChar char="✓"/>
            </a:pPr>
            <a:r>
              <a:rPr sz="14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반영 직후 시험 질의로 즉시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81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0181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03381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대국민 AI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2736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61936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1936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의도 판별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5136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일반 · 신청 · 조회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9449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863690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863690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06890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필요 시 로그인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296245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465445" y="1422000"/>
            <a:ext cx="1403754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465445" y="1422000"/>
            <a:ext cx="1403754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08645" y="1764000"/>
            <a:ext cx="1317354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질의 유지 · 이어서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0181" y="2334340"/>
          <a:ext cx="6209017" cy="4145655"/>
        </p:xfrm>
        <a:graphic>
          <a:graphicData uri="http://schemas.openxmlformats.org/drawingml/2006/table">
            <a:tbl>
              <a:tblPr firstRow="0" bandRow="0"/>
              <a:tblGrid>
                <a:gridCol w="1862705"/>
                <a:gridCol w="4346312"/>
              </a:tblGrid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 (SFR-024)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 (기존과 동일)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사건신청 지원 · 본인 사건 진행 · 결과 · 일정 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지원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요건 · 제출자료 · 유의사항, 누락 안내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291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본인 권한 사건만 조회, 질의 기록 마스킹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노사마루 업무시스템 고도화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사건처리 · 연계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통계 · 편의 기능 · 온라인 신청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사건처리 자동화 · 유관기관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SFR-003, SFR-004, SFR-005, SFR-006, SFR-007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접수 단계 중복 검증 · 전자송달 대시보드 · 이행강제금 자동 계산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과 노사누리 EAI 연계로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조사관 수작업과 확인 누락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없앰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599" cy="5058000"/>
        </p:xfrm>
        <a:graphic>
          <a:graphicData uri="http://schemas.openxmlformats.org/drawingml/2006/table">
            <a:tbl>
              <a:tblPr firstRow="0" bandRow="0"/>
              <a:tblGrid>
                <a:gridCol w="1858481"/>
                <a:gridCol w="3833118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전자송달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 6단계 대시보드 · 미열람 알림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중복 · 유사사건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당사자 · 유형 · 접수일 조합 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사건명 · 직권조사 실적 · 이행강제금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조정사건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수신처 자동 지정 · 1년 신청 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2371500"/>
                <a:gridCol w="3320100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EAI (SFR-007)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활용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공인노무사 자격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대리인 자격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처리결과 통보 사건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규칙 제192조 통보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확정 구제 · 시정명령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이행 확보 후속 관리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노동조합 정보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신청 · 접수 · 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연계 성공 · 실패 · 오류사유 조회와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실패 건 재발송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관리자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통계 강화 · 업무 편의 · 전자결재 · 온라인 사건신청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Ⅲ. 노사마루 업무시스템 고도화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SFR-008, SFR-009, SFR-010, SFR-014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약 150종을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전수 진단해 표준 DB로 재구축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1차 의견수렴에서 미뤄진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편의 기능 · 신청 안내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모두 반영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000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150종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000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통계 재구축 (이내)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88285" y="1422000"/>
            <a:ext cx="2656285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8285" y="1476000"/>
            <a:ext cx="2656285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50종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8285" y="1944000"/>
            <a:ext cx="2656285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로데이터 조회 (이내)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24000" y="2250000"/>
          <a:ext cx="5420571" cy="4230000"/>
        </p:xfrm>
        <a:graphic>
          <a:graphicData uri="http://schemas.openxmlformats.org/drawingml/2006/table">
            <a:tbl>
              <a:tblPr firstRow="0" bandRow="0"/>
              <a:tblGrid>
                <a:gridCol w="1649739"/>
                <a:gridCol w="3770832"/>
              </a:tblGrid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통계 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수요 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인터뷰 · 헬프데스크 · 설문 · 워크숍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전수 진단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유지 · 통폐합 · 폐기 → 구축 목록 승인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DB 표준화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표준단어 · 용어 · 도메인 · 코드 일괄 적용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기관평가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화해 · 초심 유지 · 조정 성립률 · 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05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수치 클릭 → 원본 데이터 확인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906571" y="1422000"/>
          <a:ext cx="5962628" cy="5057996"/>
        </p:xfrm>
        <a:graphic>
          <a:graphicData uri="http://schemas.openxmlformats.org/drawingml/2006/table">
            <a:tbl>
              <a:tblPr firstRow="0" bandRow="0"/>
              <a:tblGrid>
                <a:gridCol w="1825294"/>
                <a:gridCol w="4137334"/>
              </a:tblGrid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9523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편의 기능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11차 표준산업분류 · 미입력 알림 · 공통 알림 · 모바일공무원증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전자결재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온-나라 템플릿 · 하드코딩 제거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기록 · 우편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사건별 메모 · e-그린 회수 · 재발송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12553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온라인 신청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튜토리얼 · 서류 안내 · 개인정보 탐지 · FAQ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보안 · 데이터 · 성능 ·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보안 · 취약점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데이터 · 제약사항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성능 30% 단축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대용량 · 동시 사용자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품질 · 테스트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연계 · UI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보안 — 사건자료는 업무망 안에서만, 감리와 별도 취약점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SER-001, SER-002, SER-003, SER-005, SFR-002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화면 · 출력물 · AI · 데이터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단계별 통제로 정보유출을 막고, 감리와 독립된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진단 → 조치 → 재진단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잔여 취약점 0건에서 개시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593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강화 인증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4800" y="1486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권한별 사건 접근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7600" y="1422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593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 · 출력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마스킹 · 캡처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14800" y="2332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워터마크 · 문서 보안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7600" y="2268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593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등급 판별 (C · S · 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178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외부 이동 금지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7600" y="3114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593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DB 암호화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4800" y="4024800"/>
            <a:ext cx="1612800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비식별화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7600" y="3960000"/>
            <a:ext cx="1007999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보안약점 필수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소스 · 웹 · AI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담당 · 기한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재진단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잔여 0건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6177600" y="2158970"/>
          <a:ext cx="5691599" cy="4321028"/>
        </p:xfrm>
        <a:graphic>
          <a:graphicData uri="http://schemas.openxmlformats.org/drawingml/2006/table">
            <a:tbl>
              <a:tblPr firstRow="0" bandRow="0"/>
              <a:tblGrid>
                <a:gridCol w="1816468"/>
                <a:gridCol w="3875131"/>
              </a:tblGrid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점검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소스코드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지침 별표3 보안약점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개시 전 웹 취약점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8025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지시문 주입 · 권한 밖 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데이터 · 제약사항 — 표준 · 검증 · 감리 · 접근성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DAR-003, DAR-004, DAR-005, COR-001, COR-002, COR-004, COR-005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DA · DBA가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표준사전 · 업무규칙(BR) 값 검증 · 오류 처리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맡고, 지침 · 감리 · 접근성 인증 · 표준프레임워크를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처음부터 일정에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포함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4031550"/>
              </a:tblGrid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개념 · 논리 · 물리 모델, 발생 규칙 정의서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행안부 공통표준 · 고용노동부 표준 용어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업무규칙 기반 값 검증 · 영향도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116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관리체계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준수율 · 현행화율 · 오류율 관리기준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7600" y="1422000"/>
          <a:ext cx="5691600" cy="4569050"/>
        </p:xfrm>
        <a:graphic>
          <a:graphicData uri="http://schemas.openxmlformats.org/drawingml/2006/table">
            <a:tbl>
              <a:tblPr firstRow="0" bandRow="0"/>
              <a:tblGrid>
                <a:gridCol w="1778625"/>
                <a:gridCol w="3912975"/>
              </a:tblGrid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제약사항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표준프레임워크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전자정부 기반 · 보안패치 · 범용 언어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· 종료 감리 공수 WBS 반영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웹 접근성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인증마크 획득 (비용 당사 부담)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381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지식재산권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공동소유 · 공개SW 라이선스 목록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프레임워크 업그레이드 시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영향도 분석 · 회귀 테스트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후 범위 협의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성능 — 1차 대비 평균 처리시간 30% 이상 단축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PER-001, PER-002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처리 구간별 병목을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비동기 전처리 · 검색 축소 · 서빙 최적화 · 스트리밍 · 배치 분리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제거하고,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동일 조건 시험셋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입증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기준값은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착수 1개월 안에 같은 조건으로 측정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해 확정하고, 매월 기준선 대비 결과를 보고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4000" y="1422000"/>
          <a:ext cx="6433982" cy="4554000"/>
        </p:xfrm>
        <a:graphic>
          <a:graphicData uri="http://schemas.openxmlformats.org/drawingml/2006/table">
            <a:tbl>
              <a:tblPr firstRow="0" bandRow="0"/>
              <a:tblGrid>
                <a:gridCol w="1668069"/>
                <a:gridCol w="4765913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처리 구간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최적화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전처리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업로드 시점 비동기 처리 · 결과 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 + 재순위화 → 입력 토큰 감소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모델 추론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연속 배치 · 접두 캐시 · 경량화 검토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스트리밍 — 첫 응답 즉시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GPU 경합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VLM · 색인 배치는 업무 외 시간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919982" y="1422000"/>
          <a:ext cx="4949216" cy="4554000"/>
        </p:xfrm>
        <a:graphic>
          <a:graphicData uri="http://schemas.openxmlformats.org/drawingml/2006/table">
            <a:tbl>
              <a:tblPr firstRow="0" bandRow="0"/>
              <a:tblGrid>
                <a:gridCol w="2403905"/>
                <a:gridCol w="2545311"/>
              </a:tblGrid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64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일반질의검색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 작성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× 0.7 이하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10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그 밖의 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3초 이내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대용량 첨부 · 동시 사용자 — 구간 누락 0건, 100명 동시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PER-003, PER-004, PER-005, TER-004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첨부를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1회 10개 · 1GB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늘리고 구간 처리 이력을 대조해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토큰 한계로 빠지는 내용이 없게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하며, 100명 동시에도 자원 80% 미만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00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분할 업로드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0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재개 · 비동기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436203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605403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5403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분할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8603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페이지 · 표 단위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17607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86807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86807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구간 추출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0007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사실 · 주장 · 근거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99010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68210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68210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통합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11410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시간순 · 당사자별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280414" y="1716170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49614" y="1422000"/>
            <a:ext cx="1083403" cy="80434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49614" y="1422000"/>
            <a:ext cx="1083403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누락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92814" y="1764000"/>
            <a:ext cx="997003" cy="44434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미처리 재처리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4000" y="2334340"/>
          <a:ext cx="6209016" cy="4145656"/>
        </p:xfrm>
        <a:graphic>
          <a:graphicData uri="http://schemas.openxmlformats.org/drawingml/2006/table">
            <a:tbl>
              <a:tblPr firstRow="0" bandRow="0"/>
              <a:tblGrid>
                <a:gridCol w="2029871"/>
                <a:gridCol w="1791062"/>
                <a:gridCol w="2388083"/>
              </a:tblGrid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현행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첨부 수 · 용량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7개 · 500MB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10개 · 1GB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400MB · 500쪽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3641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음성 파일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300MB 이상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6695018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5018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5018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동시 사용자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36109" y="1422000"/>
            <a:ext cx="2533090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36109" y="1476000"/>
            <a:ext cx="253309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80%↓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6109" y="1944000"/>
            <a:ext cx="2533090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CPU · 메모리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695018" y="2250000"/>
          <a:ext cx="5174181" cy="4230000"/>
        </p:xfrm>
        <a:graphic>
          <a:graphicData uri="http://schemas.openxmlformats.org/drawingml/2006/table">
            <a:tbl>
              <a:tblPr firstRow="0" bandRow="0"/>
              <a:tblGrid>
                <a:gridCol w="1724727"/>
                <a:gridCol w="3449454"/>
              </a:tblGrid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부하 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 · 50 · 100 · 120명 단계 측정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과부하 제어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대기열 · 동시 생성 제한 · 업무망 우선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자원 감시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70% 사전 경보 · 시험운영 상시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안정화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피크타임 점검 · 쿼리 · 캐시 튜닝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5. 품질 · 테스트 — 생성형 AI 자체 통합테스트 1,250건 이상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TER-001, TER-002, TER-003, TER-005, QUR-001, QUR-002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단계 종료마다 품질 점검표로 확인하고,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일반질의 1,000 · 문서분석 100 · 초안 100 · 직권조사 50건 이상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10회 이상 분할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해 시험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4368105"/>
        </p:xfrm>
        <a:graphic>
          <a:graphicData uri="http://schemas.openxmlformats.org/drawingml/2006/table">
            <a:tbl>
              <a:tblPr firstRow="0" bandRow="0"/>
              <a:tblGrid>
                <a:gridCol w="1660050"/>
                <a:gridCol w="1304325"/>
                <a:gridCol w="2727225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건수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일반질의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1,000+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 · 위원 · 대국민 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형식 · 분량 · 품질 다양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문서초안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유형별 체크리스트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직권조사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50+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필수조사사항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324000" y="5898109"/>
            <a:ext cx="569160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재테스트는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최초 시험 건수에 포함하지 않음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— 오류 원인 분석 후 동일 조건 재시험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7600" y="1422000"/>
          <a:ext cx="5691600" cy="4301995"/>
        </p:xfrm>
        <a:graphic>
          <a:graphicData uri="http://schemas.openxmlformats.org/drawingml/2006/table">
            <a:tbl>
              <a:tblPr firstRow="0" bandRow="0"/>
              <a:tblGrid>
                <a:gridCol w="1422900"/>
                <a:gridCol w="4268700"/>
              </a:tblGrid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품질 점검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 추적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준수 · 연계 규격 · 보안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코딩 표준 · 보안약점 · 단위테스트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039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인수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업무 3회 이상 · 요구사항별 판정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1776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76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76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7400" y="5832000"/>
            <a:ext cx="2791800" cy="6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7400" y="5885999"/>
            <a:ext cx="27918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84개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7400" y="6353999"/>
            <a:ext cx="2791800" cy="10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요구사항 판정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6. 연계 · 사용자 인터페이스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Ⅳ. 보안 · 데이터 · 성능 · 품질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SIR-001, SIR-002, SIR-003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기관별로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EAI · ESB · DB 복제 · API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중 최적 방식을 유지 · 적용하고, 조사관 · 위원 · 민원인 화면은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프로토타입 검토 → 사용성 테스트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확정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5691600" cy="5058000"/>
        </p:xfrm>
        <a:graphic>
          <a:graphicData uri="http://schemas.openxmlformats.org/drawingml/2006/table">
            <a:tbl>
              <a:tblPr firstRow="0" bandRow="0"/>
              <a:tblGrid>
                <a:gridCol w="2490075"/>
                <a:gridCol w="3201525"/>
              </a:tblGrid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대상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노사누리 (추가)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법제처 · 우정사업본부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ESB (행정정보공동이용)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고용노동부 과태료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EAI 직접연계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4개 시스템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 구축 DB 복제 (무중단)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43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노사마루 ↔ AI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REST API · 사건번호 기준 이력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76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76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08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인터뷰 ·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4807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00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500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932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53200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224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224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56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425599" y="1628485"/>
            <a:ext cx="140400" cy="216000"/>
          </a:xfrm>
          <a:prstGeom prst="rightArrow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594800" y="1422000"/>
            <a:ext cx="1274400" cy="628970"/>
          </a:xfrm>
          <a:prstGeom prst="roundRect">
            <a:avLst>
              <a:gd name="adj" fmla="val 6000"/>
            </a:avLst>
          </a:prstGeom>
          <a:solidFill>
            <a:srgbClr val="EEF3FB"/>
          </a:solidFill>
          <a:ln w="9525">
            <a:solidFill>
              <a:srgbClr val="AF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594800" y="1422000"/>
            <a:ext cx="1274400" cy="306000"/>
          </a:xfrm>
          <a:prstGeom prst="roundRect">
            <a:avLst>
              <a:gd name="adj" fmla="val 15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8000" y="1764000"/>
            <a:ext cx="1188000" cy="268970"/>
          </a:xfrm>
          <a:prstGeom prst="rect">
            <a:avLst/>
          </a:prstGeom>
          <a:noFill/>
        </p:spPr>
        <p:txBody>
          <a:bodyPr wrap="square" anchor="t" lIns="21600" rIns="21600" tIns="21600" bIns="21600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사용성 · 호환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7600" y="2158970"/>
          <a:ext cx="5691599" cy="4321026"/>
        </p:xfrm>
        <a:graphic>
          <a:graphicData uri="http://schemas.openxmlformats.org/drawingml/2006/table">
            <a:tbl>
              <a:tblPr firstRow="0" bandRow="0"/>
              <a:tblGrid>
                <a:gridCol w="1574272"/>
                <a:gridCol w="4117327"/>
              </a:tblGrid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사용자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화면 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조사관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사건 화면 내 AI 호출 · 미입력 하이라이트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 위젯 · 검증 및 교정 버튼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민원인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반응형 · 튜토리얼 · AI 사건조회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표준 UI/UX · 접근성 2.2 · 멀티 브라우저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17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연계 오류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유형 구분 · 자동 재시도 · 정합성 리포트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2000" y="1584000"/>
            <a:ext cx="5688000" cy="3456000"/>
          </a:xfrm>
          <a:prstGeom prst="rect">
            <a:avLst/>
          </a:prstGeom>
          <a:solidFill>
            <a:srgbClr val="0A1530">
              <a:alpha val="55000"/>
            </a:srgbClr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68000" y="1800000"/>
            <a:ext cx="864000" cy="93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4400" b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6000" y="1872000"/>
            <a:ext cx="4320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관리 및 지원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2000" y="2880000"/>
            <a:ext cx="4500000" cy="1980000"/>
          </a:xfrm>
          <a:prstGeom prst="rect">
            <a:avLst/>
          </a:prstGeom>
          <a:noFill/>
        </p:spPr>
        <p:txBody>
          <a:bodyPr wrap="square" anchor="t" lIns="18000" rIns="18000" tIns="18000" bIns="180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수행 역량 · 실적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일정 · 관리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지원 · 하자보수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1. 수행조직 · 개발방법론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PMR-001, PMR-002, PMR-007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주사업자 소속 PM이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AI 노동위원회와 노사마루를 함께 총괄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하고, 업무시스템은 산출물 중심 방법론 · AI는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평가셋 기반 2주 반복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으로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1422000"/>
            <a:ext cx="44496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00" y="1422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발주기관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480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구축전담반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42800" y="1486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구축지원반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3600" y="1422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검증 · 승인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" y="2268000"/>
            <a:ext cx="4449600" cy="792000"/>
          </a:xfrm>
          <a:prstGeom prst="rect">
            <a:avLst/>
          </a:prstGeom>
          <a:solidFill>
            <a:srgbClr val="245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000" y="2268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사업 총괄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80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사업PM </a:t>
            </a:r>
            <a:r>
              <a:rPr sz="1092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【성명】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42800" y="2332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PMO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63600" y="2268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단일 창구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000" y="3114000"/>
            <a:ext cx="4449600" cy="792000"/>
          </a:xfrm>
          <a:prstGeom prst="rect">
            <a:avLst/>
          </a:prstGeom>
          <a:solidFill>
            <a:srgbClr val="1F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000" y="3114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부문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480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전처리 · 모델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2800" y="3178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지식 · 초안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3600" y="3114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SFR-017~029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000" y="3960000"/>
            <a:ext cx="4449600" cy="792000"/>
          </a:xfrm>
          <a:prstGeom prst="rect">
            <a:avLst/>
          </a:prstGeom>
          <a:solidFill>
            <a:srgbClr val="2B8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업무시스템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480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노사마루 · 통계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42800" y="4024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연계 · 홈페이지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63600" y="3960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SFR-001~016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000" y="4806000"/>
            <a:ext cx="4449600" cy="792000"/>
          </a:xfrm>
          <a:prstGeom prst="rect">
            <a:avLst/>
          </a:prstGeom>
          <a:solidFill>
            <a:srgbClr val="1C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" y="4806000"/>
            <a:ext cx="1152000" cy="79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64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기반 · 품질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480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 · TA · AA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42800" y="4870800"/>
            <a:ext cx="1540799" cy="66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" rIns="21600" tIns="21600" bIns="216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1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보안 · 테스트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63600" y="4806000"/>
            <a:ext cx="1152000" cy="792000"/>
          </a:xfrm>
          <a:prstGeom prst="rect">
            <a:avLst/>
          </a:prstGeom>
          <a:solidFill>
            <a:srgbClr val="F4F7FC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36000" bIns="36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92" b="0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DAR · SER · TER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177600" y="1422000"/>
          <a:ext cx="5691600" cy="4569054"/>
        </p:xfrm>
        <a:graphic>
          <a:graphicData uri="http://schemas.openxmlformats.org/drawingml/2006/table">
            <a:tbl>
              <a:tblPr firstRow="0" bandRow="0"/>
              <a:tblGrid>
                <a:gridCol w="1185750"/>
                <a:gridCol w="4505850"/>
              </a:tblGrid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주요 산출물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사업수행계획서 (10일 이내) · 보안각서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요구사항정의서 · 성능 기준선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아키텍처 · 데이터 · 화면 · 연계 설계서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구현 ·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테스트 결과서 · AI 품질 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1509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추적표 · 과업대비표 · 매뉴얼 · 완료보고서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177600" y="6099054"/>
            <a:ext cx="5691600" cy="371811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평가셋 구성 → 개선 → 자동 측정 →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구축지원반 검토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→ 다음 주기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2. 수행 역량 — 최근 3년 AI · 정보시스템 구축 9건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Oval 6"/>
          <p:cNvSpPr/>
          <p:nvPr/>
        </p:nvSpPr>
        <p:spPr>
          <a:xfrm>
            <a:off x="360000" y="85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0800" y="85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00" y="72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생성형 AI Agent · 대규모 데이터 표준 아키텍처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구축을 최근 3년간 9건 완료 — 계약금액 합계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5,095백만원 (사업규모 대비 449%)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 산출물 인수 · 같은 자원에서 성능 개선 · 단계별 확산을 </a:t>
            </a: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실제 사업에서 반복해 온 조직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2차 사업을 수행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260000"/>
          <a:ext cx="7005044" cy="4715997"/>
        </p:xfrm>
        <a:graphic>
          <a:graphicData uri="http://schemas.openxmlformats.org/drawingml/2006/table">
            <a:tbl>
              <a:tblPr firstRow="0" bandRow="0"/>
              <a:tblGrid>
                <a:gridCol w="3885151"/>
                <a:gridCol w="2001441"/>
                <a:gridCol w="1118452"/>
              </a:tblGrid>
              <a:tr h="4287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사업명 (최근 계약일 순)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사업기간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금액 (백만원)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SK가스 26년 Trading AI 사업 (PP)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26.07.01~07.24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 용인 Y1(M17) 제조 DT Ph1 FAB MOS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26.05.01~06.30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Trading AI Agent 개발 및 ML/DL 분석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26.04.08~06.30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 M14 차세대 제조 시스템 확산 FAB MOS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26.03.16~06.30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 M15X Ph4 차세대 제조 시스템 FAB MOS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26.03.01~06.30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'26 표준 아키텍처 구축 Ph3 원가선투입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26.01.19~06.30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1,170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 표준 아키텍처 구축 Ph2 (차세대)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25.08.01~12.31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2,000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SKHy '25 차세대 표준 아키텍처 구축 Ph1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24.12.01~25.01.31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220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CELLO SQUARE 통합운영플랫폼 구축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24.04.02~12.31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1,445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872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합계 (9건)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5,095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491046" y="1260000"/>
            <a:ext cx="2135076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1046" y="1314000"/>
            <a:ext cx="2135076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9건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1046" y="1782000"/>
            <a:ext cx="2135076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AI · 정보시스템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4123" y="1260000"/>
            <a:ext cx="2135076" cy="7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4123" y="1314000"/>
            <a:ext cx="2135076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449%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4123" y="1782000"/>
            <a:ext cx="2135076" cy="18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사업규모 대비 실적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1046" y="2088000"/>
            <a:ext cx="4378153" cy="123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3046" y="2131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25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생성형 AI ·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3046" y="2383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5046" y="2412000"/>
            <a:ext cx="4270153" cy="87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Trading AI Agent · ML/DL 분석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SK가스 Trading AI (PP)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1046" y="3414000"/>
            <a:ext cx="4378153" cy="123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3046" y="3457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25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데이터 표준 아키텍처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63046" y="3709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5046" y="3738000"/>
            <a:ext cx="4270153" cy="87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SKHy 표준 아키텍처 Ph1~Ph3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제조 DT FAB MOS 3개 라인 확산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1046" y="4740000"/>
            <a:ext cx="4378153" cy="123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3046" y="4783200"/>
            <a:ext cx="4234153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425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대규모 플랫폼 구축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63046" y="5035200"/>
            <a:ext cx="4234153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5046" y="5064000"/>
            <a:ext cx="4270153" cy="876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CELLO SQUARE 통합운영플랫폼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448"/>
              </a:spcAft>
              <a:buFont typeface="Segoe UI Symbol"/>
              <a:buChar char="✓"/>
            </a:pPr>
            <a:r>
              <a:rPr sz="1325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물류 플랫폼 통합 구축 · 고도화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3. 10개월 일정 · 관리방법론 · 안전보건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251999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35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PMR-004, PMR-005, PMR-006, PMR-009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착수 · 중간 · 완료 보고회와 설계 · 종료 감리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를 일정에 고정하고, 주간 · 월간 회의와 이슈대장으로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발견 당일 보고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 체계를 운영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4000" y="1422000"/>
          <a:ext cx="6829918" cy="5058000"/>
        </p:xfrm>
        <a:graphic>
          <a:graphicData uri="http://schemas.openxmlformats.org/drawingml/2006/table">
            <a:tbl>
              <a:tblPr firstRow="0" bandRow="0"/>
              <a:tblGrid>
                <a:gridCol w="1620658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  <a:gridCol w="520926"/>
              </a:tblGrid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M2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M3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M4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M5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M6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M7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M8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M9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M10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착수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완료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분석 · 기준선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통합 · 성능 시험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시범운영 · 개통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225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2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종료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920" y="1422000"/>
          <a:ext cx="4553279" cy="4368105"/>
        </p:xfrm>
        <a:graphic>
          <a:graphicData uri="http://schemas.openxmlformats.org/drawingml/2006/table">
            <a:tbl>
              <a:tblPr firstRow="0" bandRow="0"/>
              <a:tblGrid>
                <a:gridCol w="1443722"/>
                <a:gridCol w="3109557"/>
              </a:tblGrid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관리 영역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일정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WBS 진척 · 주간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 · 이슈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이슈대장 · 당일 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소스 · 모델 설정 버전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73621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 · 월간 · 수시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7315920" y="5898109"/>
            <a:ext cx="4553280" cy="563622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9525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안전보건관리계획서 · 책임자 선임 · </a:t>
            </a:r>
            <a:r>
              <a:rPr sz="1207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[붙임 7] 자가평가표</a:t>
            </a:r>
            <a:r>
              <a:rPr sz="1207" b="1">
                <a:solidFill>
                  <a:srgbClr val="7F3F00"/>
                </a:solidFill>
                <a:latin typeface="맑은 고딕"/>
                <a:ea typeface="맑은 고딕"/>
                <a:cs typeface="맑은 고딕"/>
              </a:rPr>
              <a:t> 제출, 착수 · 월 1회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324000" y="0"/>
            <a:ext cx="864000" cy="576000"/>
          </a:xfrm>
          <a:prstGeom prst="parallelogram">
            <a:avLst>
              <a:gd name="adj" fmla="val 45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378000" y="0"/>
            <a:ext cx="180000" cy="576000"/>
          </a:xfrm>
          <a:prstGeom prst="parallelogram">
            <a:avLst>
              <a:gd name="adj" fmla="val 90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000" y="54000"/>
            <a:ext cx="8640000" cy="46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7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4. 품질보증 · 시험운영 · 교육 · 하자보수 · 기밀보안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2119" y="72000"/>
            <a:ext cx="3204000" cy="432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Ⅴ. 사업 관리 및 지원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119" y="648000"/>
            <a:ext cx="3851999" cy="360000"/>
          </a:xfrm>
          <a:prstGeom prst="roundRect">
            <a:avLst>
              <a:gd name="adj" fmla="val 20000"/>
            </a:avLst>
          </a:prstGeom>
          <a:solidFill>
            <a:srgbClr val="DCE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E3A8A"/>
                </a:solidFill>
                <a:latin typeface="맑은 고딕"/>
                <a:ea typeface="맑은 고딕"/>
                <a:cs typeface="맑은 고딕"/>
              </a:rPr>
              <a:t>PSR-001, PSR-002, PSR-003, TER-006, QUR-003, SER-004</a:t>
            </a:r>
          </a:p>
        </p:txBody>
      </p:sp>
      <p:sp>
        <p:nvSpPr>
          <p:cNvPr id="8" name="Oval 7"/>
          <p:cNvSpPr/>
          <p:nvPr/>
        </p:nvSpPr>
        <p:spPr>
          <a:xfrm>
            <a:off x="360000" y="1123200"/>
            <a:ext cx="108000" cy="108000"/>
          </a:xfrm>
          <a:prstGeom prst="ellipse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0800" y="1123200"/>
            <a:ext cx="108000" cy="108000"/>
          </a:xfrm>
          <a:prstGeom prst="ellipse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" y="990000"/>
            <a:ext cx="11221200" cy="378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</a:t>
            </a:r>
            <a:r>
              <a:rPr sz="1350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시범운영 → 개통 → 안정화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, 대상자별 교육 · 기술이전, </a:t>
            </a:r>
            <a:r>
              <a:rPr sz="1350" b="1">
                <a:solidFill>
                  <a:srgbClr val="D93025"/>
                </a:solidFill>
                <a:latin typeface="맑은 고딕"/>
                <a:ea typeface="맑은 고딕"/>
                <a:cs typeface="맑은 고딕"/>
              </a:rPr>
              <a:t>12개월 무상 하자보수 · 4시간 이내 조치</a:t>
            </a:r>
            <a:r>
              <a:rPr sz="135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로 사업 후에도 자체 운영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000" y="6066000"/>
            <a:ext cx="11545200" cy="413999"/>
          </a:xfrm>
          <a:prstGeom prst="rect">
            <a:avLst/>
          </a:prstGeom>
          <a:gradFill rotWithShape="1">
            <a:gsLst>
              <a:gs pos="0">
                <a:srgbClr val="1A3A9C"/>
              </a:gs>
              <a:gs pos="100000">
                <a:srgbClr val="1E4FD6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E699"/>
                </a:solidFill>
                <a:latin typeface="맑은 고딕"/>
                <a:ea typeface="맑은 고딕"/>
                <a:cs typeface="맑은 고딕"/>
              </a:rPr>
              <a:t>검증된 AI · 무중단 고도화 경험</a:t>
            </a: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으로 조사관 · 위원 · 민원인이 매일 체감하는 디지털 노동위원회 — 주식회사 에이치나인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0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품질보증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60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0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PMO 품질 담당 (수행 부문과 별도)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계획 · 교육 · 점검 · 시정 · 보고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결함 조치율 · 추적률 100%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1">
                <a:solidFill>
                  <a:srgbClr val="E00000"/>
                </a:solidFill>
                <a:latin typeface="맑은 고딕"/>
                <a:ea typeface="맑은 고딕"/>
                <a:cs typeface="맑은 고딕"/>
              </a:rPr>
              <a:t>【품질 인증】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14800" y="1422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86800" y="1465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시험운영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86800" y="1717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68800" y="1746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구축지원반 실제 사건 시범운영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개통 후 M10 안정화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긴급 결함 4시간 이내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자원 사용률 80% 미만 감시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0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60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교육 · 기술이전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0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0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조사관 · 위원 · 관리자 · 운영자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집합 · 실습 · 영상 교육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관리자 · 운영자 · 사용자 매뉴얼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모델 · 색인 · 연계 기술이전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4800" y="3744000"/>
            <a:ext cx="2800800" cy="223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9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86800" y="3787200"/>
            <a:ext cx="2656800" cy="251999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r>
              <a:rPr sz="1536" b="1">
                <a:solidFill>
                  <a:srgbClr val="1F5FD1"/>
                </a:solidFill>
                <a:latin typeface="맑은 고딕"/>
                <a:ea typeface="맑은 고딕"/>
                <a:cs typeface="맑은 고딕"/>
              </a:rPr>
              <a:t>하자보수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86800" y="4039200"/>
            <a:ext cx="2656800" cy="7200"/>
          </a:xfrm>
          <a:prstGeom prst="rect">
            <a:avLst/>
          </a:prstGeom>
          <a:solidFill>
            <a:srgbClr val="C9D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8800" y="4068000"/>
            <a:ext cx="2692800" cy="1872000"/>
          </a:xfrm>
          <a:prstGeom prst="rect">
            <a:avLst/>
          </a:prstGeom>
          <a:noFill/>
        </p:spPr>
        <p:txBody>
          <a:bodyPr wrap="square" anchor="ctr" lIns="28800" rIns="28800" tIns="28800" bIns="28800">
            <a:noAutofit/>
          </a:bodyPr>
          <a:lstStyle/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검사완료일부터 12개월 무상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개발 · 수정 S/W 4시간 이내 조치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보안취약점 조치 · 패치 제공</a:t>
            </a:r>
          </a:p>
          <a:p>
            <a:pPr algn="l" marL="144000" indent="-125999">
              <a:lnSpc>
                <a:spcPct val="120000"/>
              </a:lnSpc>
              <a:spcBef>
                <a:spcPts val="0"/>
              </a:spcBef>
              <a:spcAft>
                <a:spcPts val="681"/>
              </a:spcAft>
              <a:buFont typeface="Segoe UI Symbol"/>
              <a:buChar char="✓"/>
            </a:pPr>
            <a:r>
              <a:rPr sz="1436" b="0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요소기술별 하자보수 계획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177600" y="1422000"/>
          <a:ext cx="5691598" cy="4554000"/>
        </p:xfrm>
        <a:graphic>
          <a:graphicData uri="http://schemas.openxmlformats.org/drawingml/2006/table">
            <a:tbl>
              <a:tblPr firstRow="0" bandRow="0"/>
              <a:tblGrid>
                <a:gridCol w="1897199"/>
                <a:gridCol w="3794399"/>
              </a:tblGrid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기밀보안 · 비상대책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7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1F5FD1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인원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보안각서 · 서약서 · 비밀유지 · 교육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장비 · 문서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반출입 대장 · 매체 통제 · 등급 표시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AI 장애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이전 모델 즉시 롤백 · 업무 분리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배포 · 연계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백업 · 복구 · 자동 재시도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9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보안사고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22222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보고 · 차단 · 재발 방지</a:t>
                      </a:r>
                    </a:p>
                  </a:txBody>
                  <a:tcPr marL="43200" marR="43200" marT="14400" marB="14400" anchor="ctr">
                    <a:lnL w="9525">
                      <a:solidFill>
                        <a:srgbClr val="BFC8D6"/>
                      </a:solidFill>
                    </a:lnL>
                    <a:lnR w="9525">
                      <a:solidFill>
                        <a:srgbClr val="BFC8D6"/>
                      </a:solidFill>
                    </a:lnR>
                    <a:lnT w="9525">
                      <a:solidFill>
                        <a:srgbClr val="BFC8D6"/>
                      </a:solidFill>
                    </a:lnT>
                    <a:lnB w="9525">
                      <a:solidFill>
                        <a:srgbClr val="BFC8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11400120" y="6552000"/>
            <a:ext cx="576000" cy="216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35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isual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11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0000" y="2232000"/>
            <a:ext cx="11160000" cy="864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B3AA4"/>
                </a:solidFill>
                <a:latin typeface="맑은 고딕"/>
                <a:ea typeface="맑은 고딕"/>
                <a:cs typeface="맑은 고딕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168000"/>
            <a:ext cx="11160000" cy="720000"/>
          </a:xfrm>
          <a:prstGeom prst="rect">
            <a:avLst/>
          </a:prstGeom>
          <a:noFill/>
        </p:spPr>
        <p:txBody>
          <a:bodyPr wrap="square" anchor="ctr" lIns="18000" rIns="18000" tIns="18000" bIns="1800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A44"/>
                </a:solidFill>
                <a:latin typeface="맑은 고딕"/>
                <a:ea typeface="맑은 고딕"/>
                <a:cs typeface="맑은 고딕"/>
              </a:rPr>
              <a:t>노동분쟁 예방 · 해결을 위한 차세대 디지털 노동위원회 — 주식회사 에이치나인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황보정운</dc:creator>
  <cp:keywords/>
  <dc:description>generated using python-pptx</dc:description>
  <cp:lastModifiedBy>황보정운</cp:lastModifiedBy>
  <cp:revision>1</cp:revision>
  <dcterms:created xsi:type="dcterms:W3CDTF">2013-01-27T09:14:16Z</dcterms:created>
  <dcterms:modified xsi:type="dcterms:W3CDTF">2013-01-27T09:15:58Z</dcterms:modified>
  <cp:category/>
</cp:coreProperties>
</file>