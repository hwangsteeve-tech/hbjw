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디지털노동위원회 구축 2차 사업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중앙노동위원회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중앙노동위원회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5922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246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246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5 · 수행실적 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한계, 노사마루 강화 · AI 고도화 목표 이해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통합 추진, 1차 결과 활용 · 30% 개선 · 사용자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· Graph DB · 초안 고도화 · 연계 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7, 12, 14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프레임워크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여부 · 예상 문제 ·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방법론 · 적용 경험 · 단계별 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시스템장비 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H/W 확장 없이 현행 자원 활용 · 최적화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11, 23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 구체성 · 품질개선, 노사마루 기능개선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12~16, 18~19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접근통제 · 정보유출 방지, 별도 취약점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 · 검증 · 오류 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 충족 구현 · 테스트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응답속도 30% 개선, 대용량 첨부, 자체 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23~25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품질 점검 · 검토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분석 · 설계 · 테스트,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16, 18, 26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위험 · 보안 · 형상 · 보고 체계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9, 29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수행기간 · 세부일정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 및 인력구성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· 역할, PM 주사업자 소속 총괄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안전보건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안전보건관리계획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· 하자보수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방법 · 내용 · 일정, 하자보수 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 · 비상대책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 · 비상대책 · 하자보수 절차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방안 ·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0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6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4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0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노동위원회 고도화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4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6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8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노사마루 업무시스템 고도화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 · 데이터 · 성능 · 품질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4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0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4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관리 및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사업 이해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1차 한계와 2차 목표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목표시스템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추진 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위험 대응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같은 GPU로 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더 빠르고 정확하게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, 조사 · 판정 · 소송까지 이어지는 AI 노동위원회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1차 사업 결과를 확장 — AI 기반 업무 구조화 · AI 성능 고도화 · 노사마루 강화 · 플랫폼 보안 (3개년 계획의 2단계)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중앙노동위원회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 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10개월(300일)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11억 3,500만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4대 추진과제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84개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1차 사업의 한계와 2차 사업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1차 사업이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'AI를 쓸 수 있는 환경'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만들었다면, 2차 사업은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조사관 · 위원이 매일 쓰는 문서 · 통계 · 연계 업무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AI와 업무시스템이 함께 처리하는 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11개 문제를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요구사항과 1:1로 연결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하고, 3차 사업이 확장만 하도록 지식 · 연계 구조를 표준화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640199" cy="4716000"/>
        </p:xfrm>
        <a:graphic>
          <a:graphicData uri="http://schemas.openxmlformats.org/drawingml/2006/table">
            <a:tbl>
              <a:tblPr firstRow="0" bandRow="0"/>
              <a:tblGrid>
                <a:gridCol w="1106700"/>
                <a:gridCol w="2716445"/>
                <a:gridCol w="2817054"/>
              </a:tblGrid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사업 후 문제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 쟁점 누락 · 무관 쟁점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· 판정서 위키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사진 · 표 · 스캔본 인식 오류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구조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지연 · 첨부 7개 500MB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30% 단축 · 10개 1GB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초안이 심판에만 한정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· 이행강제 · 고발 · 소송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 품질 편차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 계획서 · 화해 · 조정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부재 · 통계 불일치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EAI · 통계 표준화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출력물 보안 미흡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모바일공무원증 · 워터마크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126199" y="1260000"/>
            <a:ext cx="35730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22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'24 ISP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0199" y="1324800"/>
            <a:ext cx="22590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3개년 계획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200" y="1260000"/>
            <a:ext cx="10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'25~'27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26199" y="2106000"/>
            <a:ext cx="35730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22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0199" y="2170800"/>
            <a:ext cx="22590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노사마루 · AI 노동위원회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200" y="2106000"/>
            <a:ext cx="10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'25.7~'26.7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6199" y="2951999"/>
            <a:ext cx="35730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2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 (본 사업)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0199" y="3016799"/>
            <a:ext cx="11025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업무 구조화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6699" y="3016799"/>
            <a:ext cx="11025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성능 · 업무시스템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200" y="2951999"/>
            <a:ext cx="10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10개월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26199" y="3798000"/>
            <a:ext cx="35730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22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0199" y="3862800"/>
            <a:ext cx="22590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확장 · 고도화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200" y="3798000"/>
            <a:ext cx="10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후속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목표시스템 — 기존 자원 위에 AI 서비스 계층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1차 GPU · 시스템을 그대로 쓰면서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전처리 · 지식 · 생성 · 검증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계층으로 나누고, 노사마루와는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표준 API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연결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조사관은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노사마루 사건 화면 안에서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AI를 호출하고 결과를 사건정보와 함께 관리 — 새 시스템을 따로 익히지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9655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채널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324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노사마루 (조사관)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6800" y="1324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위원노사마루 (위원)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5600" y="1324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온라인사건신청 (민원인)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4400" y="1324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노동위원회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9200" y="1260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LDAP · 모바일공무원증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106000"/>
            <a:ext cx="965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업무 서비스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48000" y="2170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질의 · 문서분석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46800" y="2170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초안 (심판 · 조정 · 이행강제 · 고발 · 소송)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5600" y="2170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직권조사 · 화해 · 조정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4400" y="2170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 검증 · 교정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69200" y="2106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SFR-018~028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000" y="2951999"/>
            <a:ext cx="965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계층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48000" y="3016799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지식그래프 (Graph DB)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46800" y="3016799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 지식 위키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5600" y="3016799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참조문서 · 임베딩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4400" y="3016799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법령 · 판례 연계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69200" y="2951999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SFR-017 · 023 · 029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3798000"/>
            <a:ext cx="965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· 전처리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48000" y="3862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서빙 (1차 GPU)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46800" y="3862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VLM 구조 분석 (배치)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45600" y="3862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STT 화자분리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4400" y="3862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69200" y="3798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SFR-020 · 021 · 027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000" y="4644000"/>
            <a:ext cx="965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0" y="464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업무시스템 · 연계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48000" y="4708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사건처리 · 통계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46800" y="4708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온-나라 템플릿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45600" y="4708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노사누리 EAI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4400" y="4708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법제처 · 우정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69200" y="4644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SFR-003~016 · SIR-003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4대 추진전략과 성과지표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기준선 측정 → 지식 기반 → 업무 확장 → 사용자 검증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순서로 위험을 먼저 줄이고, 결과는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같은 조건의 수치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보고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기준선 먼저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1개월 내 1차 응답시간 · 품질 측정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서비스별 시험셋 · 측정 조건 문서화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모든 개선은 기준선 대비 수치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91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11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지식 기반 위에 초안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11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31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지식그래프 · 위키가 쟁점 · 근거 공급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무관 쟁점 · 누락 감소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3차 사업에서 그대로 확장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업무 흐름 안에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노사마루 화면에서 AI 호출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결과 · 승인 이력 사건별 저장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별도 학습 부담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91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11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사용자 검증 후 오픈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11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31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구축지원반 단계별 검토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통합테스트 10회 이상 분할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의견수렴 결과 다음 단계 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6199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30%↑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6199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처리시간 단축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1700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1700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추가 H/W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126199" y="2160000"/>
          <a:ext cx="4742999" cy="4320000"/>
        </p:xfrm>
        <a:graphic>
          <a:graphicData uri="http://schemas.openxmlformats.org/drawingml/2006/table">
            <a:tbl>
              <a:tblPr firstRow="0" bandRow="0"/>
              <a:tblGrid>
                <a:gridCol w="2439257"/>
                <a:gridCol w="2303742"/>
              </a:tblGrid>
              <a:tr h="7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첨부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10개 · 1GB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누락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사용률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미만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위험요소와 대응 — 착수 전에 정의한 3대 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H/W 증설 없는 성능 개선 · 외부 기관 연계 지연 · 생성 품질 기준 합의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3대 위험으로 보고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착수 단계부터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대응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829918" cy="5219997"/>
        </p:xfrm>
        <a:graphic>
          <a:graphicData uri="http://schemas.openxmlformats.org/drawingml/2006/table">
            <a:tbl>
              <a:tblPr firstRow="0" bandRow="0"/>
              <a:tblGrid>
                <a:gridCol w="1842994"/>
                <a:gridCol w="4011222"/>
                <a:gridCol w="975702"/>
              </a:tblGrid>
              <a:tr h="77866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위험요소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613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H/W 증설 없이 30% 단축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최적화 · 캐시 · 비동기 전처리 · VLM 배치 분리, 월 단위 측정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13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· 온라인사건신청 연계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규격 협의, 모의 연계로 선개발, 지연 시 즉시 보고 · 범위 조정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M2~M7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13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품질 목표 미합의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SFR별 평가항목 · 방법 · 목표를 설계 단계에 확정, 평가셋 사전 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M2~M3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866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범위 확대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150종 이내 전수 진단 후 「통계 구축 대상 목록」 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866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사건자료 유출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데이터만 학습 · 색인, 외부 반출 금지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920" y="1260000"/>
            <a:ext cx="989819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920" y="1260000"/>
            <a:ext cx="98981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9120" y="1602000"/>
            <a:ext cx="9034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주간 · 이슈대장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334539" y="155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740" y="1260000"/>
            <a:ext cx="989819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740" y="1260000"/>
            <a:ext cx="98981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6940" y="1602000"/>
            <a:ext cx="9034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영향 · 가능성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22359" y="155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1560" y="1260000"/>
            <a:ext cx="989819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1560" y="1260000"/>
            <a:ext cx="98981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4760" y="1602000"/>
            <a:ext cx="9034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담당 · 기한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710180" y="155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879380" y="1260000"/>
            <a:ext cx="989819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879380" y="1260000"/>
            <a:ext cx="98981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2580" y="1602000"/>
            <a:ext cx="9034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발견 당일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920" y="2172340"/>
            <a:ext cx="455328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연계 · 성능 위험은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발견 당일 구축전담반에 보고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하고, 과업 변경은 과업심의위원회 절차로 협의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노동위원회 고도화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자원 구성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지식 플랫폼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직권조사 · 판정서 검증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전처리 · 모델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초안 확대 · 업무지원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대국민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현행 자원 활용 — 실시간과 배치를 나눠 GPU 경합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노동위원회 고도화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신규 AI 기능을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실시간 · 준실시간 · 배치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나눠 GPU 사용 시간대를 분리하고, 보유 S/W 19종을 활용해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추가 구매 없이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구현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GPU · 서버 사양은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보안서약 후 현장 열람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으로 확인해 사업수행계획서에 확정 — 현행 자원 범위 안에서 구성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209016" cy="4716000"/>
        </p:xfrm>
        <a:graphic>
          <a:graphicData uri="http://schemas.openxmlformats.org/drawingml/2006/table">
            <a:tbl>
              <a:tblPr firstRow="0" bandRow="0"/>
              <a:tblGrid>
                <a:gridCol w="1284624"/>
                <a:gridCol w="2462196"/>
                <a:gridCol w="2462196"/>
              </a:tblGrid>
              <a:tr h="117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17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· 분석 · 초안 · 사건조회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우선 배정 · 연속 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7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준실시간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검증 · 교정 · 이행강제금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큐 · 완료 알림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7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(야간)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· 그래프 · 위키 · 임베딩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외 시간 일괄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695018" y="1260000"/>
            <a:ext cx="254209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7018" y="1303200"/>
            <a:ext cx="239809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전처리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7018" y="1555200"/>
            <a:ext cx="239809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9018" y="1584000"/>
            <a:ext cx="243409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OCR · STT · 비식별화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PDF 변환 · 뷰어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7109" y="1260000"/>
            <a:ext cx="254209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9109" y="1303200"/>
            <a:ext cx="239809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검색 · 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9109" y="1555200"/>
            <a:ext cx="239809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109" y="1584000"/>
            <a:ext cx="243409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검색엔진 · 데이터 연동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시각화 · 리포팅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5018" y="3663000"/>
            <a:ext cx="254209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7018" y="3706200"/>
            <a:ext cx="239809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7018" y="3958200"/>
            <a:ext cx="239809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9018" y="3987000"/>
            <a:ext cx="243409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DB암호화 · 출력물 보안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개인정보 이력 · 웹필터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7109" y="3663000"/>
            <a:ext cx="254209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9109" y="3706200"/>
            <a:ext cx="239809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99109" y="3958200"/>
            <a:ext cx="239809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109" y="3987000"/>
            <a:ext cx="243409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웹기안기 · 한컴 변환기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전자서명 · 위변조방지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지식 플랫폼 — 지식그래프 · 판정서 위키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노동위원회 고도화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SFR-017, SFR-029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판정서 · 조사보고서에서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사건유형 → 쟁점 → 판단기준 → 법령 · 판례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추출해, 초안 생성에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사건별 필수 쟁점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공급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4521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486800"/>
            <a:ext cx="1033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사건유형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5200" y="1486800"/>
            <a:ext cx="1033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신청취지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22400" y="1486800"/>
            <a:ext cx="1033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5600" y="1422000"/>
            <a:ext cx="10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노사마루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2268000"/>
            <a:ext cx="4521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쟁점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8000" y="2332800"/>
            <a:ext cx="1033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주요쟁점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35200" y="2332800"/>
            <a:ext cx="1033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당사자 주장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2400" y="2332800"/>
            <a:ext cx="1033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사실관계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5600" y="2268000"/>
            <a:ext cx="10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조사보고서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3114000"/>
            <a:ext cx="4521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3178800"/>
            <a:ext cx="1576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판단기준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78800" y="3178800"/>
            <a:ext cx="1576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 이유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5600" y="3114000"/>
            <a:ext cx="10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000" y="3960000"/>
            <a:ext cx="45216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48000" y="4024800"/>
            <a:ext cx="1576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법령 · 조문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78800" y="4024800"/>
            <a:ext cx="1576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판례 · 판정례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5600" y="3960000"/>
            <a:ext cx="10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법령 · 판례 연계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000" y="4860000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징계해고 사건이면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징계 사유 · 양정 · 절차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를 필수 쟁점으로 먼저 제시 — 무관 쟁점 생성 감소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177600" y="1422000"/>
          <a:ext cx="5691598" cy="5058000"/>
        </p:xfrm>
        <a:graphic>
          <a:graphicData uri="http://schemas.openxmlformats.org/drawingml/2006/table">
            <a:tbl>
              <a:tblPr firstRow="0" bandRow="0"/>
              <a:tblGrid>
                <a:gridCol w="1897199"/>
                <a:gridCol w="3794399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지식 위키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요약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200자 이내 (개요 → 쟁점 → 결과), 검토 · 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쟁점 분류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분류체계 자동 분류, 관리자 수정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 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인용 조항 인식 · 원문 링크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 추천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5건 · 유사도 · 공통 쟁점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갱신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판정서 → 비식별 → 위키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직권조사 계획서 · 판정서 정보 · 인용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노동위원회 고도화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SFR-018, SFR-019, SFR-013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사건 초기 자료로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직권조사 필요성 · 방법 · 필요 자료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제안하고, 판정서 발송 전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기초정보 · 법령 · 판례 인용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원천과 대조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65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422000"/>
            <a:ext cx="5619600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직권조사 계획서 (SFR-018)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800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000" y="180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초기 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2142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이유서 · 답변서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627200" y="209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96400" y="1800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96400" y="180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필요성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9600" y="2142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사유 제시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099600" y="209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68800" y="1800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68800" y="180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방법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1999" y="2142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자료 · 현장 · 출석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572000" y="209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41200" y="1800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41200" y="180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체크리스트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4400" y="2142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제출 · 미제출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24000" y="2712340"/>
          <a:ext cx="5691600" cy="3767658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62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계획서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2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필요성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 · 쟁점 · 제출자료 → 결과와 사유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자료제출 · 현장 · 출석 · 관계기관 · 전문기관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자료는 기록 위치 연결, 미제출은 확보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화해 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SFR-025 성립 가능성 · 유사 사례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양식 ·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표준양식, 50건 이상 시험사례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177600" y="1422000"/>
          <a:ext cx="5691600" cy="4368105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검증 (SFR-019)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대조 ·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사건부와 항목별 대조, 두 값 함께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국가법령정보 연계 — 조 · 항 · 호 · 원문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법원명 · 선고일 · 사건번호 · 인용 문구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불가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아닌 '검증 불가' 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1776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위원 화면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'검증 및 교정' 버튼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— 맞춤법 · 인용 검증 결과 파일 즉시 수신 (SFR-013)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전처리 · 언어모델 고도화 — 같은 GPU에서 더 정확하게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노동위원회 고도화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SFR-020, SFR-021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OCR · 파서 결과 진단 + VLM 구조 분석 통합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입력 품질을 높이고, 동일 GPU에서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시간순 · 당사자별 경위와 판단 논거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까지 개선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5058000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4031550"/>
              </a:tblGrid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(SFR-020)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조사보고서 약 10만 · 판정서 약 5.7만 건 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미흡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오인식 · 깨진 문자 · 표 구조 손실 분류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 · 셀 병합 · 이미지 · 페이지 번호 보존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OCR · VLM 비교 통합 → 전처리 재생성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422000"/>
          <a:ext cx="5691600" cy="4368105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고도화 (SFR-021)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사실관계 구조화 → 시간순 · 당사자별 경위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분할 추출 → 통합, 누락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· 재순위 · 그래프 탐색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노동위원회 문장 형식 · 용어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새 모델은 같은 평가셋에서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품질 · 응답시간 모두 1차 이상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일 때만 적용, 즉시 롤백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문서초안 확대 · 소송 · 화해 · 조정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노동위원회 고도화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SFR-022, SFR-028, SFR-025, SFR-026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심판에 한정된 초안을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조정 · 이행강제금 · 고발 · 소송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넓히고, 과거 사례로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화해 · 조정 성립을 돕는 참고지표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제공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4301995"/>
        </p:xfrm>
        <a:graphic>
          <a:graphicData uri="http://schemas.openxmlformats.org/drawingml/2006/table">
            <a:tbl>
              <a:tblPr firstRow="0" bandRow="0"/>
              <a:tblGrid>
                <a:gridCol w="1974636"/>
                <a:gridCol w="3716963"/>
              </a:tblGrid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항목 ·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조사보고서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교섭대표노조 · 신청사항 · 교섭경위 · 경영자료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이행강제금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구제명령 · 이행경위 · 산출금액 (SFR-005 연계)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고발 결정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구제명령 · 이행경위 · 관련 법령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소송 문서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답변서 · 준비서면 · 항소이유서, 패소 원인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24000" y="5832000"/>
            <a:ext cx="18252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5885999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6353999"/>
            <a:ext cx="1825200" cy="10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초안 업무 확대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7200" y="5832000"/>
            <a:ext cx="18252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7200" y="5885999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필수 항목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7200" y="6353999"/>
            <a:ext cx="1825200" cy="10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누락 자동 검사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400" y="5832000"/>
            <a:ext cx="18252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0400" y="5885999"/>
            <a:ext cx="18252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0400" y="6353999"/>
            <a:ext cx="1825200" cy="10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문장별 원문 위치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7600" y="1422000"/>
            <a:ext cx="2800800" cy="456905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9600" y="1465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화해 (SFR-025)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9600" y="1717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1600" y="1746000"/>
            <a:ext cx="2692800" cy="4209054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유형 · 직종 · 근속 · 해고 사유로 유사사례 검색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성립 가능성 예측 (참고지표)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임금 · 위로금 범위 · 합의조건 통계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조사 단계별 권고 적합 시점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화해조서 초안 · 불성립 사유 축적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8400" y="1422000"/>
            <a:ext cx="2800800" cy="456905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0400" y="1465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조정 (SFR-026)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0400" y="1717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2400" y="1746000"/>
            <a:ext cx="2692800" cy="4209054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조정신청서 · 쟁의자료 분석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노사 주장 · 쟁점 비교 정리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유사 조정 성립사례 · 합의조건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쟁점별 권고안 포함 조정안 초안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특별 · 긴급조정 체크리스트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76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예측 결과는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 사례와 함께 참고지표로만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제공 — 판단은 조사관이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6. 음성 분석 · 참조문서 관리 · 대국민 AI 사건신청 ·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노동위원회 고도화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SFR-027, SFR-023, SFR-024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심문 음성을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화자별 · 타임스탬프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판정서에 반영하고, 참조문서는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무중단 자동 반영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민원인은 로그인 후 본인 사건을 자연어로 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5174181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465200"/>
            <a:ext cx="503018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음성 분석 (SFR-027)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717200"/>
            <a:ext cx="503018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746000"/>
            <a:ext cx="5066181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기존 인식 · 화자분리 품질 진단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다수 화자 분리 · 불명확 구간 표시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신청인 · 피신청인별 진술을 판정서에 반영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타임스탬프로 원본 즉시 재생 · 화자명 수정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000" y="3996000"/>
            <a:ext cx="5174181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4039200"/>
            <a:ext cx="503018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참조문서 (SFR-023)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000" y="4291200"/>
            <a:ext cx="503018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000" y="4320000"/>
            <a:ext cx="5066181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매뉴얼 · 지침 화면 등록 · 수정 · 삭제 · 이력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메타데이터 추출 → 전처리 · 임베딩 자동 갱신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새 색인 전환으로 서비스 무중단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88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반영 직후 시험 질의로 즉시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0181" y="1422000"/>
            <a:ext cx="1403754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0181" y="1422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3381" y="1764000"/>
            <a:ext cx="1317354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대국민 AI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2736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1936" y="1422000"/>
            <a:ext cx="1403754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1936" y="1422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의도 판별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5136" y="1764000"/>
            <a:ext cx="1317354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일반 · 신청 · 조회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9449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3690" y="1422000"/>
            <a:ext cx="1403754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3690" y="1422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890" y="1764000"/>
            <a:ext cx="1317354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필요 시 로그인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296245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65445" y="1422000"/>
            <a:ext cx="1403754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65445" y="1422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8645" y="1764000"/>
            <a:ext cx="1317354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질의 유지 · 이어서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60181" y="2334340"/>
          <a:ext cx="6209017" cy="4145655"/>
        </p:xfrm>
        <a:graphic>
          <a:graphicData uri="http://schemas.openxmlformats.org/drawingml/2006/table">
            <a:tbl>
              <a:tblPr firstRow="0" bandRow="0"/>
              <a:tblGrid>
                <a:gridCol w="1862705"/>
                <a:gridCol w="4346312"/>
              </a:tblGrid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(SFR-024)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일반질의검색 (기존과 동일)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사건신청 지원 · 본인 사건 진행 · 결과 · 일정 조회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요건 · 제출자료 · 유의사항, 누락 안내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권한 사건만 조회, 질의 기록 마스킹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노사마루 업무시스템 고도화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사건처리 · 연계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통계 · 편의 기능 · 온라인 신청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사건처리 자동화 · 유관기관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노사마루 업무시스템 고도화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SFR-003, SFR-004, SFR-005, SFR-006, SFR-007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접수 단계 중복 검증 · 전자송달 대시보드 · 이행강제금 자동 계산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 노사누리 EAI 연계로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조사관 수작업과 확인 누락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없앰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5058000"/>
        </p:xfrm>
        <a:graphic>
          <a:graphicData uri="http://schemas.openxmlformats.org/drawingml/2006/table">
            <a:tbl>
              <a:tblPr firstRow="0" bandRow="0"/>
              <a:tblGrid>
                <a:gridCol w="1858481"/>
                <a:gridCol w="3833118"/>
              </a:tblGrid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전자송달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6단계 대시보드 · 미열람 알림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· 유사사건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당사자 · 유형 · 접수일 조합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사건명 · 직권조사 실적 · 이행강제금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조정사건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수신처 자동 지정 · 1년 신청 건수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422000"/>
          <a:ext cx="5691600" cy="4569050"/>
        </p:xfrm>
        <a:graphic>
          <a:graphicData uri="http://schemas.openxmlformats.org/drawingml/2006/table">
            <a:tbl>
              <a:tblPr firstRow="0" bandRow="0"/>
              <a:tblGrid>
                <a:gridCol w="2371500"/>
                <a:gridCol w="3320100"/>
              </a:tblGrid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EAI (SFR-007)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공인노무사 자격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대리인 자격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처리결과 통보 사건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제192조 통보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구제 · 시정명령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 확보 후속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노동조합 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· 접수 · 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연계 성공 · 실패 · 오류사유 조회와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실패 건 재발송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관리자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통계 강화 · 업무 편의 · 전자결재 · 온라인 사건신청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노사마루 업무시스템 고도화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SFR-008, SFR-009, SFR-010, SFR-014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통계 약 150종을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전수 진단해 표준 DB로 재구축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1차 의견수렴에서 미뤄진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편의 기능 · 신청 안내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모두 반영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2656285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" y="1476000"/>
            <a:ext cx="2656285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150종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1944000"/>
            <a:ext cx="2656285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통계 재구축 (이내)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88285" y="1422000"/>
            <a:ext cx="2656285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8285" y="1476000"/>
            <a:ext cx="2656285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50종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8285" y="1944000"/>
            <a:ext cx="2656285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로데이터 조회 (이내)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4000" y="2250000"/>
          <a:ext cx="5420571" cy="4230000"/>
        </p:xfrm>
        <a:graphic>
          <a:graphicData uri="http://schemas.openxmlformats.org/drawingml/2006/table">
            <a:tbl>
              <a:tblPr firstRow="0" bandRow="0"/>
              <a:tblGrid>
                <a:gridCol w="1649739"/>
                <a:gridCol w="3770832"/>
              </a:tblGrid>
              <a:tr h="70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0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조사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인터뷰 · 헬프데스크 · 설문 · 워크숍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전수 진단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 · 통폐합 · 폐기 → 구축 목록 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표준화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표준단어 · 용어 · 도메인 · 코드 일괄 적용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화해 · 초심 유지 · 조정 성립률 · 직권조사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수치 클릭 → 원본 데이터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06571" y="1422000"/>
          <a:ext cx="5962628" cy="5057996"/>
        </p:xfrm>
        <a:graphic>
          <a:graphicData uri="http://schemas.openxmlformats.org/drawingml/2006/table">
            <a:tbl>
              <a:tblPr firstRow="0" bandRow="0"/>
              <a:tblGrid>
                <a:gridCol w="1825294"/>
                <a:gridCol w="4137334"/>
              </a:tblGrid>
              <a:tr h="812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952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편의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11차 표준산업분류 · 미입력 알림 · 공통 알림 · 모바일공무원증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전자결재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온-나라 템플릿 · 하드코딩 제거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· 우편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사건별 메모 · e-그린 회수 · 재발송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위젯 · 검증 및 교정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신청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튜토리얼 · 서류 안내 · 개인정보 탐지 · FAQ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데이터 · 성능 ·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보안 · 취약점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데이터 · 제약사항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성능 30% 단축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대용량 · 동시 사용자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품질 · 테스트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연계 · 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보안 — 사건자료는 업무망 안에서만, 감리와 별도 취약점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보안 · 데이터 · 성능 · 품질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SER-001, SER-002, SER-003, SER-005, SFR-002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화면 · 출력물 · AI · 데이터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단계별 통제로 정보유출을 막고, 감리와 독립된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진단 → 조치 → 재진단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잔여 취약점 0건에서 개시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4593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486800"/>
            <a:ext cx="1612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강화 인증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4800" y="1486800"/>
            <a:ext cx="1612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권한별 사건 접근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7600" y="1422000"/>
            <a:ext cx="1007999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2268000"/>
            <a:ext cx="4593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· 출력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332800"/>
            <a:ext cx="1612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마스킹 · 캡처 통제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14800" y="2332800"/>
            <a:ext cx="1612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워터마크 · 문서 보안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7600" y="2268000"/>
            <a:ext cx="1007999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000" y="3114000"/>
            <a:ext cx="4593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48000" y="3178800"/>
            <a:ext cx="1612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등급 판별 (C · S · 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14800" y="3178800"/>
            <a:ext cx="1612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이동 금지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7600" y="3114000"/>
            <a:ext cx="1007999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SER-005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000" y="3960000"/>
            <a:ext cx="45936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48000" y="4024800"/>
            <a:ext cx="1612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DB 암호화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14800" y="4024800"/>
            <a:ext cx="1612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7600" y="3960000"/>
            <a:ext cx="1007999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SER-002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76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76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08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보안약점 필수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480799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500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500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32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소스 · 웹 · AI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953200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224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224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56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담당 · 기한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425599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5948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948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재진단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380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잔여 0건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6177600" y="2158970"/>
          <a:ext cx="5691599" cy="4321028"/>
        </p:xfrm>
        <a:graphic>
          <a:graphicData uri="http://schemas.openxmlformats.org/drawingml/2006/table">
            <a:tbl>
              <a:tblPr firstRow="0" bandRow="0"/>
              <a:tblGrid>
                <a:gridCol w="1816468"/>
                <a:gridCol w="3875131"/>
              </a:tblGrid>
              <a:tr h="10802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802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행안부 지침 별표3 보안약점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02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개시 전 웹 취약점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02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지시문 주입 · 권한 밖 검색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데이터 · 제약사항 — 표준 · 검증 · 감리 · 접근성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보안 · 데이터 · 성능 · 품질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DAR-003, DAR-004, DAR-005, COR-001, COR-002, COR-004, COR-005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DA · DBA가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표준사전 · 업무규칙(BR) 값 검증 · 오류 처리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맡고, 지침 · 감리 · 접근성 인증 · 표준프레임워크를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처음부터 일정에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포함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5058000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4031550"/>
              </a:tblGrid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개념 · 논리 · 물리 모델, 발생 규칙 정의서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행안부 공통표준 · 고용노동부 표준 용어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업무규칙 기반 값 검증 · 영향도 · 재발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관리체계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준수율 · 현행화율 · 오류율 관리기준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422000"/>
          <a:ext cx="5691600" cy="456905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표준프레임워크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 기반 · 보안패치 · 범용 언어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· 종료 감리 공수 WBS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인증마크 획득 (비용 당사 부담)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공동소유 · 공개SW 라이선스 목록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프레임워크 업그레이드 시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영향도 분석 · 회귀 테스트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후 범위 협의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성능 — 1차 대비 평균 처리시간 30% 이상 단축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보안 · 데이터 · 성능 · 품질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PER-001, PER-002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처리 구간별 병목을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비동기 전처리 · 검색 축소 · 서빙 최적화 · 스트리밍 · 배치 분리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제거하고,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동일 조건 시험셋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입증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기준값은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착수 1개월 안에 같은 조건으로 측정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 확정하고, 매월 기준선 대비 결과를 보고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1422000"/>
          <a:ext cx="6433982" cy="4554000"/>
        </p:xfrm>
        <a:graphic>
          <a:graphicData uri="http://schemas.openxmlformats.org/drawingml/2006/table">
            <a:tbl>
              <a:tblPr firstRow="0" bandRow="0"/>
              <a:tblGrid>
                <a:gridCol w="1668069"/>
                <a:gridCol w="4765913"/>
              </a:tblGrid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구간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전처리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시점 비동기 처리 · 결과 캐시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+ 재순위화 → 입력 토큰 감소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추론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 배치 · 접두 캐시 · 경량화 검토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스트리밍 — 첫 응답 즉시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경합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· 색인 배치는 업무 외 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19982" y="1422000"/>
          <a:ext cx="4949216" cy="4554000"/>
        </p:xfrm>
        <a:graphic>
          <a:graphicData uri="http://schemas.openxmlformats.org/drawingml/2006/table">
            <a:tbl>
              <a:tblPr firstRow="0" bandRow="0"/>
              <a:tblGrid>
                <a:gridCol w="2403905"/>
                <a:gridCol w="2545311"/>
              </a:tblGrid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일반질의검색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 × 0.7 이하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T2 × 0.7 이하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 작성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T3 × 0.7 이하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 밖의 질의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대용량 첨부 · 동시 사용자 — 구간 누락 0건, 100명 동시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보안 · 데이터 · 성능 · 품질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PER-003, PER-004, PER-005, TER-004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첨부를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1회 10개 · 1GB 이상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늘리고 구간 처리 이력을 대조해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토큰 한계로 빠지는 내용이 없게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하며, 100명 동시에도 자원 80% 미만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분할 업로드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재개 · 비동기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436203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05403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05403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구간 분할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8603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페이지 · 표 단위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17607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6807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6807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구간 추출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0007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사실 · 주장 · 근거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9901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68210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68210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1410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시간순 · 당사자별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280414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49614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49614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누락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2814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미처리 재처리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2334340"/>
          <a:ext cx="6209016" cy="4145656"/>
        </p:xfrm>
        <a:graphic>
          <a:graphicData uri="http://schemas.openxmlformats.org/drawingml/2006/table">
            <a:tbl>
              <a:tblPr firstRow="0" bandRow="0"/>
              <a:tblGrid>
                <a:gridCol w="2029871"/>
                <a:gridCol w="1791062"/>
                <a:gridCol w="2388083"/>
              </a:tblGrid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수 · 용량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7개 · 500MB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10개 · 1GB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파일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400MB · 500쪽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파일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300MB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6695018" y="1422000"/>
            <a:ext cx="253309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5018" y="1476000"/>
            <a:ext cx="253309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5018" y="1944000"/>
            <a:ext cx="253309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동시 사용자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36109" y="1422000"/>
            <a:ext cx="253309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109" y="1476000"/>
            <a:ext cx="253309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80%↓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109" y="1944000"/>
            <a:ext cx="253309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CPU · 메모리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695018" y="2250000"/>
          <a:ext cx="5174181" cy="4230000"/>
        </p:xfrm>
        <a:graphic>
          <a:graphicData uri="http://schemas.openxmlformats.org/drawingml/2006/table">
            <a:tbl>
              <a:tblPr firstRow="0" bandRow="0"/>
              <a:tblGrid>
                <a:gridCol w="1724727"/>
                <a:gridCol w="3449454"/>
              </a:tblGrid>
              <a:tr h="84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 · 50 · 100 · 120명 단계 측정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과부하 제어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대기열 · 동시 생성 제한 · 업무망 우선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감시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 사전 경보 · 시험운영 상시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피크타임 점검 · 쿼리 · 캐시 튜닝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품질 · 테스트 — 생성형 AI 자체 통합테스트 1,250건 이상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보안 · 데이터 · 성능 · 품질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TER-001, TER-002, TER-003, TER-005, QUR-001, QUR-002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 종료마다 품질 점검표로 확인하고,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일반질의 1,000 · 문서분석 100 · 초안 100 · 직권조사 50건 이상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10회 이상 분할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 시험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4368105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1304325"/>
                <a:gridCol w="2727225"/>
              </a:tblGrid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 · 위원 · 대국민 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형식 · 분량 · 품질 다양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체크리스트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필수조사사항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재테스트는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최초 시험 건수에 포함하지 않음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— 오류 원인 분석 후 동일 조건 재시험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7600" y="1422000"/>
          <a:ext cx="5691600" cy="4301995"/>
        </p:xfrm>
        <a:graphic>
          <a:graphicData uri="http://schemas.openxmlformats.org/drawingml/2006/table">
            <a:tbl>
              <a:tblPr firstRow="0" bandRow="0"/>
              <a:tblGrid>
                <a:gridCol w="1422900"/>
                <a:gridCol w="4268700"/>
              </a:tblGrid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 · 기준선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준수 · 연계 규격 · 보안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코딩 표준 · 보안약점 · 단위테스트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03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· 인수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3회 이상 · 요구사항별 판정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177600" y="5832000"/>
            <a:ext cx="27918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7600" y="5885999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7600" y="6353999"/>
            <a:ext cx="2791800" cy="10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결함 조치율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7400" y="5832000"/>
            <a:ext cx="27918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7400" y="5885999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84개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7400" y="6353999"/>
            <a:ext cx="2791800" cy="10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6. 연계 · 사용자 인터페이스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보안 · 데이터 · 성능 · 품질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SIR-001, SIR-002, SIR-003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기관별로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EAI · ESB · DB 복제 · API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중 최적 방식을 유지 · 적용하고, 조사관 · 위원 · 민원인 화면은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프로토타입 검토 → 사용성 테스트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확정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5058000"/>
        </p:xfrm>
        <a:graphic>
          <a:graphicData uri="http://schemas.openxmlformats.org/drawingml/2006/table">
            <a:tbl>
              <a:tblPr firstRow="0" bandRow="0"/>
              <a:tblGrid>
                <a:gridCol w="2490075"/>
                <a:gridCol w="3201525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(추가)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EAI 직접연계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법제처 · 우정사업본부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ESB (행정정보공동이용)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고용노동부 과태료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EAI 직접연계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4개 시스템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 구축 DB 복제 (무중단)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↔ AI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API · 사건번호 기준 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776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76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08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인터뷰 · 의견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80799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00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500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32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53200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24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24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56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구축지원반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425599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948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948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80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사용성 · 호환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2158970"/>
          <a:ext cx="5691599" cy="4321026"/>
        </p:xfrm>
        <a:graphic>
          <a:graphicData uri="http://schemas.openxmlformats.org/drawingml/2006/table">
            <a:tbl>
              <a:tblPr firstRow="0" bandRow="0"/>
              <a:tblGrid>
                <a:gridCol w="1574272"/>
                <a:gridCol w="4117327"/>
              </a:tblGrid>
              <a:tr h="7201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01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 화면 내 AI 호출 · 미입력 하이라이트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1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위젯 · 검증 및 교정 버튼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1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민원인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· 튜토리얼 · AI 사건조회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1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UI/UX · 접근성 2.2 · 멀티 브라우저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1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오류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 구분 · 자동 재시도 · 정합성 리포트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관리 및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수행조직 · 개발방법론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일정 · 관리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지원 · 하자보수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수행조직 · 개발방법론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사업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PMR-001, PMR-002, PMR-007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주사업자 소속 PM이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노동위원회와 노사마루를 함께 총괄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업무시스템은 산출물 중심 방법론 · AI는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평가셋 기반 2주 반복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개발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4449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486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구축전담반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42800" y="1486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구축지원반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3600" y="1422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검증 · 승인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2268000"/>
            <a:ext cx="4449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332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092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42800" y="2332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3600" y="2268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000" y="3114000"/>
            <a:ext cx="4449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부문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48000" y="3178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전처리 · 모델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42800" y="3178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지식 · 초안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3600" y="3114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SFR-017~029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000" y="3960000"/>
            <a:ext cx="44496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업무시스템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48000" y="4024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노사마루 · 통계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42800" y="4024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· 홈페이지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3600" y="3960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SFR-001~016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000" y="4806000"/>
            <a:ext cx="44496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" y="48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· 품질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48000" y="4870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DA · TA · AA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42800" y="4870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 · 테스트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63600" y="4806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DAR · SER · TER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7600" y="1422000"/>
          <a:ext cx="5691600" cy="4569054"/>
        </p:xfrm>
        <a:graphic>
          <a:graphicData uri="http://schemas.openxmlformats.org/drawingml/2006/table">
            <a:tbl>
              <a:tblPr firstRow="0" bandRow="0"/>
              <a:tblGrid>
                <a:gridCol w="1185750"/>
                <a:gridCol w="4505850"/>
              </a:tblGrid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 (10일 이내) · 보안각서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요구사항정의서 · 성능 기준선 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데이터 · 화면 · 연계 설계서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·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테스트 결과서 · AI 품질 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추적표 · 과업대비표 · 매뉴얼 · 완료보고서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61776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평가셋 구성 → 개선 → 자동 측정 →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구축지원반 검토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→ 다음 주기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10개월 일정 · 관리방법론 · 안전보건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사업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PMR-004, PMR-005, PMR-006, PMR-009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착수 · 중간 · 완료 보고회와 설계 · 종료 감리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일정에 고정하고, 주간 · 월간 회의와 이슈대장으로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발견 당일 보고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체계를 운영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6829918" cy="5058000"/>
        </p:xfrm>
        <a:graphic>
          <a:graphicData uri="http://schemas.openxmlformats.org/drawingml/2006/table">
            <a:tbl>
              <a:tblPr firstRow="0" bandRow="0"/>
              <a:tblGrid>
                <a:gridCol w="1620658"/>
                <a:gridCol w="520926"/>
                <a:gridCol w="520926"/>
                <a:gridCol w="520926"/>
                <a:gridCol w="520926"/>
                <a:gridCol w="520926"/>
                <a:gridCol w="520926"/>
                <a:gridCol w="520926"/>
                <a:gridCol w="520926"/>
                <a:gridCol w="520926"/>
                <a:gridCol w="520926"/>
              </a:tblGrid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· 기준선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· 성능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 · 개통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2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920" y="1422000"/>
          <a:ext cx="4553279" cy="4368105"/>
        </p:xfrm>
        <a:graphic>
          <a:graphicData uri="http://schemas.openxmlformats.org/drawingml/2006/table">
            <a:tbl>
              <a:tblPr firstRow="0" bandRow="0"/>
              <a:tblGrid>
                <a:gridCol w="1443722"/>
                <a:gridCol w="3109557"/>
              </a:tblGrid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진척 · 주간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· 이슈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이슈대장 · 당일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모델 설정 버전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· 월간 · 수시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920" y="5898109"/>
            <a:ext cx="455328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안전보건관리계획서 · 책임자 선임 ·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[붙임 7] 자가평가표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제출, 착수 · 월 1회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품질보증 · 시험운영 · 교육 · 하자보수 · 기밀보안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사업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PSR-001, PSR-002, PSR-003, TER-006, QUR-003, SER-004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구축지원반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시범운영 → 개통 → 안정화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대상자별 교육 · 기술이전,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12개월 무상 하자보수 · 4시간 이내 조치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사업 후에도 자체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검증된 AI · 무중단 고도화 경험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으로 조사관 · 위원 · 민원인이 매일 체감하는 디지털 노동위원회 — 주식회사 에이치나인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2800800" cy="22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1465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36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품질보증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717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" y="1746000"/>
            <a:ext cx="2692800" cy="187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PMO 품질 담당 (수행 부문과 별도)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계획 · 교육 · 점검 · 시정 · 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결함 조치율 · 추적률 100%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【품질 인증】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14800" y="1422000"/>
            <a:ext cx="2800800" cy="22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6800" y="1465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36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시험운영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6800" y="1717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8800" y="1746000"/>
            <a:ext cx="2692800" cy="187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구축지원반 실제 사건 시범운영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개통 후 M10 안정화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긴급 결함 4시간 이내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자원 사용률 80% 미만 감시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000" y="3744000"/>
            <a:ext cx="2800800" cy="22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000" y="3787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36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교육 · 기술이전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00" y="4039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000" y="4068000"/>
            <a:ext cx="2692800" cy="187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조사관 · 위원 · 관리자 · 운영자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집합 · 실습 · 영상 교육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· 운영자 · 사용자 매뉴얼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모델 · 색인 · 연계 기술이전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14800" y="3744000"/>
            <a:ext cx="2800800" cy="22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6800" y="3787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36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하자보수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86800" y="4039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8800" y="4068000"/>
            <a:ext cx="2692800" cy="187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검사완료일부터 12개월 무상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개발 · 수정 S/W 4시간 이내 조치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보안취약점 조치 · 패치 제공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81"/>
              </a:spcAft>
              <a:buFont typeface="Segoe UI Symbol"/>
              <a:buChar char="✓"/>
            </a:pPr>
            <a:r>
              <a:rPr sz="1436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요소기술별 하자보수 계획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77600" y="1422000"/>
          <a:ext cx="5691598" cy="4554000"/>
        </p:xfrm>
        <a:graphic>
          <a:graphicData uri="http://schemas.openxmlformats.org/drawingml/2006/table">
            <a:tbl>
              <a:tblPr firstRow="0" bandRow="0"/>
              <a:tblGrid>
                <a:gridCol w="1897199"/>
                <a:gridCol w="3794399"/>
              </a:tblGrid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 · 비상대책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보안각서 · 서약서 · 비밀유지 · 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· 문서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반출입 대장 · 매체 통제 · 등급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모델 즉시 롤백 · 업무 분리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·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 · 자동 재시도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9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보안사고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 · 차단 · 재발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노동분쟁 예방 · 해결을 위한 차세대 디지털 노동위원회 — 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