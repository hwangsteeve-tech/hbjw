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4"/>
  </p:sldMasterIdLst>
  <p:notesMasterIdLst>
    <p:notesMasterId r:id="rId225"/>
  </p:notesMasterIdLst>
  <p:handoutMasterIdLst>
    <p:handoutMasterId r:id="rId226"/>
  </p:handoutMasterIdLst>
  <p:sldIdLst>
    <p:sldId id="7488" r:id="rId16"/>
    <p:sldId id="7489" r:id="rId17"/>
    <p:sldId id="7490" r:id="rId18"/>
    <p:sldId id="7491" r:id="rId19"/>
    <p:sldId id="7492" r:id="rId20"/>
    <p:sldId id="7493" r:id="rId21"/>
    <p:sldId id="7494" r:id="rId22"/>
    <p:sldId id="7495" r:id="rId23"/>
    <p:sldId id="7496" r:id="rId24"/>
    <p:sldId id="7497" r:id="rId25"/>
    <p:sldId id="7498" r:id="rId26"/>
    <p:sldId id="7499" r:id="rId27"/>
    <p:sldId id="7500" r:id="rId28"/>
    <p:sldId id="7501" r:id="rId29"/>
    <p:sldId id="7502" r:id="rId30"/>
    <p:sldId id="7503" r:id="rId31"/>
    <p:sldId id="7504" r:id="rId32"/>
    <p:sldId id="7505" r:id="rId33"/>
    <p:sldId id="7506" r:id="rId34"/>
    <p:sldId id="7507" r:id="rId35"/>
    <p:sldId id="7508" r:id="rId36"/>
    <p:sldId id="7509" r:id="rId37"/>
    <p:sldId id="7510" r:id="rId38"/>
    <p:sldId id="7511" r:id="rId39"/>
    <p:sldId id="7512" r:id="rId40"/>
    <p:sldId id="7513" r:id="rId41"/>
    <p:sldId id="7514" r:id="rId42"/>
    <p:sldId id="7515" r:id="rId43"/>
    <p:sldId id="7516" r:id="rId44"/>
    <p:sldId id="7517" r:id="rId45"/>
    <p:sldId id="7518" r:id="rId46"/>
    <p:sldId id="7519" r:id="rId47"/>
    <p:sldId id="7520" r:id="rId48"/>
    <p:sldId id="7521" r:id="rId49"/>
    <p:sldId id="7522" r:id="rId50"/>
    <p:sldId id="7523" r:id="rId51"/>
    <p:sldId id="7524" r:id="rId52"/>
    <p:sldId id="7525" r:id="rId53"/>
    <p:sldId id="7526" r:id="rId54"/>
    <p:sldId id="7527" r:id="rId55"/>
    <p:sldId id="7528" r:id="rId56"/>
    <p:sldId id="7529" r:id="rId57"/>
    <p:sldId id="7530" r:id="rId58"/>
    <p:sldId id="7531" r:id="rId59"/>
    <p:sldId id="7532" r:id="rId60"/>
    <p:sldId id="7533" r:id="rId61"/>
    <p:sldId id="7534" r:id="rId62"/>
    <p:sldId id="7535" r:id="rId63"/>
    <p:sldId id="7536" r:id="rId64"/>
    <p:sldId id="7537" r:id="rId65"/>
    <p:sldId id="7538" r:id="rId66"/>
    <p:sldId id="7539" r:id="rId67"/>
    <p:sldId id="7540" r:id="rId68"/>
    <p:sldId id="7541" r:id="rId69"/>
    <p:sldId id="7542" r:id="rId70"/>
    <p:sldId id="7543" r:id="rId71"/>
    <p:sldId id="7544" r:id="rId72"/>
    <p:sldId id="7545" r:id="rId73"/>
    <p:sldId id="7546" r:id="rId74"/>
    <p:sldId id="7547" r:id="rId75"/>
    <p:sldId id="7548" r:id="rId76"/>
    <p:sldId id="7549" r:id="rId77"/>
    <p:sldId id="7550" r:id="rId78"/>
    <p:sldId id="7551" r:id="rId79"/>
    <p:sldId id="7552" r:id="rId80"/>
    <p:sldId id="7553" r:id="rId81"/>
    <p:sldId id="7554" r:id="rId82"/>
    <p:sldId id="7555" r:id="rId83"/>
    <p:sldId id="7556" r:id="rId84"/>
    <p:sldId id="7557" r:id="rId85"/>
    <p:sldId id="7558" r:id="rId86"/>
    <p:sldId id="7559" r:id="rId87"/>
    <p:sldId id="7560" r:id="rId88"/>
    <p:sldId id="7561" r:id="rId89"/>
    <p:sldId id="7562" r:id="rId90"/>
    <p:sldId id="7563" r:id="rId91"/>
    <p:sldId id="7564" r:id="rId92"/>
  </p:sldIdLst>
  <p:sldSz cx="6858000" cy="9906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20" userDrawn="1">
          <p15:clr>
            <a:srgbClr val="A4A3A4"/>
          </p15:clr>
        </p15:guide>
        <p15:guide id="2" pos="2160" userDrawn="1">
          <p15:clr>
            <a:srgbClr val="A4A3A4"/>
          </p15:clr>
        </p15:guide>
        <p15:guide id="3" pos="170" userDrawn="1">
          <p15:clr>
            <a:srgbClr val="A4A3A4"/>
          </p15:clr>
        </p15:guide>
        <p15:guide id="4" pos="4163" userDrawn="1">
          <p15:clr>
            <a:srgbClr val="A4A3A4"/>
          </p15:clr>
        </p15:guide>
        <p15:guide id="5" pos="348" userDrawn="1">
          <p15:clr>
            <a:srgbClr val="A4A3A4"/>
          </p15:clr>
        </p15:guide>
        <p15:guide id="6" pos="3972" userDrawn="1">
          <p15:clr>
            <a:srgbClr val="A4A3A4"/>
          </p15:clr>
        </p15:guide>
        <p15:guide id="7" pos="221" userDrawn="1">
          <p15:clr>
            <a:srgbClr val="A4A3A4"/>
          </p15:clr>
        </p15:guide>
        <p15:guide id="8" pos="409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0C0"/>
    <a:srgbClr val="DEEBF7"/>
    <a:srgbClr val="A1DEED"/>
    <a:srgbClr val="D9D9D9"/>
    <a:srgbClr val="FFFFFF"/>
    <a:srgbClr val="2F76B6"/>
    <a:srgbClr val="0070BA"/>
    <a:srgbClr val="2C4F78"/>
    <a:srgbClr val="64C3DC"/>
    <a:srgbClr val="DAE3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27" autoAdjust="0"/>
    <p:restoredTop sz="94660"/>
  </p:normalViewPr>
  <p:slideViewPr>
    <p:cSldViewPr snapToGrid="0">
      <p:cViewPr>
        <p:scale>
          <a:sx n="75" d="100"/>
          <a:sy n="75" d="100"/>
        </p:scale>
        <p:origin x="1506" y="936"/>
      </p:cViewPr>
      <p:guideLst>
        <p:guide orient="horz" pos="3120"/>
        <p:guide pos="2160"/>
        <p:guide pos="170"/>
        <p:guide pos="4163"/>
        <p:guide pos="348"/>
        <p:guide pos="3972"/>
        <p:guide pos="221"/>
        <p:guide pos="409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Relationship Id="rId64" Type="http://schemas.openxmlformats.org/officeDocument/2006/relationships/slide" Target="slides/slide54.xml"/><Relationship Id="rId65" Type="http://schemas.openxmlformats.org/officeDocument/2006/relationships/slide" Target="slides/slide55.xml"/><Relationship Id="rId66" Type="http://schemas.openxmlformats.org/officeDocument/2006/relationships/slide" Target="slides/slide56.xml"/><Relationship Id="rId67" Type="http://schemas.openxmlformats.org/officeDocument/2006/relationships/slide" Target="slides/slide57.xml"/><Relationship Id="rId68" Type="http://schemas.openxmlformats.org/officeDocument/2006/relationships/slide" Target="slides/slide58.xml"/><Relationship Id="rId69" Type="http://schemas.openxmlformats.org/officeDocument/2006/relationships/slide" Target="slides/slide59.xml"/><Relationship Id="rId70" Type="http://schemas.openxmlformats.org/officeDocument/2006/relationships/slide" Target="slides/slide60.xml"/><Relationship Id="rId71" Type="http://schemas.openxmlformats.org/officeDocument/2006/relationships/slide" Target="slides/slide61.xml"/><Relationship Id="rId72" Type="http://schemas.openxmlformats.org/officeDocument/2006/relationships/slide" Target="slides/slide62.xml"/><Relationship Id="rId73" Type="http://schemas.openxmlformats.org/officeDocument/2006/relationships/slide" Target="slides/slide63.xml"/><Relationship Id="rId74" Type="http://schemas.openxmlformats.org/officeDocument/2006/relationships/slide" Target="slides/slide64.xml"/><Relationship Id="rId75" Type="http://schemas.openxmlformats.org/officeDocument/2006/relationships/slide" Target="slides/slide65.xml"/><Relationship Id="rId76" Type="http://schemas.openxmlformats.org/officeDocument/2006/relationships/slide" Target="slides/slide66.xml"/><Relationship Id="rId77" Type="http://schemas.openxmlformats.org/officeDocument/2006/relationships/slide" Target="slides/slide67.xml"/><Relationship Id="rId78" Type="http://schemas.openxmlformats.org/officeDocument/2006/relationships/slide" Target="slides/slide68.xml"/><Relationship Id="rId79" Type="http://schemas.openxmlformats.org/officeDocument/2006/relationships/slide" Target="slides/slide69.xml"/><Relationship Id="rId80" Type="http://schemas.openxmlformats.org/officeDocument/2006/relationships/slide" Target="slides/slide70.xml"/><Relationship Id="rId81" Type="http://schemas.openxmlformats.org/officeDocument/2006/relationships/slide" Target="slides/slide71.xml"/><Relationship Id="rId82" Type="http://schemas.openxmlformats.org/officeDocument/2006/relationships/slide" Target="slides/slide72.xml"/><Relationship Id="rId83" Type="http://schemas.openxmlformats.org/officeDocument/2006/relationships/slide" Target="slides/slide73.xml"/><Relationship Id="rId84" Type="http://schemas.openxmlformats.org/officeDocument/2006/relationships/slide" Target="slides/slide74.xml"/><Relationship Id="rId85" Type="http://schemas.openxmlformats.org/officeDocument/2006/relationships/slide" Target="slides/slide75.xml"/><Relationship Id="rId86" Type="http://schemas.openxmlformats.org/officeDocument/2006/relationships/slide" Target="slides/slide76.xml"/><Relationship Id="rId87" Type="http://schemas.openxmlformats.org/officeDocument/2006/relationships/slide" Target="slides/slide77.xml"/><Relationship Id="rId88" Type="http://schemas.openxmlformats.org/officeDocument/2006/relationships/slide" Target="slides/slide78.xml"/><Relationship Id="rId89" Type="http://schemas.openxmlformats.org/officeDocument/2006/relationships/slide" Target="slides/slide79.xml"/><Relationship Id="rId90" Type="http://schemas.openxmlformats.org/officeDocument/2006/relationships/slide" Target="slides/slide80.xml"/><Relationship Id="rId91" Type="http://schemas.openxmlformats.org/officeDocument/2006/relationships/slide" Target="slides/slide81.xml"/><Relationship Id="rId92" Type="http://schemas.openxmlformats.org/officeDocument/2006/relationships/slide" Target="slides/slide82.xml"/><Relationship Id="rId225" Type="http://schemas.openxmlformats.org/officeDocument/2006/relationships/notesMaster" Target="notesMasters/notesMaster1.xml"/><Relationship Id="rId226" Type="http://schemas.openxmlformats.org/officeDocument/2006/relationships/handoutMaster" Target="handoutMasters/handoutMaster1.xml"/><Relationship Id="rId227" Type="http://schemas.openxmlformats.org/officeDocument/2006/relationships/presProps" Target="presProps.xml"/><Relationship Id="rId228" Type="http://schemas.openxmlformats.org/officeDocument/2006/relationships/viewProps" Target="viewProps.xml"/><Relationship Id="rId229" Type="http://schemas.openxmlformats.org/officeDocument/2006/relationships/theme" Target="theme/theme1.xml"/><Relationship Id="rId2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FC88C87-A870-CEB0-ED88-C071B577138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2BC45F-FED5-D4BC-E846-A726E2675E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A53264-FF37-4A28-A320-34D44B9DA959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F340D6-2F04-0925-A1CA-8AEFCB2ADB1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C895D71-45E6-1EE8-27B3-45C23B4D7FD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CE9521-B036-447B-9F05-EA285466CC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87598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FD334089-59B3-40BB-96F8-BCCD425B3E10}" type="datetimeFigureOut">
              <a:rPr lang="ko-KR" altLang="en-US" smtClean="0"/>
              <a:t>2026-07-25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357438" y="1279525"/>
            <a:ext cx="239077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228262F-01A3-4CFF-895B-FDF42B6E38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8756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9025116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761233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049829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450424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9275855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1302546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809296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199795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05159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9064295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930055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76020E4-D3BF-2E23-3FDA-C00182CF911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60455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컨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40B0BCB0-8223-B3D9-E890-81D448F5CD0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9971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41A63F8-CD22-3A28-E2D3-10878032E2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6858000" cy="99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49059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63852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80C846F1-727C-0585-985D-8DD19A441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359" t="1639" r="80900" b="92396"/>
          <a:stretch>
            <a:fillRect/>
          </a:stretch>
        </p:blipFill>
        <p:spPr>
          <a:xfrm>
            <a:off x="0" y="0"/>
            <a:ext cx="1256670" cy="673100"/>
          </a:xfrm>
          <a:prstGeom prst="rect">
            <a:avLst/>
          </a:prstGeom>
        </p:spPr>
      </p:pic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23850" y="257983"/>
            <a:ext cx="5318423" cy="32008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160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defRPr>
            </a:lvl1pPr>
            <a:lvl2pPr marL="104478" indent="0">
              <a:buNone/>
              <a:defRPr lang="ko-KR" altLang="en-US" sz="823" smtClean="0"/>
            </a:lvl2pPr>
            <a:lvl3pPr marL="313432" indent="0">
              <a:buNone/>
              <a:defRPr lang="ko-KR" altLang="en-US" sz="823" smtClean="0"/>
            </a:lvl3pPr>
            <a:lvl4pPr marL="522387" indent="0">
              <a:buNone/>
              <a:defRPr lang="ko-KR" altLang="en-US" smtClean="0"/>
            </a:lvl4pPr>
            <a:lvl5pPr marL="731342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9" name="슬라이드 번호 개체 틀 2">
            <a:extLst>
              <a:ext uri="{FF2B5EF4-FFF2-40B4-BE49-F238E27FC236}">
                <a16:creationId xmlns:a16="http://schemas.microsoft.com/office/drawing/2014/main" id="{CE098A9A-461E-2B74-D55E-49CB2DCBB94A}"/>
              </a:ext>
            </a:extLst>
          </p:cNvPr>
          <p:cNvSpPr txBox="1">
            <a:spLocks/>
          </p:cNvSpPr>
          <p:nvPr userDrawn="1"/>
        </p:nvSpPr>
        <p:spPr>
          <a:xfrm>
            <a:off x="3174610" y="9688018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42A9537A-DB42-4D35-B31B-5C8E293FF6D7}" type="slidenum">
              <a:rPr lang="ko-KR" altLang="en-US" sz="900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ctr"/>
              <a:t>‹#›</a:t>
            </a:fld>
            <a:endParaRPr lang="ko-KR" altLang="en-US" sz="100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8406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개체 틀 13">
            <a:extLst>
              <a:ext uri="{FF2B5EF4-FFF2-40B4-BE49-F238E27FC236}">
                <a16:creationId xmlns:a16="http://schemas.microsoft.com/office/drawing/2014/main" id="{C174FC7F-2931-4560-A3C1-364B07A5E3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4234" y="1453800"/>
            <a:ext cx="6109424" cy="181525"/>
          </a:xfrm>
          <a:noFill/>
        </p:spPr>
        <p:txBody>
          <a:bodyPr wrap="square" rtlCol="0">
            <a:spAutoFit/>
          </a:bodyPr>
          <a:lstStyle>
            <a:lvl1pPr marL="0" indent="0">
              <a:buNone/>
              <a:defRPr lang="ko-KR" altLang="en-US" sz="64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  <a:lvl2pPr>
              <a:defRPr lang="ko-KR" altLang="en-US" sz="823" smtClean="0"/>
            </a:lvl2pPr>
            <a:lvl3pPr>
              <a:defRPr lang="ko-KR" altLang="en-US" sz="823" smtClean="0"/>
            </a:lvl3pPr>
            <a:lvl4pPr>
              <a:defRPr lang="ko-KR" altLang="en-US" smtClean="0"/>
            </a:lvl4pPr>
            <a:lvl5pPr>
              <a:defRPr lang="ko-KR" altLang="en-US"/>
            </a:lvl5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사각형: 둥근 한쪽 모서리 6">
            <a:extLst>
              <a:ext uri="{FF2B5EF4-FFF2-40B4-BE49-F238E27FC236}">
                <a16:creationId xmlns:a16="http://schemas.microsoft.com/office/drawing/2014/main" id="{B541F7BF-9ADF-46AB-81E5-B13C2B27F216}"/>
              </a:ext>
            </a:extLst>
          </p:cNvPr>
          <p:cNvSpPr/>
          <p:nvPr userDrawn="1"/>
        </p:nvSpPr>
        <p:spPr>
          <a:xfrm>
            <a:off x="0" y="473287"/>
            <a:ext cx="524014" cy="852098"/>
          </a:xfrm>
          <a:prstGeom prst="round1Rect">
            <a:avLst/>
          </a:prstGeom>
          <a:solidFill>
            <a:srgbClr val="008B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F5F91E45-9FCF-43BD-A8FF-24BD1BC3E732}"/>
              </a:ext>
            </a:extLst>
          </p:cNvPr>
          <p:cNvCxnSpPr>
            <a:cxnSpLocks/>
          </p:cNvCxnSpPr>
          <p:nvPr userDrawn="1"/>
        </p:nvCxnSpPr>
        <p:spPr>
          <a:xfrm>
            <a:off x="0" y="1325385"/>
            <a:ext cx="6608862" cy="0"/>
          </a:xfrm>
          <a:prstGeom prst="line">
            <a:avLst/>
          </a:prstGeom>
          <a:ln w="19050">
            <a:solidFill>
              <a:srgbClr val="0074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텍스트 개체 틀 13">
            <a:extLst>
              <a:ext uri="{FF2B5EF4-FFF2-40B4-BE49-F238E27FC236}">
                <a16:creationId xmlns:a16="http://schemas.microsoft.com/office/drawing/2014/main" id="{B014F6E5-DAED-4795-8473-F27C314E90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69969" y="699426"/>
            <a:ext cx="5023588" cy="233013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buNone/>
              <a:defRPr lang="ko-KR" altLang="en-US" sz="914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defRPr>
            </a:lvl1pPr>
          </a:lstStyle>
          <a:p>
            <a:pPr marL="0"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텍스트 개체 틀 13">
            <a:extLst>
              <a:ext uri="{FF2B5EF4-FFF2-40B4-BE49-F238E27FC236}">
                <a16:creationId xmlns:a16="http://schemas.microsoft.com/office/drawing/2014/main" id="{2ECBBF39-A383-4AFE-9C30-8005D916AD6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2769" y="655398"/>
            <a:ext cx="377293" cy="544593"/>
          </a:xfrm>
          <a:noFill/>
        </p:spPr>
        <p:txBody>
          <a:bodyPr wrap="square" rtlCol="0">
            <a:noAutofit/>
          </a:bodyPr>
          <a:lstStyle>
            <a:lvl1pPr marL="0" indent="0" algn="r">
              <a:buNone/>
              <a:defRPr lang="ko-KR" altLang="en-US" sz="1097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pPr marL="0" lvl="0" algn="ctr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BF7D64-638A-0DB1-1838-1BFE0A31C328}"/>
              </a:ext>
            </a:extLst>
          </p:cNvPr>
          <p:cNvSpPr txBox="1"/>
          <p:nvPr userDrawn="1"/>
        </p:nvSpPr>
        <p:spPr>
          <a:xfrm>
            <a:off x="6522317" y="9372523"/>
            <a:ext cx="335685" cy="345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altLang="ko-KR" sz="823" b="0" i="0" u="none" strike="noStrike" kern="1200" cap="none" spc="0" normalizeH="0" baseline="0" noProof="0">
                <a:ln>
                  <a:noFill/>
                </a:ln>
                <a:solidFill>
                  <a:srgbClr val="171616"/>
                </a:solidFill>
                <a:effectLst/>
                <a:uLnTx/>
                <a:uFillTx/>
                <a:latin typeface="나눔스퀘어"/>
                <a:ea typeface="나눔스퀘어"/>
                <a:cs typeface="+mn-cs"/>
              </a:rPr>
              <a:t>&lt;#&gt;</a:t>
            </a:r>
            <a:endParaRPr lang="ko-KR" altLang="en-US" sz="823"/>
          </a:p>
        </p:txBody>
      </p:sp>
    </p:spTree>
    <p:extLst>
      <p:ext uri="{BB962C8B-B14F-4D97-AF65-F5344CB8AC3E}">
        <p14:creationId xmlns:p14="http://schemas.microsoft.com/office/powerpoint/2010/main" val="5559893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2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55ED841-3E70-2D52-DBCB-E944C07C3B70}"/>
              </a:ext>
            </a:extLst>
          </p:cNvPr>
          <p:cNvSpPr/>
          <p:nvPr userDrawn="1"/>
        </p:nvSpPr>
        <p:spPr>
          <a:xfrm>
            <a:off x="3487937" y="2693909"/>
            <a:ext cx="3125255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9" name="슬라이드 번호 개체 틀 2">
            <a:extLst>
              <a:ext uri="{FF2B5EF4-FFF2-40B4-BE49-F238E27FC236}">
                <a16:creationId xmlns:a16="http://schemas.microsoft.com/office/drawing/2014/main" id="{B2797B26-B1E8-6159-7F70-D2371837A9AB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81165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69821875-ABEF-94C5-5C9F-62A6F241B498}"/>
              </a:ext>
            </a:extLst>
          </p:cNvPr>
          <p:cNvSpPr/>
          <p:nvPr userDrawn="1"/>
        </p:nvSpPr>
        <p:spPr>
          <a:xfrm>
            <a:off x="244810" y="2693909"/>
            <a:ext cx="6368380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1F5EF080-74F1-2009-15B4-D5D932E8218F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7351623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42A813A-2054-9B7A-A3EE-537D2323E4B8}"/>
              </a:ext>
            </a:extLst>
          </p:cNvPr>
          <p:cNvSpPr/>
          <p:nvPr userDrawn="1"/>
        </p:nvSpPr>
        <p:spPr>
          <a:xfrm>
            <a:off x="0" y="0"/>
            <a:ext cx="6858000" cy="8168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823"/>
          </a:p>
        </p:txBody>
      </p:sp>
      <p:sp>
        <p:nvSpPr>
          <p:cNvPr id="3" name="자유형: 도형 2">
            <a:extLst>
              <a:ext uri="{FF2B5EF4-FFF2-40B4-BE49-F238E27FC236}">
                <a16:creationId xmlns:a16="http://schemas.microsoft.com/office/drawing/2014/main" id="{CC0A6FCF-E2F3-8AD2-0209-5A0ACB9F8120}"/>
              </a:ext>
            </a:extLst>
          </p:cNvPr>
          <p:cNvSpPr/>
          <p:nvPr userDrawn="1"/>
        </p:nvSpPr>
        <p:spPr>
          <a:xfrm>
            <a:off x="56168" y="2"/>
            <a:ext cx="291683" cy="832380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chemeClr val="tx1">
              <a:lumMod val="95000"/>
              <a:lumOff val="5000"/>
              <a:alpha val="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4" name="자유형: 도형 3">
            <a:extLst>
              <a:ext uri="{FF2B5EF4-FFF2-40B4-BE49-F238E27FC236}">
                <a16:creationId xmlns:a16="http://schemas.microsoft.com/office/drawing/2014/main" id="{0CB78D1D-B4FE-DA6C-EE5A-0D2C0C024C53}"/>
              </a:ext>
            </a:extLst>
          </p:cNvPr>
          <p:cNvSpPr/>
          <p:nvPr userDrawn="1"/>
        </p:nvSpPr>
        <p:spPr>
          <a:xfrm>
            <a:off x="0" y="0"/>
            <a:ext cx="317814" cy="906949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5949" h="647701">
                <a:moveTo>
                  <a:pt x="0" y="0"/>
                </a:moveTo>
                <a:lnTo>
                  <a:pt x="545949" y="0"/>
                </a:ln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  <a:close/>
              </a:path>
            </a:pathLst>
          </a:custGeom>
          <a:solidFill>
            <a:srgbClr val="0074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5" name="자유형: 도형 4">
            <a:extLst>
              <a:ext uri="{FF2B5EF4-FFF2-40B4-BE49-F238E27FC236}">
                <a16:creationId xmlns:a16="http://schemas.microsoft.com/office/drawing/2014/main" id="{75B00E28-9584-240E-0333-89C94C82345D}"/>
              </a:ext>
            </a:extLst>
          </p:cNvPr>
          <p:cNvSpPr/>
          <p:nvPr userDrawn="1"/>
        </p:nvSpPr>
        <p:spPr>
          <a:xfrm>
            <a:off x="-1749" y="0"/>
            <a:ext cx="283035" cy="846485"/>
          </a:xfrm>
          <a:custGeom>
            <a:avLst/>
            <a:gdLst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7" fmla="*/ 88356 w 545949"/>
              <a:gd name="connsiteY7" fmla="*/ 94325 h 647701"/>
              <a:gd name="connsiteX0" fmla="*/ 0 w 545949"/>
              <a:gd name="connsiteY0" fmla="*/ 0 h 647701"/>
              <a:gd name="connsiteX1" fmla="*/ 545949 w 545949"/>
              <a:gd name="connsiteY1" fmla="*/ 0 h 647701"/>
              <a:gd name="connsiteX2" fmla="*/ 545949 w 545949"/>
              <a:gd name="connsiteY2" fmla="*/ 3 h 647701"/>
              <a:gd name="connsiteX3" fmla="*/ 374465 w 545949"/>
              <a:gd name="connsiteY3" fmla="*/ 568337 h 647701"/>
              <a:gd name="connsiteX4" fmla="*/ 346936 w 545949"/>
              <a:gd name="connsiteY4" fmla="*/ 613539 h 647701"/>
              <a:gd name="connsiteX5" fmla="*/ 252547 w 545949"/>
              <a:gd name="connsiteY5" fmla="*/ 647701 h 647701"/>
              <a:gd name="connsiteX6" fmla="*/ 0 w 545949"/>
              <a:gd name="connsiteY6" fmla="*/ 647701 h 647701"/>
              <a:gd name="connsiteX0" fmla="*/ 545949 w 545949"/>
              <a:gd name="connsiteY0" fmla="*/ 0 h 647701"/>
              <a:gd name="connsiteX1" fmla="*/ 545949 w 545949"/>
              <a:gd name="connsiteY1" fmla="*/ 3 h 647701"/>
              <a:gd name="connsiteX2" fmla="*/ 374465 w 545949"/>
              <a:gd name="connsiteY2" fmla="*/ 568337 h 647701"/>
              <a:gd name="connsiteX3" fmla="*/ 346936 w 545949"/>
              <a:gd name="connsiteY3" fmla="*/ 613539 h 647701"/>
              <a:gd name="connsiteX4" fmla="*/ 252547 w 545949"/>
              <a:gd name="connsiteY4" fmla="*/ 647701 h 647701"/>
              <a:gd name="connsiteX5" fmla="*/ 0 w 545949"/>
              <a:gd name="connsiteY5" fmla="*/ 647701 h 6477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5949" h="647701">
                <a:moveTo>
                  <a:pt x="545949" y="0"/>
                </a:moveTo>
                <a:lnTo>
                  <a:pt x="545949" y="3"/>
                </a:lnTo>
                <a:lnTo>
                  <a:pt x="374465" y="568337"/>
                </a:lnTo>
                <a:cubicBezTo>
                  <a:pt x="369409" y="585063"/>
                  <a:pt x="360294" y="600804"/>
                  <a:pt x="346936" y="613539"/>
                </a:cubicBezTo>
                <a:cubicBezTo>
                  <a:pt x="328957" y="630593"/>
                  <a:pt x="299367" y="647701"/>
                  <a:pt x="252547" y="647701"/>
                </a:cubicBezTo>
                <a:lnTo>
                  <a:pt x="0" y="647701"/>
                </a:lnTo>
              </a:path>
            </a:pathLst>
          </a:custGeom>
          <a:noFill/>
          <a:ln w="127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sz="823"/>
          </a:p>
        </p:txBody>
      </p:sp>
      <p:sp>
        <p:nvSpPr>
          <p:cNvPr id="6" name="텍스트 개체 틀 9">
            <a:extLst>
              <a:ext uri="{FF2B5EF4-FFF2-40B4-BE49-F238E27FC236}">
                <a16:creationId xmlns:a16="http://schemas.microsoft.com/office/drawing/2014/main" id="{5CC61270-E58C-4CD3-75BC-975AFBC2C20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7897" y="271413"/>
            <a:ext cx="5635526" cy="20633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 marL="0" indent="0">
              <a:buNone/>
              <a:defRPr lang="ko-KR" altLang="en-US" sz="823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10000"/>
                  </a:schemeClr>
                </a:solidFill>
                <a:latin typeface="경기천년제목 Bold" panose="02020803020101020101" pitchFamily="18" charset="-127"/>
                <a:ea typeface="경기천년제목 Bold" panose="02020803020101020101" pitchFamily="18" charset="-127"/>
              </a:defRPr>
            </a:lvl1pPr>
            <a:lvl2pPr marL="104479" indent="0">
              <a:buNone/>
              <a:defRPr lang="ko-KR" altLang="en-US" sz="823" smtClean="0"/>
            </a:lvl2pPr>
            <a:lvl3pPr marL="313437" indent="0">
              <a:buNone/>
              <a:defRPr lang="ko-KR" altLang="en-US" sz="823" smtClean="0"/>
            </a:lvl3pPr>
            <a:lvl4pPr marL="522394" indent="0">
              <a:buNone/>
              <a:defRPr lang="ko-KR" altLang="en-US" smtClean="0"/>
            </a:lvl4pPr>
            <a:lvl5pPr marL="731351" indent="0">
              <a:buNone/>
              <a:defRPr lang="ko-KR" altLang="en-US"/>
            </a:lvl5pPr>
          </a:lstStyle>
          <a:p>
            <a:pPr marL="0" marR="0" lvl="0" fontAlgn="auto">
              <a:spcAft>
                <a:spcPts val="0"/>
              </a:spcAft>
              <a:buClrTx/>
              <a:buSzTx/>
              <a:tabLst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60DC690-6E34-460F-B6A4-6CF5A62EB2C3}"/>
              </a:ext>
            </a:extLst>
          </p:cNvPr>
          <p:cNvSpPr/>
          <p:nvPr userDrawn="1"/>
        </p:nvSpPr>
        <p:spPr>
          <a:xfrm>
            <a:off x="244811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72717FD-D39F-8E98-379C-C3F05153C648}"/>
              </a:ext>
            </a:extLst>
          </p:cNvPr>
          <p:cNvSpPr/>
          <p:nvPr userDrawn="1"/>
        </p:nvSpPr>
        <p:spPr>
          <a:xfrm>
            <a:off x="4624058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B5475A5-6520-B581-0354-5E7DA0EF6ADD}"/>
              </a:ext>
            </a:extLst>
          </p:cNvPr>
          <p:cNvSpPr/>
          <p:nvPr userDrawn="1"/>
        </p:nvSpPr>
        <p:spPr>
          <a:xfrm>
            <a:off x="2434435" y="2693909"/>
            <a:ext cx="1989132" cy="6634241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241300" dist="38100" dir="5400000" algn="t" rotWithShape="0">
              <a:srgbClr val="9DCCDF">
                <a:alpha val="16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ko-KR" altLang="en-US" sz="823"/>
          </a:p>
        </p:txBody>
      </p:sp>
      <p:sp>
        <p:nvSpPr>
          <p:cNvPr id="7" name="슬라이드 번호 개체 틀 2">
            <a:extLst>
              <a:ext uri="{FF2B5EF4-FFF2-40B4-BE49-F238E27FC236}">
                <a16:creationId xmlns:a16="http://schemas.microsoft.com/office/drawing/2014/main" id="{D7A74A86-AF2F-4131-0264-FB4B27ABEF36}"/>
              </a:ext>
            </a:extLst>
          </p:cNvPr>
          <p:cNvSpPr txBox="1">
            <a:spLocks/>
          </p:cNvSpPr>
          <p:nvPr userDrawn="1"/>
        </p:nvSpPr>
        <p:spPr>
          <a:xfrm>
            <a:off x="6349221" y="9545322"/>
            <a:ext cx="508780" cy="527403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42A9537A-DB42-4D35-B31B-5C8E293FF6D7}" type="slidenum">
              <a:rPr lang="ko-KR" altLang="en-US" sz="457" smtClean="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pPr algn="r"/>
              <a:t>‹#›</a:t>
            </a:fld>
            <a:endParaRPr lang="ko-KR" altLang="en-US" sz="640"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931341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1E447B-F4B4-4E30-97EE-52936639FAEF}"/>
              </a:ext>
            </a:extLst>
          </p:cNvPr>
          <p:cNvSpPr txBox="1"/>
          <p:nvPr userDrawn="1"/>
        </p:nvSpPr>
        <p:spPr>
          <a:xfrm flipH="1">
            <a:off x="489703" y="1285390"/>
            <a:ext cx="2125266" cy="227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731" kern="12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  <a:cs typeface="+mn-cs"/>
              </a:rPr>
              <a:t>템인트 프레젠테이션 템플릿 저작권</a:t>
            </a:r>
            <a:endParaRPr lang="en-US" altLang="ko-KR" sz="731" kern="120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나눔스퀘어 Bold" panose="020B0600000101010101" pitchFamily="50" charset="-127"/>
              <a:ea typeface="나눔스퀘어 Bold" panose="020B0600000101010101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8F0AAC5-6251-4A45-9BE4-4EDC00C4FF72}"/>
              </a:ext>
            </a:extLst>
          </p:cNvPr>
          <p:cNvSpPr txBox="1"/>
          <p:nvPr userDrawn="1"/>
        </p:nvSpPr>
        <p:spPr>
          <a:xfrm flipH="1">
            <a:off x="489703" y="2089168"/>
            <a:ext cx="5747149" cy="709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본 템플릿에 제공되는 디자인 재산권은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템인트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(quiethee8)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 소유하고 있습니다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어떠한 경우에도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템인트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템플릿 및 디자인을 유료로 복제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판매하는 것은 금지하며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재배포를 금지합니다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본 프레젠테이션은 비영리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비상업적인 목적으로만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또한 홍보 목적이 아닌 내부 자료로는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  <a:b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C0000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</a:b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홍보목적인 경우에는 구매 후 사용 가능합니다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상업적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영리목적일 시에는 블로그 혹은 메일로 연락 </a:t>
            </a:r>
            <a:r>
              <a:rPr lang="ko-KR" altLang="en-US" sz="548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주시길</a:t>
            </a: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바랍니다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62A6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.</a:t>
            </a:r>
          </a:p>
          <a:p>
            <a:pPr>
              <a:lnSpc>
                <a:spcPct val="130000"/>
              </a:lnSpc>
              <a:spcBef>
                <a:spcPts val="275"/>
              </a:spcBef>
            </a:pPr>
            <a:r>
              <a:rPr lang="ko-KR" altLang="en-US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이는 다운받는 블로그에도 기재되어 있으며 다운받고 사용시에 동의한 것으로 간주합니다</a:t>
            </a:r>
            <a:r>
              <a:rPr lang="en-US" altLang="ko-KR" sz="548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나눔스퀘어" panose="020B0600000101010101" pitchFamily="50" charset="-127"/>
                <a:ea typeface="나눔스퀘어" panose="020B0600000101010101" pitchFamily="50" charset="-127"/>
              </a:rPr>
              <a:t>. </a:t>
            </a:r>
          </a:p>
        </p:txBody>
      </p:sp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6E1EB96-6ED2-443B-ACE2-CF11854FC42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82227894"/>
              </p:ext>
            </p:extLst>
          </p:nvPr>
        </p:nvGraphicFramePr>
        <p:xfrm>
          <a:off x="489705" y="4615250"/>
          <a:ext cx="5878595" cy="42499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2775">
                  <a:extLst>
                    <a:ext uri="{9D8B030D-6E8A-4147-A177-3AD203B41FA5}">
                      <a16:colId xmlns:a16="http://schemas.microsoft.com/office/drawing/2014/main" val="318238632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2510118193"/>
                    </a:ext>
                  </a:extLst>
                </a:gridCol>
                <a:gridCol w="2622910">
                  <a:extLst>
                    <a:ext uri="{9D8B030D-6E8A-4147-A177-3AD203B41FA5}">
                      <a16:colId xmlns:a16="http://schemas.microsoft.com/office/drawing/2014/main" val="579559814"/>
                    </a:ext>
                  </a:extLst>
                </a:gridCol>
              </a:tblGrid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분류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허용범위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사용금지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예시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)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C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2181525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학생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과제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발표용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공모전 출품 금지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[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문의가능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]</a:t>
                      </a:r>
                      <a:endParaRPr lang="ko-KR" altLang="en-US" sz="17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952909"/>
                  </a:ext>
                </a:extLst>
              </a:tr>
              <a:tr h="91217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등의 홍보자료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7693132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학교 내부 강의자료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 자료 및 강의자료 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1159216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기업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내부자료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보안용 자료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대외용 발표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방송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행사</a:t>
                      </a:r>
                      <a:r>
                        <a:rPr lang="en-US" altLang="ko-KR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, </a:t>
                      </a:r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프로모션 등 사용 금지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042118"/>
                  </a:ext>
                </a:extLst>
              </a:tr>
              <a:tr h="6675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700" kern="120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atin typeface="나눔스퀘어" panose="020B0600000101010101" pitchFamily="50" charset="-127"/>
                          <a:ea typeface="나눔스퀘어" panose="020B0600000101010101" pitchFamily="50" charset="-127"/>
                          <a:cs typeface="+mn-cs"/>
                        </a:rPr>
                        <a:t>기타 사용 부분에는 문의 바랍니다</a:t>
                      </a:r>
                    </a:p>
                  </a:txBody>
                  <a:tcPr marL="51435" marR="51435" marT="66040" marB="66040"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1400" kern="12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나눔스퀘어" panose="020B0600000101010101" pitchFamily="50" charset="-127"/>
                        <a:ea typeface="나눔스퀘어" panose="020B0600000101010101" pitchFamily="50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ADB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203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222598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51B42-B0E4-4F72-9081-FD856815FA9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6133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8" r:id="rId14"/>
    <p:sldLayoutId id="2147483687" r:id="rId15"/>
    <p:sldLayoutId id="2147483686" r:id="rId16"/>
    <p:sldLayoutId id="2147483650" r:id="rId17"/>
    <p:sldLayoutId id="2147483654" r:id="rId18"/>
    <p:sldLayoutId id="2147483656" r:id="rId19"/>
    <p:sldLayoutId id="2147483655" r:id="rId20"/>
    <p:sldLayoutId id="2147483652" r:id="rId21"/>
  </p:sldLayoutIdLst>
  <p:hf hdr="0" ftr="0" dt="0"/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TextBox 5">
            <a:extLst>
              <a:ext uri="{FF2B5EF4-FFF2-40B4-BE49-F238E27FC236}">
                <a16:creationId xmlns:a16="http://schemas.microsoft.com/office/drawing/2014/main" id="{5E46FF42-C36A-87C9-3A55-247FEA1EEF60}"/>
              </a:ext>
            </a:extLst>
          </p:cNvPr>
          <p:cNvSpPr txBox="1"/>
          <p:nvPr/>
        </p:nvSpPr>
        <p:spPr>
          <a:xfrm>
            <a:off x="2826170" y="1555100"/>
            <a:ext cx="3584636" cy="1632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1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50000"/>
                  </a:schemeClr>
                </a:solidFill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정성제안서</a:t>
            </a:r>
            <a:endParaRPr lang="en-US" altLang="ko-KR" sz="1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50000"/>
                </a:schemeClr>
              </a:solidFill>
              <a:latin typeface="KoPubWorld돋움체 Medium" panose="00000600000000000000" pitchFamily="2" charset="-127"/>
              <a:ea typeface="KoPubWorld돋움체 Medium" panose="00000600000000000000" pitchFamily="2" charset="-127"/>
              <a:cs typeface="KoPubWorld돋움체 Medium" panose="00000600000000000000" pitchFamily="2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AI 기반 지역혁신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  <a:p>
            <a:pPr algn="r">
              <a:lnSpc>
                <a:spcPct val="150000"/>
              </a:lnSpc>
            </a:pPr>
            <a:r>
              <a:rPr lang="en-US" altLang="ko-KR" sz="28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데이터 플랫폼 구축</a:t>
            </a:r>
            <a:endParaRPr lang="en-US" altLang="ko-KR" sz="28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0070C0"/>
              </a:solidFill>
              <a:latin typeface="a옛날사진관5" panose="02020600000000000000" pitchFamily="18" charset="-127"/>
              <a:ea typeface="a옛날사진관5" panose="02020600000000000000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EF8EA-14B3-6E55-F0E1-066986D1E0FA}"/>
              </a:ext>
            </a:extLst>
          </p:cNvPr>
          <p:cNvSpPr txBox="1"/>
          <p:nvPr/>
        </p:nvSpPr>
        <p:spPr>
          <a:xfrm>
            <a:off x="4601846" y="3560894"/>
            <a:ext cx="17604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2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사업PM 【성명】 파트너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8C5FC7-1811-9A2D-3F96-29EC88554124}"/>
              </a:ext>
            </a:extLst>
          </p:cNvPr>
          <p:cNvSpPr txBox="1"/>
          <p:nvPr/>
        </p:nvSpPr>
        <p:spPr>
          <a:xfrm>
            <a:off x="3660241" y="4152781"/>
            <a:ext cx="2291653" cy="11772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제출기관: (주)에이치나인</a:t>
            </a:r>
          </a:p>
          <a:p>
            <a:pPr marL="130598" indent="-130598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</a:rPr>
              <a:t>발주기관: 부산대학교 앵커사업단 지역사회혁신본부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7" name="TextBox 16">
            <a:extLst>
              <a:ext uri="{FF2B5EF4-FFF2-40B4-BE49-F238E27FC236}">
                <a16:creationId xmlns:a16="http://schemas.microsoft.com/office/drawing/2014/main" id="{1ED316A1-3D0B-757D-AEF4-F34868C8FC6D}"/>
              </a:ext>
            </a:extLst>
          </p:cNvPr>
          <p:cNvSpPr txBox="1"/>
          <p:nvPr/>
        </p:nvSpPr>
        <p:spPr>
          <a:xfrm>
            <a:off x="963899" y="1892346"/>
            <a:ext cx="4179139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altLang="ko-KR" sz="2800" b="1" spc="-68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0070C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CONTENTS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2778782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일반현황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2671265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2893304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2673089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Ⅰ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168946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3421639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전략 및 방법론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314122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3536161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315946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Ⅱ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3811803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064496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기술 및 기능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3956979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179018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3958803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Ⅲ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4454660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4707353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성능 및 품질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4599836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4821875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4601660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Ⅳ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097517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350210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프로젝트 관리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242693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5464732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244517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Ⅴ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5740374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5993067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프로젝트 지원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5885550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107589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5887374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Ⅵ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6383231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923660C-AD3D-186F-0EF1-52BEE39D9A52}"/>
              </a:ext>
            </a:extLst>
          </p:cNvPr>
          <p:cNvSpPr txBox="1"/>
          <p:nvPr/>
        </p:nvSpPr>
        <p:spPr>
          <a:xfrm>
            <a:off x="1792637" y="6635924"/>
            <a:ext cx="3027013" cy="2769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  <a:scene3d>
              <a:camera prst="orthographicFront"/>
              <a:lightRig rig="threePt" dir="t"/>
            </a:scene3d>
            <a:sp3d>
              <a:bevelT w="1270" h="1270"/>
            </a:sp3d>
          </a:bodyPr>
          <a:lstStyle>
            <a:defPPr>
              <a:defRPr lang="ko-KR"/>
            </a:defPPr>
            <a:lvl1pPr algn="ctr">
              <a:defRPr sz="2000" spc="-100">
                <a:solidFill>
                  <a:srgbClr val="00FEF8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KoPub돋움체 Bold" pitchFamily="18" charset="-127"/>
                <a:ea typeface="KoPub돋움체 Bold" pitchFamily="18" charset="-127"/>
              </a:defRPr>
            </a:lvl1pPr>
          </a:lstStyle>
          <a:p>
            <a:pPr algn="l" defTabSz="487783"/>
            <a:r>
              <a:rPr lang="ko-KR" altLang="en-US" sz="1800" spc="-32">
                <a:solidFill>
                  <a:schemeClr val="tx1"/>
                </a:solidFill>
                <a:effectLst/>
                <a:latin typeface="KoPubWorld돋움체 Bold" panose="00000800000000000000" pitchFamily="2" charset="-127"/>
                <a:ea typeface="KoPubWorld돋움체 Bold" panose="00000800000000000000" pitchFamily="2" charset="-127"/>
              </a:rPr>
              <a:t>기타사항</a:t>
            </a:r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973BF974-F27A-A26D-92AE-A3FDA5DBD9B9}"/>
              </a:ext>
            </a:extLst>
          </p:cNvPr>
          <p:cNvSpPr/>
          <p:nvPr/>
        </p:nvSpPr>
        <p:spPr>
          <a:xfrm>
            <a:off x="997744" y="6528407"/>
            <a:ext cx="463836" cy="463836"/>
          </a:xfrm>
          <a:prstGeom prst="ellipse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accent5">
                  <a:lumMod val="20000"/>
                  <a:lumOff val="80000"/>
                </a:schemeClr>
              </a:gs>
            </a:gsLst>
            <a:lin ang="10800000" scaled="0"/>
          </a:gradFill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KoPubWorld바탕체 Light" panose="00000300000000000000" pitchFamily="2" charset="-127"/>
              <a:ea typeface="KoPubWorld바탕체 Light" panose="00000300000000000000" pitchFamily="2" charset="-127"/>
              <a:cs typeface="+mn-cs"/>
            </a:endParaRPr>
          </a:p>
        </p:txBody>
      </p: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AFF93279-6419-FEFA-DC07-59D0D037F171}"/>
              </a:ext>
            </a:extLst>
          </p:cNvPr>
          <p:cNvCxnSpPr>
            <a:cxnSpLocks/>
          </p:cNvCxnSpPr>
          <p:nvPr/>
        </p:nvCxnSpPr>
        <p:spPr>
          <a:xfrm>
            <a:off x="1457325" y="6750446"/>
            <a:ext cx="179070" cy="0"/>
          </a:xfrm>
          <a:prstGeom prst="straightConnector1">
            <a:avLst/>
          </a:prstGeom>
          <a:ln>
            <a:solidFill>
              <a:srgbClr val="00B0F0"/>
            </a:solidFill>
            <a:headEnd type="none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5C71D9D8-E904-42CE-D557-CF9EB8160CF4}"/>
              </a:ext>
            </a:extLst>
          </p:cNvPr>
          <p:cNvSpPr txBox="1"/>
          <p:nvPr/>
        </p:nvSpPr>
        <p:spPr>
          <a:xfrm>
            <a:off x="1026096" y="6530231"/>
            <a:ext cx="4191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8778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KoPub바탕체 Bold" panose="00000800000000000000" pitchFamily="2" charset="-127"/>
                <a:ea typeface="KoPub바탕체 Bold" panose="00000800000000000000" pitchFamily="2" charset="-127"/>
              </a:rPr>
              <a:t>Ⅶ</a:t>
            </a:r>
            <a:endParaRPr kumimoji="0" lang="ko-KR" altLang="en-US" sz="2400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KoPub바탕체 Bold" panose="00000800000000000000" pitchFamily="2" charset="-127"/>
              <a:ea typeface="KoPub바탕체 Bold" panose="00000800000000000000" pitchFamily="2" charset="-127"/>
            </a:endParaRP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706EACA4-2A8B-84E5-3AB9-081E6CC8A010}"/>
              </a:ext>
            </a:extLst>
          </p:cNvPr>
          <p:cNvCxnSpPr/>
          <p:nvPr/>
        </p:nvCxnSpPr>
        <p:spPr>
          <a:xfrm>
            <a:off x="1792637" y="7026088"/>
            <a:ext cx="2715863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일반현황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Ⅰ.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제안사 일반현황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제안사의 조직 및 인원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회사 개요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일반현황 및 연혁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(사용자 중심 디지털 서비스 전문기업) 2010년 설립 이후 16년간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UX 기획·디자인부터 플랫폼 개발·운영까지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수행해 온 경험으로 실사용 중심 업무 플랫폼을 완성함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0800" y="2358000"/>
            <a:ext cx="6332400" cy="702407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"우리는 기술을 통해 창의적인 경험을 만들어갑니다. 사려 깊은 디자인과 사용자 중심의 접근 방식을 바탕으로, 사람과 제품, 디지털 서비스 간의 의미 있는 연결을 만드는 것이 우리의 목표입니다."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318280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3168407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일반현황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3492407"/>
          <a:ext cx="6260400" cy="3519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회사명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주식회사 에이치나인 (HNINE)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최우식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사업분야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S/W개발 및 공급업, 서비스업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서울특별시 성동구 뚝섬로1길 25, 10층 (성수동1가, 서울숲한라에코밸리)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전화번호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TEL 02-521-0518 / FAX 02-567-0518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설립일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2010년 4월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해당부문 종사기간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2010.04 ~ 2026.08 (16년 5개월)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입찰자격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소프트웨어사업자(1468), 직접생산확인(정보시스템개발서비스 8111159901), 중소기업확인서, 공공입찰참여 제한금액 없음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벤처기업 인증 (2014)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713441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7120019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자본금 및 매출액 (최근 3년, 단위: 천원)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16800" y="7444019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1565100"/>
                <a:gridCol w="1565100"/>
                <a:gridCol w="156510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자본금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100,100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100,100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100,100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매출액 (SW)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9,885,377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9,460,127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11,077,940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매출액 (기타)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38,800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매출액 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9,885,377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9,460,127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11,116,740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1.1.2 주요 연혁 및 수상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일반현황 및 연혁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(검증된 디자인·서비스 품질) 국내외 디자인·ICT 어워드 수상과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공공 교육 플랫폼(국립중앙박물관 모두) 구축·운영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경험으로 공공 서비스 품질을 입증함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4336020"/>
        </p:xfrm>
        <a:graphic>
          <a:graphicData uri="http://schemas.openxmlformats.org/drawingml/2006/table">
            <a:tbl>
              <a:tblPr firstRow="0" bandRow="0"/>
              <a:tblGrid>
                <a:gridCol w="782550"/>
                <a:gridCol w="54778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(주)에이치나인 법인 설립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창업진흥원 혁신적 기업가상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벤처기업 인증 획득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스마트앱 어워드 커뮤니케이션 분야 최우수상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2017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Good Design Award 수상 (코레일톡플러스 모바일 앱)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2019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중소벤처기업부 사내벤처 육성기업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사내벤처 육성 프로그램 활성화 표창 수상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HCI Korea 온라인 학술대회 우수논문 수상 (반려동물을 위한 AR카메라 Owao)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한국무역협회 1백만불 수출의 탑 수상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iF Design Award Communication 부문 수상 (국립중앙박물관 교육통합플랫폼 MODU)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ICT AWARD KOREA 디지털 인사이트 분야 GRAND PRIZE</a:t>
                      </a:r>
                    </a:p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ICT AWARD KOREA 디지털 서비스혁신 분야 GOLD PRIZE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Design Award 2025 Service 부문 수상 (대신증권 MTS)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302400" y="681642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680202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본 사업과의 연관성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712602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800" y="712602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공공 플랫폼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7385219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국립중앙박물관 교육통합플랫폼 '모두' 구축·유지보수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iF Design Award 수상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33600" y="712602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33600" y="712602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통합운영 플랫폼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469600" y="7385219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CELLO SQUARE 통합운영플랫폼 구축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대규모 업무 플랫폼 운영 고도화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50400" y="712602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50400" y="712602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근거 기반 AI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86400" y="7385219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근거 위치를 함께 제시하는 AI Agent 구축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데이터 표준화·분석 자동화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조직 구성 및 기술인력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조직 및 인력 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(전문 인력 기반) 2026년 7월 기준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임직원 129명, 6개 실·22개 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구성되어 있으며 특급 기술자 22명을 보유하여 기획·디자인·개발·품질을 자체 수행함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조직도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6800" y="2682000"/>
            <a:ext cx="4874400" cy="503999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26820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경영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432800" y="2754000"/>
            <a:ext cx="36684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CEO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81200" y="26820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CFO: 경영기획팀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250800"/>
            <a:ext cx="4874400" cy="50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32508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기획·디자인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32800" y="3322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UX실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673600" y="3322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비주얼실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914400" y="33227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인터렉션실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81200" y="32508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사용자 리서치·UI·인터랙션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3819600"/>
            <a:ext cx="4874400" cy="50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34800" y="38196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개발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432800" y="3891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서비스개발실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673600" y="3891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DT개발실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914400" y="3891599"/>
            <a:ext cx="1186800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신사업개발실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81200" y="38196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플랫폼·데이터·AI 개발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388400"/>
            <a:ext cx="4874400" cy="50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3884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관리·품질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2800" y="44604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PMO그룹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294000" y="44604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품질관리팀(CTO)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81200" y="43884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사업관리·품질보증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02400" y="504359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92400" y="50292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기술등급별 인력 구성</a:t>
            </a:r>
          </a:p>
        </p:txBody>
      </p:sp>
      <p:graphicFrame>
        <p:nvGraphicFramePr>
          <p:cNvPr id="55" name="Table 54"/>
          <p:cNvGraphicFramePr>
            <a:graphicFrameLocks noGrp="1"/>
          </p:cNvGraphicFramePr>
          <p:nvPr/>
        </p:nvGraphicFramePr>
        <p:xfrm>
          <a:off x="316800" y="53532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173825"/>
                <a:gridCol w="1173825"/>
                <a:gridCol w="273892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비율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 사업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특급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22명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18.8%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PM·PL·아키텍트·데이터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고급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16명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13.7%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업무분석·UX 설계·보안·품질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19명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16.2%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기능 개발·퍼블리싱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초급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60명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51.3%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개발 지원·시험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합계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117명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기술인력 기준 (전체 임직원 129명)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1.3.1 주요 사업 수행실적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1.3 관련 보유 기술 및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(대규모 플랫폼 수행 역량) UI/UX·S/W개발·AI·데이터·운영 분야에서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연 10억 원 이상 규모의 플랫폼 구축·운영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수행하여 3개월 일정의 복합 사업을 감당할 역량을 갖춤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7" cy="4834846"/>
        </p:xfrm>
        <a:graphic>
          <a:graphicData uri="http://schemas.openxmlformats.org/drawingml/2006/table">
            <a:tbl>
              <a:tblPr firstRow="0" bandRow="0"/>
              <a:tblGrid>
                <a:gridCol w="2672121"/>
                <a:gridCol w="1526926"/>
                <a:gridCol w="992502"/>
                <a:gridCol w="1068848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계약금액(원)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SKHy '26년 표준 아키텍처 구축 Ph3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2026.07 ~ 2026.12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1,107,180,000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Trading AI Agent 개발 및 ML/DL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2026.04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129,385,380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26년 Cello Square 플랫폼 UX기획 및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2026.01 ~ 2026.12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928,320,000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LG LIFE 및 그룹 홈페이지 사이트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2026.01 ~ 2026.12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661,298,000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㈜엘지씨엔에스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중진공 전용 플랫폼 CX 기획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2025.10 ~ 2026.01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180,000,000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경기 컬처패스 플랫폼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2025.10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144,000,000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㈜마이비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닷컴 글로벌 표준 CX 디자인 UX/UI 가이드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2025.09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270,000,000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삼성전자㈜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SKHy '25년 표준 아키텍처 구축 Ph2 (차세대)(DT)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2025.08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1,999,758,400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25년 국립중앙박물관 모두 플랫폼 개선 및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2025.07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86,200,000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CELLO SQUARE 5.0 운영고도화 CX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2025.01 ~ 2025.12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1,235,530,000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LG Awards 고도화 (엘지경영개발원 인화원)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2024.09 ~ 2025.02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126,900,000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㈜엘지씨엔에스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4846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2024년 국립중앙박물관 교육 플랫폼 [모두] 유지보수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2024.07 ~ 2025.01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100,000,000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국립중앙박물관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2024년 CELLO SQUARE 통합운영플랫폼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2024.04 ~ 2024.12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1,444,700,000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삼성에스디에스㈜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726484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정량평가(유사실적)는 최근 3년 데이터 통합·관리 플랫폼, 성과관리시스템 구축 완료 실적만 인정 — [서식 6]·[서식 7] 및 계약서·세금계산서 제출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1.3.2 본 사업 관련 핵심 수행사례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1.3 관련 보유 기술 및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(근거 제시형 AI · 공공 플랫폼 경험) 근거 위치를 함께 제시하는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AI Agent 구축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경험과 공공 교육 플랫폼 구축·운영 경험을 본 사업의 성과관리·AI 설계에 그대로 적용함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Trading AI Agent 개발 (SK가스)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0800" y="2682000"/>
            <a:ext cx="6332400" cy="2582324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2718000"/>
            <a:ext cx="6224400" cy="2546324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(데이터 체계) 시황 데이터의 효율적·신속한 관리·분석을 위한 일일 리포트 자동화 AI Agent 구축</a:t>
            </a:r>
          </a:p>
          <a:p>
            <a:pPr marL="361950" indent="-180975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  <a:buFont typeface="KoPubWorld돋움체 Medium"/>
              <a:buChar char="–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데이터 업데이트·조회·엑셀 다운로드 기능을 갖춘 표준화된 데이터 처리 체계와 다단계 분석 구조 마련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(근거 기반 신뢰성) 자연어 질의에 </a:t>
            </a:r>
            <a:r>
              <a:rPr sz="1200" b="0" spc="-30">
                <a:solidFill>
                  <a:srgbClr val="0462DA"/>
                </a:solidFill>
                <a:latin typeface="KoPubWorld돋움체 Bold"/>
                <a:ea typeface="KoPubWorld돋움체 Bold"/>
                <a:cs typeface="KoPubWorld돋움체 Bold"/>
              </a:rPr>
              <a:t>근거 데이터의 정확한 위치를 함께 제시</a:t>
            </a: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하는 추적 가능한 Agent 응답 체계 구현</a:t>
            </a:r>
          </a:p>
          <a:p>
            <a:pPr marL="361950" indent="-180975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  <a:buFont typeface="KoPubWorld돋움체 Medium"/>
              <a:buChar char="–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통계적 이상탐지 자동화·분석을 통한 의사결정 지원 체계 확립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(본 사업 적용) FUR-028·029 의미기반 검색·요약 설계에 '근거·기준일·한계 제시' 원칙으로 적용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536872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535432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국립중앙박물관 교육통합플랫폼 '모두' (2023 iF Design Award)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800" y="5678324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5714324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(공공 플랫폼) 공공기관 교육 프로그램 통합 플랫폼의 구축·개선·유지보수를 연속 수행함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(본 사업 적용) 프로그램 신청·참여·이수 흐름과 대외 공개 포털 UX 설계에 적용 (FUR-002·005)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02400" y="713920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2400" y="712480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CELLO SQUARE 통합운영플랫폼 구축 (삼성SDS)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0800" y="7448804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4800" y="7484804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(통합 운영) 대규모 통합운영플랫폼 구축과 5.0 운영고도화를 수행하여 업무 포털·관리자 시스템 설계 역량을 확보함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(본 사업 적용) 내부 업무포털·역할별 대시보드·권한 체계 설계에 적용 (FUR-001·003)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제안사 일반현황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1.3.3 AI Agent 운영·품질관리 수행사례 (MOSAIC)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1.3 관련 보유 기술 및 수행실적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(AI 품질관리 실적) SK하이닉스 MES AI Agent와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실행 이력·품질지표 통합 모니터링 플랫폼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구축한 경험을 본 사업의 AI 이용이력·품질평가 설계에 적용함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SK하이닉스 MES AI Agent 통합 관제 및 품질관리 체계 구축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682000"/>
          <a:ext cx="6260400" cy="1332000"/>
        </p:xfrm>
        <a:graphic>
          <a:graphicData uri="http://schemas.openxmlformats.org/drawingml/2006/table">
            <a:tbl>
              <a:tblPr firstRow="0" bandRow="0"/>
              <a:tblGrid>
                <a:gridCol w="3521475"/>
                <a:gridCol w="1565100"/>
                <a:gridCol w="1173825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관련 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SKHy '26년 용인 Y1(M17) 제조 DT 시스템 Ph1 (FAB MOS)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2026.05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SKHy '26년 M14 차세대 제조 시스템 확산 (FAB MOS)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2026.03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SKHy '26년 M15X Ph4 차세대 제조 시스템 (FAB MOS)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2026.03 ~ 2026.06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에스케이㈜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280800" y="4121999"/>
            <a:ext cx="6332400" cy="258695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4157999"/>
            <a:ext cx="6224400" cy="255096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(이상 탐지) MES 운영 로그와 시스템 상태 정보를 실시간 분석하여 이상 징후를 탐지하고 조치를 지원하는 MES 특화 AI Agent 'MOSAIC' 개발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(운영 모니터링) Agent의 실행 이력·도구 호출·처리 결과·시스템 지표를 통합 수집·분석하는 운영·모니터링 플랫폼 구축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(원인 분석) 로그·메트릭·실행 이력 간 상관관계 분석으로 장애 구간과 원인 후보를 식별하여 운영 담당자의 대응 지원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(품질 평가) Judge Agent가 정확성·관련성·</a:t>
            </a:r>
            <a:r>
              <a:rPr sz="1200" b="0" spc="-30">
                <a:solidFill>
                  <a:srgbClr val="0462DA"/>
                </a:solidFill>
                <a:latin typeface="KoPubWorld돋움체 Bold"/>
                <a:ea typeface="KoPubWorld돋움체 Bold"/>
                <a:cs typeface="KoPubWorld돋움체 Bold"/>
              </a:rPr>
              <a:t>근거 충실도</a:t>
            </a: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·응답 지연 기준으로 결과를 자동 평가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2400" y="681335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2400" y="679896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본 사업 적용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16800" y="7122959"/>
            <a:ext cx="20148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316800" y="7122959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AI 이용 이력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800" y="7410959"/>
            <a:ext cx="19428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질의·근거·결과·확정 여부 기록 구조 (SER-007)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2342400" y="750275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439600" y="7122959"/>
            <a:ext cx="20148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2439600" y="7122959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품질평가 기준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75600" y="7410959"/>
            <a:ext cx="19428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정확도·근거 일치율 평가 설계 (FUR-029)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465200" y="750275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562400" y="7122959"/>
            <a:ext cx="20148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4562400" y="7122959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운영 모니터링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98400" y="7410959"/>
            <a:ext cx="19428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응답시간·오류율 관제 (PER-004)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제안사의 조직 및 인원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사업 수행조직 및 역할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수행 조직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(현장 밀착형 조직) PM 직할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4개 실행팀 + 품질·보안 지원조직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구성하고, 핵심 인력을 부산 현장에 배치하여 협의·검수 속도를 확보함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수행 조직도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682000"/>
            <a:ext cx="6260400" cy="522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682000"/>
            <a:ext cx="1044000" cy="52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발주기관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32800" y="27540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지역사회혁신본부(사업총괄)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35600" y="27540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AX 정보화혁신본부(인프라·SSO)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38400" y="27540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세부과제 9-1~9-6 담당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268800"/>
            <a:ext cx="6260400" cy="522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268800"/>
            <a:ext cx="1044000" cy="52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사업관리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33408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사업책임자(PM)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35600" y="33408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품질보증(QA)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38400" y="33408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보안관리책임자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55600"/>
            <a:ext cx="6260400" cy="522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55600"/>
            <a:ext cx="1044000" cy="52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분석·설계팀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9276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업무분석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135600" y="39276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데이터 표준·DB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838400" y="39276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UX·UI 설계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442400"/>
            <a:ext cx="6260400" cy="522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442400"/>
            <a:ext cx="1044000" cy="52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개발팀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2800" y="45144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업무포털·관리자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135600" y="45144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공개 성과포털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838400" y="4514400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대시보드·GIS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5029200"/>
            <a:ext cx="6260400" cy="522000"/>
          </a:xfrm>
          <a:prstGeom prst="rect">
            <a:avLst/>
          </a:prstGeom>
          <a:solidFill>
            <a:srgbClr val="2A6E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5029200"/>
            <a:ext cx="1044000" cy="52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데이터·AI팀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432800" y="5101199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초기 이관·품질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135600" y="5101199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AI 적용방안 설계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838400" y="5101199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통합검색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16800" y="5615999"/>
            <a:ext cx="6260400" cy="522000"/>
          </a:xfrm>
          <a:prstGeom prst="rect">
            <a:avLst/>
          </a:prstGeom>
          <a:solidFill>
            <a:srgbClr val="3A7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34800" y="5615999"/>
            <a:ext cx="1044000" cy="522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인프라·보안팀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432800" y="5687999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서버 도입·IDC 입주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135600" y="5687999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보안·취약점 점검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838400" y="5687999"/>
            <a:ext cx="1648800" cy="37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백업·모니터링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02400" y="62892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92400" y="62748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조직별 역할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16800" y="6598799"/>
          <a:ext cx="6260400" cy="254883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4304025"/>
                <a:gridCol w="7825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조직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일정·위험·변경·보고 총괄, 발주기관 협의체 운영, 산출물 검토·승인 요청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분석·설계팀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9-1~9-6 업무·데이터 분석, 공통/개별 영역 구분, 데이터 표준·ERD, 화면설계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내부 업무포털·관리자·공개포털·대시보드·GIS 개발, 단위·통합시험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부분 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데이터·AI팀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표준양식·초기 이관, 품질규칙, 통합검색, AI 의미검색·요약 적용방안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부분 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인프라·보안팀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서버 장비 도입·랙 설치·OS/DB 구성, SSO 연계시험, 취약점 점검·조치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설치 시 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제안사의 조직 및 인원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2.2.1 투입인력 및 투입계획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2.2 투입 인력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(필수 역량 전원 투입) RFP가 요구한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총괄PM·업무분석·UI/UX·개발·DB·데이터·AI·보안·품질 9개 역할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모두 지정하고 단계별 투입 시점을 제시함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투입 인력 계획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5" cy="4071204"/>
        </p:xfrm>
        <a:graphic>
          <a:graphicData uri="http://schemas.openxmlformats.org/drawingml/2006/table">
            <a:tbl>
              <a:tblPr firstRow="0" bandRow="0"/>
              <a:tblGrid>
                <a:gridCol w="1058095"/>
                <a:gridCol w="705397"/>
                <a:gridCol w="573135"/>
                <a:gridCol w="2292540"/>
                <a:gridCol w="396785"/>
                <a:gridCol w="396785"/>
                <a:gridCol w="396785"/>
                <a:gridCol w="440873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M+1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M+2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총괄PM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사업총괄·협의체·위험관리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업무분석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9개 세부업무 분석, 요구사항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UI/UX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업무흐름·화면설계, 사용성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UI 디자인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디자인 시스템·반응형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 PL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아키텍처·공통 프레임워크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업무포털·관리자·포털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6.0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DB·데이터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데이터 표준·ERD·이관·품질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 적용방안 분석·설계, 통합검색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보안·인프라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서버 도입·보안·취약점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품질(QA)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품질보증·시험·형상관리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사업관리(PMO)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보안관리·시범운영·교육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6735204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● 전담 ○ 부분투입 / 성명·등급은 확정 후 기재, 핵심인력 교체 시 발주기관 사전승인·동급 이상 대체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제안사의 조직 및 인원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Ⅰ. 일반현황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2.3.1 사업관리자(PM) 이력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2.3 사업관리자(PM)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(총괄 PM) 공공 정보화 사업 경험을 갖춘 PM이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3개월 사업의 일정·품질·위험을 총괄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 발주기관 협의체를 직접 운영함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651204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1095570"/>
                <a:gridCol w="1095570"/>
                <a:gridCol w="626040"/>
                <a:gridCol w="704295"/>
                <a:gridCol w="17998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소속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직책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 사업 임무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총괄 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3117203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주요 경력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3351204"/>
          <a:ext cx="6260399" cy="4410000"/>
        </p:xfrm>
        <a:graphic>
          <a:graphicData uri="http://schemas.openxmlformats.org/drawingml/2006/table">
            <a:tbl>
              <a:tblPr firstRow="0" bandRow="0"/>
              <a:tblGrid>
                <a:gridCol w="2895435"/>
                <a:gridCol w="1330335"/>
                <a:gridCol w="939059"/>
                <a:gridCol w="1095570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참여기간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담당업무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발주처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전략 및 방법론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Ⅱ.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사업이해도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추진전략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적용기술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표준 프레임워크 적용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개발 방법론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추진배경 및 현행 문제점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사업 배경 및 현황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(본질 이해) 본 사업은 홈페이지·파일보관소가 아니라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지역문제→사업운영→리빙랩→성과·증빙→정책환류를 하나의 데이터 체계로 잇는 핵심업무 플랫폼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구축임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현행 업무의 문제점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0800" y="2682000"/>
            <a:ext cx="6332400" cy="283221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2718000"/>
            <a:ext cx="6224400" cy="279621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(분산 관리) 세부과제별 운영실적·참여자·만족도·협력기관·보고서·증빙이 개별 문서와 파일로 흩어져 있음</a:t>
            </a:r>
          </a:p>
          <a:p>
            <a:pPr marL="361950" indent="-180975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  <a:buFont typeface="KoPubWorld돋움체 Medium"/>
              <a:buChar char="–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사업성과 종합 파악과 후속사업 활용이 어려움</a:t>
            </a:r>
          </a:p>
          <a:p>
            <a:pPr marL="361950" indent="-180975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  <a:buFont typeface="KoPubWorld돋움체 Medium"/>
              <a:buChar char="–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평가 대응 시 자료 취합에 반복적인 수작업 발생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(정량 편중) 운영 건수·참여자 수 중심 관리로 인터뷰·활동기록·정책제안 등 정성성과가 축적되지 않음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(근거 단절) 실적 수치와 증빙자료가 연결되지 않아 성과의 신뢰성·설명력이 낮음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(연도 변동) 매년 교내 공모로 세부사업·참여학과·지표가 바뀌어 고정된 시스템으로는 대응이 어려움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561861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560421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사업 목표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6800" y="592821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316800" y="592821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표준화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621621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사업·프로그램·리빙랩·참여자·성과 자료 표준 통합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1811700" y="63344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908900" y="592821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1908900" y="592821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신뢰성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44900" y="621621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실적-증빙 연결과 검토·승인으로 지표 신뢰성 확보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3403800" y="63344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501000" y="592821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3501000" y="592821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가시화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37000" y="621621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대시보드·GIS로 추진현황과 성과 제공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4995900" y="6334415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093100" y="592821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5093100" y="592821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확장성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29100" y="621621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AI 분석·서비스 고도화에 대응하는 구조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대상 사업(앵커사업 9번 단위과제) 분석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사업 범위 및 대상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(공통·개별 구분) 9-1~9-6 세부과제의 업무와 데이터 특성을 분석하여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공통기능 + 과제별 확장영역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설계함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세부과제별 업무·데이터 특성 &gt;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592000"/>
          <a:ext cx="6260397" cy="3155652"/>
        </p:xfrm>
        <a:graphic>
          <a:graphicData uri="http://schemas.openxmlformats.org/drawingml/2006/table">
            <a:tbl>
              <a:tblPr firstRow="0" bandRow="0"/>
              <a:tblGrid>
                <a:gridCol w="412361"/>
                <a:gridCol w="1199597"/>
                <a:gridCol w="1574471"/>
                <a:gridCol w="1574471"/>
                <a:gridCol w="1499497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세부과제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특성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핵심 성과지표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설계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문화살롱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유휴공간 거점, 인문학 프로그램, 온라인 강좌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(시)운영 건수·만족도 / (대)온라인 수강자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공간 위치(GIS), 수강 실적 업로드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BUSAN CREATIVE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영상·문화예술 콘텐츠, 상영·전시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(시)운영 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대용량 영상 분리 저장, 콘텐츠 메타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공간 개선 리빙랩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빅데이터+정성데이터 지역문제 진단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(시)만족도·운영 건수 / (대)분석보고서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지역문제-리빙랩 단계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부산형 AIP 리빙랩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의료·보건·사회서비스 연계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(시)운영 건수 / (대)분석보고서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민감정보 최소수집·비식별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Feed-forward 리빙랩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미래 예측 기반 문제 예견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(시)운영 건수 / (대)분석보고서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기준선·종료선 변화분석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Human-UP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인문창업·인재양성·지역정주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(대)운영 건수·참여자·만족도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참여형 프로그램(신청·이수증)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87005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85565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구축 범위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6179652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6800" y="6179652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대외 공개 성과포털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438852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앵커사업단 홈페이지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승인 성과·정책제안 공개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기본 지도·통합검색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33600" y="6179652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433600" y="6179652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내부 업무포털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9600" y="6438852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사업·프로그램·참여자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성과지표·증빙·승인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정책환류·변화분석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50400" y="6179652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50400" y="6179652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관리자 시스템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86400" y="6438852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연도별 권한·사업 변동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코드·지표 사전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AI 설정·로그·백업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7197264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16800" y="7197264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데이터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2800" y="7456464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표준·메타데이터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초기 이관·품질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백업·반출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433600" y="7197264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433600" y="7197264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AI 분석·설계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69600" y="7456464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의미기반 검색 설계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요약·분류 적용방안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AI 이용정책·이력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50400" y="7197264"/>
            <a:ext cx="20268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550400" y="7197264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인프라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86400" y="7456464"/>
            <a:ext cx="19548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데이터 서버 도입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PNU IDC 입주·설치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SSO 연계시험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사업이해도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1.3.1 요구사항 간 상충 사항과 해결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1.3 핵심 이슈 및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(사전 정합화) RFP 내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범위 포함/제외가 엇갈리는 5개 항목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식별하고, 기본 구현과 연계 불가 시 대체방식을 함께 제시하여 범위 분쟁 없이 완수함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398" cy="3672467"/>
        </p:xfrm>
        <a:graphic>
          <a:graphicData uri="http://schemas.openxmlformats.org/drawingml/2006/table">
            <a:tbl>
              <a:tblPr firstRow="0" bandRow="0"/>
              <a:tblGrid>
                <a:gridCol w="968871"/>
                <a:gridCol w="2310385"/>
                <a:gridCol w="2981142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상충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제안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96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인증 알림</a:t>
                      </a:r>
                    </a:p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(FUR-001·006)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일반인·기업회원 임시비밀번호를 카카오·문자로 제공 vs 외부 알림서비스 연계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인증용 발송 모듈만 범위에 포함하고, 발송 서비스(알림톡·SMS) 계약은 발주기관 보유 서비스 활용 협의. 미확보 시 이메일 인증으로 대체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96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학사 연동</a:t>
                      </a:r>
                    </a:p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(FUR-007·INR-005)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학생 학과·학년·성적 조회 연동 vs 학사 상세데이터 자동연계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AX 정보화혁신본부 승인 범위의 최소항목(소속·학년)만 SSO 속성으로 연계. 성적 등 추가 항목은 승인 시 조회형 연계, 미승인 시 파일 반입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04815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외부 연계</a:t>
                      </a:r>
                    </a:p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(FUR-008)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고용24 실시간 채용정보·기업신용평가 연계 vs 외부 직접·실시간 연계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고용24 공개 OpenAPI를 일 단위 수집·링크형으로 제공. 신용평가 데이터는 유료 계약 필요 → 엑셀 반입 + 연계 인터페이스 설계로 확장점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96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설문</a:t>
                      </a:r>
                    </a:p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(FUR-005·024)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프로그램별 설문 라이브러리 vs 자체 설문조사 엔진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 만족도용 경량 설문(템플릿·문항·통계)만 구현. 기준선·종료선 측정은 외부 설문도구 결과 업로드로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96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홈페이지</a:t>
                      </a:r>
                    </a:p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(FUR-002)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앵커사업단 홈페이지 전체(회원·커뮤니티) vs 3억 범위 핵심 공개화면 우선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시 메뉴별 우선순위를 확정하고 1차 필수(소개·프로그램·성과·정책제안·회원)를 먼저 구축, 나머지는 변경관리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280800" y="6138468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위 사항은 제안요청서 질의 및 착수 시 요구사항 대비표로 확정하며, 어떤 경우에도 핵심 업무가 끊기지 않도록 대체방식을 기본 제공함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비전 및 추진 목표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사업 추진전략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(비전)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근거로 증명하는 지역혁신 성과 플랫폼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— 분산된 자료를 표준으로 묶고, 수치마다 근거를 연결하며, 매년 바뀌는 사업을 설정만으로 수용함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6260400" cy="576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00" y="23580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비전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432800" y="2430000"/>
            <a:ext cx="50544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근거로 증명하는 지역혁신 성과 플랫폼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998800"/>
            <a:ext cx="6260400" cy="576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9988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추진 목표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32800" y="30708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자료 취합 시간 단축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35600" y="30708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실적-증빙 100% 연결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38400" y="30708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연도 전환 소스 수정 0건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639600"/>
            <a:ext cx="6260400" cy="576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6396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추진 방향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37115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Data Driven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35600" y="37115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Work Driven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38400" y="37115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Impact Driven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4280400"/>
            <a:ext cx="6260400" cy="576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42804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45" name="Rounded Rectangle 44"/>
          <p:cNvSpPr/>
          <p:nvPr/>
        </p:nvSpPr>
        <p:spPr>
          <a:xfrm>
            <a:off x="1432800" y="43524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Policy Driven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135600" y="43524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Responsible AI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838400" y="43524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Sustainable &amp; Open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921200"/>
            <a:ext cx="6260400" cy="576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9212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핵심 전략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2800" y="49932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업무·데이터 표준 선행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135600" y="49932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근거 연결형 성과관리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838400" y="4993200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공모형 연도전환 구조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5562000"/>
            <a:ext cx="6260400" cy="576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5562000"/>
            <a:ext cx="1044000" cy="576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</a:p>
        </p:txBody>
      </p:sp>
      <p:sp>
        <p:nvSpPr>
          <p:cNvPr id="55" name="Rounded Rectangle 54"/>
          <p:cNvSpPr/>
          <p:nvPr/>
        </p:nvSpPr>
        <p:spPr>
          <a:xfrm>
            <a:off x="1432800" y="56339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단계 시연·사용자 정착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135600" y="56339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제한적 AI 설계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838400" y="5633999"/>
            <a:ext cx="1648800" cy="4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3개월 일정 확보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02400" y="62892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92400" y="62748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RFP 추진전략 대응</a:t>
            </a:r>
          </a:p>
        </p:txBody>
      </p:sp>
      <p:graphicFrame>
        <p:nvGraphicFramePr>
          <p:cNvPr id="60" name="Table 59"/>
          <p:cNvGraphicFramePr>
            <a:graphicFrameLocks noGrp="1"/>
          </p:cNvGraphicFramePr>
          <p:nvPr/>
        </p:nvGraphicFramePr>
        <p:xfrm>
          <a:off x="316800" y="6598799"/>
          <a:ext cx="6260400" cy="2284020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469530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RFP 추진전략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제안 실행방안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❶ 업무·데이터 표준 선행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3주 내 표준정의서·데이터사전·지표사전 초안 확정 후 개발 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❷ 전 과정 연결형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지역문제→프로그램→활동→성과·증빙→정책제안→반영의 관계형 모델과 추적화면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❸ 핵심업무 우선 구축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사업·프로그램·참여자·성과·승인·정책환류를 1순위 스프린트로 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❹~❻ 공개 분리·AI·GIS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공개승인 워크플로, AI는 분석·설계 범위, GIS는 마커·필터·상세까지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❼~❾ 검증·정착·지속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 산식·증빙 검증규칙, 단계 시연·UAT, 소스·데이터·라이선스 완전 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2.1.2 사업 추진 프로세스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사업 추진전략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(5단계 추진) 표준 정의를 먼저 끝내고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개발·데이터 이관·인프라 구축을 병행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3개월 안에 시범운영과 안정화까지 완료함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추진 프로세스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6800" y="268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268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M1. 착수·분석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234800" y="2754000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324800" y="279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수행계획·요구사항 대비표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46999" y="279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9개 세부업무 인터뷰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324800" y="324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현행 자료 목록화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446999" y="324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유사 시스템 분석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69200" y="268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요구사항 정의서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6800" y="3761999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4800" y="3761999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M2. 표준·설계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34800" y="383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324800" y="387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데이터 표준·지표사전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46999" y="387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ERD·관계모델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324800" y="432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메뉴·화면·UI/UX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446999" y="432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보안·백업 설계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569200" y="3761999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설계서·프로토타입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84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84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M3. 구축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34800" y="491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324800" y="495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업무포털·관리자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446999" y="495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공개포털·대시보드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324800" y="540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통합검색·GIS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446999" y="540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서버 도입·IDC 입주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69200" y="484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통합 플랫폼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6800" y="592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4800" y="592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M4. 데이터·AI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234800" y="599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1324800" y="603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표준양식·초기 이관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446999" y="603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품질검증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324800" y="6480000"/>
            <a:ext cx="41544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AI 적용방안 설계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569200" y="592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이관 데이터·AI 설계서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16800" y="700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34800" y="700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M5. 시험·전환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234800" y="707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1324800" y="711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통합·보안·성능시험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446999" y="7110000"/>
            <a:ext cx="20322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UAT·시범운영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324800" y="7560000"/>
            <a:ext cx="41544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교육·기술이전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569200" y="700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운영 전환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2.2.1 사업 핵심 차별화 전략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2.2 차별화 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(차별화) 평가위원이 가장 우려할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연도 변동·근거 신뢰성·3개월 일정·AI 안전성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에 각각 대응하는 5대 전략을 제시함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① 공모형 연도전환 엔진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사업연도 단위로 구조·지표·양식을 선택 복사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세부과제 번호·명칭·상태·승계 분리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연도 전환 시 소스·DB 수정 없음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92000" y="2358000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920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② 근거 연결형 성과관리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0" y="2617200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모든 수치 → 근거목록 → 증빙 원문 2클릭 이동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자동집계값과 수동보정값·사유 분리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확정 후 변경은 재승인·이력 보존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375612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3375612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③ 정책환류 타임라인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3634812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제안-검토-협의-반영-후속조치 상태 추적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부산시·관계기관 회신을 파일·링크로 등록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지역변화까지 하나의 흐름으로 표시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92000" y="3375612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92000" y="3375612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④ UX 기반 업무 정착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0" y="3634812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담당자 인터뷰·현장관찰로 화면 설계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2주 단위 단계 시연·사용성 점검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반복입력 최소화·엑셀 일괄등록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6800" y="4393223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16800" y="4393223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⑤ Responsible AI 설계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800" y="4652424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권한·공개등급을 검색 단계에 적용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온프레미스 처리로 외부 전송 차단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AI 결과는 검토·확정 후 사용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92000" y="4393223"/>
            <a:ext cx="3085200" cy="927611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492000" y="4393223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⑥ 3개월 완수 일정관리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28000" y="4652424"/>
            <a:ext cx="3013200" cy="675611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서버 장비 착수 2주 내 발주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장비 입고 전 개발환경 병행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SSO 지연 시 별도계정으로 진행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2400" y="5479235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92400" y="546483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차별화 전략의 정량 목표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316800" y="5788835"/>
          <a:ext cx="6260400" cy="2361204"/>
        </p:xfrm>
        <a:graphic>
          <a:graphicData uri="http://schemas.openxmlformats.org/drawingml/2006/table">
            <a:tbl>
              <a:tblPr firstRow="0" bandRow="0"/>
              <a:tblGrid>
                <a:gridCol w="1643355"/>
                <a:gridCol w="1956375"/>
                <a:gridCol w="266067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발주기관 우려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 전략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목표 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매년 바뀌는 공모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① 연도전환 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연도 전환 시 소스·DB 수정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실적 신뢰성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② 근거 연결형 성과관리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확정 실적의 증빙 연결률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정책 성과 증명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③ 정책환류 타임라인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정책제안별 상태·근거 이력 100%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현장 정착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④ UX 기반 업무 정착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UAT 핵심 과업 성공률 90% 이상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⑤ Responsible AI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무권한 자료 노출 0건 (설계 검증)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촉박한 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⑥ 3개월 완수 일정관리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11주차 시범운영 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추진전략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2.3.1 일정·범위 위험 사전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2.3 위험 대응 전략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(선제 대응) 3개월 사업에서 일정에 직결되는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6대 위험을 착수 전에 식별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 예방·대응 계획을 운영함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7" cy="3155652"/>
        </p:xfrm>
        <a:graphic>
          <a:graphicData uri="http://schemas.openxmlformats.org/drawingml/2006/table">
            <a:tbl>
              <a:tblPr firstRow="0" bandRow="0"/>
              <a:tblGrid>
                <a:gridCol w="1159333"/>
                <a:gridCol w="772888"/>
                <a:gridCol w="2164088"/>
                <a:gridCol w="2164088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위험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예방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발생 시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서버 장비 납기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1주 내 규격 승인 요청, 2주 내 발주, 재고 모델 우선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시험환경을 당사 보안 개발환경에서 운영, 입고 즉시 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SSO 연계 협의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회의에 AX혁신본부 참석 요청, 연계 규격 조기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별도계정 방식으로 개발·시범운영, 승인 후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초기 이관 자료 품질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이관 대상·우선순위 확정, 표준양식 사전 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오류행 리포트로 담당자 보완, 단계별 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사용자 참여 부족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세부과제별 담당자 지정, 시연 일정 사전 공지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현장 방문 인터뷰·원격 시연 병행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 확대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대비표 기준선 확정, 변경관리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영향·일정 분석 후 차기 고도화로 이관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보안 우려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AI는 분석·설계 범위, 외부 전송 금지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온프레미스 설계·비식별 데이터로만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63605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62165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위험관리 절차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94565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94565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식별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23365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주간회의·협의체에서 위험 등록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493280" y="632545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590480" y="594565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590480" y="594565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분석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26480" y="623365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발생 가능성×영향도 등급화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766960" y="632545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864160" y="594565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864160" y="594565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대응 계획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0160" y="623365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회피·완화·전가·수용 결정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040640" y="632545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137840" y="594565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137840" y="594565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모니터링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3840" y="623365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주간 점검, 상 등급 즉시 보고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5314320" y="6325451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11520" y="594565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5411520" y="594565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종결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7520" y="623365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조치 결과 확인·교훈 기록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0800" y="6917651"/>
            <a:ext cx="6332400" cy="55062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6953652"/>
            <a:ext cx="6224400" cy="51462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(상향 보고) '상' 등급 위험은 발생 즉시 본부에 보고하고 48시간 내 대응안을 제출함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적용기술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목표 시스템 아키텍처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목표 시스템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(분리·확장 구조) 공개 영역과 내부 업무 영역을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논리적으로 분리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계층별 표준기술과 확장지점을 명시하여 후속 AI·GIS 고도화를 소스 재작성 없이 수용함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ECR-001, QUR-003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계층별 목표 아키텍처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682000"/>
            <a:ext cx="4874400" cy="55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6820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사용자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32800" y="27540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시민·기업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363400" y="27540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학생·교직원(SSO)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94000" y="27540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본부·과제 담당자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24600" y="27540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관리자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81200" y="26820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PC·태블릿·모바일 웹 반응형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6800" y="3304800"/>
            <a:ext cx="4874400" cy="55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4800" y="33048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채널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432800" y="33767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대외 공개 성과포털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73600" y="33767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내부 업무포털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914400" y="3376799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관리자 시스템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81200" y="33048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공개/내부 도메인·WAS 분리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16800" y="3927600"/>
            <a:ext cx="4874400" cy="558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4800" y="39276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업무 서비스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432800" y="39996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사업·프로그램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363400" y="39996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성과·증빙·승인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294000" y="39996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정책환류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224600" y="39996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대시보드·GIS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81200" y="39276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전자정부 표준프레임워크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4550400"/>
            <a:ext cx="4874400" cy="558000"/>
          </a:xfrm>
          <a:prstGeom prst="rect">
            <a:avLst/>
          </a:prstGeom>
          <a:solidFill>
            <a:srgbClr val="2A6E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45504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공통 서비스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432800" y="46224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인증·권한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363400" y="46224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파일·버전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294000" y="46224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검색·색인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224600" y="46224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알림·로그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281200" y="45504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역할기반 접근통제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16800" y="5173200"/>
            <a:ext cx="4874400" cy="558000"/>
          </a:xfrm>
          <a:prstGeom prst="rect">
            <a:avLst/>
          </a:prstGeom>
          <a:solidFill>
            <a:srgbClr val="1C3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34800" y="51732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데이터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432800" y="52452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업무 DB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363400" y="52452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파일 저장소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294000" y="52452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검색 색인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224600" y="5245200"/>
            <a:ext cx="8766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AI 벡터(설계)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281200" y="51732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PostgreSQL·OpenSearch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16800" y="5796000"/>
            <a:ext cx="4874400" cy="558000"/>
          </a:xfrm>
          <a:prstGeom prst="rect">
            <a:avLst/>
          </a:prstGeom>
          <a:solidFill>
            <a:srgbClr val="3A7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34800" y="5796000"/>
            <a:ext cx="104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인프라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432800" y="5868000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WEB/WAS 서버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673600" y="5868000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DB·검색 서버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914400" y="5868000"/>
            <a:ext cx="1186800" cy="413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백업 스토리지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281200" y="5796000"/>
            <a:ext cx="1296000" cy="55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PNU IDC 입주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80800" y="6490799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34800" y="6526800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(분리) 공개포털은 승인·공개등급 데이터만 조회하는 별도 서비스로 구성하여 내부 자료가 노출될 경로를 차단함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(확장) 고급 GIS·AI 질의응답·추가 교내연계는 서비스 인터페이스와 데이터 구조만 설계에 반영하여 후속 사업에서 모듈로 추가함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적용기술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3.2.1 적용 기술 및 선정 근거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3.2 적용기술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(종속 최소화) 검증된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공개 표준·오픈소스 중심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구성하여 라이선스 비용을 줄이고, 계약 종료 후 발주기관이 독립적으로 운영할 수 있게 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ECR-003, COR-002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8" cy="4578876"/>
        </p:xfrm>
        <a:graphic>
          <a:graphicData uri="http://schemas.openxmlformats.org/drawingml/2006/table">
            <a:tbl>
              <a:tblPr firstRow="0" bandRow="0"/>
              <a:tblGrid>
                <a:gridCol w="950946"/>
                <a:gridCol w="1743402"/>
                <a:gridCol w="2535858"/>
                <a:gridCol w="1030192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기술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선정 근거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OS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Rocky Linux 9 (또는 발주기관 표준 OS)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RHEL 호환, 장기지원, IDC 운영 표준과 정합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오픈소스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프레임워크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전자정부 표준프레임워크 4.x (Spring Boot)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공공 표준, 유지보수 인력 확보 용이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오픈소스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React 기반 SPA + 반응형 UI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업무포털 대량 입력·필터 성능, 컴포넌트 재사용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MIT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DBMS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PostgreSQL + PostGIS + pgvector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공간정보·벡터 확장을 단일 DB에서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오픈소스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검색엔진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OpenSearch + 한글 형태소 분석기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첨부문서 본문 색인, 권한 필터 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Apache 2.0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OpenLayers + 브이월드 배경지도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국가 공간정보, 행정동 경계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무료(API키)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시각화·보고서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Apache ECharts, JasperReports, Apache POI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대시보드 차트, PDF·엑셀 표준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오픈소스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ClamAV(파일검사), 발주기관 백신·WAF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업로드 악성코드 검사, IDC 보안장비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오픈소스/기보유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Prometheus·Grafana, pgBackRest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자원·응답시간 모니터링, DB 백업·복구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오픈소스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7008876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제품 버전·지원종료일·유지관리 비용은 착수 시 라이선스 목록으로 제출 (상용 제품 도입 시 발주기관 사전 승인)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표준 프레임워크 적용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4.1.1 전자정부 표준프레임워크 적용 범위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4.1 표준 프레임워크 적용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(표준 준수) 실행·공통 컴포넌트 계층에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전자정부 표준프레임워크를 적용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화면 계층 분리에 따른 문제점과 대응을 사전에 제시함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COR-001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표준프레임워크 적용 계획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2890836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760737"/>
                <a:gridCol w="3325837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계층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화면처리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REST 컨트롤러, 공통 응답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React 화면과 REST API 분리, 표준 예외처리·메시지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업무처리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서비스·트랜잭션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 서비스 구조, 선언적 트랜잭션, 업무 공통 유효성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MyBatis 기반 DAO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 데이터 접근 구조, SQL 형상관리, DB 독립성 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연계통합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SSO 어댑터, 파일 반입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인증 어댑터 분리로 연계방식 변경 시 업무 코드 영향 차단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공통기반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로그·보안·스케줄링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감사로그, 배치(재집계·색인·백업) 스케줄링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공통컴포넌트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게시판·권한·코드·메뉴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공지·자료실·코드·메뉴 관리에 재사용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560523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559083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예상 문제점 및 대응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16800" y="5914836"/>
          <a:ext cx="6260400" cy="1600020"/>
        </p:xfrm>
        <a:graphic>
          <a:graphicData uri="http://schemas.openxmlformats.org/drawingml/2006/table">
            <a:tbl>
              <a:tblPr firstRow="0" bandRow="0"/>
              <a:tblGrid>
                <a:gridCol w="2347650"/>
                <a:gridCol w="39127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예상 문제점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공통컴포넌트(JSP 기반)와 SPA 화면 구조 차이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공통컴포넌트의 서비스·DAO만 재사용하고 화면은 REST로 재구성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표준프레임워크 버전과 오픈소스 라이브러리 호환성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시 버전 매트릭스 확정, 보안패치 적용 가능한 최신 버전 선택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 미적용 영역(검색·지도) 발생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 인터페이스 뒤에 캡슐화, 적용 예외 목록과 사유 문서화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개발 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5.1.1 반복점진형 개발 방법론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5.1 개발 방법론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(단계 시연형 방법론) 정보시스템 구축 표준 단계에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2주 단위 반복(스프린트)과 단계 시연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결합하여 3개월 일정에서 요구 누락과 재작업을 줄임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착수·분석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수행계획서(10일 내)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요구사항 대비표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현행 자료 목록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28074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2358000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설계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2646000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데이터 표준·ERD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화면설계·프로토타입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아키텍처 설계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28074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2358000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반복 구현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2646000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스프린트 1~4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격주 단계 시연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단위시험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28074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2358000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시험·전환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2646000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통합·보안·성능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UAT·시범운영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교육·인계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02400" y="348361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92400" y="346921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스프린트 운영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3793212"/>
          <a:ext cx="6260398" cy="1809612"/>
        </p:xfrm>
        <a:graphic>
          <a:graphicData uri="http://schemas.openxmlformats.org/drawingml/2006/table">
            <a:tbl>
              <a:tblPr firstRow="0" bandRow="0"/>
              <a:tblGrid>
                <a:gridCol w="860805"/>
                <a:gridCol w="978187"/>
                <a:gridCol w="2973689"/>
                <a:gridCol w="1447717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스프린트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시연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M+0.5~1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사용자·권한, 사업연도·세부과제·공모학과, 코드·메뉴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M+1~1.5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프로그램·일정·참여자·협력기관·활동·리빙랩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세부과제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M+1.5~2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성과물·지표·실적·검증·승인, 정책환류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본부·세부과제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M+2~2.5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대시보드·GIS·통합검색·공개포털·보고서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본부·AX혁신본부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9" name="Rectangle 48"/>
          <p:cNvSpPr/>
          <p:nvPr/>
        </p:nvSpPr>
        <p:spPr>
          <a:xfrm>
            <a:off x="302400" y="5725223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92400" y="5710823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단계 시연 운영 원칙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80800" y="6034823"/>
            <a:ext cx="6332400" cy="197171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4800" y="6070823"/>
            <a:ext cx="6224400" cy="193571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(동작 화면으로 확인) 문서 대신 실제 동작하는 화면으로 시연하여 요구사항 오해를 조기에 발견함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(피드백 반영) 시연 피드백은 다음 스프린트 백로그로 등록하고, 범위 밖 요청은 변경관리로 분리함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(설계 우선 영역) 데이터 표준·지표 사전은 S1 착수 전 확정하여 반복 개발 중 구조 변경을 최소화함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개발 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Ⅱ. 전략 및 방법론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5.2.1 단계별 산출물 및 적용 경험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5.2 단계별 산출물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(산출물 표준화) 단계별 산출물을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요구사항 번호로 추적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할 수 있게 작성하여 검수 근거로 활용함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3100428"/>
        </p:xfrm>
        <a:graphic>
          <a:graphicData uri="http://schemas.openxmlformats.org/drawingml/2006/table">
            <a:tbl>
              <a:tblPr firstRow="0" bandRow="0"/>
              <a:tblGrid>
                <a:gridCol w="978187"/>
                <a:gridCol w="3912750"/>
                <a:gridCol w="1369462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제출 시점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사업수행계획서, 요구사항 대비표, 보안관리계획서, 위험관리계획서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계약 후 10일 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정의서, 현행 업무·자료 분석서, 유사 시스템 분석서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M+3주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아키텍처·프로세스·메뉴·화면·인터페이스·데이터 설계서, 데이터 표준·지표 사전, ERD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M+5주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소스코드, DB 스크립트, 설정정보, 단위시험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스프린트 종료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통합·성능·보안·접근성·이관 시험 결과서, 취약점 점검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M+11주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운영자·사용자 매뉴얼, 교육 결과, 기술이전 자료, 라이선스·장비 인계서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종료 2주 전 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 적용방안 분석·설계서, AI 이용정책, 품질평가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M+11주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58082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566428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방법론 적용 경험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0800" y="5890427"/>
            <a:ext cx="6332400" cy="116586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4800" y="5926428"/>
            <a:ext cx="6224400" cy="112986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(적용 사례) 【유사 사업명】에서 동일 방법론으로 분석·설계 단계 시연을 운영하여 【성과】를 달성함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(도구) 요구사항 추적은 이슈관리 도구, 소스·문서는 형상관리 저장소로 일원화함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기술 및 기능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Ⅲ.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기능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보안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데이터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제약사항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3개 영역 메뉴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메뉴 및 화면 구조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(영역 분리) 대외 공개 성과포털 · 내부 업무포털 · 관리자 시스템을 분리하고,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역할별로 필요한 메뉴만 노출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FUR-002, FUR-003, FUR-031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22804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173825"/>
                <a:gridCol w="39127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메뉴 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6396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대외 공개 성과포털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시민·기업·유관기관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홈, 사업단 소개, 사업·프로그램(신청), 지역문제·기본지도, 주요성과, 정책제안, 산학협력기업 현황, 자료실, 통합검색, 공지·커뮤니티, 회원서비스·MY-PAGE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96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내부 업무포털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본부·세부과제 담당자, 교수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내 업무, 사업연도·세부과제, 공모 선정학과, 프로그램·일정, 참여자, 협력기관, 활동·리빙랩, 성과물, 성과지표, 정성성과, 정책환류, 변화분석, AI 검색·요약(설계), 표준 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9612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관리자 시스템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 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사용자·연도별 권한, 사업연도·조직·사업 변동, 코드·메타데이터, 지표 사전, 공개승인, 파일·저장소, 데이터 품질, AI 설정·품질, 로그·감사, 메뉴·콘텐츠, 백업·운영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70844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69404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역할별 권한 구조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018040"/>
          <a:ext cx="6260400" cy="2361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626040"/>
                <a:gridCol w="782550"/>
                <a:gridCol w="626040"/>
                <a:gridCol w="782550"/>
                <a:gridCol w="211288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등록·수정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다운로드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내부관리자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본부담당자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담당 사업연도 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세부과제담당자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배정된 사업연도·세부사업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교수(학과)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소속 학과 프로그램·지도학생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조회자·외부검토자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지정 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일반이용자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●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○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공개자료·본인 신청내역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7451243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● 허용 ○ 조건부(승인·공개등급) - 불가 / 메뉴·기능·사업·자료 단위로 관리자 설정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역할 기반 인증 및 접근권한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사용자 권한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(이중 인증 경로) 학생·교직원은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학내 SSO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, 일반인·기업회원은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별도계정 + 임시비밀번호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방식으로 구성하고 SSO 미연계 시에도 동일 업무를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사용자 유형별 인증 방식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2682000"/>
          <a:ext cx="6260400" cy="1942020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1643355"/>
                <a:gridCol w="1799865"/>
                <a:gridCol w="17998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인증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연계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미연계 시 대체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학생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학내 통합인증(SSO)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학번, 소속, 신분 (승인 최소항목)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별도계정 + 관리자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교·직원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학내 통합인증(SSO)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사번, 소속 부서·학과, 신분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별도계정 + 관리자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일반인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회원가입 + 임시비밀번호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성명, 연락처, 지역 (최소수집)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이메일 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기업회원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회원가입 + 임시비밀번호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기업명, 사업자번호,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이메일 인증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302400" y="474642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473202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계정·권한 생명주기 관리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800" y="5056020"/>
            <a:ext cx="6332400" cy="297963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4800" y="5092020"/>
            <a:ext cx="6224400" cy="294363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(권한 설정) 메뉴·기능·사업·자료 단위로 조회·등록·수정·삭제·승인·다운로드 권한을 설정함</a:t>
            </a:r>
          </a:p>
          <a:p>
            <a:pPr marL="361950" indent="-180975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  <a:buFont typeface="KoPubWorld돋움체 Medium"/>
              <a:buChar char="–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사업연도·세부사업 단위로 권한을 부여하여 당해 연도 선정학과 담당자만 해당 자료를 관리함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(생명주기) 휴면(1년 미접속)·잠금(5회 실패)·퇴직·권한회수를 자동 점검하고 접속·권한변경 이력을 보존함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(SSO 어댑터) 인증 연계부를 어댑터로 분리하여 SAML·OAuth 등 연계방식 확정 후 업무 코드 수정 없이 적용함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(임시비밀번호) 카카오 알림톡·문자 발송은 발주기관 보유 서비스 연동을 우선 적용하고, 첫 로그인 시 비밀번호 변경을 강제함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1.3.1 앵커사업단 홈페이지 및 공개 성과포털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1.3 대외 공개 성과포털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(공개 품질 통제) 시민·유관기관에게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내부 승인된 공개자료만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연도·지역·주제별로 탐색하게 하고, 개인정보는 원문과 검색결과에서 모두 제외함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68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사업단 소개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1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비전·조직·세부과제 소개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주요업무·공지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33600" y="235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4336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프로그램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9600" y="261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프로그램 소개·온라인 신청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MY-PAGE 신청현황·이수증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50400" y="235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50400" y="235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성과·정책제안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86400" y="261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주요성과·대표사례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정책제안·반영 현황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6800" y="334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16800" y="334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지역문제 지도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2800" y="360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사업·문제·정책 위치 마커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행정동 단위 필터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433600" y="334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433600" y="334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산학협력기업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69600" y="360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소재지역·산업분류 분포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취업기업 현황(집계)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50400" y="3348000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550400" y="3348000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자료실·검색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86400" y="3607200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보고서·콘텐츠 열람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공개등급 반영 통합검색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02400" y="440639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92400" y="4392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공개 데이터 통제 방식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16800" y="4716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 Same Side Corner Rectangle 51"/>
          <p:cNvSpPr/>
          <p:nvPr/>
        </p:nvSpPr>
        <p:spPr>
          <a:xfrm>
            <a:off x="316800" y="4716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등록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2800" y="5004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담당자 자료 등록·공개 희망 표시</a:t>
            </a:r>
          </a:p>
        </p:txBody>
      </p:sp>
      <p:sp>
        <p:nvSpPr>
          <p:cNvPr id="54" name="Isosceles Triangle 53"/>
          <p:cNvSpPr/>
          <p:nvPr/>
        </p:nvSpPr>
        <p:spPr>
          <a:xfrm rot="5400000">
            <a:off x="1811700" y="509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908900" y="4716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 Same Side Corner Rectangle 55"/>
          <p:cNvSpPr/>
          <p:nvPr/>
        </p:nvSpPr>
        <p:spPr>
          <a:xfrm>
            <a:off x="1908900" y="4716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점검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44900" y="5004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개인정보·저작권·민감정보 체크리스트</a:t>
            </a:r>
          </a:p>
        </p:txBody>
      </p:sp>
      <p:sp>
        <p:nvSpPr>
          <p:cNvPr id="58" name="Isosceles Triangle 57"/>
          <p:cNvSpPr/>
          <p:nvPr/>
        </p:nvSpPr>
        <p:spPr>
          <a:xfrm rot="5400000">
            <a:off x="3403800" y="509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3501000" y="4716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ound Same Side Corner Rectangle 59"/>
          <p:cNvSpPr/>
          <p:nvPr/>
        </p:nvSpPr>
        <p:spPr>
          <a:xfrm>
            <a:off x="3501000" y="4716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승인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37000" y="5004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본부 공개승인·공개기간 설정</a:t>
            </a:r>
          </a:p>
        </p:txBody>
      </p:sp>
      <p:sp>
        <p:nvSpPr>
          <p:cNvPr id="62" name="Isosceles Triangle 61"/>
          <p:cNvSpPr/>
          <p:nvPr/>
        </p:nvSpPr>
        <p:spPr>
          <a:xfrm rot="5400000">
            <a:off x="4995900" y="5095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5093100" y="4716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ound Same Side Corner Rectangle 63"/>
          <p:cNvSpPr/>
          <p:nvPr/>
        </p:nvSpPr>
        <p:spPr>
          <a:xfrm>
            <a:off x="5093100" y="4716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공개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129100" y="5004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공개 전용 뷰로 포털 노출·색인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80800" y="5688000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34800" y="5724000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(반응형·접근성) PC·태블릿·모바일에서 동일 기능을 제공하고 웹 접근성 지침을 적용함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(범위) 시민참여 신청·접수·심사 기능은 제외하고, 3억 원 범위의 핵심 공개화면을 우선 구축함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1.4.1 역할별 업무 대시보드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1.4 내부 업무포털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(내 업무 중심) 로그인 즉시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미제출·승인대기·지표 미달·마감예정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역할별로 보여주고, 모든 수치에서 근거 목록과 증빙으로 이동함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역할별 대시보드 구성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194202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543287"/>
                <a:gridCol w="2543287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핵심 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차트·목록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본부담당자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전체 운영건수·참여자·협력기관·지표 달성률·승인대기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세부과제별 달성률, 월별 운영 추이, 예산집행 참고값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세부과제담당자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담당 프로그램·미제출 자료·반려 건·마감 임박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지표별 목표 대비 실적, 최근 변경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교수(학과)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소속 학과 프로그램·참여 학생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프로그램별 신청·이수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데이터 품질 오류·로그 이상·저장공간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백업·배치 수행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465642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64202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근거 이동 구조 (Drill-down)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68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3168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대시보드 수치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예) 9-3 운영건수 38건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1811700" y="534582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9089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19089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근거 목록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449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집계 대상 프로그램·활동 목록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3403800" y="534582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5010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35010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상세 화면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370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프로그램 운영정보·참여자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4995900" y="534582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931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0931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증빙 원문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291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결과보고서·사진·명단 파일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80800" y="5938020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5974020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(공통 필터) 사업연도·세부과제·프로그램·지역·기간 필터를 모든 화면에 공통 적용하고 마지막 조건을 기억함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1.5.1 공모형 연도 전환 구조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1.5 사업연도별 사업체계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(소스 수정 없는 연도 전환) 사업연도-단위과제-세부과제-세부사업을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연도 단위 데이터로 관리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매년 공모 결과를 관리자 설정만으로 반영함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연도 전환 절차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6800" y="268200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신규 연도 생성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297000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사업연도 등록, 단위과제 지정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811700" y="3088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908900" y="268200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9089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선택 복사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4900" y="297000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전년도 구조·프로그램·지표·양식 항목별 복사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3403800" y="3088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501000" y="268200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35010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재확정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37000" y="297000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기간·학과·담당자·예산·목표값·공개범위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995900" y="3088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93100" y="2682000"/>
            <a:ext cx="148410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50931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권한 부여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9100" y="2970000"/>
            <a:ext cx="141210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선정학과 담당자에 연도·사업 단위 권한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0800" y="370681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사업 변동 유형 처리 &gt;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3940812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3130200"/>
                <a:gridCol w="211288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변동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처리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과거 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신규·계속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신규 등록 또는 전년도 사업과 승계관계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명칭·내용 변경 이력 저장, 동일 승계 ID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변경 전 정보 해당연도 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통합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복수 사업 → 1개 사업 승계관계(N:1)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 전 실적 원 사업에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1개 사업 → 복수 사업 승계관계(1:N)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분리 전 실적 원 사업에 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종료 상태·종료일 기록, 신규 입력 차단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조회·보고서에는 계속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Rectangle 49"/>
          <p:cNvSpPr/>
          <p:nvPr/>
        </p:nvSpPr>
        <p:spPr>
          <a:xfrm>
            <a:off x="280800" y="6068016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6104016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(학과 다대다) 하나의 과제에 복수 학과, 하나의 학과에 복수 과제 참여를 허용하고 주관·공동·협력·종료 역할과 기간을 관리함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(번호·명칭 분리) 세부과제 관리번호(9-1 등)와 명칭을 분리하여 번호 체계가 바뀌어도 실적이 이어짐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1.5.2 성과지표 가중치·예산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1.5 사업연도별 사업체계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(운영자 설정형 지표) 성과지표를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참여형·성과형(RAW)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구분하고 가중치·점수·담당자·예산을 운영자가 직접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FUR-004, FUR-016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성과지표 관리 항목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942020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112885"/>
                <a:gridCol w="1799865"/>
                <a:gridCol w="133033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점수 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 주체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참여형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 참여·이수, 교육참여자, 운영건수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이수자·운영건수 × 가중치 자동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성과형(RAW)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활동건수, 협력기관 실적, 성과물·사례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RAW 데이터(엑셀) 등록 시 항목별 가중치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이수자, 프로그램(건), %, 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지표별 단위·집계기준 지정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성과 주체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학생, 교·직원, 일반인, 기업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주체별 집계·중복 제거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465642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64202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RAW 데이터 항목 관리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0800" y="4966020"/>
            <a:ext cx="6332400" cy="2189654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5002020"/>
            <a:ext cx="6224400" cy="2153654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(항목 생성) 운영자가 성과형 지표의 세부 항목을 화면에서 생성하면 DB 항목으로 저장되고 엑셀 양식이 자동 생성됨</a:t>
            </a:r>
          </a:p>
          <a:p>
            <a:pPr marL="361950" indent="-180975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  <a:buFont typeface="KoPubWorld돋움체 Medium"/>
              <a:buChar char="–"/>
            </a:pPr>
            <a:r>
              <a:rPr sz="11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엑셀 업로드·다운로드, 앵커사업단 제출용 서식 출력 제공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(담당자 지정) 과제별 성과지표마다 담당자를 지정하여 해당 소속 담당자만 입력·수정함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(예산) 세부과제(성과지표)와 일반과제(비성과지표)의 예산을 공통 관리하고 과제별 예산 담당자가 월별 집행 현황을 입력·조회함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1.6.1 프로그램 등록 및 운영상태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1.6 프로그램·일정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(계획부터 이수증까지) 프로그램 개설 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과제·예산·성과지표를 지정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신청·출석·만족도·이수증까지 한 흐름으로 처리하여 실적이 자동 집계됨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FUR-005, FUR-006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16568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계획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09368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과제·세부사업·예산·지표·모집대상 지정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493280" y="2764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590480" y="2358000"/>
            <a:ext cx="116568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모집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6480" y="2646000"/>
            <a:ext cx="109368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온라인 신청·일괄 명단 등록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2766960" y="2764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2864160" y="2358000"/>
            <a:ext cx="116568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운영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00160" y="2646000"/>
            <a:ext cx="109368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회차별 출석, 활동 기록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040640" y="2764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137840" y="2358000"/>
            <a:ext cx="116568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종료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73840" y="2646000"/>
            <a:ext cx="109368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만족도 설문, 수료·가수료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5314320" y="276420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411520" y="2358000"/>
            <a:ext cx="1165680" cy="8988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공개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47520" y="2646000"/>
            <a:ext cx="1093680" cy="6288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성과정리·공개승인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0800" y="3382811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프로그램 유형별 기능 &gt;</a:t>
            </a:r>
          </a:p>
        </p:txBody>
      </p:sp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3616812"/>
          <a:ext cx="6260399" cy="1600020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1173825"/>
                <a:gridCol w="414751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제공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참여형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학생·일반인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온라인 신청→승인→출석→만족도→가수료·수료→이수증 출력, 참여자 일괄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성과형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담당 부서·학과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활동건수·협력기관·성과물 RAW 입력, 가중치 부여, 제출용 다운로드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공통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유형(인문·리빙랩·창업 등) 관리자 추가, 회차·워크숍 하위 등록, 전년도 프로그램 복사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2" name="Rectangle 51"/>
          <p:cNvSpPr/>
          <p:nvPr/>
        </p:nvSpPr>
        <p:spPr>
          <a:xfrm>
            <a:off x="302400" y="533923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92400" y="532483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일정·마감 알림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80800" y="5648832"/>
            <a:ext cx="6332400" cy="197171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34800" y="5684832"/>
            <a:ext cx="6224400" cy="193571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(통합 달력) 프로그램 일정, 지표 입력기한, 보고서·증빙 제출기한, 승인기한을 달력과 목록으로 제공함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(플랫폼 내 알림) 지연·미제출·반려 건을 자동 표시하고 담당자·관리자에게 플랫폼 내부 알림으로 통지함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(설문 라이브러리) 주제·문항 템플릿으로 프로그램별 만족도 설문을 구성하고 응답 통계를 제공함 (자체 설문엔진은 제외)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1.7.1 참여자 및 참여이력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1.7 참여자·협력기관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(최소수집·중복제거) 승인된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최소 항목만 수집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 업로드 단계에서 오류·중복·필수값을 검증하여 참여자 실적을 정확하게 집계함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FUR-007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968020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상세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수집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성명·소속유형·연령대·지역·연락처 (승인 최소항목), 학생·시민·교직원·전문가·기관관계자 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등록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직접입력, 표준양식 업로드(미리보기·오류행 다운로드), 온라인 신청 자동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중복 판정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성명+연락처 해시 기준 동일인 판정, 고유인원·중복포함 집계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동의상태·보유기간·파기대상 관리, 열람·다운로드 권한 분리, 공개 통계는 집계값만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MY-PAGE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신청 프로그램 현황, 과제물 관리, 만족도 설문, 이수증 출력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학사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학생 소속·학년은 SSO 승인 항목으로 조회, 성적 등은 승인 시 조회형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교수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소속 학과 및 지도 학생의 참여 현황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44842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43402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참여자 업로드 검증 흐름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758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758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양식 업로드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046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표준 스프레드시트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613781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5758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5758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자동 검증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6046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필수값·형식·코드·중복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613781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5758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5758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결과 확인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6046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정상·오류·중복 건수 미리보기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613781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5758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5758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반영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6046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정상 건 등록, 오류행 다운로드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1.7.2 협력기관 및 산학협력 네트워크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1.7 참여자·협력기관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(누적 협력현황) 대학·지자체·기업·시민단체 등 협력주체를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사업·프로그램·정책제안과 연결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 기관별 누적 협력현황을 제공함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FUR-008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기관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기본정보·유형·소재지·담당자·협력분야·협약/참여기간, 동일기관 중복등록 탐지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협력 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MOU·자문·공동운영·공간제공·데이터제공 유형과 실적, 사업·성과물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산학협력기업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기업명·사업자등록번호·대표자·연락처·지역·산업분류·홈페이지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협약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협약 교수·협약일자·주체·협약서 파일·기업 담당자, 산학협력 종류 코드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15760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14320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외부·교내 데이터 연계 방안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467204"/>
          <a:ext cx="6260400" cy="160002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연계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범위 협의 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고용24 채용정보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공개 OpenAPI 일 단위 수집 + 원문 링크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실시간 직접연계 제외 원칙에 맞춘 배치형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기업신용평가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엑셀 반입 + 연계 인터페이스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유료 계약 시 API 연동 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교내 산학·취업·현장실습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RAW(엑셀) 업로드 연동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AX혁신본부 승인 시 조회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1.8.1 활동기록·지역문제·리빙랩 단계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1.8 활동·지역문제·리빙랩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(과정성과 축적) 지역문제 발굴부터 리빙랩 실증·확산까지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단계별 활동·산출물·의사결정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기록하여 결과성과와 과정성과를 함께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FUR-009, FUR-010, FUR-011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리빙랩 단계 모델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680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문제정의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지역문제·근거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49328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59048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59048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이해관계자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2648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참여주체 구성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276696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86416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286416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공동설계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0016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아이디어·설계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04064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13784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413784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실험·실증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7384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장소·방법·결과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531432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41152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541152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평가·확산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752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개선·후속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316800" y="3654000"/>
          <a:ext cx="6260400" cy="1942020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활동·회의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회의·교육·워크숍·인터뷰·조사·실증·전시 유형, 일시·장소·참석자·결정사항·후속조치·사진·회의록, 모바일 현장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지역문제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문제명·분야·대상지역·대상집단·근거·수요출처·상태, 유사·중복 문제 검색, 연도별 후속사업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리빙랩 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단계별 목표·일정·참여주체·활동·산출물·의사결정·다음단계, 단계 누락·지연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실증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실증대상·장소·방법·평가기준·결과·개선사항, 과정성과/결과성과 구분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" name="Rectangle 52"/>
          <p:cNvSpPr/>
          <p:nvPr/>
        </p:nvSpPr>
        <p:spPr>
          <a:xfrm>
            <a:off x="280800" y="5704020"/>
            <a:ext cx="6332400" cy="116586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5740020"/>
            <a:ext cx="6224400" cy="112986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(연결) 문제-세부과제-프로그램-활동-성과-정책제안의 연결관계를 관계도 화면으로 제공함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(모바일) 현장에서 사진 촬영 후 바로 등록하고, 사진 위치정보는 저장 전 제거함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1.9.1 성과물·메타데이터·버전·계보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1.9 성과물 통합관리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(근거 자산화) 문서·데이터·미디어 성과물을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표준 메타데이터·버전·공개등급·계보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와 함께 등록하여 검색·공개·AI 활용의 기반으로 삼음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FUR-012, FUR-013, FUR-014, FUR-015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232836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상세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통합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운영계획서·결과보고서·회의록·정책제안서·분석보고서·설문결과·홍보물·사진·영상, 유형별 필수 메타데이터 양식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메타데이터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제목·요약·생산일·생산주체·공간·시간범위·주제·대상·자료유형·권리·공개등급, 용어사전·코드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 추천 태그와 담당자 확정 태그를 구분 저장 (추천은 자동확정하지 않음)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버전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초안·검토본·최종본·공개본, 버전번호·등록자·변경사유, 논리삭제·복원/영구삭제 권한 분리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공개등급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내부·제한공개·대외공개·비공개, 공개기간, 공개 전 개인정보·저작권 체크리스트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계보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원천자료→가공자료→분석결과→보고서→정책제안 관계, 출처·작성방법·기준일·품질상태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대용량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영상 등은 메타데이터와 분리 저장, 분할 업로드·중단 복구, 허용 형식·크기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713236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698836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계보 추적 예시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6022836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602283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원천자료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310836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설문 원자료·현장 사진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493280" y="640263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590480" y="6022836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590480" y="602283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가공자료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26480" y="6310836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정제 데이터셋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766960" y="640263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864160" y="6022836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864160" y="602283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분석결과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0160" y="6310836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빅데이터 분석보고서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040640" y="640263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137840" y="6022836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137840" y="602283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정책제안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3840" y="6310836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정책제안서 v2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5314320" y="6402636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11520" y="6022836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5411520" y="6022836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대시보드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7520" y="6310836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수치 → 근거 역추적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1.10.1 지표 사전·자동집계·검증·승인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1.10 성과지표·실적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(검증 가능한 성과) 지표 정의·산식·목표·실적·증빙·승인·변경이력을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하나의 흐름으로 연결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부산시·대학 평가에 그대로 대응함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FUR-016, FUR-017, FUR-018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지표 사전 구성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942020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지표명·정의·단위·산식·측정주기·자료원·담당자·증빙기준·중복산정 규칙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부산시 지정지표(공식명칭 유지) / 대학 자율지표 / 본부 관리지표 / 프로그램 기여지표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투입-활동-산출-결과-영향 수준 및 해당연도 세부사업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연도별 정의 변경, 목표 조정 사유·승인 이력 보존, 공통지표 연도 간 연속성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465642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464202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실적 집계·승인 흐름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168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3168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자동집계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8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참여자·활동·성과물 원천자료에서 산식 집계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1811700" y="534582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9089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19089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담당자 제출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449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수동보정값·사유 구분 입력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3403800" y="534582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5010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35010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본부 검토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370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증빙연결·기간·대상·중복 검증규칙</a:t>
            </a:r>
          </a:p>
        </p:txBody>
      </p:sp>
      <p:sp>
        <p:nvSpPr>
          <p:cNvPr id="46" name="Isosceles Triangle 45"/>
          <p:cNvSpPr/>
          <p:nvPr/>
        </p:nvSpPr>
        <p:spPr>
          <a:xfrm rot="5400000">
            <a:off x="4995900" y="534582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093100" y="496602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 Same Side Corner Rectangle 47"/>
          <p:cNvSpPr/>
          <p:nvPr/>
        </p:nvSpPr>
        <p:spPr>
          <a:xfrm>
            <a:off x="5093100" y="496602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승인·확정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29100" y="525402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확정 후 변경은 재승인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80800" y="5938020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34800" y="5974020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(집계 기준) 합계·고유인원·중복포함 기준을 지표별로 적용하고 달성률·미달값·전년 대비 증감과 근거목록을 제공함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(검증 규칙) 증빙 미연결, 기간 외 활동, 동일인 중복 등을 자동 점검하여 제출 전에 담당자에게 알림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1.11.1 정성성과 관리 및 비교 대시보드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1.11 정성성과·성과분석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(정량+정성 통합) 수치와 함께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대표 변화사례·근거자료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같은 화면에 제시하고, 과제별 달성·예산집행 현황을 그래프로 비교함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FUR-019, FUR-020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정성성과 관리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335204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인터뷰·관찰·사례기록·만족도 결과·정책반영 사례·미디어 확산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기록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대상·시점·변화내용·근거·기여요인·한계·후속계획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연결·공개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프로그램·지표·지역문제 연결, 대표사례 지정, 공개본 비식별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035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성과분석 대시보드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269204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분석 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제공 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교차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연도·세부과제·프로그램·지역·대상·기관·지표별 교차 조회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비교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목표 대비 실적, 전년 대비, 프로그램 간 비교와 추세 (표·차트)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예산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과제별 달성 현황과 월별 예산집행 현황 그래프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내보내기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필터 결과를 이미지·PDF·스프레드시트로 출력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1.12.1 정책제안·검토·반영 추적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1.12 정책환류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(정책 경로 증명) 정책제안의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발굴→검토→협의→채택·반영→후속조치→지역변화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증빙과 함께 타임라인으로 누적함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FUR-021, FUR-022, FUR-023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정책제안 상태 흐름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680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접수·검토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내부검토·보완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49328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59048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59048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기관협의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2648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공문·회의·회신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276696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286416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286416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채택 판단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0016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채택·일부반영·보류·미반영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04064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13784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413784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반영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7384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정책·조례·예산·시범사업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531432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411520" y="2682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5411520" y="2682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후속조치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7520" y="2970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점검·재제안</a:t>
            </a:r>
          </a:p>
        </p:txBody>
      </p:sp>
      <p:graphicFrame>
        <p:nvGraphicFramePr>
          <p:cNvPr id="52" name="Table 51"/>
          <p:cNvGraphicFramePr>
            <a:graphicFrameLocks noGrp="1"/>
          </p:cNvGraphicFramePr>
          <p:nvPr/>
        </p:nvGraphicFramePr>
        <p:xfrm>
          <a:off x="316800" y="3654000"/>
          <a:ext cx="6260400" cy="2206836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제안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제안명·문제정의·대상지역·정책분야·제안내용·기대효과·제안주체·담당기관, 표준서식·버전·공개승인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근거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관련 프로그램·실증·분석보고서·공공데이터·회의기록 연결, 유사 제안 검색, 연도별 후속제안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검토·협의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담당기관·담당자·검토일·의견·회의·공문·회신, 상태변경 사유·다음 조치·기한·담당자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반영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반영유형·반영일·내용·범위·증빙·수혜대상·후속담당·점검일정, 미반영 사유와 재제안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3" name="Rectangle 52"/>
          <p:cNvSpPr/>
          <p:nvPr/>
        </p:nvSpPr>
        <p:spPr>
          <a:xfrm>
            <a:off x="280800" y="5968836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6004836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(외부기관 연계 없음) 관계기관 회신은 직접입력 또는 파일·링크로 등록하여 외부 시스템 연계 없이 운영함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1.13.1 기준선·종료선 관리와 기본 지도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1.13 변화분석·기본 GIS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(해석 가능한 기초분석) 기준선·종료선 비교 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측정조건·표본 차이와 해석 한계를 함께 표시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단순비교 오류를 방지함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FUR-024, FUR-025, FUR-026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493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상세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기준선·종료선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프로그램별 기준선·중간점검·종료선 지표·측정일·대상·도구·표본, 외부 설문 결과파일 업로드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기초 변화분석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차이·증감률·분포·분석대상 수 산출, 해석메모·한계 기록, 원자료·산식·근거 이동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후속 범위 명시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인과추론·정책효과 추정·사회적가치 화폐화·AI 예측은 후속 고도화로 구분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위치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사업장소·활동위치·정책대상지역·협력기관 주소·좌표 (주소 → 좌표 변환)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기본 지도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마커·목록·조건별 필터·상세정보 팝업, 행정동 경계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민감 위치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개인 주거지 저장·공개 금지, 필요 시 행정동 단위로 일반화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974012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95961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GIS 구성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16800" y="5283612"/>
            <a:ext cx="4874400" cy="468000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4800" y="5283612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화면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32800" y="5355612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마커·클러스터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673600" y="5355612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조건 필터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914400" y="5355612"/>
            <a:ext cx="1186800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상세 팝업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281200" y="5283612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OpenLayers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16800" y="5816412"/>
            <a:ext cx="4874400" cy="468000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4800" y="5816412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배경지도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432800" y="5888412"/>
            <a:ext cx="1807199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브이월드 배경지도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294000" y="5888412"/>
            <a:ext cx="1807199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행정동 경계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281200" y="5816412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국가 공간정보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800" y="6349212"/>
            <a:ext cx="4874400" cy="468000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4800" y="6349212"/>
            <a:ext cx="1044000" cy="46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데이터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432800" y="6421212"/>
            <a:ext cx="1807199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위치 좌표(PostGIS)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294000" y="6421212"/>
            <a:ext cx="1807199" cy="3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행정동 코드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81200" y="6349212"/>
            <a:ext cx="1296000" cy="468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후속: 히트맵·공간통계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1.14.1 권한 연동 통합검색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1.14 통합검색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(권한 안전 검색) 사업·사람·기관·성과물·정책제안·첨부문서 본문까지 색인하되,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사용자 권한과 공개등급을 검색 질의 단계에서 적용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FUR-027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수집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등록·변경 시 실시간 색인 대상 등록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추출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HWP·PDF·오피스 첨부 본문 텍스트 추출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색인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한글 형태소 분석, 공개등급·권한 필드 포함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검색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권한 필터 + 결과 내 재검색</a:t>
            </a:r>
          </a:p>
        </p:txBody>
      </p: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316800" y="33300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상세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검색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제목·본문·메타데이터·첨부문서 텍스트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필터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연도·세부과제·지역·주제·자료유형·공개등급, 결과 내 재검색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권한 제어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권한·공개범위에 따라 검색결과·미리보기·다운로드 제한 (색인 단계 권한 필드)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동의어·유사어 사전, 인기·최근 검색어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통합검색 5초 이내 응답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" name="Rectangle 46"/>
          <p:cNvSpPr/>
          <p:nvPr/>
        </p:nvSpPr>
        <p:spPr>
          <a:xfrm>
            <a:off x="302400" y="5471603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92400" y="545720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검색 결과 화면 구성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6800" y="5781203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16800" y="5781203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통합 결과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2800" y="6040403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유형별(사업·성과물·정책제안·기관) 탭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건수 요약·정렬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433600" y="5781203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433600" y="5781203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상세 필터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69600" y="6040403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연도·세부과제·지역·주제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자료유형·공개등급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50400" y="5781203"/>
            <a:ext cx="20268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550400" y="5781203"/>
            <a:ext cx="20268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미리보기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86400" y="6040403"/>
            <a:ext cx="19548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검색어 강조 본문 미리보기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권한별 다운로드 제한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1.15.1 의미기반 검색 적용방안 설계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1.15 AI 적용방안 분석·설계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(근거 검색형 설계) 승인자료만 대상으로 하는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권한 연동 의미기반 검색(RAG) 구조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설계하고, 근거·기준일·한계를 반드시 제시하는 원칙을 정의함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FUR-028, DAR-006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의미기반 검색 설계 구조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682000"/>
            <a:ext cx="4874400" cy="503999"/>
          </a:xfrm>
          <a:prstGeom prst="rect">
            <a:avLst/>
          </a:prstGeom>
          <a:solidFill>
            <a:srgbClr val="1F4E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6820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질의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32800" y="27540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키워드·자연어 질문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4000" y="27540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사용자 권한 확인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81200" y="26820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고급 대화형 질의응답 제외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6800" y="3250800"/>
            <a:ext cx="4874400" cy="503999"/>
          </a:xfrm>
          <a:prstGeom prst="rect">
            <a:avLst/>
          </a:prstGeom>
          <a:solidFill>
            <a:srgbClr val="2E6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4800" y="32508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검색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32800" y="3322799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권한·공개등급 필터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294000" y="3322799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키워드+의미 혼합검색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1200" y="32508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무권한 자료 원천 차단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819600"/>
            <a:ext cx="4874400" cy="503999"/>
          </a:xfrm>
          <a:prstGeom prst="rect">
            <a:avLst/>
          </a:prstGeom>
          <a:solidFill>
            <a:srgbClr val="0E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8196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근거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432800" y="3891599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자료명·관련 문장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294000" y="3891599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페이지·링크·기준일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81200" y="38196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근거 부족 시 명시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6800" y="4388400"/>
            <a:ext cx="4874400" cy="503999"/>
          </a:xfrm>
          <a:prstGeom prst="rect">
            <a:avLst/>
          </a:prstGeom>
          <a:solidFill>
            <a:srgbClr val="2A6E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4800" y="4388400"/>
            <a:ext cx="1044000" cy="503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색인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432800" y="44604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승인자료 임베딩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294000" y="4460400"/>
            <a:ext cx="1807199" cy="359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000" rIns="18000" tIns="18000" bIns="180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Bold"/>
                <a:ea typeface="KoPubWorld돋움체 Bold"/>
                <a:cs typeface="KoPubWorld돋움체 Bold"/>
              </a:rPr>
              <a:t>원문버전·재색인 이력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81200" y="4388400"/>
            <a:ext cx="1296000" cy="503999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8800" rIns="28800" tIns="28800" bIns="288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-30">
                <a:solidFill>
                  <a:srgbClr val="1F3864"/>
                </a:solidFill>
                <a:latin typeface="KoPubWorld돋움체 Medium"/>
                <a:ea typeface="KoPubWorld돋움체 Medium"/>
                <a:cs typeface="KoPubWorld돋움체 Medium"/>
              </a:rPr>
              <a:t>pgvector(설계)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0800" y="5029200"/>
            <a:ext cx="6332400" cy="178110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5065199"/>
            <a:ext cx="6224400" cy="174510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(대상 한정) 등록·승인된 자료만 색인하고 저작권·이용허락·개인정보·민감도·최신성을 색인 전에 점검함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(모델 운영) 임베딩·생성 모델은 온프레미스 또는 발주기관 승인 국내 인프라로 설계하여 외부 전송과 외부 학습을 차단함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(이력) 임베딩 생성일·모델·원문버전·재색인 이력을 관리하는 데이터 구조를 설계함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280800" y="6900299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본 사업 범위는 AI 분석·설계까지이며, AI 모델·서비스의 실제 개발·구현은 후속 고도화로 수행함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1.15.2 요약·분류·태깅 및 AI 거버넌스 설계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1.15 AI 적용방안 분석·설계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(사람 검토 전제) AI 결과는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추천·초안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으로만 다루고 담당자가 검토·수정·확정한 결과만 공식 자료로 쓰도록 업무 프로세스를 설계함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FUR-029, FUR-030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AI 보조 업무 프로세스 (설계)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68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대상 선택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보고서·회의록·인터뷰·정책제안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81170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9089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9089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AI 제안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49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요약·유형·지역문제·키워드 후보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340380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5010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35010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담당자 검토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370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수정·확정 (자동확정 금지)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99590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931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50931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이력 보존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91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원문·AI 결과·수정·확정자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0800" y="3654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AI 거버넌스 설계 항목 &gt;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38880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설계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이용정책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허용 업무·금지 업무(정책추천·예측·자동 의사결정) 정의, AI 생성결과 표시 규칙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개인정보·민감정보 포함 자료의 외부 AI 전송 금지, 사전 비식별 처리 절차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품질평가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검증 질의셋·정답 근거 기반 정확도·근거 일치율 평가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감사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 이용 로그(사용자·질의·근거·결과·확정 여부) 보존·점검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보고서 보조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 성과보고서의 서술 요약 작성을 위한 기능·데이터 구조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Rectangle 49"/>
          <p:cNvSpPr/>
          <p:nvPr/>
        </p:nvSpPr>
        <p:spPr>
          <a:xfrm>
            <a:off x="302400" y="602960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92400" y="601520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AI 단계적 도입 로드맵 (제안)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16800" y="6339203"/>
            <a:ext cx="20148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 Same Side Corner Rectangle 52"/>
          <p:cNvSpPr/>
          <p:nvPr/>
        </p:nvSpPr>
        <p:spPr>
          <a:xfrm>
            <a:off x="316800" y="6339203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1단계 (본 사업)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52800" y="6627204"/>
            <a:ext cx="19428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AI 적용방안 분석·설계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데이터·권한 구조 반영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이용정책 수립</a:t>
            </a:r>
          </a:p>
        </p:txBody>
      </p:sp>
      <p:sp>
        <p:nvSpPr>
          <p:cNvPr id="55" name="Isosceles Triangle 54"/>
          <p:cNvSpPr/>
          <p:nvPr/>
        </p:nvSpPr>
        <p:spPr>
          <a:xfrm rot="5400000">
            <a:off x="2342400" y="678860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39600" y="6339203"/>
            <a:ext cx="20148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ound Same Side Corner Rectangle 56"/>
          <p:cNvSpPr/>
          <p:nvPr/>
        </p:nvSpPr>
        <p:spPr>
          <a:xfrm>
            <a:off x="2439600" y="6339203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2단계 (차년도)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475600" y="6627204"/>
            <a:ext cx="19428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승인자료 의미검색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요약·태깅 보조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품질평가 운영</a:t>
            </a:r>
          </a:p>
        </p:txBody>
      </p:sp>
      <p:sp>
        <p:nvSpPr>
          <p:cNvPr id="59" name="Isosceles Triangle 58"/>
          <p:cNvSpPr/>
          <p:nvPr/>
        </p:nvSpPr>
        <p:spPr>
          <a:xfrm rot="5400000">
            <a:off x="4465200" y="678860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4562400" y="6339203"/>
            <a:ext cx="20148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ound Same Side Corner Rectangle 60"/>
          <p:cNvSpPr/>
          <p:nvPr/>
        </p:nvSpPr>
        <p:spPr>
          <a:xfrm>
            <a:off x="4562400" y="6339203"/>
            <a:ext cx="20148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3단계 (고도화)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98400" y="6627204"/>
            <a:ext cx="19428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근거 검색형 질의응답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보고서 작성 보조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성과 분석 보조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기능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1.16.1 표준 성과보고서 및 운영관리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1.16 보고서·운영관리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(즉시 제출 가능한 보고서) 확정자료만으로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정해진 서식의 성과보고서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생성하고 자료 범위·기준일·산식·누락자료를 함께 표시함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FUR-030, FUR-031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493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 성과보고서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사업연도·세부과제·프로그램·지표 선택 → 운영현황·실적·주요사례·증빙목록 서식 출력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 출력물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사업현황·프로그램 운영·참여자 통계·성과지표·정책환류·자료목록 (PDF·엑셀)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표기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조회조건·출력일·기준일·산식·근거목록·누락자료 표시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사용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담당자 검토·수정·승인 후에만 공식 보고서·대외공개 자료로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공지·메뉴·배너·코드·도움말·약관·개인정보처리방침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로그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데이터 변경·다운로드·권한변경·AI 이용·오류 로그 조회, 보존정책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495961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표준 보고서 목록 (안)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193612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3364965"/>
                <a:gridCol w="133033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형식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세부과제 성과보고서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운영현황·지표 실적·대표사례·증빙목록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PDF·한글 호환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성과지표 실적표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부산시·대학 지표별 목표 대비 실적·달성률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엑셀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프로그램 운영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프로그램별 운영 건수·참여자·만족도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엑셀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정책환류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정책제안별 상태·반영 내용·후속조치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PDF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참여자 통계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유형·연령대·지역별 집계 (비식별)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엑셀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보안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보안관리 조직 및 인력·자료 보안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보안관리 체계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(사업 전 과정 보안) 대표 명의로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보안관리책임자를 지정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 인력·자료·장비·계정 통제를 착수부터 종료까지 적용함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SER-001, SER-002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023244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 통제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 조직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보안관리책임자(대표 지정), 팀별 보안담당, 발주기관 보안담당과 연락체계·월간 점검·보고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참여 인력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투입 전 보안서약서(대표용·개인용)·보안교육, 접근권한 최소 부여, 교체·철수 시 계정회수·자료삭제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자료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발주기관 지정 저장소·PC에만 저장, 비공개 자료 제공자료 관리대장, 웹하드·개인메일 사용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장비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작업 PC 백신·보안프로그램 설치, CMOS·로그인·화면보호 비밀번호(9자 이상), USB 반출입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원격작업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개발·유지관리 원격작업 금지, 현장 작업 원칙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누출금지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IP·구성도·계정·취약점 결과·소스코드·개인정보 등 [별첨4] 목록 관리 및 종료 시 파기 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50364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48924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사업 단계별 보안관리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813244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81324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착수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6101244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보안서약서 제출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보안교육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보안관리계획서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626264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5813244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581324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수행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6101244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월간 자체 점검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자료 관리대장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인력 변동 보고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626264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5813244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581324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오픈 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6101244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취약점 점검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조치 결과 제출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626264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5813244"/>
            <a:ext cx="1484100" cy="9852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5813244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종료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6101244"/>
            <a:ext cx="1412100" cy="715212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자료 반납·삭제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보안확약서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파기 확인서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보안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2.2.1 인증·개인정보·시큐어코딩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2.2 응용·인프라 보안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(설계 단계 반영) 인증·세션·개인정보·시큐어코딩 통제를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설계서에 반영하고 구현·시험에서 검증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SER-003, SER-004, SER-005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758428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인증·세션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관리자·승인·다운로드 기능 2단계 인증, 안전한 해시(솔트) 저장, 5회 실패 잠금, 세션 30분 만료, 동시접속 제한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권한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권한 부여·변경·회수는 승인 절차와 이력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개인정보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개인정보 보호법·안전성 확보조치 기준 반영, 전송구간 TLS, 고유식별·연락처 암호화, 키 분리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처리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열람·다운로드·수정·삭제·파기 이력 기록과 대량 조회 등 이상행위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시큐어코딩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행정안전부 SW 개발보안 가이드 보안약점 제거, 소스코드 보안약점 분석도구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SQL 삽입·XSS·CSRF·파일업로드·경로조작·인증우회·정보노출, 비밀정보 하드코딩 금지(환경변수·키 저장소)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22442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개인정보 처리 단계별 보호조치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458428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508657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보호조치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업무별 최소항목, 동의 문구·보유기간 고지, 동의 이력 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식별정보 분리 저장·암호화, 접근권한 최소화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화면 마스킹, 다운로드 사유 입력·승인, 처리 이력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제공·공개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집계·비식별 값만 공개, 소수집단 재식별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보유기간 만료 자동 추출, 파기 승인·결과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보안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2.2.2 인프라·로그·사업종료 보안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2.2 응용·인프라 보안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(추적 가능한 보안) 인프라 접근을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허용 경로·단말·계정으로 제한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로그 위변조 방지와 사고대응·종료 시 완전 삭제를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SER-006, SER-007, SER-008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758428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IDC 방화벽·접근제어 정책 적용, 보안패치, 서버·DB 관리자 접속은 지정 단말·계정만 허용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파일 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확장자·MIME·크기 검사, 업로드 파일 악성코드 검사, 업로드 경로 실행 차단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로그인·권한·개인정보·다운로드·데이터변경·관리자작업·AI 이용 로그, 해시 체인으로 위변조 방지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사고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탐지→차단→보고(즉시)→복구→원인분석→재발방지, 비상연락망 운영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오픈 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웹·서버·DB·소스코드 취약점 점검과 조치완료 증빙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 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제공자료·임시파일·테스트데이터·계정·접속수단 반납·삭제, 대표·참여자 보안확약서·삭제확인서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80800" y="522442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취약점 점검 계획 &gt;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16800" y="5458428"/>
          <a:ext cx="6260400" cy="1467612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173825"/>
                <a:gridCol w="2191140"/>
                <a:gridCol w="17216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소스코드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스프린트별 + 오픈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보안약점 분석도구 전수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점검·조치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웹 애플리케이션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주요 취약점 진단 항목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진단·조치 결과서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서버·DB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설치 후·오픈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 설정 점검표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설정 점검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연도별 공모형 데이터 모델(ERD)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데이터 모델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(연도 축 데이터 모델) 모든 업무 데이터를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사업연도 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에 귀속시키고 코드·이력·버전·승인·공개범위·근거관계를 공통모델로 적용함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DAR-001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핵심 엔터티 관계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6800" y="268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4800" y="268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사업 구조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234800" y="2754000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324800" y="279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사업연도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39600" y="279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단위과제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54399" y="279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세부과제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324800" y="324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세부사업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39600" y="324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학과·부서(N:M)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54399" y="324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승계관계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69200" y="268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연도별 구조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16800" y="3761999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4800" y="3761999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운영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34800" y="383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324800" y="387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프로그램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39600" y="387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회차·활동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154399" y="387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참여자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324800" y="432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협력기관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739600" y="432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지역문제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54399" y="432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리빙랩 단계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569200" y="3761999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운영 데이터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6800" y="484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484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성과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234800" y="491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1324800" y="495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성과물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739600" y="495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지표·목표·실적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154399" y="495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증빙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324800" y="540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정성사례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739600" y="540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기준선·종료선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569200" y="484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성과 데이터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16800" y="5922000"/>
            <a:ext cx="5162400" cy="558000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34800" y="5922000"/>
            <a:ext cx="864000" cy="558000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환류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234800" y="5993999"/>
            <a:ext cx="7200" cy="413999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1324800" y="603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정책제안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739600" y="603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검토·협의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154399" y="603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반영·후속조치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569200" y="5922000"/>
            <a:ext cx="1007999" cy="558000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정책 데이터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16800" y="6552000"/>
            <a:ext cx="5162400" cy="1007999"/>
          </a:xfrm>
          <a:prstGeom prst="rect">
            <a:avLst/>
          </a:prstGeom>
          <a:noFill/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34800" y="6552000"/>
            <a:ext cx="864000" cy="1007999"/>
          </a:xfrm>
          <a:prstGeom prst="rect">
            <a:avLst/>
          </a:prstGeom>
          <a:noFill/>
        </p:spPr>
        <p:txBody>
          <a:bodyPr wrap="square" lIns="18000" rIns="18000" tIns="18000" bIns="1800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공통 모델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234800" y="6623999"/>
            <a:ext cx="7200" cy="864000"/>
          </a:xfrm>
          <a:prstGeom prst="rect">
            <a:avLst/>
          </a:prstGeom>
          <a:solidFill>
            <a:srgbClr val="BA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1324800" y="666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코드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739600" y="666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이력·버전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154399" y="666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승인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324800" y="711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공개범위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739600" y="7110000"/>
            <a:ext cx="1324800" cy="360000"/>
          </a:xfrm>
          <a:prstGeom prst="roundRect">
            <a:avLst>
              <a:gd name="adj" fmla="val 3000"/>
            </a:avLst>
          </a:prstGeom>
          <a:solidFill>
            <a:srgbClr val="D7EAF2"/>
          </a:solidFill>
          <a:ln w="12700">
            <a:solidFill>
              <a:srgbClr val="215F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404040"/>
                </a:solidFill>
                <a:latin typeface="KoPubWorld돋움체 Bold"/>
                <a:ea typeface="KoPubWorld돋움체 Bold"/>
                <a:cs typeface="KoPubWorld돋움체 Bold"/>
              </a:rPr>
              <a:t>근거관계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569200" y="6552000"/>
            <a:ext cx="1007999" cy="1007999"/>
          </a:xfrm>
          <a:prstGeom prst="rect">
            <a:avLst/>
          </a:prstGeom>
          <a:solidFill>
            <a:srgbClr val="D7EAF2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공통 적용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80800" y="7685999"/>
            <a:ext cx="6332400" cy="135648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34800" y="7722000"/>
            <a:ext cx="6224400" cy="132048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(분리 설계) 세부과제 번호·명칭·사업상태·승계관계를 분리하여 매년 공모 결과와 조직변경을 소스 수정 없이 반영함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(근거관계) 모든 실적·지표·AI 결과가 원천 엔터티를 참조하도록 공통 근거관계 테이블을 둠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3.2.1 데이터 표준·코드 및 품질관리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3.2 데이터 표준·품질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(표준 선행) 표준단어·용어·도메인·코드를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개발 착수 전 확정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핵심지표와 공개데이터를 정기 품질점검 대상으로 관리함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DAR-002, DAR-004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데이터 표준 체계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600020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 사전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표준단어·용어·도메인·코드·명명규칙 (공공데이터 공통표준 준용)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분류 코드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지역·대상·정책분야·프로그램유형·자료유형·기관유형·성과수준·사업변동유형·참여유형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변경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관리자 추가·변경·사용중지, 표준 변경 승인·배포·기존값 매핑 절차, 하드코딩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30002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품질 규칙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53402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095570"/>
                <a:gridCol w="3521475"/>
                <a:gridCol w="164335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 차원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규칙 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완전성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필수값 누락 (예: 프로그램 기간·담당자)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등록 시 즉시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유효성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코드값·날짜·숫자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등록 시 즉시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일관성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실적 기간과 프로그램 기간 일치, 관계 무결성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참여자·기관 중복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적시성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 입력기한 경과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80800" y="6661224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6697224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(오류 관리) 오류 현황·담당자·조치기한·정정이력을 관리하고 관리자 화면에서 품질 현황을 제공함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3.3.1 초기 데이터 구축 및 검증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3.3 데이터 이관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(선별 이관) 발주기관 목록 기준으로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우선대상만 선별 이관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이관 전후 건수·오류·중복·누락을 검증하여 발주기관 확인을 받음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DAR-003, TER-003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① 대상 확정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이관·제외·우선순위 확정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② 정비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핵심 메타데이터 정비, 표준양식 변환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③ 이관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모의 이관 → 본 이관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④ 검증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건수·필드값 표본·전수 대조</a:t>
            </a:r>
          </a:p>
        </p:txBody>
      </p: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316800" y="333000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04160"/>
                <a:gridCol w="23476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이관 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검증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사업·프로그램 목록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표준양식 정비 후 일괄 업로드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건수 전수, 주요필드 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참여자 명단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최소항목만 정비, 동의 확인 건만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건수 전수, 중복 판정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보고서·증빙 파일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원본 보존 + 메타데이터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파일 해시 일치, 표본 열람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성과 실적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 사전 매핑 후 실적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지표별 합계 대조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" name="Rectangle 46"/>
          <p:cNvSpPr/>
          <p:nvPr/>
        </p:nvSpPr>
        <p:spPr>
          <a:xfrm>
            <a:off x="302400" y="5129604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92400" y="511520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오류 처리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80800" y="5439204"/>
            <a:ext cx="6332400" cy="116586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5475204"/>
            <a:ext cx="6224400" cy="112986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(오류 리포트) 오류·중복·누락 행을 담당자별 보완 목록으로 제공하고 재처리 결과를 기록함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(원본 보존) 원본 파일은 수정 없이 보존하고 이관본과의 대응관계를 남김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데이터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3.4.1 개인정보 분리와 백업·복구·반출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3.4 개인정보·백업·반출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(분리·복구 보장) 개인식별정보를 성과 데이터와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분리·암호화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구성요소별 백업과 정기 복구훈련으로 실제 복구 가능성을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DAR-005, DAR-007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개인정보 처리 기준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252080"/>
                <a:gridCol w="500832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최소 수집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업무별 수집항목·목적·근거·보유기간·접근권한 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분리·암호화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개인식별정보 별도 스키마 분리, 연락처 등 암호화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재식별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통계·사례·지도 공개 시 소수집단(5명 미만)·위치 재식별 위험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보유기간 만료·동의철회·사업종료 시 파기 또는 분리보관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377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백업·복구 기준 (안)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611204"/>
          <a:ext cx="6260400" cy="133520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799865"/>
                <a:gridCol w="1408590"/>
                <a:gridCol w="164335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구성요소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백업 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복구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전체 + 실시간 로그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30일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파일 저장소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증분 + 주 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30일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설정·검색색인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변경 시 + 주간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5세대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6018407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정기 복구훈련(분기 1회) 실시, 계약 종료 시 전체 데이터·메타데이터·파일·코드·설정·이력 표준형식 제공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제약사항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4.1.1 데이터 서버 장비 도입 및 IDC 입주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4.1 시스템 구성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(계약금액 내 장비 일체) 예상 이용규모 근거의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자원 산정으로 서버 장비를 도입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 PNU IDC 입주기준에 따라 설치·설정·연계시험·안정화까지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ECR-001, ECR-002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서버 구성 (안) — 규격·수량은 발주기관 사전 승인 후 확정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8" cy="2074428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643355"/>
                <a:gridCol w="2973689"/>
                <a:gridCol w="469529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용도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사양(안)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WEB/WAS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공개포털·업무포털 (논리 분리)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2U, CPU 16코어 이상, 메모리 64GB, SSD 960GB×2(RAID1)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DB·검색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PostgreSQL·OpenSearch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2U, CPU 16코어 이상, 메모리 128GB, SSD 1.92TB×2(RAID1)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스토리지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파일·백업 저장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NAS, 가용 16TB 이상(RAID6), 이중화 전원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랙 설치 부자재, OS·백신 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IDC 입주기준 준수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774428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자원 산정 근거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008428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3521475"/>
                <a:gridCol w="140859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산정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값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내부 사용자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본부·세부과제·학과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약 150명 / 동시 30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외부 이용자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방문 1,000 가정, 피크 10%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동시 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파일 용량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 300GB(영상 포함) × 5년 + 여유 30%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약 2TB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호출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설계 단계 — 후속 GPU 자원 별도 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-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80800" y="6793632"/>
            <a:ext cx="6332400" cy="178110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6829632"/>
            <a:ext cx="6224400" cy="174510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(설치) 장비 반입·랙 설치·전원·네트워크·OS·DB·보안 설정·통합인증 연계시험·안정화를 IDC 협의 일정에 맞춰 수행함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(인계) 장비·라이선스·설정정보·보증서·운영자료를 인계하며, 제조사 무상보증 【3년】과 장애 대응체계를 명시함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(환경 분리) 개발·시험·운영환경을 분리하고 시험환경은 비식별·가상 데이터만 사용함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제약사항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Ⅲ. 기술 및 기능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4.2.1 제약조건 준수 및 검증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4.2 법령·라이선스·데이터 권리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(제약조건 검증) 법령·지침·라이선스·데이터 권리 제약을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구현 항목과 시험 항목으로 연결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설계·구축·운영 단계에서 충족 여부를 확인함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COR-001, COR-002, ECR-003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96802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2582415"/>
                <a:gridCol w="226939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제약조건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시험·확인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소프트웨어진흥법·전자정부법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표준프레임워크·개발보안·호환성 지침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기술적용계획표[서식10]·결과표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개인정보 보호법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최소수집·암호화·접근기록·파기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개인정보 점검 체크리스트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웹 접근성·호환성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KWCAG 지침, 지정 브라우저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자가점검·개선결과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국외 저장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PNU IDC 국내 운영, 외부 AI 전송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구성도·통신 경로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라이선스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오픈소스 라이선스 목록·버전·지원종료일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라이선스 검토서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권리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발주기관 데이터·AI 입출력 제3자 사용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계약·기술적 통제 확인서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소스 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소스·DB 스크립트·설정·산출물 전체 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빌드 재현 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44842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43402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기술적용계획표 운영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0800" y="5758020"/>
            <a:ext cx="6332400" cy="197171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34800" y="5794020"/>
            <a:ext cx="6224400" cy="193571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(계획→결과) [서식 10] 정보시스템 구축·운영 기술적용계획표를 제안 시 제출하고, 종료 시 기술적용결과표로 적용 여부를 증빙함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(미적용 사유) 부분적용·미적용 항목은 사유와 대체기술을 명시하고 발주기관 확인을 받음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(분리발주) 분리발주 대상 상용 SW는 없으며, 도입이 필요할 경우 발주기관 직접구매 절차를 따름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성능 및 품질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Ⅳ.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성능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인터페이스 요구사항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품질 요구사항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성능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응답시간·동시사용·용량 목표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성능 목표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(측정 가능한 목표) 데이터량·동시사용자·네트워크 조건을 명시한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성능 목표와 측정 기준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제시하고 착수 단계에서 확정함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PER-001, PER-002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성능 목표 (안)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236120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565100"/>
                <a:gridCol w="32867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측정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일반 조회화면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3초 이내 (95%)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동시 130명, 5년 누적 데이터, 교내망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통합검색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5초 이내 (95%)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색인 문서 5만 건, 첨부 본문 포함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대시보드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3초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사업연도 전체 집계 (사전집계 캐시)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대용량 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진행상태·완료알림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보고서 생성·대량 업로드·재집계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동시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내부 30 / 외부 100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부하시험 도구로 30분 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용량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5년 2TB + 확장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임계치 80% 경고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ectangle 32"/>
          <p:cNvSpPr/>
          <p:nvPr/>
        </p:nvSpPr>
        <p:spPr>
          <a:xfrm>
            <a:off x="302400" y="5075603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400" y="5061204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성능 확보 방안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0800" y="5385204"/>
            <a:ext cx="6332400" cy="159047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5421204"/>
            <a:ext cx="6224400" cy="1554479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(집계) 대시보드 지표는 배치 사전집계 테이블과 변경 시 증분 갱신으로 응답시간을 확보함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(검색) 검색은 전용 엔진으로 분리하여 업무 DB 부하와 격리함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(파일) 대용량 파일은 분할 업로드·중단 복구·비동기 변환으로 처리함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성능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배치처리 및 성능 모니터링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성능 시험·모니터링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(운영 중 성능 관리) 배치작업을 서비스 영향이 적은 시간에 스케줄링하고,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핵심 지표 모니터링 → 원인분석 → 튜닝 → 재시험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주기를 운영함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PER-003, PER-004, TER-004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배치 작업 스케줄 (안)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942020"/>
        </p:xfrm>
        <a:graphic>
          <a:graphicData uri="http://schemas.openxmlformats.org/drawingml/2006/table">
            <a:tbl>
              <a:tblPr firstRow="0" bandRow="0"/>
              <a:tblGrid>
                <a:gridCol w="1565100"/>
                <a:gridCol w="1173825"/>
                <a:gridCol w="1173825"/>
                <a:gridCol w="23476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시간대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실패 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지표 재집계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1회 + 변경 시 증분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02:00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대상·원인 기록, 자동 재시도 3회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검색 재색인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변경 시 실시간 + 주 1회 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03:00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실패 문서 재처리 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백업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01:00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관리자 알림, 수동 재실행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04:00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오류 목록 생성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64202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모니터링 항목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876020"/>
          <a:ext cx="6260399" cy="2019204"/>
        </p:xfrm>
        <a:graphic>
          <a:graphicData uri="http://schemas.openxmlformats.org/drawingml/2006/table">
            <a:tbl>
              <a:tblPr firstRow="0" bandRow="0"/>
              <a:tblGrid>
                <a:gridCol w="1721610"/>
                <a:gridCol w="1565100"/>
                <a:gridCol w="2973689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임계치(안)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응답시간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평균 2초 초과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느린 쿼리 분석·인덱스 튜닝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오류율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1% 초과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오류 로그 분석·핫픽스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CPU·메모리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80% 5분 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원인 프로세스 확인·자원 증설 검토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저장공간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80% 도달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증설 계획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DB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풀 90% 사용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커넥션 설정 조정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80800" y="7003224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7039224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(성능시험) 목표 동시사용·데이터량·대용량 파일 조건에서 부하시험을 수행하고 미달 시 튜닝 후 재시험함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인터페이스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UX 설계·웹 접근성·입력 검증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사용자 인터페이스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(UX 전문기업의 화면 설계) 실제 담당자 업무흐름을 관찰해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반복입력을 줄이고 오류를 입력 시점에 잡는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화면을 설계하고 사용성 점검으로 검증함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INR-001, INR-002, INR-003, QUR-002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02400" y="2372400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2400" y="235800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사용자 인터페이스 설계·검증 절차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68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3168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리서치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세부과제 담당자 인터뷰·업무 관찰</a:t>
            </a:r>
          </a:p>
        </p:txBody>
      </p:sp>
      <p:sp>
        <p:nvSpPr>
          <p:cNvPr id="36" name="Isosceles Triangle 35"/>
          <p:cNvSpPr/>
          <p:nvPr/>
        </p:nvSpPr>
        <p:spPr>
          <a:xfrm rot="5400000">
            <a:off x="181170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9089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19089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설계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449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업무흐름도·와이어프레임·디자인 시스템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340380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5010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35010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프로토타입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370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클릭 가능한 시안으로 단계 시연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4995900" y="3061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093100" y="2682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5093100" y="2682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사용성 점검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9100" y="2970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과업 수행 테스트·개선 반영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3654000"/>
          <a:ext cx="6260400" cy="2835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화면 일관성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공통 레이아웃·용어·버튼·입력·오류표시 기준 (디자인 시스템)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업무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 단계·현재 상태·필수입력·저장 결과 명확 표시, 도움말·입력 예시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반응형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PC·태블릿·모바일 웹 주요 화면 반응형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웹 접근성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키보드 이용·대체텍스트·명도대비·초점이동 점검, 자가점검·개선결과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호환성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발주기관 지정 최신 브라우저에서 핵심기능 동일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입력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날짜·숫자·코드·파일형식·필수값·중복값 즉시 검증, 오류 위치·원인·해결방법 안내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입력 손실 방지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자동 임시저장·이탈 경고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인터페이스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2.2.1 연계 방식 비교 및 구축 방안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2.2 시스템 인터페이스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(파일·링크 반입 원칙) 연계 방식별 장단점을 비교하여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표준파일 반입을 기본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하고, 교내 인증은 승인 범위의 최소정보만 연계함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INR-004, INR-005, INR-006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연계 방식 비교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94202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721610"/>
                <a:gridCol w="1721610"/>
                <a:gridCol w="164335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장점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실시간 직접연계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최신성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협의 지연·장애 전파·범위 제외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미적용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표준파일 반입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협의 불필요, 검증 후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주기적 수작업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참여자·기관·실적 (기본)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파일·링크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외부기관 자료 즉시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원문 변경 추적 한계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정책 회신·외부자료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SSO 최소연계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로그인 편의, 소속 자동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승인 필요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승인 시 적용, 미승인 시 별도계정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64202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반입 데이터 정합성 관리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87602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표준양식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참여자·기관·프로그램·지표실적 스프레드시트 양식 제공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사전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미리보기와 정상·오류·중복 건수 표시, 오류행 다운로드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반입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원천 식별자·반입일·기준일·건수·처리결과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재처리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코드불일치·중복·누락·형식오류 재처리 절차, 변경 영향 사전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품질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가용성·확장성·형상관리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품질 목표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(품질 내재화) 장애 격리·관리자 설정형 확장·요구사항 추적성을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설계 원칙으로 정하고 단계별로 점검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QUR-001, QUR-003, QUR-004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758428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1721610"/>
                <a:gridCol w="33649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품질 특성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구현·점검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가용성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업무시간 무중단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기능 단위 예외 격리, 오류 시 처리상태·재시도 안내, 가동·장애 모니터링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사용성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사용성 점검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주요 사용자 과업 테스트 결과 반영 (Ⅳ.2.1)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확장성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연도 전환 소스 수정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세부과제·학과·유형·지표·보고서를 관리자 설정으로 변경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유지보수성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문서화된 구조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공개 표준·인터페이스 명세, 후속 확장지점 설계서 명시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형상관리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변경 이력 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소스·DB 스크립트·설정·문서 버전과 배포이력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추적성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전수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요구사항-설계-개발-시험-인수 추적표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5238828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5224428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단계별 품질 점검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554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554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분석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583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요구사항 검토, 모호성 제거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811700" y="59282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908900" y="554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908900" y="554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설계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4900" y="583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설계 검토, 품질속성 반영 확인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3403800" y="59282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501000" y="554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3501000" y="554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구현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37000" y="583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코드리뷰·정적분석·단위시험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995900" y="592822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93100" y="5548428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093100" y="5548428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시험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29100" y="5836428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요구사항 기반 시험·결함 추적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80800" y="6520428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4800" y="6556428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(유지보수 문서) 운영자가 코드 수정 없이 설정으로 바꿀 수 있는 항목 목록과 설정 방법을 운영 매뉴얼에 포함함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품질 요구사항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Ⅳ. 성능 및 품질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3.2.1 종합 시험 계획 및 시나리오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3.2 시험 계획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(요구사항 기반 시험) 모든 시험항목을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요구사항 번호와 연결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공모형 연도 전환 시나리오와 종단간 업무흐름을 반드시 시험함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TER-001, TER-002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시험 단계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2019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1173825"/>
                <a:gridCol w="3756239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수행·확인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스프린트별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정상·오류·경계값·권한별 시나리오, 개발자 수행 / PL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통합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사업등록→성과→정책환류→공개 종단간 흐름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인터페이스·이관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업로드 정상·오류·중복·재처리, 이관 건수·필드 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성능·보안·접근성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M+2.5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부하시험, 취약점 점검, 접근성 자가점검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M+2.5~3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본부·세부과제 담당자 실제 업무자료 수행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719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공모형 업무 시나리오 (필수)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953204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430402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시나리오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확인 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신규 학과 선정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권한 자동 부여, 당해연도 화면 노출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기존 학과 계속·종료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종료 학과 입력 차단, 과거 실적 조회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복수학과 공동참여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학과별 기여 실적 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과제 통합·분리·종료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승계관계와 과거 실적 귀속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전년도 선택복사·재확정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복사 항목과 재확정 항목 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280800" y="7044407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결함등급(치명·중대·보통·경미)별 처리기한과 재시험·종결 기준을 시험계획서에 정의, 수정 후 회귀시험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416060" y="1498812"/>
            <a:ext cx="5126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프로젝트 관리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Ⅴ.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관리방법론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일정계획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개발장비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보고·의사결정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사업 관리 체계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(빠른 의사결정) 주간 실무회의와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분야별 협의체(본부·세부과제·AX혁신본부)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를 운영하여 3개월 일정에서 의사결정 지연을 막음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PMR-001, PMR-003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보고 체계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9" cy="2151612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939059"/>
                <a:gridCol w="1643355"/>
                <a:gridCol w="250416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착수보고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계약 후 10일 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본부장·담당·AX혁신본부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수행계획·요구사항 대비표·일정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주간보고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매주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 담당·PM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진척·이슈·다음 주 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 시연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격주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본부·세부과제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스프린트 결과 시연·피드백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월간보고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매월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본부장·PM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진척률·위험·변경 현황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완료보고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종료 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결과·산출물·인계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85161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분야별 협의체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085612"/>
          <a:ext cx="6260400" cy="146761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956375"/>
                <a:gridCol w="289543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협의체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참여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협의 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업무 협의체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본부·세부과제 담당·PM·분석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업무흐름·지표·양식·화면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인프라 협의체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AX혁신과·정보화기획운영과·인프라팀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서버 입주·SSO·보안정책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협의체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본부·데이터팀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이관 대상·표준·공개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280800" y="6661224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800" y="6697224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(즉시 보고) 중요 지연·이슈·의사결정 사항은 당일 보고하고 조치기한·담당자를 이슈대장에서 관리함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1.2.1 요구사항 추적과 변경통제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1.2 범위·위험·변경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(기준선 관리) 요구사항 대비표를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범위 기준선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삼고, 모든 변경요청은 영향 분석과 승인 후에만 반영함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변경 요청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요청자·사유 등록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영향 분석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범위·비용·일정·품질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승인 판단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본부 승인 / 차기 이관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반영·추적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설계·시험·검수 근거 갱신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80800" y="3330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관리 항목 &gt;</a:t>
            </a:r>
          </a:p>
        </p:txBody>
      </p:sp>
      <p:graphicFrame>
        <p:nvGraphicFramePr>
          <p:cNvPr id="47" name="Table 46"/>
          <p:cNvGraphicFramePr>
            <a:graphicFrameLocks noGrp="1"/>
          </p:cNvGraphicFramePr>
          <p:nvPr/>
        </p:nvGraphicFramePr>
        <p:xfrm>
          <a:off x="316800" y="3564000"/>
          <a:ext cx="6260400" cy="2151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 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 추적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요구사항별 담당·상태·설계·시험·검수 근거를 추적표로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변경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사유·영향·비용·일정·승인 여부 기록, 승인 전 임의 반영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위험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교내연계 지연·데이터 품질·AI 보안·사용자 참여 위험의 예방·대응계획 주간 점검 (Ⅱ.2.3)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이슈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이슈대장 등록→담당 지정→기한 관리→종결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형상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산출물·소스 버전 관리, 배포 승인·롤백 이력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TextBox 47"/>
          <p:cNvSpPr txBox="1"/>
          <p:nvPr/>
        </p:nvSpPr>
        <p:spPr>
          <a:xfrm>
            <a:off x="280800" y="5823612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이슈 보고 기준 &gt;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6057612"/>
          <a:ext cx="6260399" cy="1335204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2738925"/>
                <a:gridCol w="258241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보고·조치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긴급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일정 1주 이상 지연, 범위·비용 영향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당일 본부장 보고, 3일 내 대응안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중요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단계 일정 지연 우려, 협의 지연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주간보고 상정, 담당 지정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작업 단위 이슈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이슈대장 관리, 주간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관리방법론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1.3.1 검수 기준 및 인수 관리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1.3 검수·산출물 관리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(완전 인계) 제안요청서·제안서·협상·계약·수행계획의 요구사항 충족 여부로 검수받고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소스·DB·설정·데이터·라이선스·계정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빠짐없이 인계함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PMR-004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2151612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검수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대비표 항목별 충족 여부, 시험 결과, 산출물 완비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최종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계약 종료 2주 전 초안 제출, 검수·보완 반영 최종본은 종료일까지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제출 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요구사항정의서, 프로세스·메뉴·화면·인터페이스·데이터·아키텍처 설계서, 소스, 시험결과, 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인계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최종 소스·DB 스크립트·설정·데이터·라이선스·계정·장비 보증서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운영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안정화 완료기준(중대결함 0건, 잔여결함 처리계획) 사전 합의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302400" y="4632011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2400" y="4617612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검수 절차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16800" y="494161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316800" y="494161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산출물 초안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800" y="522961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종료 2주 전 제출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1493280" y="5321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590480" y="494161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1590480" y="494161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검수 요청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26480" y="522961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요구사항 대비표 충족 증빙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2766960" y="5321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2864160" y="494161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2864160" y="494161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검토·보완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00160" y="522961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지적사항 보완·재제출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4040640" y="5321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4137840" y="494161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4137840" y="494161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인계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73840" y="522961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소스·데이터·장비·계정 인계서</a:t>
            </a:r>
          </a:p>
        </p:txBody>
      </p:sp>
      <p:sp>
        <p:nvSpPr>
          <p:cNvPr id="49" name="Isosceles Triangle 48"/>
          <p:cNvSpPr/>
          <p:nvPr/>
        </p:nvSpPr>
        <p:spPr>
          <a:xfrm rot="5400000">
            <a:off x="5314320" y="5321412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411520" y="4941612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Round Same Side Corner Rectangle 50"/>
          <p:cNvSpPr/>
          <p:nvPr/>
        </p:nvSpPr>
        <p:spPr>
          <a:xfrm>
            <a:off x="5411520" y="4941612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완료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7520" y="5229612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완료보고·하자보수 개시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80800" y="5913612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4800" y="5949612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(빌드 재현) 인계한 소스로 발주기관 환경에서 빌드·배포가 재현되는지 함께 확인하여 계약 종료 후 독립 운영을 보장함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일정계획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3개월 세부 추진일정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세부 일정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(병행 일정) 표준·설계를 4주 내 끝내고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개발·장비 도입·데이터 이관을 병행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11주차 시범운영, 13주차 운영 전환을 달성함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PMR-001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주차별 추진일정 (계약일 M 기준, 13주)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398" cy="4410000"/>
        </p:xfrm>
        <a:graphic>
          <a:graphicData uri="http://schemas.openxmlformats.org/drawingml/2006/table">
            <a:tbl>
              <a:tblPr firstRow="0" bandRow="0"/>
              <a:tblGrid>
                <a:gridCol w="818352"/>
                <a:gridCol w="2291388"/>
                <a:gridCol w="450094"/>
                <a:gridCol w="450094"/>
                <a:gridCol w="450094"/>
                <a:gridCol w="450094"/>
                <a:gridCol w="450094"/>
                <a:gridCol w="450094"/>
                <a:gridCol w="450094"/>
              </a:tblGrid>
              <a:tr h="306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주요 활동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1-2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3-4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5-6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7-8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9-10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11-12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13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수행계획·조직 구성·착수보고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요구사항·데이터·유사 시스템 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아키텍처·데이터 표준·ERD·화면·보안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장비 승인·발주·입고·IDC 설치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S1 권한·사업체계 / S2 프로그램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S3 성과·정책환류 / S4 포털·대시보드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표준양식·초기 이관·검증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 적용방안 분석·설계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SSO 연계·연동 테스트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통합·성능·보안·접근성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UAT·시범운영·교육·기술이전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종료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검수·최종 산출물·서비스 시작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85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7073999"/>
            <a:ext cx="63324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r>
              <a:rPr sz="850" b="0" spc="-30">
                <a:solidFill>
                  <a:srgbClr val="808080"/>
                </a:solidFill>
                <a:latin typeface="KoPubWorld돋움체 Medium"/>
                <a:ea typeface="KoPubWorld돋움체 Medium"/>
                <a:cs typeface="KoPubWorld돋움체 Medium"/>
              </a:rPr>
              <a:t>※ 계약 후 10일 내 사업수행계획서 제출, 종료 2주 전 최종 산출물 초안 제출 / 하자보수 12개월 별도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개발장비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Ⅴ. 프로젝트 관리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개발·시험 환경 구성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개발환경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(장비 입고 전 병행 개발) 발주기관 보안지침을 충족하는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개발환경을 착수 1주 내 구성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하여 서버 입고 전에도 개발을 진행하고 입고 후 즉시 이관함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ECR-002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400" cy="3100428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3286710"/>
                <a:gridCol w="17998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비고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 PC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보안프로그램·백신 설치 노트북 【 】대, 비밀번호 정책 적용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발주기관 반입 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개발 서버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현장 개발서버(가상화) → 운영 장비 입고 후 시험환경으로 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비식별·가상 데이터만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형상관리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Git 저장소(발주기관 내부), 브랜치·코드리뷰 규칙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외부 저장소 사용 금지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이슈관리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요구사항·결함·변경 추적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번호 연결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빌드·배포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자동 빌드·시험, 배포 승인·롤백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배포 이력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부하시험 도구, 소스코드 보안약점 분석도구, 접근성 점검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라이선스 확인 완료 도구만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디자인 도구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UI 설계·프로토타입 도구, 디자인 시스템 라이브러리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산출물 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80800" y="5566428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5602427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(라이선스) 개발에 사용하는 상용 도구는 당사 보유 정품만 사용하고, 납품 시스템에 포함되는 상용 SW는 없음을 원칙으로 함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1992060" y="1498812"/>
            <a:ext cx="4550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프로젝트 지원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Ⅵ.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품질보증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시험운영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교육훈련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하자보수 계획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기밀보안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비상대책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품질보증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단계별 품질 점검 체계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품질보증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(독립 품질보증) 개발 조직과 분리된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품질담당자가 단계마다 산출물·시험·형상을 점검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 시정조치를 추적함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017315"/>
                <a:gridCol w="2895435"/>
                <a:gridCol w="234765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단계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점검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점검 방법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분석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누락·모호성, 대비표 완전성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검토회의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설계-요구사항 추적, 표준 준수, 보안 설계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설계 검토(Peer Review)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코딩표준·시큐어코딩·단위시험 커버리지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정적분석·코드리뷰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시험항목 충족률, 결함 조치율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시험 결과 검토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산출물 완비, 인계 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체크리스트 확인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280800" y="4485204"/>
            <a:ext cx="6332400" cy="975240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800" y="4521204"/>
            <a:ext cx="6224400" cy="939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(시정조치) 점검 결함을 등록·조치·확인까지 추적하고 월간보고에 품질 현황을 포함함</a:t>
            </a:r>
          </a:p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(인증) 【보유 품질인증(GS·SP 등) 기재, 미보유 시 '해당 없음'】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0800" y="555044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품질 목표 지표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5784443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799865"/>
                <a:gridCol w="1565100"/>
                <a:gridCol w="289543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측정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요구사항 반영률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요구사항 대비표 충족 항목 / 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치명·중대 결함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오픈 시 0건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결함관리 도구 집계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보안약점 조치율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분석도구 점검 결과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웹 접근성 자가점검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주요 화면 전수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점검표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 검토 완료율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100%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품질담당 검토 기록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시험운영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인수시험 및 시범운영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시험운영 방안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(실제 업무로 검증) 본부와 세부과제 담당자가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실제 업무자료로 시나리오를 수행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하고, 시범운영 중 문의·오류를 즉시 조치하는 전담 지원반을 운영함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TER-005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8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 Same Side Corner Rectangle 31"/>
          <p:cNvSpPr/>
          <p:nvPr/>
        </p:nvSpPr>
        <p:spPr>
          <a:xfrm>
            <a:off x="3168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인수시험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8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역할별 실제 업무 시나리오 수행</a:t>
            </a:r>
          </a:p>
        </p:txBody>
      </p:sp>
      <p:sp>
        <p:nvSpPr>
          <p:cNvPr id="34" name="Isosceles Triangle 33"/>
          <p:cNvSpPr/>
          <p:nvPr/>
        </p:nvSpPr>
        <p:spPr>
          <a:xfrm rot="5400000">
            <a:off x="18117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089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 Same Side Corner Rectangle 35"/>
          <p:cNvSpPr/>
          <p:nvPr/>
        </p:nvSpPr>
        <p:spPr>
          <a:xfrm>
            <a:off x="19089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시범운영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49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2주, 실제 데이터 입력</a:t>
            </a:r>
          </a:p>
        </p:txBody>
      </p:sp>
      <p:sp>
        <p:nvSpPr>
          <p:cNvPr id="38" name="Isosceles Triangle 37"/>
          <p:cNvSpPr/>
          <p:nvPr/>
        </p:nvSpPr>
        <p:spPr>
          <a:xfrm rot="5400000">
            <a:off x="34038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5010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 Same Side Corner Rectangle 39"/>
          <p:cNvSpPr/>
          <p:nvPr/>
        </p:nvSpPr>
        <p:spPr>
          <a:xfrm>
            <a:off x="35010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조치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70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문의·오류·개선 분류 후 조치</a:t>
            </a:r>
          </a:p>
        </p:txBody>
      </p:sp>
      <p:sp>
        <p:nvSpPr>
          <p:cNvPr id="42" name="Isosceles Triangle 41"/>
          <p:cNvSpPr/>
          <p:nvPr/>
        </p:nvSpPr>
        <p:spPr>
          <a:xfrm rot="5400000">
            <a:off x="499590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093100" y="2358000"/>
            <a:ext cx="148410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 Same Side Corner Rectangle 43"/>
          <p:cNvSpPr/>
          <p:nvPr/>
        </p:nvSpPr>
        <p:spPr>
          <a:xfrm>
            <a:off x="5093100" y="2358000"/>
            <a:ext cx="148410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운영 전환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9100" y="2646000"/>
            <a:ext cx="141210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인수기준 충족 확인</a:t>
            </a:r>
          </a:p>
        </p:txBody>
      </p: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316800" y="333000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지원 조직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시범운영 지원반(PM·개발 2·데이터 1) 현장 상주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접수 채널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플랫폼 내 문의 게시판, 전화, 현장 방문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처리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오류 당일 조치 착수, 개선요청은 변경관리로 분류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인수 기준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중대결함 0건, 합의된 잔여결함 처리계획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" name="TextBox 46"/>
          <p:cNvSpPr txBox="1"/>
          <p:nvPr/>
        </p:nvSpPr>
        <p:spPr>
          <a:xfrm>
            <a:off x="280800" y="5115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시범운영 계획 (안) &gt;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316800" y="5349204"/>
          <a:ext cx="6260398" cy="1677204"/>
        </p:xfrm>
        <a:graphic>
          <a:graphicData uri="http://schemas.openxmlformats.org/drawingml/2006/table">
            <a:tbl>
              <a:tblPr firstRow="0" bandRow="0"/>
              <a:tblGrid>
                <a:gridCol w="939059"/>
                <a:gridCol w="1565100"/>
                <a:gridCol w="3756239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수행 업무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11주차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본부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연도·세부과제 설정, 지표 사전 확인, 공개승인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11주차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9-1~9-3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프로그램·참여자 등록, 실적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12주차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9-4~9-6 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프로그램·성과물 등록, 정책제안 등록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12주차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전체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대시보드·보고서 확인, 오류·개선 접수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3. 교육훈련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3.1.1 대상별 교육·기술이전 계획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3.1 교육 및 기술이전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(자립 운영 지원) 관리자·본부·세부과제 담당자별로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실제 업무자료 실습 중심 교육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하고, 운영 기술을 문서와 실습으로 이전함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PSR-001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16800" y="2358000"/>
          <a:ext cx="6260399" cy="2284020"/>
        </p:xfrm>
        <a:graphic>
          <a:graphicData uri="http://schemas.openxmlformats.org/drawingml/2006/table">
            <a:tbl>
              <a:tblPr firstRow="0" bandRow="0"/>
              <a:tblGrid>
                <a:gridCol w="1173825"/>
                <a:gridCol w="2895435"/>
                <a:gridCol w="1252080"/>
                <a:gridCol w="939059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방식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권한·연도 전환·코드·지표사전·공개승인·로그·백업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실습·매뉴얼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본부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성과 검토·승인·대시보드·정책환류·보고서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세부과제 담당자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프로그램·참여자·성과·증빙 등록, 엑셀 업로드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2시간×2회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활용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AI 이용정책·검토 절차 (설계 내용)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설명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기술이전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시스템 구성·배포·백업·복구·장애대응·데이터관리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문서·실습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8시간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Rectangle 31"/>
          <p:cNvSpPr/>
          <p:nvPr/>
        </p:nvSpPr>
        <p:spPr>
          <a:xfrm>
            <a:off x="280800" y="4750020"/>
            <a:ext cx="6332400" cy="741239"/>
          </a:xfrm>
          <a:prstGeom prst="rect">
            <a:avLst/>
          </a:prstGeom>
          <a:noFill/>
          <a:ln w="12700">
            <a:solidFill>
              <a:srgbClr val="1D4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4800" y="4786020"/>
            <a:ext cx="6224400" cy="705240"/>
          </a:xfrm>
          <a:prstGeom prst="rect">
            <a:avLst/>
          </a:prstGeom>
          <a:noFill/>
        </p:spPr>
        <p:txBody>
          <a:bodyPr wrap="square" lIns="36000" rIns="36000" tIns="36000" bIns="36000" anchor="t">
            <a:noAutofit/>
          </a:bodyPr>
          <a:lstStyle/>
          <a:p>
            <a:pPr marL="108000" indent="-108000">
              <a:lnSpc>
                <a:spcPct val="125000"/>
              </a:lnSpc>
              <a:spcBef>
                <a:spcPts val="600"/>
              </a:spcBef>
              <a:spcAft>
                <a:spcPts val="600"/>
              </a:spcAft>
              <a:buFont typeface="Arial"/>
              <a:buChar char="•"/>
            </a:pPr>
            <a:r>
              <a:rPr sz="12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(교재) 역할별 매뉴얼·화면별 도움말·짧은 실습 가이드를 제공하고 교육 결과와 만족도를 보고함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2400" y="5595659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400" y="5581260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교육 진행 절차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6800" y="5905259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316800" y="590525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교육 계획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6193259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대상·일정·교재 확정</a:t>
            </a:r>
          </a:p>
        </p:txBody>
      </p:sp>
      <p:sp>
        <p:nvSpPr>
          <p:cNvPr id="39" name="Isosceles Triangle 38"/>
          <p:cNvSpPr/>
          <p:nvPr/>
        </p:nvSpPr>
        <p:spPr>
          <a:xfrm rot="5400000">
            <a:off x="1493280" y="628505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590480" y="5905259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1590480" y="590525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교재 제작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26480" y="6193259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역할별 매뉴얼·실습 데이터</a:t>
            </a:r>
          </a:p>
        </p:txBody>
      </p:sp>
      <p:sp>
        <p:nvSpPr>
          <p:cNvPr id="43" name="Isosceles Triangle 42"/>
          <p:cNvSpPr/>
          <p:nvPr/>
        </p:nvSpPr>
        <p:spPr>
          <a:xfrm rot="5400000">
            <a:off x="2766960" y="628505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864160" y="5905259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 Same Side Corner Rectangle 44"/>
          <p:cNvSpPr/>
          <p:nvPr/>
        </p:nvSpPr>
        <p:spPr>
          <a:xfrm>
            <a:off x="2864160" y="590525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실습 교육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00160" y="6193259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실제 업무자료로 실습</a:t>
            </a:r>
          </a:p>
        </p:txBody>
      </p:sp>
      <p:sp>
        <p:nvSpPr>
          <p:cNvPr id="47" name="Isosceles Triangle 46"/>
          <p:cNvSpPr/>
          <p:nvPr/>
        </p:nvSpPr>
        <p:spPr>
          <a:xfrm rot="5400000">
            <a:off x="4040640" y="628505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137840" y="5905259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 Same Side Corner Rectangle 48"/>
          <p:cNvSpPr/>
          <p:nvPr/>
        </p:nvSpPr>
        <p:spPr>
          <a:xfrm>
            <a:off x="4137840" y="590525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평가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73840" y="6193259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이해도·만족도 조사</a:t>
            </a:r>
          </a:p>
        </p:txBody>
      </p:sp>
      <p:sp>
        <p:nvSpPr>
          <p:cNvPr id="51" name="Isosceles Triangle 50"/>
          <p:cNvSpPr/>
          <p:nvPr/>
        </p:nvSpPr>
        <p:spPr>
          <a:xfrm rot="5400000">
            <a:off x="5314320" y="6285059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411520" y="5905259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 Same Side Corner Rectangle 52"/>
          <p:cNvSpPr/>
          <p:nvPr/>
        </p:nvSpPr>
        <p:spPr>
          <a:xfrm>
            <a:off x="5411520" y="5905259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보완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47520" y="6193259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추가 교육·FAQ 반영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4. 하자보수 계획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3708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4.1.1 무상 하자보수 및 운영지원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4.1 하자보수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(12개월 무상 하자보수) 검사 완료일부터 12개월간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장애등급별 처리기준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에 따라 접수·조치·복구·재발방지를 수행함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1200" y="846000"/>
            <a:ext cx="2228400" cy="324000"/>
          </a:xfrm>
          <a:prstGeom prst="roundRect">
            <a:avLst>
              <a:gd name="adj" fmla="val 5000"/>
            </a:avLst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PSR-002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0800" y="2358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장애등급별 처리 기준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2592000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782550"/>
                <a:gridCol w="2738925"/>
                <a:gridCol w="1330335"/>
                <a:gridCol w="140859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등급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 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복구 목표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긴급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서비스 전체 중단, 데이터 유실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중대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주요 기능(승인·집계)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4시간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일반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일부 기능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경미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화면·문구 오류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3일 이내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정기 반영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80800" y="4377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지원 범위 &gt;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316800" y="4611204"/>
          <a:ext cx="6260400" cy="1335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하자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오류 수정, 보안패치, 데이터 복구, 운영 문의 응대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구분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하자와 기능개선 요청을 구분하여 처리이력 관리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정기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분기 1회 현장 점검 (백업·복구·로그·성능)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ectangle 34"/>
          <p:cNvSpPr/>
          <p:nvPr/>
        </p:nvSpPr>
        <p:spPr>
          <a:xfrm>
            <a:off x="302400" y="6068807"/>
            <a:ext cx="46800" cy="223200"/>
          </a:xfrm>
          <a:prstGeom prst="rect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92400" y="6054407"/>
            <a:ext cx="6156000" cy="25199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r>
              <a:rPr sz="12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하자보수 처리 절차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16800" y="6378407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316800" y="63784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접수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800" y="6666407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전화·메일·게시판 접수</a:t>
            </a:r>
          </a:p>
        </p:txBody>
      </p:sp>
      <p:sp>
        <p:nvSpPr>
          <p:cNvPr id="40" name="Isosceles Triangle 39"/>
          <p:cNvSpPr/>
          <p:nvPr/>
        </p:nvSpPr>
        <p:spPr>
          <a:xfrm rot="5400000">
            <a:off x="1493280" y="67582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590480" y="6378407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 Same Side Corner Rectangle 41"/>
          <p:cNvSpPr/>
          <p:nvPr/>
        </p:nvSpPr>
        <p:spPr>
          <a:xfrm>
            <a:off x="1590480" y="63784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분류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26480" y="6666407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하자/개선, 장애등급 판정</a:t>
            </a:r>
          </a:p>
        </p:txBody>
      </p:sp>
      <p:sp>
        <p:nvSpPr>
          <p:cNvPr id="44" name="Isosceles Triangle 43"/>
          <p:cNvSpPr/>
          <p:nvPr/>
        </p:nvSpPr>
        <p:spPr>
          <a:xfrm rot="5400000">
            <a:off x="2766960" y="67582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2864160" y="6378407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 Same Side Corner Rectangle 45"/>
          <p:cNvSpPr/>
          <p:nvPr/>
        </p:nvSpPr>
        <p:spPr>
          <a:xfrm>
            <a:off x="2864160" y="63784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조치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00160" y="6666407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원인분석·수정·시험</a:t>
            </a:r>
          </a:p>
        </p:txBody>
      </p:sp>
      <p:sp>
        <p:nvSpPr>
          <p:cNvPr id="48" name="Isosceles Triangle 47"/>
          <p:cNvSpPr/>
          <p:nvPr/>
        </p:nvSpPr>
        <p:spPr>
          <a:xfrm rot="5400000">
            <a:off x="4040640" y="67582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137840" y="6378407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ound Same Side Corner Rectangle 49"/>
          <p:cNvSpPr/>
          <p:nvPr/>
        </p:nvSpPr>
        <p:spPr>
          <a:xfrm>
            <a:off x="4137840" y="63784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반영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73840" y="6666407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배포 승인 후 운영 반영</a:t>
            </a:r>
          </a:p>
        </p:txBody>
      </p:sp>
      <p:sp>
        <p:nvSpPr>
          <p:cNvPr id="52" name="Isosceles Triangle 51"/>
          <p:cNvSpPr/>
          <p:nvPr/>
        </p:nvSpPr>
        <p:spPr>
          <a:xfrm rot="5400000">
            <a:off x="5314320" y="6758207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411520" y="6378407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ound Same Side Corner Rectangle 53"/>
          <p:cNvSpPr/>
          <p:nvPr/>
        </p:nvSpPr>
        <p:spPr>
          <a:xfrm>
            <a:off x="5411520" y="6378407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보고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47520" y="6666407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처리 결과·재발방지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5. 기밀보안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5.1.1 누출금지 정보 관리 및 보안위규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5.1 기밀보안 대책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(보안특약 준수) [별첨1~5] 보안특약을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사업제안서에 반영한 보안관리계획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으로 이행하고 위규 시 처리기준에 따라 조치함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영역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물리적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시건장치 가능한 작업장, 비공개 자료 일일 반납·잠금 보관, 출입 통제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관리적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보안서약·보안교육(착수·월간), 제공자료 관리대장, 인력 교체 즉시 보고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기술적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PC 보안프로그램, 매체제어, 업무망·인터넷망 혼용 금지, 암호화 송수신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누출금지 정보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IP·구성도·계정·취약점·소스·개인정보 목록화, 종료 시 정보보안담당 입회 파기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위규 대응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위규 수준별 행정조치, 재발방지 계획 제출, 보안 위약금 기준 수용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280800" y="4485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보안 점검 일정 &gt;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16800" y="4719204"/>
          <a:ext cx="6260400" cy="1809612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017315"/>
                <a:gridCol w="383449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주기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내용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자체 보안점검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월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PC 보안설정·자료 보관·출입 기록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착수 시 + 월 1회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누출금지 정보·보안위규 사례 교육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발주기관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수시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발주기관 보안담당 점검 수검 및 지적사항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종료 점검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종료 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자료 반납·삭제 확인, 보안확약서 제출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280800" y="6636816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보안관리책임자: 【성명·직위】 / 보안위규 발생 시 즉시 발주기관 보고 후 처리기준에 따라 조치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6. 비상대책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Ⅵ. 프로젝트 지원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6.1.1 비상연락체계 및 장애·재해 대응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6.1 비상 및 장애 대응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(24시간 비상연락) 비상연락망과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긴급대응반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운영하고, 장애 유형별 대응 절차와 백업 기반 복구로 서비스를 신속히 정상화함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680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ound Same Side Corner Rectangle 30"/>
          <p:cNvSpPr/>
          <p:nvPr/>
        </p:nvSpPr>
        <p:spPr>
          <a:xfrm>
            <a:off x="31680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탐지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모니터링 알림·사용자 신고</a:t>
            </a:r>
          </a:p>
        </p:txBody>
      </p:sp>
      <p:sp>
        <p:nvSpPr>
          <p:cNvPr id="33" name="Isosceles Triangle 32"/>
          <p:cNvSpPr/>
          <p:nvPr/>
        </p:nvSpPr>
        <p:spPr>
          <a:xfrm rot="5400000">
            <a:off x="149328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59048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159048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보고·전파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2648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PM → 발주기관 즉시 보고</a:t>
            </a:r>
          </a:p>
        </p:txBody>
      </p:sp>
      <p:sp>
        <p:nvSpPr>
          <p:cNvPr id="37" name="Isosceles Triangle 36"/>
          <p:cNvSpPr/>
          <p:nvPr/>
        </p:nvSpPr>
        <p:spPr>
          <a:xfrm rot="5400000">
            <a:off x="276696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86416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 Same Side Corner Rectangle 38"/>
          <p:cNvSpPr/>
          <p:nvPr/>
        </p:nvSpPr>
        <p:spPr>
          <a:xfrm>
            <a:off x="286416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조치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0016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원인 차단·임시 복구</a:t>
            </a:r>
          </a:p>
        </p:txBody>
      </p:sp>
      <p:sp>
        <p:nvSpPr>
          <p:cNvPr id="41" name="Isosceles Triangle 40"/>
          <p:cNvSpPr/>
          <p:nvPr/>
        </p:nvSpPr>
        <p:spPr>
          <a:xfrm rot="5400000">
            <a:off x="404064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13784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ound Same Side Corner Rectangle 42"/>
          <p:cNvSpPr/>
          <p:nvPr/>
        </p:nvSpPr>
        <p:spPr>
          <a:xfrm>
            <a:off x="413784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복구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384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백업 기반 정상화</a:t>
            </a:r>
          </a:p>
        </p:txBody>
      </p:sp>
      <p:sp>
        <p:nvSpPr>
          <p:cNvPr id="45" name="Isosceles Triangle 44"/>
          <p:cNvSpPr/>
          <p:nvPr/>
        </p:nvSpPr>
        <p:spPr>
          <a:xfrm rot="5400000">
            <a:off x="5314320" y="2737800"/>
            <a:ext cx="86400" cy="79200"/>
          </a:xfrm>
          <a:prstGeom prst="triangle">
            <a:avLst/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411520" y="2358000"/>
            <a:ext cx="1165680" cy="84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070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 Same Side Corner Rectangle 46"/>
          <p:cNvSpPr/>
          <p:nvPr/>
        </p:nvSpPr>
        <p:spPr>
          <a:xfrm>
            <a:off x="5411520" y="2358000"/>
            <a:ext cx="1165680" cy="259200"/>
          </a:xfrm>
          <a:prstGeom prst="round2SameRect">
            <a:avLst>
              <a:gd name="adj1" fmla="val 12000"/>
              <a:gd name="adj2" fmla="val 0"/>
            </a:avLst>
          </a:prstGeom>
          <a:solidFill>
            <a:srgbClr val="0462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FFFFFF"/>
                </a:solidFill>
                <a:latin typeface="KoPubWorld돋움체 Bold"/>
                <a:ea typeface="KoPubWorld돋움체 Bold"/>
                <a:cs typeface="KoPubWorld돋움체 Bold"/>
              </a:rPr>
              <a:t>재발방지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47520" y="2646000"/>
            <a:ext cx="1093680" cy="576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원인분석·보고서</a:t>
            </a:r>
          </a:p>
        </p:txBody>
      </p:sp>
      <p:graphicFrame>
        <p:nvGraphicFramePr>
          <p:cNvPr id="49" name="Table 48"/>
          <p:cNvGraphicFramePr>
            <a:graphicFrameLocks noGrp="1"/>
          </p:cNvGraphicFramePr>
          <p:nvPr/>
        </p:nvGraphicFramePr>
        <p:xfrm>
          <a:off x="316800" y="3330000"/>
          <a:ext cx="6260400" cy="2019204"/>
        </p:xfrm>
        <a:graphic>
          <a:graphicData uri="http://schemas.openxmlformats.org/drawingml/2006/table">
            <a:tbl>
              <a:tblPr firstRow="0" bandRow="0"/>
              <a:tblGrid>
                <a:gridCol w="1330335"/>
                <a:gridCol w="4930065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유형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 방안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서버 장애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제조사 보증 지원 연계, 부품 교체, 백업 데이터 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데이터 손상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시점 복구(PITR), 파일 저장소 증분 복구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보안 사고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접속 차단·증거 보존·발주기관 보고·취약점 조치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인력 공백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핵심인력 대체자 사전 지정, 인수인계 문서 상시 유지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재해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백업본 별도 위치 보관, 복구 우선순위(DB→파일→검색) 정의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Box 49"/>
          <p:cNvSpPr txBox="1"/>
          <p:nvPr/>
        </p:nvSpPr>
        <p:spPr>
          <a:xfrm>
            <a:off x="280800" y="5457204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비상연락체계 &gt;</a:t>
            </a:r>
          </a:p>
        </p:txBody>
      </p:sp>
      <p:graphicFrame>
        <p:nvGraphicFramePr>
          <p:cNvPr id="51" name="Table 50"/>
          <p:cNvGraphicFramePr>
            <a:graphicFrameLocks noGrp="1"/>
          </p:cNvGraphicFramePr>
          <p:nvPr/>
        </p:nvGraphicFramePr>
        <p:xfrm>
          <a:off x="316800" y="5691204"/>
          <a:ext cx="6260400" cy="1677204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1408590"/>
                <a:gridCol w="1721610"/>
                <a:gridCol w="17216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역할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담당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연락처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대응 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총괄 책임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PM 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【연락처】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24시간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긴급대응반장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PL 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【연락처】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1시간 내 착수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인프라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【성명】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【연락처】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현장 출동 4시간 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제조사 지원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【서버 제조사】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【연락처】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보증 조건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>
            <a:extLst>
              <a:ext uri="{FF2B5EF4-FFF2-40B4-BE49-F238E27FC236}">
                <a16:creationId xmlns:a16="http://schemas.microsoft.com/office/drawing/2014/main" id="{8DF5FEDB-ABA7-CD11-C7AD-E40BDE3B293E}"/>
              </a:ext>
            </a:extLst>
          </p:cNvPr>
          <p:cNvSpPr txBox="1"/>
          <p:nvPr/>
        </p:nvSpPr>
        <p:spPr>
          <a:xfrm>
            <a:off x="2280060" y="1498812"/>
            <a:ext cx="42629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>
                <a:solidFill>
                  <a:srgbClr val="0070C0"/>
                </a:solidFill>
                <a:latin typeface="a옛날사진관5" panose="02020600000000000000" pitchFamily="18" charset="-127"/>
                <a:ea typeface="a옛날사진관5" panose="02020600000000000000" pitchFamily="18" charset="-127"/>
              </a:rPr>
              <a:t>기타사항</a:t>
            </a:r>
          </a:p>
        </p:txBody>
      </p:sp>
      <p:sp>
        <p:nvSpPr>
          <p:cNvPr id="6" name="TextBox 17">
            <a:extLst>
              <a:ext uri="{FF2B5EF4-FFF2-40B4-BE49-F238E27FC236}">
                <a16:creationId xmlns:a16="http://schemas.microsoft.com/office/drawing/2014/main" id="{1D84C8F8-5169-F371-3701-8467EC5A1DB8}"/>
              </a:ext>
            </a:extLst>
          </p:cNvPr>
          <p:cNvSpPr txBox="1"/>
          <p:nvPr/>
        </p:nvSpPr>
        <p:spPr>
          <a:xfrm>
            <a:off x="315018" y="1209008"/>
            <a:ext cx="1101042" cy="1142350"/>
          </a:xfrm>
          <a:prstGeom prst="rect">
            <a:avLst/>
          </a:prstGeom>
          <a:noFill/>
          <a:effectLst/>
        </p:spPr>
        <p:txBody>
          <a:bodyPr wrap="none" lIns="34022" tIns="17011" rIns="34022" bIns="17011" rtlCol="0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defTabSz="208696" latinLnBrk="0">
              <a:defRPr/>
            </a:pPr>
            <a:r>
              <a:rPr kumimoji="1" lang="en-US" altLang="ko-KR" sz="7200" b="1">
                <a:ln>
                  <a:solidFill>
                    <a:srgbClr val="4FD1FF">
                      <a:alpha val="0"/>
                    </a:srgbClr>
                  </a:solidFill>
                </a:ln>
                <a:solidFill>
                  <a:srgbClr val="0070C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ldhabi" panose="01000000000000000000" pitchFamily="2" charset="-78"/>
                <a:ea typeface="KoPubWorld바탕체 Bold" panose="00000800000000000000" pitchFamily="2" charset="-127"/>
                <a:cs typeface="Aldhabi" panose="01000000000000000000" pitchFamily="2" charset="-78"/>
              </a:rPr>
              <a:t>Ⅶ.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4E0BB873-3323-D7E3-9919-67D51240FAB2}"/>
              </a:ext>
            </a:extLst>
          </p:cNvPr>
          <p:cNvCxnSpPr>
            <a:cxnSpLocks/>
          </p:cNvCxnSpPr>
          <p:nvPr/>
        </p:nvCxnSpPr>
        <p:spPr>
          <a:xfrm>
            <a:off x="713137" y="2472264"/>
            <a:ext cx="3528663" cy="0"/>
          </a:xfrm>
          <a:prstGeom prst="line">
            <a:avLst/>
          </a:prstGeom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A023684-4D4D-73A4-B973-1E990C2DFFB4}"/>
              </a:ext>
            </a:extLst>
          </p:cNvPr>
          <p:cNvSpPr txBox="1"/>
          <p:nvPr/>
        </p:nvSpPr>
        <p:spPr>
          <a:xfrm>
            <a:off x="713137" y="2517722"/>
            <a:ext cx="4913749" cy="37087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추가 제안</a:t>
            </a:r>
          </a:p>
          <a:p>
            <a:pPr marL="361950" indent="-3619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제안 전제 및 확인사항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1. 추가 제안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Ⅶ. 기타사항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1.1.1 사업 가치를 높이는 추가 제안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1.1 추가 제안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(추가 비용 없음) 본 사업 범위 안에서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후속 고도화 준비와 정착을 앞당기는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 추가 제안을 수행함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6800" y="235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68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① AI 설계 검증 시연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2800" y="261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공개 승인자료 소량으로 의미검색 설계 검증 시연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비운영·시연 한정, 외부 전송 없음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92000" y="235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92000" y="235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② 후속 고도화 로드맵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8000" y="261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2차년도 AI·GIS·연계 고도화 범위·예산 초안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차년도 사업계획 수립 지원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16800" y="334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16800" y="334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③ 평가 대응 리포트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800" y="360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부산시·대학 지표 제출 서식 자동 출력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연차평가 자료 취합 시간 단축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92000" y="3348000"/>
            <a:ext cx="3085200" cy="900000"/>
          </a:xfrm>
          <a:prstGeom prst="rect">
            <a:avLst/>
          </a:prstGeom>
          <a:solidFill>
            <a:srgbClr val="F4F8FC"/>
          </a:solidFill>
          <a:ln w="12700">
            <a:solidFill>
              <a:srgbClr val="BA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92000" y="3348000"/>
            <a:ext cx="3085200" cy="234000"/>
          </a:xfrm>
          <a:prstGeom prst="rect">
            <a:avLst/>
          </a:prstGeom>
          <a:solidFill>
            <a:srgbClr val="DCE9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3200" rIns="43200" tIns="43200" bIns="43200"/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spc="-30">
                <a:solidFill>
                  <a:srgbClr val="194EA7"/>
                </a:solidFill>
                <a:latin typeface="KoPubWorld돋움체 Bold"/>
                <a:ea typeface="KoPubWorld돋움체 Bold"/>
                <a:cs typeface="KoPubWorld돋움체 Bold"/>
              </a:rPr>
              <a:t>④ 디자인 시스템 인계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8000" y="3607200"/>
            <a:ext cx="3013200" cy="648000"/>
          </a:xfrm>
          <a:prstGeom prst="rect">
            <a:avLst/>
          </a:prstGeom>
          <a:noFill/>
        </p:spPr>
        <p:txBody>
          <a:bodyPr wrap="square" lIns="18000" rIns="18000" tIns="18000" bIns="18000" anchor="t">
            <a:noAutofit/>
          </a:bodyPr>
          <a:lstStyle/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UI 컴포넌트·가이드 인계</a:t>
            </a:r>
          </a:p>
          <a:p>
            <a:pPr marL="88900" indent="-8890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Font typeface="Arial"/>
              <a:buChar char="•"/>
            </a:pPr>
            <a:r>
              <a:rPr sz="1000" b="0" spc="-30">
                <a:solidFill>
                  <a:srgbClr val="000000"/>
                </a:solidFill>
                <a:latin typeface="KoPubWorld돋움체 Medium"/>
                <a:ea typeface="KoPubWorld돋움체 Medium"/>
                <a:cs typeface="KoPubWorld돋움체 Medium"/>
              </a:rPr>
              <a:t>후속 화면 개발 일관성 확보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0800" y="4392000"/>
            <a:ext cx="6332400" cy="21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-30">
                <a:solidFill>
                  <a:srgbClr val="000000"/>
                </a:solidFill>
                <a:latin typeface="KoPubWorld돋움체 Bold"/>
                <a:ea typeface="KoPubWorld돋움체 Bold"/>
                <a:cs typeface="KoPubWorld돋움체 Bold"/>
              </a:rPr>
              <a:t>&lt; 추가 제안 실행 계획 &gt;</a:t>
            </a:r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316800" y="4626000"/>
          <a:ext cx="6260399" cy="1677204"/>
        </p:xfrm>
        <a:graphic>
          <a:graphicData uri="http://schemas.openxmlformats.org/drawingml/2006/table">
            <a:tbl>
              <a:tblPr firstRow="0" bandRow="0"/>
              <a:tblGrid>
                <a:gridCol w="1956375"/>
                <a:gridCol w="1330335"/>
                <a:gridCol w="2973689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제안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시기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산출물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설계 검증 시연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11주차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시연 결과 보고서 (검색 정확도·근거 제시 사례)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후속 고도화 로드맵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12주차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2차년도 범위·일정·예산 초안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평가 대응 리포트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10주차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지표 제출 서식 출력 기능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디자인 시스템 인계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13주차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UI 컴포넌트 라이브러리·가이드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D9F520BA-26D9-1D94-37C1-390B16677E0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2559" y="229408"/>
            <a:ext cx="5318423" cy="320088"/>
          </a:xfrm>
        </p:spPr>
        <p:txBody>
          <a:bodyPr/>
          <a:lstStyle/>
          <a:p>
            <a:r>
              <a:rPr lang="en-US" altLang="ko-KR" sz="1600">
                <a:solidFill>
                  <a:schemeClr val="tx1"/>
                </a:solidFill>
              </a:rPr>
              <a:t>2. 제안 전제 및 확인사항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0F69D74-9EAF-CEEE-AF7B-E2FF8AD04DB7}"/>
              </a:ext>
            </a:extLst>
          </p:cNvPr>
          <p:cNvSpPr txBox="1"/>
          <p:nvPr/>
        </p:nvSpPr>
        <p:spPr>
          <a:xfrm>
            <a:off x="3895725" y="298577"/>
            <a:ext cx="28238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r" defTabSz="914400" rtl="0" eaLnBrk="1" fontAlgn="auto" latinLnBrk="1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en-US" altLang="ko-KR" sz="1200">
                <a:ln>
                  <a:solidFill>
                    <a:srgbClr val="4472C4">
                      <a:shade val="50000"/>
                      <a:alpha val="0"/>
                    </a:srgb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Ⅶ. 기타사항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0C64E1C-7DCB-6DC9-8F48-316B5313706F}"/>
              </a:ext>
            </a:extLst>
          </p:cNvPr>
          <p:cNvSpPr/>
          <p:nvPr/>
        </p:nvSpPr>
        <p:spPr bwMode="auto">
          <a:xfrm>
            <a:off x="588602" y="1003444"/>
            <a:ext cx="5940000" cy="215442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ct val="0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400" b="0" i="0" u="none" strike="noStrike" kern="1200" cap="none" spc="-19" normalizeH="0" baseline="0" noProof="0">
                <a:ln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Medium" panose="00000600000000000000" pitchFamily="2" charset="-127"/>
                <a:ea typeface="KoPubWorld돋움체 Medium" panose="00000600000000000000" pitchFamily="2" charset="-127"/>
                <a:cs typeface="KoPubWorld돋움체 Medium" panose="00000600000000000000" pitchFamily="2" charset="-127"/>
                <a:sym typeface="Monotype Sorts"/>
              </a:rPr>
              <a:t>2.1.1 제안 전제 조건 및 협의 요청 사항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2CE8A46-6233-C6A4-2BE2-039EC8621B50}"/>
              </a:ext>
            </a:extLst>
          </p:cNvPr>
          <p:cNvSpPr/>
          <p:nvPr/>
        </p:nvSpPr>
        <p:spPr bwMode="auto">
          <a:xfrm>
            <a:off x="509839" y="698078"/>
            <a:ext cx="5838321" cy="230831"/>
          </a:xfrm>
          <a:prstGeom prst="rect">
            <a:avLst/>
          </a:prstGeom>
          <a:ln>
            <a:noFill/>
          </a:ln>
        </p:spPr>
        <p:txBody>
          <a:bodyPr wrap="square" lIns="0" tIns="0" rIns="0" bIns="0" anchor="b" anchorCtr="0">
            <a:spAutoFit/>
          </a:bodyPr>
          <a:lstStyle/>
          <a:p>
            <a:pPr marL="0" lvl="1" fontAlgn="base">
              <a:spcBef>
                <a:spcPts val="188"/>
              </a:spcBef>
              <a:buClr>
                <a:prstClr val="white">
                  <a:lumMod val="50000"/>
                </a:prstClr>
              </a:buClr>
              <a:buSzPct val="100000"/>
              <a:defRPr/>
            </a:pPr>
            <a:r>
              <a:rPr kumimoji="0" lang="en-US" altLang="ko-KR" sz="1500" b="0" i="0" u="none" strike="noStrike" kern="1200" cap="none" spc="-19" normalizeH="0" baseline="0" noProof="0">
                <a:ln w="3175">
                  <a:solidFill>
                    <a:srgbClr val="D0D5DB">
                      <a:alpha val="0"/>
                    </a:srgbClr>
                  </a:solidFill>
                </a:ln>
                <a:effectLst/>
                <a:uLnTx/>
                <a:uFillTx/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  <a:sym typeface="Monotype Sorts"/>
              </a:rPr>
              <a:t>2.1 제안 전제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BE032AD2-3F32-1F05-D1B6-C16ED22DC291}"/>
              </a:ext>
            </a:extLst>
          </p:cNvPr>
          <p:cNvSpPr/>
          <p:nvPr/>
        </p:nvSpPr>
        <p:spPr>
          <a:xfrm>
            <a:off x="279083" y="1371599"/>
            <a:ext cx="6331426" cy="862661"/>
          </a:xfrm>
          <a:prstGeom prst="roundRect">
            <a:avLst>
              <a:gd name="adj" fmla="val 5153"/>
            </a:avLst>
          </a:prstGeom>
          <a:solidFill>
            <a:schemeClr val="accent5">
              <a:lumMod val="20000"/>
              <a:lumOff val="80000"/>
              <a:alpha val="7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72000" tIns="72000" rIns="72000" bIns="72000" rtlCol="0" anchor="ctr"/>
          <a:lstStyle/>
          <a:p>
            <a:pPr>
              <a:lnSpc>
                <a:spcPts val="1700"/>
              </a:lnSpc>
            </a:pP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(투명한 범위) 제안 내용의 전제 조건과 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solidFill>
                  <a:srgbClr val="0462DA"/>
                </a:solidFill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착수 시 확정이 필요한 사항</a:t>
            </a:r>
            <a:r>
              <a:rPr lang="ko-KR" altLang="en-US" sz="1200">
                <a:ln w="12700">
                  <a:solidFill>
                    <a:schemeClr val="tx1">
                      <a:alpha val="0"/>
                    </a:schemeClr>
                  </a:solidFill>
                </a:ln>
                <a:latin typeface="KoPubWorld돋움체 Bold" panose="00000800000000000000" pitchFamily="2" charset="-127"/>
                <a:ea typeface="KoPubWorld돋움체 Bold" panose="00000800000000000000" pitchFamily="2" charset="-127"/>
                <a:cs typeface="KoPubWorld돋움체 Bold" panose="00000800000000000000" pitchFamily="2" charset="-127"/>
              </a:rPr>
              <a:t>을 명시하여 범위 분쟁 없이 사업을 수행함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16800" y="2358000"/>
          <a:ext cx="6260400" cy="2968020"/>
        </p:xfrm>
        <a:graphic>
          <a:graphicData uri="http://schemas.openxmlformats.org/drawingml/2006/table">
            <a:tbl>
              <a:tblPr firstRow="0" bandRow="0"/>
              <a:tblGrid>
                <a:gridCol w="1408590"/>
                <a:gridCol w="4851810"/>
              </a:tblGrid>
              <a:tr h="309204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 spc="-30">
                          <a:solidFill>
                            <a:srgbClr val="FFFFFF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전제 및 협의 사항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0462DA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대금 지급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최종 결과물 보고 후 지급 조건 관련 선금 지급 가능 여부 협의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알림 발송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카카오 알림톡·SMS 발송 서비스는 발주기관 보유 서비스 활용 (미보유 시 이메일 인증)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4408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외부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고용24는 공개 OpenAPI 배치 수집, 신용평가 정보는 엑셀 반입 (유료 API는 후속)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학사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AX 정보화혁신본부 승인 범위의 최소항목만 연계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장비 규격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서버 규격·수량은 발주기관 사전 승인 후 확정, 계약금액 범위 내 도입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이관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발주기관이 확정한 우선대상 목록에 한함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Bold"/>
                          <a:ea typeface="KoPubWorld돋움체 Bold"/>
                          <a:cs typeface="KoPubWorld돋움체 Bold"/>
                        </a:rPr>
                        <a:t>AI 범위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EEF3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 spc="-30">
                          <a:solidFill>
                            <a:srgbClr val="222222"/>
                          </a:solidFill>
                          <a:latin typeface="KoPubWorld돋움체 Medium"/>
                          <a:ea typeface="KoPubWorld돋움체 Medium"/>
                          <a:cs typeface="KoPubWorld돋움체 Medium"/>
                        </a:rPr>
                        <a:t>분석·설계 산출물까지, 모델·서비스 구현은 후속 사업</a:t>
                      </a:r>
                    </a:p>
                  </a:txBody>
                  <a:tcPr marL="36000" marR="36000" marT="18000" marB="18000" anchor="ctr">
                    <a:lnL w="10160">
                      <a:solidFill>
                        <a:srgbClr val="C8D3E0"/>
                      </a:solidFill>
                    </a:lnL>
                    <a:lnR w="10160">
                      <a:solidFill>
                        <a:srgbClr val="C8D3E0"/>
                      </a:solidFill>
                    </a:lnR>
                    <a:lnT w="10160">
                      <a:solidFill>
                        <a:srgbClr val="C8D3E0"/>
                      </a:solidFill>
                    </a:lnT>
                    <a:lnB w="10160">
                      <a:solidFill>
                        <a:srgbClr val="C8D3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Rounded Rectangle 30"/>
          <p:cNvSpPr/>
          <p:nvPr/>
        </p:nvSpPr>
        <p:spPr>
          <a:xfrm>
            <a:off x="280800" y="5434020"/>
            <a:ext cx="6332400" cy="522271"/>
          </a:xfrm>
          <a:prstGeom prst="roundRect">
            <a:avLst>
              <a:gd name="adj" fmla="val 6000"/>
            </a:avLst>
          </a:prstGeom>
          <a:solidFill>
            <a:srgbClr val="FFF4E5"/>
          </a:solidFill>
          <a:ln w="12700">
            <a:solidFill>
              <a:srgbClr val="F4B1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0000" rIns="90000" tIns="90000" bIns="900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spc="-30">
                <a:solidFill>
                  <a:srgbClr val="7F3F00"/>
                </a:solidFill>
                <a:latin typeface="KoPubWorld돋움체 Bold"/>
                <a:ea typeface="KoPubWorld돋움체 Bold"/>
                <a:cs typeface="KoPubWorld돋움체 Bold"/>
              </a:rPr>
              <a:t>상기 사항은 계약 협상 및 착수 단계에서 발주기관과 협의하여 요구사항 대비표에 확정하며, 확정 전에도 핵심 업무 수행에 지장이 없도록 대체방식을 기본 제공함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200" dirty="0" smtClean="0">
            <a:latin typeface="KoPubWorld돋움체 Bold" panose="00000800000000000000" pitchFamily="2" charset="-127"/>
            <a:ea typeface="KoPubWorld돋움체 Bold" panose="00000800000000000000" pitchFamily="2" charset="-127"/>
            <a:cs typeface="KoPubWorld돋움체 Bold" panose="00000800000000000000" pitchFamily="2" charset="-127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200" dirty="0" smtClean="0">
            <a:latin typeface="KoPubWorld돋움체 Medium" panose="00000600000000000000" pitchFamily="2" charset="-127"/>
            <a:ea typeface="KoPubWorld돋움체 Medium" panose="00000600000000000000" pitchFamily="2" charset="-127"/>
            <a:cs typeface="KoPubWorld돋움체 Medium" panose="000006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9D30EBE9304C2346AD8EC6952A85F23C" ma:contentTypeVersion="16" ma:contentTypeDescription="새 문서를 만듭니다." ma:contentTypeScope="" ma:versionID="0beda8d242283ca8ad5cd5bb1aa1bc86">
  <xsd:schema xmlns:xsd="http://www.w3.org/2001/XMLSchema" xmlns:xs="http://www.w3.org/2001/XMLSchema" xmlns:p="http://schemas.microsoft.com/office/2006/metadata/properties" xmlns:ns2="e7514280-9163-4412-ad0a-e8ade9193bee" xmlns:ns3="296b340d-c22f-4484-96dd-ad8bc868af40" targetNamespace="http://schemas.microsoft.com/office/2006/metadata/properties" ma:root="true" ma:fieldsID="c503c7f92b65afe15150ee6451e3405f" ns2:_="" ns3:_="">
    <xsd:import namespace="e7514280-9163-4412-ad0a-e8ade9193bee"/>
    <xsd:import namespace="296b340d-c22f-4484-96dd-ad8bc868af4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514280-9163-4412-ad0a-e8ade9193be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dbb9d562-bd20-43bc-a33e-5cbb7cafe37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96b340d-c22f-4484-96dd-ad8bc868af40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89e01bde-2108-4b34-9411-c6bd49ed7aa3}" ma:internalName="TaxCatchAll" ma:showField="CatchAllData" ma:web="296b340d-c22f-4484-96dd-ad8bc868af4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7514280-9163-4412-ad0a-e8ade9193bee">
      <Terms xmlns="http://schemas.microsoft.com/office/infopath/2007/PartnerControls"/>
    </lcf76f155ced4ddcb4097134ff3c332f>
    <TaxCatchAll xmlns="296b340d-c22f-4484-96dd-ad8bc868af4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62CDAD-107A-43D7-A7FF-44C6CD012359}">
  <ds:schemaRefs>
    <ds:schemaRef ds:uri="296b340d-c22f-4484-96dd-ad8bc868af40"/>
    <ds:schemaRef ds:uri="e7514280-9163-4412-ad0a-e8ade9193be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C756E700-2809-459B-84AD-EC3318970829}">
  <ds:schemaRefs>
    <ds:schemaRef ds:uri="296b340d-c22f-4484-96dd-ad8bc868af40"/>
    <ds:schemaRef ds:uri="e7514280-9163-4412-ad0a-e8ade9193be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BF8794B-BC40-4BF3-B2D9-ECCD52D4CB8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c21f85bf-30cf-4a3f-b20f-fc38a03d9031}" enabled="0" method="" siteId="{c21f85bf-30cf-4a3f-b20f-fc38a03d903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5876</TotalTime>
  <Words>54759</Words>
  <Application>Microsoft Office PowerPoint</Application>
  <PresentationFormat>A4 용지(210x297mm)</PresentationFormat>
  <Paragraphs>8851</Paragraphs>
  <Slides>220</Slides>
  <Notes>137</Notes>
  <HiddenSlides>0</HiddenSlides>
  <MMClips>0</MMClips>
  <ScaleCrop>false</ScaleCrop>
  <HeadingPairs>
    <vt:vector size="6" baseType="variant">
      <vt:variant>
        <vt:lpstr>사용한 글꼴</vt:lpstr>
      </vt:variant>
      <vt:variant>
        <vt:i4>22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220</vt:i4>
      </vt:variant>
    </vt:vector>
  </HeadingPairs>
  <TitlesOfParts>
    <vt:vector size="243" baseType="lpstr">
      <vt:lpstr>a옛날사진관5</vt:lpstr>
      <vt:lpstr>G마켓 산스 TTF Bold</vt:lpstr>
      <vt:lpstr>G마켓 산스 TTF Medium</vt:lpstr>
      <vt:lpstr>KoPubWorld돋움체 Bold</vt:lpstr>
      <vt:lpstr>KoPubWorld돋움체 Medium</vt:lpstr>
      <vt:lpstr>KoPubWorld바탕체 Light</vt:lpstr>
      <vt:lpstr>KoPub돋움체_Pro Medium</vt:lpstr>
      <vt:lpstr>KoPub바탕체 Bold</vt:lpstr>
      <vt:lpstr>Pretendard</vt:lpstr>
      <vt:lpstr>경기천년제목 Bold</vt:lpstr>
      <vt:lpstr>나눔스퀘어</vt:lpstr>
      <vt:lpstr>나눔스퀘어 Bold</vt:lpstr>
      <vt:lpstr>나눔스퀘어_ac</vt:lpstr>
      <vt:lpstr>나눔스퀘어_ac ExtraBold</vt:lpstr>
      <vt:lpstr>맑은 고딕</vt:lpstr>
      <vt:lpstr>맑은 고딕</vt:lpstr>
      <vt:lpstr>함초롬바탕</vt:lpstr>
      <vt:lpstr>Aldhabi</vt:lpstr>
      <vt:lpstr>Arial</vt:lpstr>
      <vt:lpstr>Calibri</vt:lpstr>
      <vt:lpstr>Calibri Light</vt:lpstr>
      <vt:lpstr>Wingdings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이동혁</dc:creator>
  <cp:lastModifiedBy>황보 정운</cp:lastModifiedBy>
  <cp:revision>239</cp:revision>
  <cp:lastPrinted>2026-06-25T07:15:15Z</cp:lastPrinted>
  <dcterms:created xsi:type="dcterms:W3CDTF">2021-09-24T12:12:26Z</dcterms:created>
  <dcterms:modified xsi:type="dcterms:W3CDTF">2026-07-27T02:17:50Z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0x0101009D30EBE9304C2346AD8EC6952A85F23C</vt:lpwstr>
  </property>
  <property fmtid="{D5CDD505-2E9C-101B-9397-08002B2CF9AE}" pid="3" name="MediaServiceImageTags">
    <vt:lpwstr/>
  </property>
</Properties>
</file>