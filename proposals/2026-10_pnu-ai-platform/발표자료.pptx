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35999"/>
            <a:ext cx="9000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r>
              <a:rPr sz="13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제안 발표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1080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기반 지역혁신 데이터 플랫폼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970000"/>
            <a:ext cx="4798800" cy="432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8800" y="2970000"/>
            <a:ext cx="309600" cy="43200"/>
          </a:xfrm>
          <a:prstGeom prst="rect">
            <a:avLst/>
          </a:prstGeom>
          <a:solidFill>
            <a:srgbClr val="0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400" y="2970000"/>
            <a:ext cx="2631600" cy="43200"/>
          </a:xfrm>
          <a:prstGeom prst="rect">
            <a:avLst/>
          </a:prstGeom>
          <a:solidFill>
            <a:srgbClr val="F6C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096000"/>
            <a:ext cx="72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사업책임자 </a:t>
            </a:r>
            <a:r>
              <a:rPr sz="16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510000"/>
            <a:ext cx="7740000" cy="1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708000"/>
            <a:ext cx="7920000" cy="10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제안사: 주식회사 에이치나인</a:t>
            </a:r>
          </a:p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발주기관: 부산대학교 앵커사업단 지역사회혁신본부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5184000"/>
            <a:ext cx="180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HNINE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4680000"/>
            <a:ext cx="54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부산대학교 앵커사업단 지역사회혁신본부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270000"/>
            <a:ext cx="43200" cy="21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16000"/>
            <a:ext cx="5400000" cy="32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평가항목 조견표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612000"/>
          <a:ext cx="11473200" cy="5922000"/>
        </p:xfrm>
        <a:graphic>
          <a:graphicData uri="http://schemas.openxmlformats.org/drawingml/2006/table">
            <a:tbl>
              <a:tblPr firstRow="0" bandRow="0"/>
              <a:tblGrid>
                <a:gridCol w="1224000"/>
                <a:gridCol w="1872000"/>
                <a:gridCol w="5832000"/>
                <a:gridCol w="720000"/>
                <a:gridCol w="1825200"/>
              </a:tblGrid>
              <a:tr h="246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246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 및 유사사업 수행실적(최근 3년)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사업이해도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특성 및 목표에 부합하는 사업전략 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및 위험요소를 고려한 타당한 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 11~14, 39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적용기술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확장성을 고려한 현실적으로 실현 가능한 기술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15, 18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프레임워크 적용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프레임워크 적용과 예상 문제점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적정 방법론과 단계별 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및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요구사항·기대사항·제약사항 구현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21~25, 28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 적용 방안과 설계·구현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전환 계획·검증·오류 처리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27~28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제약조건 충족을 위한 구현·테스트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9, 18, 31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충족 구현·테스트 방안과 분석도구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품질 점검·검토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시스템·사용자 인터페이스 구축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19, 23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관리조직·인력·일정·위험·보안·산출물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수행기간과 세부일정의 적절성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13, 33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개발장비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개발환경 구성과 라이선스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7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방안과 품질 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운영 방법 및 조직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 방법·내용·일정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조직·절차·범위·기간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 보호 체계 및 대책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30, 37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비상대책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 및 장애대응 대책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7200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000" b="0">
                <a:solidFill>
                  <a:srgbClr val="0B3AA4"/>
                </a:solidFill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0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6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사업의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4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0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4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수행능력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8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2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4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6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8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세부내용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프로젝트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4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0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4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프로젝트 지원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8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2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4060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6060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8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사업의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배경 및 필요성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사업 목표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핵심 이슈와 대응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080000"/>
            <a:ext cx="11160000" cy="82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근거로 증명하는 지역혁신 성과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44000"/>
            <a:ext cx="1116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지역문제 → 사업운영 → 리빙랩 → 성과·증빙 → 정책환류를 하나의 데이터 체계로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부산대학교 앵커사업단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지역사회혁신본부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02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계약일로부터 3개월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(~2027.02.12)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05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사업금액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05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3억 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(VAT 포함)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209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구축 범위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209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공개 성과포털 · 내부 업무포털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· 데이터 · AI 설계 ·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배경 및 필요성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사업의 이해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현행 문제와 구조 전환</a:t>
            </a:r>
          </a:p>
        </p:txBody>
      </p:sp>
      <p:sp>
        <p:nvSpPr>
          <p:cNvPr id="10" name="Oval 9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세부과제별로 흩어진 자료를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하나의 표준과 업무흐름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묶어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실적마다 근거가 연결되는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성과관리 체계로 전환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" y="1620000"/>
            <a:ext cx="3925241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000" y="1620000"/>
            <a:ext cx="3925241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현행 업무의 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999" y="1998000"/>
            <a:ext cx="3745241" cy="4410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668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(분산 관리) 운영실적·참여자·만족도·협력기관·증빙이 개별 파일로 흩어짐</a:t>
            </a:r>
          </a:p>
          <a:p>
            <a:pPr algn="l" marL="270000" indent="-108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KoPubWorld돋움체 Medium"/>
              <a:buChar char="-"/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 대응 때마다 반복 취합</a:t>
            </a:r>
          </a:p>
          <a:p>
            <a:pPr algn="l" marL="115200" indent="-100800">
              <a:lnSpc>
                <a:spcPct val="120000"/>
              </a:lnSpc>
              <a:spcBef>
                <a:spcPts val="2668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(정량 편중) 건수·인원 중심, 인터뷰·정책제안 등 정성성과 미축적</a:t>
            </a:r>
          </a:p>
          <a:p>
            <a:pPr algn="l" marL="115200" indent="-100800">
              <a:lnSpc>
                <a:spcPct val="120000"/>
              </a:lnSpc>
              <a:spcBef>
                <a:spcPts val="2668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(근거 단절) 실적 수치와 증빙자료가 연결되지 않음</a:t>
            </a:r>
          </a:p>
          <a:p>
            <a:pPr algn="l" marL="115200" indent="-100800">
              <a:lnSpc>
                <a:spcPct val="120000"/>
              </a:lnSpc>
              <a:spcBef>
                <a:spcPts val="2668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(연도 변동) 매년 교내 공모로 세부사업·학과·지표가 바뀜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56441" y="3798000"/>
            <a:ext cx="306000" cy="503999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1241" y="1620000"/>
            <a:ext cx="7457958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1241" y="1620000"/>
            <a:ext cx="7457958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 시스템 정의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1241" y="1998000"/>
            <a:ext cx="1670989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01241" y="1998000"/>
            <a:ext cx="167098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표준화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441" y="2340000"/>
            <a:ext cx="1584589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사업·프로그램·리빙랩·참여자·성과 표준 통합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201031" y="237985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70231" y="1998000"/>
            <a:ext cx="1670989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70231" y="1998000"/>
            <a:ext cx="167098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신뢰성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3431" y="2340000"/>
            <a:ext cx="1584589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실적-증빙 연결, 검토·승인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070020" y="237985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9220" y="1998000"/>
            <a:ext cx="1670989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39220" y="1998000"/>
            <a:ext cx="167098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가시화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2420" y="2340000"/>
            <a:ext cx="1584589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대시보드·GIS로 현황 제공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939010" y="237985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08210" y="1998000"/>
            <a:ext cx="1670989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08210" y="1998000"/>
            <a:ext cx="167098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확장성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51410" y="2340000"/>
            <a:ext cx="1584589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AI·연계 고도화 대응 구조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01241" y="3085711"/>
            <a:ext cx="2365986" cy="3322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3241" y="3128911"/>
            <a:ext cx="2221986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대외 공개 성과포털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3241" y="3380911"/>
            <a:ext cx="2221986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5241" y="3409711"/>
            <a:ext cx="2257986" cy="2962288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승인된 성과만 공개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앵커사업단 홈페이지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57227" y="3085711"/>
            <a:ext cx="2365986" cy="3322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29227" y="3128911"/>
            <a:ext cx="2221986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내부 업무포털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29227" y="3380911"/>
            <a:ext cx="2221986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11227" y="3409711"/>
            <a:ext cx="2257986" cy="2962288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계획→운영→증빙→승인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정책환류·변화분석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13213" y="3085711"/>
            <a:ext cx="2365986" cy="3322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85213" y="3128911"/>
            <a:ext cx="2221986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관리자 시스템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85213" y="3380911"/>
            <a:ext cx="2221986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7213" y="3409711"/>
            <a:ext cx="2257986" cy="2962288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연도별 권한·사업 변동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코드·지표 사전·로그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배경 및 필요성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사업의 이해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대상 사업 분석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_앵커사업 9번 단위과제 9-1~9-6</a:t>
            </a:r>
          </a:p>
        </p:txBody>
      </p:sp>
      <p:sp>
        <p:nvSpPr>
          <p:cNvPr id="10" name="Oval 9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6개 세부과제의 업무·데이터 특성을 분석하여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공통기능 + 과제별 확장영역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부산시 지정지표는 공식 명칭 그대로, 과제별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내부 관리지표·프로그램 기여지표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는 추가 설정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4000" y="1620000"/>
          <a:ext cx="11545198" cy="4355998"/>
        </p:xfrm>
        <a:graphic>
          <a:graphicData uri="http://schemas.openxmlformats.org/drawingml/2006/table">
            <a:tbl>
              <a:tblPr firstRow="0" bandRow="0"/>
              <a:tblGrid>
                <a:gridCol w="602358"/>
                <a:gridCol w="1807074"/>
                <a:gridCol w="3011791"/>
                <a:gridCol w="3112184"/>
                <a:gridCol w="3011791"/>
              </a:tblGrid>
              <a:tr h="51789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세부과제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특성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성과지표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005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우리동네·우리대학 문화살롱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유휴공간 거점, 인문학 프로그램, 온라인 강좌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(시) 운영 건수·만족도 / (대) 온라인 수강자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공간 위치(GIS), 수강 실적 업로드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89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BUSAN CREATIVE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영상·문화예술 콘텐츠, 상영·전시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(시) 운영 건수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영상 분리 저장, 콘텐츠 메타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5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시민참여 공간 개선 리빙랩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빅데이터+정성데이터 지역문제 진단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(시) 만족도·운영 건수 / (대) 분석보고서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지역문제-리빙랩 단계 연결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89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부산형 AIP 리빙랩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의료·보건·사회서비스 연계 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(시) 운영 건수 / (대) 분석보고서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민감정보 최소수집·비식별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5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미래사회 Feed-forward 리빙랩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미래 예측 기반 문제 예견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(시) 운영 건수 / (대) 분석보고서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기준선·종료선 변화분석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5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Human-UP 지역혁신 성장지원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인문창업·인재양성·지역정주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(대) 운영 건수·참여자·만족도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참여형 프로그램(신청·이수증)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사업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사업의 이해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기존 '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파일 중심 실적 취합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'에서 '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근거로 증명하는 데이터 기반 성과관리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'로 전환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단순 홈페이지·파일보관소를 넘어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지역혁신 성과를 근거로 증명하는 핵심업무 플랫폼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구축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000" y="1260000"/>
            <a:ext cx="5160600" cy="28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As-Is (분산·수작업)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8599" y="1260000"/>
            <a:ext cx="5160600" cy="28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To-Be (표준·근거 연결)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" y="1584000"/>
            <a:ext cx="936000" cy="14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운영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8000" y="1584000"/>
            <a:ext cx="5160600" cy="141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8000" y="1602000"/>
            <a:ext cx="5160600" cy="1416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세부과제별 개별 양식·파일 관리</a:t>
            </a:r>
          </a:p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연도마다 구조를 새로 정리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46600" y="2184000"/>
            <a:ext cx="144000" cy="216000"/>
          </a:xfrm>
          <a:prstGeom prst="rightArrow">
            <a:avLst/>
          </a:prstGeom>
          <a:solidFill>
            <a:srgbClr val="9DB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8599" y="1584000"/>
            <a:ext cx="5160600" cy="1416000"/>
          </a:xfrm>
          <a:prstGeom prst="rect">
            <a:avLst/>
          </a:prstGeom>
          <a:solidFill>
            <a:srgbClr val="E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8599" y="1602000"/>
            <a:ext cx="5160600" cy="1416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사업연도-세부과제-프로그램 표준 구조</a:t>
            </a:r>
          </a:p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전년도 선택 복사 + 당해연도 재확정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000" y="3072000"/>
            <a:ext cx="936000" cy="14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성과관리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68000" y="3072000"/>
            <a:ext cx="5160600" cy="141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68000" y="3090000"/>
            <a:ext cx="5160600" cy="1416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수치만 집계, 증빙은 별도 보관</a:t>
            </a:r>
          </a:p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확정 이후 변경 이력 없음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546600" y="3672000"/>
            <a:ext cx="144000" cy="216000"/>
          </a:xfrm>
          <a:prstGeom prst="rightArrow">
            <a:avLst/>
          </a:prstGeom>
          <a:solidFill>
            <a:srgbClr val="9DB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8599" y="3072000"/>
            <a:ext cx="5160600" cy="1416000"/>
          </a:xfrm>
          <a:prstGeom prst="rect">
            <a:avLst/>
          </a:prstGeom>
          <a:solidFill>
            <a:srgbClr val="E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8599" y="3090000"/>
            <a:ext cx="5160600" cy="1416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수치 → 근거목록 → 증빙 원문 2클릭 이동</a:t>
            </a:r>
          </a:p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제출-검토-승인-확정, 변경은 재승인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000" y="4560000"/>
            <a:ext cx="936000" cy="14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정책·공개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00" y="4560000"/>
            <a:ext cx="5160600" cy="141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00" y="4578000"/>
            <a:ext cx="5160600" cy="1416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정책제안 진행 상태 추적 불가</a:t>
            </a:r>
          </a:p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공개 자료 선별을 수작업으로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546600" y="5160000"/>
            <a:ext cx="144000" cy="216000"/>
          </a:xfrm>
          <a:prstGeom prst="rightArrow">
            <a:avLst/>
          </a:prstGeom>
          <a:solidFill>
            <a:srgbClr val="9DB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08599" y="4560000"/>
            <a:ext cx="5160600" cy="1416000"/>
          </a:xfrm>
          <a:prstGeom prst="rect">
            <a:avLst/>
          </a:prstGeom>
          <a:solidFill>
            <a:srgbClr val="E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8599" y="4578000"/>
            <a:ext cx="5160600" cy="1416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제안-협의-반영-후속조치 타임라인</a:t>
            </a:r>
          </a:p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공개승인 자료만 포털·검색 노출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핵심 이슈와 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사업의 이해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간 상충 사항 사전 정합화</a:t>
            </a:r>
          </a:p>
        </p:txBody>
      </p:sp>
      <p:sp>
        <p:nvSpPr>
          <p:cNvPr id="10" name="Oval 9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RFP 안에서 범위 포함·제외가 엇갈리는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5개 항목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식별하고, 기본 구현과 대체방식을 함께 제시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제안요청서 질의와 착수 시 요구사항 대비표로 확정 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어떤 경우에도 핵심 업무는 끊기지 않음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4000" y="1620000"/>
          <a:ext cx="11545198" cy="4355998"/>
        </p:xfrm>
        <a:graphic>
          <a:graphicData uri="http://schemas.openxmlformats.org/drawingml/2006/table">
            <a:tbl>
              <a:tblPr firstRow="0" bandRow="0"/>
              <a:tblGrid>
                <a:gridCol w="1315275"/>
                <a:gridCol w="4018898"/>
                <a:gridCol w="6211025"/>
              </a:tblGrid>
              <a:tr h="57376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상충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564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알림 (FUR-001·006)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임시비밀번호 카카오·문자 제공 vs 외부 알림 연계 제외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인증용 발송 모듈만 포함, 발주기관 보유 발송 서비스 활용 (미보유 시 이메일 인증)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4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연동 (FUR-007·INR-005)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학년·성적 조회 연동 vs 학사 상세데이터 자동연계 제외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범위 최소항목만 SSO 속성으로 연계, 추가 항목은 승인 시 조회형 / 미승인 시 파일 반입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4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연계 (FUR-008)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고용24 실시간 채용정보·신용평가 연계 vs 실시간 연계 제외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고용24 공개 OpenAPI 일 단위 수집·링크형, 신용평가 정보는 엑셀 반입 + 연계 인터페이스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4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설문 (FUR-005·024)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설문 라이브러리 vs 자체 설문엔진 제외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만족도용 경량 설문(템플릿·문항·통계)만 구현, 기준선·종료선은 외부 결과 업로드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4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(FUR-002)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앵커사업단 홈페이지 전체 vs 3억 범위 핵심 화면 우선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시 메뉴 우선순위 확정, 1차 필수 화면 우선 구축 후 변경관리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수행능력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수행 역량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추진전략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차별화 전략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개발 방법론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수행 역량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사업 수행능력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UX 기획·디자인부터 플랫폼 개발·운영,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근거 기반 AI Agent 구축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까지 한 조직에서 수행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4378153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4378153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에이치나인 개요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999" y="1638000"/>
            <a:ext cx="1327384" cy="82799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999" y="1692000"/>
            <a:ext cx="1327384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16년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999" y="2160000"/>
            <a:ext cx="1327384" cy="28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2010년 설립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49384" y="1638000"/>
            <a:ext cx="1327384" cy="82799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9384" y="1692000"/>
            <a:ext cx="1327384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129명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9384" y="2160000"/>
            <a:ext cx="1327384" cy="28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임직원 (6실 22팀)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4769" y="1638000"/>
            <a:ext cx="1327384" cy="82799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84769" y="1692000"/>
            <a:ext cx="1327384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22명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4769" y="2160000"/>
            <a:ext cx="1327384" cy="28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특급 기술자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999" y="2574000"/>
            <a:ext cx="4198153" cy="3834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벤처기업 인증, 매출 111억 원 (2025)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iF Design Award (국립중앙박물관 '모두'), ICT AWARD KOREA GRAND PRIZE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153" y="1260000"/>
            <a:ext cx="7005046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64153" y="1260000"/>
            <a:ext cx="7005046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사업 관련 핵심 수행사례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54153" y="1638000"/>
            <a:ext cx="2215015" cy="47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6153" y="1681200"/>
            <a:ext cx="2071015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근거 제시형 AI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6153" y="1933200"/>
            <a:ext cx="2071015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8153" y="1962000"/>
            <a:ext cx="2107015" cy="4410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SK가스 Trading AI Agent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답변에 근거 데이터 위치 제시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→ AI 의미검색 설계(FUR-028)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9169" y="1638000"/>
            <a:ext cx="2215015" cy="47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1169" y="1681200"/>
            <a:ext cx="2071015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AI 품질관리 (MOSAIC)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1169" y="1933200"/>
            <a:ext cx="2071015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3169" y="1962000"/>
            <a:ext cx="2107015" cy="4410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SK하이닉스 MES AI Agent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Judge Agent 근거 충실도 평가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→ AI 이용이력·품질평가 설계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64184" y="1638000"/>
            <a:ext cx="2215015" cy="47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36184" y="1681200"/>
            <a:ext cx="2071015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공공 교육 플랫폼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36184" y="1933200"/>
            <a:ext cx="2071015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18184" y="1962000"/>
            <a:ext cx="2107015" cy="4410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국립중앙박물관 '모두' 구축·운영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신청·참여·이수 흐름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→ 프로그램·공개포털(FUR-002·005)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추진전략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사업 수행능력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비전과 추진 목표</a:t>
            </a:r>
          </a:p>
        </p:txBody>
      </p:sp>
      <p:sp>
        <p:nvSpPr>
          <p:cNvPr id="10" name="Oval 9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근거로 증명하는 지역혁신 성과 플랫폼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표준으로 묶고, 수치마다 근거를 잇고, 매년 바뀌는 사업을 설정만으로 수용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" y="1620000"/>
            <a:ext cx="8755200" cy="792000"/>
          </a:xfrm>
          <a:prstGeom prst="rect">
            <a:avLst/>
          </a:prstGeom>
          <a:solidFill>
            <a:srgbClr val="1C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162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48000" y="1684800"/>
            <a:ext cx="74412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근거로 증명하는 지역혁신 성과 플랫폼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69200" y="1620000"/>
            <a:ext cx="27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RFP 추진방향 6대 원칙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0" y="2466000"/>
            <a:ext cx="87552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246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 목표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48000" y="2530800"/>
            <a:ext cx="24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자료 취합 시간 단축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46400" y="2530800"/>
            <a:ext cx="24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확정 실적 증빙 연결 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44800" y="2530800"/>
            <a:ext cx="24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연도 전환 소스 수정 0건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9200" y="2466000"/>
            <a:ext cx="27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정량 목표로 검수 기준화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0" y="3311999"/>
            <a:ext cx="87552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331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 방향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48000" y="3376799"/>
            <a:ext cx="11952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Data Driven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97200" y="3376799"/>
            <a:ext cx="11952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Work Driven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46400" y="3376799"/>
            <a:ext cx="11952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Impact Driven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95600" y="3376799"/>
            <a:ext cx="11952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Policy Driven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44800" y="3376799"/>
            <a:ext cx="11952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Responsible 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94000" y="3376799"/>
            <a:ext cx="11952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Sustainable &amp; Open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69200" y="3311999"/>
            <a:ext cx="27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RFP Ⅰ-2 추진 방향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" y="4158000"/>
            <a:ext cx="87552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415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전략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48000" y="4222800"/>
            <a:ext cx="24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업무·데이터 표준 선행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46400" y="4222800"/>
            <a:ext cx="24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근거 연결형 성과관리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44800" y="4222800"/>
            <a:ext cx="24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공모형 연도전환 구조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69200" y="4158000"/>
            <a:ext cx="27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설계 단계 우선 확정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000" y="5004000"/>
            <a:ext cx="8755200" cy="79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000" y="500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전략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8000" y="5068800"/>
            <a:ext cx="24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단계 시연·사용자 정착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46400" y="5068800"/>
            <a:ext cx="24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제한적 AI 분석·설계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44800" y="5068800"/>
            <a:ext cx="24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3개월 일정 확보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69200" y="5004000"/>
            <a:ext cx="27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격주 시연·UAT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추진전략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사업 수행능력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5단계 추진 프로세스</a:t>
            </a:r>
          </a:p>
        </p:txBody>
      </p:sp>
      <p:sp>
        <p:nvSpPr>
          <p:cNvPr id="10" name="Oval 9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표준 정의를 먼저 끝내고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개발 · 데이터 이관 · 인프라 구축을 병행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하여 3개월 안에 시범운영과 안정화까지 완료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 2주 내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서버 장비 발주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장비 입고 전에도 개발환경에서 병행 개발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000" y="1620000"/>
            <a:ext cx="2150640" cy="435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000" y="162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M1. 착수·분석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1962000"/>
            <a:ext cx="2064240" cy="399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수행계획서(10일 내)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대비표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9개 세부업무 인터뷰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현행 자료 목록화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503440" y="369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72640" y="1620000"/>
            <a:ext cx="2150640" cy="435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72640" y="162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M2. 표준·설계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840" y="1962000"/>
            <a:ext cx="2064240" cy="399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데이터 표준·지표 사전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ERD·관계모델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메뉴·화면·UI/UX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보안·백업 설계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52080" y="369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1280" y="1620000"/>
            <a:ext cx="2150640" cy="435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1280" y="162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M3. 구축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4480" y="1962000"/>
            <a:ext cx="2064240" cy="399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업무포털·관리자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공개포털·대시보드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통합검색·GIS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서버 도입·IDC 입주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200720" y="369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9919" y="1620000"/>
            <a:ext cx="2150640" cy="435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69919" y="162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M4. 데이터·AI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120" y="1962000"/>
            <a:ext cx="2064240" cy="399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표준양식·초기 이관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품질 검증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적용방안 분석·설계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49359" y="369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18560" y="1620000"/>
            <a:ext cx="2150640" cy="435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18560" y="162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M5. 시험·전환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1760" y="1962000"/>
            <a:ext cx="2064240" cy="399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통합·보안·성능 시험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UAT·시범운영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교육·기술이전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차별화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사업 수행능력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평가위원이 우려할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연도 변동 · 근거 신뢰성 · 현장 정착 · AI 안전성 · 3개월 일정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에 각각 대응하는 6대 전략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37884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30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공모형 연도전환 엔진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5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84000"/>
            <a:ext cx="36804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사업연도 단위 구조·지표·양식 선택 복사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번호·명칭·상태·승계관계 분리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목표: 연도 전환 소스 수정 0건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2400" y="1260000"/>
            <a:ext cx="37884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4400" y="130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근거 연결형 성과관리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4400" y="155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6400" y="1584000"/>
            <a:ext cx="36804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수치 → 근거목록 → 증빙 원문 2클릭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자동집계값과 수동보정값·사유 분리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목표: 확정 실적 증빙 연결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0800" y="1260000"/>
            <a:ext cx="37884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2799" y="130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정책환류 타임라인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2799" y="155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4799" y="1584000"/>
            <a:ext cx="36804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제안-검토-협의-반영-후속조치 추적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회신은 파일·링크로 등록 (외부 연계 없음)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목표: 상태·근거 이력 100% 보존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000" y="3915000"/>
            <a:ext cx="37884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000" y="395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UX 기반 업무 정착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000" y="421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000" y="4239000"/>
            <a:ext cx="36804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담당자 인터뷰·현장관찰로 화면 설계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격주 단계 시연·사용성 점검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목표: UAT 핵심 과업 성공률 90%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2400" y="3915000"/>
            <a:ext cx="37884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4400" y="395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⑤ Responsible AI 설계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4400" y="421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6400" y="4239000"/>
            <a:ext cx="36804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권한·공개등급을 검색 단계에 적용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온프레미스 처리로 외부 전송 차단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목표: 무권한 자료 노출 0건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0800" y="3915000"/>
            <a:ext cx="37884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2799" y="395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⑥ 3개월 완수 일정관리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52799" y="421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4799" y="4239000"/>
            <a:ext cx="36804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서버 장비 착수 2주 내 발주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SSO 지연 시 별도계정으로 진행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목표: 11주차 시범운영 착수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개발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사업 수행능력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정보시스템 구축 표준 단계에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2주 단위 반복 + 단계 시연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결합하고, 전자정부 표준프레임워크를 적용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63240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63240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스프린트 운영 (격주 시연)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3999" y="1638000"/>
          <a:ext cx="6143998" cy="2944718"/>
        </p:xfrm>
        <a:graphic>
          <a:graphicData uri="http://schemas.openxmlformats.org/drawingml/2006/table">
            <a:tbl>
              <a:tblPr firstRow="0" bandRow="0"/>
              <a:tblGrid>
                <a:gridCol w="752326"/>
                <a:gridCol w="919510"/>
                <a:gridCol w="3134693"/>
                <a:gridCol w="1337469"/>
              </a:tblGrid>
              <a:tr h="5542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스프린트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2777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M+0.5~1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사용자·권한, 사업연도·세부과제·공모학과, 코드·메뉴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42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M+1~1.5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프로그램·일정·참여자·협력기관·활동·리빙랩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세부과제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42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M+1.5~2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성과물·지표·실적·검증·승인, 정책환류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본부·세부과제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42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M+2~2.5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대시보드·GIS·통합검색·공개포털·보고서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본부·AX혁신본부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3999" y="4690720"/>
            <a:ext cx="6144000" cy="1717279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단계별 산출물을 요구사항 번호로 추적하여 검수 근거로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09999" y="1260000"/>
            <a:ext cx="50592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09999" y="1260000"/>
            <a:ext cx="50592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 프레임워크 적용과 문제점 대응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99999" y="1638000"/>
          <a:ext cx="4879199" cy="4769997"/>
        </p:xfrm>
        <a:graphic>
          <a:graphicData uri="http://schemas.openxmlformats.org/drawingml/2006/table">
            <a:tbl>
              <a:tblPr firstRow="0" bandRow="0"/>
              <a:tblGrid>
                <a:gridCol w="2121391"/>
                <a:gridCol w="2757808"/>
              </a:tblGrid>
              <a:tr h="1062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문제점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2358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공통컴포넌트(JSP)와 SPA 화면 구조 차이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서비스·DAO만 재사용, 화면은 REST로 재구성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358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프레임워크 버전과 오픈소스 호환성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시 버전 매트릭스 확정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358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미적용 영역(검색·지도)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인터페이스 뒤에 캡슐화, 예외 목록 문서화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세부내용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Module 1. 아키텍처 및 기술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Module 2. 핵심 업무 기능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Module 3. 데이터 및 AI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Module 4. 보안·성능·인프라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1A3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36000"/>
            <a:ext cx="12192119" cy="1080000"/>
          </a:xfrm>
          <a:prstGeom prst="rect">
            <a:avLst/>
          </a:prstGeom>
          <a:solidFill>
            <a:srgbClr val="0B1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2736000"/>
            <a:ext cx="10800000" cy="10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Module 1. 아키텍처 및 기술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1. 아키텍처 및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ECR-001, ECR-003, QUR-003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 시스템 아키텍처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공개 영역과 내부 업무 영역을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논리적으로 분리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계층별 표준기술과 확장지점을 명시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1620000"/>
            <a:ext cx="6664995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계층별 목표 아키텍처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1998000"/>
            <a:ext cx="5026995" cy="70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1998000"/>
            <a:ext cx="1152000" cy="70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8000" y="2062799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시민·기업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89748" y="2062799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학생·교직원 (SSO)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31497" y="2062799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본부·과제 담당자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3246" y="2062799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관리자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995" y="1998000"/>
            <a:ext cx="1620000" cy="70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PC·태블릿·모바일 반응형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0" y="2754000"/>
            <a:ext cx="5026995" cy="70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2754000"/>
            <a:ext cx="1152000" cy="70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48000" y="2818800"/>
            <a:ext cx="1201665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대외 공개 성과포털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03665" y="2818800"/>
            <a:ext cx="1201665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내부 업무포털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9330" y="2818800"/>
            <a:ext cx="1201665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관리자 시스템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995" y="2754000"/>
            <a:ext cx="1620000" cy="70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공개/내부 도메인·WAS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0" y="3510000"/>
            <a:ext cx="5026995" cy="70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3510000"/>
            <a:ext cx="1152000" cy="70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서비스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8000" y="3574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사업·프로그램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89748" y="3574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성과·증빙·승인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31497" y="3574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정책환류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3246" y="3574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대시보드·GIS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995" y="3510000"/>
            <a:ext cx="1620000" cy="70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전자정부 표준프레임워크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000" y="4266000"/>
            <a:ext cx="5026995" cy="70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000" y="4266000"/>
            <a:ext cx="1152000" cy="70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서비스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48000" y="4330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인증·권한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89748" y="4330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파일·버전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31497" y="4330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검색·색인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73246" y="4330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알림·로그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40995" y="4266000"/>
            <a:ext cx="1620000" cy="70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역할기반 접근통제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4000" y="5022000"/>
            <a:ext cx="5026995" cy="70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0" y="5022000"/>
            <a:ext cx="1152000" cy="70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48000" y="5086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89748" y="5086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파일 저장소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31497" y="5086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검색 색인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73246" y="5086800"/>
            <a:ext cx="887748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벡터 (설계)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995" y="5022000"/>
            <a:ext cx="1620000" cy="70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PostgreSQL · OpenSearch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4000" y="5778000"/>
            <a:ext cx="5026995" cy="702000"/>
          </a:xfrm>
          <a:prstGeom prst="rect">
            <a:avLst/>
          </a:prstGeom>
          <a:solidFill>
            <a:srgbClr val="3A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000" y="5778000"/>
            <a:ext cx="1152000" cy="70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인프라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548000" y="5842800"/>
            <a:ext cx="1201665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WEB/WAS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03665" y="5842800"/>
            <a:ext cx="1201665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DB·검색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59330" y="5842800"/>
            <a:ext cx="1201665" cy="57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백업 스토리지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995" y="5778000"/>
            <a:ext cx="1620000" cy="70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PNU IDC 입주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22995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94995" y="1620000"/>
            <a:ext cx="4574204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적용 기술 (오픈소스 중심 · 종속 최소화)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7222995" y="1998000"/>
          <a:ext cx="4646203" cy="4482000"/>
        </p:xfrm>
        <a:graphic>
          <a:graphicData uri="http://schemas.openxmlformats.org/drawingml/2006/table">
            <a:tbl>
              <a:tblPr firstRow="0" bandRow="0"/>
              <a:tblGrid>
                <a:gridCol w="1290612"/>
                <a:gridCol w="3355591"/>
              </a:tblGrid>
              <a:tr h="560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60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프레임워크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전자정부 표준프레임워크 4.x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React 기반 SPA + 반응형 UI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DBMS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PostgreSQL + PostGIS + pgvector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OpenSearch + 한글 형태소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OpenLayers + 브이월드 배경지도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시각화·보고서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ECharts, JasperReports, POI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Prometheus·Grafana, pgBackRest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1. 아키텍처 및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FUR-001, FUR-002, FUR-003, INR-005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메뉴 구조와 권한 체계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3개 영역으로 메뉴를 나누고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역할별로 필요한 메뉴·자료만 노출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학생·교직원은 SSO, 일반인·기업은 별도계정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4000" y="1620000"/>
          <a:ext cx="6433982" cy="4859998"/>
        </p:xfrm>
        <a:graphic>
          <a:graphicData uri="http://schemas.openxmlformats.org/drawingml/2006/table">
            <a:tbl>
              <a:tblPr firstRow="0" bandRow="0"/>
              <a:tblGrid>
                <a:gridCol w="1178053"/>
                <a:gridCol w="1178053"/>
                <a:gridCol w="4077876"/>
              </a:tblGrid>
              <a:tr h="99807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 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3451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대외 공개 성과포털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시민·기업·유관기관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홈, 사업단 소개, 사업·프로그램(신청), 지역문제·기본지도, 주요성과, 정책제안, 산학협력기업, 자료실, 통합검색, 회원·MY-PAGE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451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업무포털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본부·세부과제 담당자, 교수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 업무, 사업연도·세부과제, 공모 선정학과, 프로그램·일정, 참여자, 협력기관, 활동·리빙랩, 성과물, 성과지표, 정성성과, 정책환류, 변화분석, 표준 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716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시스템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 관리자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사용자·연도별 권한, 사업 변동, 코드·메타데이터, 지표 사전, 공개승인, 데이터 품질, AI 설정, 로그·감사, 백업 현황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919982" y="1620000"/>
            <a:ext cx="4949217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19982" y="1620000"/>
            <a:ext cx="4949217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유형별 인증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009982" y="1998000"/>
          <a:ext cx="4769216" cy="2561330"/>
        </p:xfrm>
        <a:graphic>
          <a:graphicData uri="http://schemas.openxmlformats.org/drawingml/2006/table">
            <a:tbl>
              <a:tblPr firstRow="0" bandRow="0"/>
              <a:tblGrid>
                <a:gridCol w="1192304"/>
                <a:gridCol w="1987173"/>
                <a:gridCol w="1589739"/>
              </a:tblGrid>
              <a:tr h="51226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미연계 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1226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SSO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별도계정+승인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26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교·직원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SSO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별도계정+승인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26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가입+임시비밀번호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이메일 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26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기업회원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가입+임시비밀번호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이메일 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009982" y="4667334"/>
            <a:ext cx="4769217" cy="1740665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845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메뉴·기능·사업·자료 단위 조회·등록·승인·다운로드 권한</a:t>
            </a:r>
          </a:p>
          <a:p>
            <a:pPr algn="l" marL="115200" indent="-100800">
              <a:lnSpc>
                <a:spcPct val="120000"/>
              </a:lnSpc>
              <a:spcBef>
                <a:spcPts val="1845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SSO 어댑터 분리 — 연계방식 확정 후 업무 코드 수정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1A3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36000"/>
            <a:ext cx="12192119" cy="1080000"/>
          </a:xfrm>
          <a:prstGeom prst="rect">
            <a:avLst/>
          </a:prstGeom>
          <a:solidFill>
            <a:srgbClr val="0B1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2736000"/>
            <a:ext cx="10800000" cy="10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Module 2. 핵심 업무 기능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2. 핵심 업무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FUR-004, FUR-016, QUR-003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공모형 연도 전환 구조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_FUR-004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사업연도-단위과제-세부과제-세부사업을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연도 단위 데이터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관리하여 매년 공모 결과를 관리자 설정만으로 반영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세부과제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번호·명칭·상태·승계관계를 분리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번호 체계가 바뀌어도 실적이 이어지고, 연도 전환 시 소스 수정 0건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000" y="1620000"/>
            <a:ext cx="6467285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연도 전환 절차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000" y="1998000"/>
            <a:ext cx="1486321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4000" y="1998000"/>
            <a:ext cx="1486321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신규 연도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200" y="2340000"/>
            <a:ext cx="1399921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사업연도 등록, 단위과제 지정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839121" y="237985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08321" y="1998000"/>
            <a:ext cx="1486321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08321" y="1998000"/>
            <a:ext cx="1486321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선택 복사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1521" y="2340000"/>
            <a:ext cx="1399921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전년도 구조·프로그램·지표·양식 항목별 복사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523442" y="237985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92642" y="1998000"/>
            <a:ext cx="1486321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92642" y="1998000"/>
            <a:ext cx="1486321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재확정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5842" y="2340000"/>
            <a:ext cx="1399921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기간·학과·담당자·예산·목표값·공개범위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207763" y="237985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76963" y="1998000"/>
            <a:ext cx="1486321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76963" y="1998000"/>
            <a:ext cx="1486321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권한 부여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0163" y="2340000"/>
            <a:ext cx="1399921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선정학과 담당자에 연도·사업 단위 권한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" y="3128911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000" y="3085711"/>
            <a:ext cx="6467285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성과지표 운영자 설정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000" y="3463711"/>
            <a:ext cx="6539285" cy="2512288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참여형(이수·운영건수)과 성과형(RAW 데이터)으로 구분, 지표별 가중치·점수 설정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RAW 항목을 화면에서 만들면 DB 항목·엑셀 양식이 자동 생성, 과제별 예산 월별 집행 관리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7025285" y="1620000"/>
          <a:ext cx="4843913" cy="4356000"/>
        </p:xfrm>
        <a:graphic>
          <a:graphicData uri="http://schemas.openxmlformats.org/drawingml/2006/table">
            <a:tbl>
              <a:tblPr firstRow="0" bandRow="0"/>
              <a:tblGrid>
                <a:gridCol w="1345531"/>
                <a:gridCol w="3498382"/>
              </a:tblGrid>
              <a:tr h="72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변동 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2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신규·계속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등록 또는 전년도 사업과 승계 연결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명칭·내용 변경 이력, 동일 승계 ID 유지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N:1 승계, 통합 전 실적은 원 사업에 보존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1:N 승계, 분리 전 실적은 원 사업에 보존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입력 차단, 조회·보고서에는 포함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2. 핵심 업무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FUR-003, FUR-016, FUR-017, FUR-018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 연결형 성과관리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_FUR-003·016~018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지표 정의·산식·목표·실적·증빙·승인·변경이력을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하나의 흐름으로 연결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대시보드 수치에서 증빙 원문까지 이동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부산시·대학 연차평가 때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추가 취합 없이 확정 실적과 증빙을 그대로 제출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000" y="1620000"/>
            <a:ext cx="6954666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실적 집계·승인 흐름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000" y="1998000"/>
            <a:ext cx="1608166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4000" y="1998000"/>
            <a:ext cx="160816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자동집계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200" y="2340000"/>
            <a:ext cx="1521766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참여자·활동·성과물 원천에서 산식 집계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960966" y="2292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30166" y="1998000"/>
            <a:ext cx="1608166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30166" y="1998000"/>
            <a:ext cx="160816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담당자 제출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3366" y="2340000"/>
            <a:ext cx="1521766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수동보정값·사유 구분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67133" y="2292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36333" y="1998000"/>
            <a:ext cx="1608166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36333" y="1998000"/>
            <a:ext cx="160816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본부 검토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9533" y="2340000"/>
            <a:ext cx="1521766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증빙·기간·대상·중복 검증규칙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573300" y="2292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42500" y="1998000"/>
            <a:ext cx="1608166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2500" y="1998000"/>
            <a:ext cx="160816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승인·확정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5700" y="2340000"/>
            <a:ext cx="1521766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확정 후 변경은 재승인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" y="295354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000" y="2910340"/>
            <a:ext cx="6954666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대시보드 근거 이동 (Drill-down)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000" y="3288340"/>
            <a:ext cx="1608166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4000" y="3288340"/>
            <a:ext cx="1608166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 수치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00" y="3630340"/>
            <a:ext cx="1521766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예) 9-3 운영건수 38건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960966" y="358251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130166" y="3288340"/>
            <a:ext cx="1608166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130166" y="3288340"/>
            <a:ext cx="1608166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73366" y="3630340"/>
            <a:ext cx="1521766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집계 대상 프로그램·활동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767133" y="358251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936333" y="3288340"/>
            <a:ext cx="1608166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936333" y="3288340"/>
            <a:ext cx="1608166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상세 화면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9533" y="3630340"/>
            <a:ext cx="1521766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운영정보·참여자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573300" y="358251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742500" y="3288340"/>
            <a:ext cx="1608166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742500" y="3288340"/>
            <a:ext cx="1608166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증빙 원문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85700" y="3630340"/>
            <a:ext cx="1521766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결과보고서·사진·명단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12666" y="1620000"/>
            <a:ext cx="4356533" cy="43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12666" y="1620000"/>
            <a:ext cx="4356533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지표 사전 구성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02666" y="1998000"/>
            <a:ext cx="4176533" cy="3906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431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(정의) 지표명·단위·산식·주기·자료원·증빙기준·중복산정 규칙</a:t>
            </a:r>
          </a:p>
          <a:p>
            <a:pPr algn="l" marL="115200" indent="-100800">
              <a:lnSpc>
                <a:spcPct val="120000"/>
              </a:lnSpc>
              <a:spcBef>
                <a:spcPts val="2431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(구분) 부산시 지정지표 / 대학 자율지표 / 본부 관리지표 / 프로그램 기여지표</a:t>
            </a:r>
          </a:p>
          <a:p>
            <a:pPr algn="l" marL="115200" indent="-100800">
              <a:lnSpc>
                <a:spcPct val="120000"/>
              </a:lnSpc>
              <a:spcBef>
                <a:spcPts val="2431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(집계) 합계·고유인원·중복포함 기준, 달성률·전년 대비 증감</a:t>
            </a:r>
          </a:p>
          <a:p>
            <a:pPr algn="l" marL="115200" indent="-100800">
              <a:lnSpc>
                <a:spcPct val="120000"/>
              </a:lnSpc>
              <a:spcBef>
                <a:spcPts val="2431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(이력) 연도별 정의 변경·목표 조정 사유와 승인 이력 보존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2. 핵심 업무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FUR-005, FUR-006, FUR-007, FUR-008, FUR-009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프로그램·참여자·협력기관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_FUR-005~009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프로그램 개설 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과제·예산·성과지표를 지정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 신청·출석·만족도·이수증까지 한 흐름으로 처리하여 실적을 자동 집계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000" y="1620000"/>
            <a:ext cx="1169640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000" y="1620000"/>
            <a:ext cx="1169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1962000"/>
            <a:ext cx="1083240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과제·세부사업·예산·지표·모집대상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522440" y="200185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91640" y="1620000"/>
            <a:ext cx="1169640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91640" y="1620000"/>
            <a:ext cx="1169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4840" y="1962000"/>
            <a:ext cx="1083240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온라인 신청·일괄 명단 등록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890080" y="200185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59280" y="1620000"/>
            <a:ext cx="1169640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59280" y="1620000"/>
            <a:ext cx="1169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2480" y="1962000"/>
            <a:ext cx="1083240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회차별 출석, 활동·현장 기록(모바일)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257720" y="200185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26920" y="1620000"/>
            <a:ext cx="1169640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26920" y="1620000"/>
            <a:ext cx="1169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0120" y="1962000"/>
            <a:ext cx="1083240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만족도 설문, 수료·가수료·이수증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25360" y="200185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94560" y="1620000"/>
            <a:ext cx="1169640" cy="97971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94560" y="1620000"/>
            <a:ext cx="1169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7760" y="1962000"/>
            <a:ext cx="1083240" cy="61971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성과정리·공개승인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000" y="2707711"/>
            <a:ext cx="3275100" cy="3772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6000" y="2750911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참여자 관리 (FUR-007)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6000" y="3002911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8000" y="3031711"/>
            <a:ext cx="3167100" cy="3412288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승인된 최소 항목만 수집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업로드 시 오류·중복·필수값 검증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MY-PAGE: 신청현황·설문·이수증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89100" y="2707711"/>
            <a:ext cx="3275100" cy="3772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1100" y="2750911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협력기관 (FUR-008)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61100" y="3002911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3100" y="3031711"/>
            <a:ext cx="3167100" cy="3412288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기관·협약·협력실적, 중복 탐지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고용24 공개 API 일 단위 수집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신용평가 정보는 엑셀 반입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26199" y="1620000"/>
            <a:ext cx="47430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26199" y="1620000"/>
            <a:ext cx="47430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일정·알림 (FUR-006)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16199" y="1998000"/>
            <a:ext cx="4563000" cy="4410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프로그램 일정·지표 입력기한·증빙 제출기한·승인기한을 달력과 목록으로 제공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지연·미제출·반려 건 자동 표시, 담당자·관리자에게 플랫폼 내 알림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설문 라이브러리(주제·문항 템플릿)로 프로그램별 만족도 설문 구성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표준양식 업로드: 미리보기 → 정상·오류·중복 건수 → 오류행 다운로드 (INR-004)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2. 핵심 업무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360000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FUR-010, FUR-011, FUR-019, FUR-021, FUR-022, FUR-023, FUR-024, FUR-025, FUR-026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정책환류 · 리빙랩 · 변화분석 · 기본 GIS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_FUR-010~026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지역문제 발굴부터 리빙랩 실증,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정책 반영과 지역변화까지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과정성과와 결과성과를 함께 누적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20000"/>
            <a:ext cx="56916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000" y="162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정책환류 타임라인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999" y="1998000"/>
            <a:ext cx="94392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3999" y="1998000"/>
            <a:ext cx="943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접수·검토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40000"/>
            <a:ext cx="857519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근거자료 연결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386720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5919" y="1998000"/>
            <a:ext cx="94392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55919" y="1998000"/>
            <a:ext cx="943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기관협의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9119" y="2340000"/>
            <a:ext cx="857519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공문·회의·회신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528639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97840" y="1998000"/>
            <a:ext cx="94392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97840" y="1998000"/>
            <a:ext cx="943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채택 판단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1040" y="2340000"/>
            <a:ext cx="857519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채택·보류·미반영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670560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39759" y="1998000"/>
            <a:ext cx="94392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39759" y="1998000"/>
            <a:ext cx="943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2959" y="2340000"/>
            <a:ext cx="857519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정책·조례·예산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812479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81680" y="1998000"/>
            <a:ext cx="94392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81680" y="1998000"/>
            <a:ext cx="943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후속조치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4879" y="2340000"/>
            <a:ext cx="857519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점검·재제안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999" y="2892803"/>
            <a:ext cx="5511600" cy="3515196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관계기관 회신은 직접입력 또는 파일·링크로 등록 (외부 시스템 연계 없음)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정성성과: 대상·시점·변화내용·근거·한계 기록, 공개본 비식별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7600" y="1620000"/>
            <a:ext cx="56916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7600" y="162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리빙랩·변화분석·GIS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7600" y="1998000"/>
            <a:ext cx="5511600" cy="14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9600" y="2041200"/>
            <a:ext cx="536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리빙랩 단계 (FUR-011)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39600" y="2293200"/>
            <a:ext cx="536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1600" y="2322000"/>
            <a:ext cx="5403600" cy="1050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91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문제정의→공동설계→실증→평가·확산 단계별 산출물·의사결정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91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단계 누락·지연 표시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7600" y="3497999"/>
            <a:ext cx="5511600" cy="14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9600" y="3541199"/>
            <a:ext cx="536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기초 변화분석 (FUR-024·025)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39600" y="3793199"/>
            <a:ext cx="536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1600" y="3821999"/>
            <a:ext cx="5403600" cy="1050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82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기준선·종료선 차이·증감률, 측정조건·표본 차이와 해석 한계 표시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7600" y="4998000"/>
            <a:ext cx="5511600" cy="14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9600" y="5041200"/>
            <a:ext cx="536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기본 GIS (FUR-026)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39600" y="5293200"/>
            <a:ext cx="536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1600" y="5322000"/>
            <a:ext cx="5403600" cy="1050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82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주소·행정동 기반 마커·필터·상세, 개인 주거지는 행정동 단위로 일반화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2. 핵심 업무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360000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FUR-002, FUR-012, FUR-013, FUR-014, FUR-015, FUR-027, FUR-030, FUR-031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성과물 · 통합검색 · 공개 성과포털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_FUR-002·012~015·027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성과물을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표준 메타데이터·버전·공개등급·계보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와 함께 등록하고, 권한을 반영한 검색과 공개승인 자료만 포털에 노출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개인정보·비공개·검토 중 자료는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원문·검색결과·AI 활용 모두에서 권한으로 차단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000" y="1620000"/>
            <a:ext cx="6432685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공개 데이터 통제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000" y="1998000"/>
            <a:ext cx="1477671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4000" y="1998000"/>
            <a:ext cx="1477671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200" y="2340000"/>
            <a:ext cx="1391271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담당자 등록·공개 희망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830471" y="2292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99671" y="1998000"/>
            <a:ext cx="1477671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99671" y="1998000"/>
            <a:ext cx="1477671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점검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2871" y="2340000"/>
            <a:ext cx="1391271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개인정보·저작권 체크리스트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506142" y="2292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75342" y="1998000"/>
            <a:ext cx="1477671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342" y="1998000"/>
            <a:ext cx="1477671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승인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8542" y="2340000"/>
            <a:ext cx="1391271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본부 공개승인·공개기간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181814" y="2292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51014" y="1998000"/>
            <a:ext cx="1477671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51014" y="1998000"/>
            <a:ext cx="1477671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공개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214" y="2340000"/>
            <a:ext cx="1391271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공개 전용 뷰로 포털·색인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" y="295354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000" y="2910340"/>
            <a:ext cx="6432685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성과물 계보 추적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000" y="3288340"/>
            <a:ext cx="1477671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4000" y="3288340"/>
            <a:ext cx="1477671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원천자료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00" y="3630340"/>
            <a:ext cx="1391271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설문 원자료·사진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830471" y="358251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99671" y="3288340"/>
            <a:ext cx="1477671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99671" y="3288340"/>
            <a:ext cx="1477671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분석결과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42871" y="3630340"/>
            <a:ext cx="1391271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분석보고서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506142" y="358251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675342" y="3288340"/>
            <a:ext cx="1477671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75342" y="3288340"/>
            <a:ext cx="1477671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정책제안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18542" y="3630340"/>
            <a:ext cx="1391271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정책제안서 v2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181814" y="358251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51014" y="3288340"/>
            <a:ext cx="1477671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51014" y="3288340"/>
            <a:ext cx="1477671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214" y="3630340"/>
            <a:ext cx="1391271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수치 → 근거 역추적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90685" y="1620000"/>
            <a:ext cx="4878514" cy="43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90685" y="1620000"/>
            <a:ext cx="4878514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통합검색 · 표준 보고서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0685" y="1998000"/>
            <a:ext cx="4698514" cy="3906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제목·본문·메타데이터·첨부문서(HWP·PDF) 본문 색인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권한·공개등급을 색인 필드에 포함하여 검색 단계에서 필터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동의어 사전, 결과 내 재검색, 통합검색 5초 이내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확정자료로 세부과제 성과보고서·지표 실적표 출력 (PDF·엑셀)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1A3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36000"/>
            <a:ext cx="12192119" cy="1080000"/>
          </a:xfrm>
          <a:prstGeom prst="rect">
            <a:avLst/>
          </a:prstGeom>
          <a:solidFill>
            <a:srgbClr val="0B1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2736000"/>
            <a:ext cx="10800000" cy="10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Module 3. 데이터 및 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3. 데이터 및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DAR-001, DAR-002, DAR-003, DAR-004, TER-003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데이터 모델 · 표준 · 이관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모든 업무 데이터를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사업연도 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에 귀속시키고, 표준을 개발 착수 전에 확정하며, 우선대상만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선별 이관·검증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1620000"/>
            <a:ext cx="6016688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핵심 엔터티 관계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1998000"/>
            <a:ext cx="4774688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19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8000" y="2062799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사업연도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50937" y="2062799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세부과제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3875" y="2062799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세부사업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6813" y="2062799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학과(N:M)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9750" y="2062799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승계관계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8688" y="1998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연도별 구조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" y="2844000"/>
            <a:ext cx="4774688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284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48000" y="2908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50937" y="2908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회차·활동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53875" y="2908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참여자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6813" y="2908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협력기관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9750" y="2908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리빙랩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8688" y="2844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운영 데이터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" y="3690000"/>
            <a:ext cx="4774688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369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48000" y="3754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성과물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50937" y="3754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지표·실적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53875" y="3754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6813" y="3754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정성사례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9750" y="3754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기준선·종료선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88688" y="3690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성과 데이터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000" y="4536000"/>
            <a:ext cx="4774688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53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48000" y="4600800"/>
            <a:ext cx="111756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정책제안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19562" y="4600800"/>
            <a:ext cx="111756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검토·협의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91125" y="4600800"/>
            <a:ext cx="111756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반영·후속조치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88688" y="4536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정책 데이터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000" y="5382000"/>
            <a:ext cx="4774688" cy="79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0000" y="5382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48000" y="5446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50937" y="5446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이력·버전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53875" y="5446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6813" y="5446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공개범위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59750" y="5446800"/>
            <a:ext cx="648937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근거관계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88688" y="5382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공통 모델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74688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46688" y="1620000"/>
            <a:ext cx="5222511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초기 이관 · 품질 검증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74688" y="1998000"/>
            <a:ext cx="1175127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574688" y="1998000"/>
            <a:ext cx="117512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 확정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7888" y="2340000"/>
            <a:ext cx="1088727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이관·제외·우선순위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778616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947816" y="1998000"/>
            <a:ext cx="1175127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947816" y="1998000"/>
            <a:ext cx="117512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91016" y="2340000"/>
            <a:ext cx="1088727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메타데이터·표준양식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9151744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320944" y="1998000"/>
            <a:ext cx="1175127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320944" y="1998000"/>
            <a:ext cx="117512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64144" y="2340000"/>
            <a:ext cx="1088727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모의 → 본 이관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10524872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694072" y="1998000"/>
            <a:ext cx="1175127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694072" y="1998000"/>
            <a:ext cx="117512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37272" y="2340000"/>
            <a:ext cx="1088727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건수·필드 대조</a:t>
            </a:r>
          </a:p>
        </p:txBody>
      </p:sp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6574688" y="2892803"/>
          <a:ext cx="5294511" cy="3587195"/>
        </p:xfrm>
        <a:graphic>
          <a:graphicData uri="http://schemas.openxmlformats.org/drawingml/2006/table">
            <a:tbl>
              <a:tblPr firstRow="0" bandRow="0"/>
              <a:tblGrid>
                <a:gridCol w="1176558"/>
                <a:gridCol w="2941395"/>
                <a:gridCol w="1176558"/>
              </a:tblGrid>
              <a:tr h="71743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차원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1743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필수값 누락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즉시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743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코드·날짜·숫자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즉시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743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일관성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 기간-프로그램 기간 일치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743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유일성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참여자·기관 중복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3. 데이터 및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FUR-028, FUR-029, DAR-006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적용방안 분석·설계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_FUR-028·029, DAR-006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승인자료만 대상으로 하는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권한 연동 의미기반 검색(RAG)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구조를 설계하고, AI 결과는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사람이 검토·확정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한 뒤에만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사업은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AI 분석·설계까지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모델·서비스 구현은 2차년도 고도화로 단계적 도입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000" y="1620000"/>
            <a:ext cx="5619600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의미기반 검색 설계 구조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0" y="1998000"/>
            <a:ext cx="40896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19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48000" y="2062799"/>
            <a:ext cx="136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키워드·자연어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62799" y="2062799"/>
            <a:ext cx="136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사용자 권한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3600" y="1998000"/>
            <a:ext cx="151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고급 대화형 QA 제외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000" y="2844000"/>
            <a:ext cx="40896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" y="284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8000" y="2908800"/>
            <a:ext cx="136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권한·공개등급 필터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62799" y="2908800"/>
            <a:ext cx="136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키워드+의미 혼합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3600" y="2844000"/>
            <a:ext cx="151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무권한 자료 원천 차단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000" y="3690000"/>
            <a:ext cx="40896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000" y="369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8000" y="3754800"/>
            <a:ext cx="136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자료명·관련 문장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62799" y="3754800"/>
            <a:ext cx="136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쪽·링크·기준일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03600" y="3690000"/>
            <a:ext cx="151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근거 부족 시 명시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" y="4536000"/>
            <a:ext cx="40896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453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색인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48000" y="4600800"/>
            <a:ext cx="136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승인자료 임베딩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62799" y="4600800"/>
            <a:ext cx="136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원문버전·재색인 이력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03600" y="4536000"/>
            <a:ext cx="151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온프레미스·pgvector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7600" y="1620000"/>
            <a:ext cx="5691600" cy="43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7600" y="162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거버넌스 설계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6267600" y="1998000"/>
          <a:ext cx="5511600" cy="2934000"/>
        </p:xfrm>
        <a:graphic>
          <a:graphicData uri="http://schemas.openxmlformats.org/drawingml/2006/table">
            <a:tbl>
              <a:tblPr firstRow="0" bandRow="0"/>
              <a:tblGrid>
                <a:gridCol w="1377900"/>
                <a:gridCol w="4133700"/>
              </a:tblGrid>
              <a:tr h="586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6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이용정책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허용·금지 업무 정의 (정책추천·예측·자동 의사결정 금지)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6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민감정보 외부 AI 전송 금지, 사전 비식별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6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질의셋 기반 정확도·근거 일치율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6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사용자·질의·근거·결과·확정 여부 로그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6267600" y="5040000"/>
            <a:ext cx="1705200" cy="62020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67600" y="5040000"/>
            <a:ext cx="170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1단계 (본 사업)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0800" y="5382000"/>
            <a:ext cx="1618800" cy="26020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분석·설계·이용정책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8001600" y="52421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70800" y="5040000"/>
            <a:ext cx="1705200" cy="62020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70800" y="5040000"/>
            <a:ext cx="170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2단계 (차년도)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4000" y="5382000"/>
            <a:ext cx="1618800" cy="26020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의미검색·요약 보조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9904800" y="52421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74000" y="5040000"/>
            <a:ext cx="1705200" cy="62020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74000" y="5040000"/>
            <a:ext cx="170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3단계 (고도화)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17200" y="5382000"/>
            <a:ext cx="1618800" cy="26020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근거형 QA·보고서 보조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1A3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36000"/>
            <a:ext cx="12192119" cy="1080000"/>
          </a:xfrm>
          <a:prstGeom prst="rect">
            <a:avLst/>
          </a:prstGeom>
          <a:solidFill>
            <a:srgbClr val="0B1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2736000"/>
            <a:ext cx="10800000" cy="10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Module 4. 보안 · 성능 · 인프라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4. 보안 · 성능 · 인프라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360000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SER-001, SER-002, SER-003, SER-004, SER-005, SER-006, SER-007, SER-008, DAR-005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 및 개인정보 보호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_SER-001~008, DAR-005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대표 명의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보안관리책임자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지정하고 인력·자료·응용·인프라·로그 통제를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착수부터 종료까지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적용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000" y="1620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166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관리 보안 (SER-001·002)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000" y="191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000" y="1944000"/>
            <a:ext cx="3680400" cy="202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보안서약·교육, 접근권한 최소 부여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지정 저장소만 사용, 원격작업 금지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인력 교체 시 계정회수·삭제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2400" y="1620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4400" y="166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인증·세션 (SER-003)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4400" y="191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6400" y="1944000"/>
            <a:ext cx="3680400" cy="202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관리자·승인·다운로드 2단계 인증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5회 실패 잠금, 세션 30분 만료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권한 변경 승인·이력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0800" y="1620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2799" y="166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개인정보 (SER-004·DAR-005)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2799" y="191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4799" y="1944000"/>
            <a:ext cx="3680400" cy="202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최소수집·분리 저장·암호화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열람·다운로드·파기 이력 기록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공개 통계는 집계·비식별 값만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000" y="4095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000" y="413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개발 보안 (SER-005)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000" y="439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000" y="4419000"/>
            <a:ext cx="3680400" cy="202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행안부 SW 개발보안 가이드 준수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보안약점 분석도구 스프린트별 점검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비밀정보 하드코딩 금지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2400" y="4095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4400" y="413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인프라·파일 (SER-006)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4400" y="439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6400" y="4419000"/>
            <a:ext cx="3680400" cy="202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IDC 방화벽·접근제어, 보안패치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업로드 확장자·MIME·악성코드 검사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접속 지정 단말만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0800" y="4095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2799" y="413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로그·종료 (SER-007·008)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2799" y="439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4799" y="4419000"/>
            <a:ext cx="3680400" cy="202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이용 포함 감사로그, 위변조 방지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오픈 전 취약점 점검·조치 증빙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45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종료 시 자료 반납·삭제 확약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4. 보안 · 성능 · 인프라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360000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PER-001, PER-002, PER-003, PER-004, ECR-001, ECR-002, TER-004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성능 목표와 서버 장비 도입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_PER-001~004, ECR-001·002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측정 조건을 명시한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성능 목표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제시하고, 이용규모 근거로 산정한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서버 장비를 PNU IDC에 입주·설치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20000"/>
            <a:ext cx="1692837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000" y="1674000"/>
            <a:ext cx="1692837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" y="2142000"/>
            <a:ext cx="1692837" cy="39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일반 조회 (95%)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4837" y="1620000"/>
            <a:ext cx="1692837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24837" y="1674000"/>
            <a:ext cx="1692837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5초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4837" y="2142000"/>
            <a:ext cx="1692837" cy="39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통합검색 (95%)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25674" y="1620000"/>
            <a:ext cx="1692837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5674" y="1674000"/>
            <a:ext cx="1692837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130명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5674" y="2142000"/>
            <a:ext cx="1692837" cy="39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동시 사용 (내부30·외부100)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0" y="2664000"/>
            <a:ext cx="5294511" cy="38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000" y="2664000"/>
            <a:ext cx="5294511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 확보·검증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999" y="3042000"/>
            <a:ext cx="5114511" cy="3366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577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대시보드는 배치 사전집계 + 변경 시 증분 갱신</a:t>
            </a:r>
          </a:p>
          <a:p>
            <a:pPr algn="l" marL="115200" indent="-100800">
              <a:lnSpc>
                <a:spcPct val="120000"/>
              </a:lnSpc>
              <a:spcBef>
                <a:spcPts val="2577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검색 엔진 분리로 업무 DB 부하 격리</a:t>
            </a:r>
          </a:p>
          <a:p>
            <a:pPr algn="l" marL="115200" indent="-100800">
              <a:lnSpc>
                <a:spcPct val="120000"/>
              </a:lnSpc>
              <a:spcBef>
                <a:spcPts val="2577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 조건에서 30분 지속 부하시험, 미달 시 튜닝·재시험</a:t>
            </a:r>
          </a:p>
          <a:p>
            <a:pPr algn="l" marL="115200" indent="-100800">
              <a:lnSpc>
                <a:spcPct val="120000"/>
              </a:lnSpc>
              <a:spcBef>
                <a:spcPts val="2577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응답시간·오류율·CPU·저장공간 모니터링, 임계치 경고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80511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511" y="1620000"/>
            <a:ext cx="6016688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서버 구성 (안) — 규격·수량은 발주기관 사전 승인 후 확정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780511" y="1998000"/>
          <a:ext cx="6088687" cy="3510000"/>
        </p:xfrm>
        <a:graphic>
          <a:graphicData uri="http://schemas.openxmlformats.org/drawingml/2006/table">
            <a:tbl>
              <a:tblPr firstRow="0" bandRow="0"/>
              <a:tblGrid>
                <a:gridCol w="942297"/>
                <a:gridCol w="1957078"/>
                <a:gridCol w="3189312"/>
              </a:tblGrid>
              <a:tr h="877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사양 (안)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7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WEB/WAS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공개·업무포털 (논리 분리)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2U, 16코어↑, 64GB, SSD 960GB×2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DB·검색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DB·검색엔진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2U, 16코어↑, 128GB, SSD 1.92TB×2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파일·백업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NAS 가용 16TB↑ (RAID6)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5780511" y="5616000"/>
            <a:ext cx="1059337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80511" y="5616000"/>
            <a:ext cx="105933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규격 승인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3711" y="5958000"/>
            <a:ext cx="972937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1주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868649" y="5901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37849" y="5616000"/>
            <a:ext cx="1059337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37849" y="5616000"/>
            <a:ext cx="105933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발주·입고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1049" y="5958000"/>
            <a:ext cx="972937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2주 발주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125986" y="5901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95186" y="5616000"/>
            <a:ext cx="1059337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95186" y="5616000"/>
            <a:ext cx="105933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IDC 설치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8386" y="5958000"/>
            <a:ext cx="972937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랙·전원·OS·DB·보안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383324" y="5901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52524" y="5616000"/>
            <a:ext cx="1059337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552524" y="5616000"/>
            <a:ext cx="105933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연계시험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5724" y="5958000"/>
            <a:ext cx="972937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SSO·안정화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10640662" y="5901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809862" y="5616000"/>
            <a:ext cx="1059337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809862" y="5616000"/>
            <a:ext cx="105933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53062" y="5958000"/>
            <a:ext cx="972937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장비·라이선스·보증서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일정계획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관리방법론 및 위험관리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일정계획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프로젝트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표준·설계를 4주 안에 끝내고 개발·장비 도입·데이터 이관을 병행하여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11주차 시범운영, 13주차 운영 전환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11545197" cy="5058000"/>
        </p:xfrm>
        <a:graphic>
          <a:graphicData uri="http://schemas.openxmlformats.org/drawingml/2006/table">
            <a:tbl>
              <a:tblPr firstRow="0" bandRow="0"/>
              <a:tblGrid>
                <a:gridCol w="1170481"/>
                <a:gridCol w="4788331"/>
                <a:gridCol w="798055"/>
                <a:gridCol w="798055"/>
                <a:gridCol w="798055"/>
                <a:gridCol w="798055"/>
                <a:gridCol w="798055"/>
                <a:gridCol w="798055"/>
                <a:gridCol w="798055"/>
              </a:tblGrid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활동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1-2주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3-4주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5-6주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7-8주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9-10주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11-12주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수행계획(10일 내)·조직 구성·착수보고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분석·설계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요구사항·데이터 표준·ERD·화면·보안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승인·발주·입고·IDC 설치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 권한·사업체계 → S4 포털·대시보드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데이터·AI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초기 이관·검증 / AI 적용방안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통합·성능·보안·접근성 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UAT·시범운영·교육·기술이전·검수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관리방법론 및 위험관리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프로젝트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PMR-002, PMR-003, PMR-004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주간 실무회의와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분야별 협의체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의사결정 지연을 막고, 일정에 직결되는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6대 위험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착수 전에 대응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4949217" cy="50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000" y="1422000"/>
            <a:ext cx="4949217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보고·협의 체계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3999" y="1800000"/>
          <a:ext cx="4769216" cy="2780415"/>
        </p:xfrm>
        <a:graphic>
          <a:graphicData uri="http://schemas.openxmlformats.org/drawingml/2006/table">
            <a:tbl>
              <a:tblPr firstRow="0" bandRow="0"/>
              <a:tblGrid>
                <a:gridCol w="1335380"/>
                <a:gridCol w="953843"/>
                <a:gridCol w="2479993"/>
              </a:tblGrid>
              <a:tr h="55608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5608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10일 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수행계획·요구사항 대비표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608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진척·이슈·다음 주 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608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시연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격주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스프린트 결과 시연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608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협의체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AX혁신과·정보화기획운영과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3999" y="4688419"/>
            <a:ext cx="4769217" cy="171958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변경요청은 영향 분석·승인 후에만 반영, 요구사항 추적표로 검수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35217" y="1422000"/>
          <a:ext cx="6433982" cy="5057997"/>
        </p:xfrm>
        <a:graphic>
          <a:graphicData uri="http://schemas.openxmlformats.org/drawingml/2006/table">
            <a:tbl>
              <a:tblPr firstRow="0" bandRow="0"/>
              <a:tblGrid>
                <a:gridCol w="1444363"/>
                <a:gridCol w="525223"/>
                <a:gridCol w="2232198"/>
                <a:gridCol w="2232198"/>
              </a:tblGrid>
              <a:tr h="69777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132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납기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1주 내 규격 승인, 2주 내 발주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개발환경에서 병행, 입고 즉시 이관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777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협의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회의에 AX혁신본부 참석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별도계정으로 개발·시범운영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777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자료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표준양식 사전 배포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오류행 리포트로 단계 보완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777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참여 부족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과제별 담당자 지정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인터뷰·원격 시연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777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확대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대비표 기준선 확정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차기 고도화로 이관 협의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777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보안 우려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범위, 외부 전송 금지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온프레미스·비식별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품질보증 및 시험운영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교육 및 하자보수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기밀보안 및 비상대책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품질보증 및 시험운영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프로젝트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TER-001, TER-002, TER-005, QUR-001, QUR-004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독립 품질담당자가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단계마다 산출물·시험을 점검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실제 업무자료로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인수시험과 2주 시범운영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4843914" cy="50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000" y="1422000"/>
            <a:ext cx="4843914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목표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3999" y="1800000"/>
          <a:ext cx="4663914" cy="4608000"/>
        </p:xfrm>
        <a:graphic>
          <a:graphicData uri="http://schemas.openxmlformats.org/drawingml/2006/table">
            <a:tbl>
              <a:tblPr firstRow="0" bandRow="0"/>
              <a:tblGrid>
                <a:gridCol w="2850170"/>
                <a:gridCol w="1813744"/>
              </a:tblGrid>
              <a:tr h="92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2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반영률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치명·중대 결함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 시 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보안약점 조치율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 자가점검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화면 전수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329914" y="1422000"/>
            <a:ext cx="6539285" cy="40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29914" y="1422000"/>
            <a:ext cx="6539285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공모형 업무 시나리오 시험 (필수)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9914" y="1800000"/>
            <a:ext cx="6359285" cy="3636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신규 학과 선정 → 권한 자동 부여 / 기존 학과 계속·종료 → 과거 실적 유지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복수학과 공동참여 → 학과별 기여 실적 집계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과제 통합·분리·종료 → 승계관계와 과거 실적 귀속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사업등록 → 성과 → 정책환류 → 공개 종단간 흐름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29914" y="5616000"/>
            <a:ext cx="2047761" cy="62020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29914" y="5616000"/>
            <a:ext cx="2047761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인수시험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3114" y="5958000"/>
            <a:ext cx="1961361" cy="26020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역할별 실제 업무 수행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06476" y="58181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75676" y="5616000"/>
            <a:ext cx="2047761" cy="62020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75676" y="5616000"/>
            <a:ext cx="2047761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시범운영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8876" y="5958000"/>
            <a:ext cx="1961361" cy="26020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2주, 지원반 현장 상주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52238" y="58181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21438" y="5616000"/>
            <a:ext cx="2047761" cy="62020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21438" y="5616000"/>
            <a:ext cx="2047761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4638" y="5958000"/>
            <a:ext cx="1961361" cy="26020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중대결함 0건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교육·하자보수 · 기밀보안·비상대책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프로젝트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PSR-001, PSR-002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역할별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실습 중심 교육과 기술이전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검사 완료 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12개월 무상 하자보수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보안특약과 비상연락체계 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보안관리책임자 </a:t>
            </a:r>
            <a:r>
              <a:rPr sz="1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· 긴급대응반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24시간 비상연락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긴급 장애 1시간 내 대응 착수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3788400" cy="45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1465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교육·기술이전 (PSR-001)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1717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000" y="1746000"/>
            <a:ext cx="3680400" cy="419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4h: 권한·연도 전환·지표·백업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본부 3h / 세부과제 2h×2 실습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기술이전 8h: 배포·백업·복구·장애대응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2400" y="1422000"/>
            <a:ext cx="3788400" cy="45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4400" y="1465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하자보수 (PSR-002)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4400" y="1717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6400" y="1746000"/>
            <a:ext cx="3680400" cy="419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검사 완료일로부터 12개월 무상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긴급 1h 착수·4h 복구 / 중대 1일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분기 1회 현장 점검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0800" y="1422000"/>
            <a:ext cx="3788400" cy="45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2799" y="1465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기밀보안·비상대책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2799" y="1717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4799" y="1746000"/>
            <a:ext cx="3680400" cy="419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누출금지 정보 목록화, 종료 시 입회 파기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월간 자체 보안점검·교육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백업 기반 복구 우선순위 DB→파일→검색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추가 제안 및 기대효과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추가 제안 및 기대효과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Ⅵ. 기타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추가 비용 없이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후속 고도화 준비와 현장 정착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앞당기는 4가지 추가 제안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분산된 자료를 하나의 표준으로 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근거로 증명하는 지역혁신 성과 플랫폼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을 3개월 안에 완성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3059509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303200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AI 설계 검증 시연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555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000" y="1584000"/>
            <a:ext cx="2951509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공개 승인자료로 의미검색 설계 검증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비운영·외부 전송 없음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3509" y="1260000"/>
            <a:ext cx="3059509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5509" y="1303200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후속 고도화 로드맵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5509" y="1555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509" y="1584000"/>
            <a:ext cx="2951509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2차년도 AI·GIS·연계 범위·예산 초안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3663000"/>
            <a:ext cx="3059509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" y="3706200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평가 대응 리포트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000" y="3958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000" y="3987000"/>
            <a:ext cx="2951509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부산시·대학 지표 제출 서식 자동 출력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3509" y="3663000"/>
            <a:ext cx="3059509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5509" y="3706200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디자인 시스템 인계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5509" y="3958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7509" y="3987000"/>
            <a:ext cx="2951509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UI 컴포넌트·가이드 인계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5018" y="1260000"/>
            <a:ext cx="5174181" cy="47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95018" y="1260000"/>
            <a:ext cx="5174181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기대효과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5018" y="1638000"/>
            <a:ext cx="4994181" cy="4266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자료검색·성과취합·평가대응 시간 단축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실적값과 증빙, 정량지표와 정성사례 연결로 성과 신뢰성 강화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지역문제 → 리빙랩 → 정책 반영 성과 경로 누적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검색·요약·보고서 보조 도입 기반 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232000"/>
            <a:ext cx="11160000" cy="86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6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근거로 증명하는 지역혁신 성과 플랫폼 — 주식회사 에이치나인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황보정운</dc:creator>
  <cp:keywords/>
  <dc:description>generated using python-pptx</dc:description>
  <cp:lastModifiedBy>황보정운</cp:lastModifiedBy>
  <cp:revision>1</cp:revision>
  <dcterms:created xsi:type="dcterms:W3CDTF">2013-01-27T09:14:16Z</dcterms:created>
  <dcterms:modified xsi:type="dcterms:W3CDTF">2013-01-27T09:15:58Z</dcterms:modified>
  <cp:category/>
</cp:coreProperties>
</file>