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2" r:id="rId4"/>
  </p:sldMasterIdLst>
  <p:notesMasterIdLst>
    <p:notesMasterId r:id="rId225"/>
  </p:notesMasterIdLst>
  <p:handoutMasterIdLst>
    <p:handoutMasterId r:id="rId226"/>
  </p:handoutMasterIdLst>
  <p:sldIdLst>
    <p:sldId id="7488" r:id="rId16"/>
    <p:sldId id="7489" r:id="rId17"/>
    <p:sldId id="7536" r:id="rId64"/>
    <p:sldId id="7490" r:id="rId18"/>
    <p:sldId id="7491" r:id="rId19"/>
    <p:sldId id="7492" r:id="rId20"/>
    <p:sldId id="7493" r:id="rId21"/>
    <p:sldId id="7494" r:id="rId22"/>
    <p:sldId id="7495" r:id="rId23"/>
    <p:sldId id="7496" r:id="rId24"/>
    <p:sldId id="7497" r:id="rId25"/>
    <p:sldId id="7498" r:id="rId26"/>
    <p:sldId id="7499" r:id="rId27"/>
    <p:sldId id="7500" r:id="rId28"/>
    <p:sldId id="7501" r:id="rId29"/>
    <p:sldId id="7502" r:id="rId30"/>
    <p:sldId id="7503" r:id="rId31"/>
    <p:sldId id="7504" r:id="rId32"/>
    <p:sldId id="7505" r:id="rId33"/>
    <p:sldId id="7506" r:id="rId34"/>
    <p:sldId id="7507" r:id="rId35"/>
    <p:sldId id="7508" r:id="rId36"/>
    <p:sldId id="7509" r:id="rId37"/>
    <p:sldId id="7510" r:id="rId38"/>
    <p:sldId id="7511" r:id="rId39"/>
    <p:sldId id="7512" r:id="rId40"/>
    <p:sldId id="7513" r:id="rId41"/>
    <p:sldId id="7514" r:id="rId42"/>
    <p:sldId id="7515" r:id="rId43"/>
    <p:sldId id="7516" r:id="rId44"/>
    <p:sldId id="7517" r:id="rId45"/>
    <p:sldId id="7518" r:id="rId46"/>
    <p:sldId id="7519" r:id="rId47"/>
    <p:sldId id="7520" r:id="rId48"/>
    <p:sldId id="7521" r:id="rId49"/>
    <p:sldId id="7522" r:id="rId50"/>
    <p:sldId id="7523" r:id="rId51"/>
    <p:sldId id="7524" r:id="rId52"/>
    <p:sldId id="7525" r:id="rId53"/>
    <p:sldId id="7526" r:id="rId54"/>
    <p:sldId id="7527" r:id="rId55"/>
    <p:sldId id="7528" r:id="rId56"/>
    <p:sldId id="7529" r:id="rId57"/>
    <p:sldId id="7530" r:id="rId58"/>
    <p:sldId id="7531" r:id="rId59"/>
    <p:sldId id="7532" r:id="rId60"/>
    <p:sldId id="7533" r:id="rId61"/>
    <p:sldId id="7534" r:id="rId62"/>
    <p:sldId id="7535" r:id="rId63"/>
  </p:sldIdLst>
  <p:sldSz cx="6858000" cy="9906000" type="A4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20" userDrawn="1">
          <p15:clr>
            <a:srgbClr val="A4A3A4"/>
          </p15:clr>
        </p15:guide>
        <p15:guide id="2" pos="2160" userDrawn="1">
          <p15:clr>
            <a:srgbClr val="A4A3A4"/>
          </p15:clr>
        </p15:guide>
        <p15:guide id="3" pos="170" userDrawn="1">
          <p15:clr>
            <a:srgbClr val="A4A3A4"/>
          </p15:clr>
        </p15:guide>
        <p15:guide id="4" pos="4163" userDrawn="1">
          <p15:clr>
            <a:srgbClr val="A4A3A4"/>
          </p15:clr>
        </p15:guide>
        <p15:guide id="5" pos="348" userDrawn="1">
          <p15:clr>
            <a:srgbClr val="A4A3A4"/>
          </p15:clr>
        </p15:guide>
        <p15:guide id="6" pos="3972" userDrawn="1">
          <p15:clr>
            <a:srgbClr val="A4A3A4"/>
          </p15:clr>
        </p15:guide>
        <p15:guide id="7" pos="221" userDrawn="1">
          <p15:clr>
            <a:srgbClr val="A4A3A4"/>
          </p15:clr>
        </p15:guide>
        <p15:guide id="8" pos="409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0C0"/>
    <a:srgbClr val="DEEBF7"/>
    <a:srgbClr val="A1DEED"/>
    <a:srgbClr val="D9D9D9"/>
    <a:srgbClr val="FFFFFF"/>
    <a:srgbClr val="2F76B6"/>
    <a:srgbClr val="0070BA"/>
    <a:srgbClr val="2C4F78"/>
    <a:srgbClr val="64C3DC"/>
    <a:srgbClr val="DAE3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27" autoAdjust="0"/>
    <p:restoredTop sz="94660"/>
  </p:normalViewPr>
  <p:slideViewPr>
    <p:cSldViewPr snapToGrid="0">
      <p:cViewPr>
        <p:scale>
          <a:sx n="75" d="100"/>
          <a:sy n="75" d="100"/>
        </p:scale>
        <p:origin x="1506" y="936"/>
      </p:cViewPr>
      <p:guideLst>
        <p:guide orient="horz" pos="3120"/>
        <p:guide pos="2160"/>
        <p:guide pos="170"/>
        <p:guide pos="4163"/>
        <p:guide pos="348"/>
        <p:guide pos="3972"/>
        <p:guide pos="221"/>
        <p:guide pos="409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Relationship Id="rId39" Type="http://schemas.openxmlformats.org/officeDocument/2006/relationships/slide" Target="slides/slide29.xml"/><Relationship Id="rId40" Type="http://schemas.openxmlformats.org/officeDocument/2006/relationships/slide" Target="slides/slide30.xml"/><Relationship Id="rId41" Type="http://schemas.openxmlformats.org/officeDocument/2006/relationships/slide" Target="slides/slide31.xml"/><Relationship Id="rId42" Type="http://schemas.openxmlformats.org/officeDocument/2006/relationships/slide" Target="slides/slide32.xml"/><Relationship Id="rId43" Type="http://schemas.openxmlformats.org/officeDocument/2006/relationships/slide" Target="slides/slide33.xml"/><Relationship Id="rId44" Type="http://schemas.openxmlformats.org/officeDocument/2006/relationships/slide" Target="slides/slide34.xml"/><Relationship Id="rId45" Type="http://schemas.openxmlformats.org/officeDocument/2006/relationships/slide" Target="slides/slide35.xml"/><Relationship Id="rId46" Type="http://schemas.openxmlformats.org/officeDocument/2006/relationships/slide" Target="slides/slide36.xml"/><Relationship Id="rId47" Type="http://schemas.openxmlformats.org/officeDocument/2006/relationships/slide" Target="slides/slide37.xml"/><Relationship Id="rId48" Type="http://schemas.openxmlformats.org/officeDocument/2006/relationships/slide" Target="slides/slide38.xml"/><Relationship Id="rId49" Type="http://schemas.openxmlformats.org/officeDocument/2006/relationships/slide" Target="slides/slide39.xml"/><Relationship Id="rId50" Type="http://schemas.openxmlformats.org/officeDocument/2006/relationships/slide" Target="slides/slide40.xml"/><Relationship Id="rId51" Type="http://schemas.openxmlformats.org/officeDocument/2006/relationships/slide" Target="slides/slide41.xml"/><Relationship Id="rId52" Type="http://schemas.openxmlformats.org/officeDocument/2006/relationships/slide" Target="slides/slide42.xml"/><Relationship Id="rId53" Type="http://schemas.openxmlformats.org/officeDocument/2006/relationships/slide" Target="slides/slide43.xml"/><Relationship Id="rId54" Type="http://schemas.openxmlformats.org/officeDocument/2006/relationships/slide" Target="slides/slide44.xml"/><Relationship Id="rId55" Type="http://schemas.openxmlformats.org/officeDocument/2006/relationships/slide" Target="slides/slide45.xml"/><Relationship Id="rId56" Type="http://schemas.openxmlformats.org/officeDocument/2006/relationships/slide" Target="slides/slide46.xml"/><Relationship Id="rId57" Type="http://schemas.openxmlformats.org/officeDocument/2006/relationships/slide" Target="slides/slide47.xml"/><Relationship Id="rId58" Type="http://schemas.openxmlformats.org/officeDocument/2006/relationships/slide" Target="slides/slide48.xml"/><Relationship Id="rId59" Type="http://schemas.openxmlformats.org/officeDocument/2006/relationships/slide" Target="slides/slide49.xml"/><Relationship Id="rId60" Type="http://schemas.openxmlformats.org/officeDocument/2006/relationships/slide" Target="slides/slide50.xml"/><Relationship Id="rId61" Type="http://schemas.openxmlformats.org/officeDocument/2006/relationships/slide" Target="slides/slide51.xml"/><Relationship Id="rId62" Type="http://schemas.openxmlformats.org/officeDocument/2006/relationships/slide" Target="slides/slide52.xml"/><Relationship Id="rId63" Type="http://schemas.openxmlformats.org/officeDocument/2006/relationships/slide" Target="slides/slide53.xml"/><Relationship Id="rId64" Type="http://schemas.openxmlformats.org/officeDocument/2006/relationships/slide" Target="slides/slide54.xml"/><Relationship Id="rId225" Type="http://schemas.openxmlformats.org/officeDocument/2006/relationships/notesMaster" Target="notesMasters/notesMaster1.xml"/><Relationship Id="rId226" Type="http://schemas.openxmlformats.org/officeDocument/2006/relationships/handoutMaster" Target="handoutMasters/handoutMaster1.xml"/><Relationship Id="rId227" Type="http://schemas.openxmlformats.org/officeDocument/2006/relationships/presProps" Target="presProps.xml"/><Relationship Id="rId228" Type="http://schemas.openxmlformats.org/officeDocument/2006/relationships/viewProps" Target="viewProps.xml"/><Relationship Id="rId229" Type="http://schemas.openxmlformats.org/officeDocument/2006/relationships/theme" Target="theme/theme1.xml"/><Relationship Id="rId230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3FC88C87-A870-CEB0-ED88-C071B577138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E2BC45F-FED5-D4BC-E846-A726E2675E2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A53264-FF37-4A28-A320-34D44B9DA959}" type="datetimeFigureOut">
              <a:rPr lang="ko-KR" altLang="en-US" smtClean="0"/>
              <a:t>2026-07-25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FF340D6-2F04-0925-A1CA-8AEFCB2ADB1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C895D71-45E6-1EE8-27B3-45C23B4D7FD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CE9521-B036-447B-9F05-EA285466CC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875986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FD334089-59B3-40BB-96F8-BCCD425B3E10}" type="datetimeFigureOut">
              <a:rPr lang="ko-KR" altLang="en-US" smtClean="0"/>
              <a:t>2026-07-25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357438" y="1279525"/>
            <a:ext cx="2390775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E228262F-01A3-4CFF-895B-FDF42B6E38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87560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ko-KR" altLang="en-US"/>
              <a:t>클릭하여 마스터 부제목 스타일 편집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9025116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7612334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0498293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4504242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9275855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1302546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8809296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1997953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7051594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9064295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9300550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C76020E4-D3BF-2E23-3FDA-C00182CF911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60455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컨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>
            <a:extLst>
              <a:ext uri="{FF2B5EF4-FFF2-40B4-BE49-F238E27FC236}">
                <a16:creationId xmlns:a16="http://schemas.microsoft.com/office/drawing/2014/main" id="{40B0BCB0-8223-B3D9-E890-81D448F5CD0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39971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441A63F8-CD22-3A28-E2D3-10878032E2D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049059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5863852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80C846F1-727C-0585-985D-8DD19A44110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3359" t="1639" r="80900" b="92396"/>
          <a:stretch>
            <a:fillRect/>
          </a:stretch>
        </p:blipFill>
        <p:spPr>
          <a:xfrm>
            <a:off x="0" y="0"/>
            <a:ext cx="1256670" cy="673100"/>
          </a:xfrm>
          <a:prstGeom prst="rect">
            <a:avLst/>
          </a:prstGeom>
        </p:spPr>
      </p:pic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23850" y="257983"/>
            <a:ext cx="5318423" cy="32008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1600" smtClean="0" b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defRPr>
            </a:lvl1pPr>
            <a:lvl2pPr marL="104478" indent="0">
              <a:buNone/>
              <a:defRPr lang="ko-KR" altLang="en-US" sz="823" smtClean="0"/>
            </a:lvl2pPr>
            <a:lvl3pPr marL="313432" indent="0">
              <a:buNone/>
              <a:defRPr lang="ko-KR" altLang="en-US" sz="823" smtClean="0"/>
            </a:lvl3pPr>
            <a:lvl4pPr marL="522387" indent="0">
              <a:buNone/>
              <a:defRPr lang="ko-KR" altLang="en-US" smtClean="0"/>
            </a:lvl4pPr>
            <a:lvl5pPr marL="731342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59" name="슬라이드 번호 개체 틀 2">
            <a:extLst>
              <a:ext uri="{FF2B5EF4-FFF2-40B4-BE49-F238E27FC236}">
                <a16:creationId xmlns:a16="http://schemas.microsoft.com/office/drawing/2014/main" id="{CE098A9A-461E-2B74-D55E-49CB2DCBB94A}"/>
              </a:ext>
            </a:extLst>
          </p:cNvPr>
          <p:cNvSpPr txBox="1">
            <a:spLocks/>
          </p:cNvSpPr>
          <p:nvPr userDrawn="1"/>
        </p:nvSpPr>
        <p:spPr>
          <a:xfrm>
            <a:off x="3174610" y="9688018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42A9537A-DB42-4D35-B31B-5C8E293FF6D7}" type="slidenum">
              <a:rPr lang="ko-KR" altLang="en-US" sz="900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ctr"/>
              <a:t>‹#›</a:t>
            </a:fld>
            <a:endParaRPr lang="ko-KR" altLang="en-US" sz="100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2384064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텍스트 개체 틀 13">
            <a:extLst>
              <a:ext uri="{FF2B5EF4-FFF2-40B4-BE49-F238E27FC236}">
                <a16:creationId xmlns:a16="http://schemas.microsoft.com/office/drawing/2014/main" id="{C174FC7F-2931-4560-A3C1-364B07A5E3B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94234" y="1453800"/>
            <a:ext cx="6109424" cy="181525"/>
          </a:xfrm>
          <a:noFill/>
        </p:spPr>
        <p:txBody>
          <a:bodyPr wrap="square" rtlCol="0">
            <a:spAutoFit/>
          </a:bodyPr>
          <a:lstStyle>
            <a:lvl1pPr marL="0" indent="0">
              <a:buNone/>
              <a:defRPr lang="ko-KR" altLang="en-US" sz="64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defRPr>
            </a:lvl1pPr>
            <a:lvl2pPr>
              <a:defRPr lang="ko-KR" altLang="en-US" sz="823" smtClean="0"/>
            </a:lvl2pPr>
            <a:lvl3pPr>
              <a:defRPr lang="ko-KR" altLang="en-US" sz="823" smtClean="0"/>
            </a:lvl3pPr>
            <a:lvl4pPr>
              <a:defRPr lang="ko-KR" altLang="en-US" smtClean="0"/>
            </a:lvl4pPr>
            <a:lvl5pPr>
              <a:defRPr lang="ko-KR" altLang="en-US"/>
            </a:lvl5pPr>
          </a:lstStyle>
          <a:p>
            <a:pPr marL="0"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사각형: 둥근 한쪽 모서리 6">
            <a:extLst>
              <a:ext uri="{FF2B5EF4-FFF2-40B4-BE49-F238E27FC236}">
                <a16:creationId xmlns:a16="http://schemas.microsoft.com/office/drawing/2014/main" id="{B541F7BF-9ADF-46AB-81E5-B13C2B27F216}"/>
              </a:ext>
            </a:extLst>
          </p:cNvPr>
          <p:cNvSpPr/>
          <p:nvPr userDrawn="1"/>
        </p:nvSpPr>
        <p:spPr>
          <a:xfrm>
            <a:off x="0" y="473287"/>
            <a:ext cx="524014" cy="852098"/>
          </a:xfrm>
          <a:prstGeom prst="round1Rect">
            <a:avLst/>
          </a:prstGeom>
          <a:solidFill>
            <a:srgbClr val="008BC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F5F91E45-9FCF-43BD-A8FF-24BD1BC3E732}"/>
              </a:ext>
            </a:extLst>
          </p:cNvPr>
          <p:cNvCxnSpPr>
            <a:cxnSpLocks/>
          </p:cNvCxnSpPr>
          <p:nvPr userDrawn="1"/>
        </p:nvCxnSpPr>
        <p:spPr>
          <a:xfrm>
            <a:off x="0" y="1325385"/>
            <a:ext cx="6608862" cy="0"/>
          </a:xfrm>
          <a:prstGeom prst="line">
            <a:avLst/>
          </a:prstGeom>
          <a:ln w="19050">
            <a:solidFill>
              <a:srgbClr val="0074A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텍스트 개체 틀 13">
            <a:extLst>
              <a:ext uri="{FF2B5EF4-FFF2-40B4-BE49-F238E27FC236}">
                <a16:creationId xmlns:a16="http://schemas.microsoft.com/office/drawing/2014/main" id="{B014F6E5-DAED-4795-8473-F27C314E903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69969" y="699426"/>
            <a:ext cx="5023588" cy="233013"/>
          </a:xfrm>
          <a:noFill/>
        </p:spPr>
        <p:txBody>
          <a:bodyPr wrap="square" rtlCol="0">
            <a:spAutoFit/>
          </a:bodyPr>
          <a:lstStyle>
            <a:lvl1pPr marL="0" indent="0">
              <a:lnSpc>
                <a:spcPct val="100000"/>
              </a:lnSpc>
              <a:buNone/>
              <a:defRPr lang="ko-KR" altLang="en-US" sz="914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defRPr>
            </a:lvl1pPr>
          </a:lstStyle>
          <a:p>
            <a:pPr marL="0"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8" name="텍스트 개체 틀 13">
            <a:extLst>
              <a:ext uri="{FF2B5EF4-FFF2-40B4-BE49-F238E27FC236}">
                <a16:creationId xmlns:a16="http://schemas.microsoft.com/office/drawing/2014/main" id="{2ECBBF39-A383-4AFE-9C30-8005D916AD6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2769" y="655398"/>
            <a:ext cx="377293" cy="544593"/>
          </a:xfrm>
          <a:noFill/>
        </p:spPr>
        <p:txBody>
          <a:bodyPr wrap="square" rtlCol="0">
            <a:noAutofit/>
          </a:bodyPr>
          <a:lstStyle>
            <a:lvl1pPr marL="0" indent="0" algn="r">
              <a:buNone/>
              <a:defRPr lang="ko-KR" altLang="en-US" sz="1097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defRPr>
            </a:lvl1pPr>
          </a:lstStyle>
          <a:p>
            <a:pPr marL="0" lvl="0" algn="ctr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BF7D64-638A-0DB1-1838-1BFE0A31C328}"/>
              </a:ext>
            </a:extLst>
          </p:cNvPr>
          <p:cNvSpPr txBox="1"/>
          <p:nvPr userDrawn="1"/>
        </p:nvSpPr>
        <p:spPr>
          <a:xfrm>
            <a:off x="6522317" y="9372523"/>
            <a:ext cx="335685" cy="345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altLang="ko-KR" sz="823" b="0" i="0" u="none" strike="noStrike" kern="1200" cap="none" spc="0" normalizeH="0" baseline="0" noProof="0">
                <a:ln>
                  <a:noFill/>
                </a:ln>
                <a:solidFill>
                  <a:srgbClr val="171616"/>
                </a:solidFill>
                <a:effectLst/>
                <a:uLnTx/>
                <a:uFillTx/>
                <a:latin typeface="나눔스퀘어"/>
                <a:ea typeface="나눔스퀘어"/>
                <a:cs typeface="+mn-cs"/>
              </a:rPr>
              <a:t>&lt;#&gt;</a:t>
            </a:r>
            <a:endParaRPr lang="ko-KR" altLang="en-US" sz="823"/>
          </a:p>
        </p:txBody>
      </p:sp>
    </p:spTree>
    <p:extLst>
      <p:ext uri="{BB962C8B-B14F-4D97-AF65-F5344CB8AC3E}">
        <p14:creationId xmlns:p14="http://schemas.microsoft.com/office/powerpoint/2010/main" val="55598936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821875-ABEF-94C5-5C9F-62A6F241B498}"/>
              </a:ext>
            </a:extLst>
          </p:cNvPr>
          <p:cNvSpPr/>
          <p:nvPr userDrawn="1"/>
        </p:nvSpPr>
        <p:spPr>
          <a:xfrm>
            <a:off x="244812" y="2693909"/>
            <a:ext cx="3125255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55ED841-3E70-2D52-DBCB-E944C07C3B70}"/>
              </a:ext>
            </a:extLst>
          </p:cNvPr>
          <p:cNvSpPr/>
          <p:nvPr userDrawn="1"/>
        </p:nvSpPr>
        <p:spPr>
          <a:xfrm>
            <a:off x="3487937" y="2693909"/>
            <a:ext cx="3125255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9" name="슬라이드 번호 개체 틀 2">
            <a:extLst>
              <a:ext uri="{FF2B5EF4-FFF2-40B4-BE49-F238E27FC236}">
                <a16:creationId xmlns:a16="http://schemas.microsoft.com/office/drawing/2014/main" id="{B2797B26-B1E8-6159-7F70-D2371837A9AB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381165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821875-ABEF-94C5-5C9F-62A6F241B498}"/>
              </a:ext>
            </a:extLst>
          </p:cNvPr>
          <p:cNvSpPr/>
          <p:nvPr userDrawn="1"/>
        </p:nvSpPr>
        <p:spPr>
          <a:xfrm>
            <a:off x="244810" y="2693909"/>
            <a:ext cx="6368380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1F5EF080-74F1-2009-15B4-D5D932E8218F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7351623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60DC690-6E34-460F-B6A4-6CF5A62EB2C3}"/>
              </a:ext>
            </a:extLst>
          </p:cNvPr>
          <p:cNvSpPr/>
          <p:nvPr userDrawn="1"/>
        </p:nvSpPr>
        <p:spPr>
          <a:xfrm>
            <a:off x="244811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872717FD-D39F-8E98-379C-C3F05153C648}"/>
              </a:ext>
            </a:extLst>
          </p:cNvPr>
          <p:cNvSpPr/>
          <p:nvPr userDrawn="1"/>
        </p:nvSpPr>
        <p:spPr>
          <a:xfrm>
            <a:off x="4624058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B5475A5-6520-B581-0354-5E7DA0EF6ADD}"/>
              </a:ext>
            </a:extLst>
          </p:cNvPr>
          <p:cNvSpPr/>
          <p:nvPr userDrawn="1"/>
        </p:nvSpPr>
        <p:spPr>
          <a:xfrm>
            <a:off x="2434435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7" name="슬라이드 번호 개체 틀 2">
            <a:extLst>
              <a:ext uri="{FF2B5EF4-FFF2-40B4-BE49-F238E27FC236}">
                <a16:creationId xmlns:a16="http://schemas.microsoft.com/office/drawing/2014/main" id="{D7A74A86-AF2F-4131-0264-FB4B27ABEF36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931341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B1E447B-F4B4-4E30-97EE-52936639FAEF}"/>
              </a:ext>
            </a:extLst>
          </p:cNvPr>
          <p:cNvSpPr txBox="1"/>
          <p:nvPr userDrawn="1"/>
        </p:nvSpPr>
        <p:spPr>
          <a:xfrm flipH="1">
            <a:off x="489703" y="1285390"/>
            <a:ext cx="2125266" cy="2279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731" kern="120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+mn-cs"/>
              </a:rPr>
              <a:t>템인트 프레젠테이션 템플릿 저작권</a:t>
            </a:r>
            <a:endParaRPr lang="en-US" altLang="ko-KR" sz="731" kern="120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나눔스퀘어 Bold" panose="020B0600000101010101" pitchFamily="50" charset="-127"/>
              <a:ea typeface="나눔스퀘어 Bold" panose="020B0600000101010101" pitchFamily="50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8F0AAC5-6251-4A45-9BE4-4EDC00C4FF72}"/>
              </a:ext>
            </a:extLst>
          </p:cNvPr>
          <p:cNvSpPr txBox="1"/>
          <p:nvPr userDrawn="1"/>
        </p:nvSpPr>
        <p:spPr>
          <a:xfrm flipH="1">
            <a:off x="489703" y="2089168"/>
            <a:ext cx="5747149" cy="709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본 템플릿에 제공되는 디자인 재산권은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템인트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(quiethee8)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이 소유하고 있습니다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.</a:t>
            </a:r>
          </a:p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어떠한 경우에도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템인트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템플릿 및 디자인을 유료로 복제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판매하는 것은 금지하며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재배포를 금지합니다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b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</a:b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본 프레젠테이션은 비영리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비상업적인 목적으로만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또한 홍보 목적이 아닌 내부 자료로는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</a:t>
            </a:r>
            <a:b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</a:b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상업적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영리적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홍보목적인 경우에는 구매 후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상업적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영리목적일 시에는 블로그 혹은 메일로 연락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주시길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바랍니다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</a:t>
            </a:r>
          </a:p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이는 다운받는 블로그에도 기재되어 있으며 다운받고 사용시에 동의한 것으로 간주합니다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. </a:t>
            </a: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26E1EB96-6ED2-443B-ACE2-CF11854FC425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282227894"/>
              </p:ext>
            </p:extLst>
          </p:nvPr>
        </p:nvGraphicFramePr>
        <p:xfrm>
          <a:off x="489705" y="4615250"/>
          <a:ext cx="5878595" cy="42499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2775">
                  <a:extLst>
                    <a:ext uri="{9D8B030D-6E8A-4147-A177-3AD203B41FA5}">
                      <a16:colId xmlns:a16="http://schemas.microsoft.com/office/drawing/2014/main" val="3182386323"/>
                    </a:ext>
                  </a:extLst>
                </a:gridCol>
                <a:gridCol w="2622910">
                  <a:extLst>
                    <a:ext uri="{9D8B030D-6E8A-4147-A177-3AD203B41FA5}">
                      <a16:colId xmlns:a16="http://schemas.microsoft.com/office/drawing/2014/main" val="2510118193"/>
                    </a:ext>
                  </a:extLst>
                </a:gridCol>
                <a:gridCol w="2622910">
                  <a:extLst>
                    <a:ext uri="{9D8B030D-6E8A-4147-A177-3AD203B41FA5}">
                      <a16:colId xmlns:a16="http://schemas.microsoft.com/office/drawing/2014/main" val="579559814"/>
                    </a:ext>
                  </a:extLst>
                </a:gridCol>
              </a:tblGrid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분류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허용범위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사용금지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(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예시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)</a:t>
                      </a:r>
                      <a:endParaRPr lang="ko-KR" altLang="en-US" sz="17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2181525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학생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과제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내부 발표용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공모전 출품 금지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[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문의가능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]</a:t>
                      </a:r>
                      <a:endParaRPr lang="ko-KR" altLang="en-US" sz="17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952909"/>
                  </a:ext>
                </a:extLst>
              </a:tr>
              <a:tr h="91217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기업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내부자료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보안용 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방송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행사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프로모션 등의 홍보자료 사용 금지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7693132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내부 강의자료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 자료 및 강의자료 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1159216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기업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내부자료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보안용 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방송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행사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프로모션 등 사용 금지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2042118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기타 사용 부분에는 문의 바랍니다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4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20319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3222598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6133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8" r:id="rId14"/>
    <p:sldLayoutId id="2147483687" r:id="rId15"/>
    <p:sldLayoutId id="2147483686" r:id="rId16"/>
    <p:sldLayoutId id="2147483650" r:id="rId17"/>
    <p:sldLayoutId id="2147483654" r:id="rId18"/>
    <p:sldLayoutId id="2147483656" r:id="rId19"/>
    <p:sldLayoutId id="2147483655" r:id="rId20"/>
    <p:sldLayoutId id="2147483652" r:id="rId21"/>
  </p:sldLayoutIdLst>
  <p:hf hdr="0" ftr="0" dt="0"/>
  <p:txStyles>
    <p:titleStyle>
      <a:lvl1pPr algn="l" defTabSz="685800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TextBox 5">
            <a:extLst>
              <a:ext uri="{FF2B5EF4-FFF2-40B4-BE49-F238E27FC236}">
                <a16:creationId xmlns:a16="http://schemas.microsoft.com/office/drawing/2014/main" id="{5E46FF42-C36A-87C9-3A55-247FEA1EEF60}"/>
              </a:ext>
            </a:extLst>
          </p:cNvPr>
          <p:cNvSpPr txBox="1"/>
          <p:nvPr/>
        </p:nvSpPr>
        <p:spPr>
          <a:xfrm>
            <a:off x="2826170" y="1555100"/>
            <a:ext cx="3584636" cy="16327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ko-KR" altLang="en-US" sz="14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기술제안서</a:t>
            </a:r>
            <a:endParaRPr lang="en-US" altLang="ko-KR" sz="1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lumMod val="50000"/>
                </a:schemeClr>
              </a:solidFill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  <a:p>
            <a:pPr algn="r">
              <a:lnSpc>
                <a:spcPct val="150000"/>
              </a:lnSpc>
            </a:pPr>
            <a:r>
              <a:rPr lang="en-US" altLang="ko-KR" sz="28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AI 기반 학생·취업지원</a:t>
            </a:r>
            <a:endParaRPr lang="en-US" altLang="ko-KR" sz="28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70C0"/>
              </a:solidFill>
              <a:latin typeface="a옛날사진관5" panose="02020600000000000000" pitchFamily="18" charset="-127"/>
              <a:ea typeface="a옛날사진관5" panose="02020600000000000000" pitchFamily="18" charset="-127"/>
            </a:endParaRPr>
          </a:p>
          <a:p>
            <a:pPr algn="r">
              <a:lnSpc>
                <a:spcPct val="150000"/>
              </a:lnSpc>
            </a:pPr>
            <a:r>
              <a:rPr lang="en-US" altLang="ko-KR" sz="28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챗봇 서비스 고도화</a:t>
            </a:r>
            <a:endParaRPr lang="en-US" altLang="ko-KR" sz="28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70C0"/>
              </a:solidFill>
              <a:latin typeface="a옛날사진관5" panose="02020600000000000000" pitchFamily="18" charset="-127"/>
              <a:ea typeface="a옛날사진관5" panose="02020600000000000000" pitchFamily="18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8AEF8EA-14B3-6E55-F0E1-066986D1E0FA}"/>
              </a:ext>
            </a:extLst>
          </p:cNvPr>
          <p:cNvSpPr txBox="1"/>
          <p:nvPr/>
        </p:nvSpPr>
        <p:spPr>
          <a:xfrm>
            <a:off x="4601846" y="3560894"/>
            <a:ext cx="17604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12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사업PM </a:t>
            </a:r>
            <a:r>
              <a:rPr lang="ko-KR" altLang="en-US" sz="1200" b="1">
                <a:solidFill>
                  <a:srgbClr val="E00000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【성명】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E8C5FC7-1811-9A2D-3F96-29EC88554124}"/>
              </a:ext>
            </a:extLst>
          </p:cNvPr>
          <p:cNvSpPr txBox="1"/>
          <p:nvPr/>
        </p:nvSpPr>
        <p:spPr>
          <a:xfrm>
            <a:off x="3660241" y="4152781"/>
            <a:ext cx="2291653" cy="11772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30598" indent="-130598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제출기관: (주)에이치나인</a:t>
            </a:r>
          </a:p>
          <a:p>
            <a:pPr marL="130598" indent="-130598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발주기관: 인하대학교 앵커사업본부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3" name="TextBox 12">
            <a:extLst>
              <a:ext uri="{FF2B5EF4-FFF2-40B4-BE49-F238E27FC236}">
                <a16:creationId xmlns:a16="http://schemas.microsoft.com/office/drawing/2014/main" id="{64DC8926-ACD6-EA8A-8DE2-83D5D453BA15}"/>
              </a:ext>
            </a:extLst>
          </p:cNvPr>
          <p:cNvSpPr txBox="1"/>
          <p:nvPr/>
        </p:nvSpPr>
        <p:spPr>
          <a:xfrm>
            <a:off x="1403350" y="142102"/>
            <a:ext cx="398303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&lt; 요구사항 대비 수용여부 조견표 &gt;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03999" y="468000"/>
          <a:ext cx="5867999" cy="7581600"/>
        </p:xfrm>
        <a:graphic>
          <a:graphicData uri="http://schemas.openxmlformats.org/drawingml/2006/table">
            <a:tbl>
              <a:tblPr firstRow="0" bandRow="0"/>
              <a:tblGrid>
                <a:gridCol w="827999"/>
                <a:gridCol w="756000"/>
                <a:gridCol w="2592000"/>
                <a:gridCol w="612000"/>
                <a:gridCol w="1080000"/>
              </a:tblGrid>
              <a:tr h="2808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고유번호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 명칭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 여부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 페이지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280800">
                <a:tc rowSpan="3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장비구성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ECR-01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 구성요건 공통사항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ECR-02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서버 구성 및 운영환경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ECR-03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스토리지 및 네트워크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rowSpan="19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기능요구 공통사항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취업·진로 안내 챗봇 답변 품질 고도화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취업·진로 안내 챗봇 기능 확장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규정집 수집 및 구조화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규정집 안내 챗봇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대표·주요 시설 홈페이지 콘텐츠 수집·인덱싱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대표·주요 시설 홈페이지 콘텐츠 안내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에이전트 생성 및 자동 라우팅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사용자 UI/UX 개편 및 홈페이지 탑재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관리 권한 체계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SFR-11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사용자 피드백 처리 체계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부서별 동의어·유의어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SFR-13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답변 품질 유지 자동화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SFR-14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관리자 콘솔 고도화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26, 29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SFR-15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통계 및 성과 모니터링 고도화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SFR-16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학생 개인 프로필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SFR-17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개인별 RAG 지식공간 구축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SFR-18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 맥락 기반 검색·추천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SFR-19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온프레미스 LLM 구성 (조건부 과업)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rowSpan="2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PER-01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 목표성능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PER-02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자원 사용률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rowSpan="2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인터페이스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INR-01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체계연동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INR-02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상호운용성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32, 37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" name="TextBox 16">
            <a:extLst>
              <a:ext uri="{FF2B5EF4-FFF2-40B4-BE49-F238E27FC236}">
                <a16:creationId xmlns:a16="http://schemas.microsoft.com/office/drawing/2014/main" id="{1ED316A1-3D0B-757D-AEF4-F34868C8FC6D}"/>
              </a:ext>
            </a:extLst>
          </p:cNvPr>
          <p:cNvSpPr txBox="1"/>
          <p:nvPr/>
        </p:nvSpPr>
        <p:spPr>
          <a:xfrm>
            <a:off x="963899" y="1892346"/>
            <a:ext cx="4179139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altLang="ko-KR" sz="2800" b="1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0070C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CONTENTS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2778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제안사 일반현황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2671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2893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2673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Ⅰ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3168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34735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사업 이해 및 추진 전략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33660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35881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33678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Ⅱ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38637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41683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제안 내용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40608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42829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40626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Ⅲ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45585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48631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사업 수행 방안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47556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49777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47574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Ⅳ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52533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55579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지원 부문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54504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56725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54522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Ⅴ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59481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제안사 일반현황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Ⅰ.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일반현황 및 연혁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재무 현황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관련분야 사업실적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제안사 일반현황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제안사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회사 개요 ([별지 제1호])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일반현황 및 연혁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(사용자 중심 디지털 서비스 전문기업) 2010년 설립 이후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UX 기획·디자인부터 플랫폼 개발·AI 구축·운영까지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수행해 온 S/W개발 및 디자인 전문기업임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80800" y="2358000"/>
            <a:ext cx="6332400" cy="728141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"우리는 기술을 통해 창의적인 경험을 만들어갑니다. 사려 깊은 디자인과 사용자 중심의 접근 방식을 바탕으로, 사람과 제품, 디지털 서비스 간의 의미 있는 연결을 만드는 것이 우리의 목표입니다."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400" y="3208541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3194141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일반현황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3518141"/>
          <a:ext cx="6260400" cy="3826641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회사명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주식회사 에이치나인 (HNINE)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대표자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최우식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사업분야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S/W개발 및 공급, 전문/종합 디자인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서울 성동구 뚝섬로1길 25, 1001호 ~ 1005호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연락처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TEL 02-521-0518 / FAX 02-567-0518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회사설립년도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2010년 04월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해당부문 사업기간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2010년 04월 ~ 2026년 08월 (16년 5개월)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06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보유 자격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소프트웨어사업자(1468), 직접생산확인(정보시스템개발서비스 8111159901), 중소기업확인서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302400" y="746719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2400" y="745279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본 사업과 연결되는 핵심 역량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7776790"/>
            <a:ext cx="2026800" cy="1053856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16800" y="777679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근거 제시형 AI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2800" y="8035990"/>
            <a:ext cx="1954800" cy="801856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근거 데이터 위치를 함께 보여 주는 Trading AI Agent — 출처 카드 · 조문 근거 표시에 적용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433600" y="7776790"/>
            <a:ext cx="2026800" cy="1053856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433600" y="777679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답변 품질 자동 평가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469600" y="8035990"/>
            <a:ext cx="1954800" cy="801856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MES AI Agent 'MOSAIC'의 Judge Agent 자동 평가 — 회귀평가 · 할루시네이션 탐지에 적용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50400" y="7776790"/>
            <a:ext cx="2026800" cy="1053856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550400" y="777679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교육 서비스 UX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86400" y="8035990"/>
            <a:ext cx="1954800" cy="801856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국립중앙박물관 교육 플랫폼 '모두' (iF Design Award) — 학생용 챗봇 UI/UX · 위젯에 적용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제안사 일반현황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제안사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1.1.2 주요 연혁 및 수상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일반현황 및 연혁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(검증된 서비스 품질) iF · Good Design · ICT AWARD KOREA 등 국내외 수상과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한국디자인진흥원 우수디자인전문기업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선정으로 서비스 품질을 입증함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6172379"/>
        </p:xfrm>
        <a:graphic>
          <a:graphicData uri="http://schemas.openxmlformats.org/drawingml/2006/table">
            <a:tbl>
              <a:tblPr firstRow="0" bandRow="0"/>
              <a:tblGrid>
                <a:gridCol w="782550"/>
                <a:gridCol w="5477850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연혁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ㆍ㈜에이치나인 설립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ㆍ창업진흥원 혁신적 기업가상 수상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ㆍ한국 광고 대상 미디어 부문 은상 수상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ㆍ칸느 광고제 미디어 부문 동상 수상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ㆍiF Design Communication 골드 수상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ㆍKorea Design Award 올해의 디자인 프로젝트 수상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ㆍ한국디자인진흥원 우수디자인(GD) 서비스/경험디자인 부문 수상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ㆍ스마트 앱 어워드 KT 고객센터 커뮤니케이션 분야 최우수상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ㆍiF Design Communication 부문 수상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ㆍK-DESIGN AWARD "Everything Moments" 수상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ㆍGood Design 코레일톡 플러스 모바일 앱 수상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ㆍ한국디자인진흥원 우수 전문 디자인 기업 선정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ㆍ중소벤처기업부 사내벤처육성기업 선정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ㆍ한국디자인진흥원 우수 전문 디자인 기업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ㆍKIDP 한국디자인진흥원 "우수 디자인 전문 회사 선도 부문" 선정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ㆍiF Design Communication 부문 "모스랜드 헌터스" 수상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ㆍ한국디자인진흥원 우수 디자인(GD) 선정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ㆍi-AWARDS WEB AWARD KOREA (쇼핑몰 부문 통합대상)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ㆍHCI Korea 온라인 학술대회 우수논문 수상 (반려동물을 위한 AR카메라 Owao)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483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ㆍiF Design Award Website 부문 수상 (국립중앙박물관 교육플랫폼 '모두')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ㆍ서울시 청소년 문제해결 프로젝트 디자인 가치상 (DMI 미국 디자인경영연구소)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ㆍ한국무역협회 1백만불 수출의 탑 수상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ㆍiF Design Award Communication 부문 수상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ㆍICT AWARD KOREA 디지털 서비스혁신 분야 GOLD PRIZE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ㆍ한국디자인진흥원 2024 우수디자인전문기업 선정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ㆍDesign Award 2025 Service 부문 수상 (Daishin Securities MTS)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제안사 일반현황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제안사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1.2.1 자본금 및 최근 3년간 매출액 ([별지 제2호])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1.2 재무 현황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(안정적 재무 기반) 최근 3년 매출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95억 ~ 111억 원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유지하고, 부채비율을 104.7%에서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71.8%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낮춰 재무 건전성을 높임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자본금 및 매출액 (단위: 원)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682000"/>
          <a:ext cx="6260397" cy="1674000"/>
        </p:xfrm>
        <a:graphic>
          <a:graphicData uri="http://schemas.openxmlformats.org/drawingml/2006/table">
            <a:tbl>
              <a:tblPr firstRow="0" bandRow="0"/>
              <a:tblGrid>
                <a:gridCol w="1799865"/>
                <a:gridCol w="1486844"/>
                <a:gridCol w="1486844"/>
                <a:gridCol w="1486844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2023년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자본금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100,000,000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100,000,000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100,000,000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매출액 (임대료수입)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38,800,000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매출액 (용역매출)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9,885,377,589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9,460,127,326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11,077,940,671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매출액 합계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9,885,377,589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9,460,127,326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11,116,740,671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02400" y="4478399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2400" y="4463999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주요 재무 지표 (단위: 백만원)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316800" y="4788000"/>
          <a:ext cx="6260397" cy="4068000"/>
        </p:xfrm>
        <a:graphic>
          <a:graphicData uri="http://schemas.openxmlformats.org/drawingml/2006/table">
            <a:tbl>
              <a:tblPr firstRow="0" bandRow="0"/>
              <a:tblGrid>
                <a:gridCol w="1799865"/>
                <a:gridCol w="1486844"/>
                <a:gridCol w="1486844"/>
                <a:gridCol w="1486844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2023년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매출액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9,885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9,460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11,116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매출원가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매출총이익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9,885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9,460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11,116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경상이익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918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650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당기순이익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559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893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625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자산총계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13,127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12,458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12,288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부채총계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6,714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5,352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5,136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자본총계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6,412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7,105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7,152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부채비율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104.7%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75.3%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71.8%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유동비율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102.4%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157.9%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149.7%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매출액순이익률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5.6%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9.4%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5.6%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6" name="TextBox 35"/>
          <p:cNvSpPr txBox="1"/>
          <p:nvPr/>
        </p:nvSpPr>
        <p:spPr>
          <a:xfrm>
            <a:off x="280800" y="8927999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공인회계사 확인 재무제표 별도 첨부 (부채·유동비율, 매출액순이익률은 표준 산식 적용)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80800" y="9107999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최근 3개년 재무제표(원본 대조필) 별도 제출 </a:t>
            </a:r>
            <a:r>
              <a:rPr sz="95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【재무제표 준비】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관련분야 사업실적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제안사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주요 사업 내용 및 최근 3년 실적 ([별지 제3호])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AI 챗봇 · 생성형 AI(RAG) · 대학 정보서비스 실적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(평가 15점 항목)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생성형 AI 에이전트 · 근거 제시형 응답 · 교육 플랫폼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실적을 중심으로, 본 사업과 직접 연결되는 유관 실적만 연도순으로 기재함 (증빙: 계약서 사본 · 실적증명원)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399" cy="5068624"/>
        </p:xfrm>
        <a:graphic>
          <a:graphicData uri="http://schemas.openxmlformats.org/drawingml/2006/table">
            <a:tbl>
              <a:tblPr firstRow="0" bandRow="0"/>
              <a:tblGrid>
                <a:gridCol w="860805"/>
                <a:gridCol w="2465032"/>
                <a:gridCol w="1017315"/>
                <a:gridCol w="1134697"/>
                <a:gridCol w="78255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계약금액(원)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생성형 AI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Trading AI Agent 개발 및 ML/DL 분석 (근거 위치 제시형 Agent)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2026.04 ~ 2026.06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129,385,380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생성형 AI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제조 DT 시스템 — MES AI Agent 'MOSAIC' (자동 평가 · 관제)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2026.03 ~ 2026.06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【금액】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표준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'26년 표준 아키텍처 구축 Ph3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2026.07 ~ 2026.12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1,107,180,000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교육 서비스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25년 국립중앙박물관 모두 플랫폼 개선 및 유지보수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2025.07 ~ 2025.12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86,200,000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국립중앙박물관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교육 서비스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2024년 국립중앙박물관 교육 플랫폼 [모두] 유지보수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2024.07 ~ 2025.01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100,000,000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국립중앙박물관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웹 서비스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LG LIFE 및 그룹 홈페이지 사이트 운영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2026.01 ~ 2026.12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661,298,000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㈜엘지씨엔에스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대학 정보서비스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【대학 홈페이지 · 학사 정보서비스 실적 — 실적 대장 확인】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【기간】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【금액】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【발주처】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챗봇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【대학 · 공공 RAG 챗봇 실적 — 실적 대장 확인】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【기간】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【금액】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【발주처】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316800" y="7534627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16800" y="7534627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24800" y="7588627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4800" y="7984627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생성형 AI Agent
운영 적용 (2026)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439600" y="7534627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439600" y="7534627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547600" y="7588627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16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년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547600" y="7984627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웹 · 교육 서비스
구축 · 운영 업력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62400" y="7534627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62400" y="7534627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70400" y="7588627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【N】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건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70400" y="7984627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대학 · 공공 정보서비스
실적 (확인 후 기입)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80800" y="8488627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현재 수행 중인 업무 포함, 본 업무와 유관한 실적만 기재. 하도급 · 공동도급 실적은 비고에 원도급사 · 지분 표기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관련분야 사업실적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제안사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2.2.1 실적에서 검증된 기술의 본 사업 적용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2.2 본 사업 적용 사례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(검증된 것만 가져옴) 근거를 함께 보여 주는 응답, 답변을 자동으로 채점하는 평가, 학생이 쓰기 쉬운 교육 서비스 UX —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세 가지 검증 기술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그대로 챗봇 고도화에 적용함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Trading AI Agent (에스케이㈜, 2026)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0800" y="2682000"/>
            <a:ext cx="6332400" cy="129294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2718000"/>
            <a:ext cx="6224400" cy="125694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(근거 기반 응답) 자연어 질의에 </a:t>
            </a:r>
            <a:r>
              <a:rPr sz="1100" b="1">
                <a:solidFill>
                  <a:srgbClr val="0462DA"/>
                </a:solidFill>
                <a:latin typeface="맑은 고딕"/>
                <a:ea typeface="맑은 고딕"/>
                <a:cs typeface="맑은 고딕"/>
              </a:rPr>
              <a:t>근거 데이터의 정확한 위치를 함께 제시</a:t>
            </a: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하는 추적 가능한 응답 구조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(본 사업 적용) 출처 카드 · 규정 조문(규정명·조·항·호) 표시, 근거 없는 질의 확인 불가 안내 (SFR-01·05)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02400" y="4079339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2400" y="4064939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MES AI Agent 'MOSAIC' (SK하이닉스, 2026)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0800" y="4388940"/>
            <a:ext cx="6332400" cy="129294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4800" y="4424940"/>
            <a:ext cx="6224400" cy="125694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(자동 평가) Judge Agent가 정확성 · 관련성 · </a:t>
            </a:r>
            <a:r>
              <a:rPr sz="1100" b="1">
                <a:solidFill>
                  <a:srgbClr val="0462DA"/>
                </a:solidFill>
                <a:latin typeface="맑은 고딕"/>
                <a:ea typeface="맑은 고딕"/>
                <a:cs typeface="맑은 고딕"/>
              </a:rPr>
              <a:t>근거 충실도</a:t>
            </a: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를 기준으로 답변을 자동 채점, 실행 이력 통합 관제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(본 사업 적용) 평가셋 회귀평가 · 할루시네이션 의심 답변 선별 · 품질 대시보드 (SFR-13, QUR-03)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02400" y="578628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92400" y="577188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국립중앙박물관 교육 플랫폼 '모두' (2023~2025)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80800" y="6095880"/>
            <a:ext cx="6332400" cy="129294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34800" y="6131880"/>
            <a:ext cx="6224400" cy="125694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(교육 서비스 UX) 프로그램 탐색 · 신청 · 콘텐츠 운영, </a:t>
            </a:r>
            <a:r>
              <a:rPr sz="1100" b="1">
                <a:solidFill>
                  <a:srgbClr val="0462DA"/>
                </a:solidFill>
                <a:latin typeface="맑은 고딕"/>
                <a:ea typeface="맑은 고딕"/>
                <a:cs typeface="맑은 고딕"/>
              </a:rPr>
              <a:t>iF Design Award 2023 Website 부문 수상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(본 사업 적용) 단일 진입점 UI, 위젯 · 전체화면 모드, 출처 카드 디자인, KWCAG 2.2 (SFR-09)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16800" y="7478820"/>
            <a:ext cx="148410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316800" y="747882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근거 제시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2800" y="7766820"/>
            <a:ext cx="141210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출처·조문 (SFR-05)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1811700" y="791261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908900" y="7478820"/>
            <a:ext cx="148410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1908900" y="747882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자동 평가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944900" y="7766820"/>
            <a:ext cx="141210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회귀평가 (SFR-13)</a:t>
            </a:r>
          </a:p>
        </p:txBody>
      </p:sp>
      <p:sp>
        <p:nvSpPr>
          <p:cNvPr id="49" name="Isosceles Triangle 48"/>
          <p:cNvSpPr/>
          <p:nvPr/>
        </p:nvSpPr>
        <p:spPr>
          <a:xfrm rot="5400000">
            <a:off x="3403800" y="791261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3501000" y="7478820"/>
            <a:ext cx="148410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ound Same Side Corner Rectangle 50"/>
          <p:cNvSpPr/>
          <p:nvPr/>
        </p:nvSpPr>
        <p:spPr>
          <a:xfrm>
            <a:off x="3501000" y="747882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품질 관제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537000" y="7766820"/>
            <a:ext cx="141210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대시보드 (SFR-15)</a:t>
            </a:r>
          </a:p>
        </p:txBody>
      </p:sp>
      <p:sp>
        <p:nvSpPr>
          <p:cNvPr id="53" name="Isosceles Triangle 52"/>
          <p:cNvSpPr/>
          <p:nvPr/>
        </p:nvSpPr>
        <p:spPr>
          <a:xfrm rot="5400000">
            <a:off x="4995900" y="791261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5093100" y="7478820"/>
            <a:ext cx="148410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ound Same Side Corner Rectangle 54"/>
          <p:cNvSpPr/>
          <p:nvPr/>
        </p:nvSpPr>
        <p:spPr>
          <a:xfrm>
            <a:off x="5093100" y="747882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학생 UX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129100" y="7766820"/>
            <a:ext cx="141210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위젯 (SFR-09)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사업 이해 및 추진 전략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Ⅱ.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사업 이해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1차 자산 승계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목표 시스템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추진 전략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사업 이해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사업 이해 및 추진 전략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취업포털 챗봇에서 학생 통합 AI 안내 창구로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사업 배경 및 목표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(1차 → 2차) 1차년도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취업포털 RAG 챗봇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승계해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진로·취업 + 규정집 + 대학생활·시설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3개 영역을 하나의 창구로 통합하고, 개인화 · 품질 관리 체계를 더해 지속 운영 기반을 만듦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3913968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2347650"/>
                <a:gridCol w="273892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1차년도 (현재)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2차년도 (본 사업)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안내 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취업포털 콘텐츠 (진로·취업)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진로·취업 + 규정집 + 대학생활·시설 (3개 에이전트)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진입점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취업포털 챗봇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단일 진입점 + 자동 라우팅, 대표 홈페이지 · 취업포털 위젯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검색 품질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기본 RAG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하이브리드 검색 · 재순위화 · 표 구조 보존 · 유효기간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SSO 로그인, 프로필, 개인 지식공간, 맞춤 추천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기본 관리자 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부서별 권한 · 피드백 워크플로 · 동의어 · 자동 회귀평가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외부 API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Multi-LLM 추상화 + 온프레미스 LLM 전환 구조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316800" y="6379970"/>
            <a:ext cx="6260400" cy="670928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16800" y="6379970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4799" y="6423170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학생의 시간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4799" y="6667970"/>
            <a:ext cx="5540400" cy="382928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흩어진 포털 · 홈페이지 · 규정집을 찾아다니지 않고 한 번의 질문으로 근거와 바로가기 링크까지 받습니다.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16800" y="7140898"/>
            <a:ext cx="6260400" cy="670928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16800" y="7140898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4799" y="7184098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상담 인력의 시간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4799" y="7428898"/>
            <a:ext cx="5540400" cy="382928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반복되는 단순 문의를 챗봇이 응대하고, 상담이 필요한 질의는 상담 신청 · 담당자로 연결해 심층 상담에 집중하게 합니다.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16800" y="7901827"/>
            <a:ext cx="6260400" cy="670928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16800" y="7901827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4799" y="7945027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앵커사업 성과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4799" y="8189827"/>
            <a:ext cx="5540400" cy="382928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이용 실적 · 답변 품질 지표를 성과 보고 양식으로 바로 내려받아 취 · 창업 지원 성과관리에 씁니다.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사업 이해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사업 이해 및 추진 전략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1.2.1 과업 범위와 3개월 내 완성을 위한 우선순위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1.2 사업 범위 및 우선순위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(핵심 먼저, 확장은 같은 틀로) 시범 오픈(약 8주) 전에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지식베이스 · 3개 안내 기능 · 출처 표기 · 관리자 기능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먼저 검증하고, 개인화 · 고도화 기능은 같은 모듈 구조 위에 순차 반영함 (PMR-02)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399" cy="4823240"/>
        </p:xfrm>
        <a:graphic>
          <a:graphicData uri="http://schemas.openxmlformats.org/drawingml/2006/table">
            <a:tbl>
              <a:tblPr firstRow="0" bandRow="0"/>
              <a:tblGrid>
                <a:gridCol w="939059"/>
                <a:gridCol w="2817180"/>
                <a:gridCol w="1408590"/>
                <a:gridCol w="109557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우선순위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 시점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① 시범 오픈 필수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1차 자산 승계 · 지식베이스 (취업 · 규정 · 홈페이지)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SFR-02·04·06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① 시범 오픈 필수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3개 에이전트 · 자동 라우팅 · 출처 표기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SFR-05·07·08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① 시범 오픈 필수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UI/UX 개편 · 위젯 · 관리자 콘솔 · SSO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SFR-09·14, INR-01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② 정식 오픈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권한 체계 · 피드백 워크플로 · 동의어 · 통계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SFR-10·11·12·15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② 정식 오픈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답변 품질 자동화 · 회귀평가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SFR-13, QUR-03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② 정식 오픈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학생 프로필 · 개인 지식공간 · 맞춤 추천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SFR-16·17·18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W11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③ 조건부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온프레미스 LLM 검토 보고서 (필수) · 구성 (GPU 확보 시)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SFR-19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W6 / 협의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280800" y="7289244"/>
            <a:ext cx="6332400" cy="969875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06799" y="7343244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예산 대비 범위를 지키는 방법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6799" y="7541244"/>
            <a:ext cx="6080400" cy="663875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19개 기능을 각각 개발하지 않고, '영역별 지식베이스 + 에이전트 + 공통 품질 · 권한 모듈' 하나의 틀에 설정으로 얹습니다. 규정집 · 홈페이지 수집은 공통 수집기 하나에 사이트별 규칙만 추가하여 개발량을 줄입니다.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80800" y="8331119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세부 기능 목록 · 수집 대상 사이트 수 · 프로필 항목은 요구분석(W1~W2)에서 확정하여 요구사항정의서로 관리 (SFR-01)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1차 자산 승계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사업 이해 및 추진 전략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1차 자산 분석 · 승계 절차와 재사용 판단 기준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1차 구축 자산 분석 · 승계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(버리지 않고 이어 씀) 착수 2주 안에 1차 챗봇의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소스 · 지식베이스 · 관리자 기능 · 운영환경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진단하고, 재사용 · 개선 · 교체를 항목별로 판정해 승계 계획서로 확정함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6800" y="2358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4800" y="2358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자산 인수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234800" y="2430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324800" y="246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소스 · 형상 저장소 · 산출물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446999" y="246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지식베이스 · 인덱스 · 운영 설정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569200" y="2358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W1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3096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4800" y="3096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진단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234800" y="3167999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324800" y="320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아키텍처 · 기술 스택 · 의존성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446999" y="320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평가셋 기준 현재 답변 품질 측정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569200" y="3096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기준선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16800" y="3834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34800" y="3834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판정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234800" y="3906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1324800" y="394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재사용 / 개선 / 교체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446999" y="394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판정 근거 · 영향 범위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569200" y="3834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승계 계획서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16800" y="4572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34800" y="4572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이관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234800" y="4644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1324800" y="4680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운영 무중단 이관 (병행 운영)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446999" y="4680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기존 대화 · 피드백 데이터 이전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569200" y="4572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W3</a:t>
            </a:r>
          </a:p>
        </p:txBody>
      </p:sp>
      <p:graphicFrame>
        <p:nvGraphicFramePr>
          <p:cNvPr id="54" name="Table 53"/>
          <p:cNvGraphicFramePr>
            <a:graphicFrameLocks noGrp="1"/>
          </p:cNvGraphicFramePr>
          <p:nvPr/>
        </p:nvGraphicFramePr>
        <p:xfrm>
          <a:off x="316800" y="5364000"/>
          <a:ext cx="6260400" cy="3245312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2504160"/>
                <a:gridCol w="234765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승계 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판정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예상 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취업포털 지식베이스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콘텐츠 최신성 · 메타데이터 유무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재사용 + 메타데이터(게시일 · 유효기간) 보강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RAG 파이프라인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청킹 · 임베딩 · 검색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하이브리드 검색 · 재순위화 추가 (개선)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관리자 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다중 도메인 · 권한 지원 여부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에이전트 · 부서 권한 구조로 확장 (개선)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운영환경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온프레미스 구성 · 보안 게이트웨이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컨테이너 단위 재배치 (재사용)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대화 · 피드백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개인정보 포함 여부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암호화 후 이관 → 평가셋 후보로 활용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5" name="TextBox 54"/>
          <p:cNvSpPr txBox="1"/>
          <p:nvPr/>
        </p:nvSpPr>
        <p:spPr>
          <a:xfrm>
            <a:off x="280800" y="8681313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1차 구축사 · 기술 스택 · 소스 제공 범위: </a:t>
            </a:r>
            <a:r>
              <a:rPr sz="95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【질의 후 확인】</a:t>
            </a:r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 — 미제공 시 동일 기능을 공통 모듈로 재구현하고 지식베이스는 원천 재수집으로 승계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목표 시스템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사업 이해 및 추진 전략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목표 시스템 아키텍처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목표 시스템 구성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(모듈 단위 · 공급자 무종속) 수집 · 지식베이스 · 에이전트 · 서비스 계층을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컨테이너 단위로 분리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LLM은 추상화 계층 뒤에 두어 외부 API와 온프레미스 LLM을 설정으로 바꿈 (SFR-01, INR-02)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SFR-01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4874400" cy="396000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1044000" cy="39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사용자 접점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32800" y="2430000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대표 홈페이지 위젯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363400" y="2430000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취업포털 위젯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294000" y="2430000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전체화면 챗봇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24600" y="2430000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관리자 · 부서 콘솔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81200" y="2358000"/>
            <a:ext cx="1296000" cy="396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SSO · 비로그인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2818800"/>
            <a:ext cx="4874400" cy="396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2818800"/>
            <a:ext cx="1044000" cy="39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서비스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432800" y="2890800"/>
            <a:ext cx="11868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대화 · 스트리밍 · 멀티턴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673600" y="2890800"/>
            <a:ext cx="11868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개인화 (프로필 · 개인 지식공간)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914400" y="2890800"/>
            <a:ext cx="11868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피드백 · 통계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281200" y="2818800"/>
            <a:ext cx="1296000" cy="396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REST API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6800" y="3279600"/>
            <a:ext cx="4874400" cy="396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34800" y="3279600"/>
            <a:ext cx="1044000" cy="39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432800" y="3351599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라우터 (의도 분류)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363400" y="3351599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취업 · 진로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294000" y="3351599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규정집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224600" y="3351599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대학생활 · 시설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281200" y="3279600"/>
            <a:ext cx="1296000" cy="396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관리자 추가 가능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16800" y="3740400"/>
            <a:ext cx="4874400" cy="396000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34800" y="3740400"/>
            <a:ext cx="1044000" cy="39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지식 · 검색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432800" y="3812400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하이브리드 검색 · 재순위화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363400" y="3812400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벡터 DB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294000" y="3812400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동의어 사전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224600" y="3812400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권한 필터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281200" y="3740400"/>
            <a:ext cx="1296000" cy="396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영역별 지식베이스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16800" y="4201200"/>
            <a:ext cx="4874400" cy="396000"/>
          </a:xfrm>
          <a:prstGeom prst="rect">
            <a:avLst/>
          </a:prstGeom>
          <a:solidFill>
            <a:srgbClr val="2B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34800" y="4201200"/>
            <a:ext cx="1044000" cy="39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수집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432800" y="4273200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취업포털 수집기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363400" y="4273200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규정집 파서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3294000" y="4273200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홈페이지 크롤러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224600" y="4273200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증분 재인덱싱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281200" y="4201200"/>
            <a:ext cx="1296000" cy="396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1일 1회 이상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16800" y="4662000"/>
            <a:ext cx="4874400" cy="396000"/>
          </a:xfrm>
          <a:prstGeom prst="rect">
            <a:avLst/>
          </a:prstGeom>
          <a:solidFill>
            <a:srgbClr val="5B7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34800" y="4662000"/>
            <a:ext cx="1044000" cy="39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LLM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1432800" y="4733999"/>
            <a:ext cx="11868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LLM 추상화 계층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2673600" y="4733999"/>
            <a:ext cx="11868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외부 LLM API (보안 게이트웨이)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3914400" y="4733999"/>
            <a:ext cx="11868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온프레미스 LLM (조건부)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281200" y="4662000"/>
            <a:ext cx="1296000" cy="396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Multi-LLM</a:t>
            </a:r>
          </a:p>
        </p:txBody>
      </p:sp>
      <p:graphicFrame>
        <p:nvGraphicFramePr>
          <p:cNvPr id="71" name="Table 70"/>
          <p:cNvGraphicFramePr>
            <a:graphicFrameLocks noGrp="1"/>
          </p:cNvGraphicFramePr>
          <p:nvPr/>
        </p:nvGraphicFramePr>
        <p:xfrm>
          <a:off x="316800" y="5194800"/>
          <a:ext cx="6260400" cy="3314307"/>
        </p:xfrm>
        <a:graphic>
          <a:graphicData uri="http://schemas.openxmlformats.org/drawingml/2006/table">
            <a:tbl>
              <a:tblPr firstRow="0" bandRow="0"/>
              <a:tblGrid>
                <a:gridCol w="1721610"/>
                <a:gridCol w="4538790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SFR-01 공통 요구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근거 기반 답변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사실정보는 RAG · 연계 데이터 근거로만 생성, 근거 없으면 확인 불가 + 소관부서 안내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 기반 권한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학생 · 상담사 · 부서 담당자 · 관리자 4개 역할 (RBAC)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로깅 · 스트리밍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접속(IP · ID · 시각) · 질의 · 답변 로깅, SSE 스트리밍, 멀티턴 맥락 유지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모듈 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영역별 지식베이스 · 에이전트를 모듈 단위로 분리 — 산학협력 · 평생교육 영역 추가 시 설정만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추진 전략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사업 이해 및 추진 전략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4.1.1 추진 전략과 성과 목표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4.1 추진 전략 및 차별화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(정확한 근거 · 계속되는 품질) 3개월 안에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답변 정확도 90% · 근거 정합성 90% · 할루시네이션 3% 이하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달성하고, 오픈 이후에도 품질이 떨어지지 않는 자동 관리 체계를 함께 넘겨드림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6800" y="2358000"/>
            <a:ext cx="14841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4800" y="2412000"/>
            <a:ext cx="13221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90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%↑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4800" y="2808000"/>
            <a:ext cx="13221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답변 정확도 ·
근거 정합성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908900" y="2358000"/>
            <a:ext cx="14841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908900" y="2358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016900" y="2412000"/>
            <a:ext cx="13221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3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016900" y="2808000"/>
            <a:ext cx="13221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할루시네이션율
(정식 오픈 전)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501000" y="2358000"/>
            <a:ext cx="14841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501000" y="2358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09000" y="2412000"/>
            <a:ext cx="13221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90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%↑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09000" y="2808000"/>
            <a:ext cx="13221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라우팅 정확도
(평가셋 기준)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93100" y="2358000"/>
            <a:ext cx="14841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093100" y="2358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201100" y="2412000"/>
            <a:ext cx="13221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300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건↑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201100" y="2808000"/>
            <a:ext cx="13221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평가셋 문항
(영역별 150↑)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16800" y="3348000"/>
            <a:ext cx="6260400" cy="935652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16800" y="3348000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64799" y="3391200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근거가 보이는 답변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4799" y="3636000"/>
            <a:ext cx="5540400" cy="349887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모든 사실 답변에 출처 카드(사이트 · 게시일 · 링크)와 규정 조문(규정명 · 조 · 항 · 호)을 붙이고, 마감 · 만료 정보는 그 사실을 명시합니다.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64799" y="4003887"/>
            <a:ext cx="5540400" cy="261765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18799" y="4039887"/>
            <a:ext cx="5432400" cy="207765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sz="90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근거 없으면 추측하지 않고 소관부서 안내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16800" y="4373652"/>
            <a:ext cx="6260400" cy="6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16800" y="4373652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4799" y="4416852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한 창구, 세 에이전트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64799" y="4661652"/>
            <a:ext cx="5540400" cy="349887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질문 의도를 자동으로 나눠 취업 · 규정 · 대학생활 에이전트로 보내고, 여러 영역에 걸친 질문은 결과를 합쳐 한 답변으로 드립니다.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16800" y="5111652"/>
            <a:ext cx="6260400" cy="6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16800" y="5111652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64799" y="5154852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떨어지지 않는 품질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4799" y="5399652"/>
            <a:ext cx="5540400" cy="349887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콘텐츠 · 프롬프트 · 모델이 바뀔 때마다 평가셋 회귀평가를 자동 실행하고 기준 미달이면 운영 반영을 보류합니다.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16800" y="5849652"/>
            <a:ext cx="6260400" cy="6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316800" y="5849652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64799" y="5892852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부서가 직접 운영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64799" y="6137652"/>
            <a:ext cx="5540400" cy="349887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부서별 데이터 권한 · 피드백 배정 · 동의어 사전을 부서 담당자 화면에서 직접 관리해 개발사 없이도 답변을 고칩니다.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80800" y="6623652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평가 항목별 제안 위치 &gt;</a:t>
            </a:r>
          </a:p>
        </p:txBody>
      </p:sp>
      <p:graphicFrame>
        <p:nvGraphicFramePr>
          <p:cNvPr id="65" name="Table 64"/>
          <p:cNvGraphicFramePr>
            <a:graphicFrameLocks noGrp="1"/>
          </p:cNvGraphicFramePr>
          <p:nvPr/>
        </p:nvGraphicFramePr>
        <p:xfrm>
          <a:off x="316800" y="6857652"/>
          <a:ext cx="6260400" cy="2247774"/>
        </p:xfrm>
        <a:graphic>
          <a:graphicData uri="http://schemas.openxmlformats.org/drawingml/2006/table">
            <a:tbl>
              <a:tblPr firstRow="0" bandRow="0"/>
              <a:tblGrid>
                <a:gridCol w="1799865"/>
                <a:gridCol w="547785"/>
                <a:gridCol w="2738925"/>
                <a:gridCol w="1173825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평가 요소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핵심 제안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제안서 위치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 이해 · 방향 · 전략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1차 자산 승계 · 3개 영역 통합 · 우선순위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Ⅱ장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관련분야 사업실적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생성형 AI Agent · 교육 플랫폼 실적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Ⅰ장 2절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창의성 · 우수성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근거 카드 · 자동 라우팅 · 자동 회귀평가 · 개인 RAG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Ⅲ장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· 기술 · 보안 · 조직 · 일정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공개 SW 0원 · OWASP LLM · 13주 일정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Ⅳ장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유지보수 · 교육 · 기술지원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2주 시범운영 · AI 리터러시 · 1년 하자보수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Ⅴ장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제안 내용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Ⅲ.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진로·취업 챗봇 고도화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규정집 안내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대학생활·시설 안내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에이전트 · UI/UX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운영 · 품질 관리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개인화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LLM 운용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진로·취업 챗봇 고도화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제안 내용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하이브리드 검색 · 표 구조 · 유효기간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답변 품질 고도화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(찾는 정확도가 답의 정확도) 키워드 + 의미 검색을 합치고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재순위화 · 메타데이터 필터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근거를 고르며, 첨부 HWP · PDF의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표 구조를 보존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 마감된 공고는 마감 사실을 명시함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SFR-02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질의 확장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동의어 · 약어 사전 (SFR-12)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멀티턴 맥락 반영 재작성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확장 질의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41999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3041999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하이브리드 검색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13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324800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BM25 키워드 검색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벡터 의미 검색 → 점수 결합 (RRF)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41999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후보 50건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726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726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필터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797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유효기간 · 게시일 · 영역 · 권한 메타데이터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마감 정보 별도 표시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726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유효 후보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410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410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재순위화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482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324800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Cross-encoder Re-ranker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상위 근거 5~8건 선택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410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최종 근거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16800" y="5094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34800" y="5094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답변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234800" y="5166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1324800" y="5202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근거 인용 생성 · 출처 카드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446999" y="5202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근거 부족 시 확인 불가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569200" y="5094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스트리밍</a:t>
            </a:r>
          </a:p>
        </p:txBody>
      </p:sp>
      <p:graphicFrame>
        <p:nvGraphicFramePr>
          <p:cNvPr id="61" name="Table 60"/>
          <p:cNvGraphicFramePr>
            <a:graphicFrameLocks noGrp="1"/>
          </p:cNvGraphicFramePr>
          <p:nvPr/>
        </p:nvGraphicFramePr>
        <p:xfrm>
          <a:off x="316800" y="5832000"/>
          <a:ext cx="6260400" cy="1930824"/>
        </p:xfrm>
        <a:graphic>
          <a:graphicData uri="http://schemas.openxmlformats.org/drawingml/2006/table">
            <a:tbl>
              <a:tblPr firstRow="0" bandRow="0"/>
              <a:tblGrid>
                <a:gridCol w="1643355"/>
                <a:gridCol w="461704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세부 요구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 · 첨부 구조 보존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HWP · PDF · DOCX 파서로 표를 행 · 열 구조(Markdown 표)로 보존, 표 단위 청크 + 표 제목 · 머리글 반복 부착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시점 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모집기간 · 신청기한 메타데이터 추출 → 현재 유효 정보 우선, 마감 건은 ‘마감됨(마감일)’ 표기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회귀평가 후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프롬프트 · 검색 설정 변경은 평가셋 회귀평가 통과 시에만 운영 반영 (SFR-13)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2" name="Rectangle 61"/>
          <p:cNvSpPr/>
          <p:nvPr/>
        </p:nvSpPr>
        <p:spPr>
          <a:xfrm>
            <a:off x="316800" y="7870823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316800" y="7870823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24800" y="7924823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90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%↑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4800" y="8320823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답변 정확도
(진로·취업 150문항)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439600" y="7870823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2439600" y="7870823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547600" y="7924823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건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547600" y="8320823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마감 공고를
유효로 안내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562400" y="7870823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562400" y="7870823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670400" y="7924823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5~8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건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670400" y="8320823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재순위화 후
최종 근거 수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진로·취업 챗봇 고도화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제안 내용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1.2.1 바로가기 · 추천 · 상담 연계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1.2 기능 확장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(답에서 행동까지) 질의 의도에 맞는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프로그램 · 공지 · 신청 페이지 바로가기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답변과 함께 주고, 상담이 필요한 질의는 상담 신청 · 담당자로 연결함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SFR-03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14976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16800" y="2358000"/>
            <a:ext cx="14976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바로가기 링크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2617200"/>
            <a:ext cx="14256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의도별 링크 카드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신청 · 공지 · 프로그램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904400" y="2358000"/>
            <a:ext cx="14976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904400" y="2358000"/>
            <a:ext cx="14976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추천 질문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940400" y="2617200"/>
            <a:ext cx="14256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관리자 직접 설정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이용 통계 자동 추천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492000" y="2358000"/>
            <a:ext cx="14976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492000" y="2358000"/>
            <a:ext cx="14976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상담 연계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28000" y="2617200"/>
            <a:ext cx="14256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상담 신청 페이지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담당자 연락처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79600" y="2358000"/>
            <a:ext cx="14976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079600" y="2358000"/>
            <a:ext cx="14976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대화 이력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115600" y="2617200"/>
            <a:ext cx="14256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로그인 사용자 조회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대화 내용 복사</a:t>
            </a:r>
          </a:p>
        </p:txBody>
      </p:sp>
      <p:graphicFrame>
        <p:nvGraphicFramePr>
          <p:cNvPr id="43" name="Table 42"/>
          <p:cNvGraphicFramePr>
            <a:graphicFrameLocks noGrp="1"/>
          </p:cNvGraphicFramePr>
          <p:nvPr/>
        </p:nvGraphicFramePr>
        <p:xfrm>
          <a:off x="316800" y="3834000"/>
          <a:ext cx="6260400" cy="3381076"/>
        </p:xfrm>
        <a:graphic>
          <a:graphicData uri="http://schemas.openxmlformats.org/drawingml/2006/table">
            <a:tbl>
              <a:tblPr firstRow="0" bandRow="0"/>
              <a:tblGrid>
                <a:gridCol w="2034630"/>
                <a:gridCol w="1095570"/>
                <a:gridCol w="3130200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질의 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의도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답변 + 연결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“이번 주 마감인 IT 채용 공고 있어?”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채용정보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유효 공고 목록 + 공고 상세 링크 (마감 임박 표시)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“자소서 첨삭 프로그램 신청하고 싶어”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취업지원 프로그램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프로그램 요약 + 신청 페이지 바로가기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“비교과 마일리지는 어디서 확인해?”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비교과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확인 방법 + 비교과 시스템 링크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“진로 고민인데 상담 받고 싶어”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상담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상담 유형 안내 + 상담 신청 페이지 · 담당자 연락처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4" name="Rounded Rectangle 43"/>
          <p:cNvSpPr/>
          <p:nvPr/>
        </p:nvSpPr>
        <p:spPr>
          <a:xfrm>
            <a:off x="316800" y="7323076"/>
            <a:ext cx="148410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316800" y="7323076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의도 분류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2800" y="7611076"/>
            <a:ext cx="141210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채용·프로그램·상담</a:t>
            </a:r>
          </a:p>
        </p:txBody>
      </p:sp>
      <p:sp>
        <p:nvSpPr>
          <p:cNvPr id="47" name="Isosceles Triangle 46"/>
          <p:cNvSpPr/>
          <p:nvPr/>
        </p:nvSpPr>
        <p:spPr>
          <a:xfrm rot="5400000">
            <a:off x="1811700" y="791887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1908900" y="7323076"/>
            <a:ext cx="148410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 Same Side Corner Rectangle 48"/>
          <p:cNvSpPr/>
          <p:nvPr/>
        </p:nvSpPr>
        <p:spPr>
          <a:xfrm>
            <a:off x="1908900" y="7323076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근거 답변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944900" y="7611076"/>
            <a:ext cx="141210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출처 카드</a:t>
            </a:r>
          </a:p>
        </p:txBody>
      </p:sp>
      <p:sp>
        <p:nvSpPr>
          <p:cNvPr id="51" name="Isosceles Triangle 50"/>
          <p:cNvSpPr/>
          <p:nvPr/>
        </p:nvSpPr>
        <p:spPr>
          <a:xfrm rot="5400000">
            <a:off x="3403800" y="791887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3501000" y="7323076"/>
            <a:ext cx="148410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ound Same Side Corner Rectangle 52"/>
          <p:cNvSpPr/>
          <p:nvPr/>
        </p:nvSpPr>
        <p:spPr>
          <a:xfrm>
            <a:off x="3501000" y="7323076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링크 카드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537000" y="7611076"/>
            <a:ext cx="141210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신청·공지 이동</a:t>
            </a:r>
          </a:p>
        </p:txBody>
      </p:sp>
      <p:sp>
        <p:nvSpPr>
          <p:cNvPr id="55" name="Isosceles Triangle 54"/>
          <p:cNvSpPr/>
          <p:nvPr/>
        </p:nvSpPr>
        <p:spPr>
          <a:xfrm rot="5400000">
            <a:off x="4995900" y="791887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5093100" y="7323076"/>
            <a:ext cx="148410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ound Same Side Corner Rectangle 56"/>
          <p:cNvSpPr/>
          <p:nvPr/>
        </p:nvSpPr>
        <p:spPr>
          <a:xfrm>
            <a:off x="5093100" y="7323076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상담 연결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129100" y="7611076"/>
            <a:ext cx="141210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필요 시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80800" y="8691076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확장 기능 세부 목록은 요구분석 단계에서 확정. 추천 질문은 도메인별 최대 </a:t>
            </a:r>
            <a:r>
              <a:rPr sz="95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【8개】</a:t>
            </a:r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 노출, 관리자 지정 우선 + 최근 2주 인기 질의 자동 보충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규정집 안내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제안 내용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조문 계층 파싱 · 개정 이력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규정집 수집 및 구조화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(조문 단위로 쪼개야 조문으로 답함) 현행 규정 전체를 목록화하고 원문을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편 · 장 · 절 · 조 · 항 · 호 계층 구조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파싱하며, 별표 · 서식 · 부칙과 시행일 · 개정 이력을 함께 관리함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SFR-04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720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72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목록화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576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규정명 · 소관부서 · 시행일 · 최종 개정일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발주기관 확인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720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규정 목록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150000"/>
            <a:ext cx="5162400" cy="720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3150000"/>
            <a:ext cx="864000" cy="72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파싱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221999"/>
            <a:ext cx="7200" cy="576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324800" y="3258000"/>
            <a:ext cx="20322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HWP · PDF · HTML → 계층 구조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258000"/>
            <a:ext cx="20322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조문 번호 정규화 (제○조의2 등)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150000"/>
            <a:ext cx="1007999" cy="720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조문 트리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941999"/>
            <a:ext cx="5162400" cy="720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941999"/>
            <a:ext cx="864000" cy="72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연결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4013999"/>
            <a:ext cx="7200" cy="576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4050000"/>
            <a:ext cx="20322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부칙 · 별표 · 서식 연결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4050000"/>
            <a:ext cx="20322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표 형식 별표 구조 보존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941999"/>
            <a:ext cx="1007999" cy="720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연결 조문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733999"/>
            <a:ext cx="5162400" cy="720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733999"/>
            <a:ext cx="864000" cy="72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이력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805999"/>
            <a:ext cx="7200" cy="576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324800" y="4842000"/>
            <a:ext cx="20322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시행일 · 개정 이력 메타데이터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842000"/>
            <a:ext cx="20322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현행 우선 · 폐지 규정 제외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733999"/>
            <a:ext cx="1007999" cy="720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버전 관리</a:t>
            </a:r>
          </a:p>
        </p:txBody>
      </p:sp>
      <p:graphicFrame>
        <p:nvGraphicFramePr>
          <p:cNvPr id="55" name="Table 54"/>
          <p:cNvGraphicFramePr>
            <a:graphicFrameLocks noGrp="1"/>
          </p:cNvGraphicFramePr>
          <p:nvPr/>
        </p:nvGraphicFramePr>
        <p:xfrm>
          <a:off x="316800" y="5579999"/>
          <a:ext cx="6260399" cy="1796096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1799865"/>
                <a:gridCol w="3208454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갱신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절차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수집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규정 관리 시스템 수집 가능 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 1회 변경 감지 → 해당 규정만 재파싱 → 신구 버전 저장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콘솔 등록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수집 불가 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소관부서 담당자가 관리자 콘솔에서 개정 · 신설 · 폐지 등록 → 승인 후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6" name="Rectangle 55"/>
          <p:cNvSpPr/>
          <p:nvPr/>
        </p:nvSpPr>
        <p:spPr>
          <a:xfrm>
            <a:off x="280800" y="7484097"/>
            <a:ext cx="6332400" cy="969875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06799" y="7538097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조문 트리가 주는 차이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06799" y="7736097"/>
            <a:ext cx="6080400" cy="663875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‘제12조 제2항 제3호’까지 위치를 가진 조문 단위로 저장하므로, 답변이 규정 전체가 아니라 해당 조 · 항 · 호를 정확히 가리키고, 준용 · 위임 조항도 번호로 따라갈 수 있습니다.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규정집 안내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제안 내용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2.2.1 조문 근거 · 참조 추적 · 신구 대비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2.2 규정집 안내 챗봇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(해석하지 않고 근거를 보여 줌) 관련 조문을 찾아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규정명 · 조 · 항 · 호와 원문 링크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답하고, 준용 · 위임 관계와 상위 · 하위 규정을 구분해 함께 보여 주며, 최종 해석은 소관부서로 안내함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SFR-05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4107144"/>
        </p:xfrm>
        <a:graphic>
          <a:graphicData uri="http://schemas.openxmlformats.org/drawingml/2006/table">
            <a:tbl>
              <a:tblPr firstRow="0" bandRow="0"/>
              <a:tblGrid>
                <a:gridCol w="1643355"/>
                <a:gridCol w="461704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세부 요구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근거 조문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답변 하단 조문 카드: 규정명 · 제○조 제○항 제○호 · 시행일 · 원문 링크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준용 · 위임 추적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조문 내 ‘제○조를 준용’ · ‘따로 정한다’ 패턴을 참조 그래프로 저장 → 관련 조문 함께 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상위 · 하위 규정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학칙 → 규정 → 시행세칙 → 지침 위계 태그로 구분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안내 문구 · 연락처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모든 규정 답변에 ‘규정 해석의 최종 확인은 소관부서에서 한다’ + 소관부서 연락처 고정 부착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근거 없는 질의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조문 근거 점수 기준 미달 시 해석 · 추정 없이 확인 불가 안내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신구조문 대비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개정 전 · 후 조문을 좌우 비교 표로 조회 (변경 부분 강조)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316800" y="6573146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 Same Side Corner Rectangle 32"/>
          <p:cNvSpPr/>
          <p:nvPr/>
        </p:nvSpPr>
        <p:spPr>
          <a:xfrm>
            <a:off x="316800" y="657314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질의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6861146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“휴학은 몇 학기까지?”</a:t>
            </a:r>
          </a:p>
        </p:txBody>
      </p:sp>
      <p:sp>
        <p:nvSpPr>
          <p:cNvPr id="35" name="Isosceles Triangle 34"/>
          <p:cNvSpPr/>
          <p:nvPr/>
        </p:nvSpPr>
        <p:spPr>
          <a:xfrm rot="5400000">
            <a:off x="1493280" y="711494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590480" y="6573146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1590480" y="657314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조문 검색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26480" y="6861146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학칙 · 학사규정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2766960" y="711494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864160" y="6573146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2864160" y="657314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참조 추적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00160" y="6861146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준용 · 위임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4040640" y="711494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137840" y="6573146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4137840" y="657314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위계 구분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73840" y="6861146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상위 · 하위</a:t>
            </a:r>
          </a:p>
        </p:txBody>
      </p:sp>
      <p:sp>
        <p:nvSpPr>
          <p:cNvPr id="47" name="Isosceles Triangle 46"/>
          <p:cNvSpPr/>
          <p:nvPr/>
        </p:nvSpPr>
        <p:spPr>
          <a:xfrm rot="5400000">
            <a:off x="5314320" y="711494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411520" y="6573146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 Same Side Corner Rectangle 48"/>
          <p:cNvSpPr/>
          <p:nvPr/>
        </p:nvSpPr>
        <p:spPr>
          <a:xfrm>
            <a:off x="5411520" y="657314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답변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47520" y="6861146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조문 카드 + 소관부서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16800" y="7869146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16800" y="7869146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24800" y="7923146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24800" y="8319146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규정 답변 안내 문구 ·
소관부서 연락처 부착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439600" y="7869146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2439600" y="7869146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547600" y="7923146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547600" y="8319146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폐지 규정 근거
사용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562400" y="7869146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562400" y="7869146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670400" y="7923146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90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%↑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670400" y="8319146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근거 정합성
(조문 일치)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대학생활·시설 안내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제안 내용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수집 인벤토리 · 증분 인덱싱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홈페이지 콘텐츠 수집 · 인덱싱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(전수 식별 후 증분 갱신) 대표 홈페이지와 지정 시설 홈페이지의 공개 콘텐츠를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인벤토리(URL · 유형 · 갱신 주기 · 소관부서)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로 확정하고, 신규 · 변경 · 삭제만 감지해 1일 1회 이상 재인덱싱함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SFR-06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655213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3130200"/>
                <a:gridCol w="156510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 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콘텐츠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 주기 (설정 가능)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대표 홈페이지 (www.inha.ac.kr)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공지사항 · 학사일정 · 조직 · 부서 안내 · FAQ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1일 1회 (공지 6시간)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정석학술정보관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운영시간 · 위치 · 이용방법 · 연락처 · 공지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1일 1회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생활관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입사 안내 · 시설 이용 · 공지 · FAQ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1일 1회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학생진로설계포털 (job.inha.ac.kr)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채용 · 프로그램 · 비교과 · 상담 안내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1일 2회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【추가 지정 사이트】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요구분석 단계 확정 (요구사항정의서 붙임)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【주기】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5121216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5121216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변경 감지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34800" y="5193216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324800" y="5229216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사이트맵 · 목록 페이지 비교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446999" y="5229216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본문 해시 비교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569200" y="5121216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신규·변경·삭제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5805215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5805215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수집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34800" y="5877215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324800" y="5913216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본문 + 첨부(HWP · PDF)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446999" y="5913216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게시일 · 게시기간 메타데이터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569200" y="5805215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원문 저장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6800" y="6489215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34800" y="6489215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증분 인덱싱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34800" y="6561215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1324800" y="6597215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변경 건만 재청킹 · 재임베딩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446999" y="6597215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삭제 건 인덱스 제거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569200" y="6489215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최신 인덱스</a:t>
            </a:r>
          </a:p>
        </p:txBody>
      </p:sp>
      <p:graphicFrame>
        <p:nvGraphicFramePr>
          <p:cNvPr id="50" name="Table 49"/>
          <p:cNvGraphicFramePr>
            <a:graphicFrameLocks noGrp="1"/>
          </p:cNvGraphicFramePr>
          <p:nvPr/>
        </p:nvGraphicFramePr>
        <p:xfrm>
          <a:off x="316800" y="7227215"/>
          <a:ext cx="6260400" cy="1827215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469530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 정책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robots · 부하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robots.txt 준수, 요청 간격 </a:t>
                      </a: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【2초】</a:t>
                      </a: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이상, 수집 시간대 02:00~06:00, 동시 연결 </a:t>
                      </a: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【2개】</a:t>
                      </a: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이하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교내망 경로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교내망 내부 수집 서버에서 직접 접근 (외부 경유 없음)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범위 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실시간 개인화 데이터(좌석 · 예약 · 대출 · 선발 결과)는 바로가기만 제공, 조회 연계는 별도 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대학생활·시설 안내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제안 내용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3.2.1 공식 출처 우선 · 만료 처리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3.2 대학생활·시설 콘텐츠 안내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(공식 출처가 이김) 같은 정보가 여러 사이트에 있으면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소관부서가 게시한 공식 출처를 우선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게시기간이 끝난 공지 · 행사는 만료를 명시하거나 안내에서 제외함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SFR-07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247538"/>
        </p:xfrm>
        <a:graphic>
          <a:graphicData uri="http://schemas.openxmlformats.org/drawingml/2006/table">
            <a:tbl>
              <a:tblPr firstRow="0" bandRow="0"/>
              <a:tblGrid>
                <a:gridCol w="2191140"/>
                <a:gridCol w="4069260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질의 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근거 · 답변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“도서관 시험기간 운영시간 알려줘”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정석학술정보관 공지(공식 출처) + 운영시간 표, 게시일 · 링크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“2학기 수강신청 언제야?”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학사일정(대표 홈페이지) 기준, 지난 일정은 ‘종료됨’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“생활관 행정실 전화번호?”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최신 조직 · 부서 안내 기준 연락처, 개편 시 갱신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“열람실 지금 자리 있어?”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실시간 조회 범위 외 → 좌석현황 시스템 바로가기 안내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5713538"/>
            <a:ext cx="20268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16800" y="5713538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공식 출처 우선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5972738"/>
            <a:ext cx="19548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콘텐츠별 소관부서 메타데이터 → 소관부서 게시물 가중치 상향, 출처 사이트 · 링크 표시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433600" y="5713538"/>
            <a:ext cx="20268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433600" y="5713538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만료 정보 처리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69600" y="5972738"/>
            <a:ext cx="19548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게시기간 만료 시 ‘만료’ 표기 또는 안내 제외 (관리자 설정)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50400" y="5713538"/>
            <a:ext cx="20268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50400" y="5713538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조직 정보 갱신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86400" y="5972738"/>
            <a:ext cx="19548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조직 · 부서 안내 페이지 우선 수집, 개편 시 담당자 일괄 갱신 화면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80800" y="7189538"/>
            <a:ext cx="6332400" cy="995608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06799" y="7243538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실시간 데이터는 다음 단계로 열어 둠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06799" y="7441538"/>
            <a:ext cx="6080400" cy="689608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좌석 · 예약 · 대출 · 생활관 선발 결과는 이번 범위에서 바로가기로 안내하되, 같은 에이전트에 연계 도구만 추가하면 조회할 수 있도록 REST 연계 지점을 설계에 포함합니다 (INR-01).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에이전트 · UI/UX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제안 내용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4.1.1 3개 에이전트 · 자동 라우팅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4.1 에이전트 생성 및 자동 라우팅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(한 창구에서 알아서 나눔) 질문 의도를 분석해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취업 · 규정 · 대학생활 에이전트로 자동 라우팅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여러 영역에 걸친 질문은 결과를 합쳐 하나의 답으로 주며, 신뢰도가 낮으면 영역을 고르게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SFR-08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의도 분석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경량 분류 모델 + 키워드 규칙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영역별 신뢰도 점수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신뢰도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96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3096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라우팅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67999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324800" y="320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단일 영역 → 해당 에이전트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20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복수 영역 → 병렬 실행 후 종합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96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834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834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보완 흐름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906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394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신뢰도 &lt; 기준값(관리자 설정)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94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영역 선택지 제시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834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사용자 선택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572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572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학습 · 보정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644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324800" y="4680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라우팅 결과 · 신뢰도 로깅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680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오분류 사례 → 규칙 추가 · 재학습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572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정확도 90%↑</a:t>
            </a:r>
          </a:p>
        </p:txBody>
      </p:sp>
      <p:graphicFrame>
        <p:nvGraphicFramePr>
          <p:cNvPr id="55" name="Table 54"/>
          <p:cNvGraphicFramePr>
            <a:graphicFrameLocks noGrp="1"/>
          </p:cNvGraphicFramePr>
          <p:nvPr/>
        </p:nvGraphicFramePr>
        <p:xfrm>
          <a:off x="316800" y="5364000"/>
          <a:ext cx="6260400" cy="2485328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469530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에이전트 설정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지식베이스 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영역 · 부서 · 공유받은 데이터 단위 지정 (SFR-10 권한 연동)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프롬프트 · 답변 정책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 프롬프트 버전, 고정 안내 문구, 금칙 · 민감 질의 정책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담당 부서 · 사용 LLM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피드백 배정 부서, 에이전트별 모델 선택 (외부 API / 온프레미스)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추가 · 비활성화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소스 수정 없이 콘솔에서 생성 · 수정 · 비활성화 (예: 산학협력 · 평생교육)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6" name="Rectangle 55"/>
          <p:cNvSpPr/>
          <p:nvPr/>
        </p:nvSpPr>
        <p:spPr>
          <a:xfrm>
            <a:off x="316800" y="7957328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16800" y="7957328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24800" y="8011328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3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개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4800" y="8407328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기본 에이전트
(취업 · 규정 · 생활)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39600" y="7957328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439600" y="7957328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547600" y="8011328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90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%↑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547600" y="8407328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라우팅 정확도
(평가셋 기준)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62400" y="7957328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562400" y="7957328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70400" y="8011328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줄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670400" y="8407328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에이전트 추가 시
소스 수정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에이전트 · UI/UX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제안 내용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4.2.1 단일 진입점 · 위젯 · 답변 카드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4.2 사용자 UI/UX 개편 및 홈페이지 탑재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(어디서나 같은 챗봇) 발주기관 디자인 가이드로 UI를 개편하고,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스크립트 삽입형 위젯(플로팅 · 팝업)과 전체화면 모드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대표 홈페이지 · 취업포털에 탑재하며, KWCAG 2.2를 준수함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SFR-09, INR-03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4077845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화면 요소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단일 진입점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 질의창 + 도메인 칩(취업 · 규정 · 대학생활/시설) 선택 시 해당 에이전트 고정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위젯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플로팅 버튼 → 팝업 대화창, 스크립트 1줄 삽입, 사이트별 첫 화면 · 추천 질문 설정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전체화면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대화 이력 · 개인 지식공간 · 프로필이 있는 확장 모드 (로그인 사용자)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답변 카드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출처 카드(사이트 · 게시일) · 규정 조문 카드 · 링크 바로가기 · 마감 표시 배지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반응형 · 접근성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PC · 태블릿 · 모바일, KWCAG 2.2 (키보드 · 스크린리더 · 명도 대비 4.5:1), 점검 결과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316800" y="6543846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 Same Side Corner Rectangle 32"/>
          <p:cNvSpPr/>
          <p:nvPr/>
        </p:nvSpPr>
        <p:spPr>
          <a:xfrm>
            <a:off x="316800" y="654384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디자인 가이드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6831846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착수 후 수령</a:t>
            </a:r>
          </a:p>
        </p:txBody>
      </p:sp>
      <p:sp>
        <p:nvSpPr>
          <p:cNvPr id="35" name="Isosceles Triangle 34"/>
          <p:cNvSpPr/>
          <p:nvPr/>
        </p:nvSpPr>
        <p:spPr>
          <a:xfrm rot="5400000">
            <a:off x="1493280" y="713964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590480" y="6543846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1590480" y="654384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UI 개발표준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26480" y="6831846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인하대 CI · GUI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2766960" y="713964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864160" y="6543846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2864160" y="654384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시안 · 검토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00160" y="6831846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W3~W4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4040640" y="713964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137840" y="6543846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4137840" y="654384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위젯 탑재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73840" y="6831846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운영부서 협의</a:t>
            </a:r>
          </a:p>
        </p:txBody>
      </p:sp>
      <p:sp>
        <p:nvSpPr>
          <p:cNvPr id="47" name="Isosceles Triangle 46"/>
          <p:cNvSpPr/>
          <p:nvPr/>
        </p:nvSpPr>
        <p:spPr>
          <a:xfrm rot="5400000">
            <a:off x="5314320" y="713964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411520" y="6543846"/>
            <a:ext cx="1165680" cy="12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 Same Side Corner Rectangle 48"/>
          <p:cNvSpPr/>
          <p:nvPr/>
        </p:nvSpPr>
        <p:spPr>
          <a:xfrm>
            <a:off x="5411520" y="654384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접근성 점검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47520" y="6831846"/>
            <a:ext cx="1093680" cy="1007999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결과서 제출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80800" y="7947846"/>
            <a:ext cx="6332400" cy="789739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06799" y="8001845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교육 서비스 UX 경험 적용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06799" y="8199845"/>
            <a:ext cx="6080400" cy="48373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iF Design Award 수상 교육 플랫폼 ‘모두’를 설계한 UX 인력이 학생 이용 흐름(질문 → 근거 확인 → 신청 이동)을 3단계 안에 끝나도록 화면을 설계합니다.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5. 운영 · 품질 관리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제안 내용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5.1.1 소유 · 공유 · 관리 3종 권한 분리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5.1 데이터 관리 권한 체계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(데이터는 부서의 것) 지식베이스 데이터마다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소유 · 공유 · 관리 권한을 분리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해 부서 · 사용자 · 에이전트 단위로 부여하고, 공유되지 않은 데이터는 답변 근거로 쓰이지 않게 검색 단계에서 막음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SFR-10, SFR-14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8" cy="2433144"/>
        </p:xfrm>
        <a:graphic>
          <a:graphicData uri="http://schemas.openxmlformats.org/drawingml/2006/table">
            <a:tbl>
              <a:tblPr firstRow="0" bandRow="0"/>
              <a:tblGrid>
                <a:gridCol w="939059"/>
                <a:gridCol w="1486844"/>
                <a:gridCol w="2269395"/>
                <a:gridCol w="156510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권한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보유자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할 수 있는 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할 수 없는 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소유권한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등록 부서 / 지정 소관부서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수정 · 삭제 · 공개 범위 · 타 부서 공유 부여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공유권한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소유 부서가 지정한 부서 · 에이전트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조회 · 답변 근거 활용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수정 · 삭제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관리권한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 관리자 · 위임 담당자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인덱싱 · 비활성화 · 품질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 수정 (소유 부서 승인 필요)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4899146"/>
            <a:ext cx="5162400" cy="720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4899146"/>
            <a:ext cx="864000" cy="72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권한 부여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34800" y="4971146"/>
            <a:ext cx="7200" cy="576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324800" y="5007146"/>
            <a:ext cx="20322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조직 정보 기준 부서 매핑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446999" y="5007146"/>
            <a:ext cx="20322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부서 · 사용자 · 에이전트 단위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569200" y="4899146"/>
            <a:ext cx="1007999" cy="720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권한 매트릭스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5691146"/>
            <a:ext cx="5162400" cy="720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5691146"/>
            <a:ext cx="864000" cy="72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검색 필터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34800" y="5763146"/>
            <a:ext cx="7200" cy="576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324800" y="5799146"/>
            <a:ext cx="20322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에이전트 공유 범위를 검색 조건에 강제 적용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446999" y="5799146"/>
            <a:ext cx="20322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범위 밖 문서는 후보에서 제외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569200" y="5691146"/>
            <a:ext cx="1007999" cy="720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근거 차단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6800" y="6483146"/>
            <a:ext cx="5162400" cy="720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34800" y="6483146"/>
            <a:ext cx="864000" cy="72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이력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34800" y="6555146"/>
            <a:ext cx="7200" cy="576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1324800" y="6591146"/>
            <a:ext cx="20322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부여 · 변경 · 회수 이력 기록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446999" y="6591146"/>
            <a:ext cx="20322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부서 담당자 전용 화면 (SFR-14)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569200" y="6483146"/>
            <a:ext cx="1007999" cy="720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감사 추적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80800" y="7293146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‘공유되지 않은 데이터 미사용’은 시험평가에서 범위 밖 문서를 유도하는 질의 </a:t>
            </a:r>
            <a:r>
              <a:rPr sz="95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【30문항】</a:t>
            </a:r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으로 검증 (TER-01)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80800" y="7509146"/>
            <a:ext cx="6332400" cy="969875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06799" y="7563146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부서가 주인인 지식베이스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06799" y="7761146"/>
            <a:ext cx="6080400" cy="663875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예컨대 생활관이 등록한 입사 안내는 생활관만 고칠 수 있고, 취업 에이전트에는 공유를 허락한 항목만 근거로 쓰입니다. 시스템 관리자도 내용 수정은 소유 부서 승인을 거치므로 책임 소재가 분명합니다.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5. 운영 · 품질 관리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제안 내용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5.2.1 피드백 워크플로 · 동의어 사전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5.2 피드백 처리 · 동의어 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(학생의 ‘싫어요’가 답을 고침) 피드백을 오류 유형 · 영역별로 자동 분류해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소관부서에 자동 배정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미검색 질의에서 동의어 후보를 추천받아 담당자 승인 즉시 검색에 반영함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SFR-11, SFR-12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16800" y="2358000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 Same Side Corner Rectangle 31"/>
          <p:cNvSpPr/>
          <p:nvPr/>
        </p:nvSpPr>
        <p:spPr>
          <a:xfrm>
            <a:off x="31680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피드백 수집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2646000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좋아요/싫어요·유형</a:t>
            </a:r>
          </a:p>
        </p:txBody>
      </p:sp>
      <p:sp>
        <p:nvSpPr>
          <p:cNvPr id="34" name="Isosceles Triangle 33"/>
          <p:cNvSpPr/>
          <p:nvPr/>
        </p:nvSpPr>
        <p:spPr>
          <a:xfrm rot="5400000">
            <a:off x="1493280" y="2899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590480" y="2358000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159048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자동 분류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26480" y="2646000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오답·출처·최신성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2766960" y="2899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2864160" y="2358000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286416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부서 배정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00160" y="2646000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소관부서 담당자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4040640" y="2899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137840" y="2358000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413784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조치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73840" y="2646000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콘텐츠·FAQ·사전</a:t>
            </a:r>
          </a:p>
        </p:txBody>
      </p:sp>
      <p:sp>
        <p:nvSpPr>
          <p:cNvPr id="46" name="Isosceles Triangle 45"/>
          <p:cNvSpPr/>
          <p:nvPr/>
        </p:nvSpPr>
        <p:spPr>
          <a:xfrm rot="5400000">
            <a:off x="5314320" y="2899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411520" y="2358000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 Same Side Corner Rectangle 47"/>
          <p:cNvSpPr/>
          <p:nvPr/>
        </p:nvSpPr>
        <p:spPr>
          <a:xfrm>
            <a:off x="541152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완료·이력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47520" y="2646000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기한 초과 알림</a:t>
            </a:r>
          </a:p>
        </p:txBody>
      </p:sp>
      <p:graphicFrame>
        <p:nvGraphicFramePr>
          <p:cNvPr id="50" name="Table 49"/>
          <p:cNvGraphicFramePr>
            <a:graphicFrameLocks noGrp="1"/>
          </p:cNvGraphicFramePr>
          <p:nvPr/>
        </p:nvGraphicFramePr>
        <p:xfrm>
          <a:off x="316800" y="3654000"/>
          <a:ext cx="6260399" cy="2433144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477355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SFR-11 요구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 · 분류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답변별 피드백 + 오류 유형 5종(오답 · 출처 오류 · 정보 부족 · 최신성 · 기타) 자동 분류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워크플로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접수 → 검토 → 조치 → 완료, 처리 기한(관리자 설정) 초과 시 담당자 · 관리자 알림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반영 · 통계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조치(콘텐츠 수정 · 정답 FAQ · 동의어 · 프롬프트) 지식베이스 반영 이력, 영역별 처리 현황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1" name="Table 50"/>
          <p:cNvGraphicFramePr>
            <a:graphicFrameLocks noGrp="1"/>
          </p:cNvGraphicFramePr>
          <p:nvPr/>
        </p:nvGraphicFramePr>
        <p:xfrm>
          <a:off x="316800" y="6195146"/>
          <a:ext cx="6260399" cy="2833048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477355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SFR-12 요구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사전 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공통 사전 + 부서(도메인)별 사전, 사전별 적용 에이전트 지정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즉시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질의 확장 단계에서 사전 적용 → 전체 재인덱싱 없이 즉시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후보 자동 추천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미검색 · 저품질 질의 로그에서 후보 추출 (예: ‘도서관’ ↔ ‘정석’) → 담당자 승인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변경 비교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사전 변경 이력, 변경 전 · 후 검색 결과 비교 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5. 운영 · 품질 관리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제안 내용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5.3.1 자동 회귀평가 · 의심 답변 선별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5.3 답변 품질 유지 자동화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(오픈 후에도 품질이 지켜지는 구조) 콘텐츠 · 프롬프트 · 모델 · 사전이 바뀔 때마다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평가셋 회귀평가를 자동 실행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기준 미달이면 운영 반영을 보류하며, 운영 답변 중 의심 답변을 자동 선별함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SFR-13, QUR-03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평가셋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영역별 150문항↑ (소관부서 검토)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콘텐츠 변경 → 문항 초안 자동 생성 → 승인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평가셋 확장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96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3096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회귀평가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67999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324800" y="320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정기 (기본 주 1회)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20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변경 시점 (콘텐츠 · 프롬프트 · 모델 · 사전)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96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지표 산출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834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834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게이트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906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394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QUR-03 기준 미달 시 반영 보류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94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담당자 알림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834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반영 / 보류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572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572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운영 감시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644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324800" y="4680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LLM Judge로 근거 정합성 판정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680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의심 답변 → 담당자 판정 큐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572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피드백 건 등록</a:t>
            </a:r>
          </a:p>
        </p:txBody>
      </p:sp>
      <p:graphicFrame>
        <p:nvGraphicFramePr>
          <p:cNvPr id="55" name="Table 54"/>
          <p:cNvGraphicFramePr>
            <a:graphicFrameLocks noGrp="1"/>
          </p:cNvGraphicFramePr>
          <p:nvPr/>
        </p:nvGraphicFramePr>
        <p:xfrm>
          <a:off x="316800" y="5364000"/>
          <a:ext cx="6260400" cy="2394000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1330335"/>
                <a:gridCol w="352147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 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정식 오픈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답변 정확도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90%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평가셋 기대 답변 대비 LLM Judge + 담당자 표본 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근거 정합성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90%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답변 문장 ↔ 인용 근거 일치 여부 판정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할루시네이션율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3% 이하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근거에 없는 사실 포함 답변 비율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미답변률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추이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확인 불가 응답 비율 (영역 · 에이전트별)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6" name="Rectangle 55"/>
          <p:cNvSpPr/>
          <p:nvPr/>
        </p:nvSpPr>
        <p:spPr>
          <a:xfrm>
            <a:off x="316800" y="7866000"/>
            <a:ext cx="2026800" cy="1115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16800" y="78660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데이터 이상 탐지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52800" y="8125200"/>
            <a:ext cx="1954800" cy="86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유효기간 경과 · 링크 오류 · 수집 실패 자동 알림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433600" y="7866000"/>
            <a:ext cx="2026800" cy="1115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2433600" y="78660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반복 미답변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469600" y="8125200"/>
            <a:ext cx="1954800" cy="86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같은 미답변 질의 3회↑ → 소관부서 자동 알림 · 처리 건 등록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550400" y="7866000"/>
            <a:ext cx="2026800" cy="1115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550400" y="78660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품질 대시보드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586400" y="8125200"/>
            <a:ext cx="1954800" cy="86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정확도 · 정합성 · 할루시네이션 · 미답변 추이 (영역 · 에이전트별)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5. 운영 · 품질 관리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제안 내용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5.4.1 관리자 콘솔 · 통계 · 성과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5.4 관리자 콘솔 · 통계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(운영과 성과를 한 화면에) 영역 · 에이전트별 지식베이스 · 정답 FAQ · 금칙어 · 프롬프트 버전을 관리하고, 이용 실적 · 품질 ·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LLM 토큰 비용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까지 성과 보고 양식으로 내려받음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SFR-14, SFR-15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2612656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4773555"/>
              </a:tblGrid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관리자 콘솔 (SFR-14)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지식베이스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영역 · 에이전트별 콘텐츠 등록 · 수정 · 비활성화, 인덱스 재구축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응답 정책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정답 FAQ(우선 답변) · 금칙어 · 민감 질의 응대 · 고정 문구(면책 · 안내)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프롬프트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버전 관리 · 미리보기 테스트 · 회귀평가 후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부서 담당자 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소관 데이터 · 피드백 · 사전만 조회 ·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5078656"/>
          <a:ext cx="6260399" cy="2521328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4773555"/>
              </a:tblGrid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통계 · 성과 (SFR-15)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영역 · 에이전트별 질의량 · 이용자 수 · 응답시간 · 만족도 · 미답변률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기간별 비교 · 사용자 유형별 · 인기 · 급증 질의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비용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외부 API 호출 건수 · 토큰 사용량 · 비용 · 오류율 (월 한도 알림)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성과 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발주기관 성과 양식 맞춤 엑셀 내려받기 (앵커사업 성과관리)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16800" y="7707985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16800" y="770798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4800" y="7761985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4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개 역할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4800" y="8157985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학생 · 상담사 ·
부서 담당자 · 관리자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39600" y="7707985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439600" y="770798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547600" y="7761985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클릭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47600" y="8157985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성과 보고 양식
엑셀 내려받기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62400" y="7707985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62400" y="770798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670400" y="7761985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월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한도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70400" y="8157985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LLM 비용 알림 ·
차단 (SER-04)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6. 개인화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제안 내용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6.1.1 프로필 · 개인 RAG 지식공간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6.1 학생 프로필 · 개인 지식공간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(나를 아는 챗봇, 남은 못 보는 공간) 로그인 학생이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학과 · 학년 · 관심 분야 · 희망 직무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등록하고, 이력서 · 자기소개서 · 포트폴리오를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본인만 쓰는 개인 지식공간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에 올려 답변 근거로 함께 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SFR-16, SFR-17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991144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프로필 (SFR-16)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학과 · 학년 · 관심 분야 · 희망 직무 (항목은 요구분석 확정), 학생 직접 등록 · 수정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 자료 (SFR-17)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이력서 · 자기소개서 · 포트폴리오 등록 · 조회 · 삭제 (PDF · DOCX · HWP)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대화 맥락 저장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대화 요약을 개인 지식공간에 저장 → 후속 대화에 활용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 검색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공통 지식베이스 + 개인 지식공간 동시 검색, 출처에 ‘내 자료’ 구분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5457146"/>
            <a:ext cx="5162400" cy="720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5457146"/>
            <a:ext cx="864000" cy="72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격리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34800" y="5529146"/>
            <a:ext cx="7200" cy="576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324800" y="5565146"/>
            <a:ext cx="20322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사용자별 분리 인덱스 (네임스페이스)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446999" y="5565146"/>
            <a:ext cx="20322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검색 시 본인 ID 서버 강제 필터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569200" y="5457146"/>
            <a:ext cx="1007999" cy="720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본인만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6249146"/>
            <a:ext cx="5162400" cy="720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6249146"/>
            <a:ext cx="864000" cy="72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보호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34800" y="6321146"/>
            <a:ext cx="7200" cy="576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324800" y="6357146"/>
            <a:ext cx="20322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개인 자료 AES-256 암호화 저장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446999" y="6357146"/>
            <a:ext cx="20322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외부 LLM 전송 전 연락처 등 마스킹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569200" y="6249146"/>
            <a:ext cx="1007999" cy="720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SER-02·04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6800" y="7041146"/>
            <a:ext cx="5162400" cy="720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34800" y="7041146"/>
            <a:ext cx="864000" cy="72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삭제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34800" y="7113146"/>
            <a:ext cx="7200" cy="576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1324800" y="7149146"/>
            <a:ext cx="20322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학생 삭제 요청 시 원문 · 벡터 즉시 삭제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446999" y="7149146"/>
            <a:ext cx="2032200" cy="522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삭제 이력 기록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569200" y="7041146"/>
            <a:ext cx="1007999" cy="720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자기결정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80800" y="7887146"/>
            <a:ext cx="6332400" cy="969875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06799" y="7941146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다른 사람 자료가 섞이지 않게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6799" y="8139146"/>
            <a:ext cx="6080400" cy="663875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개인 지식공간 검색은 로그인 세션의 학번을 서버가 직접 필터 조건으로 넣으므로, 질문 내용으로 다른 학생의 자료를 요청해도 검색 후보에 오르지 않습니다. 시험평가에서 타인 자료 유도 질의로 검증합니다.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6. 개인화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제안 내용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6.2.1 개인 맥락 기반 검색 · 추천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6.2 개인 맥락 기반 검색 · 추천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(같은 질문, 나에게 맞는 답) 학생 프로필을 질의 맥락에 반영해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해당 학생에게 맞는 정보를 먼저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보여 주고, 맞춤 채용 · 프로그램 · 비교과를 추천하며, 언제든 일반 답변으로 전환할 수 있게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SFR-18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548192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2112885"/>
                <a:gridCol w="2738925"/>
              </a:tblGrid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질의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일반 답변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개인화 답변 (컴퓨터공학과 3학년 · 백엔드 희망)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“인턴십 공고 있어?”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전체 유효 인턴 공고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IT · 백엔드 직무 공고 우선 + 3학년 지원 가능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“추천 비교과 있어?”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인기 비교과 목록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관심 분야 관련 + 아직 이수하지 않은 프로그램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“자소서 봐줘”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자소서 작성 가이드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 자기소개서(개인 지식공간) 기반 + 첨삭 프로그램 연결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5014195"/>
            <a:ext cx="2026800" cy="1224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16800" y="5014195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개인화 표시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5273395"/>
            <a:ext cx="1954800" cy="97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‘내 프로필 기준 답변’ 배지, 한 번 눌러 일반 답변 전환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433600" y="5014195"/>
            <a:ext cx="2026800" cy="1224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433600" y="5014195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학습 구조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69600" y="5273395"/>
            <a:ext cx="1954800" cy="97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클릭 · 신청 · 피드백 이력 가중치 → 추천 정확도 점진 향상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50400" y="5014195"/>
            <a:ext cx="2026800" cy="1224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50400" y="5014195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확장 구조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86400" y="5273395"/>
            <a:ext cx="1954800" cy="97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프로필 스키마 확장형 — 이수 학점 · 자격증 등 추후 추가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16800" y="638219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 Same Side Corner Rectangle 41"/>
          <p:cNvSpPr/>
          <p:nvPr/>
        </p:nvSpPr>
        <p:spPr>
          <a:xfrm>
            <a:off x="316800" y="63821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프로필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2800" y="667019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학과·학년·직무</a:t>
            </a:r>
          </a:p>
        </p:txBody>
      </p:sp>
      <p:sp>
        <p:nvSpPr>
          <p:cNvPr id="44" name="Isosceles Triangle 43"/>
          <p:cNvSpPr/>
          <p:nvPr/>
        </p:nvSpPr>
        <p:spPr>
          <a:xfrm rot="5400000">
            <a:off x="1493280" y="692399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1590480" y="638219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 Same Side Corner Rectangle 45"/>
          <p:cNvSpPr/>
          <p:nvPr/>
        </p:nvSpPr>
        <p:spPr>
          <a:xfrm>
            <a:off x="1590480" y="63821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맥락 반영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626480" y="667019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질의 재작성</a:t>
            </a:r>
          </a:p>
        </p:txBody>
      </p:sp>
      <p:sp>
        <p:nvSpPr>
          <p:cNvPr id="48" name="Isosceles Triangle 47"/>
          <p:cNvSpPr/>
          <p:nvPr/>
        </p:nvSpPr>
        <p:spPr>
          <a:xfrm rot="5400000">
            <a:off x="2766960" y="692399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2864160" y="638219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 Same Side Corner Rectangle 49"/>
          <p:cNvSpPr/>
          <p:nvPr/>
        </p:nvSpPr>
        <p:spPr>
          <a:xfrm>
            <a:off x="2864160" y="63821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가중 검색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900160" y="667019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관련 문서 상향</a:t>
            </a:r>
          </a:p>
        </p:txBody>
      </p:sp>
      <p:sp>
        <p:nvSpPr>
          <p:cNvPr id="52" name="Isosceles Triangle 51"/>
          <p:cNvSpPr/>
          <p:nvPr/>
        </p:nvSpPr>
        <p:spPr>
          <a:xfrm rot="5400000">
            <a:off x="4040640" y="692399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4137840" y="638219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Round Same Side Corner Rectangle 53"/>
          <p:cNvSpPr/>
          <p:nvPr/>
        </p:nvSpPr>
        <p:spPr>
          <a:xfrm>
            <a:off x="4137840" y="63821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맞춤 추천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173840" y="667019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채용·프로그램</a:t>
            </a:r>
          </a:p>
        </p:txBody>
      </p:sp>
      <p:sp>
        <p:nvSpPr>
          <p:cNvPr id="56" name="Isosceles Triangle 55"/>
          <p:cNvSpPr/>
          <p:nvPr/>
        </p:nvSpPr>
        <p:spPr>
          <a:xfrm rot="5400000">
            <a:off x="5314320" y="692399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5411520" y="638219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ound Same Side Corner Rectangle 57"/>
          <p:cNvSpPr/>
          <p:nvPr/>
        </p:nvSpPr>
        <p:spPr>
          <a:xfrm>
            <a:off x="5411520" y="63821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피드백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447520" y="667019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가중치 갱신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80800" y="7678195"/>
            <a:ext cx="6332400" cy="969875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06799" y="7732195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개인정보 최소 활용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06799" y="7930195"/>
            <a:ext cx="6080400" cy="663875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개인화에는 학생이 직접 입력한 프로필과 본 서비스 이용 이력만 쓰고 학사 시스템 원천 데이터는 조회하지 않습니다. 프로필은 언제든 수정 · 삭제할 수 있으며, 외부 LLM에는 마스킹된 맥락만 전달합니다.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7. LLM 운용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제안 내용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7.1.1 LLM 추상화 · 온프레미스 LLM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7.1 Multi-LLM · 온프레미스 LLM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(설정 한 줄로 모델 교체) 모든 LLM 호출을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추상화 계층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하나로 모아 외부 API · 온프레미스 LLM을 에이전트별로 선택하고, GPU 확보 여부와 관계없이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온프레미스 적용 검토 보고서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제출함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SFR-19, INR-02, QUR-04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4874400" cy="413999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32800" y="24300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취업 · 진로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73600" y="24300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규정집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914400" y="24300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대학생활 · 시설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81200" y="23580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에이전트별 모델 설정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2836800"/>
            <a:ext cx="4874400" cy="413999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28368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추상화 계층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4328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공통 인터페이스 (OpenAI 호환)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6736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재시도 · 대체 라우팅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9144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토큰 · 비용 계측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81200" y="28368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INR-02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315599"/>
            <a:ext cx="4874400" cy="413999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315599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모델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432800" y="33875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외부 LLM API ① </a:t>
            </a:r>
            <a:r>
              <a:rPr sz="95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【공급자】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673600" y="33875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외부 LLM API ② (대체)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914400" y="33875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온프레미스 LLM (vLLM)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81200" y="33155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GPU 확보 시</a:t>
            </a:r>
          </a:p>
        </p:txBody>
      </p:sp>
      <p:graphicFrame>
        <p:nvGraphicFramePr>
          <p:cNvPr id="49" name="Table 48"/>
          <p:cNvGraphicFramePr>
            <a:graphicFrameLocks noGrp="1"/>
          </p:cNvGraphicFramePr>
          <p:nvPr/>
        </p:nvGraphicFramePr>
        <p:xfrm>
          <a:off x="316800" y="3866399"/>
          <a:ext cx="6260400" cy="2241214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1173825"/>
                <a:gridCol w="367798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SFR-19 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GPU 확보 통보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계약 후 4주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발주기관 → GPU 사양 · 확보 예정 시점 통보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검토 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W6 (필수 제출)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후보 모델 · 서빙 구성 · 외부 API 대비 성능 · 비용 비교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서빙 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정식 오픈 6주 전 GPU 준비 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vLLM 서빙 · 병행 · 전환 운영, 이후 준비 시 별도 협의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 비교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구성 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동일 평가셋으로 외부 API 대비 정확도 · 정합성 비교 결과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Box 49"/>
          <p:cNvSpPr txBox="1"/>
          <p:nvPr/>
        </p:nvSpPr>
        <p:spPr>
          <a:xfrm>
            <a:off x="280800" y="6215616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온프레미스 LLM 검토 보고서 비교 항목 (예시) &gt;</a:t>
            </a:r>
          </a:p>
        </p:txBody>
      </p:sp>
      <p:graphicFrame>
        <p:nvGraphicFramePr>
          <p:cNvPr id="51" name="Table 50"/>
          <p:cNvGraphicFramePr>
            <a:graphicFrameLocks noGrp="1"/>
          </p:cNvGraphicFramePr>
          <p:nvPr/>
        </p:nvGraphicFramePr>
        <p:xfrm>
          <a:off x="316800" y="6449615"/>
          <a:ext cx="6260400" cy="2033996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2425905"/>
                <a:gridCol w="242590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비교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외부 LLM API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온프레미스 LLM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답변 품질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평가셋 기준선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동일 평가셋 정확도 · 정합성 비교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응답 속도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TTFT · 완료 시간 (네트워크 포함)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GPU 사양별 TTFT · 동시 처리량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월 토큰 사용량 × 단가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전력 · 운영 인력 · 감가 (월 환산)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 · 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마스킹 후 전송 · 학습 미사용 계약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교내 완결 — 개인 자료 질의에 유리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2" name="TextBox 51"/>
          <p:cNvSpPr txBox="1"/>
          <p:nvPr/>
        </p:nvSpPr>
        <p:spPr>
          <a:xfrm>
            <a:off x="280800" y="8555615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GPU 서버 · 온프레미스 LLM 모델 도입 비용은 범위 제외. LLM · 임베딩 모델은 컨테이너 단위로 분리하여 전체 재배포 없이 모델 단위 교체 (QUR-04)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992060" y="1498812"/>
            <a:ext cx="4550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사업 수행 방안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Ⅳ.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시스템 및 기술 적용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성능 · 인터페이스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데이터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보안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시험 · 품질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수행조직 · 일정 · 관리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시스템 및 기술 적용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사업 수행 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서버 구성 · 자원 산정 · SW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서버 구성 및 운영환경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(대학 제공 인프라 위에 컨테이너로) WAS · AI 연계 · DB 3종 서버를 역할별로 구성하고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검색 · 임베딩 · 챗봇을 독립 컨테이너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배포하며, 운영 SW는 공개 SW로 구성해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사업 종료 후 라이선스 추가 비용 0원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ECR-01, ECR-02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759312"/>
        </p:xfrm>
        <a:graphic>
          <a:graphicData uri="http://schemas.openxmlformats.org/drawingml/2006/table">
            <a:tbl>
              <a:tblPr firstRow="0" bandRow="0"/>
              <a:tblGrid>
                <a:gridCol w="1017315"/>
                <a:gridCol w="1799865"/>
                <a:gridCol w="2191140"/>
                <a:gridCol w="125208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 사양 (산정 근거)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WAS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챗봇 API · 관리자 콘솔 · 위젯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16코어 · 64GB · SSD 1TB (동시 500명, 세션당 50MB)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2대 Active-Standby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검색 · 재순위화 · 임베딩 · 벡터 DB · 수집기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16코어 · 64GB · SSD 1TB (벡터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【200만】</a:t>
                      </a: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건)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1대 (확장 시 수평)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대화 · 피드백 · 사용자 · 평가셋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16코어 · 64GB · SSD 1TB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2대 이중화 (Primary-Standby)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GPU (조건부)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온프레미스 LLM 서빙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발주기관 확보 사양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동일 랙 · 네트워크 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5225313"/>
          <a:ext cx="6260400" cy="2485328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3364965"/>
                <a:gridCol w="156510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소프트웨어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라이선스 비용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OS · 컨테이너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【Rocky Linux 9】</a:t>
                      </a: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Docker / Podman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0원 (공개 SW)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WAS · 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Nginx · Python(FastAPI) · Node.js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0원 (공개 SW)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DBMS · 벡터 DB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PostgreSQL 16 + pgvector /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【OpenSearch】</a:t>
                      </a: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(하이브리드 검색)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0원 (공개 SW)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모니터링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Prometheus · Grafana · APM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【제품】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0원 (공개 SW)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280800" y="7818641"/>
            <a:ext cx="6332400" cy="944141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06799" y="7872641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라이선스 원칙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6799" y="8070641"/>
            <a:ext cx="6080400" cy="638141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모든 운영 SW를 공개 SW로 구성하여 라이선스 비용이 발생하지 않으며, 사용 SW와 라이선스(Apache 2.0 · PostgreSQL · MIT 등) 목록을 제출합니다 (COR-01). 1차 운영환경의 SW는 승계 진단 결과에 따라 재사용합니다.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시스템 및 기술 적용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사업 수행 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1.2.1 스토리지 · 네트워크 · 비용 부담 구분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1.2 스토리지 · 네트워크 · 인프라 제공 범위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(누가 무엇을 내는지 명확히) 스토리지 용량과 교내망 수집 경로 · 아웃바운드 Allow-list를 제시하고, 추가 도입 항목을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HW · SW · 보안 솔루션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으로 나눠 비용 부담 주체를 표로 구분함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ECR-03, COR-03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2667984"/>
        </p:xfrm>
        <a:graphic>
          <a:graphicData uri="http://schemas.openxmlformats.org/drawingml/2006/table">
            <a:tbl>
              <a:tblPr firstRow="0" bandRow="0"/>
              <a:tblGrid>
                <a:gridCol w="1721610"/>
                <a:gridCol w="2973689"/>
                <a:gridCol w="156510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저장 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용량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 원문 · 첨부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규정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【800】</a:t>
                      </a: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건 + 홈페이지 · 포털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【5만】</a:t>
                      </a: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건 × 평균 1MB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【60GB】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임베딩 벡터 · 인덱스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청크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【200만】</a:t>
                      </a: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× 1,024차원 × 4B × 인덱스 2배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【20GB】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대화 · 피드백 · 로그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【5,000】</a:t>
                      </a: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대화 × 20KB × 1년 + 감사 로그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【60GB】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백업 (7세대)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DB · 벡터 · 원문 전체 백업 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【1TB】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5133985"/>
          <a:ext cx="6260400" cy="2971328"/>
        </p:xfrm>
        <a:graphic>
          <a:graphicData uri="http://schemas.openxmlformats.org/drawingml/2006/table">
            <a:tbl>
              <a:tblPr firstRow="0" bandRow="0"/>
              <a:tblGrid>
                <a:gridCol w="2347650"/>
                <a:gridCol w="1565100"/>
                <a:gridCol w="234765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추가 도입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비용 부담 주체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GPU 서버 · 온프레미스 LLM 모델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HW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인하대학교 (범위 제외)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서버 · 스토리지 · 네트워크 · 방화벽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HW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인하대학교 (기본 인프라 제공)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OS · WAS · DBMS · 벡터 DB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SW · 라이선스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제안사 (공개 SW — 0원)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 게이트웨이 (Egress Proxy)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 솔루션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【기존 교내 장비 활용 / 별도 협의】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외부 LLM API 이용료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【사업기간 중 제안사 · 이후 인하대학교 — 질의 확정】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16800" y="8213313"/>
            <a:ext cx="2026800" cy="1115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16800" y="8213313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교내망 수집 경로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" y="8472513"/>
            <a:ext cx="1954800" cy="86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AI 연계 서버 → 교내 홈페이지 직접 접근, 야간 수집 · 요청 간격 제한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33600" y="8213313"/>
            <a:ext cx="2026800" cy="1115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433600" y="8213313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아웃바운드 Allow-list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469600" y="8472513"/>
            <a:ext cx="1954800" cy="86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LLM API 도메인만 허용, 보안 게이트웨이 경유 · 호출 로그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50400" y="8213313"/>
            <a:ext cx="2026800" cy="1115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50400" y="8213313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하이브리드 확장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86400" y="8472513"/>
            <a:ext cx="1954800" cy="86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컨테이너 이미지 그대로 클라우드 이전 가능 구조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성능 · 인터페이스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사업 수행 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목표 성능 · 자원 사용률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성능 요구사항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(수치로 약속, 도구로 측정) 동시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300명(피크 500명) 오류율 1% 이하, TTFT 평균 3초 · 완료 15초 이내, 연간 가용성 99%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를 부하 테스트 · APM으로 측정해 시범 오픈 전에 확인함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PER-01, PER-02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153984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1173825"/>
                <a:gridCol w="2504160"/>
                <a:gridCol w="140859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확보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측정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동시 사용자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300명 (피크 500명), 오류율 1%↓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WAS 2대 · 비동기 스트리밍 · 연결 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부하 테스트 (k6)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첫 응답 (TTFT)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평균 3초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검색 · 재순위화 병렬화, 시맨틱 캐시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 시험질의 100건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답변 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평균 15초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근거 수 제한 · 답변 길이 정책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 시험질의 100건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가용성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연간 99%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이중화 · 자동 재기동 · Graceful Degradation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외부 감시 1분 간격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답변 품질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정확도 · 정합성 90%↑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SFR-02·13 품질 체계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평가셋 300문항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5619985"/>
          <a:ext cx="6260400" cy="2090656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469530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자원 사용률 (PER-02)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서버 자원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CPU · 메모리 · 스토리지 · 네트워크 사용률 상시 수집 (Prometheus), 운영 리포트 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API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호출 건수 · 응답시간 · 오류율 · 월별 토큰 사용량 대시보드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임계치 알림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CPU 80% · 디스크 85% · API 오류율 5% 초과 시 관리자 알림 (기준 설정 가능)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16800" y="7818642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16800" y="7818642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4800" y="7872642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500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명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4800" y="8268642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피크 동시 사용자
오류율 1% 이하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39600" y="7818642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439600" y="7818642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547600" y="7872642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3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초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47600" y="8268642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첫 응답 평균
(TTFT)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62400" y="7818642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62400" y="7818642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670400" y="7872642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99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70400" y="8268642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연간 가용성
(계획 점검 제외)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성능 · 인터페이스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사업 수행 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2.2.1 체계연동 · 학내 AI 연계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2.2 인터페이스 요구사항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(느슨하게 연결, 쉽게 확장) 수집 대상 시스템 · SSO(인하포털) · LLM을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REST API와 추상화 계층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으로 연결하고, 학내 AI 서비스(논문분석 등)와는 API 기반 연계 방안을 설계로 제시함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INR-01, INR-02, INR-04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549144"/>
        </p:xfrm>
        <a:graphic>
          <a:graphicData uri="http://schemas.openxmlformats.org/drawingml/2006/table">
            <a:tbl>
              <a:tblPr firstRow="0" bandRow="0"/>
              <a:tblGrid>
                <a:gridCol w="1643355"/>
                <a:gridCol w="2895435"/>
                <a:gridCol w="172161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연동 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학생진로설계포털 (job.inha.ac.kr)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목록 · 상세 수집 (가능 시 DB 뷰 / API 우선)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1차 수집기 승계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대표 · 시설 홈페이지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공개 페이지 크롤링, 사이트맵 · RSS 활용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robots 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규정 관리 시스템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수집 가능 시 수집, 불가 시 콘솔 등록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학내 SSO (인하포털)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【SAML / OIDC / 기존 SSO 에이전트】</a:t>
                      </a: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단일 로그인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규격 협의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외부 LLM API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추상화 계층 + Multi-LLM (공급자 2종 이상)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 게이트웨이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6015146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학내 AI 서비스 연계 방안 (INR-04 — 통합 개발은 범위 외)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6249146"/>
          <a:ext cx="6260400" cy="2833048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API 구조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챗봇 → 학내 AI 서비스 호출용 도구 인터페이스 (REST · OpenAPI 명세)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 · 질의응답 결과 JSON 교환, 출처 메타데이터 포함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인증 · 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 간 토큰 (OAuth2 Client Credentials), 호출 로그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 · 책임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챗봇 = 질의 접수 · 라우팅 · 응답 표시 / 학내 AI = 전문 처리 · 결과 반환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280800" y="9154195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데이터는 JSON · CSV로 추출 가능, 특정 제품 종속 없음 (INR-02). 연동 대상 · 범위는 요구분석 단계에서 협의 확정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데이터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사업 수행 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생명주기 · 최신성 · 백업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데이터 관리 · 품질 · 백업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(최신이 아니면 안내하지 않음) 원문 · 벡터 · 대화 이력을 생명주기로 관리하고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유효기간 지난 콘텐츠는 제외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하며, 백업은 벡터 DB까지 포함해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RTO 12시간 · RPO 24시간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이내로 복구함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DAR-01, DAR-02, DAR-03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16800" y="235800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 Same Side Corner Rectangle 31"/>
          <p:cNvSpPr/>
          <p:nvPr/>
        </p:nvSpPr>
        <p:spPr>
          <a:xfrm>
            <a:off x="31680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수집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264600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원문·메타데이터</a:t>
            </a:r>
          </a:p>
        </p:txBody>
      </p:sp>
      <p:sp>
        <p:nvSpPr>
          <p:cNvPr id="34" name="Isosceles Triangle 33"/>
          <p:cNvSpPr/>
          <p:nvPr/>
        </p:nvSpPr>
        <p:spPr>
          <a:xfrm rot="5400000">
            <a:off x="1493280" y="2845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590480" y="235800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159048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전처리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26480" y="264600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파싱·정제·마스킹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2766960" y="2845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2864160" y="235800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286416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인덱싱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00160" y="264600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청크·벡터·키워드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4040640" y="2845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137840" y="235800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413784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갱신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73840" y="264600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증분·유효기간</a:t>
            </a:r>
          </a:p>
        </p:txBody>
      </p:sp>
      <p:sp>
        <p:nvSpPr>
          <p:cNvPr id="46" name="Isosceles Triangle 45"/>
          <p:cNvSpPr/>
          <p:nvPr/>
        </p:nvSpPr>
        <p:spPr>
          <a:xfrm rot="5400000">
            <a:off x="5314320" y="2845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411520" y="235800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 Same Side Corner Rectangle 47"/>
          <p:cNvSpPr/>
          <p:nvPr/>
        </p:nvSpPr>
        <p:spPr>
          <a:xfrm>
            <a:off x="541152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폐기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47520" y="264600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만료·삭제 요청</a:t>
            </a:r>
          </a:p>
        </p:txBody>
      </p:sp>
      <p:graphicFrame>
        <p:nvGraphicFramePr>
          <p:cNvPr id="50" name="Table 49"/>
          <p:cNvGraphicFramePr>
            <a:graphicFrameLocks noGrp="1"/>
          </p:cNvGraphicFramePr>
          <p:nvPr/>
        </p:nvGraphicFramePr>
        <p:xfrm>
          <a:off x="316800" y="3546000"/>
          <a:ext cx="6260400" cy="2759312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관리 (DAR-01)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RDBMS(대화 · 사용자 · 평가셋) + 원문 저장소 + 벡터 DB 결합, 개인정보 · 대화 이력 암호화 · 접근 통제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최신성 (DAR-02)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소관부서 · 게시일 · 유효기간 · 최종 수집일 메타데이터, 만료 콘텐츠 제외 · 비활성화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 이상 탐지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 실패 · 링크 오류 알림, 사이트별 수집 성공률 · 인덱싱 현황 모니터링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백업 (DAR-03)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DB 일 1회 전체 + 6시간 증분, 벡터 DB · 인덱스 일 1회 스냅샷, 7세대 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1" name="Table 50"/>
          <p:cNvGraphicFramePr>
            <a:graphicFrameLocks noGrp="1"/>
          </p:cNvGraphicFramePr>
          <p:nvPr/>
        </p:nvGraphicFramePr>
        <p:xfrm>
          <a:off x="316800" y="6413313"/>
          <a:ext cx="6260400" cy="2485328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 유형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대처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HW 장애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Standby 서버 전환, 디스크 교체 후 백업 복구 (RTO 12h 이내)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SW 장애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컨테이너 자동 재기동, 이전 버전 이미지로 롤백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네트워크 장애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교내 네트워크 담당 협조, 위젯 ‘일시 점검’ 안내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외부 LLM API 장애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대체 LLM 자동 라우팅 → 실패 시 정답 FAQ · 검색 결과만 제공 (Graceful Degradation)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보안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사업 수행 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4.1.1 접근 통제 · 암호화 · AI 보안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4.1 보안관리 · 데이터 보안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(사람 · 데이터 · AI 모두 통제) 역할 기반 권한(RBAC) ·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TLS 1.2+ · AES-256 · 감사 로그 1년 이상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적용하고, 프롬프트 인젝션 · 탈옥 · 개인정보 유출을 입력과 출력 양쪽에서 막음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SER-01, SER-02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485328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 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준수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인하대학교 정보보호 기준 · 「개인정보 보호법」 · 교육부 정보보호 지침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접근 통제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학생 · 상담사 · 부서 담당자 · 관리자 RBAC, 부서별 데이터 권한 (SFR-10)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암호화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 구간 TLS 1.2 이상, 개인정보 · 대화 이력 · 개인 자료 AES-256 저장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감사 로그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접근 · 권한 변경 · 데이터 조회 이력 1년 이상 보관, 비인가 접근 경고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4951328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AI 입출력 보안 (SER-01)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5185328"/>
          <a:ext cx="6260400" cy="2576656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469530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프롬프트 인젝션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 문서 · 사용자 입력은 데이터 영역으로 격리, 지시성 문구 탐지 · 무력화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탈옥 (Jailbreak)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입력 분류기 + 시스템 지시 우선 정책, 탐지 시 고정 안내 응답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개인정보 유출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외부 LLM 전송 전 연락처 · 학번 등 마스킹 · 가명처리, 출력 PII 재검사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지시문 유출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 프롬프트 요청 차단 · 출력 유사도 검사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316800" y="7869985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16800" y="786998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24800" y="7923985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256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bit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4800" y="8319985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AES 암호화
(개인정보 · 대화)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439600" y="7869985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439600" y="786998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547600" y="7923985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년↑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547600" y="8319985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감사 로그
보관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62400" y="7869985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562400" y="786998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670400" y="7923985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건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70400" y="8319985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PII 원문
외부 전송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보안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사업 수행 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4.2.1 시큐어코딩 · OWASP LLM Top 10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4.2 SW 개발보안 · 외부 LLM API 보안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(오픈 전 진단 완료) 행정안전부 개발보안 가이드에 따라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진단도구로 2회 이상 진단 · 조치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OWASP Top 10 · LLM Top 10 대응을 정식 오픈 전에 끝내며, API 키 · 학습 미사용 · 과금 한도를 관리함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SER-03, SER-04, COR-01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1619997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477355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진단 도구 · 환경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【SAST 진단도구】</a:t>
                      </a: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개발 서버 CI 연동, OWASP ZAP 동적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진단 횟수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중간(W8) · 오픈 전(W10) 2회 이상, 조치 결과 보고서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로그 보호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접속 일시 · 로그인 정보 자동 기록, 로그 접근 · 백업 · 삭제는 관리자만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4086000"/>
          <a:ext cx="6260400" cy="2447995"/>
        </p:xfrm>
        <a:graphic>
          <a:graphicData uri="http://schemas.openxmlformats.org/drawingml/2006/table">
            <a:tbl>
              <a:tblPr firstRow="0" bandRow="0"/>
              <a:tblGrid>
                <a:gridCol w="1799865"/>
                <a:gridCol w="446053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OWASP LLM Top 10 (주요)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LLM01 프롬프트 인젝션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입력 격리 · 지시성 문구 탐지 · 권한 필터는 서버에서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LLM02 민감정보 노출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전송 전 마스킹, 출력 PII 검사, 개인 지식공간 본인 강제 필터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LLM06 과도한 권한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챗봇은 조회 전용, 상태 변경 기능 없음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LLM09 허위 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근거 강제 · 확인 불가 응답 · 할루시네이션 자동 선별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LLM10 무제한 소비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사용자별 요청 한도 · 월 과금 한도 알림 · 차단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6642000"/>
          <a:ext cx="6260400" cy="1863214"/>
        </p:xfrm>
        <a:graphic>
          <a:graphicData uri="http://schemas.openxmlformats.org/drawingml/2006/table">
            <a:tbl>
              <a:tblPr firstRow="0" bandRow="0"/>
              <a:tblGrid>
                <a:gridCol w="1799865"/>
                <a:gridCol w="4460535"/>
              </a:tblGrid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외부 LLM API (SER-04 · COR-01)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API 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암호화 저장소(Vault) 보관, 관리자만 접근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학습 미사용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공급자 데이터 보관 · 학습 정책 확인 보고, 학습 미사용 옵션 · 계약 조건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결과물 이용 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공급자 약관상 학내 활용 범위 사전 확인 · 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5. 시험 · 품질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사업 수행 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5.1.1 시험평가 · 품질 게이트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5.1 시험평가 및 품질보증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(두 개의 관문) 기능 · 성능 · 인터페이스 · 보안 · 접근성 ·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AI 답변 품질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시험평가 절차서로 정의해 TRR에서 확정하고,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시범 오픈 · 정식 오픈 품질 게이트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통과해야만 오픈함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TER-01, TER-02, TER-03, QUR-01, QUR-02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3391048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3756239"/>
                <a:gridCol w="125208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 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 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 52개 추적표 기준 단위 · 통합 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W7 ~ W9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답변 품질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평가셋 300문항 (영역별 150↑) 정확도 · 정합성 · 할루시네이션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W8 ~ W9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동시 300 / 피크 500명 부하, TTFT · 완료 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 · 접근성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시큐어코딩 · OWASP · KWCAG 2.2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W9 ~ W10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권한 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공유되지 않은 데이터 · 타인 개인 자료 미사용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5857048"/>
          <a:ext cx="6260400" cy="1796096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 게이트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통과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시범 오픈 (W9 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핵심 기능 검증 완료, 정확도 · 정합성 85%↑, 성능 목표 충족, 보안 고위험 0건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정식 오픈 (W12)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정확도 · 정합성 90%↑ · 할루시네이션 3%↓, 시범운영 결함 조치 완료, 접근성 점검 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ounded Rectangle 32"/>
          <p:cNvSpPr/>
          <p:nvPr/>
        </p:nvSpPr>
        <p:spPr>
          <a:xfrm>
            <a:off x="316800" y="7761146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 Same Side Corner Rectangle 33"/>
          <p:cNvSpPr/>
          <p:nvPr/>
        </p:nvSpPr>
        <p:spPr>
          <a:xfrm>
            <a:off x="316800" y="776114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시험 계획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" y="8049146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절차서 작성</a:t>
            </a:r>
          </a:p>
        </p:txBody>
      </p:sp>
      <p:sp>
        <p:nvSpPr>
          <p:cNvPr id="36" name="Isosceles Triangle 35"/>
          <p:cNvSpPr/>
          <p:nvPr/>
        </p:nvSpPr>
        <p:spPr>
          <a:xfrm rot="5400000">
            <a:off x="1493280" y="830294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590480" y="7761146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 Same Side Corner Rectangle 37"/>
          <p:cNvSpPr/>
          <p:nvPr/>
        </p:nvSpPr>
        <p:spPr>
          <a:xfrm>
            <a:off x="1590480" y="776114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TRR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26480" y="8049146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절차서 확정</a:t>
            </a:r>
          </a:p>
        </p:txBody>
      </p:sp>
      <p:sp>
        <p:nvSpPr>
          <p:cNvPr id="40" name="Isosceles Triangle 39"/>
          <p:cNvSpPr/>
          <p:nvPr/>
        </p:nvSpPr>
        <p:spPr>
          <a:xfrm rot="5400000">
            <a:off x="2766960" y="830294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2864160" y="7761146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 Same Side Corner Rectangle 41"/>
          <p:cNvSpPr/>
          <p:nvPr/>
        </p:nvSpPr>
        <p:spPr>
          <a:xfrm>
            <a:off x="2864160" y="776114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시험 수행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900160" y="8049146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책임자 입회</a:t>
            </a:r>
          </a:p>
        </p:txBody>
      </p:sp>
      <p:sp>
        <p:nvSpPr>
          <p:cNvPr id="44" name="Isosceles Triangle 43"/>
          <p:cNvSpPr/>
          <p:nvPr/>
        </p:nvSpPr>
        <p:spPr>
          <a:xfrm rot="5400000">
            <a:off x="4040640" y="830294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4137840" y="7761146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 Same Side Corner Rectangle 45"/>
          <p:cNvSpPr/>
          <p:nvPr/>
        </p:nvSpPr>
        <p:spPr>
          <a:xfrm>
            <a:off x="4137840" y="776114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결함 조치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173840" y="8049146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원인·조치계획</a:t>
            </a:r>
          </a:p>
        </p:txBody>
      </p:sp>
      <p:sp>
        <p:nvSpPr>
          <p:cNvPr id="48" name="Isosceles Triangle 47"/>
          <p:cNvSpPr/>
          <p:nvPr/>
        </p:nvSpPr>
        <p:spPr>
          <a:xfrm rot="5400000">
            <a:off x="5314320" y="830294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5411520" y="7761146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 Same Side Corner Rectangle 49"/>
          <p:cNvSpPr/>
          <p:nvPr/>
        </p:nvSpPr>
        <p:spPr>
          <a:xfrm>
            <a:off x="5411520" y="776114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재시험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47520" y="8049146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결과서 제출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80800" y="9021146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소프트웨어 품질 특성(기능적합성 · 신뢰성 · 사용성 · 보안성)별 확인 항목을 품질계획서에 정의하고, SW 개량 시 회귀평가로 성능을 보장 (QUR-02)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6. 수행조직 · 일정 · 관리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사업 수행 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6.1.1 역할별 인력 구성 · 투입 기간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6.1 수행조직 및 투입인력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(소수 정예, 교체 없음) RAG 서비스 구축 경력 PM 아래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AI(LLM · RAG) · Backend · Frontend · Infra · QA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역할별 인력을 배치하고, 투입 인력은 사업기간 중 교체하지 않음 (하도급 없음, 전원 자사 인력)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PMR-01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4874400" cy="432000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1044000" cy="43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발주기관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32800" y="2430000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앵커사업본부 (주관)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73600" y="2430000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정보통신처 IT서비스팀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914400" y="2430000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콘텐츠 소관부서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81200" y="2358000"/>
            <a:ext cx="1296000" cy="4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산출물 검토 · 평가셋 검수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2854800"/>
            <a:ext cx="4874400" cy="432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2854800"/>
            <a:ext cx="1044000" cy="43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사업 관리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432800" y="2926799"/>
            <a:ext cx="1807199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PM </a:t>
            </a:r>
            <a:r>
              <a:rPr sz="95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【성명】</a:t>
            </a: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(웹 기획 겸)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294000" y="2926799"/>
            <a:ext cx="1807199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품질 · 보안 (QA)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281200" y="2854800"/>
            <a:ext cx="1296000" cy="4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주간 보고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16800" y="3351599"/>
            <a:ext cx="4874400" cy="432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34800" y="3351599"/>
            <a:ext cx="1044000" cy="43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개발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432800" y="3423599"/>
            <a:ext cx="8766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AI (LLM · RAG) 2명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363400" y="3423599"/>
            <a:ext cx="8766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Backend 1명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294000" y="3423599"/>
            <a:ext cx="8766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Frontend · 퍼블리싱 1명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224600" y="3423599"/>
            <a:ext cx="8766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UX 1명 · Infra 1명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81200" y="3351599"/>
            <a:ext cx="1296000" cy="4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자사 인력</a:t>
            </a:r>
          </a:p>
        </p:txBody>
      </p:sp>
      <p:graphicFrame>
        <p:nvGraphicFramePr>
          <p:cNvPr id="49" name="Table 48"/>
          <p:cNvGraphicFramePr>
            <a:graphicFrameLocks noGrp="1"/>
          </p:cNvGraphicFramePr>
          <p:nvPr/>
        </p:nvGraphicFramePr>
        <p:xfrm>
          <a:off x="316800" y="3920400"/>
          <a:ext cx="6260399" cy="4800695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704295"/>
                <a:gridCol w="547785"/>
                <a:gridCol w="2269395"/>
                <a:gridCol w="939059"/>
                <a:gridCol w="62604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경력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투입 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M/M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PM (웹 기획)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【특급】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【생성형 AI · 대학 정보서비스 구축 PM】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W1 ~ W13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1.5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책임 (LLM · RAG)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【특급】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【Trading AI Agent · RAG 구축】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W1 ~ W13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2.5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개발 (수집 · 평가)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【고급】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【문서 파싱 · 평가 자동화】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W2 ~ W11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1.5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Backend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【고급】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【API · 관리자 콘솔 · SSO】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W2 ~ W12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1.5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Frontend · 퍼블리싱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【중급】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【위젯 · 반응형 · KWCAG】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W3 ~ W11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UX 디자인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【고급】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【교육 플랫폼 UX (모두)】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W2 ~ W6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0.5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Infra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【고급】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【온프레미스 컨테이너 · 보안 게이트웨이】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W2 ~ W10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0.3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QA · 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【고급】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【시험평가 · 시큐어코딩 진단】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W7 ~ W12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0.5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합계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9.3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Box 49"/>
          <p:cNvSpPr txBox="1"/>
          <p:nvPr/>
        </p:nvSpPr>
        <p:spPr>
          <a:xfrm>
            <a:off x="280800" y="8793100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인력별 이력은 [별지 제4·5호] 투입인력 명단표 · 이력사항으로 제출 </a:t>
            </a:r>
            <a:r>
              <a:rPr sz="95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【이력 작성】</a:t>
            </a:r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. 부득이한 교체는 인하대학교 사전 승인 후 동등 이상 인력으로만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6. 수행조직 · 일정 · 관리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사업 수행 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6.2.1 13주 주 단위 세부 일정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6.2 추진 일정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(8주 시범 · 12주 정식 · 13주 완료) 착수 15일 이내 수행계획서,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W9 시범 오픈 → 2주 시범운영 → W12 정식 오픈 → W13 검수 · 완료보고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사업연도 종료 전에 끝냄 (W1 = 2026. 11. 23. 주 가정)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PMR-02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814848"/>
        </p:xfrm>
        <a:graphic>
          <a:graphicData uri="http://schemas.openxmlformats.org/drawingml/2006/table">
            <a:tbl>
              <a:tblPr firstRow="0" bandRow="0"/>
              <a:tblGrid>
                <a:gridCol w="1017315"/>
                <a:gridCol w="704295"/>
                <a:gridCol w="1017315"/>
                <a:gridCol w="2504160"/>
                <a:gridCol w="101731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608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 · 요구분석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W1~W2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11.23~12.04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착수보고(10일), 1차 자산 인수 · 진단, 수집 대상 목록 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수행계획서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8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W2~W4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11.30~12.18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아키텍처 · 지식베이스 · UI/UX 설계, 평가셋 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요구사항정의서 · 설계서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8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구축 · 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W3~W8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12.07~01.15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 · 인덱싱, 3개 에이전트 · 라우팅, 관리자 · 통계, SSO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소스 · 형상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8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 · 품질검증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W7~W9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01.04~01.22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 · 성능 · 보안 시험, AI 답변 품질 검증, 중간보고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 결과서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8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시범운영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W10~W11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01.25~02.05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시범 오픈(2주), 피드백 반영, 관리자 · 사용자 교육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교육 자료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8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정식 오픈 · 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W12~W13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02.08~02.19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정식 오픈, 기술이전, 완료보고 · 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완료보고서 · 매뉴얼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6280848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6280848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시범 오픈 전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34800" y="6352848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324800" y="6388848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지식베이스 · 취업 · 학사·대학정보 안내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446999" y="6388848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출처 표기 · 관리자 기능 검증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569200" y="6280848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W9 게이트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7018848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7018848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시범운영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34800" y="7090848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324800" y="7126848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2주 이상 실사용 피드백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446999" y="7126848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결함 · 개선 요청 반영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569200" y="7018848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W10~W11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6800" y="7756848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34800" y="7756848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정식 오픈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34800" y="7828848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1324800" y="7864848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품질 게이트 통과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446999" y="7864848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안정화 지원 개시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569200" y="7756848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W12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80800" y="8512848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계약이 늦어지면 설계 · 구축을 겹쳐 진행하고 시범운영 2주 · 검수 1주는 유지. 설 연휴(’27년 2월)는 W11~W12 계획에 반영. 지연 위험은 즉시 보고 (PMR-02)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6. 수행조직 · 일정 · 관리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사업 수행 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6.3.1 형상 · 의사소통 · 범위 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6.3 사업관리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(발주기관이 늘 볼 수 있게) 수행계획서에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범위 · 일정 · 품질 · 의사소통 · 위험 · 형상 · 보안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관리계획을 담고, Git 저장소 · 이슈 트래커 접근 권한을 인하대학교에 열어 소스를 수시 점검할 수 있게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PMR-01, PMR-03, PMR-04, COR-02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062656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1173825"/>
                <a:gridCol w="367798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회의 · 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참석 ·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착수회의 · 요구분석 검토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W1 · W2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수행계획 · 수집 대상 · 협업 체계 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 검토회의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아키텍처 · 지식베이스 · UI/UX · 평가셋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시험평가 검토회의 (TRR)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시험평가 절차서 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시범 오픈 · 종료회의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W9 · W13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중간보고 / 완료보고 (협의 시 통합 개최)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 · 월간 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매주 · 매월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진척 · 이슈 · 위험, 시범 오픈 후 사용자 이슈 주간 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5528656"/>
          <a:ext cx="6260400" cy="2667984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 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형상관리 (PMR-03)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Git 저장소 · 이슈 트래커, 형상항목 식별 · 변경통제, 인하대학교 담당부서 접근 권한 부여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소관부서 협업 (PMR-04)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콘텐츠 협의 채널 운영 · 회의록 관리, 평가셋 검토 일정 사전 공유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과업범위 (COR-02)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범위 변경은 서면 승인 후 진행, GPU · 수집 대상 외 시스템 기능 개발은 범위 제외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개발환경 (COR-02)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 · 시험 HW · SW는 제안사 준비, 정품 SW 사용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280800" y="8304641"/>
            <a:ext cx="6332400" cy="755427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06799" y="8358641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협업 체계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6799" y="8556642"/>
            <a:ext cx="6080400" cy="449427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주관부서 · 콘텐츠 소관부서 담당자가 매주 같은 화면(이슈 트래커)에서 진척 · 산출물 리뷰 · 평가셋 검토 요청을 확인하도록 하여, 3개월 일정에서 의견 대기 시간을 줄입니다.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지원 부문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Ⅴ.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시범운영 · 안정화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교육훈련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기술이전 · 지원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유지보수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시범운영 · 안정화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지원 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2주 시범운영 · 안정화 지원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시범운영 및 안정화 지원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(실사용으로 검증 후 오픈) 정식 오픈 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2주 이상 시범운영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으로 학생 · 상담사 피드백을 반영하고, 오픈 후 안정화 기간을 운영하며 용역기간을 넘는 부분은 무상 하자보수로 이어서 지원함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PSR-03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시범 오픈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대상: </a:t>
            </a:r>
            <a:r>
              <a:rPr sz="100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【재학생 · 상담인력 일부】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위젯 · 전체화면 시범 노출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W10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41999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3041999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피드백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13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324800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답변별 피드백 · 설문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주간 이슈 보고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41999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W10~W11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726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726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반영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797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결함 · 개선 요청 조치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평가셋 재측정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726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정식 게이트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410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410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정식 오픈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482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324800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대표 홈페이지 · 취업포털 위젯 공개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안정화 모니터링 개시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410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W12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16800" y="5094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34800" y="5094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안정화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234800" y="5166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1324800" y="5202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일일 품질 · 장애 모니터링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446999" y="5202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용역기간 이후 하자보수로 연속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569200" y="5094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오픈 후 </a:t>
            </a:r>
            <a:r>
              <a:rPr sz="105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【4주】</a:t>
            </a:r>
          </a:p>
        </p:txBody>
      </p:sp>
      <p:graphicFrame>
        <p:nvGraphicFramePr>
          <p:cNvPr id="61" name="Table 60"/>
          <p:cNvGraphicFramePr>
            <a:graphicFrameLocks noGrp="1"/>
          </p:cNvGraphicFramePr>
          <p:nvPr/>
        </p:nvGraphicFramePr>
        <p:xfrm>
          <a:off x="316800" y="5832000"/>
          <a:ext cx="6260399" cy="1723606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477355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안정화 활동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모니터링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응답시간 · 오류율 · 미답변 · 저품질 답변 일일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결함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1등급 즉시 · 2등급 당일 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성과 보고 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구축 결과 · 이용 실적 · 품질 검증 결과를 발주기관 앵커사업 성과 양식으로 작성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2" name="Rectangle 61"/>
          <p:cNvSpPr/>
          <p:nvPr/>
        </p:nvSpPr>
        <p:spPr>
          <a:xfrm>
            <a:off x="316800" y="7663607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316800" y="7663607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24800" y="7717607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주↑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4800" y="8113607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시범운영
(정식 오픈 전)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439600" y="7663607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2439600" y="7663607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547600" y="7717607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【4】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주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547600" y="8113607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정식 오픈 후
안정화 지원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562400" y="7663607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562400" y="7663607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670400" y="7717607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년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670400" y="8113607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무상 하자보수로
연속 지원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교육훈련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지원 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관리자 · 사용자 · AI 리터러시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교육 계획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(검수 전에 모두 마침) 관리자(취업지원 · 상담 · 콘텐츠 소관부서)와 사용자(학생 · 교직원) 교육을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검수 이전에 완료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챗봇의 한계를 알고 쓰도록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AI 리터러시 교육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포함함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PSR-01, INR-03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759312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1330335"/>
                <a:gridCol w="2504160"/>
                <a:gridCol w="125208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방식 · 시기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관리자 교육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취업지원 부서 · 상담인력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콘솔 · 정답 FAQ · 통계 · 성과 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방문 2시간 · W10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부서 담당자 교육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콘텐츠 소관부서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소관 데이터 · 피드백 처리 · 동의어 사전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방문 2시간 · W10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사용자 교육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학생 · 교직원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질의 요령 · 출처 확인 · 개인화 · 개인 자료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온라인 영상 · 안내문 · W11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리터러시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답변의 한계 · 근거 확인 습관 · 개인정보 주의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영상 + 패널 도움말 · W11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5225313"/>
          <a:ext cx="6260399" cy="1999328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477355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매뉴얼 (국문)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사용자 매뉴얼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위젯 · 전체화면 · 대화 이력 · 프로필 · 개인 지식공간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관리자 매뉴얼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에이전트 · 지식베이스 · 권한 · 프롬프트 · 평가셋 · 통계 (화면 캡처 포함)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부서 담당자 매뉴얼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소관 데이터 관리 · 피드백 처리 · 사전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16800" y="7332642"/>
            <a:ext cx="2026800" cy="1115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16800" y="7332642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무상 방문 교육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" y="7591841"/>
            <a:ext cx="1954800" cy="86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지정 횟수 이상 방문 교육 (4.4) — 관리자 · 부서 담당자 각 1회 이상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33600" y="7332642"/>
            <a:ext cx="2026800" cy="1115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433600" y="7332642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이해도 확인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469600" y="7591841"/>
            <a:ext cx="1954800" cy="86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실습 과제로 확인, 결과를 교육 결과 보고에 포함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50400" y="7332642"/>
            <a:ext cx="2026800" cy="1115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50400" y="7332642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교육 자료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86400" y="7591841"/>
            <a:ext cx="1954800" cy="86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전자문서 · 영상 제공, 신규 담당자 재교육에 재사용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기술이전 · 지원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지원 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운영 역량 이전 · LLM 변경 대응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기술이전 및 기술지원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(개발사 없이 운영 가능하게) 지식베이스 운영 · 용어사전 · 평가셋 · 프롬프트 튜닝 · 장애 대처를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문서와 방문 실습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으로 이전하고, 외부 LLM 모델 변경 · 서비스 종료 · 요금 변경 시 영향 분석을 지원함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PSR-02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391048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3286710"/>
                <a:gridCol w="156510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기술이전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 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서버 · 컨테이너 · 네트워크 구성, 배포 · 롤백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 + 실습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지식베이스 운영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콘텐츠 관리 · 수집 규칙 추가 · 인덱스 재구축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 + 실습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사전 · 평가셋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동의어 승인 · 평가셋 문항 관리 · 회귀평가 실행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 + 실습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프롬프트 튜닝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버전 관리 · 미리보기 · 회귀평가 후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 + 실습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 대처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 유형별 조치 절차 · 백업 복구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절차서 + 모의 훈련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5857048"/>
          <a:ext cx="6260400" cy="2196000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469530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변경 상황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대응 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변경 · 단종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대체 모델 평가셋 비교 → 추상화 계층 설정 변경 → 회귀평가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 종료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Multi-LLM 대체 공급자로 전환, 온프레미스 LLM 전환 검토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요금체계 변경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토큰 사용량 기준 월 비용 영향 분석, 모델 · 답변 길이 정책 조정안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280800" y="8161048"/>
            <a:ext cx="6332400" cy="772583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06799" y="8215048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기술지원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6799" y="8413048"/>
            <a:ext cx="6080400" cy="466583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응용 SW 유지관리 · 기능향상을 위한 기술지원 창구를 운영하고, 하자보수 기간 중 기능 개선 요청은 범위 · 공수를 산정하여 협의합니다.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유지보수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지원 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4.1.1 1년 하자보수 · 장애 등급별 대응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4.1 하자보수 계획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(검수 완료일부터 1년) 납품 SW · 응용 SW · 산출물 전체를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1년 무상 하자보수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장애 등급별 응답 · 복구 시간을 지키며, 모델 단위 교체 구조로 재배포 없이 LLM · 임베딩을 바꿈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QUR-04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196000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2738925"/>
                <a:gridCol w="1173825"/>
                <a:gridCol w="117382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 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최초 응답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복구 목표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1등급 (긴급)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챗봇 전체 중단, 개인정보 노출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12시간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2등급 (중요)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에이전트 1개 중단, 수집 · 인덱싱 중단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1영업일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3등급 (일반)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일부 기능 · 화면 오류, 답변 품질 저하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1영업일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3영업일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4662000"/>
          <a:ext cx="6260400" cy="3312000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기간 · 보증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검수 완료일부터 1년(12개월), 하자보수 이행보증서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납품 SW · 응용 SW · 기타 산출물 전체, 정식 오픈 후 안정화 연속 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책임자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하자보수 책임자 </a:t>
                      </a: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지정, 지원 창구 </a:t>
                      </a: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【전화 · 이메일】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원격 우선 (교내 승인 접속), 1등급 미복구 시 방문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교체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· 임베딩 모델을 컨테이너 단위로 교체, 전체 재배포 없음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16800" y="8082000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16800" y="8082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4800" y="8136000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4800" y="8532000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무상 하자보수
(검수 완료일부터)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39600" y="8082000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439600" y="8082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547600" y="8136000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시간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47600" y="8532000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1등급 장애
최초 응답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62400" y="8082000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62400" y="8082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670400" y="8136000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12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시간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70400" y="8532000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데이터 복구 목표
(RTO)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3" name="TextBox 12">
            <a:extLst>
              <a:ext uri="{FF2B5EF4-FFF2-40B4-BE49-F238E27FC236}">
                <a16:creationId xmlns:a16="http://schemas.microsoft.com/office/drawing/2014/main" id="{64DC8926-ACD6-EA8A-8DE2-83D5D453BA15}"/>
              </a:ext>
            </a:extLst>
          </p:cNvPr>
          <p:cNvSpPr txBox="1"/>
          <p:nvPr/>
        </p:nvSpPr>
        <p:spPr>
          <a:xfrm>
            <a:off x="1403350" y="142102"/>
            <a:ext cx="398303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&lt; 요구사항 대비 수용여부 조견표 &gt;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03999" y="468000"/>
          <a:ext cx="5867999" cy="7581600"/>
        </p:xfrm>
        <a:graphic>
          <a:graphicData uri="http://schemas.openxmlformats.org/drawingml/2006/table">
            <a:tbl>
              <a:tblPr firstRow="0" bandRow="0"/>
              <a:tblGrid>
                <a:gridCol w="827999"/>
                <a:gridCol w="756000"/>
                <a:gridCol w="2592000"/>
                <a:gridCol w="612000"/>
                <a:gridCol w="1080000"/>
              </a:tblGrid>
              <a:tr h="2808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고유번호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 명칭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 여부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 페이지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280800">
                <a:tc rowSpan="2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인터페이스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INR-03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사용자 인터페이스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25, 47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INR-04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학내 AI 서비스 연계 가능성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rowSpan="3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DAR-01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DAR-02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품질 및 최신성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DAR-03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백업 및 복구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rowSpan="3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테스트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TER-01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시험평가 일반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TER-02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시험평가 절차서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TER-03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시험평가 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rowSpan="4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SER-01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보안관리 일반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SER-02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SER-03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SW 개발보안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SER-04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외부 LLM API 운영/보안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rowSpan="4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QUR-01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품질보증 일반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QUR-02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소프트웨어 품질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QUR-03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답변 품질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QUR-04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유지보수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32, 49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rowSpan="3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제약사항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COR-01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지식재산권 제약사항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COR-02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개발환경 및 과업범위 제약사항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COR-03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인프라 제공 범위 명확화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rowSpan="4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프로젝트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PMR-01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42, 44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PMR-02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일정관리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PMR-03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형상관리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PMR-04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의사소통관리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rowSpan="3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프로젝트 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PSR-01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교육훈련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PSR-02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기술이전 및 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8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PSR-03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시범운영 및 안정화 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2013 - 2022 테마">
  <a:themeElements>
    <a:clrScheme name="Office 2013 - 2022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테마">
      <a:majorFont>
        <a:latin typeface="맑은 고딕" panose="020F0302020204030204"/>
        <a:ea typeface="맑은 고딕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맑은 고딕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1200" dirty="0" smtClean="0">
            <a:latin typeface="KoPubWorld돋움체 Bold" panose="00000800000000000000" pitchFamily="2" charset="-127"/>
            <a:ea typeface="KoPubWorld돋움체 Bold" panose="00000800000000000000" pitchFamily="2" charset="-127"/>
            <a:cs typeface="KoPubWorld돋움체 Bold" panose="00000800000000000000" pitchFamily="2" charset="-127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defRPr sz="1200" dirty="0" smtClean="0">
            <a:latin typeface="KoPubWorld돋움체 Medium" panose="00000600000000000000" pitchFamily="2" charset="-127"/>
            <a:ea typeface="KoPubWorld돋움체 Medium" panose="00000600000000000000" pitchFamily="2" charset="-127"/>
            <a:cs typeface="KoPubWorld돋움체 Medium" panose="00000600000000000000" pitchFamily="2" charset="-12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9D30EBE9304C2346AD8EC6952A85F23C" ma:contentTypeVersion="16" ma:contentTypeDescription="새 문서를 만듭니다." ma:contentTypeScope="" ma:versionID="0beda8d242283ca8ad5cd5bb1aa1bc86">
  <xsd:schema xmlns:xsd="http://www.w3.org/2001/XMLSchema" xmlns:xs="http://www.w3.org/2001/XMLSchema" xmlns:p="http://schemas.microsoft.com/office/2006/metadata/properties" xmlns:ns2="e7514280-9163-4412-ad0a-e8ade9193bee" xmlns:ns3="296b340d-c22f-4484-96dd-ad8bc868af40" targetNamespace="http://schemas.microsoft.com/office/2006/metadata/properties" ma:root="true" ma:fieldsID="c503c7f92b65afe15150ee6451e3405f" ns2:_="" ns3:_="">
    <xsd:import namespace="e7514280-9163-4412-ad0a-e8ade9193bee"/>
    <xsd:import namespace="296b340d-c22f-4484-96dd-ad8bc868af4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MediaServiceSearchPropertie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7514280-9163-4412-ad0a-e8ade9193be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4" nillable="true" ma:taxonomy="true" ma:internalName="lcf76f155ced4ddcb4097134ff3c332f" ma:taxonomyFieldName="MediaServiceImageTags" ma:displayName="이미지 태그" ma:readOnly="false" ma:fieldId="{5cf76f15-5ced-4ddc-b409-7134ff3c332f}" ma:taxonomyMulti="true" ma:sspId="dbb9d562-bd20-43bc-a33e-5cbb7cafe37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96b340d-c22f-4484-96dd-ad8bc868af40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공유 대상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세부 정보 공유" ma:internalName="SharedWithDetails" ma:readOnly="true">
      <xsd:simpleType>
        <xsd:restriction base="dms:Note">
          <xsd:maxLength value="255"/>
        </xsd:restriction>
      </xsd:simpleType>
    </xsd:element>
    <xsd:element name="TaxCatchAll" ma:index="15" nillable="true" ma:displayName="Taxonomy Catch All Column" ma:hidden="true" ma:list="{89e01bde-2108-4b34-9411-c6bd49ed7aa3}" ma:internalName="TaxCatchAll" ma:showField="CatchAllData" ma:web="296b340d-c22f-4484-96dd-ad8bc868af4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7514280-9163-4412-ad0a-e8ade9193bee">
      <Terms xmlns="http://schemas.microsoft.com/office/infopath/2007/PartnerControls"/>
    </lcf76f155ced4ddcb4097134ff3c332f>
    <TaxCatchAll xmlns="296b340d-c22f-4484-96dd-ad8bc868af40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D62CDAD-107A-43D7-A7FF-44C6CD012359}">
  <ds:schemaRefs>
    <ds:schemaRef ds:uri="296b340d-c22f-4484-96dd-ad8bc868af40"/>
    <ds:schemaRef ds:uri="e7514280-9163-4412-ad0a-e8ade9193be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C756E700-2809-459B-84AD-EC3318970829}">
  <ds:schemaRefs>
    <ds:schemaRef ds:uri="296b340d-c22f-4484-96dd-ad8bc868af40"/>
    <ds:schemaRef ds:uri="e7514280-9163-4412-ad0a-e8ade9193bee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DBF8794B-BC40-4BF3-B2D9-ECCD52D4CB8A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c21f85bf-30cf-4a3f-b20f-fc38a03d9031}" enabled="0" method="" siteId="{c21f85bf-30cf-4a3f-b20f-fc38a03d9031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5876</TotalTime>
  <Words>54759</Words>
  <Application>Microsoft Office PowerPoint</Application>
  <PresentationFormat>A4 용지(210x297mm)</PresentationFormat>
  <Paragraphs>8851</Paragraphs>
  <Slides>220</Slides>
  <Notes>137</Notes>
  <HiddenSlides>0</HiddenSlides>
  <MMClips>0</MMClips>
  <ScaleCrop>false</ScaleCrop>
  <HeadingPairs>
    <vt:vector size="6" baseType="variant">
      <vt:variant>
        <vt:lpstr>사용한 글꼴</vt:lpstr>
      </vt:variant>
      <vt:variant>
        <vt:i4>22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220</vt:i4>
      </vt:variant>
    </vt:vector>
  </HeadingPairs>
  <TitlesOfParts>
    <vt:vector size="243" baseType="lpstr">
      <vt:lpstr>a옛날사진관5</vt:lpstr>
      <vt:lpstr>G마켓 산스 TTF Bold</vt:lpstr>
      <vt:lpstr>G마켓 산스 TTF Medium</vt:lpstr>
      <vt:lpstr>KoPubWorld돋움체 Bold</vt:lpstr>
      <vt:lpstr>KoPubWorld돋움체 Medium</vt:lpstr>
      <vt:lpstr>KoPubWorld바탕체 Light</vt:lpstr>
      <vt:lpstr>KoPub돋움체_Pro Medium</vt:lpstr>
      <vt:lpstr>KoPub바탕체 Bold</vt:lpstr>
      <vt:lpstr>Pretendard</vt:lpstr>
      <vt:lpstr>경기천년제목 Bold</vt:lpstr>
      <vt:lpstr>나눔스퀘어</vt:lpstr>
      <vt:lpstr>나눔스퀘어 Bold</vt:lpstr>
      <vt:lpstr>나눔스퀘어_ac</vt:lpstr>
      <vt:lpstr>나눔스퀘어_ac ExtraBold</vt:lpstr>
      <vt:lpstr>맑은 고딕</vt:lpstr>
      <vt:lpstr>맑은 고딕</vt:lpstr>
      <vt:lpstr>함초롬바탕</vt:lpstr>
      <vt:lpstr>Aldhabi</vt:lpstr>
      <vt:lpstr>Arial</vt:lpstr>
      <vt:lpstr>Calibri</vt:lpstr>
      <vt:lpstr>Calibri Light</vt:lpstr>
      <vt:lpstr>Wingdings</vt:lpstr>
      <vt:lpstr>Office 2013 - 2022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황보정운</dc:creator>
  <cp:lastModifiedBy>황보정운</cp:lastModifiedBy>
  <cp:revision>239</cp:revision>
  <cp:lastPrinted>2026-06-25T07:15:15Z</cp:lastPrinted>
  <dcterms:created xsi:type="dcterms:W3CDTF">2021-09-24T12:12:26Z</dcterms:created>
  <dcterms:modified xsi:type="dcterms:W3CDTF">2026-07-27T02:17:50Z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0x0101009D30EBE9304C2346AD8EC6952A85F23C</vt:lpwstr>
  </property>
  <property fmtid="{D5CDD505-2E9C-101B-9397-08002B2CF9AE}" pid="3" name="MediaServiceImageTags">
    <vt:lpwstr/>
  </property>
</Properties>
</file>