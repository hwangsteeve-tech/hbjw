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536" r:id="rId64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학생·취업지원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챗봇 서비스 고도화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인하대학교 앵커사업본부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요구사항 대비 수용여부 조견표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75816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구성요건 공통사항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구성 및 운영환경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및 네트워크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19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기능요구 공통사항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취업·진로 안내 챗봇 답변 품질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취업·진로 안내 챗봇 기능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규정집 수집 및 구조화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규정집 안내 챗봇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대표·주요 시설 홈페이지 콘텐츠 수집·인덱싱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대표·주요 시설 홈페이지 콘텐츠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생성 및 자동 라우팅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UI/UX 개편 및 홈페이지 탑재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 권한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피드백 처리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부서별 동의어·유의어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품질 유지 자동화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콘솔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및 성과 모니터링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개인 프로필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개인별 RAG 지식공간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맥락 기반 검색·추천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LLM 구성 (조건부 과업)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목표성능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사용률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체계연동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상호운용성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32, 37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 이해 및 추진 전략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 내용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 수행 방안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579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지원 부문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504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6725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522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481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일반현황 및 연혁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재무 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관련분야 사업실적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 ([별지 제1호])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2814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20854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94141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518141"/>
          <a:ext cx="6260400" cy="3826641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08월 (16년 5개월)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소프트웨어사업자(1468), 직접생산확인(정보시스템개발서비스 8111159901), 중소기업확인서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46719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45279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7776790"/>
            <a:ext cx="2026800" cy="105385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777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제시형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035990"/>
            <a:ext cx="1954800" cy="8018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데이터 위치를 함께 보여 주는 Trading AI Agent — 출처 카드 · 조문 근거 표시에 적용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7776790"/>
            <a:ext cx="2026800" cy="105385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777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답변 품질 자동 평가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035990"/>
            <a:ext cx="1954800" cy="8018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MES AI Agent 'MOSAIC'의 Judge Agent 자동 평가 — 회귀평가 · 할루시네이션 탐지에 적용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7776790"/>
            <a:ext cx="2026800" cy="1053856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777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교육 서비스 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035990"/>
            <a:ext cx="1954800" cy="801856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 (iF Design Award) — 학생용 챗봇 UI/UX · 위젯에 적용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 및 수상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한국디자인진흥원 우수디자인전문기업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ㆍ㈜에이치나인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자본금 및 최근 3년간 매출액 ([별지 제2호])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재무 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최근 3개년 재무제표(원본 대조필) 별도 제출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【재무제표 준비】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관련분야 사업실적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주요 사업 내용 및 최근 3년 실적 ([별지 제3호])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챗봇 · 생성형 AI(RAG) · 대학 정보서비스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 15점 항목)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생성형 AI 에이전트 · 근거 제시형 응답 · 교육 플랫폼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실적을 중심으로, 본 사업과 직접 연결되는 유관 실적만 연도순으로 기재함 (증빙: 계약서 사본 · 실적증명원)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5068624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2465032"/>
                <a:gridCol w="1017315"/>
                <a:gridCol w="1134697"/>
                <a:gridCol w="7825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계약금액(원)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 (근거 위치 제시형 Agent)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129,385,380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제조 DT 시스템 — MES AI Agent 'MOSAIC' (자동 평가 · 관제)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 ~ 2026.06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1,107,180,000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2025.07 ~ 2025.12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86,200,000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 ~ 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LIFE 및 그룹 홈페이지 사이트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 ~ 2026.12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661,298,000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 정보서비스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 홈페이지 · 학사 정보서비스 실적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챗봇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 · 공공 RAG 챗봇 실적 — 실적 대장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753462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753462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758862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798462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생성형 AI Agent
운영 적용 (2026)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753462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753462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758862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798462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· 교육 서비스
구축 · 운영 업력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753462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753462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758862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【N】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798462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대학 · 공공 정보서비스
실적 (확인 후 기입)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0800" y="848862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현재 수행 중인 업무 포함, 본 업무와 유관한 실적만 기재. 하도급 · 공동도급 실적은 비고에 원도급사 · 지분 표기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관련분야 사업실적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실적에서 검증된 기술의 본 사업 적용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본 사업 적용 사례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것만 가져옴) 근거를 함께 보여 주는 응답, 답변을 자동으로 채점하는 평가, 학생이 쓰기 쉬운 교육 서비스 UX 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세 가지 검증 기술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그대로 챗봇 고도화에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Trading AI Agent (에스케이㈜, 2026)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129294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12569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(근거 기반 응답) 자연어 질의에 </a:t>
            </a:r>
            <a:r>
              <a:rPr sz="110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근거 데이터의 정확한 위치를 함께 제시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하는 추적 가능한 응답 구조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출처 카드 · 규정 조문(규정명·조·항·호) 표시, 근거 없는 질의 확인 불가 안내 (SFR-01·05)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407933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406493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MES AI Agent 'MOSAIC' (SK하이닉스, 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4388940"/>
            <a:ext cx="6332400" cy="129294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4424940"/>
            <a:ext cx="6224400" cy="12569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(자동 평가) Judge Agent가 정확성 · 관련성 · </a:t>
            </a:r>
            <a:r>
              <a:rPr sz="110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근거 충실도</a:t>
            </a: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를 기준으로 답변을 자동 채점, 실행 이력 통합 관제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평가셋 회귀평가 · 할루시네이션 의심 답변 선별 · 품질 대시보드 (SFR-13, QUR-03)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2400" y="578628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00" y="577188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 (2023~2025)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" y="6095880"/>
            <a:ext cx="6332400" cy="129294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6131880"/>
            <a:ext cx="6224400" cy="125694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(교육 서비스 UX) 프로그램 탐색 · 신청 · 콘텐츠 운영, </a:t>
            </a:r>
            <a:r>
              <a:rPr sz="110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iF Design Award 2023 Website 부문 수상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단일 진입점 UI, 위젯 · 전체화면 모드, 출처 카드 디자인, KWCAG 2.2 (SFR-09)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6800" y="7478820"/>
            <a:ext cx="148410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168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제시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7766820"/>
            <a:ext cx="141210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출처·조문 (SFR-05)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1811700" y="79126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908900" y="7478820"/>
            <a:ext cx="148410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19089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평가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4900" y="7766820"/>
            <a:ext cx="141210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회귀평가 (SFR-13)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3403800" y="79126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01000" y="7478820"/>
            <a:ext cx="148410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35010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관제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7000" y="7766820"/>
            <a:ext cx="141210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대시보드 (SFR-15)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4995900" y="791261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93100" y="7478820"/>
            <a:ext cx="148410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5093100" y="7478820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학생 UX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9100" y="7766820"/>
            <a:ext cx="141210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위젯 (SFR-09)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 이해 및 추진 전략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이해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1차 자산 승계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목표 시스템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 전략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사업 이해 및 추진 전략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취업포털 챗봇에서 학생 통합 AI 안내 창구로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배경 및 목표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(1차 → 2차) 1차년도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취업포털 RAG 챗봇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승계해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진로·취업 + 규정집 + 대학생활·시설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3개 영역을 하나의 창구로 통합하고, 개인화 · 품질 관리 체계를 더해 지속 운영 기반을 만듦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91396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347650"/>
                <a:gridCol w="27389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1차년도 (현재)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2차년도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취업포털 콘텐츠 (진로·취업)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진로·취업 + 규정집 + 대학생활·시설 (3개 에이전트)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취업포털 챗봇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진입점 + 자동 라우팅, 대표 홈페이지 · 취업포털 위젯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RAG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· 재순위화 · 표 구조 보존 · 유효기간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로그인, 프로필, 개인 지식공간, 맞춤 추천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관리자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부서별 권한 · 피드백 워크플로 · 동의어 · 자동 회귀평가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Multi-LLM 추상화 + 온프레미스 LLM 전환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6379970"/>
            <a:ext cx="6260400" cy="670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637997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642317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학생의 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6667970"/>
            <a:ext cx="5540400" cy="38292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흩어진 포털 · 홈페이지 · 규정집을 찾아다니지 않고 한 번의 질문으로 근거와 바로가기 링크까지 받습니다.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7140898"/>
            <a:ext cx="6260400" cy="670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7140898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799" y="7184098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상담 인력의 시간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799" y="7428898"/>
            <a:ext cx="5540400" cy="38292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반복되는 단순 문의를 챗봇이 응대하고, 상담이 필요한 질의는 상담 신청 · 담당자로 연결해 심층 상담에 집중하게 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7901827"/>
            <a:ext cx="6260400" cy="670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6800" y="790182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799" y="794502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앵커사업 성과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799" y="8189827"/>
            <a:ext cx="5540400" cy="38292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이용 실적 · 답변 품질 지표를 성과 보고 양식으로 바로 내려받아 취 · 창업 지원 성과관리에 씁니다.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사업 이해 및 추진 전략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과업 범위와 3개월 내 완성을 위한 우선순위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사업 범위 및 우선순위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(핵심 먼저, 확장은 같은 틀로) 시범 오픈(약 8주) 전에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지식베이스 · 3개 안내 기능 · 출처 표기 · 관리자 기능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먼저 검증하고, 개인화 · 고도화 기능은 같은 모듈 구조 위에 순차 반영함 (PMR-02)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482324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817180"/>
                <a:gridCol w="1408590"/>
                <a:gridCol w="109557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시범 오픈 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자산 승계 · 지식베이스 (취업 · 규정 · 홈페이지)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SFR-02·04·06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시범 오픈 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 에이전트 · 자동 라우팅 · 출처 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SFR-05·07·08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시범 오픈 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UI/UX 개편 · 위젯 · 관리자 콘솔 ·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SFR-09·14, INR-01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정식 오픈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체계 · 피드백 워크플로 · 동의어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SFR-10·11·12·15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정식 오픈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품질 자동화 · 회귀평가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SFR-13, QUR-03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정식 오픈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프로필 · 개인 지식공간 · 맞춤 추천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SFR-16·17·18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조건부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LLM 검토 보고서 (필수) · 구성 (GPU 확보 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 /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7289244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734324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예산 대비 범위를 지키는 방법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7541244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19개 기능을 각각 개발하지 않고, '영역별 지식베이스 + 에이전트 + 공통 품질 · 권한 모듈' 하나의 틀에 설정으로 얹습니다. 규정집 · 홈페이지 수집은 공통 수집기 하나에 사이트별 규칙만 추가하여 개발량을 줄입니다.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800" y="833111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세부 기능 목록 · 수집 대상 사이트 수 · 프로필 항목은 요구분석(W1~W2)에서 확정하여 요구사항정의서로 관리 (SFR-01)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1차 자산 승계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사업 이해 및 추진 전략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1차 자산 분석 · 승계 절차와 재사용 판단 기준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1차 구축 자산 분석 · 승계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(버리지 않고 이어 씀) 착수 2주 안에 1차 챗봇의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소스 · 지식베이스 · 관리자 기능 · 운영환경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진단하고, 재사용 · 개선 · 교체를 항목별로 판정해 승계 계획서로 확정함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자산 인수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소스 · 형상 저장소 · 산출물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지식베이스 · 인덱스 · 운영 설정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아키텍처 · 기술 스택 · 의존성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평가셋 기준 현재 답변 품질 측정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기준선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재사용 / 개선 / 교체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판정 근거 · 영향 범위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승계 계획서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 무중단 이관 (병행 운영)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기존 대화 · 피드백 데이터 이전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W3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316800" y="5364000"/>
          <a:ext cx="6260400" cy="32453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04160"/>
                <a:gridCol w="23476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취업포털 지식베이스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최신성 · 메타데이터 유무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재사용 + 메타데이터(게시일 · 유효기간) 보강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파이프라인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청킹 · 임베딩 · 검색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하이브리드 검색 · 재순위화 추가 (개선)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도메인 · 권한 지원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· 부서 권한 구조로 확장 (개선)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구성 · 보안 게이트웨이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 단위 재배치 (재사용)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· 피드백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포함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 후 이관 → 평가셋 후보로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280800" y="868131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1차 구축사 · 기술 스택 · 소스 제공 범위: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【질의 후 확인】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— 미제공 시 동일 기능을 공통 모듈로 재구현하고 지식베이스는 원천 재수집으로 승계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목표 시스템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사업 이해 및 추진 전략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목표 시스템 아키텍처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목표 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(모듈 단위 · 공급자 무종속) 수집 · 지식베이스 · 에이전트 · 서비스 계층을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컨테이너 단위로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LLM은 추상화 계층 뒤에 두어 외부 API와 온프레미스 LLM을 설정으로 바꿈 (SFR-01, INR-02)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39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접점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대표 홈페이지 위젯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634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취업포털 위젯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전체화면 챗봇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600" y="24300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 · 부서 콘솔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3580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 · 비로그인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2818800"/>
            <a:ext cx="4874400" cy="39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28188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28908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대화 · 스트리밍 · 멀티턴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28908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개인화 (프로필 · 개인 지식공간)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2890800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피드백 · 통계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28188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REST API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279600"/>
            <a:ext cx="4874400" cy="39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32796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라우터 (의도 분류)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634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취업 · 진로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940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규정집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24600" y="3351599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대학생활 · 시설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2796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관리자 추가 가능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3740400"/>
            <a:ext cx="4874400" cy="39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37404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· 검색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32800" y="38124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하이브리드 검색 · 재순위화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63400" y="38124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벡터 DB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94000" y="38124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동의어 사전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24600" y="38124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권한 필터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1200" y="37404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영역별 지식베이스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6800" y="4201200"/>
            <a:ext cx="4874400" cy="396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4800" y="42012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328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취업포털 수집기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3634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규정집 파서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940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크롤러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24600" y="4273200"/>
            <a:ext cx="8766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증분 재인덱싱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81200" y="42012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1일 1회 이상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16800" y="4662000"/>
            <a:ext cx="4874400" cy="396000"/>
          </a:xfrm>
          <a:prstGeom prst="rect">
            <a:avLst/>
          </a:prstGeom>
          <a:solidFill>
            <a:srgbClr val="5B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4800" y="4662000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432800" y="47339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추상화 계층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673600" y="47339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LLM API (보안 게이트웨이)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914400" y="4733999"/>
            <a:ext cx="1186800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온프레미스 LLM (조건부)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81200" y="4662000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Multi-LLM</a:t>
            </a:r>
          </a:p>
        </p:txBody>
      </p:sp>
      <p:graphicFrame>
        <p:nvGraphicFramePr>
          <p:cNvPr id="71" name="Table 70"/>
          <p:cNvGraphicFramePr>
            <a:graphicFrameLocks noGrp="1"/>
          </p:cNvGraphicFramePr>
          <p:nvPr/>
        </p:nvGraphicFramePr>
        <p:xfrm>
          <a:off x="316800" y="5194800"/>
          <a:ext cx="6260400" cy="3314307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453879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SFR-01 공통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기반 답변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사실정보는 RAG · 연계 데이터 근거로만 생성, 근거 없으면 확인 불가 + 소관부서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기반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상담사 · 부서 담당자 · 관리자 4개 역할 (RBAC)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로깅 · 스트리밍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접속(IP · ID · 시각) · 질의 · 답변 로깅, SSE 스트리밍, 멀티턴 맥락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 지식베이스 · 에이전트를 모듈 단위로 분리 — 산학협력 · 평생교육 영역 추가 시 설정만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추진 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사업 이해 및 추진 전략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추진 전략과 성과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추진 전략 및 차별화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(정확한 근거 · 계속되는 품질) 3개월 안에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답변 정확도 90% · 근거 정합성 90% · 할루시네이션 3% 이하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달성하고, 오픈 이후에도 품질이 떨어지지 않는 자동 관리 체계를 함께 넘겨드림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8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답변 정확도 ·
근거 정합성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089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89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69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69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할루시네이션율
(정식 오픈 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010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010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90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090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라우팅 정확도
(평가셋 기준)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931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931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011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011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평가셋 문항
(영역별 150↑)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348000"/>
            <a:ext cx="6260400" cy="935652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6800" y="334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799" y="339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근거가 보이는 답변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799" y="363600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사실 답변에 출처 카드(사이트 · 게시일 · 링크)와 규정 조문(규정명 · 조 · 항 · 호)을 붙이고, 마감 · 만료 정보는 그 사실을 명시합니다.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4799" y="4003887"/>
            <a:ext cx="5540400" cy="26176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8799" y="4039887"/>
            <a:ext cx="5432400" cy="20776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90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근거 없으면 추측하지 않고 소관부서 안내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373652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6800" y="4373652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799" y="4416852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 창구, 세 에이전트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799" y="4661652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질문 의도를 자동으로 나눠 취업 · 규정 · 대학생활 에이전트로 보내고, 여러 영역에 걸친 질문은 결과를 합쳐 한 답변으로 드립니다.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5111652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5111652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799" y="5154852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떨어지지 않는 품질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4799" y="5399652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콘텐츠 · 프롬프트 · 모델이 바뀔 때마다 평가셋 회귀평가를 자동 실행하고 기준 미달이면 운영 반영을 보류합니다.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6800" y="5849652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6800" y="5849652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799" y="5892852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부서가 직접 운영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799" y="6137652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부서별 데이터 권한 · 피드백 배정 · 동의어 사전을 부서 담당자 화면에서 직접 관리해 개발사 없이도 답변을 고칩니다.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0800" y="6623652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평가 항목별 제안 위치 &gt;</a:t>
            </a:r>
          </a:p>
        </p:txBody>
      </p: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316800" y="6857652"/>
          <a:ext cx="6260400" cy="2247774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547785"/>
                <a:gridCol w="2738925"/>
                <a:gridCol w="117382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이해 · 방향 · 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자산 승계 · 3개 영역 통합 · 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Ⅱ장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관련분야 사업실적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 Agent · 교육 플랫폼 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Ⅰ장 2절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창의성 · 우수성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카드 · 자동 라우팅 · 자동 회귀평가 · 개인 RAG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Ⅲ장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· 기술 · 보안 · 조직 ·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SW 0원 · OWASP LLM · 13주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 · 교육 · 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2주 시범운영 · AI 리터러시 · 1년 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 내용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진로·취업 챗봇 고도화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규정집 안내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대학생활·시설 안내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에이전트 · UI/UX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· 품질 관리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개인화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LLM 운용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진로·취업 챗봇 고도화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하이브리드 검색 · 표 구조 · 유효기간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답변 품질 고도화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(찾는 정확도가 답의 정확도) 키워드 + 의미 검색을 합치고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재순위화 · 메타데이터 필터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근거를 고르며, 첨부 HWP · PDF의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표 구조를 보존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마감된 공고는 마감 사실을 명시함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질의 확장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동의어 · 약어 사전 (SFR-12)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멀티턴 맥락 반영 재작성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확장 질의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하이브리드 검색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BM25 키워드 검색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벡터 의미 검색 → 점수 결합 (RRF)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후보 50건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유효기간 · 게시일 · 영역 · 권한 메타데이터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마감 정보 별도 표시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유효 후보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재순위화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Cross-encoder Re-ranker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상위 근거 5~8건 선택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최종 근거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094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094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답변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166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20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근거 인용 생성 · 출처 카드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20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근거 부족 시 확인 불가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094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스트리밍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5832000"/>
          <a:ext cx="6260400" cy="1930824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461704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 · 첨부 구조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HWP · PDF · DOCX 파서로 표를 행 · 열 구조(Markdown 표)로 보존, 표 단위 청크 + 표 제목 · 머리글 반복 부착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모집기간 · 신청기한 메타데이터 추출 → 현재 유효 정보 우선, 마감 건은 ‘마감됨(마감일)’ 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회귀평가 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· 검색 설정 변경은 평가셋 회귀평가 통과 시에만 운영 반영 (SFR-13)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316800" y="787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6800" y="787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4800" y="79248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4800" y="832082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답변 정확도
(진로·취업 150문항)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39600" y="787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439600" y="787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47600" y="79248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47600" y="832082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마감 공고를
유효로 안내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62400" y="787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62400" y="787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70400" y="79248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5~8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70400" y="832082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재순위화 후
최종 근거 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진로·취업 챗봇 고도화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바로가기 · 추천 · 상담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기능 확장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(답에서 행동까지) 질의 의도에 맞는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프로그램 · 공지 · 신청 페이지 바로가기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답변과 함께 주고, 상담이 필요한 질의는 상담 신청 · 담당자로 연결함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바로가기 링크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17200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의도별 링크 카드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신청 · 공지 · 프로그램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04400" y="2358000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44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추천 질문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0400" y="2617200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관리자 직접 설정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이용 통계 자동 추천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92000" y="2358000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920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상담 연계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8000" y="2617200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상담 신청 페이지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 연락처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9600" y="2358000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79600" y="2358000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대화 이력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5600" y="2617200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로그인 사용자 조회</a:t>
            </a:r>
          </a:p>
          <a:p>
            <a:pPr marL="88900" indent="-88900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대화 내용 복사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6800" y="3834000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2034630"/>
                <a:gridCol w="1095570"/>
                <a:gridCol w="31302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+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“이번 주 마감인 IT 채용 공고 있어?”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채용정보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공고 목록 + 공고 상세 링크 (마감 임박 표시)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“자소서 첨삭 프로그램 신청하고 싶어”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취업지원 프로그램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요약 + 신청 페이지 바로가기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“비교과 마일리지는 어디서 확인해?”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방법 + 비교과 시스템 링크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“진로 고민인데 상담 받고 싶어”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유형 안내 + 상담 신청 페이지 · 담당자 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316800" y="7323076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316800" y="73230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의도 분류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800" y="7611076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채용·프로그램·상담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1811700" y="7918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908900" y="7323076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1908900" y="73230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근거 답변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4900" y="7611076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카드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3403800" y="7918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501000" y="7323076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>
            <a:off x="3501000" y="73230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링크 카드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37000" y="7611076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신청·공지 이동</a:t>
            </a:r>
          </a:p>
        </p:txBody>
      </p:sp>
      <p:sp>
        <p:nvSpPr>
          <p:cNvPr id="55" name="Isosceles Triangle 54"/>
          <p:cNvSpPr/>
          <p:nvPr/>
        </p:nvSpPr>
        <p:spPr>
          <a:xfrm rot="5400000">
            <a:off x="4995900" y="791887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93100" y="7323076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>
            <a:off x="5093100" y="732307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상담 연결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9100" y="7611076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필요 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0800" y="869107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확장 기능 세부 목록은 요구분석 단계에서 확정. 추천 질문은 도메인별 최대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【8개】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 노출, 관리자 지정 우선 + 최근 2주 인기 질의 자동 보충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규정집 안내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조문 계층 파싱 · 개정 이력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규정집 수집 및 구조화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(조문 단위로 쪼개야 조문으로 답함) 현행 규정 전체를 목록화하고 원문을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편 · 장 · 절 · 조 · 항 · 호 계층 구조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파싱하며, 별표 · 서식 · 부칙과 시행일 · 개정 이력을 함께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목록화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규정명 · 소관부서 · 시행일 · 최종 개정일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발주기관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규정 목록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150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150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파싱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21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HWP · PDF · HTML → 계층 구조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조문 번호 정규화 (제○조의2 등)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150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조문 트리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941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941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013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부칙 · 별표 · 서식 연결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표 형식 별표 구조 보존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941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연결 조문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733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733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805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시행일 · 개정 이력 메타데이터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현행 우선 · 폐지 규정 제외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733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버전 관리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579999"/>
          <a:ext cx="6260399" cy="179609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1799865"/>
                <a:gridCol w="3208454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관리 시스템 수집 가능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1회 변경 감지 → 해당 규정만 재파싱 → 신구 버전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콘솔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수집 불가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소관부서 담당자가 관리자 콘솔에서 개정 · 신설 · 폐지 등록 → 승인 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7484097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53809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조문 트리가 주는 차이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7736097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‘제12조 제2항 제3호’까지 위치를 가진 조문 단위로 저장하므로, 답변이 규정 전체가 아니라 해당 조 · 항 · 호를 정확히 가리키고, 준용 · 위임 조항도 번호로 따라갈 수 있습니다.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규정집 안내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조문 근거 · 참조 추적 · 신구 대비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규정집 안내 챗봇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(해석하지 않고 근거를 보여 줌) 관련 조문을 찾아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규정명 · 조 · 항 · 호와 원문 링크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답하고, 준용 · 위임 관계와 상위 · 하위 규정을 구분해 함께 보여 주며, 최종 해석은 소관부서로 안내함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107144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461704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조문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하단 조문 카드: 규정명 · 제○조 제○항 제○호 · 시행일 · 원문 링크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준용 · 위임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조문 내 ‘제○조를 준용’ · ‘따로 정한다’ 패턴을 참조 그래프로 저장 → 관련 조문 함께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· 하위 규정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학칙 → 규정 → 시행세칙 → 지침 위계 태그로 구분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 문구 · 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규정 답변에 ‘규정 해석의 최종 확인은 소관부서에서 한다’ + 소관부서 연락처 고정 부착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없는 질의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조문 근거 점수 기준 미달 시 해석 · 추정 없이 확인 불가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신구조문 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전 · 후 조문을 좌우 비교 표로 조회 (변경 부분 강조)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573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573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61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“휴학은 몇 학기까지?”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573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573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조문 검색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861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학칙 · 학사규정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573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573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참조 추적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861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준용 · 위임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573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573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위계 구분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861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상위 · 하위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573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573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861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조문 카드 + 소관부서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8691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8691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9231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3191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규정 답변 안내 문구 ·
소관부서 연락처 부착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39600" y="78691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39600" y="78691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47600" y="79231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7600" y="83191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폐지 규정 근거
사용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62400" y="78691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62400" y="78691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0400" y="79231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70400" y="83191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근거 정합성
(조문 일치)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대학생활·시설 안내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수집 인벤토리 · 증분 인덱싱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홈페이지 콘텐츠 수집 · 인덱싱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(전수 식별 후 증분 갱신) 대표 홈페이지와 지정 시설 홈페이지의 공개 콘텐츠를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인벤토리(URL · 유형 · 갱신 주기 · 소관부서)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로 확정하고, 신규 · 변경 · 삭제만 감지해 1일 1회 이상 재인덱싱함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55213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3130200"/>
                <a:gridCol w="15651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주기 (설정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홈페이지 (www.inha.ac.kr)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공지사항 · 학사일정 · 조직 · 부서 안내 · FAQ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 (공지 6시간)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정석학술정보관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운영시간 · 위치 · 이용방법 · 연락처 · 공지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생활관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입사 안내 · 시설 이용 · 공지 · FAQ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학생진로설계포털 (job.inha.ac.kr)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채용 · 프로그램 · 비교과 · 상담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2회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【추가 지정 사이트】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요구분석 단계 확정 (요구사항정의서 붙임)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【주기】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121216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121216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변경 감지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193216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229216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사이트맵 · 목록 페이지 비교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229216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본문 해시 비교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121216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신규·변경·삭제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80521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80521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87721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913216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본문 + 첨부(HWP · PDF)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913216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게시일 · 게시기간 메타데이터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80521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원문 저장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48921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48921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증분 인덱싱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56121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59721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변경 건만 재청킹 · 재임베딩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59721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삭제 건 인덱스 제거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48921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최신 인덱스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7227215"/>
          <a:ext cx="6260400" cy="1827215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robots · 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robots.txt 준수, 요청 간격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【2초】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이상, 수집 시간대 02:00~06:00, 동시 연결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【2개】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교내망 경로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교내망 내부 수집 서버에서 직접 접근 (외부 경유 없음)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개인화 데이터(좌석 · 예약 · 대출 · 선발 결과)는 바로가기만 제공, 조회 연계는 별도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대학생활·시설 안내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공식 출처 우선 · 만료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대학생활·시설 콘텐츠 안내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(공식 출처가 이김) 같은 정보가 여러 사이트에 있으면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소관부서가 게시한 공식 출처를 우선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게시기간이 끝난 공지 · 행사는 만료를 명시하거나 안내에서 제외함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247538"/>
        </p:xfrm>
        <a:graphic>
          <a:graphicData uri="http://schemas.openxmlformats.org/drawingml/2006/table">
            <a:tbl>
              <a:tblPr firstRow="0" bandRow="0"/>
              <a:tblGrid>
                <a:gridCol w="2191140"/>
                <a:gridCol w="406926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· 답변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“도서관 시험기간 운영시간 알려줘”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정석학술정보관 공지(공식 출처) + 운영시간 표, 게시일 · 링크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“2학기 수강신청 언제야?”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학사일정(대표 홈페이지) 기준, 지난 일정은 ‘종료됨’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“생활관 행정실 전화번호?”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최신 조직 · 부서 안내 기준 연락처, 개편 시 갱신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“열람실 지금 자리 있어?”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조회 범위 외 → 좌석현황 시스템 바로가기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713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5713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공식 출처 우선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972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콘텐츠별 소관부서 메타데이터 → 소관부서 게시물 가중치 상향, 출처 사이트 · 링크 표시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5713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5713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만료 정보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5972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게시기간 만료 시 ‘만료’ 표기 또는 안내 제외 (관리자 설정)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5713538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571353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조직 정보 갱신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5972738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조직 · 부서 안내 페이지 우선 수집, 개편 시 담당자 일괄 갱신 화면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00" y="7189538"/>
            <a:ext cx="6332400" cy="995608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799" y="724353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실시간 데이터는 다음 단계로 열어 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99" y="7441538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좌석 · 예약 · 대출 · 생활관 선발 결과는 이번 범위에서 바로가기로 안내하되, 같은 에이전트에 연계 도구만 추가하면 조회할 수 있도록 REST 연계 지점을 설계에 포함합니다 (INR-01).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에이전트 · UI/UX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3개 에이전트 · 자동 라우팅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에이전트 생성 및 자동 라우팅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(한 창구에서 알아서 나눔) 질문 의도를 분석해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취업 · 규정 · 대학생활 에이전트로 자동 라우팅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여러 영역에 걸친 질문은 결과를 합쳐 하나의 답으로 주며, 신뢰도가 낮으면 영역을 고르게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의도 분석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경량 분류 모델 + 키워드 규칙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영역별 신뢰도 점수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신뢰도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라우팅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단일 영역 → 해당 에이전트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복수 영역 → 병렬 실행 후 종합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보완 흐름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신뢰도 &lt; 기준값(관리자 설정)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영역 선택지 제시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사용자 선택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· 보정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라우팅 결과 · 신뢰도 로깅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오분류 사례 → 규칙 추가 · 재학습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정확도 90%↑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설정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지식베이스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· 부서 · 공유받은 데이터 단위 지정 (SFR-10 권한 연동)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· 답변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프롬프트 버전, 고정 안내 문구, 금칙 · 민감 질의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 부서 · 사용 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피드백 배정 부서, 에이전트별 모델 선택 (외부 API / 온프레미스)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· 비활성화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수정 없이 콘솔에서 생성 · 수정 · 비활성화 (예: 산학협력 · 평생교육)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316800" y="79573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79573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800" y="80113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4073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기본 에이전트
(취업 · 규정 · 생활)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79573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39600" y="79573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47600" y="80113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4073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라우팅 정확도
(평가셋 기준)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795732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62400" y="795732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0400" y="801132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40732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에이전트 추가 시
소스 수정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에이전트 · UI/UX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단일 진입점 · 위젯 · 답변 카드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사용자 UI/UX 개편 및 홈페이지 탑재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(어디서나 같은 챗봇) 발주기관 디자인 가이드로 UI를 개편하고,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스크립트 삽입형 위젯(플로팅 · 팝업)과 전체화면 모드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대표 홈페이지 · 취업포털에 탑재하며, KWCAG 2.2를 준수함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SFR-09, INR-03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7845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진입점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질의창 + 도메인 칩(취업 · 규정 · 대학생활/시설) 선택 시 해당 에이전트 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플로팅 버튼 → 팝업 대화창, 스크립트 1줄 삽입, 사이트별 첫 화면 · 추천 질문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이력 · 개인 지식공간 · 프로필이 있는 확장 모드 (로그인 사용자)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카드(사이트 · 게시일) · 규정 조문 카드 · 링크 바로가기 · 마감 표시 배지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· 태블릿 · 모바일, KWCAG 2.2 (키보드 · 스크린리더 · 명도 대비 4.5:1), 점검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디자인 가이드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후 수령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13964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UI 개발표준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인하대 CI · GUI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13964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시안 · 검토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W3~W4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13964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위젯 탑재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운영부서 협의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13964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543846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5438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접근성 점검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831846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결과서 제출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7947846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800184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교육 서비스 UX 경험 적용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8199845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iF Design Award 수상 교육 플랫폼 ‘모두’를 설계한 UX 인력이 학생 이용 흐름(질문 → 근거 확인 → 신청 이동)을 3단계 안에 끝나도록 화면을 설계합니다.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운영 · 품질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소유 · 공유 · 관리 3종 권한 분리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데이터 관리 권한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(데이터는 부서의 것) 지식베이스 데이터마다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소유 · 공유 · 관리 권한을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부서 · 사용자 · 에이전트 단위로 부여하고, 공유되지 않은 데이터는 답변 근거로 쓰이지 않게 검색 단계에서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SFR-10, SFR-14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8" cy="2433144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486844"/>
                <a:gridCol w="2269395"/>
                <a:gridCol w="15651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할 수 있는 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할 수 없는 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부서 / 지정 소관부서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 · 삭제 · 공개 범위 · 타 부서 공유 부여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소유 부서가 지정한 부서 · 에이전트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· 답변 근거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 · 삭제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 · 위임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인덱싱 · 비활성화 · 품질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 수정 (소유 부서 승인 필요)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899146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899146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권한 부여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971146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007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조직 정보 기준 부서 매핑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007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부서 · 사용자 · 에이전트 단위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899146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권한 매트릭스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691146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691146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검색 필터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763146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799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에이전트 공유 범위를 검색 조건에 강제 적용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799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범위 밖 문서는 후보에서 제외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691146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차단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483146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483146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555146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591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부여 · 변경 · 회수 이력 기록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591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부서 담당자 전용 화면 (SFR-14)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483146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감사 추적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729314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‘공유되지 않은 데이터 미사용’은 시험평가에서 범위 밖 문서를 유도하는 질의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【30문항】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으로 검증 (TER-01)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0800" y="7509146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75631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부서가 주인인 지식베이스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7761146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예컨대 생활관이 등록한 입사 안내는 생활관만 고칠 수 있고, 취업 에이전트에는 공유를 허락한 항목만 근거로 쓰입니다. 시스템 관리자도 내용 수정은 소유 부서 승인을 거치므로 책임 소재가 분명합니다.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운영 · 품질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5.2.1 피드백 워크플로 · 동의어 사전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5.2 피드백 처리 · 동의어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(학생의 ‘싫어요’가 답을 고침) 피드백을 오류 유형 · 영역별로 자동 분류해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소관부서에 자동 배정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미검색 질의에서 동의어 후보를 추천받아 담당자 승인 즉시 검색에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SFR-11, SFR-12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피드백 수집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좋아요/싫어요·유형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분류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오답·출처·최신성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부서 배정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소관부서 담당자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콘텐츠·FAQ·사전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완료·이력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기한 초과 알림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654000"/>
          <a:ext cx="6260399" cy="243314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SFR-11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· 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답변별 피드백 + 오류 유형 5종(오답 · 출처 오류 · 정보 부족 · 최신성 · 기타) 자동 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워크플로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검토 → 조치 → 완료, 처리 기한(관리자 설정) 초과 시 담당자 · 관리자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조치(콘텐츠 수정 · 정답 FAQ · 동의어 · 프롬프트) 지식베이스 반영 이력, 영역별 처리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195146"/>
          <a:ext cx="6260399" cy="2833048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SFR-12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사전 + 부서(도메인)별 사전, 사전별 적용 에이전트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확장 단계에서 사전 적용 → 전체 재인덱싱 없이 즉시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자동 추천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미검색 · 저품질 질의 로그에서 후보 추출 (예: ‘도서관’ ↔ ‘정석’) → 담당자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변경 이력, 변경 전 · 후 검색 결과 비교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운영 · 품질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5.3.1 자동 회귀평가 · 의심 답변 선별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5.3 답변 품질 유지 자동화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(오픈 후에도 품질이 지켜지는 구조) 콘텐츠 · 프롬프트 · 모델 · 사전이 바뀔 때마다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평가셋 회귀평가를 자동 실행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기준 미달이면 운영 반영을 보류하며, 운영 답변 중 의심 답변을 자동 선별함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SFR-13, QUR-03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평가셋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영역별 150문항↑ (소관부서 검토)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콘텐츠 변경 → 문항 초안 자동 생성 → 승인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평가셋 확장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회귀평가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정기 (기본 주 1회)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변경 시점 (콘텐츠 · 프롬프트 · 모델 · 사전)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지표 산출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게이트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QUR-03 기준 미달 시 반영 보류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담당자 알림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반영 / 보류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 감시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LLM Judge로 근거 정합성 판정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의심 답변 → 담당자 판정 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피드백 건 등록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330335"/>
                <a:gridCol w="35214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기대 답변 대비 LLM Judge + 담당자 표본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정합성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문장 ↔ 인용 근거 일치 여부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할루시네이션율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3%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근거에 없는 사실 포함 답변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미답변률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불가 응답 비율 (영역 · 에이전트별)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316800" y="7866000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7866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 이상 탐지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800" y="8125200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유효기간 경과 · 링크 오류 · 수집 실패 자동 알림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3600" y="7866000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33600" y="7866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반복 미답변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69600" y="8125200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 미답변 질의 3회↑ → 소관부서 자동 알림 · 처리 건 등록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50400" y="7866000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50400" y="78660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 대시보드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86400" y="8125200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정확도 · 정합성 · 할루시네이션 · 미답변 추이 (영역 · 에이전트별)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운영 · 품질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5.4.1 관리자 콘솔 · 통계 · 성과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5.4 관리자 콘솔 · 통계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(운영과 성과를 한 화면에) 영역 · 에이전트별 지식베이스 · 정답 FAQ · 금칙어 · 프롬프트 버전을 관리하고, 이용 실적 · 품질 ·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LLM 토큰 비용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까지 성과 보고 양식으로 내려받음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SFR-14, SFR-15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612656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콘솔 (SFR-14)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지식베이스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· 에이전트별 콘텐츠 등록 · 수정 · 비활성화, 인덱스 재구축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정답 FAQ(우선 답변) · 금칙어 · 민감 질의 응대 · 고정 문구(면책 · 안내)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 관리 · 미리보기 테스트 · 회귀평가 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 담당자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소관 데이터 · 피드백 · 사전만 조회 ·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078656"/>
          <a:ext cx="6260399" cy="2521328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· 성과 (SFR-15)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 · 에이전트별 질의량 · 이용자 수 · 응답시간 · 만족도 · 미답변률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기간별 비교 · 사용자 유형별 · 인기 · 급증 질의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호출 건수 · 토큰 사용량 · 비용 · 오류율 (월 한도 알림)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성과 양식 맞춤 엑셀 내려받기 (앵커사업 성과관리)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707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707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761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역할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157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학생 · 상담사 ·
부서 담당자 · 관리자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707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707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761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클릭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157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성과 보고 양식
엑셀 내려받기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707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707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761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월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한도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157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LLM 비용 알림 ·
차단 (SER-04)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개인화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프로필 · 개인 RAG 지식공간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학생 프로필 · 개인 지식공간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(나를 아는 챗봇, 남은 못 보는 공간) 로그인 학생이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학과 · 학년 · 관심 분야 · 희망 직무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등록하고, 이력서 · 자기소개서 · 포트폴리오를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본인만 쓰는 개인 지식공간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올려 답변 근거로 함께 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SFR-16, SFR-17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99114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프로필 (SFR-16)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학과 · 학년 · 관심 분야 · 희망 직무 (항목은 요구분석 확정), 학생 직접 등록 · 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자료 (SFR-17)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이력서 · 자기소개서 · 포트폴리오 등록 · 조회 · 삭제 (PDF · DOCX · HWP)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맥락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대화 요약을 개인 지식공간에 저장 → 후속 대화에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지식베이스 + 개인 지식공간 동시 검색, 출처에 ‘내 자료’ 구분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457146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457146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격리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529146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565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사용자별 분리 인덱스 (네임스페이스)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565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검색 시 본인 ID 서버 강제 필터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457146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본인만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249146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249146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321146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357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개인 자료 AES-256 암호화 저장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357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외부 LLM 전송 전 연락처 등 마스킹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249146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SER-02·04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041146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041146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삭제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113146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149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학생 삭제 요청 시 원문 · 벡터 즉시 삭제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149146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삭제 이력 기록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041146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자기결정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887146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79411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다른 사람 자료가 섞이지 않게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8139146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 지식공간 검색은 로그인 세션의 학번을 서버가 직접 필터 조건으로 넣으므로, 질문 내용으로 다른 학생의 자료를 요청해도 검색 후보에 오르지 않습니다. 시험평가에서 타인 자료 유도 질의로 검증합니다.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개인화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6.2.1 개인 맥락 기반 검색 · 추천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6.2 개인 맥락 기반 검색 · 추천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질문, 나에게 맞는 답) 학생 프로필을 질의 맥락에 반영해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해당 학생에게 맞는 정보를 먼저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보여 주고, 맞춤 채용 · 프로그램 · 비교과를 추천하며, 언제든 일반 답변으로 전환할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SFR-18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54819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112885"/>
                <a:gridCol w="2738925"/>
              </a:tblGrid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답변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 답변 (컴퓨터공학과 3학년 · 백엔드 희망)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“인턴십 공고 있어?”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유효 인턴 공고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IT · 백엔드 직무 공고 우선 + 3학년 지원 가능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“추천 비교과 있어?”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인기 비교과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관심 분야 관련 + 아직 이수하지 않은 프로그램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“자소서 봐줘”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자소서 작성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 자기소개서(개인 지식공간) 기반 + 첨삭 프로그램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0141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50141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개인화 표시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2733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‘내 프로필 기준 답변’ 배지, 한 번 눌러 일반 답변 전환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50141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50141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구조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52733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클릭 · 신청 · 피드백 이력 가중치 → 추천 정확도 점진 향상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5014195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5014195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확장 구조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5273395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프로필 스키마 확장형 — 이수 학점 · 자격증 등 추후 추가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6800" y="6382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16800" y="6382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800" y="6670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학과·학년·직무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1493280" y="6923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590480" y="6382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1590480" y="6382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맥락 반영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6480" y="6670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질의 재작성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2766960" y="6923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864160" y="6382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2864160" y="6382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가중 검색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00160" y="6670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관련 문서 상향</a:t>
            </a:r>
          </a:p>
        </p:txBody>
      </p:sp>
      <p:sp>
        <p:nvSpPr>
          <p:cNvPr id="52" name="Isosceles Triangle 51"/>
          <p:cNvSpPr/>
          <p:nvPr/>
        </p:nvSpPr>
        <p:spPr>
          <a:xfrm rot="5400000">
            <a:off x="4040640" y="6923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137840" y="6382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 Same Side Corner Rectangle 53"/>
          <p:cNvSpPr/>
          <p:nvPr/>
        </p:nvSpPr>
        <p:spPr>
          <a:xfrm>
            <a:off x="4137840" y="6382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맞춤 추천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73840" y="6670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채용·프로그램</a:t>
            </a:r>
          </a:p>
        </p:txBody>
      </p:sp>
      <p:sp>
        <p:nvSpPr>
          <p:cNvPr id="56" name="Isosceles Triangle 55"/>
          <p:cNvSpPr/>
          <p:nvPr/>
        </p:nvSpPr>
        <p:spPr>
          <a:xfrm rot="5400000">
            <a:off x="5314320" y="69239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11520" y="63821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 Same Side Corner Rectangle 57"/>
          <p:cNvSpPr/>
          <p:nvPr/>
        </p:nvSpPr>
        <p:spPr>
          <a:xfrm>
            <a:off x="5411520" y="63821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피드백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47520" y="66701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가중치 갱신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0800" y="7678195"/>
            <a:ext cx="6332400" cy="969875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6799" y="77321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개인정보 최소 활용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6799" y="7930195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개인화에는 학생이 직접 입력한 프로필과 본 서비스 이용 이력만 쓰고 학사 시스템 원천 데이터는 조회하지 않습니다. 프로필은 언제든 수정 · 삭제할 수 있으며, 외부 LLM에는 마스킹된 맥락만 전달합니다.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LLM 운용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제안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7.1.1 LLM 추상화 · 온프레미스 LLM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7.1 Multi-LLM · 온프레미스 LLM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(설정 한 줄로 모델 교체) 모든 LLM 호출을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추상화 계층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하나로 모아 외부 API · 온프레미스 LLM을 에이전트별로 선택하고, GPU 확보 여부와 관계없이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온프레미스 적용 검토 보고서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SFR-19, INR-02, QUR-04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취업 · 진로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규정집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대학생활 · 시설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에이전트별 모델 설정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추상화 계층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공통 인터페이스 (OpenAI 호환)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재시도 · 대체 라우팅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토큰 · 비용 계측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INR-02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LLM API ①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【공급자】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LLM API ② (대체)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온프레미스 LLM (vLLM)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GPU 확보 시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3866399"/>
          <a:ext cx="6260400" cy="224121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173825"/>
                <a:gridCol w="367798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SFR-19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확보 통보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4주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→ GPU 사양 · 확보 예정 시점 통보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검토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 (필수 제출)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모델 · 서빙 구성 · 외부 API 대비 성능 · 비용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 6주 전 GPU 준비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vLLM 서빙 · 병행 · 전환 운영, 이후 준비 시 별도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비교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평가셋으로 외부 API 대비 정확도 · 정합성 비교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280800" y="621561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온프레미스 LLM 검토 보고서 비교 항목 (예시) &gt;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449615"/>
          <a:ext cx="6260400" cy="20339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425905"/>
                <a:gridCol w="242590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LLM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기준선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평가셋 정확도 · 정합성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TTFT · 완료 시간 (네트워크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사양별 TTFT · 동시 처리량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토큰 사용량 × 단가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전력 · 운영 인력 · 감가 (월 환산)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후 전송 · 학습 미사용 계약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 완결 — 개인 자료 질의에 유리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280800" y="855561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GPU 서버 · 온프레미스 LLM 모델 도입 비용은 범위 제외. LLM · 임베딩 모델은 컨테이너 단위로 분리하여 전체 재배포 없이 모델 단위 교체 (QUR-04)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 수행 방안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시스템 및 기술 적용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 · 인터페이스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시험 · 품질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수행조직 · 일정 · 관리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및 기술 적용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서버 구성 · 자원 산정 · SW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서버 구성 및 운영환경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(대학 제공 인프라 위에 컨테이너로) WAS · AI 연계 · DB 3종 서버를 역할별로 구성하고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검색 · 임베딩 · 챗봇을 독립 컨테이너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배포하며, 운영 SW는 공개 SW로 구성해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종료 후 라이선스 추가 비용 0원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ECR-01, ECR-02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799865"/>
                <a:gridCol w="2191140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 (산정 근거)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챗봇 API · 관리자 콘솔 · 위젯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SSD 1TB (동시 500명, 세션당 50MB)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 Active-Standby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· 재순위화 · 임베딩 · 벡터 DB · 수집기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SSD 1TB (벡터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【200만】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1대 (확장 시 수평)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· 피드백 · 사용자 · 평가셋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16코어 · 64GB · SSD 1TB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2대 이중화 (Primary-Standby)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(조건부)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LLM 서빙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확보 사양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랙 · 네트워크 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225313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 · 컨테이너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【Rocky Linux 9】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Docker / Podman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0원 (공개 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· 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Nginx · Python(FastAPI) · Node.js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0원 (공개 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DBMS · 벡터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16 + pgvector /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【OpenSearch】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(하이브리드 검색)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0원 (공개 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Prometheus · Grafana · APM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0원 (공개 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7818641"/>
            <a:ext cx="6332400" cy="94414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87264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라이선스 원칙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070641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운영 SW를 공개 SW로 구성하여 라이선스 비용이 발생하지 않으며, 사용 SW와 라이선스(Apache 2.0 · PostgreSQL · MIT 등) 목록을 제출합니다 (COR-01). 1차 운영환경의 SW는 승계 진단 결과에 따라 재사용합니다.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시스템 및 기술 적용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스토리지 · 네트워크 · 비용 부담 구분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스토리지 · 네트워크 · 인프라 제공 범위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(누가 무엇을 내는지 명확히) 스토리지 용량과 교내망 수집 경로 · 아웃바운드 Allow-list를 제시하고, 추가 도입 항목을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HW · SW · 보안 솔루션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나눠 비용 부담 주체를 표로 구분함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ECR-03, COR-03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667984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2973689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원문 · 첨부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【800】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 + 홈페이지 · 포털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【5만】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건 × 평균 1MB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【60GB】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임베딩 벡터 · 인덱스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청크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【200만】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× 1,024차원 × 4B × 인덱스 2배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【20GB】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· 피드백 ·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【5,000】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대화 × 20KB × 1년 + 감사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【60GB】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(7세대)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· 벡터 · 원문 전체 백업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【1TB】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133985"/>
          <a:ext cx="6260400" cy="2971328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1565100"/>
                <a:gridCol w="23476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도입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 부담 주체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서버 · 온프레미스 LLM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인하대학교 (범위 제외)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스토리지 · 네트워크 · 방화벽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인하대학교 (기본 인프라 제공)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 · WAS · DBMS · 벡터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·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 (공개 SW — 0원)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게이트웨이 (Egress Proxy)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솔루션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【기존 교내 장비 활용 / 별도 협의】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LLM API 이용료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【사업기간 중 제안사 · 이후 인하대학교 — 질의 확정】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8213313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821331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교내망 수집 경로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8472513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연계 서버 → 교내 홈페이지 직접 접근, 야간 수집 · 요청 간격 제한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3600" y="8213313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3600" y="821331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아웃바운드 Allow-list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9600" y="8472513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LLM API 도메인만 허용, 보안 게이트웨이 경유 · 호출 로그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0400" y="8213313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50400" y="821331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하이브리드 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6400" y="8472513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컨테이너 이미지 그대로 클라우드 이전 가능 구조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성능 · 인터페이스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목표 성능 · 자원 사용률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성능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(수치로 약속, 도구로 측정) 동시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300명(피크 500명) 오류율 1% 이하, TTFT 평균 3초 · 완료 15초 이내, 연간 가용성 99%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를 부하 테스트 · APM으로 측정해 시범 오픈 전에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PER-01, PER-02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15398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173825"/>
                <a:gridCol w="2504160"/>
                <a:gridCol w="14085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300명 (피크 500명), 오류율 1%↓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2대 · 비동기 스트리밍 · 연결 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테스트 (k6)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첫 응답 (TTFT)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· 재순위화 병렬화, 시맨틱 캐시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시험질의 100건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15초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수 제한 · 답변 길이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시험질의 100건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연간 99%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 · 자동 재기동 · Graceful Degradation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감시 1분 간격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· 정합성 90%↑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SFR-02·13 품질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300문항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619985"/>
          <a:ext cx="6260400" cy="209065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사용률 (PER-02)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· 메모리 · 스토리지 · 네트워크 사용률 상시 수집 (Prometheus), 운영 리포트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건수 · 응답시간 · 오류율 · 월별 토큰 사용량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임계치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80% · 디스크 85% · API 오류율 5% 초과 시 관리자 알림 (기준 설정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818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818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87264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26864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피크 동시 사용자
오류율 1% 이하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818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818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87264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26864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첫 응답 평균
(TTFT)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818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818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87264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99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26864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연간 가용성
(계획 점검 제외)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성능 · 인터페이스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체계연동 · 학내 AI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인터페이스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(느슨하게 연결, 쉽게 확장) 수집 대상 시스템 · SSO(인하포털) · LLM을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REST API와 추상화 계층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연결하고, 학내 AI 서비스(논문분석 등)와는 API 기반 연계 방안을 설계로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INR-01, INR-02, INR-04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549144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2895435"/>
                <a:gridCol w="17216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학생진로설계포털 (job.inha.ac.kr)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목록 · 상세 수집 (가능 시 DB 뷰 / API 우선)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수집기 승계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· 시설 홈페이지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페이지 크롤링, 사이트맵 · RSS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robots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관리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수집 가능 시 수집, 불가 시 콘솔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SSO (인하포털)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【SAML / OIDC / 기존 SSO 에이전트】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단일 로그인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LLM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추상화 계층 + Multi-LLM (공급자 2종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게이트웨이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015146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학내 AI 서비스 연계 방안 (INR-04 — 통합 개발은 범위 외)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249146"/>
          <a:ext cx="6260400" cy="283304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챗봇 → 학내 AI 서비스 호출용 도구 인터페이스 (REST · OpenAPI 명세)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· 질의응답 결과 JSON 교환, 출처 메타데이터 포함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간 토큰 (OAuth2 Client Credentials), 호출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· 책임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챗봇 = 질의 접수 · 라우팅 · 응답 표시 / 학내 AI = 전문 처리 · 결과 반환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915419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데이터는 JSON · CSV로 추출 가능, 특정 제품 종속 없음 (INR-02). 연동 대상 · 범위는 요구분석 단계에서 협의 확정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데이터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생명주기 · 최신성 · 백업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데이터 관리 · 품질 · 백업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(최신이 아니면 안내하지 않음) 원문 · 벡터 · 대화 이력을 생명주기로 관리하고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유효기간 지난 콘텐츠는 제외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하며, 백업은 벡터 DB까지 포함해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RTO 12시간 · RPO 24시간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이내로 복구함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DAR-01, DAR-02, DAR-03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원문·메타데이터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파싱·정제·마스킹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인덱싱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청크·벡터·키워드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증분·유효기간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폐기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만료·삭제 요청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546000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 (DAR-01)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RDBMS(대화 · 사용자 · 평가셋) + 원문 저장소 + 벡터 DB 결합, 개인정보 · 대화 이력 암호화 · 접근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최신성 (DAR-02)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소관부서 · 게시일 · 유효기간 · 최종 수집일 메타데이터, 만료 콘텐츠 제외 · 비활성화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이상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실패 · 링크 오류 알림, 사이트별 수집 성공률 · 인덱싱 현황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(DAR-03)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일 1회 전체 + 6시간 증분, 벡터 DB · 인덱스 일 1회 스냅샷, 7세대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413313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대처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Standby 서버 전환, 디스크 교체 후 백업 복구 (RTO 12h 이내)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 자동 재기동, 이전 버전 이미지로 롤백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교내 네트워크 담당 협조, 위젯 ‘일시 점검’ 안내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LLM API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 LLM 자동 라우팅 → 실패 시 정답 FAQ · 검색 결과만 제공 (Graceful Degradation)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보안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접근 통제 · 암호화 · AI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보안관리 · 데이터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(사람 · 데이터 · AI 모두 통제) 역할 기반 권한(RBAC) ·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TLS 1.2+ · AES-256 · 감사 로그 1년 이상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적용하고, 프롬프트 인젝션 · 탈옥 · 개인정보 유출을 입력과 출력 양쪽에서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SER-01, SER-02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인하대학교 정보보호 기준 · 「개인정보 보호법」 · 교육부 정보보호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상담사 · 부서 담당자 · 관리자 RBAC, 부서별 데이터 권한 (SFR-10)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구간 TLS 1.2 이상, 개인정보 · 대화 이력 · 개인 자료 AES-256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감사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 · 권한 변경 · 데이터 조회 이력 1년 이상 보관, 비인가 접근 경고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495132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AI 입출력 보안 (SER-01)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185328"/>
          <a:ext cx="6260400" cy="257665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인젝션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문서 · 사용자 입력은 데이터 영역으로 격리, 지시성 문구 탐지 · 무력화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탈옥 (Jailbreak)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분류기 + 시스템 지시 우선 정책, 탐지 시 고정 안내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유출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LLM 전송 전 연락처 · 학번 등 마스킹 · 가명처리, 출력 PII 재검사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지시문 유출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프롬프트 요청 차단 · 출력 유사도 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16800" y="786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86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800" y="7923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256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bit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800" y="8319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AES 암호화
(개인정보 · 대화)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39600" y="786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39600" y="786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7600" y="7923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47600" y="8319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감사 로그
보관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62400" y="786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62400" y="786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70400" y="7923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0400" y="8319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PII 원문
외부 전송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보안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시큐어코딩 · OWASP LLM Top 10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SW 개발보안 · 외부 LLM API 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(오픈 전 진단 완료) 행정안전부 개발보안 가이드에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진단도구로 2회 이상 진단 · 조치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OWASP Top 10 · LLM Top 10 대응을 정식 오픈 전에 끝내며, API 키 · 학습 미사용 · 과금 한도를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SER-03, SER-04, COR-01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1619997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 도구 ·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【SAST 진단도구】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개발 서버 CI 연동, OWASP ZAP 동적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 횟수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중간(W8) · 오픈 전(W10) 2회 이상, 조치 결과 보고서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 일시 · 로그인 정보 자동 기록, 로그 접근 · 백업 · 삭제는 관리자만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086000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446053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OWASP LLM Top 10 (주요)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LLM01 프롬프트 인젝션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격리 · 지시성 문구 탐지 · 권한 필터는 서버에서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LLM02 민감정보 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마스킹, 출력 PII 검사, 개인 지식공간 본인 강제 필터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LLM06 과도한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챗봇은 조회 전용, 상태 변경 기능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LLM09 허위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강제 · 확인 불가 응답 · 할루시네이션 자동 선별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LLM10 무제한 소비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사용자별 요청 한도 · 월 과금 한도 알림 ·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642000"/>
          <a:ext cx="6260400" cy="1863214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4460535"/>
              </a:tblGrid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LLM API (SER-04 · COR-01)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 저장소(Vault) 보관, 관리자만 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미사용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공급자 데이터 보관 · 학습 정책 확인 보고, 학습 미사용 옵션 · 계약 조건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결과물 이용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공급자 약관상 학내 활용 범위 사전 확인 ·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시험 · 품질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시험평가 · 품질 게이트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시험평가 및 품질보증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(두 개의 관문) 기능 · 성능 · 인터페이스 · 보안 · 접근성 ·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답변 품질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시험평가 절차서로 정의해 TRR에서 확정하고,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시범 오픈 · 정식 오픈 품질 게이트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통과해야만 오픈함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TER-01, TER-02, TER-03, QUR-01, QUR-02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39104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3756239"/>
                <a:gridCol w="125208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52개 추적표 기준 단위 · 통합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 ~ 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답변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평가셋 300문항 (영역별 150↑) 정확도 · 정합성 · 할루시네이션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W8 ~ 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300 / 피크 500명 부하, TTFT · 완료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 · OWASP · KWCAG 2.2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 ~ 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공유되지 않은 데이터 · 타인 개인 자료 미사용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857048"/>
          <a:ext cx="6260400" cy="17960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게이트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오픈 (W9 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기능 검증 완료, 정확도 · 정합성 85%↑, 성능 목표 충족, 보안 고위험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 (W12)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· 정합성 90%↑ · 할루시네이션 3%↓, 시범운영 결함 조치 완료, 접근성 점검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7761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7761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 계획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8049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절차서 작성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8302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7761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7761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TRR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8049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절차서 확정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8302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7761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7761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 수행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8049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책임자 입회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8302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7761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7761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결함 조치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8049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원인·조치계획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8302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776114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776114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재시험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804914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결과서 제출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0800" y="902114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소프트웨어 품질 특성(기능적합성 · 신뢰성 · 사용성 · 보안성)별 확인 항목을 품질계획서에 정의하고, SW 개량 시 회귀평가로 성능을 보장 (QUR-02)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수행조직 · 일정 ·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역할별 인력 구성 · 투입 기간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수행조직 및 투입인력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(소수 정예, 교체 없음) RAG 서비스 구축 경력 PM 아래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AI(LLM · RAG) · Backend · Frontend · Infra · QA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역할별 인력을 배치하고, 투입 인력은 사업기간 중 교체하지 않음 (하도급 없음, 전원 자사 인력)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3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앵커사업본부 (주관)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정보통신처 IT서비스팀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콘텐츠 소관부서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산출물 검토 · 평가셋 검수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54800"/>
            <a:ext cx="4874400" cy="43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8548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관리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(웹 기획 겸)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 · 보안 (QA)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28548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주간 보고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351599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351599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4235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(LLM · RAG) 2명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63400" y="34235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Backend 1명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4000" y="34235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Frontend · 퍼블리싱 1명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24600" y="3423599"/>
            <a:ext cx="8766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 1명 · Infra 1명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351599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자사 인력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316800" y="3920400"/>
          <a:ext cx="6260399" cy="4800695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704295"/>
                <a:gridCol w="547785"/>
                <a:gridCol w="2269395"/>
                <a:gridCol w="939059"/>
                <a:gridCol w="62604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경력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(웹 기획)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【생성형 AI · 대학 정보서비스 구축 PM】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책임 (LLM · RAG)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【Trading AI Agent · RAG 구축】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~ W13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 (수집 · 평가)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【문서 파싱 · 평가 자동화】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 ~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Backend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【API · 관리자 콘솔 · SSO】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Frontend · 퍼블리싱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【중급】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【위젯 · 반응형 · KWCAG】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 ~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UX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【교육 플랫폼 UX (모두)】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 ~ W6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Infra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【온프레미스 컨테이너 · 보안 게이트웨이】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 ~ 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【시험평가 · 시큐어코딩 진단】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 ~ W12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280800" y="87931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인력별 이력은 [별지 제4·5호] 투입인력 명단표 · 이력사항으로 제출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【이력 작성】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. 부득이한 교체는 인하대학교 사전 승인 후 동등 이상 인력으로만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수행조직 · 일정 ·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6.2.1 13주 주 단위 세부 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6.2 추진 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(8주 시범 · 12주 정식 · 13주 완료) 착수 15일 이내 수행계획서,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W9 시범 오픈 → 2주 시범운영 → W12 정식 오픈 → W13 검수 · 완료보고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사업연도 종료 전에 끝냄 (W1 = 2026. 11. 23. 주 가정)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1484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704295"/>
                <a:gridCol w="1017315"/>
                <a:gridCol w="2504160"/>
                <a:gridCol w="101731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요구분석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W1~W2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11.23~12.04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착수보고(10일), 1차 자산 인수 · 진단, 수집 대상 목록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W2~W4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11.30~12.18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지식베이스 · UI/UX 설계, 평가셋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요구사항정의서 ·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 ·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W3~W8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12.07~01.15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· 인덱싱, 3개 에이전트 · 라우팅, 관리자 · 통계,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· 품질검증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W7~W9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01.04~01.22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· 성능 · 보안 시험, AI 답변 품질 검증, 중간보고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W10~W11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01.25~02.05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오픈(2주), 피드백 반영, 관리자 · 사용자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 ·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W12~W13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02.08~02.19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정식 오픈, 기술이전, 완료보고 ·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완료보고서 ·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28084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28084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시범 오픈 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35284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38884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지식베이스 · 취업 · 학사·대학정보 안내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38884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출처 표기 · 관리자 기능 검증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28084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W9 게이트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01884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01884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시범운영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09084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12684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2주 이상 실사용 피드백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12684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결함 · 개선 요청 반영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01884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W10~W11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756848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756848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정식 오픈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828848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86484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 게이트 통과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864848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안정화 지원 개시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756848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00" y="851284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계약이 늦어지면 설계 · 구축을 겹쳐 진행하고 시범운영 2주 · 검수 1주는 유지. 설 연휴(’27년 2월)는 W11~W12 계획에 반영. 지연 위험은 즉시 보고 (PMR-02)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수행조직 · 일정 ·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사업 수행 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6.3.1 형상 · 의사소통 · 범위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6.3 사업관리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(발주기관이 늘 볼 수 있게) 수행계획서에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범위 · 일정 · 품질 · 의사소통 · 위험 · 형상 · 보안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관리계획을 담고, Git 저장소 · 이슈 트래커 접근 권한을 인하대학교에 열어 소스를 수시 점검할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PMR-01, PMR-03, PMR-04, COR-02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6265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173825"/>
                <a:gridCol w="367798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회의 ·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참석 ·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착수회의 · 요구분석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 · W2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 · 수집 대상 · 협업 체계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검토회의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지식베이스 · UI/UX · 평가셋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 검토회의 (TRR)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 절차서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오픈 · 종료회의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 · W13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중간보고 / 완료보고 (협의 시 통합 개최)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· 월간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 · 매월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 · 이슈 · 위험, 시범 오픈 후 사용자 이슈 주간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28656"/>
          <a:ext cx="6260400" cy="266798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 (PMR-03)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저장소 · 이슈 트래커, 형상항목 식별 · 변경통제, 인하대학교 담당부서 접근 권한 부여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소관부서 협업 (PMR-04)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협의 채널 운영 · 회의록 관리, 평가셋 검토 일정 사전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과업범위 (COR-02)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변경은 서면 승인 후 진행, GPU · 수집 대상 외 시스템 기능 개발은 범위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개발환경 (COR-02)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시험 HW · SW는 제안사 준비, 정품 SW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304641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35864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협업 체계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556642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주관부서 · 콘텐츠 소관부서 담당자가 매주 같은 화면(이슈 트래커)에서 진척 · 산출물 리뷰 · 평가셋 검토 요청을 확인하도록 하여, 3개월 일정에서 의견 대기 시간을 줄입니다.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지원 부문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시범운영 · 안정화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교육훈련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기술이전 · 지원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유지보수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시범운영 · 안정화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2주 시범운영 · 안정화 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시범운영 및 안정화 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(실사용으로 검증 후 오픈) 정식 오픈 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2주 이상 시범운영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학생 · 상담사 피드백을 반영하고, 오픈 후 안정화 기간을 운영하며 용역기간을 넘는 부분은 무상 하자보수로 이어서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시범 오픈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대상: </a:t>
            </a: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【재학생 · 상담인력 일부】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위젯 · 전체화면 시범 노출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피드백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답변별 피드백 · 설문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주간 이슈 보고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W10~W11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반영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결함 · 개선 요청 조치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평가셋 재측정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정식 게이트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정식 오픈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대표 홈페이지 · 취업포털 위젯 공개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안정화 모니터링 개시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W12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094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094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안정화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166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20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일일 품질 · 장애 모니터링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20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용역기간 이후 하자보수로 연속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094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오픈 후 </a:t>
            </a:r>
            <a:r>
              <a:rPr sz="10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【4주】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5832000"/>
          <a:ext cx="6260399" cy="1723606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안정화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응답시간 · 오류율 · 미답변 · 저품질 답변 일일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결함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1등급 즉시 · 2등급 당일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보고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 결과 · 이용 실적 · 품질 검증 결과를 발주기관 앵커사업 성과 양식으로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316800" y="76636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6800" y="76636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4800" y="77176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4800" y="81136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시범운영
(정식 오픈 전)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39600" y="76636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439600" y="76636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47600" y="77176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【4】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47600" y="81136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정식 오픈 후
안정화 지원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62400" y="766360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62400" y="766360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70400" y="771760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70400" y="811360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무상 하자보수로
연속 지원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교육훈련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관리자 · 사용자 · AI 리터러시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교육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(검수 전에 모두 마침) 관리자(취업지원 · 상담 · 콘텐츠 소관부서)와 사용자(학생 · 교직원) 교육을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검수 이전에 완료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챗봇의 한계를 알고 쓰도록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리터러시 교육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포함함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PSR-01, INR-03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759312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330335"/>
                <a:gridCol w="2504160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 · 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취업지원 부서 · 상담인력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콘솔 · 정답 FAQ · 통계 · 성과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 2시간 · 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 담당자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소관부서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소관 데이터 · 피드백 처리 · 동의어 사전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 2시간 · W10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교직원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요령 · 출처 확인 · 개인화 · 개인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영상 · 안내문 ·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리터러시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답변의 한계 · 근거 확인 습관 · 개인정보 주의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+ 패널 도움말 · W11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225313"/>
          <a:ext cx="6260399" cy="1999328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(국문)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· 전체화면 · 대화 이력 · 프로필 · 개인 지식공간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· 지식베이스 · 권한 · 프롬프트 · 평가셋 · 통계 (화면 캡처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 담당자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소관 데이터 관리 · 피드백 처리 · 사전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332642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33264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무상 방문 교육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7591841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지정 횟수 이상 방문 교육 (4.4) — 관리자 · 부서 담당자 각 1회 이상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3600" y="7332642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3600" y="733264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이해도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9600" y="7591841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실습 과제로 확인, 결과를 교육 결과 보고에 포함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50400" y="7332642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50400" y="7332642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교육 자료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86400" y="7591841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전자문서 · 영상 제공, 신규 담당자 재교육에 재사용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기술이전 · 지원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운영 역량 이전 · LLM 변경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기술이전 및 기술지원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(개발사 없이 운영 가능하게) 지식베이스 운영 · 용어사전 · 평가셋 · 프롬프트 튜닝 · 장애 대처를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문서와 방문 실습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이전하고, 외부 LLM 모델 변경 · 서비스 종료 · 요금 변경 시 영향 분석을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9104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컨테이너 · 네트워크 구성, 배포 · 롤백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지식베이스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관리 · 수집 규칙 추가 · 인덱스 재구축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· 평가셋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동의어 승인 · 평가셋 문항 관리 · 회귀평가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프롬프트 튜닝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 관리 · 미리보기 · 회귀평가 후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+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대처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유형별 조치 절차 · 백업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절차서 + 모의 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857048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변경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변경 · 단종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대체 모델 평가셋 비교 → 추상화 계층 설정 변경 → 회귀평가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Multi-LLM 대체 공급자로 전환, 온프레미스 LLM 전환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요금체계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사용량 기준 월 비용 영향 분석, 모델 · 답변 길이 정책 조정안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161048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21504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기술지원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413048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응용 SW 유지관리 · 기능향상을 위한 기술지원 창구를 운영하고, 하자보수 기간 중 기능 개선 요청은 범위 · 공수를 산정하여 협의합니다.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유지보수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지원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1년 하자보수 · 장애 등급별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하자보수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(검수 완료일부터 1년) 납품 SW · 응용 SW · 산출물 전체를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1년 무상 하자보수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장애 등급별 응답 · 복구 시간을 지키며, 모델 단위 교체 구조로 재배포 없이 LLM · 임베딩을 바꿈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738925"/>
                <a:gridCol w="1173825"/>
                <a:gridCol w="11738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최초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1등급 (긴급)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챗봇 전체 중단, 개인정보 노출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2등급 (중요)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1개 중단, 수집 · 인덱싱 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1영업일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3등급 (일반)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기능 · 화면 오류, 답변 품질 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1영업일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3영업일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662000"/>
          <a:ext cx="6260400" cy="3312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보증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완료일부터 1년(12개월), 하자보수 이행보증서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납품 SW · 응용 SW · 기타 산출물 전체, 정식 오픈 후 안정화 연속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책임자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책임자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지정, 지원 창구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【전화 · 이메일】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우선 (교내 승인 접속), 1등급 미복구 시 방문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· 임베딩 모델을 컨테이너 단위로 교체, 전체 재배포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808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808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8136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53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무상 하자보수
(검수 완료일부터)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808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808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8136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53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1등급 장애
최초 응답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808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808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8136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53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데이터 복구 목표
(RTO)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요구사항 대비 수용여부 조견표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75816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808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25, 47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INR-04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AI 서비스 연계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품질 및 최신성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및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 절차서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시험평가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보안관리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개발보안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LLM API 운영/보안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답변 품질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32, 49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 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개발환경 및 과업범위 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제공 범위 명확화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42, 44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의사소통관리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 및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시범운영 및 안정화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