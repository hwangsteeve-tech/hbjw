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기반 통합 학생·취업지원 챗봇 서비스 구축 고도화 사업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인하대학교 앵커사업본부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인하대학교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2916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 ·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제안요청내용의 명확한 이해를 바탕으로 방향과 전략 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5~7, 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관련분야 실적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챗봇 · 생성형 AI(RAG) · 대학 정보서비스 등 관련분야 사업실적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창의성 · 우수성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제안내용의 창의성 및 우수성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8~9, 12~17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구현방안의 구체성 및 실현 가능성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7, 14, 17, 19, 21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·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및 기술 적용계획, 보안 요구사항 준수계획의 적절성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 19~20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· 일정 · 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수행조직, 일정 및 개발방법의 효율성 및 합리성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21~22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지원부문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· 교육 · 기술지원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유지보수, 교육, 기술지원에 대한 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24~25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99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599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799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99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9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802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2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203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02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 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605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5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수행 방안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090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08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9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609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090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지원 부문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1차 자산 승계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 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추진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관련 실적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한 번의 질문으로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근거까지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 — 인하대 학생 통합 AI 창구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1차년도 취업포털 RAG 챗봇 승계 → 진로·취업 + 규정집 + 대학생활·시설 통합, 개인화 · 품질 관리 자동화 (앵커사업)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인하대학교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앵커사업본부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계약일부터 약 3개월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(’27년 2월 종료 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1억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3개 안내 영역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52개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사업 이해 — 취업포털 챗봇에서 학생 통합 AI 창구로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1차년도 챗봇을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버리지 않고 승계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하여 3개 영역으로 넓히고,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근거 · 개인화 · 품질 유지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더해 지속 운영 기반을 만듦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핵심은 기능 수가 아니라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오픈 후에도 정확도가 유지되는 운영 체계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640199" cy="4715996"/>
        </p:xfrm>
        <a:graphic>
          <a:graphicData uri="http://schemas.openxmlformats.org/drawingml/2006/table">
            <a:tbl>
              <a:tblPr firstRow="0" bandRow="0"/>
              <a:tblGrid>
                <a:gridCol w="1245037"/>
                <a:gridCol w="2075062"/>
                <a:gridCol w="3320100"/>
              </a:tblGrid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2차년도 (본 사업)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 + 규정집 + 대학생활·시설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취업포털 챗봇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진입점 · 자동 라우팅 · 홈페이지 위젯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RAG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· 재순위화 · 표 구조 · 유효기간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· 프로필 · 개인 지식공간 · 맞춤 추천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1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권한 · 피드백 · 동의어 · 자동 회귀평가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3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Multi-LLM · 온프레미스 전환 구조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126199" y="1260000"/>
            <a:ext cx="47430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8199" y="1303200"/>
            <a:ext cx="45990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2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학생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8199" y="1555200"/>
            <a:ext cx="45990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0199" y="1584000"/>
            <a:ext cx="4635000" cy="11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번의 질문으로 근거 · 바로가기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마감 · 만료 정보 명시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 프로필 맞춤 추천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26199" y="2862000"/>
            <a:ext cx="47430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8199" y="2905200"/>
            <a:ext cx="45990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2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상담 인력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8199" y="3157200"/>
            <a:ext cx="45990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0199" y="3186000"/>
            <a:ext cx="4635000" cy="11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반복 문의 감소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상담 필요 질의는 신청 연결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부서 화면에서 직접 답변 수정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6199" y="4464000"/>
            <a:ext cx="47430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8199" y="4507200"/>
            <a:ext cx="45990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2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앵커사업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98199" y="4759200"/>
            <a:ext cx="45990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0199" y="4788000"/>
            <a:ext cx="4635000" cy="11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이용 실적 · 품질 지표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 보고 양식 내려받기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268"/>
              </a:spcAft>
              <a:buFont typeface="Segoe UI Symbol"/>
              <a:buChar char="✓"/>
            </a:pPr>
            <a:r>
              <a:rPr sz="132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LLM 토큰 비용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1차 자산 승계 — 2주 안에 진단하고 이어 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2주 안에 1차 챗봇의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소스 · 지식베이스 · 관리자 · 운영환경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진단해 재사용 · 개선 · 교체를 판정하고,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무중단 병행 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1274400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자산 인수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1188000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산출물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27200" y="1562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96400" y="1260000"/>
            <a:ext cx="1274400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9600" y="1602000"/>
            <a:ext cx="1188000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 품질 기준선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99600" y="1562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68800" y="1260000"/>
            <a:ext cx="1274400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1602000"/>
            <a:ext cx="1188000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재사용 · 개선 · 교체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572000" y="1562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41200" y="1260000"/>
            <a:ext cx="1274400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4400" y="1602000"/>
            <a:ext cx="1188000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병행 운영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4000" y="2189877"/>
          <a:ext cx="5691599" cy="4290120"/>
        </p:xfrm>
        <a:graphic>
          <a:graphicData uri="http://schemas.openxmlformats.org/drawingml/2006/table">
            <a:tbl>
              <a:tblPr firstRow="0" bandRow="0"/>
              <a:tblGrid>
                <a:gridCol w="1932996"/>
                <a:gridCol w="3758603"/>
              </a:tblGrid>
              <a:tr h="8580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580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취업포털 지식베이스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재사용 + 게시일 · 유효기간 보강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80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파이프라인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80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· 부서 권한 구조로 확장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80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· 피드백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이관 → 평가셋 후보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소스 미제공 시 대안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7600" y="1638000"/>
            <a:ext cx="5511600" cy="4770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동일 기능을 공통 모듈로 재구현 (신규 3개 영역과 같은 틀)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지식베이스는 원천 재수집으로 승계 — 메타데이터까지 새로 확보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 서비스는 신규 오픈 시점까지 병행 운영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1차 구축사 · 스택 · 소스 범위는 </a:t>
            </a:r>
            <a:r>
              <a:rPr sz="15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【질의 후 확인】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목표 시스템 — 모듈 단위 · 공급자 무종속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 · 지식 · 에이전트 · 서비스를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컨테이너 단위로 분리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LLM은 추상화 계층 뒤에 두어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외부 API ↔ 온프레미스를 설정으로 전환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SW는 모두 공개 SW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사업 종료 후 라이선스 추가 비용 0원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9439200" cy="714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422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48000" y="1486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대표 홈페이지 위젯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2800" y="1486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취업포털 위젯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37600" y="1486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전체화면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2400" y="1486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· 부서 콘솔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53200" y="1422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비로그인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0" y="2190000"/>
            <a:ext cx="9439200" cy="714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190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8000" y="2254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스트리밍 · 멀티턴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4400" y="2254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프로필 · 개인 지식공간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800" y="2254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피드백 · 통계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53200" y="2190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REST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2958000"/>
            <a:ext cx="9439200" cy="714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2958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48000" y="3022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라우터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92800" y="3022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 · 진로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37600" y="3022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규정집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2400" y="3022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대학생활 · 시설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53200" y="2958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콘솔에서 추가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726000"/>
            <a:ext cx="9439200" cy="714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726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· 검색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3790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하이브리드 · 재순위화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92800" y="3790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벡터 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37600" y="3790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동의어 사전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2400" y="3790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 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53200" y="3726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영역별 지식베이스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" y="4494000"/>
            <a:ext cx="9439200" cy="714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4494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48000" y="4558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포털 수집기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92800" y="4558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규정 파서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37600" y="4558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크롤러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2400" y="4558800"/>
            <a:ext cx="19908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증분 인덱싱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53200" y="4494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1일 1회 이상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000" y="5262000"/>
            <a:ext cx="9439200" cy="714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" y="5262000"/>
            <a:ext cx="1152000" cy="71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48000" y="5326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추상화 계층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74400" y="5326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API ① · 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00800" y="5326800"/>
            <a:ext cx="2672400" cy="58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 (조건부)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53200" y="5262000"/>
            <a:ext cx="2015999" cy="714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게이트웨이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추진 전략과 성과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근거가 보이는 답변 · 한 창구 세 에이전트 · 떨어지지 않는 품질 · 부서가 직접 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정식 오픈 전 정확도 · 정합성 90%, 할루시네이션 3% 이하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근거가 보이는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카드 · 규정 조문 카드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마감 · 만료 명시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없으면 소관부서 안내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한 창구, 세 에이전트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의도 자동 라우팅 90%↑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복수 영역 결과 종합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낮은 신뢰도는 선택지 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떨어지지 않는 품질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변경 시 자동 회귀평가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기준 미달 반영 보류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의심 답변 자동 선별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부서가 직접 운영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소유 · 공유 · 관리 권한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피드백 자동 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동의어 즉시 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90%↑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정확도 · 정합성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할루시네이션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126199" y="2231999"/>
          <a:ext cx="4742999" cy="4248000"/>
        </p:xfrm>
        <a:graphic>
          <a:graphicData uri="http://schemas.openxmlformats.org/drawingml/2006/table">
            <a:tbl>
              <a:tblPr firstRow="0" bandRow="0"/>
              <a:tblGrid>
                <a:gridCol w="2710285"/>
                <a:gridCol w="2032714"/>
              </a:tblGrid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라우팅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300문항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300명 (피크 500)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3초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관련분야 실적 — 생성형 AI Agent · 교육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근거를 함께 보여 주는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Trading AI Agent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답변을 자동 채점하는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MOSAIC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학생이 쓰기 쉬운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 플랫폼 ‘모두’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경험을 그대로 적용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1" cy="5219996"/>
        </p:xfrm>
        <a:graphic>
          <a:graphicData uri="http://schemas.openxmlformats.org/drawingml/2006/table">
            <a:tbl>
              <a:tblPr firstRow="0" bandRow="0"/>
              <a:tblGrid>
                <a:gridCol w="3719646"/>
                <a:gridCol w="1407433"/>
                <a:gridCol w="1306902"/>
              </a:tblGrid>
              <a:tr h="839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955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(근거 위치 제시형)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955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 AI Agent 'MOSAIC' (자동 평가 · 관제)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2231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‘모두’ 유지보수 ·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2024~25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9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955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 · 공공 RAG 챗봇 / 대학 정보서비스 실적】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19982" y="1260000"/>
            <a:ext cx="4949217" cy="16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제시 → 출처 · 조문 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982" y="1584000"/>
            <a:ext cx="4841217" cy="132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Trading AI Agent 응답 구조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데이터 위치를 함께 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SFR-01 · 05 근거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9982" y="3030000"/>
            <a:ext cx="4949217" cy="16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1982" y="307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자동 평가 → 회귀평가 · 의심 답변 선별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1982" y="332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3982" y="3354000"/>
            <a:ext cx="4841217" cy="132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MOSAIC Judge Agent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정확성 · 근거 충실도 자동 채점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SFR-13 · QUR-03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9982" y="4800000"/>
            <a:ext cx="4949217" cy="16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982" y="484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 UX → 위젯 · 단일 진입점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982" y="509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3982" y="5124000"/>
            <a:ext cx="4841217" cy="132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iF Design Award 2023 (모두)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프로그램 탐색 · 신청 UX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88"/>
              </a:spcAft>
              <a:buFont typeface="Segoe UI Symbol"/>
              <a:buChar char="✓"/>
            </a:pPr>
            <a:r>
              <a:rPr sz="141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SFR-09 위젯 · 접근성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검색 품질 · 기능 확장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규정집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대학생활 · 시설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라우팅 · UI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· 품질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개인화 · LLM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진로·취업 답변 품질 고도화 · 기능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SFR-02, SFR-03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하이브리드 검색 + 재순위화 + 표 구조 보존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근거를 정확히 찾고, 마감된 공고는 마감을 명시하며, 답변에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신청 · 공지 바로가기와 상담 연계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붙임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동의어 · 맥락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36203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5403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05403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8603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키워드 + 의미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17607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6807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6807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0007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유효기간 · 권한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9901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8210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68210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재순위화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1410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5~8건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80414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9614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49614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2814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카드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34340"/>
          <a:ext cx="6209017" cy="4145656"/>
        </p:xfrm>
        <a:graphic>
          <a:graphicData uri="http://schemas.openxmlformats.org/drawingml/2006/table">
            <a:tbl>
              <a:tblPr firstRow="0" bandRow="0"/>
              <a:tblGrid>
                <a:gridCol w="1851812"/>
                <a:gridCol w="4357205"/>
              </a:tblGrid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 · 첨부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HWP · PDF 표를 행 · 열 구조로 보존해 표 안의 값까지 답변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유효 정보 우선, 마감 건은 ‘마감됨(날짜)’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회귀평가 통과 시에만 운영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695018" y="1422000"/>
          <a:ext cx="5174181" cy="2609740"/>
        </p:xfrm>
        <a:graphic>
          <a:graphicData uri="http://schemas.openxmlformats.org/drawingml/2006/table">
            <a:tbl>
              <a:tblPr firstRow="0" bandRow="0"/>
              <a:tblGrid>
                <a:gridCol w="2333454"/>
                <a:gridCol w="2840727"/>
              </a:tblGrid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+ 연결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“이번 주 마감 IT 공고?”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공고 + 상세 링크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“자소서 첨삭 신청”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요약 + 신청 바로가기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4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“상담 받고 싶어”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신청 ·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695018" y="4139740"/>
            <a:ext cx="2542090" cy="2340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7018" y="418294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추천 질문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7018" y="443494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9018" y="4463740"/>
            <a:ext cx="2434090" cy="198025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설정 + 통계 자동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도메인별 노출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최근 2주 인기 질의 보충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7109" y="4139740"/>
            <a:ext cx="2542090" cy="2340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9109" y="4182940"/>
            <a:ext cx="239809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대화 이력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99109" y="4434940"/>
            <a:ext cx="239809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109" y="4463740"/>
            <a:ext cx="2434090" cy="198025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로그인 사용자 조회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대화 내용 복사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9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SSO 개인화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규정집 — 조문 단위 구조화와 근거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SFR-04, SFR-05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현행 규정 전체를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편 · 장 · 절 · 조 · 항 · 호 트리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파싱해 조문으로 답하고, 준용 · 위임과 상위 · 하위 규정을 함께 보여 주며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해석은 소관부서로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목록화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규정명 · 시행일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조문 트리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부칙 · 별표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1628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현행 우선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2158970"/>
          <a:ext cx="5691599" cy="4321028"/>
        </p:xfrm>
        <a:graphic>
          <a:graphicData uri="http://schemas.openxmlformats.org/drawingml/2006/table">
            <a:tbl>
              <a:tblPr firstRow="0" bandRow="0"/>
              <a:tblGrid>
                <a:gridCol w="1825607"/>
                <a:gridCol w="3865992"/>
              </a:tblGrid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별표 · 서식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본문 연결, 표 구조 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우선 검색, 폐지 규정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02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수집 / 불가 시 콘솔 등록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4569054"/>
        </p:xfrm>
        <a:graphic>
          <a:graphicData uri="http://schemas.openxmlformats.org/drawingml/2006/table">
            <a:tbl>
              <a:tblPr firstRow="0" bandRow="0"/>
              <a:tblGrid>
                <a:gridCol w="1825607"/>
                <a:gridCol w="3865992"/>
              </a:tblGrid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규정명 · 조 · 항 · 호 + 원문 링크 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 추적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준용 · 위임 참조 그래프로 관련 조문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위계 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학칙 → 규정 → 시행세칙 → 지침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안내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‘최종 해석은 소관부서’ + 연락처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1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신구 대비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전 · 후 조문 비교 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근거 조문이 없으면 해석 · 추정 없이 확인 불가로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대학생활 · 시설 — 수집 인벤토리와 공식 출처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SFR-06, SFR-07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대표 · 시설 홈페이지를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인벤토리로 전수 식별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 신규 · 변경 · 삭제만 1일 1회 이상 재인덱싱하고, 같은 정보는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소관부서 공식 출처를 우선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758370"/>
        </p:xfrm>
        <a:graphic>
          <a:graphicData uri="http://schemas.openxmlformats.org/drawingml/2006/table">
            <a:tbl>
              <a:tblPr firstRow="0" bandRow="0"/>
              <a:tblGrid>
                <a:gridCol w="3830884"/>
                <a:gridCol w="1860715"/>
              </a:tblGrid>
              <a:tr h="55167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167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홈페이지 (공지 · 학사일정 · 조직 · FAQ)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67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정석학술정보관 (운영시간 · 이용 · 공지)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67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생활관 (입사 · 시설 · 공지)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67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학생진로설계포털 (채용 · 프로그램)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2회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288370"/>
          <a:ext cx="5691599" cy="2191629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730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정책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30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robots 준수 · 요청 간격 · 야간 수집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해시 비교 → 변경 건만 재인덱싱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1422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9600" y="1465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공식 출처 우선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9600" y="1717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00" y="1746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소관부서 게시물 가중치 상향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사이트 · 링크 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게시일 함께 표기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7600" y="3138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600" y="3181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만료 정보 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600" y="3433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00" y="3462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게시기간 만료 시 ‘만료’ 표기 또는 제외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설정으로 선택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최신 조직 정보로 연락처 갱신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7600" y="4854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9600" y="489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실시간 데이터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9600" y="5149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00" y="5178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좌석 · 예약 · 대출은 바로가기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연계 지점은 설계에 포함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다음 단계에 도구만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에이전트 · 자동 라우팅 · UI/UX 개편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SFR-08, SFR-09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질문 의도를 분석해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3개 에이전트로 자동 라우팅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(정확도 90%↑)하고, 스크립트 한 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위젯 · 전체화면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대표 홈페이지 · 취업포털에 탑재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신뢰도 점수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라우팅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단일 · 복수 종합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영역 선택지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오분류 규칙 추가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2334340"/>
          <a:ext cx="5691599" cy="4145655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· 부서 · 공유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· 정책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· 고정 문구 · 금칙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LLM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/ 온프레미스 선택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콘솔에서 소스 수정 없이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4368105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요소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진입점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질의 + 도메인 칩 선택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플로팅 → 팝업, 스크립트 1줄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· 조문 · 링크 · 마감 배지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· KWCAG 2.2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디자인 가이드 수령 후 W3~W4 시안 — iF Design Award 교육 플랫폼 UX 인력 수행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운영 · 품질 관리 — 부서가 고치고, 시스템이 지킴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SFR-10, SFR-11, SFR-12, SFR-13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소유 · 공유 · 관리 권한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부서 데이터를 지키고, 피드백은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소관부서 자동 배정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변경 때마다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자동 회귀평가 → 미달 시 반영 보류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4086000"/>
        </p:xfrm>
        <a:graphic>
          <a:graphicData uri="http://schemas.openxmlformats.org/drawingml/2006/table">
            <a:tbl>
              <a:tblPr firstRow="0" bandRow="0"/>
              <a:tblGrid>
                <a:gridCol w="1422900"/>
                <a:gridCol w="4268700"/>
              </a:tblGrid>
              <a:tr h="102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수 있는 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2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· 삭제 · 공개 범위 · 공유 부여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· 답변 근거 (수정 불가)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· 비활성화 (내용 수정은 승인)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유형 선택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272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96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오답 · 출처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6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부서 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기한 알림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4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FAQ · 사전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자동화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150↑, 변경 시 문항 초안 자동 생성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 + 변경 시점 자동 실행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미달 시 운영 반영 보류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Judge로 의심 답변 선별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미검색 질의 → 후보 추천 → 즉시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주 1회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자동 회귀평가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재인덱싱 (사전 반영)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관리자 콘솔 · 통계 · 개인화 · LLM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SFR-14, SFR-15, SFR-16, SFR-17, SFR-18, SFR-19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성과 보고 양식까지 내려받는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관리 · 통계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본인만 쓰는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개인 지식공간과 맞춤 추천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설정으로 바꾸는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Multi-LLM · 온프레미스 LLM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900052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FAQ · 금칙어 · 프롬프트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 데이터 · 피드백 · 사전만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이용 · 만족도 · 미답변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· 비용 · 오류율 · 월 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양식 엑셀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430055"/>
          <a:ext cx="5691599" cy="2049942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683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SFR-19 조건부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83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필수 제출 (모델 · 성능 · 비용)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3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6주 전 GPU 준비 시 vLLM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1422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9600" y="1465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학생 프로필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9600" y="1717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00" y="1746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학과 · 학년 · 관심 분야 · 희망 직무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학생 직접 등록 · 수정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항목은 요구분석 확정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7600" y="3138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600" y="3181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개인 지식공간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600" y="3433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00" y="3462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26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이력서 · 자소서 · 포트폴리오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26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본인 ID 서버 강제 필터 · AES-256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7600" y="4854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9600" y="489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맞춤 검색 · 추천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9600" y="5149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00" y="5178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26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프로필 반영 우선 검색 · 맞춤 프로그램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26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‘개인화’ 배지 · 일반 답변 전환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수행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인프라 · 성능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시험 · 품질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조직 · 일정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인프라 · 성능 ·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수행 방안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ECR-02, PER-01, DAR-03, COR-03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대학 제공 서버에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WAS · DB 이중화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동시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300명(피크 500) · TTFT 3초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벡터 DB까지 백업해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RTO 12h · RPO 24h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475000"/>
        </p:xfrm>
        <a:graphic>
          <a:graphicData uri="http://schemas.openxmlformats.org/drawingml/2006/table">
            <a:tbl>
              <a:tblPr firstRow="0" bandRow="0"/>
              <a:tblGrid>
                <a:gridCol w="1288664"/>
                <a:gridCol w="2469939"/>
                <a:gridCol w="1932996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1TB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Active-Standby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1TB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 (수평 확장)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1TB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005000"/>
          <a:ext cx="5691599" cy="2475000"/>
        </p:xfrm>
        <a:graphic>
          <a:graphicData uri="http://schemas.openxmlformats.org/drawingml/2006/table">
            <a:tbl>
              <a:tblPr firstRow="0" bandRow="0"/>
              <a:tblGrid>
                <a:gridCol w="2684716"/>
                <a:gridCol w="3006883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부담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네트워크 · GPU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인하대학교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· WAS · DBMS · 벡터 DB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(공개 SW 0원)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게이트웨이 · LLM 이용료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【질의 확정】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2189076"/>
                <a:gridCol w="3502523"/>
              </a:tblGrid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300명 (피크 500) · 오류 1%↓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 /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3초 / 15초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연간 99%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 LLM → FAQ · 검색 결과로 축소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500명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피크 동시 사용자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복구 (RTO)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보안 — 사람 · 데이터 · AI 입출력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수행 방안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SER-01, SER-02, SER-03, SER-04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TLS 1.2+ · AES-256 · 감사 로그 1년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LLM 전송 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개인정보 마스킹 · 학습 미사용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OWASP · LLM Top 10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진단은 오픈 전 완료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616685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상담사 · 부서 담당자 · 관리자 RBAC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 1.2+, 개인정보 · 대화 AES-256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이상, 비인가 접근 경고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진단도구 2회 (W8 · W10) +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146685"/>
          <a:ext cx="5691599" cy="2333312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저장소 · 관리자만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활용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미사용 옵션 · 약관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한도 알림 · 차단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1422000"/>
          <a:ext cx="5691599" cy="4368108"/>
        </p:xfrm>
        <a:graphic>
          <a:graphicData uri="http://schemas.openxmlformats.org/drawingml/2006/table">
            <a:tbl>
              <a:tblPr firstRow="0" bandRow="0"/>
              <a:tblGrid>
                <a:gridCol w="2189076"/>
                <a:gridCol w="3502523"/>
              </a:tblGrid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OWASP LLM Top 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인젝션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격리 · 지시성 문구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민감정보 노출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 · 출력 PII 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과도한 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챗봇은 조회 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허위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강제 · 확인 불가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01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무제한 소비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· 과금 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개인 지식공간은 세션 학번을 서버가 필터로 강제 — 타인 자료 유도 질의로 시험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시험평가 · 품질 게이트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수행 방안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TER-01, QUR-01, QUR-03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평가셋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300문항(영역별 150↑)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소관부서 검토로 확정하고,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시범 오픈 · 정식 오픈 두 개의 품질 게이트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통과해야만 오픈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8" cy="5058000"/>
        </p:xfrm>
        <a:graphic>
          <a:graphicData uri="http://schemas.openxmlformats.org/drawingml/2006/table">
            <a:tbl>
              <a:tblPr firstRow="0" bandRow="0"/>
              <a:tblGrid>
                <a:gridCol w="1532353"/>
                <a:gridCol w="3064707"/>
                <a:gridCol w="1094538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52개 요구 추적표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정합성 · 할루시네이션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300 / 피크 500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접근성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OWASP · KWCAG 2.2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W9~10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미공유 · 타인 자료 미사용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599" cy="4086000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(W9 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 · 정확도 85%↑ · 성능 · 보안 고위험 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(W12)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정합성 90%↑ · 할루시네이션 3%↓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76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절차서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08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TRR 확정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80799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00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50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32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책임자 입회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32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24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22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56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원인 · 계획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25599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948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94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80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수행조직 · 13주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수행 방안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PMR-01, PMR-02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자사 인력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8명 · 9.3 M/M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W9 시범 오픈 → 2주 시범운영 → W12 정식 오픈 → W13 검수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829920" cy="5057997"/>
        </p:xfrm>
        <a:graphic>
          <a:graphicData uri="http://schemas.openxmlformats.org/drawingml/2006/table">
            <a:tbl>
              <a:tblPr firstRow="0" bandRow="0"/>
              <a:tblGrid>
                <a:gridCol w="1542240"/>
                <a:gridCol w="1101600"/>
                <a:gridCol w="4186080"/>
              </a:tblGrid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요구분석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W1~2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착수보고(10일) · 1차 자산 진단 · 수집 목록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W2~4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지식베이스 · UI/UX · 평가셋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·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W3~8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3개 에이전트 · 관리자 · 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품질검증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성능 · 보안 · AI 품질, 중간보고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W10~11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시범 · 피드백 반영 · 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·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W12~13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· 기술이전 · 완료보고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920" y="1422000"/>
          <a:ext cx="4553280" cy="4368105"/>
        </p:xfrm>
        <a:graphic>
          <a:graphicData uri="http://schemas.openxmlformats.org/drawingml/2006/table">
            <a:tbl>
              <a:tblPr firstRow="0" bandRow="0"/>
              <a:tblGrid>
                <a:gridCol w="3162000"/>
                <a:gridCol w="1391280"/>
              </a:tblGrid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(웹 기획 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(LLM · RAG) 2명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Backend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Frontend · 퍼블리싱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 · Infra · QA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01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(8명)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920" y="5898109"/>
            <a:ext cx="455328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Git · 이슈 트래커를 인하대에 개방 — 소스 수시 점검, 주간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지원 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시범운영 · 교육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기술이전 · 하자보수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시범운영 · 안정화 ·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 부문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PSR-01, PSR-03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정식 오픈 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2주 이상 시범운영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오픈 후 안정화는 하자보수로 이어서 지원, 관리자 · 사용자 ·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리터러시 교육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검수 전에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97992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 오픈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8935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W10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33272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1920" y="1422000"/>
            <a:ext cx="97992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1920" y="1422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120" y="1764000"/>
            <a:ext cx="8935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주간 이슈 보고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1064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9840" y="1422000"/>
            <a:ext cx="97992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79840" y="1422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3040" y="1764000"/>
            <a:ext cx="8935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재측정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8856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57760" y="1422000"/>
            <a:ext cx="97992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57760" y="1422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오픈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0960" y="1764000"/>
            <a:ext cx="8935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W12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86648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5680" y="1422000"/>
            <a:ext cx="97992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5680" y="1422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8880" y="1764000"/>
            <a:ext cx="89352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【4주】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34340"/>
          <a:ext cx="5691599" cy="4145656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· 성과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· 오류 · 미답변 일일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즉시 · 2등급 당일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앵커사업 성과 양식 작성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취업지원 · 상담인력 — 방문 2시간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소관부서 — 방문 2시간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교직원 — 영상 · 안내문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리터러시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한계 · 근거 확인 · 개인정보 주의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2주↑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시범운영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검수 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기술이전 · 1년 무상 하자보수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 부문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PSR-02, QUR-04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지식베이스 · 사전 · 평가셋 · 프롬프트 · 장애 대처를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문서 + 방문 실습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이전하고, 검수 완료일부터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1년 무상 하자보수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· LLM 변경 영향 분석 지원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근거를 보여 주고, 오픈 후에도 정확한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인하대 학생 통합 AI 창구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에이치나인이 함께 완성합니다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1422000"/>
          <a:ext cx="5691599" cy="2648052"/>
        </p:xfrm>
        <a:graphic>
          <a:graphicData uri="http://schemas.openxmlformats.org/drawingml/2006/table">
            <a:tbl>
              <a:tblPr firstRow="0" bandRow="0"/>
              <a:tblGrid>
                <a:gridCol w="2189076"/>
                <a:gridCol w="3502523"/>
              </a:tblGrid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· 배포 · 롤백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지식베이스 · 인덱스 재구축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동의어 · 평가셋 · 회귀평가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튜닝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대처 ·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절차서 + 모의 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4000" y="4178055"/>
          <a:ext cx="5691599" cy="1797942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599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99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변경 · 단종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비교 → 설정 전환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9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종료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 공급자 · 온프레미스 검토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7600" y="1422000"/>
          <a:ext cx="5691599" cy="3654000"/>
        </p:xfrm>
        <a:graphic>
          <a:graphicData uri="http://schemas.openxmlformats.org/drawingml/2006/table">
            <a:tbl>
              <a:tblPr firstRow="0" bandRow="0"/>
              <a:tblGrid>
                <a:gridCol w="2517438"/>
                <a:gridCol w="1422900"/>
                <a:gridCol w="1751261"/>
              </a:tblGrid>
              <a:tr h="913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3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(전체 중단)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2등급 (에이전트 중단)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1영업일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3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3등급 (일부 오류)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1영업일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3영업일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177600" y="5184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7600" y="5238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7600" y="5706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무상 하자보수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7400" y="5184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7400" y="5238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7400" y="5706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1등급 최초 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인하대 학생 통합 AI 창구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