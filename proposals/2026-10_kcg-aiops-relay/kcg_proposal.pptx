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통합관제 데이터 연계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및 중계환경 구축 용역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해양경찰청 (정보통신과)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735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660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881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678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637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1683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0608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2829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0626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5585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8631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테스트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7556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9777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7574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2533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5579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4504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6725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4522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9481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252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145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367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147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642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입찰자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입찰자의 조직 및 업무분장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서비스 기획·개발·운영과 AI Agent·모니터링 플랫폼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수행해 온 경험으로 통합관제 체계를 완성함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 [붙임 1호 서식]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2026.10 (16년 6개월)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632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630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[붙임 3호 서식] (단위: 천원)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6633612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280800" y="838281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RFP 서식은 2024~2026년도 기준 — 2026년도 수치 및 자기자본비율·유동비율은 【재무제표 확정 후 기재】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조직 현황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특급 기술자 22명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보유하여 기획·디자인·개발·품질관리를 자체 인력으로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70000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연혁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/ iF Design Award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GRAND PRIZE, 디지털 서비스혁신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5180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5166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 구성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5490000"/>
            <a:ext cx="4874400" cy="46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4900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5562000"/>
            <a:ext cx="36684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81200" y="54900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6022800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4800" y="60228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4328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36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14400" y="60948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60228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서비스 기획·UI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6555600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6555600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736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14400" y="6627600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6555600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7088399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7088399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32800" y="7160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7160399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81200" y="7088399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316800" y="7693200"/>
          <a:ext cx="6260400" cy="651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017315"/>
                <a:gridCol w="1017315"/>
                <a:gridCol w="1017315"/>
                <a:gridCol w="1017315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 (18.8%)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 (13.7%)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 (16.2%)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 (51.3%)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유사분야 수행실적 (최근 3년)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(AIOps·모니터링·데이터 연계 실적)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운영 모니터링 플랫폼, 이상탐지 자동화, 제조 데이터 연계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 경험을 본 사업의 통합관제·데이터 중계에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유사분야: ① AIOps 구축 ② 통합 모니터링 시스템 구축 ③ 데이터 연계·중계 시스템 개발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399" cy="3097468"/>
        </p:xfrm>
        <a:graphic>
          <a:graphicData uri="http://schemas.openxmlformats.org/drawingml/2006/table">
            <a:tbl>
              <a:tblPr firstRow="0" bandRow="0"/>
              <a:tblGrid>
                <a:gridCol w="2504160"/>
                <a:gridCol w="1252080"/>
                <a:gridCol w="939059"/>
                <a:gridCol w="860805"/>
                <a:gridCol w="70429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유사분야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38,006,760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32,853,200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27,440,000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1,170,490,000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25년 차세대 표준 아키텍처 구축 Ph1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2024.12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220,104,000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851468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유사분야 해당 여부와 정량 반영 금액은 [붙임 4·5호 서식] 수행실적증명서 기준으로 【최종 확정】 (민간 실적은 계약서·세금계산서 첨부)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608186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06746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실적의 본 사업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Agent 운영 모니터링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실행 이력·지표 통합 수집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이상 상태 자동 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통합 관제 화면·알람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336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4336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96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 제시형 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RCA·LLM 분석 가이드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0400" y="6391468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0400" y="6391468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 표준·연계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6400" y="6650668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제조 DT 표준 아키텍처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이기종 데이터 연계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→ 데이터 중계·정규화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입찰자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1.2.2 핵심 수행사례 — MES AI Agent 통합 관제(MOSAIC)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유사사업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(AIOps 핵심 사례) SK하이닉스 MES 운영 로그·시스템 지표를 실시간 분석해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이상 징후 탐지 → 원인 후보 식별 → 품질 평가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까지 수행하는 AI Agent 관제 체계를 구축함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800" y="2358000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94000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모니터링) Agent 실행 이력·도구 호출·처리 결과·시스템 지표를 통합 수집·분석하는 운영 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(원인 분석) 로그·메트릭·실행 이력 간 상관관계 분석으로 장애 구간과 원인 후보를 식별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5049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034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SK가스 Trading AI Agent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35896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39496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처리 체계) 시황 데이터 업데이트·조회·다운로드를 표준화한 데이터 처리 체계와 다단계 분석 구조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응답) 자연어 질의에 근거 데이터의 정확한 위치를 함께 제시하는 추적 가능한 응답 체계 구현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2400" y="68198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2400" y="68054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8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3168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이상탐지·예측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8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지표·로그 기반 탐지 설정 경험 (FUN-003)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342400" y="75092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396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4396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RCA·LLM 가이드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756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제시형 원인 분석 (FUN-004)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465200" y="750923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562400" y="712943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562400" y="712943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관제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98400" y="7417440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실행 이력·지표 통합 관제 (FUN-001·002)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수행조직 및 업무분장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수행조직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(3자 협업 조직) 발주기관 · 본 사업자 · 분리발주 공급자 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단일 창구(PM)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두고, 연동·중계·AI·보안 전담 파트를 구성하여 70일 안에 구축을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 [붙임 2호 서식]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48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해양경찰청 정보통신과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운영 담당 부서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 총괄·검사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32800"/>
            <a:ext cx="4874400" cy="48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328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협의체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04800"/>
            <a:ext cx="36684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협의체 (발주기관·본 사업자·분리발주 공급자)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328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주 1회 + 수시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783600"/>
            <a:ext cx="4874400" cy="48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7836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사업관리자(PM)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55599"/>
            <a:ext cx="11868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정보보안담당자(정·부)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7836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통합 PM 단일 창구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34400"/>
            <a:ext cx="4874400" cy="48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34400"/>
            <a:ext cx="1044000" cy="48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파트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솔루션 연동·관제 화면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3634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중계 개발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940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분석 환경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24600" y="4406399"/>
            <a:ext cx="876600" cy="34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시험·운영 이관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81200" y="4334400"/>
            <a:ext cx="1296000" cy="486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구축·시험·교육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4957200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일정·위험·이슈·보고, 3자 협의체 운영, 산출물·형상관리, 기능점수 산정(PMR-004)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모니터링·AIOps 연동 구성, 통합 관제 화면·알람 정책 (ECR-002, FUN-001·002)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중계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기능 설계·개발·이중화, 인터페이스 정의, 정합성 검증 (FUN-005, SIR, DAR)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데이터 구성, 이상탐지·예측·RCA 설정, LLM 분석 환경 (ECR-003, 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시험·운영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통합·인수 시험, 72시간 연속 확인, 교육·매뉴얼·안정화 (TER, PSR)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 】명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6" name="Rectangle 5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입찰자의 조직 및 업무분장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참여 형태 · 하도급 · 비상연락체계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참여 형태 및 비상연락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(단독 · 하도급 없음) 중소기업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단독 참여, 하도급 없이 자사 인력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수행하며 24시간 비상연락체계를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형태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중소기업인 소프트웨어사업자 단독 참여 (공동수급 없음)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하도급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하도급 없음 — 참여 인력 전원 자사 소속 (공동계약체 외 인력 = 하도급 간주 조건 준수)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분리발주 공급자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당사자가 아니며, 발주기관 조정 하에 연동 인터페이스 협의·문서화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PM 교체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사전 통보, 신원조회·보안서약 등 보안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290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275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비상연락체계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99612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330335"/>
                <a:gridCol w="1643355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사업관리자(PM)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 연락,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정보보안담당자(정)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보안사고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정보보안담당자(부)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 부재 시 대행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 (중계·연동)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원격 확인, 4시간 내 현장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280800" y="6517224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운영 중 시스템 작업으로 장애 발생 시 PM이 즉시 발주기관에 보고하고 사업자 책임으로 복구함 (ECR-001)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Ⅰ-6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추진배경과 해양경찰 업무 특성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업무 특성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(생명과 직결된 무중단) 해양 긴급신고·해상 구조 업무는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 중단이 곧 인명 피해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이어지므로, 장애를 사전에 잡아내는 예측 유지보수 관제 체계가 필요함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해양경찰 핵심 업무와 시스템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긴급 신고 접수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통합신고처리시스템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 122 해양 긴급신고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24 · DB 2 · WAS/WEB 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336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336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상황 관리·구조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96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통합상황관리시스템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해상 사고 상황 전파·지휘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13 · DB 2 · WAS/WEB 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50400" y="2682000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50400" y="2682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감시·공유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86400" y="2941200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원거리추적감시 · 상황공유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항공기위치정보장치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13 · DB 5 · WAS/WEB 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2400" y="3768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2400" y="3753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문제와 개선 방향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077612"/>
          <a:ext cx="6260400" cy="2416428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721610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현행 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개선 방향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개별 도구·수동 점검으로 관제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인지·원인 파악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단일 대시보드 통합 관제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계층별 성능 데이터 개별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서버·DB·WAS 연관 분석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토폴로지·타임라인 연관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민원 발생 후 장애 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긴급신고 접수 지연 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이상탐지·부하 예측 사전 알림 (FUN-003)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데이터 보관 체계 부재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용량 계획 근거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보관·리포트 체계 (DAR-002, FUN-004)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타 관제시스템 데이터 단절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기관 전체 가시성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중계로 통합 분석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TextBox 43"/>
          <p:cNvSpPr txBox="1"/>
          <p:nvPr/>
        </p:nvSpPr>
        <p:spPr>
          <a:xfrm>
            <a:off x="280800" y="656603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추진근거: 전자정부법 제56조의2, 행정기관 및 공공기관 정보시스템 안정성 고시, 행정정보시스템 장애('23.11.17.) 후속 대책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발주 형태별 범위와 책임 경계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책임 경계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(책임 경계 명확화) 솔루션·서버는 분리발주, 본 사업은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연동·구성·데이터 중계 개발·AI 분석 환경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수행하며, 사유별 책임 경계를 착수 시 문서로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발주 형태별 사업 범위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258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73892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통합구축 (본 사업)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분석 엔진 구축, 데이터 중계 기능 개발, 통합 관제 화면·연동 인터페이스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개발·구축·연동 결과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분리발주 (나라장터)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모니터링·AIOps 솔루션 라이선스, 구축용 서버 자원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연동·구성 결과 (설치·라이선스는 공급자)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3958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사유별 책임 경계와 본 사업자 대응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192020"/>
          <a:ext cx="6260400" cy="24164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521475"/>
                <a:gridCol w="11738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사유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사업자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전 가능한 과업(요구사항 상세화·연동 설계·중계 프로토타입)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COR-003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규격 변경 (버전·인터페이스)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 범위 보고, 연동 설계 변경, 과업변경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ECR-001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기능·성능 미충족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분석 협조, 조건부 적합(보류) 기록 후 재시험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SIR-002, TER-002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구축물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보완 후 재시험, 하자보수 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TER-002, PSR-003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검사 합격 후 솔루션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재개 확인, 본 사업 구축물 영향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SIR-002, PSR-002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목표시스템 구성도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목표시스템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(4계층 통합관제) 관제 대상 76식의 성능 데이터와 타 관제시스템 2종의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수집·중계 → AI 분석 → 통합 관제·알람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연결하는 목표시스템을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ECR-002, ECR-003, FUN-005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63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 대상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통합신고처리 34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17728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통합상황관리 17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2176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원거리추적감시 10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6624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상황공유 11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10720" y="2430000"/>
            <a:ext cx="69048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항공기위치정보 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81200" y="23580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서버 50 · DB 9 · WAS/WEB 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6800" y="3052800"/>
            <a:ext cx="4874400" cy="63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4800" y="30528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수집·중계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328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모니터링 솔루션 수집 (분리발주)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4000" y="3124800"/>
            <a:ext cx="1807199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(본 사업 개발, 이중화)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81200" y="30528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타 관제시스템 2종 수신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6800" y="3747600"/>
            <a:ext cx="4874400" cy="63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4800" y="37476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328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솔루션 (분리발주)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6736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AI 분석 엔진</a:t>
            </a: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 구성 (본 사업)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14400" y="38196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LLM 분석 환경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37476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이상탐지·예측·RCA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6800" y="4442400"/>
            <a:ext cx="4874400" cy="63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44424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관제·전파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4328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 관제 화면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736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이벤트·알람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914400" y="45144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성능 리포트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81200" y="44424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기관 SMS·메일 인프라 연계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137200"/>
            <a:ext cx="4874400" cy="630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137200"/>
            <a:ext cx="1044000" cy="63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328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접근통제·감사 로그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736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TLS 1.2+ 전송 암호화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914400" y="5209200"/>
            <a:ext cx="1186800" cy="4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보관·정합성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1200" y="5137200"/>
            <a:ext cx="1296000" cy="63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내부망 전용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80800" y="5903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40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(별도 개발 범위) 솔루션 기능 구성을 원칙으로 하고, 별도 개발은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기능(FUN-005)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으로 한정함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(내부망 전제) 외부 인터넷 연계 없이 동작하도록 학습·분석·LLM 환경을 내부망에 구성함 (ECR-003)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제안의 특징 · 장점 · 전제조건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제안의 특징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(제품 비특정 · 검증 가능) 솔루션 제품이 정해지지 않은 상황에서도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인터페이스 기반 연동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검증 가능한 정량 목표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일정·품질 위험을 줄임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제품 비특정 연동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REST·메시지·Syslog·SNMP 등 표준 방식 어댑터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확정 후 어댑터만 선택 적용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무유실 이중화 중계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디스크 영속 버퍼 + 재전송 + 중복 제거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 계통 장애 시 자동 절체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무중단 단계적 구축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시험 대상 → 일반 → 핵심 시스템 순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수집 부하 CPU 5% 이내 사전 측정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설치 지연에도 진행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설치 전 연동 설계·중계 프로토타입 선행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통보일 기준 70일 일정 재수립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검증 가능한 정량 목표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 응답·알람 시간·동시 사용자 정량 제시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72시간 연속 정상 동작 확인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3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3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자체 운영 이관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59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재학습·임계치·화면 편집 절차 매뉴얼화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30일 안정화 무상 지원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39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38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제안 전제조건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706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74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(연계 정보) 타 관제시스템 2종의 전송 프로토콜·데이터 형식·규모는 설명회 미개최로 미제공 — 표준 방식 어댑터로 제안하고 착수 시 확정함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(LLM 자원) GPU 등 연산 자원은 분리발주 도입 범위에 따르며, 제공 수준별 구성안(Ⅱ-3.2)을 제시함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추진 목표와 4대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추진 목표 및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(목표)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긴급신고 서비스 무중단을 지키는 예측형 통합관제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장애를 먼저 알리고, 원인을 빨리 찾고, 운영자가 스스로 운영하게 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긴급신고 서비스 무중단을 지키는 예측형 통합관제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관제 대상 76식 수집 100%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중계 데이터 유실 0건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72시간 연속 정상 동작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기술 전략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표준 인터페이스 연동 일원화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이기종 통합 수집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무유실 이중화 중계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 전략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3자 상시 협의체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책임 경계 문서화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단계별 검증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정책·법제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기관 보안 정책 준수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SW 분리발주 협력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기반 운영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5633999"/>
          <a:ext cx="6260400" cy="17324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이상탐지·RCA·부하예측 단계적 도입, 다중 OS·DBMS 통합 수집, 관제 대상 확장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발주기관-사업자-공급자 주 1회 협의체, 운영부서 의견 수렴, 통합 PM 역할·책임 경계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정책·법·제도적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 기본지침·개인정보보호법 준수, 상용SW 직접구매 원칙에 따른 공급자 협력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운영 시스템 무중단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무중단 구축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(서비스 영향 0) 통합신고처리 등 운영 시스템에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수집 적용을 단계별로 확대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작업마다 사전 승인·업무시간 외 작업·롤백 계획을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COR-001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단계적 수집 적용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사전 측정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대상별 기준 부하·작업 창 확인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시험 적용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비핵심 서버 1~2식 적용, 부하 측정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확대 적용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원거리추적·상황공유·항공기위치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핵심 적용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통합상황관리 → 통합신고처리 (업무시간 외)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06812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통제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영향 작업은 작업계획서 사전 승인, 중단 필요 작업은 별도 승인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긴급신고 시스템은 신고량이 적은 시간대(발주기관 협의)에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수집 부하 CPU 5% 이내 — 초과 시 수집 주기·항목 조정 후 재측정 (PER-001)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 전 설정 백업, 이상 시 수집 중지·원복 절차 10분 내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일시·대상·결과·영향 기록, 주간보고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280800" y="596642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시스템별 적용 순서 (안)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6200423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626040"/>
                <a:gridCol w="1956375"/>
                <a:gridCol w="1721610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순서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원거리추적감시시스템 (10식)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(협의)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적용·부하 측정 기준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상황공유 (11식) · 항공기위치정보 (4식)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확대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통합상황관리시스템 (17식)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상황실 운영 영향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통합신고처리시스템 (34식)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신고량 최저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분할 적용, 즉시 롤백 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사업 위험요소와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(위험 선제 대응) 분리발주 의존 · 정보 미제공 · 보안 조건 등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일정에 직결되는 위험 6건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전에 식별하고 대응안을 준비함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COR-003, 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547785"/>
                <a:gridCol w="2191140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납품·설치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2주 내 설치 일정 확인, 설치 전 과업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통보일 기준 계약기간 연장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제품 미확정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제품 비특정 표준 어댑터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즉시 어댑터 선택·연동 명세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 미제공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회의에서 프로토콜·형식·규모 확인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샘플 데이터로 프로토타입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자원 불명확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 수준별 LLM 구성안 3종 준비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 자원에 맞는 구성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대상별 사전 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주기·항목 조정, 결과 보고·협의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절차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신원조회·서약 조기 진행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투입 인력 우선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주간보고·3자 협의체에서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5484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5484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8364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5484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5484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8364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예방·완화·전가 계획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5484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5484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감시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8364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'상'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548428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548428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836428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(일정 영향 위험) 분리발주 관련 위험은 발생 사실·영향 범위·예상 지연 일수를 지체 없이 서면 보고하여 계약기간 조정 근거를 남김 (COR-003)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주요 적용기술 및 실현 가능성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적용기술 개요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표준 기술) 솔루션 연동은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각 제품의 표준 인터페이스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중계 기능은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 기반 경량 서비스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구현하여 확장성과 유지관리성을 확보함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315565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04160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실현 가능성·확장성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표준 API (REST/JSON), 메시지 연동, 데이터 Export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확정 후 어댑터 선택, 신규 대상 설정만으로 추가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Syslog(RFC5424), SNMP Trap, REST Push/Pull, 파일(SFTP), DB 조회 어댑터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타 관제시스템 2종 방식 확정 후 해당 어댑터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표준프레임워크(Spring Boot) 기반 Java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유지관리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무유실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디스크 영속 버퍼(WAL), 재전송·지수 백오프, 멱등 키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일시 장애 시에도 유실 없이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Active-Standby 2계통 + 가상 IP(VRRP), 상태 감시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 계통 장애 시 수동 개입 없이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TLS 1.2 이상, 역할 기반 권한, 감사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기관 보안 정책·개발보안 가이드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5585652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오픈소스 사용 시 라이선스·버전을 오픈소스 라이선스 정책서로 제출 (COR-002), 기술적용계획표는 별첨으로 제출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2400" y="581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0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데이터 중계 기능 소프트웨어 구성 (안)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6125652"/>
          <a:ext cx="6260399" cy="2416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034630"/>
                <a:gridCol w="1095570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제품 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실행 환경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OpenJDK 17 LTS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GPL+CE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서비스 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수신·정규화·전달 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keepalived (VRRP)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GPL (별도 프로세스)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IP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영속 버퍼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기반 WAL (자체 구현)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미전달 데이터 보관·재처리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처리 지표 노출 (표준 메트릭)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 솔루션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865008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868608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(확장성) 수신 어댑터·변환 규칙·전달 대상을 설정 파일로 분리하여 관제시스템 추가 시 코드 변경을 최소화함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AI 기반 장애 예측 및 근본 원인 분석 기술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AIOps 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(AIOps 4대 기능) 과거 운영 데이터를 학습한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동적 기준선 이상탐지 · 부하 예측 · 희소로그 탐지 · RCA/LLM 분석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AIOps 솔루션 위에 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FUN-003, FUN-004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8124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21911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결과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시간대·요일 패턴을 반영한 동적 기준선과 편차 기반 탐지 (WAS·DB·System 지표별)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 점수·구간을 대시보드·타임라인에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시계열 학습으로 타겟 단위 향후 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예측선·임계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 템플릿화 후 출현 빈도가 낮은 패턴·특정 패턴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희소 패턴 목록·발생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근본 원인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시점 연관 지표 영향도 분석으로 원인 후보 순위화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 후보·근거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 결과·지표·로그를 근거로 원인 설명·조치 가이드, 자연어 질의응답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보고서·챗봇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161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147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내부망 LLM 구성안 (연산 자원 제공 수준별)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47124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58241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 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GPU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AIOps 솔루션 내장 또는 온프레미스 LLM 서빙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설명·조치 가이드·챗봇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CPU만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경량 모델 + RCA 결과 템플릿 기반 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보고서·가이드 중심, 챗봇 응답 범위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내장 모델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제공 모델 설정·프롬프트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규격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다중 운영체제 · 데이터베이스 지원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이기종 환경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(이기종 통합) 다중 OS · Oracle · PostgreSQL · WAS/WEB 환경의 성능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동일 지표 체계로 정규화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계층 간 연관 분석이 가능하게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ECR-002, COR-002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계층별 수집 지표 (안) — 착수 시 대상·항목·주기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74428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565100"/>
                <a:gridCol w="36779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수집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50식 (다중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CPU·메모리·디스크 I/O·파일시스템·네트워크·프로세스, 시스템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Oracle 8식, PostgreSQL 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세션·Active Session·Lock·대기 이벤트·SQL 응답·테이블스페이스, Alert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17식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TPS·응답시간·에러율·스레드·커넥션 풀·힙 메모리, 접근·에러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시스템 5종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서비스별 트랜잭션 흐름·응답 (토폴로지 구성 기준)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78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77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지원 검증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09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09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환경 목록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38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OS·DB·WAS 버전 목록 확보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4782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09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09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 지원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38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규격 대비 지원 여부 대조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4782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09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09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 수집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38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환경별 1식씩 시험 수집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478228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09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09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38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미지원 항목은 연동 설계서에 기록·보고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6070428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6428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(미지원 환경 대응) 솔루션 에이전트가 지원하지 않는 OS·버전은 표준 프로토콜(SNMP·Syslog) 수집 또는 데이터 중계 기능 경유 수신으로 대체 방안을 제시함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(DB 계정) DB 성능 수집용 계정은 조회 전용 최소 권한으로 생성하고 계정정보 관리대장에 등록함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개발 방법론 및 프로토타입 구현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선행 · 프로토타입 검증) 솔루션 설치 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연동 설계와 데이터 중계 프로토타입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먼저 완성하고, 설치 후에는 구성·시험을 반복하여 기간을 단축함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상세화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연동 대상·항목·주기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연동·중계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 구성안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알람 정책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연동 구성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중계 개발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학습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통합·성능 시험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72시간 확인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 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⑤ 이관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매뉴얼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검사 요청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데이터 중계 프로토타입 (설치 전 2주 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800" y="379321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4800" y="382921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(목적) 타 관제시스템 2종의 실제 샘플 데이터로 수신·정규화·전달·재전송 흐름을 먼저 검증함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수신 어댑터 2종, 표준 스키마 변환, 영속 버퍼, 전달 재시도, 정합성 대조 리포트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(효과) 솔루션 설치 후에는 전달 대상만 연결하면 되어 구현 기간을 2주 이상 단축함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56787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56643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검토·승인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316800" y="5988312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677985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검토·승인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대상·항목·주기, 성능 목표 협의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연동·중계 설계서, 화면 구성안, 알람·심각도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발주기관·운영부서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학습 계획, 데이터 보관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계획서, 72시간 확인 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Rectangle 56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Ⅱ-11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시스템구성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및 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시스템 구성 공통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(솔루션 기능 우선) 솔루션이 제공하는 화면·설정 기능으로 관제·알람을 구성하고,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 개발은 데이터 중계 기능으로 한정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구축 범위를 사업수행계획서로 승인받음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구축 범위 구분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206836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973689"/>
                <a:gridCol w="187811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구축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관제 화면 (FUN-001)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화면 구성·설정 기능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설계서·구성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이벤트·알람 (FUN-002)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알람 정책 설정 + 기관 SMS·메일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알람 정책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이상탐지·예측·RCA (FUN-003·004)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AIOps 솔루션 기반 분석 환경 구성·학습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모델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중계 (FUN-005)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0462DA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별도 개발</a:t>
                      </a: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 — 수신·정규화·제공, 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설계서·인터페이스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906836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942836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(구성 불가 항목) 구성만으로 충족이 불가하거나 솔루션 규격 변경으로 방안 변경이 필요하면 근거를 기록하여 보고하고 과업변경 절차(소프트웨어 진흥법 제50조)를 따름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 영향) 운영 시스템 작업은 서비스 영향이 없도록 수행하고, 작업 장애 발생 시 사업자 책임으로 즉시 복구함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(구성 승인) 시스템 구성도와 구축 범위를 사업수행계획서에 제시하여 착수보고 시 승인받음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통합 모니터링 솔루션 연동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통합 모니터링 연동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(76식 전수 연동) 서버 50 · DB 9 · WAS/WEB 17의 성능 데이터를 통합 관제체계로 연동하고,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대상·항목·주기를 착수 단계에서 확정해 문서화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시스템별 연동 대상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017315"/>
                <a:gridCol w="1173825"/>
                <a:gridCol w="1095570"/>
                <a:gridCol w="10173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WAS/WEB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통합신고처리시스템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통합상황관리시스템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원거리추적감시시스템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상황공유시스템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(PostgreSQL)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항공기위치정보장치시스템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 (Oracle)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연동 구성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38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38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확정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67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라이선스 수량 범위 내 대상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76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38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38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항목·주기 정의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67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계층별 지표·수집 주기 문서화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76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38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38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연동 구성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67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수집 → 관제체계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765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385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385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연동 시험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673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대상별 수집 상태 기록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632120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솔루션 제품 규격·설치·라이선스는 분리발주 공급자 범위, 본 사업자는 연동·구성 결과에 책임 / 산출물: 연동 설계서, 연동 시험 결과서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시스템구성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AIOps 솔루션 기반 분석 환경 구축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AIOps 분석 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(내부망 분석 환경) 통합 모니터링·중계 데이터를 학습 대상으로 연계하고,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학습 주기·보관 주기를 정의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외부 인터넷 없이 동작하는 분석 환경을 구축함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DAR-002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대상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모니터링 솔루션 수집 데이터 + 데이터 중계 기능 제공 데이터 → AIOps 분석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학습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최소 2주(권장 4주) 운영 데이터, 장애·작업 구간 라벨링으로 학습 품질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학습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초기 학습 후 안정화 기간 중 주 1회 재학습, 이후 월 1회 정기 재학습 (승인 후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3개월 · 마트 6개월 · 단기 결과 3개월 · 장기 통계 1년 이상 (DAR-002)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자원·이중화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제공 자원 범위에서 분석 서버 배치와 이중화 범위 협의·확정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내부망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모델·패키지·업데이트를 승인된 매체로 반입, 외부 인터넷 호출 기능 비활성화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학습 일정 (설치 완료 통보일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3~4주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수집 개시·전처리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5~6주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최소 2주 데이터로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7~8주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탐지·예측 결과 표출·검증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안정화 30일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누적 데이터로 재학습·임계치 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통합 관제 화면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통합 관제 화면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(한 화면 통합관제) 서버·DB·WAS/WEB 운영 현황과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이상탐지 상황을 업무 시스템별로 한 화면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에서 판단하고, 토폴로지·타임라인으로 즉시 추적함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통합 대시보드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 시스템 5종 상태 요약 (정상·주의·경고·장애)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계층별 AI 이상탐지 현황, 상시 표출용 모드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토폴로지 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서비스 → WAS/DB 인스턴스 → 서버 연결 구조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구성 요소별 성능 지표·상태 색상 표시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타임라인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실시간·과거 이슈 시간축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이벤트·지표 변화·작업 이력 겹쳐 보기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시스템별 상세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 시스템별 서비스·인스턴스 이상탐지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드릴다운 → 원인 분석·리포트 이동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3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 방식, HTML5 기반 브라우저 조회 (솔루션 화면 구성 기능 활용)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구성안 제시 → 운영부서 의견 수렴 → 발주기관 승인 후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설계서, 화면 구성 결과서 (화면 이미지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Rectangle 43"/>
          <p:cNvSpPr/>
          <p:nvPr/>
        </p:nvSpPr>
        <p:spPr>
          <a:xfrm>
            <a:off x="302400" y="584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2400" y="583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화면 확정 절차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6800" y="61592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316800" y="6159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구성안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800" y="644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 목록·배치안 작성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1811700" y="653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908900" y="61592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1908900" y="6159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의견 수렴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4900" y="644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상황실·운영부서 검토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403800" y="653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01000" y="61592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 Same Side Corner Rectangle 54"/>
          <p:cNvSpPr/>
          <p:nvPr/>
        </p:nvSpPr>
        <p:spPr>
          <a:xfrm>
            <a:off x="3501000" y="6159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37000" y="644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발주기관 확정</a:t>
            </a:r>
          </a:p>
        </p:txBody>
      </p:sp>
      <p:sp>
        <p:nvSpPr>
          <p:cNvPr id="57" name="Isosceles Triangle 56"/>
          <p:cNvSpPr/>
          <p:nvPr/>
        </p:nvSpPr>
        <p:spPr>
          <a:xfrm rot="5400000">
            <a:off x="4995900" y="653900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093100" y="615920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 Same Side Corner Rectangle 58"/>
          <p:cNvSpPr/>
          <p:nvPr/>
        </p:nvSpPr>
        <p:spPr>
          <a:xfrm>
            <a:off x="5093100" y="615920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구성·검증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9100" y="6447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설정·표출 확인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이벤트·알람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이벤트 및 알람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(놓치지 않는 알람) 이벤트를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4단계 심각도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구분하고 복합 지표·미수집 알람까지 정의하여, 기관 SMS·메일 인프라로 담당자에게 즉시 전파함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심각도 기준 (안) — 긴급신고 관련 기준은 발주기관 협의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809612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3364965"/>
                <a:gridCol w="19563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심각도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중단, 긴급신고 시스템 핵심 지표 임계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 즉시, 화면 경고음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이상탐지 고위험, 복합 지표(응답시간↑ + 에러율↑) 충족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SMS + 메일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단일 지표 임계 근접, 부하 예측 임계 도달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메일, 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작업·설정 변경, 수집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52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50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알람 처리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83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83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이벤트 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12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임계·이상탐지·복합 조건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21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83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83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심각도 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12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정책·억제·중복 묶음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21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83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83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12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기관 SMS·메일 인프라 연동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213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833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833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확인·조치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121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확인·이력 기록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805612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841612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(미수집 알람) 대상별 수집 중단이 2주기 이상 지속되면 '데이터 미수집' 알람을 발생시킴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(알람 피로 방지) 동일 원인 연쇄 알람은 묶어서 1건으로 전파하고 반복 주기를 설정함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AI 기반 이상 탐지 및 부하 예측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AI 이상탐지 및 예측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(학습 기반 사전 알림) 과거 운영 데이터를 학습해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영역별 부하 예측 · 이상 징후 탐지 · 희소로그 탐지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결과를 표출하고, 재학습 절차를 운영자가 직접 수행하게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2191140"/>
                <a:gridCol w="281718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부하 예측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WAS · DB · System 주요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타겟 단위 예측값·예측 구간, 임계 도달 예상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이상징후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WAS · DB · System 다양한 성능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이상 점수·구간, 관련 지표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희소로그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비정형 시스템·애플리케이션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간헐 패턴·특정 패턴 탐지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080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066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검증 범위와 학습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390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390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수집·전처리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4678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학습 데이터 수집·전처리 체계 구성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4769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390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390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초기 모델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4678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최소 데이터 확보 후 초기 모델 생성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4769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390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390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표출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4678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탐지·예측 결과 화면 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4769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390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390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재학습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4678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안정화 기간 중 재학습 계획 수행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362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398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(승인) 최소 데이터 확보 기간·초기 학습 완료 시점·재학습 계획을 사업수행계획서에 제시하여 승인받음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(운영자 매뉴얼) 모델 재학습 절차와 운영 담당자 수행 방법을 화면 순서대로 수록함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2.4.1 원인 분석(RCA) · LLM 분석 · 성능 리포트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2.4 원인 분석 및 리포트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(원인을 빨리) 장애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영향도 높은 연관 지표로 RCA 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제시하고, LLM이 근거와 함께 원인·조치 가이드를 설명하며, 일·주·월간 리포트를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장애·성능 저하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이벤트·이상탐지 발생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RCA 후보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연관 지표 영향도 분석·순위화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LLM 분석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지표·로그 기반 원인 설명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 가이드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절차·분석 보고서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RCA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시점 전후 연관 지표 영향도 자동 분석, 원인 후보와 근거 지표 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분석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 결과·지표·로그를 근거로 원인 설명과 조치 가이드라인, 장애 분석 보고서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LLM 챗봇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자연어로 장애 상황 질의 → 근거 데이터와 함께 응답 (내부망 모델)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일간·주간·월간 성능 통계 (항목·양식 발주기관 협의 확정)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ounded Rectangle 46"/>
          <p:cNvSpPr/>
          <p:nvPr/>
        </p:nvSpPr>
        <p:spPr>
          <a:xfrm>
            <a:off x="280800" y="524761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LLM 응답에는 사용한 근거 지표·로그·시점을 함께 표시하고, 조치 실행은 운영자 확인 후에만 수행하도록 구성함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87788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리포트 구성 (안)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111883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532134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시스템별 가용률·주요 지표 최대/평균, 이벤트·알람 건수, 이상탐지 발생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추이, 반복 이상 패턴, 부하 예측 결과, 조치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수준 요약, 용량 추이·증설 필요 시점, 장애 분석 보고서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2.5.1 데이터 중계 기능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 사업 개발 핵심) 타 관제시스템 2종의 성능·로그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수신 → 선별·정규화 → 영속 버퍼 → AIOps 제공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하는 중계 기능을 이중화로 개발함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FUN-005, SIR-001, 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중계 기능 처리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수신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수신 어댑터 (프로토콜별)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TLS 수신·인증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24800" y="324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원본 수신 이력 기록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타 관제시스템 2종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선별·정규화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분석 대상 선별 규칙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 스키마 변환 (시각·대상·지표·단위)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형식 검증·오류 격리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 표준 정의서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보관·전달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디스크 영속 버퍼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재시도·지수 백오프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324800" y="540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멱등 키 중복 제거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AIOps 분석 환경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관리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처리 건수·지연 모니터링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정합성 대조 리포트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설정 기반 대상 추가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인터페이스 처리 이력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80800" y="705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4800" y="709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(인터페이스 정의) 수신 대상 데이터 범위·수신 주기·데이터 형식을 인터페이스 정의서로 제출함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확장) 3종 이상 증가 시에도 어댑터·설정 추가로 대응하며, 과업 범위 변경은 소프트웨어 진흥법 제50조 절차를 따름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2.5.2 데이터 중계 이중화 및 절체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2.5 데이터 중계 기능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(수동 개입 없는 절체) 2계통 Active-Standby와 가상 IP로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한 계통 장애 시 10초 이내 자동 절체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절체 구간 데이터는 재전송·중복 제거로 유실 없이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FUN-005, QUR-001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4874400" cy="540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23580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송신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28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타 관제시스템 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4000" y="24300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타 관제시스템 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3580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가상 IP로 전송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2962800"/>
            <a:ext cx="4874400" cy="540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29628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0348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가상 IP (VRRP)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9628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활성 계통으로 자동 연결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567600"/>
            <a:ext cx="4874400" cy="540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5676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중계 계통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중계 #1 (Active)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3639600"/>
            <a:ext cx="1807199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중계 #2 (Standby)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35676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상태 감시 1초 주기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4172400"/>
            <a:ext cx="4874400" cy="540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4172400"/>
            <a:ext cx="1044000" cy="540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전달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4244400"/>
            <a:ext cx="3668400" cy="3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AIOps 분석 환경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81200" y="4172400"/>
            <a:ext cx="1296000" cy="54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멱등 키 중복 제거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0800" y="48492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절체 시나리오와 목표 &gt;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0832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헬스체크 1초 주기, 3회 연속 실패 시 장애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가상 IP를 대기 계통으로 이동, 대기 계통 수신 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 (감지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절체 구간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송신측 재전송 + 계통별 영속 버퍼, 멱등 키로 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장애 계통 복구 후 대기 계통으로 자동 편입, 미전달 버퍼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수동 개입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80800" y="709721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이중화 서버 자원은 별도 조달 제공, 세부 구성 방식(Active-Active 포함)은 착수 단계에서 협의 확정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공통 인터페이스 및 분리발주 솔루션 연동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(장애에도 자동 재개) 모든 연동 구간에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암호화·재시도·이력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적용하고, 솔루션 장애·변경 시에도 본 사업 기능이 멈추지 않고 복구 후 자동으로 연동을 재개함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SIR-001, SIR-002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공통 인터페이스 기준 (SIR-001)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전송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TLS 1.2 이상, 상호 인증서 기반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재시도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시 최대 5회 지수 백오프 재시도, 초과분은 영속 버퍼 보관 후 자동 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표준 인터페이스 방식 우선, 명세는 인터페이스 정의서로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전송 건수·성공·실패·재시도 이력 기록·조회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분리발주 솔루션 연동 (SIR-002)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45387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정상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표준 인터페이스 활용, 연동 명세를 공급자와 협의·문서화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장애·변경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 사업 기능은 대기·버퍼링으로 정상 유지, 복구 후 별도 조치 없이 연동 재개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인터페이스 미제공·규격 미달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내용·근거를 연동 설계서에 기록·보고 → 해당 항목 시험·검사 유예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3336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3192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연동 명세 협의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64322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64322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규격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93122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솔루션 제공 인터페이스 목록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811700" y="702302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908900" y="664322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908900" y="664322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명세 초안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4900" y="693122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항목·형식·주기·인증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3403800" y="702302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01000" y="664322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3501000" y="664322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공급자 협의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37000" y="693122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3자 협의체 검토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995900" y="702302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093100" y="664322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093100" y="664322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확정·시험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9100" y="693122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연동 명세서·시험 결과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 및 정합성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정합성) 2개 연계 구간에서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연속 8시간 이상 전 건 대조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건수·시점·주요 값 일치와 누락·중복 0건을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중계 데이터 표준 항목 (안) — 공공기관 데이터베이스 표준화 지침 준용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2895435"/>
                <a:gridCol w="203463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측정 시각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YYYY-MM-DD HH:MM:SS (KST)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출처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송신 관제시스템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 (표준 코드표)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서버·인스턴스 식별자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문자 (표준 명명규칙)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지표·값·단위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코드, 측정값, 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숫자, %·ms·건·MB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메시지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중복 판정용 멱등 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출처+대상+지표+시각 해시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733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719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정합성 검증 절차 (구간: 타 관제시스템 → 중계, 중계 → AI 분석 엔진)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시험 시간대·표본 방식 확정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49328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59048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59048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648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연속 8시간↑ 전 건 송·수신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276696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86416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86416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0016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건수·시점·주요 값, 누락·중복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04064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13784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413784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7384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불일치 원인 분석·재전송</a:t>
            </a:r>
          </a:p>
        </p:txBody>
      </p:sp>
      <p:sp>
        <p:nvSpPr>
          <p:cNvPr id="50" name="Isosceles Triangle 49"/>
          <p:cNvSpPr/>
          <p:nvPr/>
        </p:nvSpPr>
        <p:spPr>
          <a:xfrm rot="5400000">
            <a:off x="5314320" y="54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411520" y="5043204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5411520" y="5043204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7520" y="5331204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최종 건수 일치·누락·중복 0건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데이터 유실 방지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0800" y="6339203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63752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(수신 확인) 수신 즉시 영속 버퍼에 기록한 뒤 응답하여, 처리 중 장애에도 재기동 후 이어서 처리함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(재전송 보정) 불일치가 확인되면 송신 측 재전송 또는 버퍼 재처리로 보정하고 결과를 기록함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인터페이스 및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3.2.2 데이터 보관 및 용량 산정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있는 용량 계획) 데이터 유형별 보관기간을 적용한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예상 데이터 규모와 필요 저장 용량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산정하고, 경과 데이터는 자동 처리함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보관 기준 및 용량 산정 (예시) — 지표 수·주기는 착수 시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493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939059"/>
                <a:gridCol w="258241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보관기간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원천 수집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76식 × 200지표 × 1분 주기 ≈ 일 2,190만 건 × 100B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200GB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마트 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5분 집계, 테이블별 기간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80GB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결과 (단기 조회)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탐지·예측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10GB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결과 (장기 통계)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1년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일·주·월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5GB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(희소로그 분석)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3개월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대상별 일 평균 로그량 【착수 시 측정】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【산정】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 (여유 30%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380GB +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193612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229612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(경과 데이터) 일 단위 파티션 삭제·집계 후 원천 삭제를 배치로 자동 수행하고 처리 이력을 남김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(용량 초과) 제공 저장 자원을 넘으면 보관기간 조정 또는 과업변경 절차를 발주기관과 협의함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접근통제 · 개발보안 · 로그감사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기술적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(설계부터 검증까지) 접근통제·개발보안·로그 감사를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보안약점 진단으로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결과를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SER-002, SER-003, SER-009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074428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접근통제 (SER-002)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ID/PW 인증, 역할 기반 권한, 5회 실패 잠금, 세션 30분 (상시 관제 화면은 승인 예외), 접속·감사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개발보안 (SER-003)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SW 개발보안 가이드 준수, 표준 코딩스타일, 시크릿 하드코딩 금지, TLS 1.2+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로그·감사 (SER-009)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시스템·보안 이벤트·로그인·권한 변경·중요 조회 로그 정의, 해시 기반 위변조 방지, 보존기간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 분석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 내 개인정보 수집 최소화·마스킹·접근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540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사용자 역할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4774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계정·권한·알람 정책·화면 편집·모델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관제 화면·이벤트 확인·조치 기록·리포트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관제 화면·리포트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상시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상황실 표출 전용 계정 (세션 타임아웃 승인 예외)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65740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65596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침해사고 대응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688363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688363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7171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이상 접속·로그 탐지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7263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688363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688363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통보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7171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정보보안담당 즉시 보고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7263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688363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688363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7171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차단·증거 보존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7263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688363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688363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7171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제거·서비스 복구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726343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688363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688363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717163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원인·재발방지 보고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보안 정책 · 관리 · 물리 · 매체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관리적·물리적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(기관 보안 정책 준수) 국가·공공기관 정보보안 기본지침과 해양경찰청 보안 정책을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인력·사무실·매체·자료·누출금지 정보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통제함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SER-004, SER-005, 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68124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정책·관리 (SER-001·004)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보안관리계획서 수립, 투입 전 사전 신원조회·보안서약서·기본보안교육 확인서, 월 1회 보안교육, 대표자·참여자 보안확약서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 (SER-005)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사무실·장비 설치장소 출입통제, 개인 PC·저장매체 반출입 통제, 문서 시건 보관·파쇄 폐기, 문서 보안등급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매체·장비 (SER-006)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반입 시 백신·감염 확인, 종료까지 반출 금지, CMOS·로그인·화면보호기 9자 이상, USB 포트락, 무선 기능 불능화, 인터넷PC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자료·산출물 (SER-007)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비공개 자료 분류, 자료 인수인계 대장, 지정 파일서버 저장, 공유폴더·상용 이메일 금지, 종료 시 반환·완전삭제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특수 조건 (SER-008)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비인가 프로그램 설치·약점 방치 금지 확약, 누출금지 정보 보안관리계획 사전 제출, 보안위규 처리기준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147244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정보보안담당자(정·부)가 매일 1회 자체 보안점검을 실시하고 결과를 사업담당 공무원에게 제출함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579191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777515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6101515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6101515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투입 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389515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신원조회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보안서약·교육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342400" y="64813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439600" y="6101515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439600" y="6101515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75600" y="6389515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일일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 1회 교육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465200" y="64813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62400" y="6101515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562400" y="6101515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 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98400" y="6389515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완전삭제·확약서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사업 수행 · 기술 · 일정 제약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제약사항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 안에서 완수) 업무시간·작업 승인·기술 호환·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분리발주 설치 완료 통보일 기준 70일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일정 제약을 구현·검증 방안과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COR-003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37204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364965"/>
                <a:gridCol w="1486844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검증·산출물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수행 (COR-001)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내 수행 원칙, 영향 작업은 협의 후 업무시간 외, 중단 작업 사전 승인, 지정 장소 작업, 장비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계획서, 출입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 (COR-002)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기존 인프라·네트워크·보안 정책 호환, 다중 OS·DB 환경 수집 지원 확인, 오픈소스 라이선스 명확화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기술적용계획·결과표, 라이선스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일정 (COR-003)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착수보고 2주 내, 설치 전 과업 선행, 통보일 기준 70일 일정 수립, 지연 사유 즉시 서면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WBS, 지연 사유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기능은 전자정부 표준프레임워크 기반으로 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 적용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852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838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분리발주 일정 영향 처리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16204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1620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지연 발생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45004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설치 지연·규격 변경·기능 미충족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5418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16204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1620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서면 보고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45004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사실·영향 범위·예상 지연 일수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5418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16204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1620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 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45004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공급자 조치·기간 변경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54184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16204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16204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계약 변경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45004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지체상금 산정 제외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Ⅲ-15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테스트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테스트 요구사항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정량 성능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 시 확정 · 검증 대상) 관제 화면 응답·알람 발송 시간·동시 사용자·중계 처리·수집 부하를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정량 목표로 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운영 환경 시험으로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758428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72161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관제 화면 조회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관제 대상 76식 전체, 대시보드·토폴로지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이벤트 → 알람 발송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이벤트 발생 시각 ~ 기관 SMS·메일 인프라 전달 완료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상시 표출 화면 포함, 응답 목표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정규화·제공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다음 수신 주기 이전 (1분 주기 기준 10초 이내)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타 관제시스템 2종 전체 수신량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절체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10초 이내, 유실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Active 계통 강제 중지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CPU 사용률 5%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 시스템별 적용 전후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5458428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5494428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관제 대상 추가 시 수집 설정·중계 설정 추가만으로 구조 변경 없이 확장함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(확정) 착수 단계에서 성능 목표 협의 결과서로 확정하여 계약 시 검증 대상으로 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성능 측정 방법 · 도구 · 부하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검증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방법 사전 공개) 항목별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 방법과 도구를 성능 시험 계획서에 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발주기관과 협의한 시간대에 운영 환경에서 측정함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TER-001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328671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30회 반복 조회, 95 백분위 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브라우저 성능 측정, 부하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 생성 → 수신 단말 도착 시각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이벤트, 수신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 세션 동시 조회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 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수신 시각 ~ 제공 완료 시각, 주기별 처리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부하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적용 전 1일 · 적용 후 1일 CPU 평균·최대 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OS 성능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수집 부하 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기준 측정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착수 단계 대상별 부하 측정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적용·비교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적용 후 증가분 산출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초과 시 주기·항목 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4941612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4941612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보고·확정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229612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조정 불가 시 원인 보고·협의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(시험 시간대) 성능 시험은 긴급신고 업무 영향이 적은 시간대를 발주기관과 사전 협의하여 수행함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가용성 · 유지관리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가용성 및 유지관리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(관제가 서비스를 방해하지 않게) 본 사업 기능의 장애가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관제 대상 운영에 영향을 주지 않도록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운영 이관 후 발주기관이 자체 운영하게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가용성 (QUR-001)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 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서비스 연속성 확보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2계통 이중화, 자동 절체 10초 이내 (Ⅲ-2.5.2)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에이전트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에이전트 장애가 대상 업무에 영향을 주지 않는 자원 제한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분석·관제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단계에서 연속성 방안 협의 확정 (재기동 자동화·백업)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유지관리 (QUR-002)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운영자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변경, 화면 편집, 알람 정책 관리, 모델 재학습, 중계 대상 추가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구축 결과물·산출물·관리자 계정 인계, 인수인계서 작성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기능 소스·설정·버전 이력 관리, 배포 절차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5726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571240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장애 격리 원칙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036407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03640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자원 제한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324407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에이전트 CPU·메모리 상한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6416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6036407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603640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비동기 연동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6324407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관제 장애가 업무에 전파 안 됨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6416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6036407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6036407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재기동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6324407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중계·연동 프로세스 감시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통합 시험 및 72시간 연속 확인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통합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(검사 자료가 되는 시험) 수집·정합성·화면·알람·성능을 시험하고,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운영 환경 연속 72시간 무중단 정상 동작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확인하여 현장 검사 자료로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DAR-001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364965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관제 대상 76식 대상별 수집 상태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대상별 수집 상태표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연계 구간별 정합성 검증 (DAR-001)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대시보드·토폴로지·타임라인 표출 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이미지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알람 발생 ~ 담당자 수신 전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발송 시험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성능 목표 충족 여부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72시간 연속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수집·화면·알람·중계 중단 없이 정상 동작 (업무 시간대 포함)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시간대·확인 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4959612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긴급신고 업무 영향 최소화: 운영 환경 시험은 협의된 시간대에 수행하고, 시험 이벤트는 '시험' 표시로 실제 알람과 구분하여 담당자 혼선을 막음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2400" y="560428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8988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72시간 연속 확인 절차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591388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591388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시작 점검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620188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76식 수집·중계 정상 확인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629368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591388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591388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0~24h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620188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1시간 단위 상태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629368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591388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591388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24~72h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620188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업무시간대 포함 연속 확인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6293683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5913883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5913883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기록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6201883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시간대·이상 여부 결과서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테스트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테스트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인수 시험 및 조건부 적합 처리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인수 시험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(요구사항별 판정) 36개 요구사항을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적합 · 부적합 · 조건부 적합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판정하고, 원인이 분리발주 솔루션에 있는 항목은 추적표에 기록해 재시험함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 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요구사항별 판정 기준 정의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 수행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운영부서 참여 시험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판정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적합·부적합·조건부 적합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보완·재시험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 보완, 보류 항목 재시험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검사 요청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결과서·추적표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요구사항 추적표 기록 항목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564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적합 / 부적합 / 조건부 적합(보류)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조건부 적합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원인(분리발주 솔루션 결함·규격 미충족), 조치 주체, 재시험 예정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원인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사업자·공급자 의견을 들어 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결과서·추적표를 검사 자료로 제출, 합격으로 인수 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TextBox 51"/>
          <p:cNvSpPr txBox="1"/>
          <p:nvPr/>
        </p:nvSpPr>
        <p:spPr>
          <a:xfrm>
            <a:off x="280800" y="534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요구사항 분류별 판정 기준 (요약) &gt;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316800" y="5583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판정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시스템 구성·기능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솔루션 연동·구성 결과 기준, 화면·알람·탐지 결과 표출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성능 목표 충족 (성능 시험 결과서)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재개 확인, 정합성 검증 합격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보안·품질·관리·지원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산출물·점검 결과·이행 증빙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Rectangle 53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Ⅳ-5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관리방법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일정관리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 보안관리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추진방법 및 산출물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추진방법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연계 관리) 단계마다 산출물을 정의하고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버전·형상을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하며, SW사업정보 데이터를 단계별 산출물에 포함함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PMR-003, 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516483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사업수행계획서(구성도·구축 범위·학습 계획), WBS, 보안관리계획서, 착수보고서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설계서, 데이터 중계 기능 설계서, 인터페이스 정의서, 화면 설계서, 알람 정책 정의서, 데이터 표준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 환경 구축 결과서, AI 분석 모델 설계서, 이상탐지·예측 설정 내역서, 화면 구성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통합·성능·인수 시험 계획서·결과서, 데이터 정합성 검증 계획서·결과서, 보안약점 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 매뉴얼, 교육 교재·결과, 인수인계서, 데이터 관리 계획서, 완료보고서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SW사업정보 데이터 (기능점수 산정 전문가 포함, spir.kr 제출)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224428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260428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(보고회) 착수·완료보고회 개최, 회의록 작성·공유, 산출물 목록과 버전 관리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87944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86504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산출물 검토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618904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618904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작성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47704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 파트 작성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56884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618904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618904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 검토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47704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QA 체크리스트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56884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618904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618904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PM 승인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47704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버전 등록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56884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6189047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6189047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 제출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477047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검토·보완 반영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 관리방법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3자 협의체와 이슈·위험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협의·위험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(통합 PM 단일 창구) 발주기관 · 본 사업자 · 분리발주 공급자의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주 1회 3자 협의체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로 연동 이슈를 즉시 조정하고, 위험은 발생 즉시 보고함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보고·협의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939059"/>
                <a:gridCol w="3991004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 진척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WBS 진척률, 이슈·위험, 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3자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 1회 + 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명세·설치 일정·규격 변경·결함 조치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운영부서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구성안·알람 기준·심각도 의견 수렴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 영향·보안 사고·일정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이슈·위험 처리 기준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 서비스 영향, 1주 이상 지연 예상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보고, 만회 대책 2일 내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 불가 항목, 규격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협의체 상정, 연동 설계서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 관리대장,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사업 일정관리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70일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(설치 통보일 기준 10주) 착수 2주 내 설계·프로토타입을 끝내고,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설치 완료 후 연동·중계·학습을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9주차 72시간 확인, 10주차 검사 요청을 완료함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COR-003, PMR-002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(분리발주 솔루션 설치 완료 통보일 기준)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7" cy="2799367"/>
        </p:xfrm>
        <a:graphic>
          <a:graphicData uri="http://schemas.openxmlformats.org/drawingml/2006/table">
            <a:tbl>
              <a:tblPr firstRow="0" bandRow="0"/>
              <a:tblGrid>
                <a:gridCol w="1707381"/>
                <a:gridCol w="1707381"/>
                <a:gridCol w="569127"/>
                <a:gridCol w="569127"/>
                <a:gridCol w="569127"/>
                <a:gridCol w="569127"/>
                <a:gridCol w="569127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41367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프로젝트 관리 (착수·중간·완료)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수행계획서·WBS·보고서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상세화·연동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연동·중계 설계서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프로토타입·개발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인터페이스 정의서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솔루션 연동·관제 화면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화면·알람 정책서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환경 구성·학습·검증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 설계서·설정 내역서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시험·72시간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 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시험·교육·검사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인수 시험 결과서·매뉴얼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546336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착수보고는 계약일로부터 2주 이내, 검사(14일)·안정화 지원(30일)은 사업기간 70일에 산입하지 않음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679367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1536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 지연 시) 통보일이 계약일 이후면 그 일수만큼 계약기간 연장 — 지연 기간 동안 설계·프로토타입·학습 계획을 선행함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사업자 보안관리 준수사항 이행 [별표 4]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(별표 4 전 항목 이행) 참여인원 · 자료 · 사무실·장비 · 내외부망 · 점검·교육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5개 영역 보안관리 준수사항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착수 전부터 종료까지 이행함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SER-004, SER-007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정보보안담당자(정·부) 지정, 사전 신원조회, 보안서약서·기본보안교육 확인서, 인원관리대장, 교체 시 절차 재이행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누출금지정보 자료관리대장(인계·인수 서명), 지정 파일서버 저장, 파쇄 폐기, 개발용 계정 완료 시 삭제, 상용 이메일·공유폴더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사무실·장비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확보된 개발실, 전산장비관리대장, 일일 보안점검 기록, 기관 보안 프로그램 설치, PC·개발서버 USB 포트락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내·외부망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사업체망-내부망 방화벽은 사업자 준비·관리권한 이관, 인터넷PC 검색 전용, 사전 승인 없는 네트워크 연결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 자체 보안교육, 일 1회 자체 보안점검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280800" y="501483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누출금지 대상 정보([별표 3])는 원격지 반출 금지 — 보안관리계획을 사업수행 전에 제출하고 위반 시 보안위규 처리기준·위약금 기준을 수용함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645107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점검·교육 일정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879107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문서·USB 방치, PC 보안설정, 출입 기록 점검 후 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사례·매체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 점검 수검·지적사항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사업 보안관리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작업장소 운영 및 원격개발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작업장소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작업 원칙) 해양경찰청 지정 장소에서 작업함을 원칙으로 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원격지 작업은 발주기관 보안성 검토·승인 범위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에서만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SER-005, SER-006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작업장소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해양경찰청 본청 내 지정 장소 상주 (출입 절차 준수, 사무실 잠금장치 관리)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원격지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정보보안담당 사전 승인 시에만 운영, 별표4 (3)·(4) 충족 — CCTV·출입통제·방화벽·인터넷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반출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대상 정보·구성도·IP 현황·소스코드는 원격지로 반출하지 않음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원격 유지관리 접속은 승인된 경우에만, 접속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290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275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원격개발 위험요인과 대응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99612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위험요인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산출물·소스 유출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원격지에는 비공개 자료 미보관, 개발은 발주기관 개발서버에서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비인가 접속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단말·계정만 사용, 다중 인증, 접속 로그 일일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매체 반출입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USB 포트락, 승인 매체만 관리대장 기록 후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06815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RFP 보안위규 처리기준의 '원격작업 사용' 조항과의 관계는 질의를 통해 확인하고, 확인 전까지 현장 작업으로 수행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Ⅴ-5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기술지원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안정화 운영지원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교육지원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운영 담당자 교육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교육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(자체 운영 역량) 운영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관제 화면 · 알람 설정 · 리포트 · 장애 대응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스스로 수행하도록 실습 중심으로 교육하고 교재를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130200"/>
                <a:gridCol w="1017315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관제 화면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대시보드·토폴로지·타임라인 조회, 드릴다운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심각도·복합 조건·전파 대상·억제 정책 설정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리포트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일·주·월간 리포트 조회·양식, LLM 분석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RCA·LLM 챗봇 활용, 장애 대응 절차, 모의 장애 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실습·훈련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모델 재학습, 중계 대상 추가, 설정 백업·복원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617612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653611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(대상·일정) 교육 대상 인원·일정·시간은 발주기관과 협의하여 확정하고, 근무 교대를 고려해 2회차로 운영함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(교재·결과) 교육 계획서·교재(화면 순서 실습 가이드)·교육 실시 결과를 제출함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88787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873471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619747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619747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48547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 협의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57727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619747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619747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48547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실습 가이드 제작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57727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619747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619747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48547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화면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57727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619747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619747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48547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57727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6197471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6197471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485471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FAQ·추가 교육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기술지원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25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하자보수 기간 기술지원 및 긴급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기술지원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(단일 창구 · 등급별 대응) 하자보수 기간 동안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 등급별 대응 시간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정해 기술지원하고, 솔루션 장애는 공급자와 연계해 신속히 조정함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 등급별 대응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2895435"/>
                <a:gridCol w="117382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중계 중단, 관제 화면·알람 전체 불가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대상 수집·알람 불가, 정합성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화면·리포트 일부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문의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 질의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39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37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기술지원 방법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701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701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4989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 단일 창구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08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701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701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원인 구분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4989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 사업 구축물 / 솔루션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08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701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701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4989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원격 확인 → 현장 출동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081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701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701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4989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결과·재발 방지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5637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기술지원 대상은 본 사업 구축 범위, 분리발주 솔루션 자체 장애는 해당 공급자 기술지원 범위 (발주기관 조정)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0800" y="5853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기술지원 연락 체계 &gt;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6087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95637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기술지원 책임자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중계·연동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분석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하자보수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하자보수 범위 · 절차 · 조직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하자보수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(1년 무상 하자보수) 검사 합격일부터 1년간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본 사업 구축물의 오류 수정과 기능 보완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무상으로 수행하고 이행확약서를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검사 합격일(Ⅶ-사)로부터 1년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분석 엔진 구성·데이터 중계 기능·관제 화면·알람 정책 등 본 사업 구축물의 오류 수정·기능 보완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책임자 1명 + 중계·연동 담당 + AI 분석 담당 (비상연락체계 유지)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이행 비용 전액 계약상대자 부담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하자보수 계획서, 하자보수 이행확약서(안정화 지원 포함), 하자보수 이력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 처리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단일 창구 접수·등록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 여부·원인 판정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후 운영 반영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 보고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이력 보고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(정기 점검) 분기 1회 중계 기능 상태·정합성·모델 성능을 점검하고 결과를 보고함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안정화 운영지원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검사 합격 후 30일 안정화 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안정화 지원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(30일 현장 안정화) 검사 합격 후 30일간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모델 재학습 · 임계치 조정 · 중계 점검 · 화면 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무상 지원하고 안정화 결과보고서를 제출함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1486844"/>
                <a:gridCol w="3286710"/>
                <a:gridCol w="1486844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방식·시간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모델 재학습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누적 데이터로 1~2주차 재학습, 오탐·미탐 사례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 (주 2일)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알람 정책·임계치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알람 발생 통계 분석, 심각도·임계치·억제 정책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상주·원격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중계 기능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수신·정합성 상태 일일 점검, 오류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조정·질의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관제 화면 구성 조정, 운영 담당자 질의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내 응답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316800" y="4143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 Same Side Corner Rectangle 32"/>
          <p:cNvSpPr/>
          <p:nvPr/>
        </p:nvSpPr>
        <p:spPr>
          <a:xfrm>
            <a:off x="316800" y="4143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800" y="4431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알람 통계 수집·초기 조정</a:t>
            </a:r>
          </a:p>
        </p:txBody>
      </p:sp>
      <p:sp>
        <p:nvSpPr>
          <p:cNvPr id="35" name="Isosceles Triangle 34"/>
          <p:cNvSpPr/>
          <p:nvPr/>
        </p:nvSpPr>
        <p:spPr>
          <a:xfrm rot="5400000">
            <a:off x="1811700" y="45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908900" y="4143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1908900" y="4143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2주차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4900" y="4431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모델 재학습·임계치 조정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3403800" y="45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501000" y="4143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3501000" y="4143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3주차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7000" y="4431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운영자 자체 운영 지원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995900" y="4523004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093100" y="4143204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5093100" y="414320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4주차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29100" y="4431204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결과보고서·잔여 이슈 정리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0800" y="5079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안정화 지원 기간은 사업기간(70일)에 산입하지 않으며, 하자보수 기간 내 무상으로 이행함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529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안정화 결과보고서 구성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5529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재학습·임계치 조정·점검·질의 대응 일자별 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오탐·미탐 조정 결과, 오류 조치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잔여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미결 이슈·조치 계획·책임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988000" y="9630000"/>
            <a:ext cx="882000" cy="2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00000" y="9648000"/>
            <a:ext cx="1458000" cy="23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Medium"/>
                <a:ea typeface="KoPubWorld돋움체 Medium"/>
                <a:cs typeface="KoPubWorld돋움체 Medium"/>
              </a:rPr>
              <a:t>Ⅵ-4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