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  <p:sldId id="7528" r:id="rId56"/>
    <p:sldId id="7529" r:id="rId57"/>
    <p:sldId id="7530" r:id="rId58"/>
    <p:sldId id="7531" r:id="rId59"/>
    <p:sldId id="7532" r:id="rId60"/>
    <p:sldId id="7533" r:id="rId61"/>
    <p:sldId id="7534" r:id="rId62"/>
    <p:sldId id="7535" r:id="rId63"/>
    <p:sldId id="7536" r:id="rId64"/>
    <p:sldId id="7537" r:id="rId65"/>
    <p:sldId id="7538" r:id="rId66"/>
    <p:sldId id="7539" r:id="rId67"/>
    <p:sldId id="7540" r:id="rId68"/>
    <p:sldId id="7541" r:id="rId69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ctr"/>
              <a:t>‹#›</a:t>
            </a:fld>
            <a:endParaRPr lang="ko-KR" altLang="en-US" sz="10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통합관제 데이터 연계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및 중계환경 구축 용역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사업PM 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발주기관: 해양경찰청 (정보통신과)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 spc="-68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일반현황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전략 및 방법론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기술 및 기능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성능 및 테스트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5579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프로젝트 관리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4504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6725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4522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9481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252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프로젝트 지원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145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367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147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Ⅵ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6642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일반현황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입찰자 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입찰자의 조직 및 업무분장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입찰자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회사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일반현황 및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(사용자 중심 디지털 서비스 전문기업) 2010년 설립 이후 16년간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서비스 기획·개발·운영과 AI Agent·모니터링 플랫폼 구축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수행해 온 경험으로 통합관제 체계를 완성함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일반현황 [붙임 1호 서식]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400" cy="35196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S/W개발 및 공급업, 서비스업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서울특별시 성동구 뚝섬로1길 25, 10층 (성수동1가, 서울숲한라에코밸리)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전화번호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설립일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2010년 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해당부문 종사기간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2010.04 ~ 2026.10 (16년 6개월)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소프트웨어사업자(1468), 직접생산확인(정보시스템개발서비스 8111159901), 중소기업확인서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벤처기업 인증 (2014)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6324012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630961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자본금 및 매출액 [붙임 3호 서식] (단위: 천원)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6633612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565100"/>
                <a:gridCol w="1565100"/>
                <a:gridCol w="15651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100,100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100,100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100,100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매출액 (SW)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9,885,377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9,460,127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11,077,940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매출액 (기타)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38,800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9,885,377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9,460,127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11,116,740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38281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RFP 서식은 2024~2026년도 기준 — 2026년도 수치 및 자기자본비율·유동비율은 【재무제표 확정 후 기재】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Ⅰ-1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입찰자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1.1.2 주요 연혁 및 조직 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일반현황 및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(전문 인력 기반) 2026년 7월 기준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임직원 129명, 특급 기술자 22명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보유하여 기획·디자인·개발·품질관리를 자체 인력으로 수행함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700000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주요 연혁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(주)에이치나인 법인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벤처기업 인증 획득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Good Design Award 수상 (코레일톡플러스 모바일 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중소벤처기업부 사내벤처 육성기업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한국무역협회 1백만불 수출의 탑 / iF Design Award (국립중앙박물관 교육통합플랫폼 MODU)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ICT AWARD KOREA 디지털 인사이트 GRAND PRIZE, 디지털 서비스혁신 GOLD PRIZE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Design Award 2025 Service 부문 (대신증권 MTS)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5180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5166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조직 구성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5490000"/>
            <a:ext cx="4874400" cy="46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54900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경영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5562000"/>
            <a:ext cx="36684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CEO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54900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CFO: 경영기획팀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6022800"/>
            <a:ext cx="4874400" cy="46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60228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기획·디자인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60948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UX실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60948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비주얼실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60948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인터렉션실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60228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서비스 기획·UI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6555600"/>
            <a:ext cx="4874400" cy="46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65556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개발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66276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서비스개발실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3600" y="66276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DT개발실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14400" y="66276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신사업개발실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65556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플랫폼·데이터·AI 개발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7088399"/>
            <a:ext cx="4874400" cy="46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7088399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관리·품질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7160399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PMO그룹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4000" y="7160399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품질관리팀(CTO)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81200" y="7088399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사업관리·품질보증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316800" y="7693200"/>
          <a:ext cx="6260400" cy="65120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017315"/>
                <a:gridCol w="1017315"/>
                <a:gridCol w="1017315"/>
                <a:gridCol w="1017315"/>
                <a:gridCol w="101731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기술등급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특급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고급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초급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22명 (18.8%)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16명 (13.7%)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19명 (16.2%)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60명 (51.3%)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117명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Ⅰ-2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입찰자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1.2.1 유사분야 수행실적 (최근 3년)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유사사업 수행실적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(AIOps·모니터링·데이터 연계 실적)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Agent 운영 모니터링 플랫폼, 이상탐지 자동화, 제조 데이터 연계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수행 경험을 본 사업의 통합관제·데이터 중계에 그대로 적용함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유사분야: ① AIOps 구축 ② 통합 모니터링 시스템 구축 ③ 데이터 연계·중계 시스템 개발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9" cy="3097468"/>
        </p:xfrm>
        <a:graphic>
          <a:graphicData uri="http://schemas.openxmlformats.org/drawingml/2006/table">
            <a:tbl>
              <a:tblPr firstRow="0" bandRow="0"/>
              <a:tblGrid>
                <a:gridCol w="2504160"/>
                <a:gridCol w="1252080"/>
                <a:gridCol w="939059"/>
                <a:gridCol w="860805"/>
                <a:gridCol w="704295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계약금액(원)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유사분야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SKHy '26년 용인 Y1(M17) 제조 DT 시스템 Ph1 (FAB MOS)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2026.05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38,006,760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①②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SKHy '26년 M14 차세대 제조 시스템 확산 (FAB MOS)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2026.03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32,853,200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①②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SKHy '26년 M15X Ph4 차세대 제조 시스템 (FAB MOS)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2026.03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27,440,000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①②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2026.04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129,385,380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①③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SKHy '26년 표준 아키텍처 구축 Ph3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2026.01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1,170,490,000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③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SKHy '25년 표준 아키텍처 구축 Ph2 (차세대)(DT)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2025.08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1,999,758,400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③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SKHy 25년 차세대 표준 아키텍처 구축 Ph1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2024.12 ~ 2025.01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220,104,000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③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85146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유사분야 해당 여부와 정량 반영 금액은 [붙임 4·5호 서식] 수행실적증명서 기준으로 【최종 확정】 (민간 실적은 계약서·세금계산서 첨부)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608186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606746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실적의 본 사업 적용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6391468"/>
            <a:ext cx="20268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639146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AI Agent 운영 모니터링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6650668"/>
            <a:ext cx="19548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실행 이력·지표 통합 수집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이상 상태 자동 탐지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→ 통합 관제 화면·알람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3600" y="6391468"/>
            <a:ext cx="20268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3600" y="639146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근거 기반 AI 분석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6650668"/>
            <a:ext cx="19548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근거 위치 제시형 응답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통계적 이상탐지 자동화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→ RCA·LLM 분석 가이드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6391468"/>
            <a:ext cx="20268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0400" y="639146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데이터 표준·연계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6650668"/>
            <a:ext cx="19548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제조 DT 표준 아키텍처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이기종 데이터 연계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→ 데이터 중계·정규화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Ⅰ-3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입찰자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1.2.2 핵심 수행사례 — MES AI Agent 통합 관제(MOSAIC)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유사사업 수행실적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(AIOps 핵심 사례) SK하이닉스 MES 운영 로그·시스템 지표를 실시간 분석해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이상 징후 탐지 → 원인 후보 식별 → 품질 평가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까지 수행하는 AI Agent 관제 체계를 구축함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0800" y="2358000"/>
            <a:ext cx="6332400" cy="258695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94000"/>
            <a:ext cx="6224400" cy="255096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(이상 탐지) MES 운영 로그와 시스템 상태 정보를 실시간 분석하여 이상 징후를 탐지하고 조치를 지원하는 MES 특화 AI Agent 'MOSAIC' 개발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(통합 모니터링) Agent 실행 이력·도구 호출·처리 결과·시스템 지표를 통합 수집·분석하는 운영 모니터링 플랫폼 구축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(원인 분석) 로그·메트릭·실행 이력 간 상관관계 분석으로 장애 구간과 원인 후보를 식별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(품질 평가) Judge Agent가 정확성·관련성·</a:t>
            </a:r>
            <a:r>
              <a:rPr sz="1200" b="0" spc="-30">
                <a:solidFill>
                  <a:srgbClr val="0462DA"/>
                </a:solidFill>
                <a:latin typeface="KoPubWorld돋움체 Bold"/>
                <a:ea typeface="KoPubWorld돋움체 Bold"/>
                <a:cs typeface="KoPubWorld돋움체 Bold"/>
              </a:rPr>
              <a:t>근거 충실도</a:t>
            </a: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·응답 지연 기준으로 결과를 자동 평가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2400" y="504935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03496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SK가스 Trading AI 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5358960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800" y="5394960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(데이터 처리 체계) 시황 데이터 업데이트·조회·다운로드를 표준화한 데이터 처리 체계와 다단계 분석 구조 구축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(근거 기반 응답) 자연어 질의에 근거 데이터의 정확한 위치를 함께 제시하는 추적 가능한 응답 체계 구현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2400" y="681984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400" y="680544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본 사업 적용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6800" y="7129439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316800" y="7129439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이상탐지·예측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" y="7417440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지표·로그 기반 탐지 설정 경험 (FUN-003)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342400" y="75092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39600" y="7129439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2439600" y="7129439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RCA·LLM 가이드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75600" y="7417440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근거 제시형 원인 분석 (FUN-004)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465200" y="75092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62400" y="7129439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562400" y="7129439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운영 관제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98400" y="7417440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실행 이력·지표 통합 관제 (FUN-001·002)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Ⅰ-4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입찰자의 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수행조직 및 업무분장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사업 수행조직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(3자 협업 조직) 발주기관 · 본 사업자 · 분리발주 공급자 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단일 창구(PM)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두고, 연동·중계·AI·보안 전담 파트를 구성하여 70일 안에 구축을 완료함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PMR-001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수행 조직도 [붙임 2호 서식]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2682000"/>
            <a:ext cx="4874400" cy="48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6820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발주기관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2754000"/>
            <a:ext cx="1807199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해양경찰청 정보통신과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4000" y="2754000"/>
            <a:ext cx="1807199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운영 담당 부서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26820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사업 총괄·검사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3232800"/>
            <a:ext cx="4874400" cy="48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32328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협의체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3304800"/>
            <a:ext cx="36684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3자 협의체 (발주기관·본 사업자·분리발주 공급자)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32328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주 1회 + 수시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783600"/>
            <a:ext cx="4874400" cy="48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7836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사업관리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3855599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사업관리자(PM)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73600" y="3855599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품질보증(QA)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4400" y="3855599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정보보안담당자(정·부)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1200" y="37836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통합 PM 단일 창구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4334400"/>
            <a:ext cx="4874400" cy="48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43344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수행 파트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4406399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솔루션 연동·관제 화면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363400" y="4406399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데이터 중계 개발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4000" y="4406399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AI 분석 환경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24600" y="4406399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시험·운영 이관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1200" y="43344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구축·시험·교육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4957200"/>
          <a:ext cx="6260400" cy="254883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4304025"/>
                <a:gridCol w="78255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파트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담당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일정·위험·이슈·보고, 3자 협의체 운영, 산출물·형상관리, 기능점수 산정(PMR-004)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 】명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솔루션 연동·관제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통합 모니터링·AIOps 연동 구성, 통합 관제 화면·알람 정책 (ECR-002, FUN-001·002)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 】명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 중계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중계 기능 설계·개발·이중화, 인터페이스 정의, 정합성 검증 (FUN-005, SIR, DAR)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 】명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AI 분석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학습 데이터 구성, 이상탐지·예측·RCA 설정, LLM 분석 환경 (ECR-003, FUN-003·004)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 】명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시험·운영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통합·인수 시험, 72시간 연속 확인, 교육·매뉴얼·안정화 (TER, PSR)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 】명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Ⅰ-5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입찰자의 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2.2.1 참여 형태 · 하도급 · 비상연락체계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2.2 참여 형태 및 비상연락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(단독 · 하도급 없음) 중소기업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단독 참여, 하도급 없이 자사 인력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 수행하며 24시간 비상연락체계를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8096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참여 형태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중소기업인 소프트웨어사업자 단독 참여 (공동수급 없음)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하도급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하도급 없음 — 참여 인력 전원 자사 소속 (공동계약체 외 인력 = 하도급 간주 조건 준수)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분리발주 공급자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계약 당사자가 아니며, 발주기관 조정 하에 연동 인터페이스 협의·문서화 협력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PM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발주기관 사전 통보, 신원조회·보안서약 등 보안 절차 재이행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290012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27561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비상연락체계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4599612"/>
          <a:ext cx="6260400" cy="1809612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330335"/>
                <a:gridCol w="1643355"/>
                <a:gridCol w="17216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사업관리자(PM)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24시간 연락, 즉시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정보보안담당자(정)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보안사고 즉시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정보보안담당자(부)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 부재 시 대행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긴급대응 (중계·연동)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1시간 내 원격 확인, 4시간 내 현장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280800" y="6517224"/>
            <a:ext cx="6332400" cy="52227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7F3F00"/>
                </a:solidFill>
                <a:latin typeface="KoPubWorld돋움체 Bold"/>
                <a:ea typeface="KoPubWorld돋움체 Bold"/>
                <a:cs typeface="KoPubWorld돋움체 Bold"/>
              </a:rPr>
              <a:t>운영 중 시스템 작업으로 장애 발생 시 PM이 즉시 발주기관에 보고하고 사업자 책임으로 복구함 (ECR-001)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Ⅰ-6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전략 및 방법론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 이해도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추진전략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적용기술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추진배경과 해양경찰 업무 특성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사업 배경 및 업무 특성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(생명과 직결된 무중단) 해양 긴급신고·해상 구조 업무는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시스템 중단이 곧 인명 피해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이어지므로, 장애를 사전에 잡아내는 예측 유지보수 관제 체계가 필요함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해양경찰 핵심 업무와 시스템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800" y="2682000"/>
            <a:ext cx="20268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2682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긴급 신고 접수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2941200"/>
            <a:ext cx="19548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통합신고처리시스템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구 122 해양 긴급신고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서버 24 · DB 2 · WAS/WEB 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2682000"/>
            <a:ext cx="20268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2682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상황 관리·구조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2941200"/>
            <a:ext cx="19548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통합상황관리시스템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해상 사고 상황 전파·지휘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서버 13 · DB 2 · WAS/WEB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2682000"/>
            <a:ext cx="20268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2682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감시·공유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2941200"/>
            <a:ext cx="19548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원거리추적감시 · 상황공유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항공기위치정보장치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서버 13 · DB 5 · WAS/WEB 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2400" y="3768012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2400" y="375361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현행 문제와 개선 방향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16800" y="4077612"/>
          <a:ext cx="6260400" cy="2416428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721610"/>
                <a:gridCol w="258241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현행 문제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개선 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개별 도구·수동 점검으로 관제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장애 인지·원인 파악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단일 대시보드 통합 관제 (FUN-001)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계층별 성능 데이터 개별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서버·DB·WAS 연관 분석 불가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토폴로지·타임라인 연관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민원 발생 후 장애 인지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긴급신고 접수 지연 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AI 이상탐지·부하 예측 사전 알림 (FUN-003)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성능 데이터 보관 체계 부재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용량 계획 근거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데이터 보관·리포트 체계 (DAR-002, FUN-004)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타 관제시스템 데이터 단절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기관 전체 가시성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데이터 중계로 통합 분석 (FUN-005)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280800" y="656603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추진근거: 전자정부법 제56조의2, 행정기관 및 공공기관 정보시스템 안정성 고시, 행정정보시스템 장애('23.11.17.) 후속 대책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Ⅱ-1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1.2.1 발주 형태별 범위와 책임 경계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사업 범위 및 책임 경계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(책임 경계 명확화) 솔루션·서버는 분리발주, 본 사업은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연동·구성·데이터 중계 개발·AI 분석 환경 구축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수행하며, 사유별 책임 경계를 착수 시 문서로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ECR-001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발주 형태별 사업 범위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125802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738925"/>
                <a:gridCol w="226939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본 사업자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통합구축 (본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AI 분석 엔진 구축, 데이터 중계 기능 개발, 통합 관제 화면·연동 인터페이스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개발·구축·연동 결과 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분리발주 (나라장터)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통합 모니터링·AIOps 솔루션 라이선스, 구축용 서버 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연동·구성 결과 (설치·라이선스는 공급자)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395802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사유별 책임 경계와 본 사업자 대응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4192020"/>
          <a:ext cx="6260400" cy="241642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3521475"/>
                <a:gridCol w="117382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발생 사유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본 사업자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솔루션 납품·설치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설치 전 가능한 과업(요구사항 상세화·연동 설계·중계 프로토타입) 선행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COR-003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규격 변경 (버전·인터페이스)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영향 범위 보고, 연동 설계 변경, 과업변경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ECR-001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솔루션 기능·성능 미충족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원인 분석 협조, 조건부 적합(보류) 기록 후 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SIR-002, TER-002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본 사업 구축물 결함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보완 후 재시험, 하자보수 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TER-002, PSR-003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검사 합격 후 솔루션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연동 재개 확인, 본 사업 구축물 영향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SIR-002, PSR-002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Ⅱ-2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1.3.1 목표시스템 구성도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1.3 목표시스템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(4계층 통합관제) 관제 대상 76식의 성능 데이터와 타 관제시스템 2종의 데이터를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수집·중계 → AI 분석 → 통합 관제·알람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 연결하는 목표시스템을 구축함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ECR-001, ECR-002, ECR-003, FUN-005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630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관제 대상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69048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통합신고처리 34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77280" y="2430000"/>
            <a:ext cx="69048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통합상황관리 17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1760" y="2430000"/>
            <a:ext cx="69048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원거리추적감시 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66240" y="2430000"/>
            <a:ext cx="69048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상황공유 11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10720" y="2430000"/>
            <a:ext cx="69048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항공기위치정보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81200" y="23580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서버 50 · DB 9 · WAS/WEB 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3052800"/>
            <a:ext cx="4874400" cy="630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30528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수집·중계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32800" y="31248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통합 모니터링 솔루션 수집 (분리발주)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4000" y="31248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0462DA"/>
                </a:solidFill>
                <a:latin typeface="KoPubWorld돋움체 Bold"/>
                <a:ea typeface="KoPubWorld돋움체 Bold"/>
                <a:cs typeface="KoPubWorld돋움체 Bold"/>
              </a:rPr>
              <a:t>데이터 중계 기능</a:t>
            </a: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 (본 사업 개발, 이중화)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30528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타 관제시스템 2종 수신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3747600"/>
            <a:ext cx="4874400" cy="630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37476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AI 분석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38196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AIOps 솔루션 (분리발주)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73600" y="38196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0462DA"/>
                </a:solidFill>
                <a:latin typeface="KoPubWorld돋움체 Bold"/>
                <a:ea typeface="KoPubWorld돋움체 Bold"/>
                <a:cs typeface="KoPubWorld돋움체 Bold"/>
              </a:rPr>
              <a:t>AI 분석 엔진</a:t>
            </a: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 구성 (본 사업)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14400" y="38196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LLM 분석 환경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37476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이상탐지·예측·RCA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4442400"/>
            <a:ext cx="4874400" cy="630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44424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관제·전파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32800" y="45144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통합 관제 화면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73600" y="45144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이벤트·알람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14400" y="45144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성능 리포트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44424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기관 SMS·메일 인프라 연계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5137200"/>
            <a:ext cx="4874400" cy="630000"/>
          </a:xfrm>
          <a:prstGeom prst="rect">
            <a:avLst/>
          </a:prstGeom>
          <a:solidFill>
            <a:srgbClr val="3A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800" y="51372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공통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32800" y="52092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접근통제·감사 로그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73600" y="52092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TLS 1.2+ 전송 암호화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14400" y="52092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데이터 보관·정합성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1200" y="51372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내부망 전용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0800" y="5903999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4800" y="5940000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(별도 개발 범위) 솔루션 기능 구성을 원칙으로 하고, 별도 개발은 </a:t>
            </a:r>
            <a:r>
              <a:rPr sz="1200" b="0" spc="-30">
                <a:solidFill>
                  <a:srgbClr val="0462DA"/>
                </a:solidFill>
                <a:latin typeface="KoPubWorld돋움체 Bold"/>
                <a:ea typeface="KoPubWorld돋움체 Bold"/>
                <a:cs typeface="KoPubWorld돋움체 Bold"/>
              </a:rPr>
              <a:t>데이터 중계 기능(FUN-005)</a:t>
            </a: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으로 한정함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(내부망 전제) 외부 인터넷 연계 없이 동작하도록 학습·분석·LLM 환경을 내부망에 구성함 (ECR-003)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Ⅱ-3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1.4.1 제안의 특징 · 장점 · 전제조건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1.4 제안의 특징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(제품 비특정 · 검증 가능) 솔루션 제품이 정해지지 않은 상황에서도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표준 인터페이스 기반 연동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검증 가능한 정량 목표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일정·품질 위험을 줄임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① 제품 비특정 연동 설계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REST·메시지·Syslog·SNMP 등 표준 방식 어댑터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솔루션 확정 후 어댑터만 선택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92000" y="235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② 무유실 이중화 중계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0" y="261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디스크 영속 버퍼 + 재전송 + 중복 제거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한 계통 장애 시 자동 절체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34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34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③ 무중단 단계적 구축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360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시험 대상 → 일반 → 핵심 시스템 순 적용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수집 부하 CPU 5% 이내 사전 측정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2000" y="334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92000" y="334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④ 설치 지연에도 진행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360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설치 전 연동 설계·중계 프로토타입 선행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통보일 기준 70일 일정 재수립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433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6800" y="433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⑤ 검증 가능한 정량 목표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800" y="459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화면 응답·알람 시간·동시 사용자 정량 제시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72시간 연속 정상 동작 확인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92000" y="433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92000" y="433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⑥ 자체 운영 이관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8000" y="459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재학습·임계치·화면 편집 절차 매뉴얼화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30일 안정화 무상 지원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2400" y="5396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2400" y="5382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제안 전제조건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5706000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5742000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(연계 정보) 타 관제시스템 2종의 전송 프로토콜·데이터 형식·규모는 설명회 미개최로 미제공 — 표준 방식 어댑터로 제안하고 착수 시 확정함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(LLM 자원) GPU 등 연산 자원은 분리발주 도입 범위에 따르며, 제공 수준별 구성안(Ⅱ-3.2)을 제시함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Ⅱ-4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추진 목표와 4대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추진 목표 및 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(목표)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긴급신고 서비스 무중단을 지키는 예측형 통합관제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— 장애를 먼저 알리고, 원인을 빨리 찾고, 운영자가 스스로 운영하게 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6260400" cy="57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비전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50544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긴급신고 서비스 무중단을 지키는 예측형 통합관제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2998800"/>
            <a:ext cx="6260400" cy="57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9988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추진 목표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30708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관제 대상 76식 수집 100%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35600" y="30708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중계 데이터 유실 0건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38400" y="30708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72시간 연속 정상 동작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3639600"/>
            <a:ext cx="6260400" cy="57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36396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기술 전략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3711599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표준 인터페이스 연동 일원화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35600" y="3711599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이기종 통합 수집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38400" y="3711599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무유실 이중화 중계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4280400"/>
            <a:ext cx="6260400" cy="57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42804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관리 전략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43524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3자 상시 협의체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35600" y="43524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책임 경계 문서화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38400" y="43524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단계별 검증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4921200"/>
            <a:ext cx="6260400" cy="576000"/>
          </a:xfrm>
          <a:prstGeom prst="rect">
            <a:avLst/>
          </a:prstGeom>
          <a:solidFill>
            <a:srgbClr val="3A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49212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정책·법제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49932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기관 보안 정책 준수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35600" y="49932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SW 분리발주 협력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38400" y="49932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데이터 기반 운영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16800" y="5633999"/>
          <a:ext cx="6260400" cy="173242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RFP 추진 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제안 실행방안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기술적 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이상탐지·RCA·부하예측 단계적 도입, 다중 OS·DBMS 통합 수집, 관제 대상 확장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관리적 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발주기관-사업자-공급자 주 1회 협의체, 운영부서 의견 수렴, 통합 PM 역할·책임 경계 문서화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정책·법·제도적 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정보보안 기본지침·개인정보보호법 준수, 상용SW 직접구매 원칙에 따른 공급자 협력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Ⅱ-5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2.2.1 운영 시스템 무중단 구축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2.2 무중단 구축 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(서비스 영향 0) 통합신고처리 등 운영 시스템에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수집 적용을 단계별로 확대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하고, 작업마다 사전 승인·업무시간 외 작업·롤백 계획을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ECR-001, COR-001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단계적 수집 적용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6800" y="2682000"/>
            <a:ext cx="1484100" cy="8988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① 사전 측정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2970000"/>
            <a:ext cx="1412100" cy="62881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대상별 기준 부하·작업 창 확인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811700" y="308820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908900" y="2682000"/>
            <a:ext cx="1484100" cy="8988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9089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② 시험 적용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4900" y="2970000"/>
            <a:ext cx="1412100" cy="62881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비핵심 서버 1~2식 적용, 부하 측정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3403800" y="308820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1000" y="2682000"/>
            <a:ext cx="1484100" cy="8988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5010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③ 확대 적용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7000" y="2970000"/>
            <a:ext cx="1412100" cy="62881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원거리추적·상황공유·항공기위치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995900" y="308820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93100" y="2682000"/>
            <a:ext cx="1484100" cy="8988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0931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④ 핵심 적용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100" y="2970000"/>
            <a:ext cx="1412100" cy="62881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통합상황관리 → 통합신고처리 (업무시간 외)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316800" y="3706812"/>
          <a:ext cx="6260400" cy="215161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통제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적용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작업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서비스 영향 작업은 작업계획서 사전 승인, 중단 필요 작업은 별도 승인 (COR-001)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작업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긴급신고 시스템은 신고량이 적은 시간대(발주기관 협의)에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부하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수집 부하 CPU 5% 이내 — 초과 시 수집 주기·항목 조정 후 재측정 (PER-001)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롤백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적용 전 설정 백업, 이상 시 수집 중지·원복 절차 10분 내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작업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작업 일시·대상·결과·영향 기록, 주간보고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280800" y="596642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시스템별 적용 순서 (안) &gt;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6200423"/>
          <a:ext cx="6260400" cy="1942020"/>
        </p:xfrm>
        <a:graphic>
          <a:graphicData uri="http://schemas.openxmlformats.org/drawingml/2006/table">
            <a:tbl>
              <a:tblPr firstRow="0" bandRow="0"/>
              <a:tblGrid>
                <a:gridCol w="626040"/>
                <a:gridCol w="1956375"/>
                <a:gridCol w="1721610"/>
                <a:gridCol w="195637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순서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정보시스템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적용 시간대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원거리추적감시시스템 (10식)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업무시간 (협의)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시험 적용·부하 측정 기준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상황공유 (11식) · 항공기위치정보 (4식)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업무시간 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확대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통합상황관리시스템 (17식)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업무시간 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상황실 운영 영향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통합신고처리시스템 (34식)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신고량 최저 시간대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단계 분할 적용, 즉시 롤백 대기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Ⅱ-6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2.3.1 사업 위험요소와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2.3 위험 대응 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(위험 선제 대응) 분리발주 의존 · 정보 미제공 · 보안 조건 등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일정에 직결되는 위험 6건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착수 전에 식별하고 대응안을 준비함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COR-003, PMR-002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75842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547785"/>
                <a:gridCol w="2191140"/>
                <a:gridCol w="219114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예방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발생 시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솔루션 납품·설치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 2주 내 설치 일정 확인, 설치 전 과업 선행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통보일 기준 계약기간 연장 (COR-003)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솔루션 제품 미확정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제품 비특정 표준 어댑터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확정 즉시 어댑터 선택·연동 명세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연계 정보 미제공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 회의에서 프로토콜·형식·규모 확인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샘플 데이터로 프로토타입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GPU 자원 불명확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자원 수준별 LLM 구성안 3종 준비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제공 자원에 맞는 구성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수집 부하 초과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대상별 사전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주기·항목 조정, 결과 보고·협의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보안 절차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투입 전 신원조회·서약 조기 진행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현장 투입 인력 우선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23882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22442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위험관리 절차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5548428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554842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식별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5836428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주간보고·3자 협의체에서 등록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493280" y="592822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590480" y="5548428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590480" y="554842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분석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6480" y="5836428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발생 가능성×영향도 등급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766960" y="592822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64160" y="5548428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2864160" y="554842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대응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0160" y="5836428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예방·완화·전가 계획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040640" y="592822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37840" y="5548428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137840" y="554842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감시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3840" y="5836428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주간 점검, '상' 즉시 보고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5314320" y="592822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11520" y="5548428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5411520" y="554842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종결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7520" y="5836428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조치 결과 확인·기록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800" y="6520428"/>
            <a:ext cx="6332400" cy="7412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6556428"/>
            <a:ext cx="6224400" cy="705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(일정 영향 위험) 분리발주 관련 위험은 발생 사실·영향 범위·예상 지연 일수를 지체 없이 서면 보고하여 계약기간 조정 근거를 남김 (COR-003)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Ⅱ-7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주요 적용기술 및 실현 가능성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적용기술 개요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(검증된 표준 기술) 솔루션 연동은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각 제품의 표준 인터페이스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중계 기능은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전자정부 표준프레임워크 기반 경량 서비스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구현하여 확장성과 유지관리성을 확보함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15565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04160"/>
                <a:gridCol w="258241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적용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실현 가능성·확장성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솔루션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솔루션 표준 API (REST/JSON), 메시지 연동, 데이터 Export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솔루션 확정 후 어댑터 선택, 신규 대상 설정만으로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 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Syslog(RFC5424), SNMP Trap, REST Push/Pull, 파일(SFTP), DB 조회 어댑터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타 관제시스템 2종 방식 확정 후 해당 어댑터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중계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전자정부 표준프레임워크(Spring Boot) 기반 Java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공공 표준, 유지관리 인력 확보 용이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무유실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디스크 영속 버퍼(WAL), 재전송·지수 백오프, 멱등 키 중복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일시 장애 시에도 유실 없이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이중화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Active-Standby 2계통 + 가상 IP(VRRP), 상태 감시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한 계통 장애 시 수동 개입 없이 절체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TLS 1.2 이상, 역할 기반 권한, 감사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기관 보안 정책·개발보안 가이드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558565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오픈소스 사용 시 라이선스·버전을 오픈소스 라이선스 정책서로 제출 (COR-002), 기술적용계획표는 별첨으로 제출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2400" y="5816052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80165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데이터 중계 기능 소프트웨어 구성 (안)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125652"/>
          <a:ext cx="6260399" cy="2416428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034630"/>
                <a:gridCol w="1095570"/>
                <a:gridCol w="1878119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구성 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적용 제품 (안)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실행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OpenJDK 17 LTS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GPL+CE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중계 서비스 실행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프레임워크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전자정부 표준프레임워크 (Spring Boot)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Apache 2.0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수신·정규화·전달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이중화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keepalived (VRRP)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GPL (별도 프로세스)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가상 IP 절체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영속 버퍼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파일 기반 WAL (자체 구현)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미전달 데이터 보관·재처리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중계 처리 지표 노출 (표준 메트릭)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통합 모니터링 솔루션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80800" y="8650080"/>
            <a:ext cx="6332400" cy="7412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800" y="8686080"/>
            <a:ext cx="6224400" cy="705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(확장성) 수신 어댑터·변환 규칙·전달 대상을 설정 파일로 분리하여 관제시스템 추가 시 코드 변경을 최소화함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Ⅱ-8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3.2.1 AI 기반 장애 예측 및 근본 원인 분석 기술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3.2 AIOps 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(AIOps 4대 기능) 과거 운영 데이터를 학습한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동적 기준선 이상탐지 · 부하 예측 · 희소로그 탐지 · RCA/LLM 분석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AIOps 솔루션 위에 구성함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FUN-003, FUN-004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8124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895435"/>
                <a:gridCol w="219114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적용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결과 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이상탐지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시간대·요일 패턴을 반영한 동적 기준선과 편차 기반 탐지 (WAS·DB·System 지표별)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이상 점수·구간을 대시보드·타임라인에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부하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지표별 시계열 학습으로 타겟 단위 향후 부하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예측선·임계 도달 예상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희소로그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로그 템플릿화 후 출현 빈도가 낮은 패턴·특정 패턴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희소 패턴 목록·발생 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근본 원인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장애 시점 연관 지표 영향도 분석으로 원인 후보 순위화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RCA 후보·근거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LLM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RCA 결과·지표·로그를 근거로 원인 설명·조치 가이드, 자연어 질의응답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분석 보고서·챗봇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16164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14724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내부망 LLM 구성안 (연산 자원 제공 수준별)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471244"/>
          <a:ext cx="6260400" cy="160002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582415"/>
                <a:gridCol w="234765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자원 수준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제공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GPU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AIOps 솔루션 내장 또는 온프레미스 LLM 서빙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원인 설명·조치 가이드·챗봇 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CPU만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경량 모델 + RCA 결과 템플릿 기반 설명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보고서·가이드 중심, 챗봇 응답 범위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솔루션 내장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솔루션 제공 모델 설정·프롬프트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솔루션 규격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Ⅱ-9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3.3.1 다중 운영체제 · 데이터베이스 지원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3.3 이기종 환경 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(이기종 통합) 다중 OS · Oracle · PostgreSQL · WAS/WEB 환경의 성능 데이터를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동일 지표 체계로 정규화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하여 계층 간 연관 분석이 가능하게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ECR-002, COR-002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계층별 수집 지표 (안) — 착수 시 대상·항목·주기 확정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07442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565100"/>
                <a:gridCol w="367798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계층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주요 수집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서버 50식 (다중 OS)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CPU·메모리·디스크 I/O·파일시스템·네트워크·프로세스, 시스템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Oracle 8식, PostgreSQL 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세션·Active Session·Lock·대기 이벤트·SQL 응답·테이블스페이스, Alert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WAS/WEB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17식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TPS·응답시간·에러율·스레드·커넥션 풀·힙 메모리, 접근·에러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업무 시스템 5종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서비스별 트랜잭션 흐름·응답 (토폴로지 구성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78882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77442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지원 검증 절차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5098428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509842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환경 목록 확정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5386428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OS·DB·WAS 버전 목록 확보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811700" y="547822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08900" y="5098428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1908900" y="509842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수집 지원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44900" y="5386428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솔루션 규격 대비 지원 여부 대조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3403800" y="547822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01000" y="5098428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501000" y="509842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시험 수집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7000" y="5386428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환경별 1식씩 시험 수집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995900" y="547822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93100" y="5098428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093100" y="509842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결과 기록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100" y="5386428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미지원 항목은 연동 설계서에 기록·보고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6070428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6106428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(미지원 환경 대응) 솔루션 에이전트가 지원하지 않는 OS·버전은 표준 프로토콜(SNMP·Syslog) 수집 또는 데이터 중계 기능 경유 수신으로 대체 방안을 제시함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(DB 계정) DB 성능 수집용 계정은 조회 전용 최소 권한으로 생성하고 계정정보 관리대장에 등록함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Ⅱ-10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3.4.1 개발 방법론 및 프로토타입 구현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3.4 개발 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(설계 선행 · 프로토타입 검증) 솔루션 설치 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연동 설계와 데이터 중계 프로토타입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먼저 완성하고, 설치 후에는 구성·시험을 반복하여 기간을 단축함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PMR-003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985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① 분석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71521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요구사항 상세화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연동 대상·항목·주기 확정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0740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985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② 설계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71521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연동·중계 설계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화면 구성안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알람 정책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0740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985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③ 구현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71521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솔루션 연동 구성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중계 개발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AI 학습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0740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985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④ 시험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71521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통합·성능 시험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72시간 확인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인수 시험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0740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985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⑤ 이관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71521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교육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매뉴얼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검사 요청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2400" y="348361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2400" y="346921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데이터 중계 프로토타입 (설치 전 2주 내)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0800" y="3793212"/>
            <a:ext cx="6332400" cy="178110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4800" y="3829212"/>
            <a:ext cx="6224400" cy="174510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(목적) 타 관제시스템 2종의 실제 샘플 데이터로 수신·정규화·전달·재전송 흐름을 먼저 검증함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(범위) 수신 어댑터 2종, 표준 스키마 변환, 영속 버퍼, 전달 재시도, 정합성 대조 리포트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(효과) 솔루션 설치 후에는 전달 대상만 연결하면 되어 구현 기간을 2주 이상 단축함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2400" y="567871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2400" y="566431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단계별 검토·승인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5988312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677985"/>
                <a:gridCol w="15651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검토·승인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승인 주체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연동 대상·항목·주기, 성능 목표 협의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연동·중계 설계서, 화면 구성안, 알람·심각도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발주기관·운영부서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학습 계획, 데이터 보관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시험 계획서, 72시간 확인 시간대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Ⅱ-11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기술 및 기능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시스템구성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인터페이스 및 데이터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보안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제약사항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시스템구성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시스템 구성 공통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(솔루션 기능 우선) 솔루션이 제공하는 화면·설정 기능으로 관제·알람을 구성하고,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별도 개발은 데이터 중계 기능으로 한정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하여 구축 범위를 사업수행계획서로 승인받음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ECR-001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구축 범위 구분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8" cy="220683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973689"/>
                <a:gridCol w="1878119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구성 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구축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통합 관제 화면 (FUN-001)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솔루션 화면 구성·설정 기능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화면 설계서·구성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이벤트·알람 (FUN-002)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솔루션 알람 정책 설정 + 기관 SMS·메일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알람 정책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이상탐지·예측·RCA (FUN-003·004)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AIOps 솔루션 기반 분석 환경 구성·학습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분석 모델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 중계 (FUN-005)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0462D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별도 개발</a:t>
                      </a: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 — 수신·정규화·제공, 이중화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중계 설계서·인터페이스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4906836"/>
            <a:ext cx="6332400" cy="197171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4942836"/>
            <a:ext cx="6224400" cy="193571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(구성 불가 항목) 구성만으로 충족이 불가하거나 솔루션 규격 변경으로 방안 변경이 필요하면 근거를 기록하여 보고하고 과업변경 절차(소프트웨어 진흥법 제50조)를 따름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(운영 영향) 운영 시스템 작업은 서비스 영향이 없도록 수행하고, 작업 장애 발생 시 사업자 책임으로 즉시 복구함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(구성 승인) 시스템 구성도와 구축 범위를 사업수행계획서에 제시하여 착수보고 시 승인받음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시스템구성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1.2.1 통합 모니터링 솔루션 연동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통합 모니터링 연동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(76식 전수 연동) 서버 50 · DB 9 · WAS/WEB 17의 성능 데이터를 통합 관제체계로 연동하고,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대상·항목·주기를 착수 단계에서 확정해 문서화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ECR-002, SIR-002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시스템별 연동 대상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361204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017315"/>
                <a:gridCol w="1173825"/>
                <a:gridCol w="1095570"/>
                <a:gridCol w="101731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정보시스템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WAS/WEB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통합신고처리시스템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 (Oracle)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통합상황관리시스템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 (Oracle)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원거리추적감시시스템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 (Oracle)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상황공유시스템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 (PostgreSQL)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항공기위치정보장치시스템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 (Oracle)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5075603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506120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연동 구성 절차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5385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5385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대상 확정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5673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라이선스 수량 범위 내 대상 확정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811700" y="5765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08900" y="5385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1908900" y="5385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항목·주기 정의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44900" y="5673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계층별 지표·수집 주기 문서화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3403800" y="5765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01000" y="5385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501000" y="5385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연동 구성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7000" y="5673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솔루션 수집 → 관제체계 연동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995900" y="5765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93100" y="5385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093100" y="5385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연동 시험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100" y="5673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대상별 수집 상태 기록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800" y="632120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솔루션 제품 규격·설치·라이선스는 분리발주 공급자 범위, 본 사업자는 연동·구성 결과에 책임 / 산출물: 연동 설계서, 연동 시험 결과서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시스템구성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1.3.1 AIOps 솔루션 기반 분석 환경 구축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1.3 AIOps 분석 환경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(내부망 분석 환경) 통합 모니터링·중계 데이터를 학습 대상으로 연계하고,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학습 주기·보관 주기를 정의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하여 외부 인터넷 없이 동작하는 분석 환경을 구축함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ECR-003, DAR-002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75842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구성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분석 대상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통합 모니터링 솔루션 수집 데이터 + 데이터 중계 기능 제공 데이터 → AIOps 분석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학습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지표별 최소 2주(권장 4주) 운영 데이터, 장애·작업 구간 라벨링으로 학습 품질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학습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초기 학습 후 안정화 기간 중 주 1회 재학습, 이후 월 1회 정기 재학습 (승인 후 확정)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보관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원천 3개월 · 마트 6개월 · 단기 결과 3개월 · 장기 통계 1년 이상 (DAR-002)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자원·이중화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발주기관 제공 자원 범위에서 분석 서버 배치와 이중화 범위 협의·확정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내부망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모델·패키지·업데이트를 승인된 매체로 반입, 외부 인터넷 호출 기능 비활성화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23882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22442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학습 일정 (설치 완료 통보일 기준)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5548428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554842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3~4주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5836428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데이터 수집 개시·전처리 체계 구성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811700" y="592822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8900" y="5548428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908900" y="554842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5~6주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900" y="5836428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최소 2주 데이터로 초기 모델 생성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3403800" y="592822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01000" y="5548428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501000" y="554842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7~8주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7000" y="5836428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탐지·예측 결과 표출·검증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995900" y="592822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93100" y="5548428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093100" y="554842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안정화 30일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100" y="5836428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누적 데이터로 재학습·임계치 조정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통합 관제 화면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통합 관제 화면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(한 화면 통합관제) 서버·DB·WAS/WEB 운영 현황과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이상탐지 상황을 업무 시스템별로 한 화면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에서 판단하고, 토폴로지·타임라인으로 즉시 추적함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FUN-001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① 통합 대시보드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1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업무 시스템 5종 상태 요약 (정상·주의·경고·장애)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계층별 AI 이상탐지 현황, 상시 표출용 모드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② 토폴로지 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0" y="261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서비스 → WAS/DB 인스턴스 → 서버 연결 구조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구성 요소별 성능 지표·상태 색상 표시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34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800" y="334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③ 타임라인 분석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" y="360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실시간·과거 이슈 시간축 추적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이벤트·지표 변화·작업 이력 겹쳐 보기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3348000"/>
            <a:ext cx="30852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334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④ 시스템별 상세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3607200"/>
            <a:ext cx="30132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업무 시스템별 서비스·인스턴스 이상탐지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드릴다운 → 원인 분석·리포트 이동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16800" y="4392000"/>
          <a:ext cx="6260400" cy="1335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제공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웹 방식, HTML5 기반 브라우저 조회 (솔루션 화면 구성 기능 활용)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화면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화면 구성안 제시 → 운영부서 의견 수렴 → 발주기관 승인 후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화면 설계서, 화면 구성 결과서 (화면 이미지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Rectangle 43"/>
          <p:cNvSpPr/>
          <p:nvPr/>
        </p:nvSpPr>
        <p:spPr>
          <a:xfrm>
            <a:off x="302400" y="584960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2400" y="583520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화면 확정 절차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6800" y="615920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316800" y="615920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구성안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800" y="6447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화면 목록·배치안 작성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1811700" y="653900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908900" y="615920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1908900" y="615920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의견 수렴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4900" y="6447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상황실·운영부서 검토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3403800" y="653900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501000" y="615920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>
            <a:off x="3501000" y="615920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승인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37000" y="6447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발주기관 확정</a:t>
            </a:r>
          </a:p>
        </p:txBody>
      </p:sp>
      <p:sp>
        <p:nvSpPr>
          <p:cNvPr id="57" name="Isosceles Triangle 56"/>
          <p:cNvSpPr/>
          <p:nvPr/>
        </p:nvSpPr>
        <p:spPr>
          <a:xfrm rot="5400000">
            <a:off x="4995900" y="653900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093100" y="615920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 Same Side Corner Rectangle 58"/>
          <p:cNvSpPr/>
          <p:nvPr/>
        </p:nvSpPr>
        <p:spPr>
          <a:xfrm>
            <a:off x="5093100" y="615920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구성·검증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9100" y="6447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솔루션 설정·표출 확인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2.2.1 이벤트·알람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2.2 이벤트 및 알람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(놓치지 않는 알람) 이벤트를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4단계 심각도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구분하고 복합 지표·미수집 알람까지 정의하여, 기관 SMS·메일 인프라로 담당자에게 즉시 전파함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FUN-002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심각도 기준 (안) — 긴급신고 관련 기준은 발주기관 협의 확정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1809612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3364965"/>
                <a:gridCol w="195637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심각도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기준 예시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서비스 중단, 긴급신고 시스템 핵심 지표 임계 초과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SMS + 메일 즉시, 화면 경고음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경고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AI 이상탐지 고위험, 복합 지표(응답시간↑ + 에러율↑) 충족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SMS + 메일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단일 지표 임계 근접, 부하 예측 임계 도달 예상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메일, 화면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작업·설정 변경, 수집 재개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화면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524012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50961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알람 처리 흐름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4833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4833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이벤트 발생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5121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임계·이상탐지·복합 조건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811700" y="5213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08900" y="4833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1908900" y="4833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심각도 판정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44900" y="5121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정책·억제·중복 묶음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3403800" y="5213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01000" y="4833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501000" y="4833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전파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7000" y="5121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기관 SMS·메일 인프라 연동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995900" y="5213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93100" y="4833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093100" y="4833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확인·조치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100" y="5121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담당자 확인·이력 기록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5805612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5841612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(미수집 알람) 대상별 수집 중단이 2주기 이상 지속되면 '데이터 미수집' 알람을 발생시킴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(알람 피로 방지) 동일 원인 연쇄 알람은 묶어서 1건으로 전파하고 반복 주기를 설정함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2.3.1 AI 기반 이상 탐지 및 부하 예측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2.3 AI 이상탐지 및 예측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(학습 기반 사전 알림) 과거 운영 데이터를 학습해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영역별 부하 예측 · 이상 징후 탐지 · 희소로그 탐지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결과를 표출하고, 재학습 절차를 운영자가 직접 수행하게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FUN-003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60002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191140"/>
                <a:gridCol w="281718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대상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부하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WAS · DB · System 주요 성능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타겟 단위 예측값·예측 구간, 임계 도달 예상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이상징후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WAS · DB · System 다양한 성능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이상 점수·구간, 관련 지표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희소로그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비정형 시스템·애플리케이션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간헐 패턴·특정 패턴 탐지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08041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06601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본 사업 검증 범위와 학습 계획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439002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43900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수집·전처리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467802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학습 데이터 수집·전처리 체계 구성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811700" y="476982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8900" y="439002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908900" y="43900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초기 모델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900" y="467802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최소 데이터 확보 후 초기 모델 생성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3403800" y="476982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01000" y="439002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501000" y="43900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결과 표출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7000" y="467802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탐지·예측 결과 화면 표출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995900" y="476982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93100" y="439002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093100" y="43900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재학습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100" y="467802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안정화 기간 중 재학습 계획 수행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0800" y="5362020"/>
            <a:ext cx="6332400" cy="116586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5398020"/>
            <a:ext cx="6224400" cy="112986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(승인) 최소 데이터 확보 기간·초기 학습 완료 시점·재학습 계획을 사업수행계획서에 제시하여 승인받음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(운영자 매뉴얼) 모델 재학습 절차와 운영 담당자 수행 방법을 화면 순서대로 수록함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2.4.1 원인 분석(RCA) · LLM 분석 · 성능 리포트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2.4 원인 분석 및 리포트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(원인을 빨리) 장애 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영향도 높은 연관 지표로 RCA 후보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제시하고, LLM이 근거와 함께 원인·조치 가이드를 설명하며, 일·주·월간 리포트를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FUN-004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장애·성능 저하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이벤트·이상탐지 발생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8117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89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9089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RCA 후보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49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연관 지표 영향도 분석·순위화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34038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010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35010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LLM 분석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70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근거 지표·로그 기반 원인 설명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959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931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50931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조치 가이드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1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조치 절차·분석 보고서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316800" y="3330000"/>
          <a:ext cx="6260400" cy="18096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제공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RCA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장애 시점 전후 연관 지표 영향도 자동 분석, 원인 후보와 근거 지표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LLM 분석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RCA 결과·지표·로그를 근거로 원인 설명과 조치 가이드라인, 장애 분석 보고서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LLM 챗봇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자연어로 장애 상황 질의 → 근거 데이터와 함께 응답 (내부망 모델)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성능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일간·주간·월간 성능 통계 (항목·양식 발주기관 협의 확정)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Rounded Rectangle 46"/>
          <p:cNvSpPr/>
          <p:nvPr/>
        </p:nvSpPr>
        <p:spPr>
          <a:xfrm>
            <a:off x="280800" y="5247612"/>
            <a:ext cx="6332400" cy="52227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7F3F00"/>
                </a:solidFill>
                <a:latin typeface="KoPubWorld돋움체 Bold"/>
                <a:ea typeface="KoPubWorld돋움체 Bold"/>
                <a:cs typeface="KoPubWorld돋움체 Bold"/>
              </a:rPr>
              <a:t>LLM 응답에는 사용한 근거 지표·로그·시점을 함께 표시하고, 조치 실행은 운영자 확인 후에만 수행하도록 구성함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0800" y="5877883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성능 리포트 구성 (안) &gt;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6111883"/>
          <a:ext cx="6260399" cy="1335204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532134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시스템별 가용률·주요 지표 최대/평균, 이벤트·알람 건수, 이상탐지 발생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지표 추이, 반복 이상 패턴, 부하 예측 결과, 조치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월간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서비스 수준 요약, 용량 추이·증설 필요 시점, 장애 분석 보고서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2.5.1 데이터 중계 기능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2.5 데이터 중계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(본 사업 개발 핵심) 타 관제시스템 2종의 성능·로그 데이터를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수신 → 선별·정규화 → 영속 버퍼 → AIOps 제공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하는 중계 기능을 이중화로 개발함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FUN-005, SIR-001, DAR-001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중계 기능 처리 구조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2682000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682000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① 수신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800" y="2754000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24800" y="2790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수신 어댑터 (프로토콜별)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6999" y="2790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TLS 수신·인증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24800" y="3240000"/>
            <a:ext cx="41544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원본 수신 이력 기록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69200" y="2682000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타 관제시스템 2종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800" y="3761999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3761999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② 선별·정규화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34800" y="3833999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324800" y="3870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분석 대상 선별 규칙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46999" y="3870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표준 스키마 변환 (시각·대상·지표·단위)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24800" y="4320000"/>
            <a:ext cx="41544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형식 검증·오류 격리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69200" y="3761999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데이터 표준 정의서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800" y="4842000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800" y="4842000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③ 보관·전달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34800" y="4913999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324800" y="4950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디스크 영속 버퍼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46999" y="4950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재시도·지수 백오프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24800" y="5400000"/>
            <a:ext cx="41544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멱등 키 중복 제거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69200" y="4842000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AIOps 분석 환경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5922000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800" y="5922000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④ 관리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34800" y="5993999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324800" y="6030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처리 건수·지연 모니터링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46999" y="6030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정합성 대조 리포트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24800" y="6480000"/>
            <a:ext cx="41544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설정 기반 대상 추가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922000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인터페이스 처리 이력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0800" y="7055999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4800" y="7092000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(인터페이스 정의) 수신 대상 데이터 범위·수신 주기·데이터 형식을 인터페이스 정의서로 제출함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(대상 확장) 3종 이상 증가 시에도 어댑터·설정 추가로 대응하며, 과업 범위 변경은 소프트웨어 진흥법 제50조 절차를 따름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2.5.2 데이터 중계 이중화 및 절체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2.5 데이터 중계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(수동 개입 없는 절체) 2계통 Active-Standby와 가상 IP로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 계통 장애 시 10초 이내 자동 절체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하고, 절체 구간 데이터는 재전송·중복 제거로 유실 없이 처리함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FUN-005, QUR-001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540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송신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타 관제시스템 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타 관제시스템 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가상 IP로 전송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962800"/>
            <a:ext cx="4874400" cy="540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9628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접속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3034800"/>
            <a:ext cx="36684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가상 IP (VRRP)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81200" y="29628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활성 계통으로 자동 연결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800" y="3567600"/>
            <a:ext cx="4874400" cy="540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35676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중계 계통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32800" y="3639600"/>
            <a:ext cx="1807199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중계 #1 (Active)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4000" y="3639600"/>
            <a:ext cx="1807199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중계 #2 (Standby)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81200" y="35676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상태 감시 1초 주기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4172400"/>
            <a:ext cx="4874400" cy="540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41724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전달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32800" y="4244400"/>
            <a:ext cx="36684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AIOps 분석 환경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41724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멱등 키 중복 제거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800" y="48492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절체 시나리오와 목표 &gt;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5083200"/>
          <a:ext cx="6260400" cy="194202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286710"/>
                <a:gridCol w="15651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처리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장애 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헬스체크 1초 주기, 3회 연속 실패 시 장애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절체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가상 IP를 대기 계통으로 이동, 대기 계통 수신 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10초 이내 (감지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절체 구간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송신측 재전송 + 계통별 영속 버퍼, 멱등 키로 중복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유실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장애 계통 복구 후 대기 계통으로 자동 편입, 미전달 버퍼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수동 개입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80800" y="709721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이중화 서버 자원은 별도 조달 제공, 세부 구성 방식(Active-Active 포함)은 착수 단계에서 협의 확정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인터페이스 및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공통 인터페이스 및 분리발주 솔루션 연동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(장애에도 자동 재개) 모든 연동 구간에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암호화·재시도·이력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적용하고, 솔루션 장애·변경 시에도 본 사업 기능이 멈추지 않고 복구 후 자동으로 연동을 재개함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SIR-001, SIR-002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공통 인터페이스 기준 (SIR-001)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적용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전송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TLS 1.2 이상, 상호 인증서 기반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재시도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실패 시 최대 5회 지수 백오프 재시도, 초과분은 영속 버퍼 보관 후 자동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발주기관 표준 인터페이스 방식 우선, 명세는 인터페이스 정의서로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처리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전송 건수·성공·실패·재시도 이력 기록·조회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437720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분리발주 솔루션 연동 (SIR-002)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4611204"/>
          <a:ext cx="6260400" cy="1600020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상황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정상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솔루션 표준 인터페이스 활용, 연동 명세를 공급자와 협의·문서화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솔루션 장애·변경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본 사업 기능은 대기·버퍼링으로 정상 유지, 복구 후 별도 조치 없이 연동 재개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표준 인터페이스 미제공·규격 미달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내용·근거를 연동 설계서에 기록·보고 → 해당 항목 시험·검사 유예 (COR-003)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302400" y="633362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2400" y="631922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연동 명세 협의 절차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6800" y="664322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316800" y="664322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규격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" y="693122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솔루션 제공 인터페이스 목록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1811700" y="702302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908900" y="664322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1908900" y="664322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명세 초안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44900" y="693122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항목·형식·주기·인증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3403800" y="702302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01000" y="664322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3501000" y="664322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공급자 협의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37000" y="693122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3자 협의체 검토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4995900" y="702302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093100" y="664322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5093100" y="664322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확정·시험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9100" y="693122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연동 명세서·시험 결과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Ⅲ-10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인터페이스 및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3.2.1 데이터 표준 및 정합성 검증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3.2 데이터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(검증 가능한 정합성) 2개 연계 구간에서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연속 8시간 이상 전 건 대조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건수·시점·주요 값 일치와 누락·중복 0건을 검증함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DAR-001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중계 데이터 표준 항목 (안) — 공공기관 데이터베이스 표준화 지침 준용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019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895435"/>
                <a:gridCol w="203463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형식·단위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수집 시각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원천 측정 시각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YYYY-MM-DD HH:MM:SS (KST)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출처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송신 관제시스템 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코드 (표준 코드표)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대상 식별자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서버·인스턴스 식별자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문자 (표준 명명규칙)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지표·값·단위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지표 코드, 측정값, 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숫자, %·ms·건·MB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메시지 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중복 판정용 멱등 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출처+대상+지표+시각 해시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73360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71920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정합성 검증 절차 (구간: 타 관제시스템 → 중계, 중계 → AI 분석 엔진)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5043204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504320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계획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5331204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시험 시간대·표본 방식 확정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493280" y="5423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590480" y="5043204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1590480" y="504320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26480" y="5331204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연속 8시간↑ 전 건 송·수신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2766960" y="5423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864160" y="5043204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2864160" y="504320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대조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00160" y="5331204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건수·시점·주요 값, 누락·중복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040640" y="5423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137840" y="5043204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4137840" y="504320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보정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73840" y="5331204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불일치 원인 분석·재전송</a:t>
            </a:r>
          </a:p>
        </p:txBody>
      </p:sp>
      <p:sp>
        <p:nvSpPr>
          <p:cNvPr id="50" name="Isosceles Triangle 49"/>
          <p:cNvSpPr/>
          <p:nvPr/>
        </p:nvSpPr>
        <p:spPr>
          <a:xfrm rot="5400000">
            <a:off x="5314320" y="5423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11520" y="5043204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>
            <a:off x="5411520" y="504320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판정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7520" y="5331204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최종 건수 일치·누락·중복 0건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2400" y="602960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2400" y="601520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데이터 유실 방지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0800" y="6339203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800" y="6375204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(수신 확인) 수신 즉시 영속 버퍼에 기록한 뒤 응답하여, 처리 중 장애에도 재기동 후 이어서 처리함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(재전송 보정) 불일치가 확인되면 송신 측 재전송 또는 버퍼 재처리로 보정하고 결과를 기록함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Ⅲ-11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인터페이스 및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3.2.2 데이터 보관 및 용량 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3.2 데이터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(근거 있는 용량 계획) 데이터 유형별 보관기간을 적용한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예상 데이터 규모와 필요 저장 용량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산정하고, 경과 데이터는 자동 처리함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DAR-002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보관 기준 및 용량 산정 (예시) — 지표 수·주기는 착수 시 확정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249361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939059"/>
                <a:gridCol w="2582415"/>
                <a:gridCol w="133033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보관기간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예상 용량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원천 수집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76식 × 200지표 × 1분 주기 ≈ 일 2,190만 건 × 100B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약 200GB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마트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5분 집계, 테이블별 기간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약 80GB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AI 결과 (단기 조회)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탐지·예측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약 10GB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AI 결과 (장기 통계)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1년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일·주·월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약 5GB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로그 (희소로그 분석)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대상별 일 평균 로그량 【착수 시 측정】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【산정】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 (여유 30%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약 380GB +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5193612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5229612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(경과 데이터) 일 단위 파티션 삭제·집계 후 원천 삭제를 배치로 자동 수행하고 처리 이력을 남김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(용량 초과) 제공 저장 자원을 넘으면 보관기간 조정 또는 과업변경 절차를 발주기관과 협의함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Ⅲ-12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4.1.1 접근통제 · 개발보안 · 로그감사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4.1 기술적 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(설계부터 검증까지) 접근통제·개발보안·로그 감사를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설계서에 반영하고 보안약점 진단으로 검증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하여 결과를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SER-002, SER-003, SER-009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07442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364965"/>
                <a:gridCol w="15651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설계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접근통제 (SER-002)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ID/PW 인증, 역할 기반 권한, 5회 실패 잠금, 세션 30분 (상시 관제 화면은 승인 예외), 접속·감사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설정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개발보안 (SER-003)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SW 개발보안 가이드 준수, 표준 코딩스타일, 시크릿 하드코딩 금지, TLS 1.2+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보안약점 진단·조치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로그·감사 (SER-009)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시스템·보안 이벤트·로그인·권한 변경·중요 조회 로그 정의, 해시 기반 위변조 방지, 보존기간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로그 분석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로그 내 개인정보 수집 최소화·마스킹·접근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점검 체크리스트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454042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사용자 역할 (안)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774428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계정·권한·알람 정책·화면 편집·모델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운영자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관제 화면·이벤트 확인·조치 기록·리포트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조회자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관제 화면·리포트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상시 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상황실 표출 전용 계정 (세션 타임아웃 승인 예외)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6574032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655963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침해사고 대응 절차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6800" y="6883631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316800" y="6883631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탐지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717163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이상 접속·로그 탐지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1493280" y="7263431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90480" y="6883631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1590480" y="6883631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통보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6480" y="717163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정보보안담당 즉시 보고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2766960" y="7263431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864160" y="6883631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2864160" y="6883631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대응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00160" y="717163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차단·증거 보존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4040640" y="7263431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37840" y="6883631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4137840" y="6883631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복구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73840" y="717163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원인 제거·서비스 복구</a:t>
            </a:r>
          </a:p>
        </p:txBody>
      </p:sp>
      <p:sp>
        <p:nvSpPr>
          <p:cNvPr id="51" name="Isosceles Triangle 50"/>
          <p:cNvSpPr/>
          <p:nvPr/>
        </p:nvSpPr>
        <p:spPr>
          <a:xfrm rot="5400000">
            <a:off x="5314320" y="7263431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411520" y="6883631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>
            <a:off x="5411520" y="6883631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보고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7520" y="717163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원인·재발방지 보고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Ⅲ-13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4.2.1 보안 정책 · 관리 · 물리 · 매체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4.2 관리적·물리적 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(기관 보안 정책 준수) 국가·공공기관 정보보안 기본지침과 해양경찰청 보안 정책을 기준으로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인력·사무실·매체·자료·누출금지 정보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통제함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SER-001, SER-004, SER-005, SER-006, SER-007, SER-008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8124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보안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정책·관리 (SER-001·004)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보안관리계획서 수립, 투입 전 사전 신원조회·보안서약서·기본보안교육 확인서, 월 1회 보안교육, 대표자·참여자 보안확약서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물리 (SER-005)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사무실·장비 설치장소 출입통제, 개인 PC·저장매체 반출입 통제, 문서 시건 보관·파쇄 폐기, 문서 보안등급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매체·장비 (SER-006)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반입 시 백신·감염 확인, 종료까지 반출 금지, CMOS·로그인·화면보호기 9자 이상, USB 포트락, 무선 기능 불능화, 인터넷PC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자료·산출물 (SER-007)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비공개 자료 분류, 자료 인수인계 대장, 지정 파일서버 저장, 공유폴더·상용 이메일 금지, 종료 시 반환·완전삭제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특수 조건 (SER-008)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비인가 프로그램 설치·약점 방치 금지 확약, 누출금지 정보 보안관리계획 사전 제출, 보안위규 처리기준 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280800" y="5147244"/>
            <a:ext cx="6332400" cy="52227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7F3F00"/>
                </a:solidFill>
                <a:latin typeface="KoPubWorld돋움체 Bold"/>
                <a:ea typeface="KoPubWorld돋움체 Bold"/>
                <a:cs typeface="KoPubWorld돋움체 Bold"/>
              </a:rPr>
              <a:t>정보보안담당자(정·부)가 매일 1회 자체 보안점검을 실시하고 결과를 사업담당 공무원에게 제출함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2400" y="579191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577751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사업 단계별 보안관리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6101515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6101515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투입 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6389515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신원조회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보안서약·교육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342400" y="64813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439600" y="6101515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439600" y="6101515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수행 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75600" y="6389515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일일 점검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월 1회 교육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465200" y="64813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62400" y="6101515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562400" y="6101515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종료 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8400" y="6389515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자료 반환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완전삭제·확약서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Ⅲ-14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제약사항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5.1.1 사업 수행 · 기술 · 일정 제약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5.1 제약사항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(제약 안에서 완수) 업무시간·작업 승인·기술 호환·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분리발주 설치 완료 통보일 기준 70일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일정 제약을 구현·검증 방안과 함께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COR-001, COR-002, COR-003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37204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364965"/>
                <a:gridCol w="1486844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검증·산출물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96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 수행 (COR-001)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업무시간 내 수행 원칙, 영향 작업은 협의 후 업무시간 외, 중단 작업 사전 승인, 지정 장소 작업, 장비 반출입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작업 계획서, 출입 명단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기술 (COR-002)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기존 인프라·네트워크·보안 정책 호환, 다중 OS·DB 환경 수집 지원 확인, 오픈소스 라이선스 명확화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기술적용계획·결과표, 라이선스 정책서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일정 (COR-003)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착수보고 2주 내, 설치 전 과업 선행, 통보일 기준 70일 일정 수립, 지연 사유 즉시 서면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WBS, 지연 사유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표준 프레임워크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중계 기능은 전자정부 표준프레임워크 기반으로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표준프레임워크 적용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85244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83804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분리발주 일정 영향 처리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516204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51620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지연 발생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545004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설치 지연·규격 변경·기능 미충족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811700" y="554184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8900" y="516204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908900" y="51620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서면 보고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900" y="545004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사실·영향 범위·예상 지연 일수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3403800" y="554184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01000" y="516204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501000" y="51620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발주기관 조정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7000" y="545004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공급자 조치·기간 변경 결정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995900" y="554184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93100" y="516204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093100" y="51620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계약 변경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100" y="545004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지체상금 산정 제외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Ⅲ-15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성능 및 테스트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품질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테스트 요구사항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성능 및 테스트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정량 성능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성능 목표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(계약 시 확정 · 검증 대상) 관제 화면 응답·알람 발송 시간·동시 사용자·중계 처리·수집 부하를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정량 목표로 제시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하고 운영 환경 시험으로 검증함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PER-001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성능 목표 (안)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275842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721610"/>
                <a:gridCol w="2973689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측정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통합 관제 화면 조회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3초 이내 (95%)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관제 대상 76식 전체, 대시보드·토폴로지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이벤트 → 알람 발송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60초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이벤트 발생 시각 ~ 기관 SMS·메일 인프라 전달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동시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상시 표출 화면 포함, 응답 목표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중계 정규화·제공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다음 수신 주기 이전 (1분 주기 기준 10초 이내)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타 관제시스템 2종 전체 수신량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중계 절체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10초 이내, 유실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Active 계통 강제 중지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수집 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CPU 사용률 5%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대상 시스템별 적용 전후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5458428"/>
            <a:ext cx="6332400" cy="97524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5494428"/>
            <a:ext cx="6224400" cy="939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(확장) 관제 대상 추가 시 수집 설정·중계 설정 추가만으로 구조 변경 없이 확장함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(확정) 착수 단계에서 성능 목표 협의 결과서로 확정하여 계약 시 검증 대상으로 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Ⅳ-1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성능 및 테스트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1.2.1 성능 측정 방법 · 도구 · 부하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성능 검증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(측정 방법 사전 공개) 항목별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측정 방법과 도구를 성능 시험 계획서에 제시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하고, 발주기관과 협의한 시간대에 운영 환경에서 측정함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PER-001, TER-001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15161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286710"/>
                <a:gridCol w="15651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측정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화면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주요 화면 30회 반복 조회, 95 백분위 응답시간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브라우저 성능 측정, 부하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알람 발송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시험 이벤트 생성 → 수신 단말 도착 시각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시험 이벤트, 수신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동시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 세션 동시 조회 30분 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부하 시험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중계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수신 시각 ~ 제공 완료 시각, 주기별 처리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중계 처리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수집 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적용 전 1일 · 적용 후 1일 CPU 평균·최대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OS 성능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63201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61761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수집 부하 관리 절차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4941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4941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기준 측정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5229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착수 단계 대상별 부하 측정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811700" y="5321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8900" y="4941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908900" y="4941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적용·비교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900" y="5229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적용 후 증가분 산출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3403800" y="5321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01000" y="4941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501000" y="4941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조정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7000" y="5229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초과 시 주기·항목 조정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995900" y="5321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93100" y="4941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093100" y="4941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보고·확정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100" y="5229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조정 불가 시 원인 보고·협의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0800" y="5913612"/>
            <a:ext cx="6332400" cy="7412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5949612"/>
            <a:ext cx="6224400" cy="705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(시험 시간대) 성능 시험은 긴급신고 업무 영향이 적은 시간대를 발주기관과 사전 협의하여 수행함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Ⅳ-2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품질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성능 및 테스트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가용성 · 유지관리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가용성 및 유지관리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(관제가 서비스를 방해하지 않게) 본 사업 기능의 장애가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관제 대상 운영에 영향을 주지 않도록 분리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하고, 운영 이관 후 발주기관이 자체 운영하게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QUR-001, QUR-002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가용성 (QUR-001)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133520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구성 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서비스 연속성 확보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 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2계통 이중화, 자동 절체 10초 이내 (Ⅲ-2.5.2)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수집 에이전트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에이전트 장애가 대상 업무에 영향을 주지 않는 자원 제한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AI 분석·관제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 단계에서 연속성 방안 협의 확정 (재기동 자동화·백업)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403520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유지관리 (QUR-002)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4269204"/>
          <a:ext cx="6260400" cy="133520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제공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운영자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설정 변경, 화면 편집, 알람 정책 관리, 모델 재학습, 중계 대상 추가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인수인계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구축 결과물·산출물·관리자 계정 인계, 인수인계서 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형상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중계 기능 소스·설정·버전 이력 관리, 배포 절차 문서화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302400" y="572680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2400" y="571240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장애 격리 원칙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6800" y="6036407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316800" y="6036407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자원 제한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" y="6324407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에이전트 CPU·메모리 상한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342400" y="64162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439600" y="6036407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439600" y="6036407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비동기 연동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75600" y="6324407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관제 장애가 업무에 전파 안 됨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465200" y="64162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62400" y="6036407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562400" y="6036407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자동 재기동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8400" y="6324407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중계·연동 프로세스 감시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Ⅳ-3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테스트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성능 및 테스트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통합 시험 및 72시간 연속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통합 시험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(검사 자료가 되는 시험) 수집·정합성·화면·알람·성능을 시험하고,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운영 환경 연속 72시간 무중단 정상 동작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확인하여 현장 검사 자료로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TER-001, DAR-001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4936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364965"/>
                <a:gridCol w="15651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시험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확인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관제 대상 76식 대상별 수집 상태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대상별 수집 상태표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연계 구간별 정합성 검증 (DAR-001)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검증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화면 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대시보드·토폴로지·타임라인 표출 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화면 이미지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알람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알람 발생 ~ 담당자 수신 전 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발송 시험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확정 성능 목표 충족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성능 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72시간 연속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수집·화면·알람·중계 중단 없이 정상 동작 (업무 시간대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시간대·확인 결과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280800" y="4959612"/>
            <a:ext cx="6332400" cy="52227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7F3F00"/>
                </a:solidFill>
                <a:latin typeface="KoPubWorld돋움체 Bold"/>
                <a:ea typeface="KoPubWorld돋움체 Bold"/>
                <a:cs typeface="KoPubWorld돋움체 Bold"/>
              </a:rPr>
              <a:t>긴급신고 업무 영향 최소화: 운영 환경 시험은 협의된 시간대에 수행하고, 시험 이벤트는 '시험' 표시로 실제 알람과 구분하여 담당자 혼선을 막음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2400" y="5604283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5589883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72시간 연속 확인 절차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591388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591388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시작 점검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6201883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76식 수집·중계 정상 확인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811700" y="629368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08900" y="591388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1908900" y="591388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0~24h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44900" y="6201883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1시간 단위 상태 기록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3403800" y="629368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01000" y="591388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501000" y="591388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24~72h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7000" y="6201883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업무시간대 포함 연속 확인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995900" y="629368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93100" y="5913883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093100" y="5913883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결과 기록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100" y="6201883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시간대·이상 여부 결과서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Ⅳ-4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테스트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성능 및 테스트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3.2.1 인수 시험 및 조건부 적합 처리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3.2 인수 시험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(요구사항별 판정) 36개 요구사항을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적합 · 부적합 · 조건부 적합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 판정하고, 원인이 분리발주 솔루션에 있는 항목은 추적표에 기록해 재시험함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TER-002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시험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요구사항별 판정 기준 정의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시험 수행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운영부서 참여 시험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판정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적합·부적합·조건부 적합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보완·재시험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하자 보완, 보류 항목 재시험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검사 요청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결과서·추적표 제출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800" y="3330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요구사항 추적표 기록 항목 &gt;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3564000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적합 / 부적합 / 조건부 적합(보류)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조건부 적합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원인(분리발주 솔루션 결함·규격 미충족), 조치 주체, 재시험 예정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원인 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발주기관이 사업자·공급자 의견을 들어 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검사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인수 시험 결과서·추적표를 검사 자료로 제출, 합격으로 인수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280800" y="534920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요구사항 분류별 판정 기준 (요약) &gt;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16800" y="5583204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판정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시스템 구성·기능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솔루션 연동·구성 결과 기준, 화면·알람·탐지 결과 표출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확정 성능 목표 충족 (성능 시험 결과서)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인터페이스·데이터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연동 재개 확인, 정합성 검증 합격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보안·품질·관리·지원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산출물·점검 결과·이행 증빙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Ⅳ-5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관리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 관리방법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 일정관리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 보안관리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관리방법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단계별 추진방법 및 산출물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사업 추진방법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(산출물 연계 관리) 단계마다 산출물을 정의하고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버전·형상을 관리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하며, SW사업정보 데이터를 단계별 산출물에 포함함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PMR-003, PMR-004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758428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516483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주요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사업수행계획서(구성도·구축 범위·학습 계획), WBS, 보안관리계획서, 착수보고서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분석·설계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연동 설계서, 데이터 중계 기능 설계서, 인터페이스 정의서, 화면 설계서, 알람 정책 정의서, 데이터 표준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분석 환경 구축 결과서, AI 분석 모델 설계서, 이상탐지·예측 설정 내역서, 화면 구성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통합·성능·인수 시험 계획서·결과서, 데이터 정합성 검증 계획서·결과서, 보안약점 진단·조치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운영자 매뉴얼, 교육 교재·결과, 인수인계서, 데이터 관리 계획서, 완료보고서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SW사업정보 데이터 (기능점수 산정 전문가 포함, spir.kr 제출)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5224428"/>
            <a:ext cx="6332400" cy="55062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260428"/>
            <a:ext cx="6224400" cy="51462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(보고회) 착수·완료보고회 개최, 회의록 작성·공유, 산출물 목록과 버전 관리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587944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586504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산출물 검토 절차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6800" y="6189047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316800" y="618904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작성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6477047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담당 파트 작성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1811700" y="656884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908900" y="6189047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1908900" y="618904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품질 검토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44900" y="6477047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QA 체크리스트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3403800" y="656884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501000" y="6189047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3501000" y="618904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PM 승인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37000" y="6477047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버전 등록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4995900" y="656884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93100" y="6189047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093100" y="618904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발주기관 제출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9100" y="6477047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검토·보완 반영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Ⅴ-1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관리방법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1.2.1 3자 협의체와 이슈·위험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협의·위험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(통합 PM 단일 창구) 발주기관 · 본 사업자 · 분리발주 공급자의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 1회 3자 협의체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연동 이슈를 즉시 조정하고, 위험은 발생 즉시 보고함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PMR-002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보고·협의 체계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8" cy="1677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939059"/>
                <a:gridCol w="3991004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주간 진척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매주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WBS 진척률, 이슈·위험, 다음 주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3자 협의체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 1회 + 수시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연동 명세·설치 일정·규격 변경·결함 조치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운영부서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단계별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화면 구성안·알람 기준·심각도 의견 수렴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긴급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즉시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운영 영향·보안 사고·일정 지연 예상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437720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이슈·위험 처리 기준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4611204"/>
          <a:ext cx="6260399" cy="1335204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738925"/>
                <a:gridCol w="258241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긴급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운영 서비스 영향, 1주 이상 지연 예상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당일 보고, 만회 대책 2일 내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연동 불가 항목, 규격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협의체 상정, 연동 설계서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작업 단위 이슈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이슈 관리대장, 주간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Ⅴ-2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 일정관리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70일 세부 추진일정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세부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(설치 통보일 기준 10주) 착수 2주 내 설계·프로토타입을 끝내고,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설치 완료 후 연동·중계·학습을 병행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하여 9주차 72시간 확인, 10주차 검사 요청을 완료함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COR-003, PMR-002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주차별 추진일정 (분리발주 솔루션 설치 완료 통보일 기준)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7" cy="2799367"/>
        </p:xfrm>
        <a:graphic>
          <a:graphicData uri="http://schemas.openxmlformats.org/drawingml/2006/table">
            <a:tbl>
              <a:tblPr firstRow="0" bandRow="0"/>
              <a:tblGrid>
                <a:gridCol w="1707381"/>
                <a:gridCol w="1707381"/>
                <a:gridCol w="569127"/>
                <a:gridCol w="569127"/>
                <a:gridCol w="569127"/>
                <a:gridCol w="569127"/>
                <a:gridCol w="569127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과업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1-2주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3-4주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5-6주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7-8주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9-10주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프로젝트 관리 (착수·중간·완료)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수행계획서·WBS·보고서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요구사항 상세화·연동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연동·중계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중계 프로토타입·개발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인터페이스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솔루션 연동·관제 화면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화면·알람 정책서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AI 분석 환경 구성·학습·검증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모델 설계서·설정 내역서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통합 시험·72시간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통합·성능 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인수 시험·교육·검사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인수 시험 결과서·매뉴얼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46336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착수보고는 계약일로부터 2주 이내, 검사(14일)·안정화 지원(30일)은 사업기간 70일에 산입하지 않음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5679367"/>
            <a:ext cx="6332400" cy="7412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800" y="5715367"/>
            <a:ext cx="6224400" cy="705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(설치 지연 시) 통보일이 계약일 이후면 그 일수만큼 계약기간 연장 — 지연 기간 동안 설계·프로토타입·학습 계획을 선행함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Ⅴ-3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사업 보안관리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사업자 보안관리 준수사항 이행 [별표 4]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보안관리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(별표 4 전 항목 이행) 참여인원 · 자료 · 사무실·장비 · 내외부망 · 점검·교육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5개 영역 보안관리 준수사항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착수 전부터 종료까지 이행함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SER-001, SER-004, SER-007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54883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참여인원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정보보안담당자(정·부) 지정, 사전 신원조회, 보안서약서·기본보안교육 확인서, 인원관리대장, 교체 시 절차 재이행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누출금지정보 자료관리대장(인계·인수 서명), 지정 파일서버 저장, 파쇄 폐기, 개발용 계정 완료 시 삭제, 상용 이메일·공유폴더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사무실·장비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보안 확보된 개발실, 전산장비관리대장, 일일 보안점검 기록, 기관 보안 프로그램 설치, PC·개발서버 USB 포트락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내·외부망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사업체망-내부망 방화벽은 사업자 준비·관리권한 이관, 인터넷PC 검색 전용, 사전 승인 없는 네트워크 연결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점검·교육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월 1회 자체 보안교육, 일 1회 자체 보안점검 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280800" y="5014836"/>
            <a:ext cx="6332400" cy="52227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7F3F00"/>
                </a:solidFill>
                <a:latin typeface="KoPubWorld돋움체 Bold"/>
                <a:ea typeface="KoPubWorld돋움체 Bold"/>
                <a:cs typeface="KoPubWorld돋움체 Bold"/>
              </a:rPr>
              <a:t>누출금지 대상 정보([별표 3])는 원격지 반출 금지 — 보안관리계획을 사업수행 전에 제출하고 위반 시 보안위규 처리기준·위약금 기준을 수용함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800" y="5645107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보안 점검·교육 일정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879107"/>
          <a:ext cx="6260400" cy="133520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017315"/>
                <a:gridCol w="383449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자체 보안점검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문서·USB 방치, PC 보안설정, 출입 기록 점검 후 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보안교육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누출금지 정보·보안위규 사례·매체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보안 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수시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발주기관 보안 점검 수검·지적사항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Ⅴ-4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사업 보안관리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3.2.1 작업장소 운영 및 원격개발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3.2 작업장소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(현장 작업 원칙) 해양경찰청 지정 장소에서 작업함을 원칙으로 하고,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원격지 작업은 발주기관 보안성 검토·승인 범위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에서만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COR-001, SER-005, SER-006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80961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운영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기본 작업장소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해양경찰청 본청 내 지정 장소 상주 (출입 절차 준수, 사무실 잠금장치 관리)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원격지 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발주기관 정보보안담당 사전 승인 시에만 운영, 별표4 (3)·(4) 충족 — CCTV·출입통제·방화벽·인터넷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반출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누출금지 대상 정보·구성도·IP 현황·소스코드는 원격지로 반출하지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원격 접속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원격 유지관리 접속은 승인된 경우에만, 접속 이력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290012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27561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원격개발 위험요인과 대응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4599612"/>
          <a:ext cx="6260400" cy="1335204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위험요인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산출물·소스 유출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원격지에는 비공개 자료 미보관, 개발은 발주기관 개발서버에서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비인가 접속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승인 단말·계정만 사용, 다중 인증, 접속 로그 일일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매체 반출입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USB 포트락, 승인 매체만 관리대장 기록 후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600681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RFP 보안위규 처리기준의 '원격작업 사용' 조항과의 관계는 질의를 통해 확인하고, 확인 전까지 현장 작업으로 수행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Ⅴ-5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지원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Ⅵ.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교육지원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기술지원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하자보수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안정화 운영지원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교육지원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운영 담당자 교육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교육 계획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(자체 운영 역량) 운영 담당자가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관제 화면 · 알람 설정 · 리포트 · 장애 대응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스스로 수행하도록 실습 중심으로 교육하고 교재를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PSR-001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15161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130200"/>
                <a:gridCol w="1017315"/>
                <a:gridCol w="939059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관제 화면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대시보드·토폴로지·타임라인 조회, 드릴다운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알람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심각도·복합 조건·전파 대상·억제 정책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리포트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일·주·월간 리포트 조회·양식, LLM 분석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장애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RCA·LLM 챗봇 활용, 장애 대응 절차, 모의 장애 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실습·훈련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관리자 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모델 재학습, 중계 대상 추가, 설정 백업·복원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4617612"/>
            <a:ext cx="6332400" cy="116586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653611"/>
            <a:ext cx="6224400" cy="112986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(대상·일정) 교육 대상 인원·일정·시간은 발주기관과 협의하여 확정하고, 근무 교대를 고려해 2회차로 운영함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(교재·결과) 교육 계획서·교재(화면 순서 실습 가이드)·교육 실시 결과를 제출함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588787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5873471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교육 진행 절차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6800" y="6197471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316800" y="6197471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계획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6485471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대상·일정 협의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1493280" y="6577271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90480" y="6197471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1590480" y="6197471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교재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6480" y="6485471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실습 가이드 제작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2766960" y="6577271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864160" y="6197471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2864160" y="6197471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00160" y="6485471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실제 화면 실습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4040640" y="6577271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37840" y="6197471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4137840" y="6197471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평가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73840" y="6485471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이해도·만족도</a:t>
            </a:r>
          </a:p>
        </p:txBody>
      </p:sp>
      <p:sp>
        <p:nvSpPr>
          <p:cNvPr id="51" name="Isosceles Triangle 50"/>
          <p:cNvSpPr/>
          <p:nvPr/>
        </p:nvSpPr>
        <p:spPr>
          <a:xfrm rot="5400000">
            <a:off x="5314320" y="6577271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411520" y="6197471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>
            <a:off x="5411520" y="6197471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보완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7520" y="6485471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FAQ·추가 교육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Ⅵ-1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기술지원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하자보수 기간 기술지원 및 긴급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기술지원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(단일 창구 · 등급별 대응) 하자보수 기간 동안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장애 등급별 대응 시간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정해 기술지원하고, 솔루션 장애는 공급자와 연계해 신속히 조정함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PSR-002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장애 등급별 대응 기준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2895435"/>
                <a:gridCol w="1173825"/>
                <a:gridCol w="133033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대응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복구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긴급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중계 중단, 관제 화면·알람 전체 불가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일부 대상 수집·알람 불가, 정합성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화면·리포트 일부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문의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운영 질의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391603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37720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기술지원 방법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4701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4701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접수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4989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전화·메일 단일 창구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811700" y="5081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08900" y="4701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1908900" y="4701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원인 구분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44900" y="4989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본 사업 구축물 / 솔루션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3403800" y="5081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01000" y="4701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501000" y="4701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조치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7000" y="4989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원격 확인 → 현장 출동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995900" y="5081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93100" y="4701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093100" y="4701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보고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100" y="4989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조치 결과·재발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800" y="5637204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기술지원 대상은 본 사업 구축 범위, 분리발주 솔루션 자체 장애는 해당 공급자 기술지원 범위 (발주기관 조정)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800" y="585320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기술지원 연락 체계 &gt;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6087204"/>
          <a:ext cx="6260400" cy="1335204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956375"/>
                <a:gridCol w="234765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기술지원 책임자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중계·연동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AI 분석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Ⅵ-2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하자보수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하자보수 범위 · 절차 · 조직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하자보수 계획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(1년 무상 하자보수) 검사 합격일부터 1년간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본 사업 구축물의 오류 수정과 기능 보완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무상으로 수행하고 이행확약서를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PSR-003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1516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검사 합격일(Ⅶ-사)로부터 1년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AI 분석 엔진 구성·데이터 중계 기능·관제 화면·알람 정책 등 본 사업 구축물의 오류 수정·기능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하자보수 책임자 1명 + 중계·연동 담당 + AI 분석 담당 (비상연락체계 유지)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하자보수 이행 비용 전액 계약상대자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하자보수 계획서, 하자보수 이행확약서(안정화 지원 포함), 하자보수 이력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63201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61761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하자 처리 절차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4941612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494161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접수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522961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단일 창구 접수·등록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493280" y="5321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590480" y="4941612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590480" y="494161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분석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6480" y="522961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하자 여부·원인 판정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766960" y="5321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64160" y="4941612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2864160" y="494161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조치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0160" y="522961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수정·시험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040640" y="5321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37840" y="4941612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137840" y="494161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반영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3840" y="522961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승인 후 운영 반영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5314320" y="5321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11520" y="4941612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5411520" y="494161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완료 보고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7520" y="5229612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이력 보고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800" y="5913612"/>
            <a:ext cx="6332400" cy="55062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5949612"/>
            <a:ext cx="6224400" cy="51462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(정기 점검) 분기 1회 중계 기능 상태·정합성·모델 성능을 점검하고 결과를 보고함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Ⅵ-3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안정화 운영지원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4.1.1 검사 합격 후 30일 안정화 지원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4.1 안정화 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(30일 현장 안정화) 검사 합격 후 30일간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모델 재학습 · 임계치 조정 · 중계 점검 · 화면 조정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무상 지원하고 안정화 결과보고서를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PSR-002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8" cy="167720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3286710"/>
                <a:gridCol w="1486844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지원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방식·시간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AI 모델 재학습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누적 데이터로 1~2주차 재학습, 오탐·미탐 사례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상주 (주 2일)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알람 정책·임계치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알람 발생 통계 분석, 심각도·임계치·억제 정책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상주·원격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중계 기능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수신·정합성 상태 일일 점검, 오류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일 1회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화면 조정·질의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관제 화면 구성 조정, 운영 담당자 질의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4시간 내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4143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4143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1주차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4431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알람 통계 수집·초기 조정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4523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4143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4143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2주차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4431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모델 재학습·임계치 조정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4523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4143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4143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3주차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4431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운영자 자체 운영 지원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4523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4143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4143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4주차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4431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결과보고서·잔여 이슈 정리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800" y="5079204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안정화 지원 기간은 사업기간(70일)에 산입하지 않으며, 하자보수 기간 내 무상으로 이행함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0800" y="529520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안정화 결과보고서 구성 &gt;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5529204"/>
          <a:ext cx="6260400" cy="13352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지원 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재학습·임계치 조정·점검·질의 대응 일자별 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조치 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오탐·미탐 조정 결과, 오류 조치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잔여 이슈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미결 이슈·조치 계획·책임 주체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Medium"/>
                <a:ea typeface="KoPubWorld돋움체 Medium"/>
                <a:cs typeface="KoPubWorld돋움체 Medium"/>
              </a:rPr>
              <a:t>Ⅵ-4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이동혁</dc:creator>
  <cp:lastModifiedBy>황보 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