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AI 통합관제 데이터 연계 및 중계환경 구축 용역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사업책임자 </a:t>
            </a:r>
            <a:r>
              <a:rPr sz="16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발주기관: 해양경찰청 정보통신과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11111"/>
                </a:solidFill>
                <a:latin typeface="KoPubWorld돋움체 Bold"/>
                <a:ea typeface="KoPubWorld돋움체 Bold"/>
                <a:cs typeface="KoPubWorld돋움체 Bold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해양경찰청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5922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296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296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경영상태 3 · 수행실적 8 · 상생협력 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사업이해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목표·특성에 부합하는 구체적 수행계획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5~8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일정·위험요소를 고려한 추진전략의 타당성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10~12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적용기술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확장성을 고려한 실현 가능한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 및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시스템구성·기능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 요건 충족, 인터페이스·확장성, 기술지원·유지관리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8, 16~17, 19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인터페이스·데이터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분리발주 SW 연동, 중계 인터페이스·정합성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설계~검증 단계의 기술적 보안 구현방안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기술·표준·법제도 제약 내 수행·검증방안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7, 13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및 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 충족 구현·테스트 방안, 분석도구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가용성·유지관리 충족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19, 22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목표 대비 운영 점검 테스트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사업추진조직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조직·업무분장·비상연락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사업추진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추진방법·적용 사례·단계별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수행기간·세부일정과 산출물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물리적·관리적 보안관리 체계·대책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 내용·방법·기간·인원·횟수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기술지원 체계·대응시간·안정화·긴급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범위·절차·대응방안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사업의 이해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수행역량 및 추진전략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 세부내용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프로젝트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프로젝트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사업 배경 및 업무 특성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사업 범위와 책임 경계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목표시스템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0B3AA4"/>
                </a:solidFill>
                <a:latin typeface="KoPubWorld돋움체 Bold"/>
                <a:ea typeface="KoPubWorld돋움체 Bold"/>
                <a:cs typeface="KoPubWorld돋움체 Bold"/>
              </a:rPr>
              <a:t>긴급신고 서비스 무중단을 지키는 예측형 통합관제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관제 대상 76식 + 타 관제시스템 2종 → 수집·중계 → AI 분석 → 통합 관제·알람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해양경찰청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정보통신과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70일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(솔루션 설치 완료 통보일 기준)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2억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 대상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핵심 정보시스템 5종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서버 50 · DB 9 · WAS/WEB 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사업 배경 및 업무 특성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해양 긴급신고·구조 업무는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시스템 중단이 곧 인명 피해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 이어짐 — 장애를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먼저 알리고 빨리 찾는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관제체계가 필요함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216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216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현행 관제의 한계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1638000"/>
            <a:ext cx="4035999" cy="477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(개별 관제) 개별 도구·수동 점검, 통합 관제체계 미보유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(연관 분석 불가) 서버·DB·WAS 데이터가 따로 관리되어 원인 구간 식별 지연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(사후 인지) 민원 발생 후 장애 인지 → 긴급신고 접수 지연 위험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(데이터 단절) 성능 데이터 보관·타 관제시스템 연계 부재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47200" y="3618000"/>
            <a:ext cx="306000" cy="503999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2000" y="1260000"/>
            <a:ext cx="7167199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2000" y="1260000"/>
            <a:ext cx="7167199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 대상 핵심 정보시스템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92000" y="1638000"/>
          <a:ext cx="6987196" cy="1960062"/>
        </p:xfrm>
        <a:graphic>
          <a:graphicData uri="http://schemas.openxmlformats.org/drawingml/2006/table">
            <a:tbl>
              <a:tblPr firstRow="0" bandRow="0"/>
              <a:tblGrid>
                <a:gridCol w="2096159"/>
                <a:gridCol w="2096159"/>
                <a:gridCol w="698719"/>
                <a:gridCol w="1164533"/>
                <a:gridCol w="931626"/>
              </a:tblGrid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WAS/WEB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통합신고처리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해양 긴급신고 접수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통합상황관리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상황 전파·구조 지휘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원거리추적감시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선박 추적 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상황공유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상황 정보 공유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 (PostgreSQL)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항공기위치정보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항공기 위치 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4792000" y="3706065"/>
            <a:ext cx="159829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92000" y="3706065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 가시화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5199" y="4048064"/>
            <a:ext cx="1511899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단일 대시보드 (FUN-001)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419099" y="400023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8299" y="3706065"/>
            <a:ext cx="159829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8299" y="3706065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사전 예방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1499" y="4048064"/>
            <a:ext cx="1511899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이상탐지·예측 (FUN-003)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215399" y="400023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84599" y="3706065"/>
            <a:ext cx="159829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84599" y="3706065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원인 단축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7800" y="4048064"/>
            <a:ext cx="1511899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RCA·LLM 분석 (FUN-004)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0011699" y="400023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80900" y="3706065"/>
            <a:ext cx="159829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80900" y="3706065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24100" y="4048064"/>
            <a:ext cx="1511899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데이터 중계 (FUN-005)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사업 범위와 책임 경계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ECR-001, COR-003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솔루션·서버는 분리발주, 본 사업은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연동·구성·데이터 중계 개발·AI 분석 환경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— 사유별 책임 경계를 착수 시 문서로 확정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별도 개발은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데이터 중계 기능(FUN-005)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으로 한정, 관제 화면·알람·AI 분석은 솔루션 기능으로 구성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4378153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4234153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통합구축 (본 사업)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4234153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4270153" cy="187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분석 엔진 구축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데이터 중계 기능 개발 (이중화)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통합 관제 화면·연동 인터페이스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000" y="3744000"/>
            <a:ext cx="4378153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000" y="3787200"/>
            <a:ext cx="4234153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분리발주 (나라장터 구매)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4039200"/>
            <a:ext cx="4234153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000" y="4068000"/>
            <a:ext cx="4270153" cy="187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통합 모니터링 솔루션 · AIOps 솔루션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구축용 서버 자원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설치·라이선스는 공급자 책임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864153" y="1422000"/>
          <a:ext cx="7005045" cy="4553996"/>
        </p:xfrm>
        <a:graphic>
          <a:graphicData uri="http://schemas.openxmlformats.org/drawingml/2006/table">
            <a:tbl>
              <a:tblPr firstRow="0" bandRow="0"/>
              <a:tblGrid>
                <a:gridCol w="2212119"/>
                <a:gridCol w="4792926"/>
              </a:tblGrid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사유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사업자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12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납품·설치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전 과업(요구사항 상세화·연동 설계·중계 시험본) 선행, 통보일 기준 기간 연장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규격 변경 (버전·인터페이스)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영향 범위 보고, 연동 설계 변경, 과업변경 절차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기능·성능 미충족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분석 협조, 조건부 적합(보류) 기록 후 재시험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구축물 결함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보완 후 재시험, 하자보수 이행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검사 합격 후 솔루션 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 재개 확인, 본 사업 구축물 영향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3. 목표시스템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ECR-003, FUN-005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관제 대상 성능 데이터와 타 관제시스템 데이터를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수집·중계 → AI 분석 → 관제·전파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4계층으로 연결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911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 대상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통합신고처리 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904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통합상황관리 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9008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원거리추적감시 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112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상황공유 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3216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항공기위치정보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29200" y="1422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서버 50 · DB 9 · WAS/WEB 17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000" y="2268000"/>
            <a:ext cx="911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수집·중계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48000" y="2332800"/>
            <a:ext cx="38736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 모니터링 솔루션 수집 (분리발주)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75600" y="2332800"/>
            <a:ext cx="38736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데이터 중계 기능</a:t>
            </a: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 (본 사업 개발 · 이중화)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29200" y="2268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타 관제시스템 2종 수신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3114000"/>
            <a:ext cx="911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분석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3178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AIOps 솔루션 (분리발주)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66400" y="3178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AI 분석 엔진</a:t>
            </a: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 구성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84800" y="3178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내부망 LLM 분석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9200" y="3114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이상탐지 · 부하예측 · RCA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000" y="3960000"/>
            <a:ext cx="911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관제·전파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48000" y="4024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 관제 화면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66400" y="4024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이벤트·알람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84800" y="4024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성능 리포트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9200" y="3960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기관 SMS · 메일 인프라 연계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4000" y="4806000"/>
            <a:ext cx="911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0000" y="48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48000" y="4870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접근통제·감사 로그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66400" y="4870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TLS 1.2+ 암호화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84800" y="4870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보관·정합성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29200" y="4806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외부 인터넷 연계 없는 내부망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수행역량 및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수행역량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추진전략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적용기술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수행역량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수행역량 및 추진전략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MES AI Agent 통합 관제(MOSAIC)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· 근거 기반 AI Agent · 제조 데이터 연계 — AIOps·모니터링·데이터 연계 3개 유사분야 실적 보유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378153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378153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에이치나인 개요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99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99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16년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99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2010년 설립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9384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9384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129명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9384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임직원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476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8476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22명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476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특급 기술자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999" y="2574000"/>
            <a:ext cx="4198153" cy="3834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중소기업 단독 참여, 하도급 없음 (상생협력 최고 등급)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2025년 매출 111억 원, 벤처기업 인증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153" y="1260000"/>
            <a:ext cx="7005046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4153" y="1260000"/>
            <a:ext cx="7005046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 사업 관련 핵심 수행사례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4153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6153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MOSAIC (SK하이닉스)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6153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08153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MES 로그·지표 실시간 이상 탐지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Agent 운영 모니터링 플랫폼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→ FUN-001~003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9169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1169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원인 분석·품질 평가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31169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3169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로그·메트릭 상관분석 원인 후보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Judge Agent 근거 충실도 평가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→ FUN-004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64184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184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Trading AI Agent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36184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18184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표준 데이터 처리 체계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근거 위치 제시형 응답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→ FUN-004·005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수행역량 및 추진전략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제안의 특징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솔루션 미정 · 설치 지연 · 운영 중 시스템이라는 제약을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표준 어댑터 · 설치 전 선행 · 단계적 적용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해소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0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0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① 제품 비특정 연동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60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80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REST·메시지·Syslog·SNMP 표준 어댑터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솔루션 확정 후 어댑터만 선택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24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4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② 무유실 이중화 중계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44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64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영속 버퍼 + 재전송 + 중복 제거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한 계통 장애 시 10초 내 자동 절체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808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2799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③ 무중단 단계 적용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52799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4799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비핵심 → 핵심 시스템 순 적용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수집 부하 CPU 5% 이내 사전 측정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0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60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④ 설치 지연에도 진행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60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80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연동 설계·중계 시험본 선행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통보일 기준 70일 일정 재수립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24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44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⑤ 검증 가능한 정량 목표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44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564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화면 3초·알람 60초·동시 20명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72시간 연속 정상 동작 확인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08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52799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⑥ 자체 운영 이관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52799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4799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재학습·임계치·화면 편집 매뉴얼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30일 안정화 무상 지원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수행역량 및 추진전략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ECR-001, COR-001, COR-003, PMR-002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운영 시스템 무중단 구축과 위험 대응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통합신고처리 등 운영 시스템에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수집 적용을 4단계로 확대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하고, 일정에 직결되는 위험 6건을 착수 전에 대응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4877217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단계적 수집 적용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24000" y="1998000"/>
          <a:ext cx="4949216" cy="1587715"/>
        </p:xfrm>
        <a:graphic>
          <a:graphicData uri="http://schemas.openxmlformats.org/drawingml/2006/table">
            <a:tbl>
              <a:tblPr firstRow="0" bandRow="0"/>
              <a:tblGrid>
                <a:gridCol w="659895"/>
                <a:gridCol w="2474608"/>
                <a:gridCol w="1814713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순서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원거리추적감시 (10식)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상황공유·항공기위치 (15식)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통합상황관리 (17식)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통합신고처리 (34식)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신고량 최저 시간대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24000" y="3693718"/>
            <a:ext cx="4949217" cy="27862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작업 사전 승인, 적용 전 설정 백업, 10분 내 롤백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35217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07217" y="1620000"/>
            <a:ext cx="6361982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주요 위험과 대응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35217" y="1998000"/>
          <a:ext cx="6433981" cy="4481995"/>
        </p:xfrm>
        <a:graphic>
          <a:graphicData uri="http://schemas.openxmlformats.org/drawingml/2006/table">
            <a:tbl>
              <a:tblPr firstRow="0" bandRow="0"/>
              <a:tblGrid>
                <a:gridCol w="1883116"/>
                <a:gridCol w="627705"/>
                <a:gridCol w="3923160"/>
              </a:tblGrid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납품·설치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전 과업 선행, 통보일 기준 기간 연장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제품 미확정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어댑터 설계, 확정 즉시 명세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정보 미제공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확인 요청, 샘플 데이터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자원 불명확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자원 수준별 LLM 구성안 3종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부하 초과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대상별 측정, 주기·항목 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절차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신원조회·서약 조기 진행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3. 적용기술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수행역량 및 추진전략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FUN-003, FUN-004, ECR-002, COR-002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AIOps 솔루션 위에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이상탐지 · 부하예측 · 희소로그 · RCA/LLM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구성하고, 중계 기능은 전자정부 표준프레임워크로 개발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6209018" cy="5058000"/>
        </p:xfrm>
        <a:graphic>
          <a:graphicData uri="http://schemas.openxmlformats.org/drawingml/2006/table">
            <a:tbl>
              <a:tblPr firstRow="0" bandRow="0"/>
              <a:tblGrid>
                <a:gridCol w="1717388"/>
                <a:gridCol w="4491630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AIOps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이상탐지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시간대·요일 패턴 반영 동적 기준선 편차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 예측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시계열 학습, 임계 도달 예상 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희소로그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 템플릿화 후 저빈도·특정 패턴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RCA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장애 시점 연관 지표 영향도 순위화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RCA·지표·로그 근거로 원인 설명·조치 가이드·챗봇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695018" y="1422000"/>
            <a:ext cx="5174181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95018" y="1422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내부망 LLM 구성안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785018" y="1800000"/>
          <a:ext cx="4994181" cy="1270172"/>
        </p:xfrm>
        <a:graphic>
          <a:graphicData uri="http://schemas.openxmlformats.org/drawingml/2006/table">
            <a:tbl>
              <a:tblPr firstRow="0" bandRow="0"/>
              <a:tblGrid>
                <a:gridCol w="1664727"/>
                <a:gridCol w="3329454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자원 수준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설명·가이드·챗봇 전체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CPU만 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보고서·가이드 중심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내장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솔루션 규격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785018" y="3178174"/>
            <a:ext cx="4994181" cy="3229825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이기종: 다중 OS · Oracle 8 · PostgreSQL 1 · WAS/WEB 17을 동일 지표 체계로 정규화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중계: Spring Boot · WAL 영속 버퍼 · VRRP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 세부내용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Module 1. 통합 관제 · AI 분석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Module 2. 데이터 중계 · 연동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Module 3. 보안 · 성능 · 테스트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1. 통합 관제 · AI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1. 통합 관제 · AI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FUN-001, FUN-002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통합 관제 화면과 이벤트·알람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_FUN-001·002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서버·DB·WAS/WEB과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AI 이상탐지 상황을 업무 시스템별로 한 화면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에서 판단하고, 4단계 심각도로 담당자에게 즉시 전파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6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통합 대시보드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91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000" y="1944000"/>
            <a:ext cx="2951509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업무 시스템 5종 상태 요약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계층별 AI 이상탐지 현황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3509" y="1620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5509" y="166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토폴로지 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5509" y="191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7509" y="1944000"/>
            <a:ext cx="2951509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서비스 → 인스턴스 → 서버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구성 요소별 지표·상태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000" y="4095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000" y="4138199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타임라인 분석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000" y="4390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000" y="4419000"/>
            <a:ext cx="2951509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실시간·과거 이슈 추적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이벤트·지표·작업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3509" y="4095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45509" y="4138199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시스템별 상세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45509" y="4390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7509" y="4419000"/>
            <a:ext cx="2951509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서비스·인스턴스 이상탐지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원인 분석·리포트 이동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695018" y="1620000"/>
          <a:ext cx="5174181" cy="1587715"/>
        </p:xfrm>
        <a:graphic>
          <a:graphicData uri="http://schemas.openxmlformats.org/drawingml/2006/table">
            <a:tbl>
              <a:tblPr firstRow="0" bandRow="0"/>
              <a:tblGrid>
                <a:gridCol w="1521818"/>
                <a:gridCol w="3652363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심각도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SMS + 메일 즉시, 화면 경고음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SMS + 메일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메일, 화면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695018" y="3315718"/>
            <a:ext cx="5174181" cy="31642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복합 지표 알람, 2주기 이상 미수집 알람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연쇄 알람은 1건으로 묶어 전파 (알람 피로 방지)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1. 통합 관제 · AI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FUN-003, FUN-004, ECR-003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AI 이상탐지 · 예측 · 원인 분석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_FUN-003·004, ECR-003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과거 운영 데이터를 학습해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장애를 미리 알리고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, 장애 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근거와 함께 원인 후보와 조치 가이드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를 제시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LLM 응답에는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근거 지표·로그·시점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을 함께 표시하고, 조치는 운영자 확인 후에만 실행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학습 일정 (설치 완료 통보일 기준)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3~4주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수집·전처리 체계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62720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7964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7964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5~6주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96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최소 2주 데이터 초기 모델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09960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688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688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7~8주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1999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탐지·예측 결과 검증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57200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412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412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안정화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44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재학습·임계치 조정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000" y="2892803"/>
            <a:ext cx="5691600" cy="3083196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WAS·DB·System 지표별 부하 예측·이상징후, 비정형 로그 희소패턴 탐지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재학습 절차를 운영자 매뉴얼에 화면 순서대로 수록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76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96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원인 분석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76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776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장애 발생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08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이벤트·이상탐지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480799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6500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6500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RCA 후보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32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연관 지표 영향도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95320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1224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224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LLM 분석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56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근거 기반 설명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10425599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5948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5948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 가이드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380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보고서·챗봇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7600" y="2892803"/>
            <a:ext cx="5691600" cy="3083196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일간·주간·월간 성능 리포트 (항목·양식 발주기관 협의)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2. 데이터 중계 · 연동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데이터 중계 ·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FUN-005, QUR-001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데이터 중계 기능 (본 사업 개발 핵심)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_FUN-005, QUR-001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타 관제시스템 2종 데이터를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수신 → 정규화 → 영속 버퍼 → AIOps 제공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하고, 2계통 이중화로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10초 내 자동 절체 · 유실 0건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6361982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중계 처리 구조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000" y="1998000"/>
            <a:ext cx="1459995" cy="8259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수신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200" y="2340000"/>
            <a:ext cx="1373595" cy="4659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프로토콜별 어댑터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TLS 수신·인증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812795" y="23029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81995" y="1998000"/>
            <a:ext cx="1459995" cy="8259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81995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정규화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5195" y="2340000"/>
            <a:ext cx="1373595" cy="4659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분석 대상 선별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표준 스키마 변환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70791" y="23029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39991" y="1998000"/>
            <a:ext cx="1459995" cy="8259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39991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보관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3191" y="2340000"/>
            <a:ext cx="1373595" cy="4659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디스크 영속 버퍼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재시도·백오프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128786" y="23029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97986" y="1998000"/>
            <a:ext cx="1459995" cy="8259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97986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1186" y="2340000"/>
            <a:ext cx="1373595" cy="4659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멱등 키 중복 제거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AIOps 분석 환경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000" y="2931940"/>
            <a:ext cx="6433982" cy="3548059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수신 범위·주기·형식을 인터페이스 정의서로 제출, 대상 추가는 어댑터·설정 추가로 대응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19982" y="1620000"/>
            <a:ext cx="4949217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9982" y="1620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이중화 절체 목표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7009982" y="1998000"/>
          <a:ext cx="4769217" cy="1587715"/>
        </p:xfrm>
        <a:graphic>
          <a:graphicData uri="http://schemas.openxmlformats.org/drawingml/2006/table">
            <a:tbl>
              <a:tblPr firstRow="0" bandRow="0"/>
              <a:tblGrid>
                <a:gridCol w="2649565"/>
                <a:gridCol w="2119652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감지 (1초 헬스체크 × 3회)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가상 IP 절체 (VRRP)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절체 구간 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유실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계통 복구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편입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데이터 중계 ·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SIR-001, SIR-002, DAR-001, DAR-002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분리발주 솔루션 연동과 데이터 정합성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_SIR-001·002, DAR-001·002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솔루션 장애·변경에도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본 사업 기능은 멈추지 않고 자동 재개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, 2개 구간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연속 8시간 전 건 대조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 정합성 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56916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0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연동 인터페이스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999" y="1998000"/>
            <a:ext cx="5511600" cy="441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TLS 1.2+ 상호 인증, 최대 5회 지수 백오프 재시도, 처리 이력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솔루션 표준 인터페이스 활용, 연동 명세를 공급자와 협의·문서화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솔루션 장애 시 버퍼링 → 복구 후 별도 조치 없이 재개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인터페이스 미제공·규격 미달은 기록·보고 → 검사 유예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76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6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정합성 검증 (타 관제 → 중계 → AI 엔진)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7600" y="1998000"/>
            <a:ext cx="12744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76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0800" y="2340000"/>
            <a:ext cx="11880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시간대·표본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480799" y="22001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50000" y="1998000"/>
            <a:ext cx="12744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500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3200" y="2340000"/>
            <a:ext cx="11880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8시간↑ 전 건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53200" y="22001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22400" y="1998000"/>
            <a:ext cx="12744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224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5600" y="2340000"/>
            <a:ext cx="11880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누락·중복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425599" y="22001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594800" y="1998000"/>
            <a:ext cx="12744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5948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판정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38000" y="2340000"/>
            <a:ext cx="11880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건수 일치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177600" y="2726201"/>
          <a:ext cx="5691599" cy="1270172"/>
        </p:xfrm>
        <a:graphic>
          <a:graphicData uri="http://schemas.openxmlformats.org/drawingml/2006/table">
            <a:tbl>
              <a:tblPr firstRow="0" bandRow="0"/>
              <a:tblGrid>
                <a:gridCol w="3478200"/>
                <a:gridCol w="2213399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원천 수집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마트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결과 (단기 / 장기 통계)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3개월 / 1년↑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3. 보안 · 성능 · 테스트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3. 보안 · 성능 ·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PER-001, QUR-002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정량 성능 목표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_PER-001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관제 화면·알람·동시 사용자·중계·수집 부하 목표를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측정 조건과 함께 정량 제시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 운영 환경에서 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00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3초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00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관제 화면 조회 (95%)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64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64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60초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464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이벤트 → 알람 발송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528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528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20명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528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동시 사용자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92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92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10초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92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중계 절체 · 유실 0건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4656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656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56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수집 부하 (CPU)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24000" y="2808000"/>
          <a:ext cx="11545198" cy="1306708"/>
        </p:xfrm>
        <a:graphic>
          <a:graphicData uri="http://schemas.openxmlformats.org/drawingml/2006/table">
            <a:tbl>
              <a:tblPr firstRow="0" bandRow="0"/>
              <a:tblGrid>
                <a:gridCol w="2518952"/>
                <a:gridCol w="6297381"/>
                <a:gridCol w="2728865"/>
              </a:tblGrid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화면 30회 반복 조회, 95 백분위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 시험 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알람 발송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이벤트 생성 → 수신 단말 도착 시각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이벤트 기록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7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부하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적용 전·후 1일 CPU 평균·최대 비교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OS 성능 통계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324000" y="4222710"/>
            <a:ext cx="3788400" cy="225729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6000" y="426590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확장성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000" y="451791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8000" y="4546710"/>
            <a:ext cx="3680400" cy="189729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관제 대상 추가 시 수집·중계 설정만 추가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구조 변경 없이 확장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02400" y="4222710"/>
            <a:ext cx="3788400" cy="225729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4400" y="426590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가용성 (QUR-001)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74400" y="451791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56400" y="4546710"/>
            <a:ext cx="3680400" cy="189729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중계 2계통 이중화·자동 절체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에이전트 자원 상한으로 업무 영향 차단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0800" y="4222710"/>
            <a:ext cx="3788400" cy="225729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52799" y="426590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유지관리 (QUR-002)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52799" y="451791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4799" y="4546710"/>
            <a:ext cx="3680400" cy="189729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설정·화면·알람·재학습 절차 매뉴얼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관리자 계정·산출물 인수인계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3. 보안 · 성능 ·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SER-001, SER-002, SER-003, SER-004, SER-005, SER-006, SER-007, SER-008, SER-009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보안 요구사항과 사업 보안관리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_SER-001~009, 별표 4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기술적 보안은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설계 반영 → 보안약점 진단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검증하고, 별표 4 사업자 보안관리 준수사항을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전 항목 이행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접근통제 (SER-002)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0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역할 기반 권한, 5회 실패 잠금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세션 30분 (상시 화면 승인 예외)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24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44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개발보안 (SER-003)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44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64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SW 개발보안 가이드 준수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보안약점 진단·조치 결과 제출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08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2799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로그·감사 (SER-009)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2799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4799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주요 로그 정의, 위변조 방지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침해사고 탐지→보고→복구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0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0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인원 (별표 4-1)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80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사전 신원조회·보안서약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월 1회 보안교육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24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44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자료·매체 (SER-006·007)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744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64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USB 포트락, 상용 이메일 금지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누출금지 정보 원격지 반출 금지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08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2799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망·점검 (별표 4-4·5)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52799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4799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사업체망-내부망 방화벽 준비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일 1회 자체 보안점검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3. 보안 · 성능 ·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TER-001, TER-002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통합 시험 · 72시간 확인 · 인수 시험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_TER-001·002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운영 환경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연속 72시간 무중단 정상 동작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확인하고, 36개 요구사항을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적합 · 부적합 · 조건부 적합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판정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 결과서·요구사항 추적표가 곧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검사 자료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— 시험 이벤트는 '시험' 표시로 실제 알람과 구분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00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400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 시험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20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76식 수집 상태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정합성 검증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화면·알람·성능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50344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7264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7264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72시간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584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업무시간 포함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수집·화면·알람·중계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1시간 단위 기록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5208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28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128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 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448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요구사항별 판정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운영부서 참여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20072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69919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69919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조건부 적합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312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원인: 분리발주 솔루션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조치 주체·재시험 시점 기록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49359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1856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1856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검사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176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결과서·추적표 제출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14일 내 검사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프로젝트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수행조직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일정계획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수행조직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PMR-001, PMR-002, PMR-003, PMR-004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통합 PM이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3자 협의체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(발주기관·본 사업자·분리발주 공급자)를 운영하고, 하도급 없이 자사 인력으로 수행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5110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8711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해양경찰청 정보통신과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100" y="1486800"/>
            <a:ext cx="18711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운영 담당 부서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24200" y="1422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 총괄·검사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2268000"/>
            <a:ext cx="5110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협의체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332800"/>
            <a:ext cx="3796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3자 협의체 — 주 1회 + 수시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200" y="2268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연동 이슈 조정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" y="3114000"/>
            <a:ext cx="5110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48000" y="3178800"/>
            <a:ext cx="12293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사업관리자(PM)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1399" y="3178800"/>
            <a:ext cx="12293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품질보증(QA)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3178800"/>
            <a:ext cx="12293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정보보안담당(정·부)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200" y="3114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통합 PM 단일 창구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000" y="3960000"/>
            <a:ext cx="5110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 파트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4800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연동·관제 화면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055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중계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310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분석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3565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시험·이관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24200" y="3960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구축·시험·교육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26199" y="1422000"/>
            <a:ext cx="4743000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26199" y="1422000"/>
            <a:ext cx="4743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 방법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6199" y="1800000"/>
            <a:ext cx="4563000" cy="4608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주간 진척 보고, 긴급 이슈 당일 보고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단계별 산출물 버전 관리, 착수·완료보고회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SW사업정보 데이터 제출 (기능점수 전문가 포함)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PM 24시간 비상연락, 긴급 장애 1시간 내 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일정계획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COR-003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착수 2주 내 설계·시험본을 끝내고 연동·중계·학습을 병행하여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9주차 72시간 확인, 10주차 검사 요청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솔루션 설치 완료 통보일 기준 70일 — 설치 지연 시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통보일까지 계약기간 연장, 지체상금 제외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4000" y="1422000"/>
          <a:ext cx="11545198" cy="4554000"/>
        </p:xfrm>
        <a:graphic>
          <a:graphicData uri="http://schemas.openxmlformats.org/drawingml/2006/table">
            <a:tbl>
              <a:tblPr firstRow="0" bandRow="0"/>
              <a:tblGrid>
                <a:gridCol w="3463559"/>
                <a:gridCol w="3463559"/>
                <a:gridCol w="923616"/>
                <a:gridCol w="923616"/>
                <a:gridCol w="923616"/>
                <a:gridCol w="923616"/>
                <a:gridCol w="923616"/>
              </a:tblGrid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 (착수·중간·완료)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수행계획서·WBS·보고서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상세화·연동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연동·중계 설계서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시험본·개발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인터페이스 정의서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연동·관제 화면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화면·알람 정책서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분석 환경·학습·검증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모델 설계서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시험·72시간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 시험 결과서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 시험·교육·검사 요청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인수 시험 결과서·매뉴얼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프로젝트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교육 · 기술지원 · 하자보수 · 안정화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교육 · 기술지원 · 하자보수 · 안정화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Ⅴ. 프로젝트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PSR-001, PSR-002, PSR-003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실습 중심 교육, 장애 등급별 기술지원,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1년 무상 하자보수와 30일 안정화 지원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운영 담당자가 스스로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안정화 30일은 사업기간 70일에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산입하지 않고 하자보수 기간 내 무상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이행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교육 (PSR-001)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27108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관제 화면·알람 설정·리포트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장애 대응 모의훈련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관리자: 재학습·중계 추가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2회차 운영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328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04800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기술지원 (PSR-002)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04800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86800" y="1746000"/>
            <a:ext cx="27108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긴급 1시간 착수·4시간 복구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중대 4시간 착수·1일 복구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단일 창구, 공급자 연계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16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3599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하자보수 (PSR-003)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3599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5599" y="1746000"/>
            <a:ext cx="27108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검사 합격일부터 1년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구축물 오류 수정·기능 보완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분기 1회 정기 점검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04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22400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안정화 30일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2400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4400" y="1746000"/>
            <a:ext cx="27108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모델 재학습·임계치 조정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중계 정합성 일일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결과보고서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B3AA4"/>
                </a:solidFill>
                <a:latin typeface="KoPubWorld돋움체 Bold"/>
                <a:ea typeface="KoPubWorld돋움체 Bold"/>
                <a:cs typeface="KoPubWorld돋움체 Bol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긴급신고 서비스 무중단을 지키는 예측형 통합관제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