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통합관제 데이터 연계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및 중계환경 구축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해양경찰청 (정보통신과)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테스트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입찰자 일반현황 및 수행실적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업무분장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개요와 유사분야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유사실적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(AIOps·모니터링 실적 보유) 16년간 서비스 기획·개발·운영을 수행했고,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MES AI Agent 통합 관제(MOSAIC)·이상탐지 자동화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실적을 본 사업에 적용함 (→ Ⅰ-1~4)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701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 /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 / 16년 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임직원 129명 (특급 기술자 22명),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1468 소프트웨어사업자, 직접생산확인(8111159901),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1823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1679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유사분야 수행실적 (① AIOps ② 통합 모니터링 ③ 데이터 연계·중계)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491984"/>
          <a:ext cx="6260400" cy="1723922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1330335"/>
                <a:gridCol w="1017315"/>
                <a:gridCol w="782550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제조 DT 시스템 (FAB MOS) — MES AI Agent 'MOSAIC' 3건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표준 아키텍처 구축 Ph1~Ph3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2024.12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6323907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32390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이상 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83107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 로그·지표 실시간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FUN-003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323907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32390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원인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83107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로그·지표 상관분석, 근거 제시형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FUN-004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323907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32390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관제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83107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실행 이력·지표 통합 모니터링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FUN-001·002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0800" y="7409080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AIOps·통합 모니터링·데이터 연계 3개 유사분야 실적 모두 보유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수행조직 · 참여 형태 · 비상연락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(단일 창구 · 단독 수행) 통합 PM이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3자 협의체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(발주기관·본 사업자·분리발주 공급자)를 운영하고, 하도급 없이 자사 인력으로 수행함 (→ Ⅰ-5~6)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25002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해양경찰청 정보통신과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87000" y="2430000"/>
            <a:ext cx="25002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운영 담당 부서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6260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협의체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5054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3자 협의체 — 주 1회 + 수시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423600"/>
            <a:ext cx="6260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사업관리자(PM)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정보보안담당자(정·부)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56399"/>
            <a:ext cx="6260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솔루션 연동·관제 화면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099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중계 개발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870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분석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641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시험·운영 이관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4561200"/>
          <a:ext cx="6260400" cy="1359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중소기업 단독 참여, 하도급 없음 (전원 자사 인력)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24시간 연락, 긴급 장애 1시간 내 원격 확인 · 4시간 내 현장 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영향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장애 발생 시 즉시 보고·사업자 책임 복구 (ECR-001)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435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291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353184"/>
          <a:ext cx="6260400" cy="667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프로젝트 조직도, 업무 분장표, 비상 연락망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ounded Rectangle 52"/>
          <p:cNvSpPr/>
          <p:nvPr/>
        </p:nvSpPr>
        <p:spPr>
          <a:xfrm>
            <a:off x="280800" y="7128908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중소기업 단독 참여(상생협력 만점) · 하도급 없음 · 통합 PM 단일 창구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업무 특성 · 범위 · 목표시스템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이해와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(생명과 직결된 무중단) 긴급신고·해상구조 시스템 76식과 타 관제시스템 2종을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수집·중계 → AI 분석 → 통합 관제·알람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잇는 예측형 관제체계를 구축함 (→ Ⅱ-1~3)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728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통합상황관리 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176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원거리추적 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624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상황공유 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1072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항공기위치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서버 50·DB 9·WAS/WEB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수집·중계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052799"/>
            <a:ext cx="1807199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모니터링 솔루션 (분리발주)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052799"/>
            <a:ext cx="1807199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</a:t>
            </a: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(본 사업 개발)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타 관제시스템 2종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AIOps 솔루션 (분리발주)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AI 분석 엔진</a:t>
            </a: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구성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LLM 분석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이상탐지·예측·RCA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관제·전파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이벤트·알람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성능 리포트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기관 SMS·메일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21200"/>
          <a:ext cx="6260400" cy="138192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895435"/>
                <a:gridCol w="211288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사업자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통합구축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분석 엔진 구축, 데이터 중계 개발, 관제 화면·연동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개발·구축·연동 결과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분리발주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모니터링·AIOps 솔루션,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연동·구성 결과 (설치·라이선스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302400" y="64255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2400" y="64111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6735123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 계획서, 시스템 구성도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설계서, 연동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환경 구축 결과서, AI 분석 모델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Rounded Rectangle 59"/>
          <p:cNvSpPr/>
          <p:nvPr/>
        </p:nvSpPr>
        <p:spPr>
          <a:xfrm>
            <a:off x="280800" y="8194847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별도 개발은 데이터 중계로 한정하고, 나머지는 솔루션 구성으로 구축하여 범위·책임을 명확히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제안의 특징과 무중단·위험 대응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(제품 비특정 · 무중단 · 선행 수행) 솔루션 미정·설치 지연·운영 중 시스템이라는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어댑터, 단계 적용, 설치 전 과업 선행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해소함 (→ Ⅱ-4~7)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COR-001, COR-003,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제품 비특정 연동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REST·Syslog·SNMP 등 표준 어댑터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제품 확정 후 선택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무유실 이중화 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영속 버퍼·재전송·중복 제거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10초 내 자동 절체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무중단 단계 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비핵심 → 핵심 시스템 순서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수집 부하 CPU 5% 이내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2400" y="345757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344317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위험과 대응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767173"/>
          <a:ext cx="6260400" cy="206592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연동 설계·중계 프로토타입 선행, 통보일 기준 계약기간 연장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정보·GPU 자원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확인 요청, 샘플 데이터 검증, 자원 수준별 LLM 구성안 3종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서비스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사전 승인, 신고량 최저 시간대 작업, 10분 내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절차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신원조회·보안서약 조기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302400" y="595549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2400" y="594109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6265096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계획서, 출입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일정 계획서, WBS, 지연 사유 보고서(해당 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 진척 보고서, 이슈 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280800" y="7724820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솔루션 설치가 늦어져도 설계·시험본을 먼저 진행하여 70일 일정을 지킴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AIOps · 이기종 지원 ·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표준 기술) AIOps 솔루션 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이상탐지·부하예측·희소로그·RCA/LLM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구성하고, 중계 기능은 전자정부 표준프레임워크로 개발함 (→ Ⅱ-8~11)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FUN-003, FUN-004, ECR-002, COR-002,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4789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동적 기준선 이상탐지, 지표별 부하 예측, 로그 템플릿 기반 희소로그 탐지, 연관 지표 RCA, 근거 기반 LLM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이기종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다중 OS · Oracle 8 · PostgreSQL 1 · WAS/WEB 17 지표를 동일 체계로 정규화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표준프레임워크(Spring Boot), 영속 버퍼(WAL), Active-Standby + VRRP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내부망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 제공 / CPU만 / 솔루션 내장 모델 — 제공 자원별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대상·항목·주기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설계·시험본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설치 전 중계 시험본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연동·중계·학습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통합·성능·72시간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교육·검사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2400" y="57002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2400" y="56858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6009892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 탐지·예측 설정 내역서,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분석 결과 시험 결과서, 리포트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기술적용계획·결과표, 오픈소스 라이선스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ounded Rectangle 53"/>
          <p:cNvSpPr/>
          <p:nvPr/>
        </p:nvSpPr>
        <p:spPr>
          <a:xfrm>
            <a:off x="280800" y="7469616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GPU 제공 여부와 관계없이 동작하는 내부망 LLM 구성안 3종 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시스템구성 및 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및 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 및 제약사항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및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요구사항별 구현 방안 요약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시스템구성 ·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(솔루션 기능 우선 구성) 관제 화면·알람·AI 분석은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솔루션 기능으로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별도 개발은 데이터 중계 기능으로 한정함 (→ Ⅲ-1~7)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FUN-001, FUN-002, FUN-003, FUN-004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47779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ECR-002 모니터링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76식 전수 연동, 대상·항목·주기 착수 시 문서화, 대상별 연동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ECR-003 분석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 2주 데이터로 초기 모델, 안정화 중 주 1회 재학습, 내부망 전용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FUN-001 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 · 토폴로지 뷰 · 타임라인 · 시스템별 상세 (HTML5 웹)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FUN-002 이벤트·알람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4단계 심각도, 복합 지표·미수집 알람, 기관 SMS·메일 연동, 연쇄 알람 묶음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FUN-003 이상탐지·예측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WAS·DB·System 부하 예측·이상징후, 희소로그 탐지, 재학습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FUN-004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연관 지표 RCA 후보, 근거 표시 LLM 원인 설명·조치 가이드·챗봇, 일·주·월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581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437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267799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설계서, 화면 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알람 정책 정의서, 알람 발송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리포트 산출 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7727524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LLM 응답에 근거 지표·로그·시점을 함께 표시하고, 조치는 운영자 확인 후 실행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및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데이터 중계 기능 구조와 이중화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 사업 개발 핵심) 타 관제시스템 2종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수신 → 정규화 → 영속 버퍼 → AIOps 제공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2계통 이중화로 10초 내 자동 절체·유실 0건을 보장함 (→ Ⅲ-8~9)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수신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프로토콜별 수신 어댑터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TLS 수신·인증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타 관제 2종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정규화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분석 대상 선별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 스키마 변환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표준 정의서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전달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영속 버퍼·재시도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멱등 키 중복 제거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AIOps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4302000"/>
          <a:ext cx="6260400" cy="1359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헬스체크 1초 주기, 3회 연속 실패 시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가상 IP(VRRP)를 대기 계통으로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 구간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재전송 + 계통별 버퍼 +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57843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57699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93984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중계 기능 설계서, 인터페이스 정의서,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구성도(이중화), 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ounded Rectangle 52"/>
          <p:cNvSpPr/>
          <p:nvPr/>
        </p:nvSpPr>
        <p:spPr>
          <a:xfrm>
            <a:off x="280800" y="7211709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수동 개입 없는 절체 + 절체 구간 데이터 무유실 — RFP 최소 요건 이상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연동 인터페이스 · 정합성 · 데이터 보관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인터페이스 ·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(장애에도 자동 재개 · 검증 가능한 정합성) 전 구간 암호화·재시도를 적용하고,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2개 구간 연속 8시간 전 건 대조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누락·중복 0건을 검증함 (→ Ⅲ-10~12)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SIR-001, SIR-002, 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47891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SIR-001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TLS 1.2+ 상호 인증, 최대 5회 지수 백오프 재시도, 처리 이력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SIR-002 솔루션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활용, 솔루션 장애 시 버퍼링 후 자동 재개, 미제공 항목은 기록·보고·검사 유예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DAR-001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타 관제→중계, 중계→AI 엔진 2구간, 건수·시점·주요 값 대조, 불일치 시 재전송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DAR-002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3개월 · 마트 6개월 · 단기 결과 3개월 · 장기 통계 1년↑, 예상 약 380GB +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시간대·표본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연속 8시간↑ 전 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누락·중복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판정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최종 건수 일치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2400" y="57002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6858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09892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SIR-001·002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정의서, 연동 설계서, 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 정의서, 정합성 검증 계획서·결과서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관리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ounded Rectangle 49"/>
          <p:cNvSpPr/>
          <p:nvPr/>
        </p:nvSpPr>
        <p:spPr>
          <a:xfrm>
            <a:off x="280800" y="7469616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솔루션 장애·변경에도 본 사업 기능은 멈추지 않고 복구 후 자동 재개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 및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보안 요구사항 및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보안 · 제약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(설계부터 검증까지) 기술적 보안은 설계서 반영·보안약점 진단으로 검증하고, 관리·물리·매체 보안과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업무시간·기술·70일 일정 제약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함께 관리함 (→ Ⅲ-13~15)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SER-005, SER-006, SER-007, SER-008, SER-009, 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42986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 기반 권한·5회 잠금·세션 30분, SW 개발보안 가이드·보안약점 진단, 로그 위변조 방지 (SER-002·003·009)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관리·물리·매체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신원조회·보안서약·월 1회 교육, 출입통제, USB 포트락·무선 불능화, 상용 이메일 금지 (SER-001·004~007)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특수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비인가 프로그램·약점 방치 금지 확약, 누출금지 정보 보안관리계획 사전 제출 (SER-008)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사전 승인·지정 장소, 다중 OS·DB 호환·오픈소스 라이선스, 착수보고 2주 내·통보일 기준 70일 (COR-001~003)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1026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89586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219861"/>
          <a:ext cx="6260400" cy="1693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SER-001·004·005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보안서약서, 보안관리계획서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SER-006·007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로그·감사 정책서, 사고 대응 매뉴얼, 로그 분석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7021585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별표 4 보안 준수사항 전 항목 이행, 정보보안담당자 일 1회 자체 점검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테스트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및 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테스트 요구사항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및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정량 성능 목표와 가용성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 시 확정 · 검증 대상) 관제 화면·알람·동시 사용자·중계·수집 부하 목표를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정량으로 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관제 장애가 업무 시스템에 전파되지 않게 분리함 (→ Ⅳ-1~3)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85984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352147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관제 화면 조회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이벤트 → 알람 발송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정규화·제공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다음 수신 주기 이전 (1분 주기 기준 10초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이내, 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 시스템 CPU 5%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85198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8798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(가용성) 중계 2계통 이중화, 에이전트 자원 상한, 비동기 연동으로 관제 장애의 업무 전파 차단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(유지관리) 설정·화면 편집·알람 정책·재학습·중계 대상 추가 절차를 운영자 매뉴얼로 제공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312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298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622464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목표 협의 결과서, 성능 시험 계획서·결과서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 매뉴얼, 인수인계서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80800" y="7740188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모든 성능 목표에 측정 조건·방법·도구를 명시하여 계약 시 그대로 검증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통합 시험 · 72시간 확인 · 인수 시험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테스트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(검사 자료가 되는 시험) 운영 환경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연속 72시간 무중단 정상 동작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확인하고, 36개 요구사항을 적합·부적합·조건부 적합으로 판정함 (→ Ⅳ-4~5)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수집·정합성·화면·알람·성능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72시간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업무시간 포함 연속 동작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요구사항별 판정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검사 요청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결과서·추적표 제출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3330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366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(긴급신고 영향 최소화) 협의된 시간대에 시험하고, 시험 이벤트는 '시험' 표시로 실제 알람과 구분함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(조건부 적합) 원인이 분리발주 솔루션이면 추적표에 원인·조치 주체·재시험 시점을 기록하고 조치 후 재시험함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479088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47764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100480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시험 계획서, 통합 시험 결과서 (72시간 확인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인수 시험 계획서·결과서, 요구사항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ounded Rectangle 50"/>
          <p:cNvSpPr/>
          <p:nvPr/>
        </p:nvSpPr>
        <p:spPr>
          <a:xfrm>
            <a:off x="280800" y="6218204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시험 결과서·요구사항 추적표가 곧 검사 자료 — 검사 기간 단축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관리 및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보안관리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 및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3자 협의체와 70일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관리방법 ·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(설치 통보일 기준 10주) 착수 2주 내 설계·시험본을 끝내고 연동·중계·학습을 병행하여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9주차 72시간 확인, 10주차 검사 요청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완료함 (→ Ⅴ-1~3)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PMR-002, PMR-003, PMR-004,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27984"/>
        </p:xfrm>
        <a:graphic>
          <a:graphicData uri="http://schemas.openxmlformats.org/drawingml/2006/table">
            <a:tbl>
              <a:tblPr firstRow="0" bandRow="0"/>
              <a:tblGrid>
                <a:gridCol w="2519909"/>
                <a:gridCol w="748098"/>
                <a:gridCol w="748098"/>
                <a:gridCol w="748098"/>
                <a:gridCol w="748098"/>
                <a:gridCol w="748098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 (착수·중간·완료)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상세화·연동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시험본·개발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환경·학습·검증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시험·72시간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시험·교육·검사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19398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22998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(관리) 주간 진척 보고, 3자 협의체 주 1회, 긴급 이슈 당일 보고, 산출물 버전 관리, SW사업정보 데이터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0396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0252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349224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착수·완료보고서, 회의록, 산출물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SW사업정보 데이터, 제출 확인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80800" y="7466948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설치 지연 시 일정 영향은 즉시 서면 보고하여 계약기간 조정 근거 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사업자 보안관리 준수사항 이행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(별표 4 전 항목 이행) 참여인원·자료·사무실·장비·내외부망·점검교육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5개 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전부터 종료까지 관리하고, 지정 장소 작업을 원칙으로 함 (→ Ⅴ-4~5)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SER-004, SER-007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079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정보보안담당자(정·부), 사전 신원조회, 보안서약서·기본보안교육 확인서, 인원관리대장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누출금지정보 자료관리대장, 지정 파일서버, 파쇄 폐기, 공유폴더·상용 이메일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사무실·장비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확보 개발실, 전산장비관리대장, USB 포트락, 일일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내·외부망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사업체망-내부망 방화벽 사업자 준비·관리권한 이관, 인터넷PC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본청 지정 장소 상주 원칙, 원격지 작업은 보안성 검토·승인 시에만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8883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8739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197923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별표 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인원관리대장, 자료관리대장, 전산장비관리대장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별표 4 (5)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일일 자체 보안점검 결과, 월 1회 보안교육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 보안관리계획, 대표자 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6657647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누출금지 정보는 원격지 반출 금지, 보안관리계획 사업 수행 전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 · 기술지원 · 하자보수 · 안정화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프로젝트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운영 이관 후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교육 · 기술지원 ·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(자체 운영까지 책임) 실습 중심 교육, 장애 등급별 기술지원,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1년 무상 하자보수와 30일 안정화 지원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운영 담당자가 스스로 운영하게 함 (→ Ⅵ-1~4)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PSR-001, PSR-002, 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교육 (PSR-001)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관제 화면·알람 설정·리포트·장애 대응 실습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관리자 과정: 재학습·중계 대상 추가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2회차 운영, 교재·결과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기술지원 (PSR-002)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긴급 1시간 착수·4시간 복구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중대 4시간 착수·1일 복구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단일 창구, 솔루션 장애는 공급자 연계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425173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42517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하자보수 (PSR-003)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3684373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검사 합격일부터 1년 무상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구축물 오류 수정·기능 보완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분기 1회 정기 점검, 이행확약서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425173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42517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안정화 30일 (PSR-002)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3684373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모델 재학습·임계치 조정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중계 수신·정합성 일일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안정화 결과보고서 제출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400" y="45607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2400" y="45463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4870346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 계획서, 교육 교재, 교육 실시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지원 계획서·결과보고서, 기술지원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계획서, 이행확약서, 이력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280800" y="6330070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30일 안정화 기간에 운영자 자체 운영까지 지원하고 결과보고서로 마무리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Ⅵ-1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