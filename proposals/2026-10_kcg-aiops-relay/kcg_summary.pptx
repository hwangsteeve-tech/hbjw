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4"/>
  </p:sldMasterIdLst>
  <p:notesMasterIdLst>
    <p:notesMasterId r:id="rId225"/>
  </p:notesMasterIdLst>
  <p:handoutMasterIdLst>
    <p:handoutMasterId r:id="rId226"/>
  </p:handoutMasterIdLst>
  <p:sldIdLst>
    <p:sldId id="7488" r:id="rId16"/>
    <p:sldId id="7489" r:id="rId17"/>
    <p:sldId id="7490" r:id="rId18"/>
    <p:sldId id="7491" r:id="rId19"/>
    <p:sldId id="7492" r:id="rId20"/>
    <p:sldId id="7493" r:id="rId21"/>
    <p:sldId id="7494" r:id="rId22"/>
    <p:sldId id="7495" r:id="rId23"/>
    <p:sldId id="7496" r:id="rId24"/>
    <p:sldId id="7497" r:id="rId25"/>
    <p:sldId id="7498" r:id="rId26"/>
    <p:sldId id="7499" r:id="rId27"/>
    <p:sldId id="7500" r:id="rId28"/>
    <p:sldId id="7501" r:id="rId29"/>
    <p:sldId id="7502" r:id="rId30"/>
    <p:sldId id="7503" r:id="rId31"/>
    <p:sldId id="7504" r:id="rId32"/>
    <p:sldId id="7505" r:id="rId33"/>
    <p:sldId id="7506" r:id="rId34"/>
    <p:sldId id="7507" r:id="rId35"/>
    <p:sldId id="7508" r:id="rId36"/>
    <p:sldId id="7509" r:id="rId37"/>
  </p:sldIdLst>
  <p:sldSz cx="6858000" cy="9906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  <p15:guide id="3" pos="170" userDrawn="1">
          <p15:clr>
            <a:srgbClr val="A4A3A4"/>
          </p15:clr>
        </p15:guide>
        <p15:guide id="4" pos="4163" userDrawn="1">
          <p15:clr>
            <a:srgbClr val="A4A3A4"/>
          </p15:clr>
        </p15:guide>
        <p15:guide id="5" pos="348" userDrawn="1">
          <p15:clr>
            <a:srgbClr val="A4A3A4"/>
          </p15:clr>
        </p15:guide>
        <p15:guide id="6" pos="3972" userDrawn="1">
          <p15:clr>
            <a:srgbClr val="A4A3A4"/>
          </p15:clr>
        </p15:guide>
        <p15:guide id="7" pos="221" userDrawn="1">
          <p15:clr>
            <a:srgbClr val="A4A3A4"/>
          </p15:clr>
        </p15:guide>
        <p15:guide id="8" pos="409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DEEBF7"/>
    <a:srgbClr val="A1DEED"/>
    <a:srgbClr val="D9D9D9"/>
    <a:srgbClr val="FFFFFF"/>
    <a:srgbClr val="2F76B6"/>
    <a:srgbClr val="0070BA"/>
    <a:srgbClr val="2C4F78"/>
    <a:srgbClr val="64C3DC"/>
    <a:srgbClr val="DAE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27" autoAdjust="0"/>
    <p:restoredTop sz="94660"/>
  </p:normalViewPr>
  <p:slideViewPr>
    <p:cSldViewPr snapToGrid="0">
      <p:cViewPr>
        <p:scale>
          <a:sx n="75" d="100"/>
          <a:sy n="75" d="100"/>
        </p:scale>
        <p:origin x="1506" y="936"/>
      </p:cViewPr>
      <p:guideLst>
        <p:guide orient="horz" pos="3120"/>
        <p:guide pos="2160"/>
        <p:guide pos="170"/>
        <p:guide pos="4163"/>
        <p:guide pos="348"/>
        <p:guide pos="3972"/>
        <p:guide pos="221"/>
        <p:guide pos="409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225" Type="http://schemas.openxmlformats.org/officeDocument/2006/relationships/notesMaster" Target="notesMasters/notesMaster1.xml"/><Relationship Id="rId226" Type="http://schemas.openxmlformats.org/officeDocument/2006/relationships/handoutMaster" Target="handoutMasters/handoutMaster1.xml"/><Relationship Id="rId227" Type="http://schemas.openxmlformats.org/officeDocument/2006/relationships/presProps" Target="presProps.xml"/><Relationship Id="rId228" Type="http://schemas.openxmlformats.org/officeDocument/2006/relationships/viewProps" Target="viewProps.xml"/><Relationship Id="rId229" Type="http://schemas.openxmlformats.org/officeDocument/2006/relationships/theme" Target="theme/theme1.xml"/><Relationship Id="rId23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3FC88C87-A870-CEB0-ED88-C071B57713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E2BC45F-FED5-D4BC-E846-A726E2675E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A53264-FF37-4A28-A320-34D44B9DA959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FF340D6-2F04-0925-A1CA-8AEFCB2ADB1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C895D71-45E6-1EE8-27B3-45C23B4D7FD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E9521-B036-447B-9F05-EA285466CC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87598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FD334089-59B3-40BB-96F8-BCCD425B3E10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9077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E228262F-01A3-4CFF-895B-FDF42B6E38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8756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9025116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7612334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0498293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450424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275855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1302546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8809296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1997953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705159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906429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9300550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C76020E4-D3BF-2E23-3FDA-C00182CF91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0455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컨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40B0BCB0-8223-B3D9-E890-81D448F5CD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9971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41A63F8-CD22-3A28-E2D3-10878032E2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4905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86385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80C846F1-727C-0585-985D-8DD19A4411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359" t="1639" r="80900" b="92396"/>
          <a:stretch>
            <a:fillRect/>
          </a:stretch>
        </p:blipFill>
        <p:spPr>
          <a:xfrm>
            <a:off x="0" y="0"/>
            <a:ext cx="1256670" cy="673100"/>
          </a:xfrm>
          <a:prstGeom prst="rect">
            <a:avLst/>
          </a:prstGeom>
        </p:spPr>
      </p:pic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850" y="257983"/>
            <a:ext cx="5318423" cy="3200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1600" smtClean="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defRPr>
            </a:lvl1pPr>
            <a:lvl2pPr marL="104478" indent="0">
              <a:buNone/>
              <a:defRPr lang="ko-KR" altLang="en-US" sz="823" smtClean="0"/>
            </a:lvl2pPr>
            <a:lvl3pPr marL="313432" indent="0">
              <a:buNone/>
              <a:defRPr lang="ko-KR" altLang="en-US" sz="823" smtClean="0"/>
            </a:lvl3pPr>
            <a:lvl4pPr marL="522387" indent="0">
              <a:buNone/>
              <a:defRPr lang="ko-KR" altLang="en-US" smtClean="0"/>
            </a:lvl4pPr>
            <a:lvl5pPr marL="731342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9" name="슬라이드 번호 개체 틀 2">
            <a:extLst>
              <a:ext uri="{FF2B5EF4-FFF2-40B4-BE49-F238E27FC236}">
                <a16:creationId xmlns:a16="http://schemas.microsoft.com/office/drawing/2014/main" id="{CE098A9A-461E-2B74-D55E-49CB2DCBB94A}"/>
              </a:ext>
            </a:extLst>
          </p:cNvPr>
          <p:cNvSpPr txBox="1">
            <a:spLocks/>
          </p:cNvSpPr>
          <p:nvPr userDrawn="1"/>
        </p:nvSpPr>
        <p:spPr>
          <a:xfrm>
            <a:off x="3174610" y="9688018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2A9537A-DB42-4D35-B31B-5C8E293FF6D7}" type="slidenum">
              <a:rPr lang="ko-KR" altLang="en-US" sz="900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ctr"/>
              <a:t>‹#›</a:t>
            </a:fld>
            <a:endParaRPr lang="ko-KR" altLang="en-US" sz="100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38406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C174FC7F-2931-4560-A3C1-364B07A5E3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4234" y="1453800"/>
            <a:ext cx="6109424" cy="181525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64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  <a:lvl2pPr>
              <a:defRPr lang="ko-KR" altLang="en-US" sz="823" smtClean="0"/>
            </a:lvl2pPr>
            <a:lvl3pPr>
              <a:defRPr lang="ko-KR" altLang="en-US" sz="823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0"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사각형: 둥근 한쪽 모서리 6">
            <a:extLst>
              <a:ext uri="{FF2B5EF4-FFF2-40B4-BE49-F238E27FC236}">
                <a16:creationId xmlns:a16="http://schemas.microsoft.com/office/drawing/2014/main" id="{B541F7BF-9ADF-46AB-81E5-B13C2B27F216}"/>
              </a:ext>
            </a:extLst>
          </p:cNvPr>
          <p:cNvSpPr/>
          <p:nvPr userDrawn="1"/>
        </p:nvSpPr>
        <p:spPr>
          <a:xfrm>
            <a:off x="0" y="473287"/>
            <a:ext cx="524014" cy="852098"/>
          </a:xfrm>
          <a:prstGeom prst="round1Rect">
            <a:avLst/>
          </a:prstGeom>
          <a:solidFill>
            <a:srgbClr val="008B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5F91E45-9FCF-43BD-A8FF-24BD1BC3E732}"/>
              </a:ext>
            </a:extLst>
          </p:cNvPr>
          <p:cNvCxnSpPr>
            <a:cxnSpLocks/>
          </p:cNvCxnSpPr>
          <p:nvPr userDrawn="1"/>
        </p:nvCxnSpPr>
        <p:spPr>
          <a:xfrm>
            <a:off x="0" y="1325385"/>
            <a:ext cx="6608862" cy="0"/>
          </a:xfrm>
          <a:prstGeom prst="line">
            <a:avLst/>
          </a:prstGeom>
          <a:ln w="19050">
            <a:solidFill>
              <a:srgbClr val="0074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텍스트 개체 틀 13">
            <a:extLst>
              <a:ext uri="{FF2B5EF4-FFF2-40B4-BE49-F238E27FC236}">
                <a16:creationId xmlns:a16="http://schemas.microsoft.com/office/drawing/2014/main" id="{B014F6E5-DAED-4795-8473-F27C314E90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9969" y="699426"/>
            <a:ext cx="5023588" cy="233013"/>
          </a:xfrm>
          <a:noFill/>
        </p:spPr>
        <p:txBody>
          <a:bodyPr wrap="square" rtlCol="0">
            <a:spAutoFit/>
          </a:bodyPr>
          <a:lstStyle>
            <a:lvl1pPr marL="0" indent="0">
              <a:lnSpc>
                <a:spcPct val="100000"/>
              </a:lnSpc>
              <a:buNone/>
              <a:defRPr lang="ko-KR" altLang="en-US" sz="914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marL="0"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8" name="텍스트 개체 틀 13">
            <a:extLst>
              <a:ext uri="{FF2B5EF4-FFF2-40B4-BE49-F238E27FC236}">
                <a16:creationId xmlns:a16="http://schemas.microsoft.com/office/drawing/2014/main" id="{2ECBBF39-A383-4AFE-9C30-8005D916AD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2769" y="655398"/>
            <a:ext cx="377293" cy="544593"/>
          </a:xfrm>
          <a:noFill/>
        </p:spPr>
        <p:txBody>
          <a:bodyPr wrap="square" rtlCol="0">
            <a:noAutofit/>
          </a:bodyPr>
          <a:lstStyle>
            <a:lvl1pPr marL="0" indent="0" algn="r">
              <a:buNone/>
              <a:defRPr lang="ko-KR" altLang="en-US" sz="1097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lvl="0" algn="ctr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BF7D64-638A-0DB1-1838-1BFE0A31C328}"/>
              </a:ext>
            </a:extLst>
          </p:cNvPr>
          <p:cNvSpPr txBox="1"/>
          <p:nvPr userDrawn="1"/>
        </p:nvSpPr>
        <p:spPr>
          <a:xfrm>
            <a:off x="6522317" y="9372523"/>
            <a:ext cx="335685" cy="345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823" b="0" i="0" u="none" strike="noStrike" kern="1200" cap="none" spc="0" normalizeH="0" baseline="0" noProof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나눔스퀘어"/>
                <a:ea typeface="나눔스퀘어"/>
                <a:cs typeface="+mn-cs"/>
              </a:rPr>
              <a:t>&lt;#&gt;</a:t>
            </a:r>
            <a:endParaRPr lang="ko-KR" altLang="en-US" sz="823"/>
          </a:p>
        </p:txBody>
      </p:sp>
    </p:spTree>
    <p:extLst>
      <p:ext uri="{BB962C8B-B14F-4D97-AF65-F5344CB8AC3E}">
        <p14:creationId xmlns:p14="http://schemas.microsoft.com/office/powerpoint/2010/main" val="5559893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A813A-2054-9B7A-A3EE-537D2323E4B8}"/>
              </a:ext>
            </a:extLst>
          </p:cNvPr>
          <p:cNvSpPr/>
          <p:nvPr userDrawn="1"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CC0A6FCF-E2F3-8AD2-0209-5A0ACB9F8120}"/>
              </a:ext>
            </a:extLst>
          </p:cNvPr>
          <p:cNvSpPr/>
          <p:nvPr userDrawn="1"/>
        </p:nvSpPr>
        <p:spPr>
          <a:xfrm>
            <a:off x="56168" y="2"/>
            <a:ext cx="291683" cy="832380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0CB78D1D-B4FE-DA6C-EE5A-0D2C0C024C53}"/>
              </a:ext>
            </a:extLst>
          </p:cNvPr>
          <p:cNvSpPr/>
          <p:nvPr userDrawn="1"/>
        </p:nvSpPr>
        <p:spPr>
          <a:xfrm>
            <a:off x="0" y="0"/>
            <a:ext cx="317814" cy="906949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5B00E28-9584-240E-0333-89C94C82345D}"/>
              </a:ext>
            </a:extLst>
          </p:cNvPr>
          <p:cNvSpPr/>
          <p:nvPr userDrawn="1"/>
        </p:nvSpPr>
        <p:spPr>
          <a:xfrm>
            <a:off x="-1749" y="0"/>
            <a:ext cx="283035" cy="846485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7" fmla="*/ 88356 w 545949"/>
              <a:gd name="connsiteY7" fmla="*/ 94325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545949 w 545949"/>
              <a:gd name="connsiteY0" fmla="*/ 0 h 647701"/>
              <a:gd name="connsiteX1" fmla="*/ 545949 w 545949"/>
              <a:gd name="connsiteY1" fmla="*/ 3 h 647701"/>
              <a:gd name="connsiteX2" fmla="*/ 374465 w 545949"/>
              <a:gd name="connsiteY2" fmla="*/ 568337 h 647701"/>
              <a:gd name="connsiteX3" fmla="*/ 346936 w 545949"/>
              <a:gd name="connsiteY3" fmla="*/ 613539 h 647701"/>
              <a:gd name="connsiteX4" fmla="*/ 252547 w 545949"/>
              <a:gd name="connsiteY4" fmla="*/ 647701 h 647701"/>
              <a:gd name="connsiteX5" fmla="*/ 0 w 545949"/>
              <a:gd name="connsiteY5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949" h="647701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823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defRPr>
            </a:lvl1pPr>
            <a:lvl2pPr marL="104479" indent="0">
              <a:buNone/>
              <a:defRPr lang="ko-KR" altLang="en-US" sz="823" smtClean="0"/>
            </a:lvl2pPr>
            <a:lvl3pPr marL="313437" indent="0">
              <a:buNone/>
              <a:defRPr lang="ko-KR" altLang="en-US" sz="823" smtClean="0"/>
            </a:lvl3pPr>
            <a:lvl4pPr marL="522394" indent="0">
              <a:buNone/>
              <a:defRPr lang="ko-KR" altLang="en-US" smtClean="0"/>
            </a:lvl4pPr>
            <a:lvl5pPr marL="731351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9821875-ABEF-94C5-5C9F-62A6F241B498}"/>
              </a:ext>
            </a:extLst>
          </p:cNvPr>
          <p:cNvSpPr/>
          <p:nvPr userDrawn="1"/>
        </p:nvSpPr>
        <p:spPr>
          <a:xfrm>
            <a:off x="244812" y="2693909"/>
            <a:ext cx="3125255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55ED841-3E70-2D52-DBCB-E944C07C3B70}"/>
              </a:ext>
            </a:extLst>
          </p:cNvPr>
          <p:cNvSpPr/>
          <p:nvPr userDrawn="1"/>
        </p:nvSpPr>
        <p:spPr>
          <a:xfrm>
            <a:off x="3487937" y="2693909"/>
            <a:ext cx="3125255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9" name="슬라이드 번호 개체 틀 2">
            <a:extLst>
              <a:ext uri="{FF2B5EF4-FFF2-40B4-BE49-F238E27FC236}">
                <a16:creationId xmlns:a16="http://schemas.microsoft.com/office/drawing/2014/main" id="{B2797B26-B1E8-6159-7F70-D2371837A9AB}"/>
              </a:ext>
            </a:extLst>
          </p:cNvPr>
          <p:cNvSpPr txBox="1">
            <a:spLocks/>
          </p:cNvSpPr>
          <p:nvPr userDrawn="1"/>
        </p:nvSpPr>
        <p:spPr>
          <a:xfrm>
            <a:off x="6349221" y="9545322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A9537A-DB42-4D35-B31B-5C8E293FF6D7}" type="slidenum">
              <a:rPr lang="ko-KR" altLang="en-US" sz="457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r"/>
              <a:t>‹#›</a:t>
            </a:fld>
            <a:endParaRPr lang="ko-KR" altLang="en-US" sz="64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81165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A813A-2054-9B7A-A3EE-537D2323E4B8}"/>
              </a:ext>
            </a:extLst>
          </p:cNvPr>
          <p:cNvSpPr/>
          <p:nvPr userDrawn="1"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CC0A6FCF-E2F3-8AD2-0209-5A0ACB9F8120}"/>
              </a:ext>
            </a:extLst>
          </p:cNvPr>
          <p:cNvSpPr/>
          <p:nvPr userDrawn="1"/>
        </p:nvSpPr>
        <p:spPr>
          <a:xfrm>
            <a:off x="56168" y="2"/>
            <a:ext cx="291683" cy="832380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0CB78D1D-B4FE-DA6C-EE5A-0D2C0C024C53}"/>
              </a:ext>
            </a:extLst>
          </p:cNvPr>
          <p:cNvSpPr/>
          <p:nvPr userDrawn="1"/>
        </p:nvSpPr>
        <p:spPr>
          <a:xfrm>
            <a:off x="0" y="0"/>
            <a:ext cx="317814" cy="906949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5B00E28-9584-240E-0333-89C94C82345D}"/>
              </a:ext>
            </a:extLst>
          </p:cNvPr>
          <p:cNvSpPr/>
          <p:nvPr userDrawn="1"/>
        </p:nvSpPr>
        <p:spPr>
          <a:xfrm>
            <a:off x="-1749" y="0"/>
            <a:ext cx="283035" cy="846485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7" fmla="*/ 88356 w 545949"/>
              <a:gd name="connsiteY7" fmla="*/ 94325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545949 w 545949"/>
              <a:gd name="connsiteY0" fmla="*/ 0 h 647701"/>
              <a:gd name="connsiteX1" fmla="*/ 545949 w 545949"/>
              <a:gd name="connsiteY1" fmla="*/ 3 h 647701"/>
              <a:gd name="connsiteX2" fmla="*/ 374465 w 545949"/>
              <a:gd name="connsiteY2" fmla="*/ 568337 h 647701"/>
              <a:gd name="connsiteX3" fmla="*/ 346936 w 545949"/>
              <a:gd name="connsiteY3" fmla="*/ 613539 h 647701"/>
              <a:gd name="connsiteX4" fmla="*/ 252547 w 545949"/>
              <a:gd name="connsiteY4" fmla="*/ 647701 h 647701"/>
              <a:gd name="connsiteX5" fmla="*/ 0 w 545949"/>
              <a:gd name="connsiteY5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949" h="647701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823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defRPr>
            </a:lvl1pPr>
            <a:lvl2pPr marL="104479" indent="0">
              <a:buNone/>
              <a:defRPr lang="ko-KR" altLang="en-US" sz="823" smtClean="0"/>
            </a:lvl2pPr>
            <a:lvl3pPr marL="313437" indent="0">
              <a:buNone/>
              <a:defRPr lang="ko-KR" altLang="en-US" sz="823" smtClean="0"/>
            </a:lvl3pPr>
            <a:lvl4pPr marL="522394" indent="0">
              <a:buNone/>
              <a:defRPr lang="ko-KR" altLang="en-US" smtClean="0"/>
            </a:lvl4pPr>
            <a:lvl5pPr marL="731351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9821875-ABEF-94C5-5C9F-62A6F241B498}"/>
              </a:ext>
            </a:extLst>
          </p:cNvPr>
          <p:cNvSpPr/>
          <p:nvPr userDrawn="1"/>
        </p:nvSpPr>
        <p:spPr>
          <a:xfrm>
            <a:off x="244810" y="2693909"/>
            <a:ext cx="6368380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1F5EF080-74F1-2009-15B4-D5D932E8218F}"/>
              </a:ext>
            </a:extLst>
          </p:cNvPr>
          <p:cNvSpPr txBox="1">
            <a:spLocks/>
          </p:cNvSpPr>
          <p:nvPr userDrawn="1"/>
        </p:nvSpPr>
        <p:spPr>
          <a:xfrm>
            <a:off x="6349221" y="9545322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A9537A-DB42-4D35-B31B-5C8E293FF6D7}" type="slidenum">
              <a:rPr lang="ko-KR" altLang="en-US" sz="457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r"/>
              <a:t>‹#›</a:t>
            </a:fld>
            <a:endParaRPr lang="ko-KR" altLang="en-US" sz="64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735162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A813A-2054-9B7A-A3EE-537D2323E4B8}"/>
              </a:ext>
            </a:extLst>
          </p:cNvPr>
          <p:cNvSpPr/>
          <p:nvPr userDrawn="1"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CC0A6FCF-E2F3-8AD2-0209-5A0ACB9F8120}"/>
              </a:ext>
            </a:extLst>
          </p:cNvPr>
          <p:cNvSpPr/>
          <p:nvPr userDrawn="1"/>
        </p:nvSpPr>
        <p:spPr>
          <a:xfrm>
            <a:off x="56168" y="2"/>
            <a:ext cx="291683" cy="832380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0CB78D1D-B4FE-DA6C-EE5A-0D2C0C024C53}"/>
              </a:ext>
            </a:extLst>
          </p:cNvPr>
          <p:cNvSpPr/>
          <p:nvPr userDrawn="1"/>
        </p:nvSpPr>
        <p:spPr>
          <a:xfrm>
            <a:off x="0" y="0"/>
            <a:ext cx="317814" cy="906949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5B00E28-9584-240E-0333-89C94C82345D}"/>
              </a:ext>
            </a:extLst>
          </p:cNvPr>
          <p:cNvSpPr/>
          <p:nvPr userDrawn="1"/>
        </p:nvSpPr>
        <p:spPr>
          <a:xfrm>
            <a:off x="-1749" y="0"/>
            <a:ext cx="283035" cy="846485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7" fmla="*/ 88356 w 545949"/>
              <a:gd name="connsiteY7" fmla="*/ 94325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545949 w 545949"/>
              <a:gd name="connsiteY0" fmla="*/ 0 h 647701"/>
              <a:gd name="connsiteX1" fmla="*/ 545949 w 545949"/>
              <a:gd name="connsiteY1" fmla="*/ 3 h 647701"/>
              <a:gd name="connsiteX2" fmla="*/ 374465 w 545949"/>
              <a:gd name="connsiteY2" fmla="*/ 568337 h 647701"/>
              <a:gd name="connsiteX3" fmla="*/ 346936 w 545949"/>
              <a:gd name="connsiteY3" fmla="*/ 613539 h 647701"/>
              <a:gd name="connsiteX4" fmla="*/ 252547 w 545949"/>
              <a:gd name="connsiteY4" fmla="*/ 647701 h 647701"/>
              <a:gd name="connsiteX5" fmla="*/ 0 w 545949"/>
              <a:gd name="connsiteY5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949" h="647701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823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defRPr>
            </a:lvl1pPr>
            <a:lvl2pPr marL="104479" indent="0">
              <a:buNone/>
              <a:defRPr lang="ko-KR" altLang="en-US" sz="823" smtClean="0"/>
            </a:lvl2pPr>
            <a:lvl3pPr marL="313437" indent="0">
              <a:buNone/>
              <a:defRPr lang="ko-KR" altLang="en-US" sz="823" smtClean="0"/>
            </a:lvl3pPr>
            <a:lvl4pPr marL="522394" indent="0">
              <a:buNone/>
              <a:defRPr lang="ko-KR" altLang="en-US" smtClean="0"/>
            </a:lvl4pPr>
            <a:lvl5pPr marL="731351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60DC690-6E34-460F-B6A4-6CF5A62EB2C3}"/>
              </a:ext>
            </a:extLst>
          </p:cNvPr>
          <p:cNvSpPr/>
          <p:nvPr userDrawn="1"/>
        </p:nvSpPr>
        <p:spPr>
          <a:xfrm>
            <a:off x="244811" y="2693909"/>
            <a:ext cx="1989132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823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72717FD-D39F-8E98-379C-C3F05153C648}"/>
              </a:ext>
            </a:extLst>
          </p:cNvPr>
          <p:cNvSpPr/>
          <p:nvPr userDrawn="1"/>
        </p:nvSpPr>
        <p:spPr>
          <a:xfrm>
            <a:off x="4624058" y="2693909"/>
            <a:ext cx="1989132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823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B5475A5-6520-B581-0354-5E7DA0EF6ADD}"/>
              </a:ext>
            </a:extLst>
          </p:cNvPr>
          <p:cNvSpPr/>
          <p:nvPr userDrawn="1"/>
        </p:nvSpPr>
        <p:spPr>
          <a:xfrm>
            <a:off x="2434435" y="2693909"/>
            <a:ext cx="1989132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823"/>
          </a:p>
        </p:txBody>
      </p:sp>
      <p:sp>
        <p:nvSpPr>
          <p:cNvPr id="7" name="슬라이드 번호 개체 틀 2">
            <a:extLst>
              <a:ext uri="{FF2B5EF4-FFF2-40B4-BE49-F238E27FC236}">
                <a16:creationId xmlns:a16="http://schemas.microsoft.com/office/drawing/2014/main" id="{D7A74A86-AF2F-4131-0264-FB4B27ABEF36}"/>
              </a:ext>
            </a:extLst>
          </p:cNvPr>
          <p:cNvSpPr txBox="1">
            <a:spLocks/>
          </p:cNvSpPr>
          <p:nvPr userDrawn="1"/>
        </p:nvSpPr>
        <p:spPr>
          <a:xfrm>
            <a:off x="6349221" y="9545322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A9537A-DB42-4D35-B31B-5C8E293FF6D7}" type="slidenum">
              <a:rPr lang="ko-KR" altLang="en-US" sz="457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r"/>
              <a:t>‹#›</a:t>
            </a:fld>
            <a:endParaRPr lang="ko-KR" altLang="en-US" sz="64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93134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1E447B-F4B4-4E30-97EE-52936639FAEF}"/>
              </a:ext>
            </a:extLst>
          </p:cNvPr>
          <p:cNvSpPr txBox="1"/>
          <p:nvPr userDrawn="1"/>
        </p:nvSpPr>
        <p:spPr>
          <a:xfrm flipH="1">
            <a:off x="489703" y="1285390"/>
            <a:ext cx="2125266" cy="227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731" kern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템인트 프레젠테이션 템플릿 저작권</a:t>
            </a:r>
            <a:endParaRPr lang="en-US" altLang="ko-KR" sz="731" kern="12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F0AAC5-6251-4A45-9BE4-4EDC00C4FF72}"/>
              </a:ext>
            </a:extLst>
          </p:cNvPr>
          <p:cNvSpPr txBox="1"/>
          <p:nvPr userDrawn="1"/>
        </p:nvSpPr>
        <p:spPr>
          <a:xfrm flipH="1">
            <a:off x="489703" y="2089168"/>
            <a:ext cx="5747149" cy="709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본 템플릿에 제공되는 디자인 재산권은 </a:t>
            </a:r>
            <a:r>
              <a:rPr lang="ko-KR" altLang="en-US" sz="548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템인트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(quiethee8)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 소유하고 있습니다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어떠한 경우에도 </a:t>
            </a:r>
            <a:r>
              <a:rPr lang="ko-KR" altLang="en-US" sz="548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템인트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템플릿 및 디자인을 유료로 복제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판매하는 것은 금지하며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재배포를 금지합니다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b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본 프레젠테이션은 비영리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비상업적인 목적으로만 사용 가능합니다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또한 홍보 목적이 아닌 내부 자료로는 사용 가능합니다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b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상업적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영리적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홍보목적인 경우에는 구매 후 사용 가능합니다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상업적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영리목적일 시에는 블로그 혹은 메일로 연락 </a:t>
            </a:r>
            <a:r>
              <a:rPr lang="ko-KR" altLang="en-US" sz="548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주시길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바랍니다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이는 다운받는 블로그에도 기재되어 있으며 다운받고 사용시에 동의한 것으로 간주합니다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26E1EB96-6ED2-443B-ACE2-CF11854FC42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282227894"/>
              </p:ext>
            </p:extLst>
          </p:nvPr>
        </p:nvGraphicFramePr>
        <p:xfrm>
          <a:off x="489705" y="4615250"/>
          <a:ext cx="5878595" cy="42499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2775">
                  <a:extLst>
                    <a:ext uri="{9D8B030D-6E8A-4147-A177-3AD203B41FA5}">
                      <a16:colId xmlns:a16="http://schemas.microsoft.com/office/drawing/2014/main" val="3182386323"/>
                    </a:ext>
                  </a:extLst>
                </a:gridCol>
                <a:gridCol w="2622910">
                  <a:extLst>
                    <a:ext uri="{9D8B030D-6E8A-4147-A177-3AD203B41FA5}">
                      <a16:colId xmlns:a16="http://schemas.microsoft.com/office/drawing/2014/main" val="2510118193"/>
                    </a:ext>
                  </a:extLst>
                </a:gridCol>
                <a:gridCol w="2622910">
                  <a:extLst>
                    <a:ext uri="{9D8B030D-6E8A-4147-A177-3AD203B41FA5}">
                      <a16:colId xmlns:a16="http://schemas.microsoft.com/office/drawing/2014/main" val="579559814"/>
                    </a:ext>
                  </a:extLst>
                </a:gridCol>
              </a:tblGrid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분류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C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허용범위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C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사용금지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예시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170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C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2181525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학생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 과제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 내부 발표용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공모전 출품 금지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문의가능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]</a:t>
                      </a:r>
                      <a:endParaRPr lang="ko-KR" altLang="en-US" sz="170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952909"/>
                  </a:ext>
                </a:extLst>
              </a:tr>
              <a:tr h="9121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기업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내부자료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보안용 자료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대외용 발표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방송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행사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프로모션 등의 홍보자료 사용 금지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693132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 내부 강의자료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대외용 발표 자료 및 강의자료 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159216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기업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내부자료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보안용 자료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대외용 발표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방송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행사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프로모션 등 사용 금지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042118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기타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기타 사용 부분에는 문의 바랍니다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0319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222598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6133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8" r:id="rId14"/>
    <p:sldLayoutId id="2147483687" r:id="rId15"/>
    <p:sldLayoutId id="2147483686" r:id="rId16"/>
    <p:sldLayoutId id="2147483650" r:id="rId17"/>
    <p:sldLayoutId id="2147483654" r:id="rId18"/>
    <p:sldLayoutId id="2147483656" r:id="rId19"/>
    <p:sldLayoutId id="2147483655" r:id="rId20"/>
    <p:sldLayoutId id="2147483652" r:id="rId21"/>
  </p:sldLayoutIdLst>
  <p:hf hdr="0" ftr="0" dt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extBox 5">
            <a:extLst>
              <a:ext uri="{FF2B5EF4-FFF2-40B4-BE49-F238E27FC236}">
                <a16:creationId xmlns:a16="http://schemas.microsoft.com/office/drawing/2014/main" id="{5E46FF42-C36A-87C9-3A55-247FEA1EEF60}"/>
              </a:ext>
            </a:extLst>
          </p:cNvPr>
          <p:cNvSpPr txBox="1"/>
          <p:nvPr/>
        </p:nvSpPr>
        <p:spPr>
          <a:xfrm>
            <a:off x="2826170" y="1555100"/>
            <a:ext cx="3584636" cy="1632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t>제안요약서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>
                  <a:lumMod val="50000"/>
                </a:schemeClr>
              </a:solidFill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  <a:p>
            <a:pPr algn="r">
              <a:lnSpc>
                <a:spcPct val="150000"/>
              </a:lnSpc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AI 통합관제 데이터 연계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70C0"/>
              </a:solidFill>
              <a:latin typeface="a옛날사진관5" panose="02020600000000000000" pitchFamily="18" charset="-127"/>
              <a:ea typeface="a옛날사진관5" panose="02020600000000000000" pitchFamily="18" charset="-127"/>
            </a:endParaRPr>
          </a:p>
          <a:p>
            <a:pPr algn="r">
              <a:lnSpc>
                <a:spcPct val="150000"/>
              </a:lnSpc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및 중계환경 구축 용역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70C0"/>
              </a:solidFill>
              <a:latin typeface="a옛날사진관5" panose="02020600000000000000" pitchFamily="18" charset="-127"/>
              <a:ea typeface="a옛날사진관5" panose="02020600000000000000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AEF8EA-14B3-6E55-F0E1-066986D1E0FA}"/>
              </a:ext>
            </a:extLst>
          </p:cNvPr>
          <p:cNvSpPr txBox="1"/>
          <p:nvPr/>
        </p:nvSpPr>
        <p:spPr>
          <a:xfrm>
            <a:off x="4601846" y="3560894"/>
            <a:ext cx="17604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2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사업PM </a:t>
            </a:r>
            <a:r>
              <a:rPr lang="ko-KR" altLang="en-US" sz="1200" b="1">
                <a:solidFill>
                  <a:srgbClr val="E00000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【성명】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8C5FC7-1811-9A2D-3F96-29EC88554124}"/>
              </a:ext>
            </a:extLst>
          </p:cNvPr>
          <p:cNvSpPr txBox="1"/>
          <p:nvPr/>
        </p:nvSpPr>
        <p:spPr>
          <a:xfrm>
            <a:off x="3660241" y="4152781"/>
            <a:ext cx="2291653" cy="1177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30598" indent="-13059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t>제출기관: (주)에이치나인</a:t>
            </a:r>
          </a:p>
          <a:p>
            <a:pPr marL="130598" indent="-13059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t>발주기관: 해양경찰청 (정보통신과)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TextBox 16">
            <a:extLst>
              <a:ext uri="{FF2B5EF4-FFF2-40B4-BE49-F238E27FC236}">
                <a16:creationId xmlns:a16="http://schemas.microsoft.com/office/drawing/2014/main" id="{1ED316A1-3D0B-757D-AEF4-F34868C8FC6D}"/>
              </a:ext>
            </a:extLst>
          </p:cNvPr>
          <p:cNvSpPr txBox="1"/>
          <p:nvPr/>
        </p:nvSpPr>
        <p:spPr>
          <a:xfrm>
            <a:off x="963899" y="1892346"/>
            <a:ext cx="4179139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ko-KR" sz="28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70C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CONTENTS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27787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일반현황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26712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28933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26730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Ⅰ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31689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34735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전략 및 방법론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33660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35881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33678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Ⅱ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38637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41683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기술 및 기능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40608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42829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40626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Ⅲ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45585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48631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성능 및 테스트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47556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49777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47574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Ⅳ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52533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55579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프로젝트 관리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54504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56725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54522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Ⅴ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59481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62527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프로젝트 지원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61452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63673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61470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Ⅵ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66429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일반현황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Ⅰ.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입찰자 일반현황 및 수행실적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조직 및 업무분장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입찰자 일반현황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일반현황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회사 개요와 유사분야 수행실적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일반현황 및 유사실적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(AIOps·모니터링 실적 보유) 16년간 서비스 기획·개발·운영을 수행했고,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MES AI Agent 통합 관제(MOSAIC)·이상탐지 자동화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실적을 본 사업에 적용함 (→ Ⅰ-1~4)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1701984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33398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회사명 / 대표자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주식회사 에이치나인 (HNINE) / 최우식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설립 / 종사기간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2010년 4월 / 16년 6개월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임직원 129명 (특급 기술자 22명), 2025년 매출 111억 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입찰자격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1468 소프트웨어사업자, 직접생산확인(8111159901), 중소기업확인서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302400" y="4182384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2400" y="4167984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유사분야 수행실적 (① AIOps ② 통합 모니터링 ③ 데이터 연계·중계)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4491984"/>
          <a:ext cx="6260400" cy="1723922"/>
        </p:xfrm>
        <a:graphic>
          <a:graphicData uri="http://schemas.openxmlformats.org/drawingml/2006/table">
            <a:tbl>
              <a:tblPr firstRow="0" bandRow="0"/>
              <a:tblGrid>
                <a:gridCol w="3130200"/>
                <a:gridCol w="1330335"/>
                <a:gridCol w="1017315"/>
                <a:gridCol w="782550"/>
              </a:tblGrid>
              <a:tr h="33398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239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SKHy 제조 DT 시스템 (FAB MOS) — MES AI Agent 'MOSAIC' 3건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2026.03 ~ 06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①②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Trading AI Agent 개발 및 ML/DL 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2026.04 ~ 06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①③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39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SKHy 표준 아키텍처 구축 Ph1~Ph3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2024.12 ~ 2026.06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③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316800" y="6323907"/>
            <a:ext cx="2026800" cy="941173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16800" y="6323907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이상 탐지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800" y="6583107"/>
            <a:ext cx="1954800" cy="689173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운영 로그·지표 실시간 분석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→ FUN-003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33600" y="6323907"/>
            <a:ext cx="2026800" cy="941173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433600" y="6323907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원인 분석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69600" y="6583107"/>
            <a:ext cx="1954800" cy="689173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로그·지표 상관분석, 근거 제시형 응답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→ FUN-004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50400" y="6323907"/>
            <a:ext cx="2026800" cy="941173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50400" y="6323907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통합 관제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86400" y="6583107"/>
            <a:ext cx="1954800" cy="689173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실행 이력·지표 통합 모니터링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→ FUN-001·002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80800" y="7409080"/>
            <a:ext cx="6332400" cy="342135"/>
          </a:xfrm>
          <a:prstGeom prst="roundRect">
            <a:avLst>
              <a:gd name="adj" fmla="val 6000"/>
            </a:avLst>
          </a:prstGeom>
          <a:solidFill>
            <a:srgbClr val="FFF4E5"/>
          </a:solidFill>
          <a:ln w="12700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평가 포인트: AIOps·통합 모니터링·데이터 연계 3개 유사분야 실적 모두 보유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Ⅰ-1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입찰자의 조직 및 업무분장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일반현황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수행조직 · 참여 형태 · 비상연락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수행조직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(단일 창구 · 단독 수행) 통합 PM이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3자 협의체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(발주기관·본 사업자·분리발주 공급자)를 운영하고, 하도급 없이 자사 인력으로 수행함 (→ Ⅰ-5~6)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PMR-001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6260400" cy="468000"/>
          </a:xfrm>
          <a:prstGeom prst="rect">
            <a:avLst/>
          </a:prstGeom>
          <a:solidFill>
            <a:srgbClr val="1C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1044000" cy="46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발주기관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432800" y="2430000"/>
            <a:ext cx="2500200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해양경찰청 정보통신과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987000" y="2430000"/>
            <a:ext cx="2500200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운영 담당 부서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6800" y="2890800"/>
            <a:ext cx="6260400" cy="468000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4800" y="2890800"/>
            <a:ext cx="1044000" cy="46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협의체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432800" y="2962799"/>
            <a:ext cx="5054400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3자 협의체 — 주 1회 + 수시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6800" y="3423600"/>
            <a:ext cx="6260400" cy="468000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4800" y="3423600"/>
            <a:ext cx="1044000" cy="46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사업관리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432800" y="3495599"/>
            <a:ext cx="1648800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사업관리자(PM)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135600" y="3495599"/>
            <a:ext cx="1648800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품질보증(QA)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838400" y="3495599"/>
            <a:ext cx="1648800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정보보안담당자(정·부)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3956399"/>
            <a:ext cx="6260400" cy="468000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4800" y="3956399"/>
            <a:ext cx="1044000" cy="46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수행 파트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432800" y="4028399"/>
            <a:ext cx="1223100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솔루션 연동·관제 화면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709900" y="4028399"/>
            <a:ext cx="1223100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데이터 중계 개발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987000" y="4028399"/>
            <a:ext cx="1223100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AI 분석 환경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264100" y="4028399"/>
            <a:ext cx="1223100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시험·운영 이관</a:t>
            </a:r>
          </a:p>
        </p:txBody>
      </p:sp>
      <p:graphicFrame>
        <p:nvGraphicFramePr>
          <p:cNvPr id="49" name="Table 48"/>
          <p:cNvGraphicFramePr>
            <a:graphicFrameLocks noGrp="1"/>
          </p:cNvGraphicFramePr>
          <p:nvPr/>
        </p:nvGraphicFramePr>
        <p:xfrm>
          <a:off x="316800" y="4561200"/>
          <a:ext cx="6260400" cy="1359984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33398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참여 형태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중소기업 단독 참여, 하도급 없음 (전원 자사 인력)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비상연락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 24시간 연락, 긴급 장애 1시간 내 원격 확인 · 4시간 내 현장 출동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 영향 작업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작업 장애 발생 시 즉시 보고·사업자 책임 복구 (ECR-001)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" name="Rectangle 49"/>
          <p:cNvSpPr/>
          <p:nvPr/>
        </p:nvSpPr>
        <p:spPr>
          <a:xfrm>
            <a:off x="302400" y="6043584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92400" y="6029184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주요 산출물</a:t>
            </a:r>
          </a:p>
        </p:txBody>
      </p:sp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316800" y="6353184"/>
          <a:ext cx="6260400" cy="667724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32572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프로젝트 조직도, 업무 분장표, 비상 연락망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3" name="Rounded Rectangle 52"/>
          <p:cNvSpPr/>
          <p:nvPr/>
        </p:nvSpPr>
        <p:spPr>
          <a:xfrm>
            <a:off x="280800" y="7128908"/>
            <a:ext cx="6332400" cy="342135"/>
          </a:xfrm>
          <a:prstGeom prst="roundRect">
            <a:avLst>
              <a:gd name="adj" fmla="val 6000"/>
            </a:avLst>
          </a:prstGeom>
          <a:solidFill>
            <a:srgbClr val="FFF4E5"/>
          </a:solidFill>
          <a:ln w="12700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평가 포인트: 중소기업 단독 참여(상생협력 만점) · 하도급 없음 · 통합 PM 단일 창구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Ⅰ-2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전략 및 방법론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Ⅱ.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사업 이해도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추진전략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적용기술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사업 이해도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업무 특성 · 범위 · 목표시스템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사업 이해와 목표시스템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(생명과 직결된 무중단) 긴급신고·해상구조 시스템 76식과 타 관제시스템 2종을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수집·중계 → AI 분석 → 통합 관제·알람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으로 잇는 예측형 관제체계를 구축함 (→ Ⅱ-1~3)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ECR-001, ECR-002, ECR-003, FUN-005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4874400" cy="558000"/>
          </a:xfrm>
          <a:prstGeom prst="rect">
            <a:avLst/>
          </a:prstGeom>
          <a:solidFill>
            <a:srgbClr val="1C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1044000" cy="55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관제 대상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432800" y="2430000"/>
            <a:ext cx="69048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통합신고처리 34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177280" y="2430000"/>
            <a:ext cx="69048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통합상황관리 17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921760" y="2430000"/>
            <a:ext cx="69048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원거리추적 10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66240" y="2430000"/>
            <a:ext cx="69048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상황공유 11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10720" y="2430000"/>
            <a:ext cx="69048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항공기위치 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81200" y="2358000"/>
            <a:ext cx="1296000" cy="55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서버 50·DB 9·WAS/WEB 17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6800" y="2980800"/>
            <a:ext cx="4874400" cy="558000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4800" y="2980800"/>
            <a:ext cx="1044000" cy="55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수집·중계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432800" y="3052799"/>
            <a:ext cx="1807199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통합 모니터링 솔루션 (분리발주)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294000" y="3052799"/>
            <a:ext cx="1807199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462DA"/>
                </a:solidFill>
                <a:latin typeface="맑은 고딕"/>
                <a:ea typeface="맑은 고딕"/>
                <a:cs typeface="맑은 고딕"/>
              </a:rPr>
              <a:t>데이터 중계 기능</a:t>
            </a: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 (본 사업 개발)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81200" y="2980800"/>
            <a:ext cx="1296000" cy="55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타 관제시스템 2종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6800" y="3603600"/>
            <a:ext cx="4874400" cy="558000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4800" y="3603600"/>
            <a:ext cx="1044000" cy="55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분석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432800" y="3675599"/>
            <a:ext cx="11868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AIOps 솔루션 (분리발주)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673600" y="3675599"/>
            <a:ext cx="11868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462DA"/>
                </a:solidFill>
                <a:latin typeface="맑은 고딕"/>
                <a:ea typeface="맑은 고딕"/>
                <a:cs typeface="맑은 고딕"/>
              </a:rPr>
              <a:t>AI 분석 엔진</a:t>
            </a: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 구성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914400" y="3675599"/>
            <a:ext cx="11868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LLM 분석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281200" y="3603600"/>
            <a:ext cx="1296000" cy="55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이상탐지·예측·RCA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6800" y="4226399"/>
            <a:ext cx="4874400" cy="558000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4800" y="4226399"/>
            <a:ext cx="1044000" cy="55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관제·전파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432800" y="4298399"/>
            <a:ext cx="11868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통합 관제 화면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673600" y="4298399"/>
            <a:ext cx="11868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이벤트·알람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914400" y="4298399"/>
            <a:ext cx="11868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성능 리포트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281200" y="4226399"/>
            <a:ext cx="1296000" cy="55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기관 SMS·메일</a:t>
            </a:r>
          </a:p>
        </p:txBody>
      </p:sp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316800" y="4921200"/>
          <a:ext cx="6260400" cy="1381922"/>
        </p:xfrm>
        <a:graphic>
          <a:graphicData uri="http://schemas.openxmlformats.org/drawingml/2006/table">
            <a:tbl>
              <a:tblPr firstRow="0" bandRow="0"/>
              <a:tblGrid>
                <a:gridCol w="1252080"/>
                <a:gridCol w="2895435"/>
                <a:gridCol w="2112885"/>
              </a:tblGrid>
              <a:tr h="33398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 형태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범위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 사업자 책임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239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통합구축 (본 사업)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분석 엔진 구축, 데이터 중계 개발, 관제 화면·연동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개발·구축·연동 결과 전체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39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분리발주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 모니터링·AIOps 솔루션, 서버 자원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연동·구성 결과 (설치·라이선스 제외)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7" name="Rectangle 56"/>
          <p:cNvSpPr/>
          <p:nvPr/>
        </p:nvSpPr>
        <p:spPr>
          <a:xfrm>
            <a:off x="302400" y="6425523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2400" y="6411123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주요 산출물</a:t>
            </a:r>
          </a:p>
        </p:txBody>
      </p:sp>
      <p:graphicFrame>
        <p:nvGraphicFramePr>
          <p:cNvPr id="59" name="Table 58"/>
          <p:cNvGraphicFramePr>
            <a:graphicFrameLocks noGrp="1"/>
          </p:cNvGraphicFramePr>
          <p:nvPr/>
        </p:nvGraphicFramePr>
        <p:xfrm>
          <a:off x="316800" y="6735123"/>
          <a:ext cx="6260400" cy="1351724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32572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ECR-001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사업수행 계획서, 시스템 구성도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ECR-002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연동 설계서, 연동 시험 결과서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ECR-003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분석 환경 구축 결과서, AI 분석 모델 설계서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0" name="Rounded Rectangle 59"/>
          <p:cNvSpPr/>
          <p:nvPr/>
        </p:nvSpPr>
        <p:spPr>
          <a:xfrm>
            <a:off x="280800" y="8194847"/>
            <a:ext cx="6332400" cy="522271"/>
          </a:xfrm>
          <a:prstGeom prst="roundRect">
            <a:avLst>
              <a:gd name="adj" fmla="val 6000"/>
            </a:avLst>
          </a:prstGeom>
          <a:solidFill>
            <a:srgbClr val="FFF4E5"/>
          </a:solidFill>
          <a:ln w="12700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평가 포인트: 별도 개발은 데이터 중계로 한정하고, 나머지는 솔루션 구성으로 구축하여 범위·책임을 명확히 함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Ⅱ-1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추진전략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제안의 특징과 무중단·위험 대응 전략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추진전략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(제품 비특정 · 무중단 · 선행 수행) 솔루션 미정·설치 지연·운영 중 시스템이라는 제약을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표준 어댑터, 단계 적용, 설치 전 과업 선행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으로 해소함 (→ Ⅱ-4~7)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ECR-001, COR-001, COR-003, PMR-002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2026800" cy="941173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16800" y="2358000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① 제품 비특정 연동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800" y="2617200"/>
            <a:ext cx="1954800" cy="689173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REST·Syslog·SNMP 등 표준 어댑터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제품 확정 후 선택 적용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33600" y="2358000"/>
            <a:ext cx="2026800" cy="941173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433600" y="2358000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② 무유실 이중화 중계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69600" y="2617200"/>
            <a:ext cx="1954800" cy="689173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영속 버퍼·재전송·중복 제거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10초 내 자동 절체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50400" y="2358000"/>
            <a:ext cx="2026800" cy="941173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50400" y="2358000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③ 무중단 단계 적용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86400" y="2617200"/>
            <a:ext cx="1954800" cy="689173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비핵심 → 핵심 시스템 순서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수집 부하 CPU 5% 이내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2400" y="3457573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2400" y="3443173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주요 위험과 대응</a:t>
            </a:r>
          </a:p>
        </p:txBody>
      </p: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316800" y="3767173"/>
          <a:ext cx="6260400" cy="2065922"/>
        </p:xfrm>
        <a:graphic>
          <a:graphicData uri="http://schemas.openxmlformats.org/drawingml/2006/table">
            <a:tbl>
              <a:tblPr firstRow="0" bandRow="0"/>
              <a:tblGrid>
                <a:gridCol w="1721610"/>
                <a:gridCol w="4538790"/>
              </a:tblGrid>
              <a:tr h="33398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239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솔루션 납품·설치 지연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설치 전 연동 설계·중계 프로토타입 선행, 통보일 기준 계약기간 연장 (COR-003)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39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정보·GPU 자원 미제공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 시 확인 요청, 샘플 데이터 검증, 자원 수준별 LLM 구성안 3종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 서비스 영향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작업 사전 승인, 신고량 최저 시간대 작업, 10분 내 롤백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 절차 지연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투입 전 신원조회·보안서약 조기 진행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3" name="Rectangle 42"/>
          <p:cNvSpPr/>
          <p:nvPr/>
        </p:nvSpPr>
        <p:spPr>
          <a:xfrm>
            <a:off x="302400" y="5955496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2400" y="5941096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주요 산출물</a:t>
            </a:r>
          </a:p>
        </p:txBody>
      </p:sp>
      <p:graphicFrame>
        <p:nvGraphicFramePr>
          <p:cNvPr id="45" name="Table 44"/>
          <p:cNvGraphicFramePr>
            <a:graphicFrameLocks noGrp="1"/>
          </p:cNvGraphicFramePr>
          <p:nvPr/>
        </p:nvGraphicFramePr>
        <p:xfrm>
          <a:off x="316800" y="6265096"/>
          <a:ext cx="6260400" cy="1351724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32572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작업 계획서, 출입 명단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COR-003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 일정 계획서, WBS, 지연 사유 보고서(해당 시)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PMR-002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주간 진척 보고서, 이슈 관리대장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6" name="Rounded Rectangle 45"/>
          <p:cNvSpPr/>
          <p:nvPr/>
        </p:nvSpPr>
        <p:spPr>
          <a:xfrm>
            <a:off x="280800" y="7724820"/>
            <a:ext cx="6332400" cy="342135"/>
          </a:xfrm>
          <a:prstGeom prst="roundRect">
            <a:avLst>
              <a:gd name="adj" fmla="val 6000"/>
            </a:avLst>
          </a:prstGeom>
          <a:solidFill>
            <a:srgbClr val="FFF4E5"/>
          </a:solidFill>
          <a:ln w="12700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평가 포인트: 솔루션 설치가 늦어져도 설계·시험본을 먼저 진행하여 70일 일정을 지킴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Ⅱ-2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적용기술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3.1.1 AIOps · 이기종 지원 · 개발 방법론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3.1 적용기술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(검증된 표준 기술) AIOps 솔루션 위에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이상탐지·부하예측·희소로그·RCA/LLM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구성하고, 중계 기능은 전자정부 표준프레임워크로 개발함 (→ Ⅱ-8~11)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FUN-003, FUN-004, ECR-002, COR-002, PMR-003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247891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33398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 기술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239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AIOps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동적 기준선 이상탐지, 지표별 부하 예측, 로그 템플릿 기반 희소로그 탐지, 연관 지표 RCA, 근거 기반 LLM 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39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이기종 수집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다중 OS · Oracle 8 · PostgreSQL 1 · WAS/WEB 17 지표를 동일 체계로 정규화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39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중계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전자정부 표준프레임워크(Spring Boot), 영속 버퍼(WAL), Active-Standby + VRRP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내부망 LLM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GPU 제공 / CPU만 / 솔루션 내장 모델 — 제공 자원별 구성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316800" y="4713892"/>
            <a:ext cx="116568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>
            <a:off x="316800" y="4713892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분석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5001892"/>
            <a:ext cx="109368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대상·항목·주기 확정</a:t>
            </a:r>
          </a:p>
        </p:txBody>
      </p:sp>
      <p:sp>
        <p:nvSpPr>
          <p:cNvPr id="35" name="Isosceles Triangle 34"/>
          <p:cNvSpPr/>
          <p:nvPr/>
        </p:nvSpPr>
        <p:spPr>
          <a:xfrm rot="5400000">
            <a:off x="1493280" y="5093692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590480" y="4713892"/>
            <a:ext cx="116568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1590480" y="4713892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설계·시험본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26480" y="5001892"/>
            <a:ext cx="109368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설치 전 중계 시험본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2766960" y="5093692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864160" y="4713892"/>
            <a:ext cx="116568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>
            <a:off x="2864160" y="4713892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00160" y="5001892"/>
            <a:ext cx="109368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연동·중계·학습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4040640" y="5093692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137840" y="4713892"/>
            <a:ext cx="116568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>
            <a:off x="4137840" y="4713892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73840" y="5001892"/>
            <a:ext cx="109368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통합·성능·72시간</a:t>
            </a:r>
          </a:p>
        </p:txBody>
      </p:sp>
      <p:sp>
        <p:nvSpPr>
          <p:cNvPr id="47" name="Isosceles Triangle 46"/>
          <p:cNvSpPr/>
          <p:nvPr/>
        </p:nvSpPr>
        <p:spPr>
          <a:xfrm rot="5400000">
            <a:off x="5314320" y="5093692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411520" y="4713892"/>
            <a:ext cx="116568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>
            <a:off x="5411520" y="4713892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7520" y="5001892"/>
            <a:ext cx="109368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교육·검사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02400" y="5700292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92400" y="5685892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주요 산출물</a:t>
            </a:r>
          </a:p>
        </p:txBody>
      </p:sp>
      <p:graphicFrame>
        <p:nvGraphicFramePr>
          <p:cNvPr id="53" name="Table 52"/>
          <p:cNvGraphicFramePr>
            <a:graphicFrameLocks noGrp="1"/>
          </p:cNvGraphicFramePr>
          <p:nvPr/>
        </p:nvGraphicFramePr>
        <p:xfrm>
          <a:off x="316800" y="6009892"/>
          <a:ext cx="6260400" cy="1351724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32572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FUN-003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이상 탐지·예측 설정 내역서, 시험 결과서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FUN-004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원인 분석 결과 시험 결과서, 리포트 양식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COR-002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기술적용계획·결과표, 오픈소스 라이선스 정책서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4" name="Rounded Rectangle 53"/>
          <p:cNvSpPr/>
          <p:nvPr/>
        </p:nvSpPr>
        <p:spPr>
          <a:xfrm>
            <a:off x="280800" y="7469616"/>
            <a:ext cx="6332400" cy="342135"/>
          </a:xfrm>
          <a:prstGeom prst="roundRect">
            <a:avLst>
              <a:gd name="adj" fmla="val 6000"/>
            </a:avLst>
          </a:prstGeom>
          <a:solidFill>
            <a:srgbClr val="FFF4E5"/>
          </a:solidFill>
          <a:ln w="12700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평가 포인트: GPU 제공 여부와 관계없이 동작하는 내부망 LLM 구성안 3종 제시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Ⅱ-3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기술 및 기능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Ⅲ.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시스템구성 및 기능 요구사항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인터페이스 및 데이터 요구사항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보안 요구사항 및 제약사항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시스템구성 및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요구사항별 구현 방안 요약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시스템구성 · 기능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(솔루션 기능 우선 구성) 관제 화면·알람·AI 분석은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솔루션 기능으로 구성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별도 개발은 데이터 중계 기능으로 한정함 (→ Ⅲ-1~7)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ECR-001, ECR-002, ECR-003, FUN-001, FUN-002, FUN-003, FUN-004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3477798"/>
        </p:xfrm>
        <a:graphic>
          <a:graphicData uri="http://schemas.openxmlformats.org/drawingml/2006/table">
            <a:tbl>
              <a:tblPr firstRow="0" bandRow="0"/>
              <a:tblGrid>
                <a:gridCol w="1486844"/>
                <a:gridCol w="4773555"/>
              </a:tblGrid>
              <a:tr h="33398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239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ECR-002 모니터링 연동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76식 전수 연동, 대상·항목·주기 착수 시 문서화, 대상별 연동 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39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ECR-003 분석 환경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최소 2주 데이터로 초기 모델, 안정화 중 주 1회 재학습, 내부망 전용 구성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39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FUN-001 관제 화면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 대시보드 · 토폴로지 뷰 · 타임라인 · 시스템별 상세 (HTML5 웹)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39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FUN-002 이벤트·알람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4단계 심각도, 복합 지표·미수집 알람, 기관 SMS·메일 연동, 연쇄 알람 묶음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39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FUN-003 이상탐지·예측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WAS·DB·System 부하 예측·이상징후, 희소로그 탐지, 재학습 매뉴얼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39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FUN-004 원인 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연관 지표 RCA 후보, 근거 표시 LLM 원인 설명·조치 가이드·챗봇, 일·주·월 리포트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02400" y="5958199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2400" y="5943799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주요 산출물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16800" y="6267799"/>
          <a:ext cx="6260400" cy="1351724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32572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FUN-001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설계서, 화면 구성 결과서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FUN-002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알람 정책 정의서, 알람 발송 시험 결과서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FUN-004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리포트 산출 결과물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Rounded Rectangle 34"/>
          <p:cNvSpPr/>
          <p:nvPr/>
        </p:nvSpPr>
        <p:spPr>
          <a:xfrm>
            <a:off x="280800" y="7727524"/>
            <a:ext cx="6332400" cy="342135"/>
          </a:xfrm>
          <a:prstGeom prst="roundRect">
            <a:avLst>
              <a:gd name="adj" fmla="val 6000"/>
            </a:avLst>
          </a:prstGeom>
          <a:solidFill>
            <a:srgbClr val="FFF4E5"/>
          </a:solidFill>
          <a:ln w="12700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평가 포인트: LLM 응답에 근거 지표·로그·시점을 함께 표시하고, 조치는 운영자 확인 후 실행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Ⅲ-1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시스템구성 및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1.2.1 데이터 중계 기능 구조와 이중화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1.2 데이터 중계 기능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(본 사업 개발 핵심) 타 관제시스템 2종 데이터를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수신 → 정규화 → 영속 버퍼 → AIOps 제공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2계통 이중화로 10초 내 자동 절체·유실 0건을 보장함 (→ Ⅲ-8~9)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FUN-005, QUR-001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5162400" cy="558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864000" cy="55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① 수신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34800" y="2430000"/>
            <a:ext cx="7200" cy="413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324800" y="2466000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프로토콜별 수신 어댑터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46999" y="2466000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TLS 수신·인증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69200" y="2358000"/>
            <a:ext cx="1007999" cy="558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타 관제 2종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2988000"/>
            <a:ext cx="5162400" cy="558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4800" y="2988000"/>
            <a:ext cx="864000" cy="55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② 정규화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34800" y="3060000"/>
            <a:ext cx="7200" cy="413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324800" y="3096000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분석 대상 선별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46999" y="3096000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표준 스키마 변환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69200" y="2988000"/>
            <a:ext cx="1007999" cy="558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표준 정의서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3618000"/>
            <a:ext cx="5162400" cy="558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4800" y="3618000"/>
            <a:ext cx="864000" cy="55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③ 전달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34800" y="3690000"/>
            <a:ext cx="7200" cy="413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324800" y="3726000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영속 버퍼·재시도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46999" y="3726000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멱등 키 중복 제거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69200" y="3618000"/>
            <a:ext cx="1007999" cy="558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AIOps</a:t>
            </a:r>
          </a:p>
        </p:txBody>
      </p:sp>
      <p:graphicFrame>
        <p:nvGraphicFramePr>
          <p:cNvPr id="49" name="Table 48"/>
          <p:cNvGraphicFramePr>
            <a:graphicFrameLocks noGrp="1"/>
          </p:cNvGraphicFramePr>
          <p:nvPr/>
        </p:nvGraphicFramePr>
        <p:xfrm>
          <a:off x="316800" y="4302000"/>
          <a:ext cx="6260400" cy="1359984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3364965"/>
                <a:gridCol w="1565100"/>
              </a:tblGrid>
              <a:tr h="33398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이중화 구간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처리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 감지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헬스체크 1초 주기, 3회 연속 실패 시 판정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3초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절체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가상 IP(VRRP)를 대기 계통으로 이동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10초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절체 구간 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재전송 + 계통별 버퍼 + 중복 제거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유실 0건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" name="Rectangle 49"/>
          <p:cNvSpPr/>
          <p:nvPr/>
        </p:nvSpPr>
        <p:spPr>
          <a:xfrm>
            <a:off x="302400" y="5784384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92400" y="5769984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주요 산출물</a:t>
            </a:r>
          </a:p>
        </p:txBody>
      </p:sp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316800" y="6093984"/>
          <a:ext cx="6260400" cy="1009724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32572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FUN-005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중계 기능 설계서, 인터페이스 정의서, 시험 결과서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QUR-001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구성도(이중화), 사업수행계획서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3" name="Rounded Rectangle 52"/>
          <p:cNvSpPr/>
          <p:nvPr/>
        </p:nvSpPr>
        <p:spPr>
          <a:xfrm>
            <a:off x="280800" y="7211709"/>
            <a:ext cx="6332400" cy="342135"/>
          </a:xfrm>
          <a:prstGeom prst="roundRect">
            <a:avLst>
              <a:gd name="adj" fmla="val 6000"/>
            </a:avLst>
          </a:prstGeom>
          <a:solidFill>
            <a:srgbClr val="FFF4E5"/>
          </a:solidFill>
          <a:ln w="12700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평가 포인트: 수동 개입 없는 절체 + 절체 구간 데이터 무유실 — RFP 최소 요건 이상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Ⅲ-2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인터페이스 및 데이터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연동 인터페이스 · 정합성 · 데이터 보관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인터페이스 · 데이터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(장애에도 자동 재개 · 검증 가능한 정합성) 전 구간 암호화·재시도를 적용하고,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2개 구간 연속 8시간 전 건 대조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로 누락·중복 0건을 검증함 (→ Ⅲ-10~12)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SIR-001, SIR-002, DAR-001, DAR-002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2247891"/>
        </p:xfrm>
        <a:graphic>
          <a:graphicData uri="http://schemas.openxmlformats.org/drawingml/2006/table">
            <a:tbl>
              <a:tblPr firstRow="0" bandRow="0"/>
              <a:tblGrid>
                <a:gridCol w="1486844"/>
                <a:gridCol w="4773555"/>
              </a:tblGrid>
              <a:tr h="33398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SIR-001 공통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TLS 1.2+ 상호 인증, 최대 5회 지수 백오프 재시도, 처리 이력 조회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39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SIR-002 솔루션 연동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 인터페이스 활용, 솔루션 장애 시 버퍼링 후 자동 재개, 미제공 항목은 기록·보고·검사 유예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39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DAR-001 정합성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타 관제→중계, 중계→AI 엔진 2구간, 건수·시점·주요 값 대조, 불일치 시 재전송 보정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39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DAR-002 보관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원천 3개월 · 마트 6개월 · 단기 결과 3개월 · 장기 통계 1년↑, 예상 약 380GB + 로그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316800" y="4713892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>
            <a:off x="316800" y="4713892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계획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5001892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시간대·표본 확정</a:t>
            </a:r>
          </a:p>
        </p:txBody>
      </p:sp>
      <p:sp>
        <p:nvSpPr>
          <p:cNvPr id="35" name="Isosceles Triangle 34"/>
          <p:cNvSpPr/>
          <p:nvPr/>
        </p:nvSpPr>
        <p:spPr>
          <a:xfrm rot="5400000">
            <a:off x="1811700" y="5093692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908900" y="4713892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1908900" y="4713892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4900" y="5001892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연속 8시간↑ 전 건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3403800" y="5093692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501000" y="4713892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>
            <a:off x="3501000" y="4713892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37000" y="5001892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누락·중복 확인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4995900" y="5093692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093100" y="4713892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>
            <a:off x="5093100" y="4713892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29100" y="5001892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최종 건수 일치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02400" y="5700292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92400" y="5685892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주요 산출물</a:t>
            </a:r>
          </a:p>
        </p:txBody>
      </p:sp>
      <p:graphicFrame>
        <p:nvGraphicFramePr>
          <p:cNvPr id="49" name="Table 48"/>
          <p:cNvGraphicFramePr>
            <a:graphicFrameLocks noGrp="1"/>
          </p:cNvGraphicFramePr>
          <p:nvPr/>
        </p:nvGraphicFramePr>
        <p:xfrm>
          <a:off x="316800" y="6009892"/>
          <a:ext cx="6260400" cy="1351724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32572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SIR-001·002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인터페이스 정의서, 연동 설계서, 처리 이력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DAR-001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표준 정의서, 정합성 검증 계획서·결과서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DAR-002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관리 계획서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" name="Rounded Rectangle 49"/>
          <p:cNvSpPr/>
          <p:nvPr/>
        </p:nvSpPr>
        <p:spPr>
          <a:xfrm>
            <a:off x="280800" y="7469616"/>
            <a:ext cx="6332400" cy="342135"/>
          </a:xfrm>
          <a:prstGeom prst="roundRect">
            <a:avLst>
              <a:gd name="adj" fmla="val 6000"/>
            </a:avLst>
          </a:prstGeom>
          <a:solidFill>
            <a:srgbClr val="FFF4E5"/>
          </a:solidFill>
          <a:ln w="12700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평가 포인트: 솔루션 장애·변경에도 본 사업 기능은 멈추지 않고 복구 후 자동 재개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Ⅲ-3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보안 요구사항 및 제약사항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3.1.1 보안 요구사항 및 제약사항 대응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3.1 보안 · 제약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(설계부터 검증까지) 기술적 보안은 설계서 반영·보안약점 진단으로 검증하고, 관리·물리·매체 보안과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업무시간·기술·70일 일정 제약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함께 관리함 (→ Ⅲ-13~15)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SER-001, SER-002, SER-003, SER-004, SER-005, SER-006, SER-007, SER-008, SER-009, COR-001, COR-002, COR-003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2429860"/>
        </p:xfrm>
        <a:graphic>
          <a:graphicData uri="http://schemas.openxmlformats.org/drawingml/2006/table">
            <a:tbl>
              <a:tblPr firstRow="0" bandRow="0"/>
              <a:tblGrid>
                <a:gridCol w="1486844"/>
                <a:gridCol w="4773555"/>
              </a:tblGrid>
              <a:tr h="33398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대응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239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기술적 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 기반 권한·5회 잠금·세션 30분, SW 개발보안 가이드·보안약점 진단, 로그 위변조 방지 (SER-002·003·009)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39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관리·물리·매체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신원조회·보안서약·월 1회 교육, 출입통제, USB 포트락·무선 불능화, 상용 이메일 금지 (SER-001·004~007)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39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특수 조건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비인가 프로그램·약점 방치 금지 확약, 누출금지 정보 보안관리계획 사전 제출 (SER-008)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39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제약사항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작업 사전 승인·지정 장소, 다중 OS·DB 호환·오픈소스 라이선스, 착수보고 2주 내·통보일 기준 70일 (COR-001~003)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02400" y="4910261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2400" y="4895861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주요 산출물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16800" y="5219861"/>
          <a:ext cx="6260400" cy="1693724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32572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SER-001·004·005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보안서약서, 보안관리계획서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SER-003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보안약점 진단·조치 결과서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SER-006·007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보안관리대장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SER-009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로그·감사 정책서, 사고 대응 매뉴얼, 로그 분석 리포트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Rounded Rectangle 34"/>
          <p:cNvSpPr/>
          <p:nvPr/>
        </p:nvSpPr>
        <p:spPr>
          <a:xfrm>
            <a:off x="280800" y="7021585"/>
            <a:ext cx="6332400" cy="342135"/>
          </a:xfrm>
          <a:prstGeom prst="roundRect">
            <a:avLst>
              <a:gd name="adj" fmla="val 6000"/>
            </a:avLst>
          </a:prstGeom>
          <a:solidFill>
            <a:srgbClr val="FFF4E5"/>
          </a:solidFill>
          <a:ln w="12700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평가 포인트: 별표 4 보안 준수사항 전 항목 이행, 정보보안담당자 일 1회 자체 점검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Ⅲ-4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992060" y="1498812"/>
            <a:ext cx="4550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성능 및 테스트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Ⅳ.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성능 및 품질 요구사항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테스트 요구사항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성능 및 품질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성능 및 테스트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정량 성능 목표와 가용성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성능 · 품질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(계약 시 확정 · 검증 대상) 관제 화면·알람·동시 사용자·중계·수집 부하 목표를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정량으로 제시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관제 장애가 업무 시스템에 전파되지 않게 분리함 (→ Ⅳ-1~3)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PER-001, QUR-001, QUR-002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385984"/>
        </p:xfrm>
        <a:graphic>
          <a:graphicData uri="http://schemas.openxmlformats.org/drawingml/2006/table">
            <a:tbl>
              <a:tblPr firstRow="0" bandRow="0"/>
              <a:tblGrid>
                <a:gridCol w="2738925"/>
                <a:gridCol w="3521475"/>
              </a:tblGrid>
              <a:tr h="33398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 관제 화면 조회 응답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3초 이내 (95%)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이벤트 → 알람 발송 완료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60초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동시 사용자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중계 정규화·제공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다음 수신 주기 이전 (1분 주기 기준 10초 이내)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중계 절체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10초 이내, 유실 0건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 부하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 시스템 CPU 5%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280800" y="4851984"/>
            <a:ext cx="6332400" cy="1356480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" y="4887984"/>
            <a:ext cx="6224400" cy="1320480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(가용성) 중계 2계통 이중화, 에이전트 자원 상한, 비동기 연동으로 관제 장애의 업무 전파 차단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(유지관리) 설정·화면 편집·알람 정책·재학습·중계 대상 추가 절차를 운영자 매뉴얼로 제공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2400" y="6312864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2400" y="6298464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주요 산출물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316800" y="6622464"/>
          <a:ext cx="6260400" cy="1009724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32572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PER-001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목표 협의 결과서, 성능 시험 계획서·결과서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QUR-002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운영자 매뉴얼, 인수인계서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" name="Rounded Rectangle 36"/>
          <p:cNvSpPr/>
          <p:nvPr/>
        </p:nvSpPr>
        <p:spPr>
          <a:xfrm>
            <a:off x="280800" y="7740188"/>
            <a:ext cx="6332400" cy="342135"/>
          </a:xfrm>
          <a:prstGeom prst="roundRect">
            <a:avLst>
              <a:gd name="adj" fmla="val 6000"/>
            </a:avLst>
          </a:prstGeom>
          <a:solidFill>
            <a:srgbClr val="FFF4E5"/>
          </a:solidFill>
          <a:ln w="12700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평가 포인트: 모든 성능 목표에 측정 조건·방법·도구를 명시하여 계약 시 그대로 검증 가능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Ⅳ-1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테스트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성능 및 테스트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통합 시험 · 72시간 확인 · 인수 시험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테스트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(검사 자료가 되는 시험) 운영 환경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연속 72시간 무중단 정상 동작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확인하고, 36개 요구사항을 적합·부적합·조건부 적합으로 판정함 (→ Ⅳ-4~5)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TER-001, TER-002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6800" y="2358000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>
            <a:off x="316800" y="235800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통합 시험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800" y="2646000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수집·정합성·화면·알람·성능</a:t>
            </a:r>
          </a:p>
        </p:txBody>
      </p:sp>
      <p:sp>
        <p:nvSpPr>
          <p:cNvPr id="34" name="Isosceles Triangle 33"/>
          <p:cNvSpPr/>
          <p:nvPr/>
        </p:nvSpPr>
        <p:spPr>
          <a:xfrm rot="5400000">
            <a:off x="1811700" y="2737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908900" y="2358000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>
            <a:off x="1908900" y="235800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72시간 확인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4900" y="2646000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업무시간 포함 연속 동작</a:t>
            </a:r>
          </a:p>
        </p:txBody>
      </p:sp>
      <p:sp>
        <p:nvSpPr>
          <p:cNvPr id="38" name="Isosceles Triangle 37"/>
          <p:cNvSpPr/>
          <p:nvPr/>
        </p:nvSpPr>
        <p:spPr>
          <a:xfrm rot="5400000">
            <a:off x="3403800" y="2737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501000" y="2358000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>
            <a:off x="3501000" y="235800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인수 시험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37000" y="2646000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요구사항별 판정</a:t>
            </a:r>
          </a:p>
        </p:txBody>
      </p:sp>
      <p:sp>
        <p:nvSpPr>
          <p:cNvPr id="42" name="Isosceles Triangle 41"/>
          <p:cNvSpPr/>
          <p:nvPr/>
        </p:nvSpPr>
        <p:spPr>
          <a:xfrm rot="5400000">
            <a:off x="4995900" y="2737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093100" y="2358000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>
            <a:off x="5093100" y="235800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검사 요청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29100" y="2646000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결과서·추적표 제출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80800" y="3330000"/>
            <a:ext cx="6332400" cy="1356480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4800" y="3366000"/>
            <a:ext cx="6224400" cy="1320480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(긴급신고 영향 최소화) 협의된 시간대에 시험하고, 시험 이벤트는 '시험' 표시로 실제 알람과 구분함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(조건부 적합) 원인이 분리발주 솔루션이면 추적표에 원인·조치 주체·재시험 시점을 기록하고 조치 후 재시험함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2400" y="479088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92400" y="477648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주요 산출물</a:t>
            </a:r>
          </a:p>
        </p:txBody>
      </p:sp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316800" y="5100480"/>
          <a:ext cx="6260400" cy="1009724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32572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TER-001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 시험 계획서, 통합 시험 결과서 (72시간 확인 포함)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TER-002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인수 시험 계획서·결과서, 요구사항 추적표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1" name="Rounded Rectangle 50"/>
          <p:cNvSpPr/>
          <p:nvPr/>
        </p:nvSpPr>
        <p:spPr>
          <a:xfrm>
            <a:off x="280800" y="6218204"/>
            <a:ext cx="6332400" cy="342135"/>
          </a:xfrm>
          <a:prstGeom prst="roundRect">
            <a:avLst>
              <a:gd name="adj" fmla="val 6000"/>
            </a:avLst>
          </a:prstGeom>
          <a:solidFill>
            <a:srgbClr val="FFF4E5"/>
          </a:solidFill>
          <a:ln w="12700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평가 포인트: 시험 결과서·요구사항 추적표가 곧 검사 자료 — 검사 기간 단축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Ⅳ-2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프로젝트 관리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Ⅴ.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사업 관리 및 일정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사업 보안관리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사업 관리 및 일정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Ⅴ. 프로젝트 관리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3자 협의체와 70일 추진일정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관리방법 · 일정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(설치 통보일 기준 10주) 착수 2주 내 설계·시험본을 끝내고 연동·중계·학습을 병행하여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9주차 72시간 확인, 10주차 검사 요청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완료함 (→ Ⅴ-1~3)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PMR-002, PMR-003, PMR-004, COR-003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2727984"/>
        </p:xfrm>
        <a:graphic>
          <a:graphicData uri="http://schemas.openxmlformats.org/drawingml/2006/table">
            <a:tbl>
              <a:tblPr firstRow="0" bandRow="0"/>
              <a:tblGrid>
                <a:gridCol w="2519909"/>
                <a:gridCol w="748098"/>
                <a:gridCol w="748098"/>
                <a:gridCol w="748098"/>
                <a:gridCol w="748098"/>
                <a:gridCol w="748098"/>
              </a:tblGrid>
              <a:tr h="33398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1-2주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3-4주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5-6주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7-8주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9-10주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프로젝트 관리 (착수·중간·완료)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 상세화·연동 설계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중계 시험본·개발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솔루션 연동·관제 화면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분석 환경·학습·검증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 시험·72시간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인수 시험·교육·검사 요청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280800" y="5193984"/>
            <a:ext cx="6332400" cy="741239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" y="5229984"/>
            <a:ext cx="6224400" cy="705240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(관리) 주간 진척 보고, 3자 협의체 주 1회, 긴급 이슈 당일 보고, 산출물 버전 관리, SW사업정보 데이터 제출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2400" y="6039624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2400" y="6025224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주요 산출물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316800" y="6349224"/>
          <a:ext cx="6260400" cy="1009724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32572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PMR-003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착수·완료보고서, 회의록, 산출물 목록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PMR-004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SW사업정보 데이터, 제출 확인 자료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" name="Rounded Rectangle 36"/>
          <p:cNvSpPr/>
          <p:nvPr/>
        </p:nvSpPr>
        <p:spPr>
          <a:xfrm>
            <a:off x="280800" y="7466948"/>
            <a:ext cx="6332400" cy="342135"/>
          </a:xfrm>
          <a:prstGeom prst="roundRect">
            <a:avLst>
              <a:gd name="adj" fmla="val 6000"/>
            </a:avLst>
          </a:prstGeom>
          <a:solidFill>
            <a:srgbClr val="FFF4E5"/>
          </a:solidFill>
          <a:ln w="12700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평가 포인트: 설치 지연 시 일정 영향은 즉시 서면 보고하여 계약기간 조정 근거 확보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Ⅴ-1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사업 보안관리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Ⅴ. 프로젝트 관리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사업자 보안관리 준수사항 이행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보안관리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(별표 4 전 항목 이행) 참여인원·자료·사무실·장비·내외부망·점검교육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5개 영역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착수 전부터 종료까지 관리하고, 지정 장소 작업을 원칙으로 함 (→ Ⅴ-4~5)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SER-001, SER-004, SER-007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407922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33398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이행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239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참여인원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정보보안담당자(정·부), 사전 신원조회, 보안서약서·기본보안교육 확인서, 인원관리대장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39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누출금지정보 자료관리대장, 지정 파일서버, 파쇄 폐기, 공유폴더·상용 이메일 금지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사무실·장비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 확보 개발실, 전산장비관리대장, USB 포트락, 일일 보안점검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내·외부망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사업체망-내부망 방화벽 사업자 준비·관리권한 이관, 인터넷PC 분리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작업장소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본청 지정 장소 상주 원칙, 원격지 작업은 보안성 검토·승인 시에만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02400" y="4888323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2400" y="4873923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주요 산출물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16800" y="5197923"/>
          <a:ext cx="6260400" cy="1351724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32572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별표 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인원관리대장, 자료관리대장, 전산장비관리대장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별표 4 (5)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일일 자체 보안점검 결과, 월 1회 보안교육 기록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SER-008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누출금지 정보 보안관리계획, 대표자 확약서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Rounded Rectangle 34"/>
          <p:cNvSpPr/>
          <p:nvPr/>
        </p:nvSpPr>
        <p:spPr>
          <a:xfrm>
            <a:off x="280800" y="6657647"/>
            <a:ext cx="6332400" cy="342135"/>
          </a:xfrm>
          <a:prstGeom prst="roundRect">
            <a:avLst>
              <a:gd name="adj" fmla="val 6000"/>
            </a:avLst>
          </a:prstGeom>
          <a:solidFill>
            <a:srgbClr val="FFF4E5"/>
          </a:solidFill>
          <a:ln w="12700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평가 포인트: 누출금지 정보는 원격지 반출 금지, 보안관리계획 사업 수행 전 제출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Ⅴ-2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992060" y="1498812"/>
            <a:ext cx="4550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프로젝트 지원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Ⅵ.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교육 · 기술지원 · 하자보수 · 안정화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프로젝트 지원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Ⅵ. 프로젝트 지원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운영 이관 후 지원 체계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교육 · 기술지원 · 하자보수 · 안정화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(자체 운영까지 책임) 실습 중심 교육, 장애 등급별 기술지원,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1년 무상 하자보수와 30일 안정화 지원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으로 운영 담당자가 스스로 운영하게 함 (→ Ⅵ-1~4)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PSR-001, PSR-002, PSR-003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3085200" cy="977173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16800" y="2358000"/>
            <a:ext cx="30852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교육 (PSR-001)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800" y="2617200"/>
            <a:ext cx="3013200" cy="725173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관제 화면·알람 설정·리포트·장애 대응 실습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관리자 과정: 재학습·중계 대상 추가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2회차 운영, 교재·결과 제출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92000" y="2358000"/>
            <a:ext cx="3085200" cy="977173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492000" y="2358000"/>
            <a:ext cx="30852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기술지원 (PSR-002)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8000" y="2617200"/>
            <a:ext cx="3013200" cy="725173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긴급 1시간 착수·4시간 복구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중대 4시간 착수·1일 복구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단일 창구, 솔루션 장애는 공급자 연계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3425173"/>
            <a:ext cx="3085200" cy="977173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16800" y="3425173"/>
            <a:ext cx="30852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하자보수 (PSR-003)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2800" y="3684373"/>
            <a:ext cx="3013200" cy="725173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검사 합격일부터 1년 무상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구축물 오류 수정·기능 보완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분기 1회 정기 점검, 이행확약서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92000" y="3425173"/>
            <a:ext cx="3085200" cy="977173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492000" y="3425173"/>
            <a:ext cx="30852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안정화 30일 (PSR-002)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28000" y="3684373"/>
            <a:ext cx="3013200" cy="725173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AI 모델 재학습·임계치 조정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중계 수신·정합성 일일 점검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안정화 결과보고서 제출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02400" y="4560746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2400" y="4546346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주요 산출물</a:t>
            </a:r>
          </a:p>
        </p:txBody>
      </p:sp>
      <p:graphicFrame>
        <p:nvGraphicFramePr>
          <p:cNvPr id="45" name="Table 44"/>
          <p:cNvGraphicFramePr>
            <a:graphicFrameLocks noGrp="1"/>
          </p:cNvGraphicFramePr>
          <p:nvPr/>
        </p:nvGraphicFramePr>
        <p:xfrm>
          <a:off x="316800" y="4870346"/>
          <a:ext cx="6260400" cy="1351724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32572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PSR-001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 계획서, 교육 교재, 교육 실시 결과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PSR-002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안정화 지원 계획서·결과보고서, 기술지원 계획서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PSR-003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하자보수 계획서, 이행확약서, 이력 보고서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6" name="Rounded Rectangle 45"/>
          <p:cNvSpPr/>
          <p:nvPr/>
        </p:nvSpPr>
        <p:spPr>
          <a:xfrm>
            <a:off x="280800" y="6330070"/>
            <a:ext cx="6332400" cy="342135"/>
          </a:xfrm>
          <a:prstGeom prst="roundRect">
            <a:avLst>
              <a:gd name="adj" fmla="val 6000"/>
            </a:avLst>
          </a:prstGeom>
          <a:solidFill>
            <a:srgbClr val="FFF4E5"/>
          </a:solidFill>
          <a:ln w="12700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평가 포인트: 30일 안정화 기간에 운영자 자체 운영까지 지원하고 결과보고서로 마무리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Ⅵ-1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맑은 고딕" panose="020F0302020204030204"/>
        <a:ea typeface="맑은 고딕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맑은 고딕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200" dirty="0" smtClean="0">
            <a:latin typeface="KoPubWorld돋움체 Bold" panose="00000800000000000000" pitchFamily="2" charset="-127"/>
            <a:ea typeface="KoPubWorld돋움체 Bold" panose="00000800000000000000" pitchFamily="2" charset="-127"/>
            <a:cs typeface="KoPubWorld돋움체 Bold" panose="00000800000000000000" pitchFamily="2" charset="-127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200" dirty="0" smtClean="0">
            <a:latin typeface="KoPubWorld돋움체 Medium" panose="00000600000000000000" pitchFamily="2" charset="-127"/>
            <a:ea typeface="KoPubWorld돋움체 Medium" panose="00000600000000000000" pitchFamily="2" charset="-127"/>
            <a:cs typeface="KoPubWorld돋움체 Medium" panose="00000600000000000000" pitchFamily="2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9D30EBE9304C2346AD8EC6952A85F23C" ma:contentTypeVersion="16" ma:contentTypeDescription="새 문서를 만듭니다." ma:contentTypeScope="" ma:versionID="0beda8d242283ca8ad5cd5bb1aa1bc86">
  <xsd:schema xmlns:xsd="http://www.w3.org/2001/XMLSchema" xmlns:xs="http://www.w3.org/2001/XMLSchema" xmlns:p="http://schemas.microsoft.com/office/2006/metadata/properties" xmlns:ns2="e7514280-9163-4412-ad0a-e8ade9193bee" xmlns:ns3="296b340d-c22f-4484-96dd-ad8bc868af40" targetNamespace="http://schemas.microsoft.com/office/2006/metadata/properties" ma:root="true" ma:fieldsID="c503c7f92b65afe15150ee6451e3405f" ns2:_="" ns3:_="">
    <xsd:import namespace="e7514280-9163-4412-ad0a-e8ade9193bee"/>
    <xsd:import namespace="296b340d-c22f-4484-96dd-ad8bc868af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514280-9163-4412-ad0a-e8ade9193b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이미지 태그" ma:readOnly="false" ma:fieldId="{5cf76f15-5ced-4ddc-b409-7134ff3c332f}" ma:taxonomyMulti="true" ma:sspId="dbb9d562-bd20-43bc-a33e-5cbb7cafe37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6b340d-c22f-4484-96dd-ad8bc868af40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89e01bde-2108-4b34-9411-c6bd49ed7aa3}" ma:internalName="TaxCatchAll" ma:showField="CatchAllData" ma:web="296b340d-c22f-4484-96dd-ad8bc868af4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7514280-9163-4412-ad0a-e8ade9193bee">
      <Terms xmlns="http://schemas.microsoft.com/office/infopath/2007/PartnerControls"/>
    </lcf76f155ced4ddcb4097134ff3c332f>
    <TaxCatchAll xmlns="296b340d-c22f-4484-96dd-ad8bc868af4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D62CDAD-107A-43D7-A7FF-44C6CD012359}">
  <ds:schemaRefs>
    <ds:schemaRef ds:uri="296b340d-c22f-4484-96dd-ad8bc868af40"/>
    <ds:schemaRef ds:uri="e7514280-9163-4412-ad0a-e8ade9193be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756E700-2809-459B-84AD-EC3318970829}">
  <ds:schemaRefs>
    <ds:schemaRef ds:uri="296b340d-c22f-4484-96dd-ad8bc868af40"/>
    <ds:schemaRef ds:uri="e7514280-9163-4412-ad0a-e8ade9193be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BF8794B-BC40-4BF3-B2D9-ECCD52D4CB8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c21f85bf-30cf-4a3f-b20f-fc38a03d9031}" enabled="0" method="" siteId="{c21f85bf-30cf-4a3f-b20f-fc38a03d903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5876</TotalTime>
  <Words>54759</Words>
  <Application>Microsoft Office PowerPoint</Application>
  <PresentationFormat>A4 용지(210x297mm)</PresentationFormat>
  <Paragraphs>8851</Paragraphs>
  <Slides>220</Slides>
  <Notes>137</Notes>
  <HiddenSlides>0</HiddenSlides>
  <MMClips>0</MMClips>
  <ScaleCrop>false</ScaleCrop>
  <HeadingPairs>
    <vt:vector size="6" baseType="variant">
      <vt:variant>
        <vt:lpstr>사용한 글꼴</vt:lpstr>
      </vt:variant>
      <vt:variant>
        <vt:i4>22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220</vt:i4>
      </vt:variant>
    </vt:vector>
  </HeadingPairs>
  <TitlesOfParts>
    <vt:vector size="243" baseType="lpstr">
      <vt:lpstr>a옛날사진관5</vt:lpstr>
      <vt:lpstr>G마켓 산스 TTF Bold</vt:lpstr>
      <vt:lpstr>G마켓 산스 TTF Medium</vt:lpstr>
      <vt:lpstr>KoPubWorld돋움체 Bold</vt:lpstr>
      <vt:lpstr>KoPubWorld돋움체 Medium</vt:lpstr>
      <vt:lpstr>KoPubWorld바탕체 Light</vt:lpstr>
      <vt:lpstr>KoPub돋움체_Pro Medium</vt:lpstr>
      <vt:lpstr>KoPub바탕체 Bold</vt:lpstr>
      <vt:lpstr>Pretendard</vt:lpstr>
      <vt:lpstr>경기천년제목 Bold</vt:lpstr>
      <vt:lpstr>나눔스퀘어</vt:lpstr>
      <vt:lpstr>나눔스퀘어 Bold</vt:lpstr>
      <vt:lpstr>나눔스퀘어_ac</vt:lpstr>
      <vt:lpstr>나눔스퀘어_ac ExtraBold</vt:lpstr>
      <vt:lpstr>맑은 고딕</vt:lpstr>
      <vt:lpstr>맑은 고딕</vt:lpstr>
      <vt:lpstr>함초롬바탕</vt:lpstr>
      <vt:lpstr>Aldhabi</vt:lpstr>
      <vt:lpstr>Arial</vt:lpstr>
      <vt:lpstr>Calibri</vt:lpstr>
      <vt:lpstr>Calibri Light</vt:lpstr>
      <vt:lpstr>Wingdings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황보정운</dc:creator>
  <cp:lastModifiedBy>황보정운</cp:lastModifiedBy>
  <cp:revision>239</cp:revision>
  <cp:lastPrinted>2026-06-25T07:15:15Z</cp:lastPrinted>
  <dcterms:created xsi:type="dcterms:W3CDTF">2021-09-24T12:12:26Z</dcterms:created>
  <dcterms:modified xsi:type="dcterms:W3CDTF">2026-07-27T02:17:50Z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0x0101009D30EBE9304C2346AD8EC6952A85F23C</vt:lpwstr>
  </property>
  <property fmtid="{D5CDD505-2E9C-101B-9397-08002B2CF9AE}" pid="3" name="MediaServiceImageTags">
    <vt:lpwstr/>
  </property>
</Properties>
</file>