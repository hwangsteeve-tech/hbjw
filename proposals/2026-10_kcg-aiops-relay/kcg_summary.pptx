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제안요약서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통합관제 데이터 연계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및 중계환경 구축 용역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</a:t>
            </a:r>
            <a:r>
              <a:rPr lang="ko-KR" altLang="en-US" sz="1200" b="1"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해양경찰청 (정보통신과)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일반현황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4735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전략 및 방법론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3660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5881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3678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8637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1683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기술 및 기능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0608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2829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0626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5585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8631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성능 및 테스트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7556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9777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7574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2533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5579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프로젝트 관리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4504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6725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4522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9481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252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프로젝트 지원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145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367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147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Ⅵ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6642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일반현황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입찰자 일반현황 및 수행실적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조직 및 업무분장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입찰자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회사 개요와 유사분야 수행실적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 및 유사실적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(AIOps·모니터링 실적 보유) 16년간 서비스 기획·개발·운영을 수행했고,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MES AI Agent 통합 관제(MOSAIC)·이상탐지 자동화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실적을 본 사업에 적용함 (→ Ⅰ-1~4)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221113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854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 / 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 / 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설립 / 종사기간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4월 / 16년 6개월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임직원 129명 (특급 기술자 22명), 2025년 매출 111억 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36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입찰자격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1468 소프트웨어사업자, 직접생산확인(8111159901), 중소기업확인서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02400" y="469153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467713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유사분야 수행실적 (① AIOps ② 통합 모니터링 ③ 데이터 연계·중계)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001134"/>
          <a:ext cx="6260400" cy="1966821"/>
        </p:xfrm>
        <a:graphic>
          <a:graphicData uri="http://schemas.openxmlformats.org/drawingml/2006/table">
            <a:tbl>
              <a:tblPr firstRow="0" bandRow="0"/>
              <a:tblGrid>
                <a:gridCol w="3130200"/>
                <a:gridCol w="1330335"/>
                <a:gridCol w="1017315"/>
                <a:gridCol w="782550"/>
              </a:tblGrid>
              <a:tr h="3854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836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제조 DT 시스템 (FAB MOS) — MES AI Agent 'MOSAIC' 3건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 ~ 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2026.04 ~ 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①③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36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표준 아키텍처 구축 Ph1~Ph3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2024.12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③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16800" y="7075958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707595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이상 탐지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7335158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운영 로그·지표 실시간 분석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→ FUN-003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3600" y="7075958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3600" y="707595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원인 분석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9600" y="7335158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로그·지표 상관분석, 근거 제시형 응답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→ FUN-004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50400" y="7075958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50400" y="707595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통합 관제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86400" y="7335158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실행 이력·지표 통합 모니터링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→ FUN-001·002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80800" y="8227958"/>
            <a:ext cx="6332400" cy="350713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평가 포인트: AIOps·통합 모니터링·데이터 연계 3개 유사분야 실적 모두 보유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입찰자의 조직 및 업무분장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수행조직 · 참여 형태 · 비상연락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수행조직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(단일 창구 · 단독 수행) 통합 PM이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3자 협의체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(발주기관·본 사업자·분리발주 공급자)를 운영하고, 하도급 없이 자사 인력으로 수행함 (→ Ⅰ-5~6)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6260400" cy="468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25002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해양경찰청 정보통신과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987000" y="2430000"/>
            <a:ext cx="25002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 담당 부서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6800" y="2890800"/>
            <a:ext cx="6260400" cy="46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28908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협의체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32800" y="2962799"/>
            <a:ext cx="50544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3자 협의체 — 주 1회 + 수시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423600"/>
            <a:ext cx="6260400" cy="46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4236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사업관리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3495599"/>
            <a:ext cx="1648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사업관리자(PM)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35600" y="3495599"/>
            <a:ext cx="1648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품질보증(QA)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38400" y="3495599"/>
            <a:ext cx="1648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정보보안담당자(정·부)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956399"/>
            <a:ext cx="6260400" cy="468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956399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 파트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4028399"/>
            <a:ext cx="12231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솔루션 연동·관제 화면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709900" y="4028399"/>
            <a:ext cx="12231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중계 개발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87000" y="4028399"/>
            <a:ext cx="12231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분석 환경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264100" y="4028399"/>
            <a:ext cx="12231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시험·운영 이관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4561200"/>
          <a:ext cx="6260400" cy="2065409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참여 형태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중소기업 단독 참여, 하도급 없음 (전원 자사 인력)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340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비상연락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 24시간 연락, 긴급 장애 1시간 내 원격 확인 · 4시간 내 현장 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영향 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 장애 발생 시 즉시 보고·사업자 책임 복구 (ECR-001)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Rectangle 49"/>
          <p:cNvSpPr/>
          <p:nvPr/>
        </p:nvSpPr>
        <p:spPr>
          <a:xfrm>
            <a:off x="302400" y="674900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92400" y="673460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주요 산출물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316800" y="7058609"/>
          <a:ext cx="6260400" cy="93600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조직도, 업무 분장표, 비상 연락망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Rounded Rectangle 52"/>
          <p:cNvSpPr/>
          <p:nvPr/>
        </p:nvSpPr>
        <p:spPr>
          <a:xfrm>
            <a:off x="280800" y="8102609"/>
            <a:ext cx="6332400" cy="35929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평가 포인트: 중소기업 단독 참여(상생협력 만점) · 하도급 없음 · 통합 PM 단일 창구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전략 및 방법론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이해도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추진전략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적용기술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업무 특성 · 범위 · 목표시스템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사업 이해와 목표시스템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(생명과 직결된 무중단) 긴급신고·해상구조 시스템 76식과 타 관제시스템 2종을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수집·중계 → AI 분석 → 통합 관제·알람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잇는 예측형 관제체계를 구축함 (→ Ⅱ-1~3)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ECR-001, ECR-002, ECR-003, FUN-005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558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관제 대상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69048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통합신고처리 34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177280" y="2430000"/>
            <a:ext cx="69048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통합상황관리 17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921760" y="2430000"/>
            <a:ext cx="69048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원거리추적 10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66240" y="2430000"/>
            <a:ext cx="69048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상황공유 11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10720" y="2430000"/>
            <a:ext cx="69048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항공기위치 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81200" y="23580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서버 50·DB 9·WAS/WEB 17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2980800"/>
            <a:ext cx="4874400" cy="55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4800" y="29808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수집·중계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432800" y="3052799"/>
            <a:ext cx="1807199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통합 모니터링 솔루션 (분리발주)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294000" y="3052799"/>
            <a:ext cx="1807199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데이터 중계 기능</a:t>
            </a: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(본 사업 개발)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29808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타 관제시스템 2종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3603600"/>
            <a:ext cx="4874400" cy="55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36036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분석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36755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AIOps 솔루션 (분리발주)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36755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AI 분석 엔진</a:t>
            </a: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구성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36755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분석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36036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이상탐지·예측·RCA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4226399"/>
            <a:ext cx="4874400" cy="558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4226399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관제·전파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432800" y="42983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통합 관제 화면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73600" y="42983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이벤트·알람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914400" y="42983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성능 리포트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4226399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기관 SMS·메일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4921200"/>
          <a:ext cx="6260400" cy="1381922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2895435"/>
                <a:gridCol w="2112885"/>
              </a:tblGrid>
              <a:tr h="3339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 형태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사업자 책임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통합구축 (본 사업)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분석 엔진 구축, 데이터 중계 개발, 관제 화면·연동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개발·구축·연동 결과 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39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분리발주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모니터링·AIOps 솔루션, 서버 자원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연동·구성 결과 (설치·라이선스 제외)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302400" y="6425523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92400" y="6411123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주요 산출물</a:t>
            </a:r>
          </a:p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316800" y="6735123"/>
          <a:ext cx="6260400" cy="135172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2572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ECR-001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사업수행 계획서, 시스템 구성도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ECR-002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연동 설계서, 연동 시험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ECR-003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 환경 구축 결과서, AI 분석 모델 설계서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0" name="Rounded Rectangle 59"/>
          <p:cNvSpPr/>
          <p:nvPr/>
        </p:nvSpPr>
        <p:spPr>
          <a:xfrm>
            <a:off x="280800" y="8194847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평가 포인트: 별도 개발은 데이터 중계로 한정하고, 나머지는 솔루션 구성으로 구축하여 범위·책임을 명확히 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제안의 특징과 무중단·위험 대응 전략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추진전략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(제품 비특정 · 무중단 · 선행 수행) 솔루션 미정·설치 지연·운영 중 시스템이라는 제약을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표준 어댑터, 단계 적용, 설치 전 과업 선행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해소함 (→ Ⅱ-4~7)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ECR-001, COR-001, COR-003, PMR-002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제품 비특정 연동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1720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REST·Syslog·SNMP 등 표준 어댑터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제품 확정 후 선택 적용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33600" y="235800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4336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무유실 이중화 중계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9600" y="261720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영속 버퍼·재전송·중복 제거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10초 내 자동 절체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50400" y="235800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504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무중단 단계 적용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86400" y="261720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비핵심 → 핵심 시스템 순서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수집 부하 CPU 5% 이내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2400" y="35243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00" y="3510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주요 위험과 대응</a:t>
            </a:r>
          </a:p>
        </p:txBody>
      </p:sp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316800" y="3834000"/>
          <a:ext cx="6260400" cy="2380820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4538790"/>
              </a:tblGrid>
              <a:tr h="3854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836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납품·설치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설치 전 연동 설계·중계 프로토타입 선행, 통보일 기준 계약기간 연장 (COR-003)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36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정보·GPU 자원 미제공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시 확인 요청, 샘플 데이터 검증, 자원 수준별 LLM 구성안 3종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서비스 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 사전 승인, 신고량 최저 시간대 작업, 10분 내 롤백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절차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투입 전 신원조회·보안서약 조기 진행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" name="Rectangle 42"/>
          <p:cNvSpPr/>
          <p:nvPr/>
        </p:nvSpPr>
        <p:spPr>
          <a:xfrm>
            <a:off x="302400" y="633722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2400" y="632282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주요 산출물</a:t>
            </a:r>
          </a:p>
        </p:txBody>
      </p: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316800" y="6646824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 계획서, 출입 명단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일정 계획서, WBS, 지연 사유 보고서(해당 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진척 보고서, 이슈 관리대장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6" name="Rounded Rectangle 45"/>
          <p:cNvSpPr/>
          <p:nvPr/>
        </p:nvSpPr>
        <p:spPr>
          <a:xfrm>
            <a:off x="280800" y="8374824"/>
            <a:ext cx="6332400" cy="350713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평가 포인트: 솔루션 설치가 늦어져도 설계·시험본을 먼저 진행하여 70일 일정을 지킴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AIOps · 이기종 지원 · 개발 방법론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적용기술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(검증된 표준 기술) AIOps 솔루션 위에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이상탐지·부하예측·희소로그·RCA/LLM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구성하고, 중계 기능은 전자정부 표준프레임워크로 개발함 (→ Ⅱ-8~11)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FUN-003, FUN-004, ECR-002, COR-002, PMR-003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55051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854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836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AIOps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동적 기준선 이상탐지, 지표별 부하 예측, 로그 템플릿 기반 희소로그 탐지, 연관 지표 RCA, 근거 기반 LLM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36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이기종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다중 OS · Oracle 8 · PostgreSQL 1 · WAS/WEB 17 지표를 동일 체계로 정규화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36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전자정부 표준프레임워크(Spring Boot), 영속 버퍼(WAL), Active-Standby + VRRP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내부망 LLM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제공 / CPU만 / 솔루션 내장 모델 — 제공 자원별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5016513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5016513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5304513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대상·항목·주기 확정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5450313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5016513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5016513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설계·시험본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5304513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설치 전 중계 시험본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5450313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5016513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5016513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5304513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연동·중계·학습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5450313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5016513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5016513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5304513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통합·성능·72시간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5450313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5016513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5016513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5304513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교육·검사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02400" y="6110913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92400" y="6096513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주요 산출물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316800" y="6420513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FUN-003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이상 탐지·예측 설정 내역서, 시험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FUN-004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 분석 결과 시험 결과서, 리포트 양식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기술적용계획·결과표, 오픈소스 라이선스 정책서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4" name="Rounded Rectangle 53"/>
          <p:cNvSpPr/>
          <p:nvPr/>
        </p:nvSpPr>
        <p:spPr>
          <a:xfrm>
            <a:off x="280800" y="8148513"/>
            <a:ext cx="6332400" cy="350713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평가 포인트: GPU 제공 여부와 관계없이 동작하는 내부망 LLM 구성안 3종 제시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기술 및 기능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시스템구성 및 기능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인터페이스 및 데이터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보안 요구사항 및 제약사항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시스템구성 및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요구사항별 구현 방안 요약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시스템구성 · 기능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(솔루션 기능 우선 구성) 관제 화면·알람·AI 분석은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솔루션 기능으로 구성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별도 개발은 데이터 중계 기능으로 한정함 (→ Ⅲ-1~7)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ECR-001, ECR-002, ECR-003, FUN-001, FUN-002, FUN-003, FUN-004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887578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3854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836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ECR-002 모니터링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76식 전수 연동, 대상·항목·주기 착수 시 문서화, 대상별 연동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36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ECR-003 분석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최소 2주 데이터로 초기 모델, 안정화 중 주 1회 재학습, 내부망 전용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36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FUN-001 관제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대시보드 · 토폴로지 뷰 · 타임라인 · 시스템별 상세 (HTML5 웹)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36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FUN-002 이벤트·알람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4단계 심각도, 복합 지표·미수집 알람, 기관 SMS·메일 연동, 연쇄 알람 묶음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36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FUN-003 이상탐지·예측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WAS·DB·System 부하 예측·이상징후, 희소로그 탐지, 재학습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36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FUN-004 원인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연관 지표 RCA 후보, 근거 표시 LLM 원인 설명·조치 가이드·챗봇, 일·주·월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636798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635358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주요 산출물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6677582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FUN-001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설계서, 화면 구성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FUN-002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알람 정책 정의서, 알람 발송 시험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FUN-004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리포트 산출 결과물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280800" y="8405582"/>
            <a:ext cx="6332400" cy="539427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평가 포인트: LLM 응답에 근거 지표·로그·시점을 함께 표시하고, 조치는 운영자 확인 후 실행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시스템구성 및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데이터 중계 기능 구조와 이중화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데이터 중계 기능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(본 사업 개발 핵심) 타 관제시스템 2종 데이터를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수신 → 정규화 → 영속 버퍼 → AIOps 제공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2계통 이중화로 10초 내 자동 절체·유실 0건을 보장함 (→ Ⅲ-8~9)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FUN-005, QUR-001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수신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프로토콜별 수신 어댑터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TLS 수신·인증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타 관제 2종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정규화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분석 대상 선별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표준 스키마 변환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표준 정의서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전달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영속 버퍼·재시도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멱등 키 중복 제거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AIOps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4626000"/>
          <a:ext cx="6260400" cy="2065409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3364965"/>
                <a:gridCol w="156510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이중화 구간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헬스체크 1초 주기, 3회 연속 실패 시 판정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3초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절체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 IP(VRRP)를 대기 계통으로 이동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10초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340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절체 구간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재전송 + 계통별 버퍼 + 중복 제거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유실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Rectangle 49"/>
          <p:cNvSpPr/>
          <p:nvPr/>
        </p:nvSpPr>
        <p:spPr>
          <a:xfrm>
            <a:off x="302400" y="681381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92400" y="679941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주요 산출물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316800" y="7123410"/>
          <a:ext cx="6260400" cy="142200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FUN-005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중계 기능 설계서, 인터페이스 정의서, 시험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QUR-001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구성도(이중화), 사업수행계획서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Rounded Rectangle 52"/>
          <p:cNvSpPr/>
          <p:nvPr/>
        </p:nvSpPr>
        <p:spPr>
          <a:xfrm>
            <a:off x="280800" y="8653410"/>
            <a:ext cx="6332400" cy="35929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평가 포인트: 수동 개입 없는 절체 + 절체 구간 데이터 무유실 — RFP 최소 요건 이상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인터페이스 및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연동 인터페이스 · 정합성 · 데이터 보관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인터페이스 · 데이터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(장애에도 자동 재개 · 검증 가능한 정합성) 전 구간 암호화·재시도를 적용하고,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2개 구간 연속 8시간 전 건 대조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누락·중복 0건을 검증함 (→ Ⅲ-10~12)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SIR-001, SIR-002, DAR-001, DAR-002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720200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3854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836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SIR-001 공통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TLS 1.2+ 상호 인증, 최대 5회 지수 백오프 재시도, 처리 이력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36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SIR-002 솔루션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인터페이스 활용, 솔루션 장애 시 버퍼링 후 자동 재개, 미제공 항목은 기록·보고·검사 유예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36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DAR-001 정합성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타 관제→중계, 중계→AI 엔진 2구간, 건수·시점·주요 값 대조, 불일치 시 재전송 보정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36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DAR-002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원천 3개월 · 마트 6개월 · 단기 결과 3개월 · 장기 통계 1년↑, 예상 약 380GB +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5186203"/>
            <a:ext cx="148410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5186203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5474203"/>
            <a:ext cx="141210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시간대·표본 확정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811700" y="5620003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908900" y="5186203"/>
            <a:ext cx="148410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908900" y="5186203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4900" y="5474203"/>
            <a:ext cx="141210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연속 8시간↑ 전 건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3403800" y="5620003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501000" y="5186203"/>
            <a:ext cx="148410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3501000" y="5186203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7000" y="5474203"/>
            <a:ext cx="141210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누락·중복 확인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995900" y="5620003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093100" y="5186203"/>
            <a:ext cx="148410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5093100" y="5186203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29100" y="5474203"/>
            <a:ext cx="141210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최종 건수 일치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02400" y="6280603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92400" y="6266203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주요 산출물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6590203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SIR-001·002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인터페이스 정의서, 연동 설계서, 처리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표준 정의서, 정합성 검증 계획서·결과서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관리 계획서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Rounded Rectangle 49"/>
          <p:cNvSpPr/>
          <p:nvPr/>
        </p:nvSpPr>
        <p:spPr>
          <a:xfrm>
            <a:off x="280800" y="8318203"/>
            <a:ext cx="6332400" cy="350713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평가 포인트: 솔루션 장애·변경에도 본 사업 기능은 멈추지 않고 복구 후 자동 재개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보안 요구사항 및 제약사항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보안 요구사항 및 제약사항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보안 · 제약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(설계부터 검증까지) 기술적 보안은 설계서 반영·보안약점 진단으로 검증하고, 관리·물리·매체 보안과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업무시간·기술·70일 일정 제약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함께 관리함 (→ Ⅲ-13~15)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SER-001, SER-002, SER-003, SER-004, SER-005, SER-006, SER-007, SER-008, SER-009, COR-001, COR-002, COR-003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023636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4340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기술적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 기반 권한·5회 잠금·세션 30분, SW 개발보안 가이드·보안약점 진단, 로그 위변조 방지 (SER-002·003·009)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340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관리·물리·매체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신원조회·보안서약·월 1회 교육, 출입통제, USB 포트락·무선 불능화, 상용 이메일 금지 (SER-001·004~007)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340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특수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비인가 프로그램·약점 방치 금지 확약, 누출금지 정보 보안관리계획 사전 제출 (SER-008)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340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 사전 승인·지정 장소, 다중 OS·DB 호환·오픈소스 라이선스, 착수보고 2주 내·통보일 기준 70일 (COR-001~003)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50403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48964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주요 산출물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813639"/>
          <a:ext cx="6260400" cy="239400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SER-001·004·005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보안서약서, 보안관리계획서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보안약점 진단·조치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SER-006·007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보안관리대장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로그·감사 정책서, 사고 대응 매뉴얼, 로그 분석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280800" y="8315639"/>
            <a:ext cx="6332400" cy="35929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평가 포인트: 별표 4 보안 준수사항 전 항목 이행, 정보보안담당자 일 1회 자체 점검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성능 및 테스트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성능 및 품질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테스트 요구사항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성능 및 품질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테스트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정량 성능 목표와 가용성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성능 · 품질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(계약 시 확정 · 검증 대상) 관제 화면·알람·동시 사용자·중계·수집 부하 목표를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정량으로 제시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관제 장애가 업무 시스템에 전파되지 않게 분리함 (→ Ⅳ-1~3)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PER-001, QUR-001, QUR-002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039128"/>
        </p:xfrm>
        <a:graphic>
          <a:graphicData uri="http://schemas.openxmlformats.org/drawingml/2006/table">
            <a:tbl>
              <a:tblPr firstRow="0" bandRow="0"/>
              <a:tblGrid>
                <a:gridCol w="2738925"/>
                <a:gridCol w="3521475"/>
              </a:tblGrid>
              <a:tr h="3854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관제 화면 조회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3초 이내 (95%)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이벤트 → 알람 발송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60초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36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중계 정규화·제공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다음 수신 주기 이전 (1분 주기 기준 10초 이내)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중계 절체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10초 이내, 유실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부하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시스템 CPU 5%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80800" y="5505134"/>
            <a:ext cx="6332400" cy="138825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5541134"/>
            <a:ext cx="6224400" cy="135224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(가용성) 중계 2계통 이중화, 에이전트 자원 상한, 비동기 연동으로 관제 장애의 업무 전파 차단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(유지관리) 설정·화면 편집·알람 정책·재학습·중계 대상 추가 절차를 운영자 매뉴얼로 제공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699778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698338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주요 산출물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16800" y="7307384"/>
          <a:ext cx="6260400" cy="120599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PER-001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목표 협의 결과서, 성능 시험 계획서·결과서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QUR-002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 매뉴얼, 인수인계서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ounded Rectangle 36"/>
          <p:cNvSpPr/>
          <p:nvPr/>
        </p:nvSpPr>
        <p:spPr>
          <a:xfrm>
            <a:off x="280800" y="8621384"/>
            <a:ext cx="6332400" cy="350713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평가 포인트: 모든 성능 목표에 측정 조건·방법·도구를 명시하여 계약 시 그대로 검증 가능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테스트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테스트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통합 시험 · 72시간 확인 · 인수 시험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테스트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(검사 자료가 되는 시험) 운영 환경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연속 72시간 무중단 정상 동작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확인하고, 36개 요구사항을 적합·부적합·조건부 적합으로 판정함 (→ Ⅳ-4~5)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TER-001, TER-002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통합 시험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수집·정합성·화면·알람·성능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235800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72시간 확인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264600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업무시간 포함 연속 동작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235800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인수 시험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264600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요구사항별 판정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235800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검사 요청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264600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결과서·추적표 제출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80800" y="3761999"/>
            <a:ext cx="6332400" cy="148355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4800" y="3797999"/>
            <a:ext cx="6224400" cy="144756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(긴급신고 영향 최소화) 협의된 시간대에 시험하고, 시험 이벤트는 '시험' 표시로 실제 알람과 구분함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(조건부 적합) 원인이 분리발주 솔루션이면 추적표에 원인·조치 주체·재시험 시점을 기록하고 조치 후 재시험함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2400" y="534995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92400" y="533555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주요 산출물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5659559"/>
          <a:ext cx="6260400" cy="185400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시험 계획서, 통합 시험 결과서 (72시간 확인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 시험 계획서·결과서, 요구사항 추적표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Rounded Rectangle 50"/>
          <p:cNvSpPr/>
          <p:nvPr/>
        </p:nvSpPr>
        <p:spPr>
          <a:xfrm>
            <a:off x="280800" y="7621560"/>
            <a:ext cx="6332400" cy="376447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평가 포인트: 시험 결과서·요구사항 추적표가 곧 검사 자료 — 검사 기간 단축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프로젝트 관리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관리 및 일정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보안관리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관리 및 일정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3자 협의체와 70일 추진일정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관리방법 · 일정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(설치 통보일 기준 10주) 착수 2주 내 설계·시험본을 끝내고 연동·중계·학습을 병행하여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9주차 72시간 확인, 10주차 검사 요청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완료함 (→ Ⅴ-1~3)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PMR-002, PMR-003, PMR-004, COR-003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283437"/>
        </p:xfrm>
        <a:graphic>
          <a:graphicData uri="http://schemas.openxmlformats.org/drawingml/2006/table">
            <a:tbl>
              <a:tblPr firstRow="0" bandRow="0"/>
              <a:tblGrid>
                <a:gridCol w="2519909"/>
                <a:gridCol w="748098"/>
                <a:gridCol w="748098"/>
                <a:gridCol w="748098"/>
                <a:gridCol w="748098"/>
                <a:gridCol w="748098"/>
              </a:tblGrid>
              <a:tr h="3854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1-2주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3-4주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5-6주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7-8주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9-10주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관리 (착수·중간·완료)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상세화·연동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중계 시험본·개발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연동·관제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분석 환경·학습·검증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시험·72시간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 시험·교육·검사 요청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80800" y="5749444"/>
            <a:ext cx="6332400" cy="757125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5785444"/>
            <a:ext cx="6224400" cy="721124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(관리) 주간 진척 보고, 3자 협의체 주 1회, 긴급 이슈 당일 보고, 산출물 버전 관리, SW사업정보 데이터 제출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661096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659656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주요 산출물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16800" y="6920569"/>
          <a:ext cx="6260400" cy="120599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착수·완료보고서, 회의록, 산출물 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SW사업정보 데이터, 제출 확인 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ounded Rectangle 36"/>
          <p:cNvSpPr/>
          <p:nvPr/>
        </p:nvSpPr>
        <p:spPr>
          <a:xfrm>
            <a:off x="280800" y="8234569"/>
            <a:ext cx="6332400" cy="350713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평가 포인트: 설치 지연 시 일정 영향은 즉시 서면 보고하여 계약기간 조정 근거 확보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사업 보안관리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사업자 보안관리 준수사항 이행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보안관리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(별표 4 전 항목 이행) 참여인원·자료·사무실·장비·내외부망·점검교육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5개 영역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착수 전부터 종료까지 관리하고, 지정 장소 작업을 원칙으로 함 (→ Ⅴ-4~5)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SER-001, SER-004, SER-007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667045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4340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참여인원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정보보안담당자(정·부), 사전 신원조회, 보안서약서·기본보안교육 확인서, 인원관리대장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340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누출금지정보 자료관리대장, 지정 파일서버, 파쇄 폐기, 공유폴더·상용 이메일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340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사무실·장비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확보 개발실, 전산장비관리대장, USB 포트락, 일일 보안점검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340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내·외부망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사업체망-내부망 방화벽 사업자 준비·관리권한 이관, 인터넷PC 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340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작업장소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본청 지정 장소 상주 원칙, 원격지 작업은 보안성 검토·승인 시에만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614744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613305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주요 산출물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6457049"/>
          <a:ext cx="6260400" cy="190800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별표 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인원관리대장, 자료관리대장, 전산장비관리대장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별표 4 (5)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일일 자체 보안점검 결과, 월 1회 보안교육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누출금지 정보 보안관리계획, 대표자 확약서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280800" y="8473050"/>
            <a:ext cx="6332400" cy="35929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평가 포인트: 누출금지 정보는 원격지 반출 금지, 보안관리계획 사업 수행 전 제출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프로젝트 지원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Ⅵ.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교육 · 기술지원 · 하자보수 · 안정화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프로젝트 지원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운영 이관 후 지원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교육 · 기술지원 · 하자보수 · 안정화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(자체 운영까지 책임) 실습 중심 교육, 장애 등급별 기술지원,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1년 무상 하자보수와 30일 안정화 지원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운영 담당자가 스스로 운영하게 함 (→ Ⅵ-1~4)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PSR-001, PSR-002, PSR-003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교육 (PSR-001)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1720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관제 화면·알람 설정·리포트·장애 대응 실습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관리자 과정: 재학습·중계 대상 추가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2회차 운영, 교재·결과 제출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기술지원 (PSR-002)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0" y="261720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긴급 1시간 착수·4시간 복구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중대 4시간 착수·1일 복구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단일 창구, 솔루션 장애는 공급자 연계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78000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16800" y="3780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하자보수 (PSR-003)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800" y="403920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검사 합격일부터 1년 무상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구축물 오류 수정·기능 보완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분기 1회 정기 점검, 이행확약서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92000" y="378000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492000" y="3780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안정화 30일 (PSR-002)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28000" y="403920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AI 모델 재학습·임계치 조정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중계 수신·정합성 일일 점검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안정화 결과보고서 제출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02400" y="5270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2400" y="5256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주요 산출물</a:t>
            </a:r>
          </a:p>
        </p:txBody>
      </p: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316800" y="5580000"/>
          <a:ext cx="6260400" cy="248400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 계획서, 교육 교재, 교육 실시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안정화 지원 계획서·결과보고서, 기술지원 계획서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계획서, 이행확약서, 이력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6" name="Rounded Rectangle 45"/>
          <p:cNvSpPr/>
          <p:nvPr/>
        </p:nvSpPr>
        <p:spPr>
          <a:xfrm>
            <a:off x="280800" y="8172000"/>
            <a:ext cx="6332400" cy="590895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평가 포인트: 30일 안정화 기간에 운영자 자체 운영까지 지원하고 결과보고서로 마무리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Ⅵ-1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