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4"/>
  </p:sldMasterIdLst>
  <p:notesMasterIdLst>
    <p:notesMasterId r:id="rId225"/>
  </p:notesMasterIdLst>
  <p:handoutMasterIdLst>
    <p:handoutMasterId r:id="rId226"/>
  </p:handoutMasterIdLst>
  <p:sldIdLst>
    <p:sldId id="7488" r:id="rId16"/>
    <p:sldId id="7489" r:id="rId17"/>
    <p:sldId id="7490" r:id="rId18"/>
    <p:sldId id="7491" r:id="rId19"/>
    <p:sldId id="7492" r:id="rId20"/>
    <p:sldId id="7493" r:id="rId21"/>
    <p:sldId id="7494" r:id="rId22"/>
    <p:sldId id="7495" r:id="rId23"/>
    <p:sldId id="7496" r:id="rId24"/>
    <p:sldId id="7497" r:id="rId25"/>
    <p:sldId id="7498" r:id="rId26"/>
    <p:sldId id="7499" r:id="rId27"/>
    <p:sldId id="7500" r:id="rId28"/>
    <p:sldId id="7501" r:id="rId29"/>
    <p:sldId id="7502" r:id="rId30"/>
    <p:sldId id="7503" r:id="rId31"/>
    <p:sldId id="7504" r:id="rId32"/>
    <p:sldId id="7505" r:id="rId33"/>
    <p:sldId id="7506" r:id="rId34"/>
    <p:sldId id="7507" r:id="rId35"/>
    <p:sldId id="7508" r:id="rId36"/>
    <p:sldId id="7509" r:id="rId37"/>
    <p:sldId id="7510" r:id="rId38"/>
    <p:sldId id="7511" r:id="rId39"/>
    <p:sldId id="7512" r:id="rId40"/>
    <p:sldId id="7513" r:id="rId41"/>
    <p:sldId id="7514" r:id="rId42"/>
    <p:sldId id="7515" r:id="rId43"/>
    <p:sldId id="7516" r:id="rId44"/>
    <p:sldId id="7517" r:id="rId45"/>
    <p:sldId id="7518" r:id="rId46"/>
    <p:sldId id="7519" r:id="rId47"/>
    <p:sldId id="7520" r:id="rId48"/>
    <p:sldId id="7521" r:id="rId49"/>
    <p:sldId id="7522" r:id="rId50"/>
    <p:sldId id="7523" r:id="rId51"/>
    <p:sldId id="7524" r:id="rId52"/>
    <p:sldId id="7525" r:id="rId53"/>
    <p:sldId id="7526" r:id="rId54"/>
    <p:sldId id="7527" r:id="rId55"/>
  </p:sldIdLst>
  <p:sldSz cx="6858000" cy="9906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  <p15:guide id="3" pos="170" userDrawn="1">
          <p15:clr>
            <a:srgbClr val="A4A3A4"/>
          </p15:clr>
        </p15:guide>
        <p15:guide id="4" pos="4163" userDrawn="1">
          <p15:clr>
            <a:srgbClr val="A4A3A4"/>
          </p15:clr>
        </p15:guide>
        <p15:guide id="5" pos="348" userDrawn="1">
          <p15:clr>
            <a:srgbClr val="A4A3A4"/>
          </p15:clr>
        </p15:guide>
        <p15:guide id="6" pos="3972" userDrawn="1">
          <p15:clr>
            <a:srgbClr val="A4A3A4"/>
          </p15:clr>
        </p15:guide>
        <p15:guide id="7" pos="221" userDrawn="1">
          <p15:clr>
            <a:srgbClr val="A4A3A4"/>
          </p15:clr>
        </p15:guide>
        <p15:guide id="8" pos="409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DEEBF7"/>
    <a:srgbClr val="A1DEED"/>
    <a:srgbClr val="D9D9D9"/>
    <a:srgbClr val="FFFFFF"/>
    <a:srgbClr val="2F76B6"/>
    <a:srgbClr val="0070BA"/>
    <a:srgbClr val="2C4F78"/>
    <a:srgbClr val="64C3DC"/>
    <a:srgbClr val="DAE3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27" autoAdjust="0"/>
    <p:restoredTop sz="94660"/>
  </p:normalViewPr>
  <p:slideViewPr>
    <p:cSldViewPr snapToGrid="0">
      <p:cViewPr>
        <p:scale>
          <a:sx n="75" d="100"/>
          <a:sy n="75" d="100"/>
        </p:scale>
        <p:origin x="1506" y="936"/>
      </p:cViewPr>
      <p:guideLst>
        <p:guide orient="horz" pos="3120"/>
        <p:guide pos="2160"/>
        <p:guide pos="170"/>
        <p:guide pos="4163"/>
        <p:guide pos="348"/>
        <p:guide pos="3972"/>
        <p:guide pos="221"/>
        <p:guide pos="409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30" Type="http://schemas.openxmlformats.org/officeDocument/2006/relationships/slide" Target="slides/slide20.xml"/><Relationship Id="rId31" Type="http://schemas.openxmlformats.org/officeDocument/2006/relationships/slide" Target="slides/slide21.xml"/><Relationship Id="rId32" Type="http://schemas.openxmlformats.org/officeDocument/2006/relationships/slide" Target="slides/slide22.xml"/><Relationship Id="rId33" Type="http://schemas.openxmlformats.org/officeDocument/2006/relationships/slide" Target="slides/slide23.xml"/><Relationship Id="rId34" Type="http://schemas.openxmlformats.org/officeDocument/2006/relationships/slide" Target="slides/slide24.xml"/><Relationship Id="rId35" Type="http://schemas.openxmlformats.org/officeDocument/2006/relationships/slide" Target="slides/slide25.xml"/><Relationship Id="rId36" Type="http://schemas.openxmlformats.org/officeDocument/2006/relationships/slide" Target="slides/slide26.xml"/><Relationship Id="rId37" Type="http://schemas.openxmlformats.org/officeDocument/2006/relationships/slide" Target="slides/slide27.xml"/><Relationship Id="rId38" Type="http://schemas.openxmlformats.org/officeDocument/2006/relationships/slide" Target="slides/slide28.xml"/><Relationship Id="rId39" Type="http://schemas.openxmlformats.org/officeDocument/2006/relationships/slide" Target="slides/slide29.xml"/><Relationship Id="rId40" Type="http://schemas.openxmlformats.org/officeDocument/2006/relationships/slide" Target="slides/slide30.xml"/><Relationship Id="rId41" Type="http://schemas.openxmlformats.org/officeDocument/2006/relationships/slide" Target="slides/slide31.xml"/><Relationship Id="rId42" Type="http://schemas.openxmlformats.org/officeDocument/2006/relationships/slide" Target="slides/slide32.xml"/><Relationship Id="rId43" Type="http://schemas.openxmlformats.org/officeDocument/2006/relationships/slide" Target="slides/slide33.xml"/><Relationship Id="rId44" Type="http://schemas.openxmlformats.org/officeDocument/2006/relationships/slide" Target="slides/slide34.xml"/><Relationship Id="rId45" Type="http://schemas.openxmlformats.org/officeDocument/2006/relationships/slide" Target="slides/slide35.xml"/><Relationship Id="rId46" Type="http://schemas.openxmlformats.org/officeDocument/2006/relationships/slide" Target="slides/slide36.xml"/><Relationship Id="rId47" Type="http://schemas.openxmlformats.org/officeDocument/2006/relationships/slide" Target="slides/slide37.xml"/><Relationship Id="rId48" Type="http://schemas.openxmlformats.org/officeDocument/2006/relationships/slide" Target="slides/slide38.xml"/><Relationship Id="rId49" Type="http://schemas.openxmlformats.org/officeDocument/2006/relationships/slide" Target="slides/slide39.xml"/><Relationship Id="rId50" Type="http://schemas.openxmlformats.org/officeDocument/2006/relationships/slide" Target="slides/slide40.xml"/><Relationship Id="rId51" Type="http://schemas.openxmlformats.org/officeDocument/2006/relationships/slide" Target="slides/slide41.xml"/><Relationship Id="rId52" Type="http://schemas.openxmlformats.org/officeDocument/2006/relationships/slide" Target="slides/slide42.xml"/><Relationship Id="rId53" Type="http://schemas.openxmlformats.org/officeDocument/2006/relationships/slide" Target="slides/slide43.xml"/><Relationship Id="rId54" Type="http://schemas.openxmlformats.org/officeDocument/2006/relationships/slide" Target="slides/slide44.xml"/><Relationship Id="rId55" Type="http://schemas.openxmlformats.org/officeDocument/2006/relationships/slide" Target="slides/slide45.xml"/><Relationship Id="rId225" Type="http://schemas.openxmlformats.org/officeDocument/2006/relationships/notesMaster" Target="notesMasters/notesMaster1.xml"/><Relationship Id="rId226" Type="http://schemas.openxmlformats.org/officeDocument/2006/relationships/handoutMaster" Target="handoutMasters/handoutMaster1.xml"/><Relationship Id="rId227" Type="http://schemas.openxmlformats.org/officeDocument/2006/relationships/presProps" Target="presProps.xml"/><Relationship Id="rId228" Type="http://schemas.openxmlformats.org/officeDocument/2006/relationships/viewProps" Target="viewProps.xml"/><Relationship Id="rId229" Type="http://schemas.openxmlformats.org/officeDocument/2006/relationships/theme" Target="theme/theme1.xml"/><Relationship Id="rId230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3FC88C87-A870-CEB0-ED88-C071B577138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E2BC45F-FED5-D4BC-E846-A726E2675E2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A53264-FF37-4A28-A320-34D44B9DA959}" type="datetimeFigureOut">
              <a:rPr lang="ko-KR" altLang="en-US" smtClean="0"/>
              <a:t>2026-07-25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FF340D6-2F04-0925-A1CA-8AEFCB2ADB1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C895D71-45E6-1EE8-27B3-45C23B4D7FD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E9521-B036-447B-9F05-EA285466CC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87598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FD334089-59B3-40BB-96F8-BCCD425B3E10}" type="datetimeFigureOut">
              <a:rPr lang="ko-KR" altLang="en-US" smtClean="0"/>
              <a:t>2026-07-25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357438" y="1279525"/>
            <a:ext cx="2390775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E228262F-01A3-4CFF-895B-FDF42B6E38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87560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9025116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7612334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0498293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4504242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275855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1302546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8809296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1997953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705159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9064295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9300550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C76020E4-D3BF-2E23-3FDA-C00182CF91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0455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컨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40B0BCB0-8223-B3D9-E890-81D448F5CD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9971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441A63F8-CD22-3A28-E2D3-10878032E2D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4905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86385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80C846F1-727C-0585-985D-8DD19A4411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3359" t="1639" r="80900" b="92396"/>
          <a:stretch>
            <a:fillRect/>
          </a:stretch>
        </p:blipFill>
        <p:spPr>
          <a:xfrm>
            <a:off x="0" y="0"/>
            <a:ext cx="1256670" cy="673100"/>
          </a:xfrm>
          <a:prstGeom prst="rect">
            <a:avLst/>
          </a:prstGeom>
        </p:spPr>
      </p:pic>
      <p:sp>
        <p:nvSpPr>
          <p:cNvPr id="6" name="텍스트 개체 틀 9">
            <a:extLst>
              <a:ext uri="{FF2B5EF4-FFF2-40B4-BE49-F238E27FC236}">
                <a16:creationId xmlns:a16="http://schemas.microsoft.com/office/drawing/2014/main" id="{5CC61270-E58C-4CD3-75BC-975AFBC2C2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3850" y="257983"/>
            <a:ext cx="5318423" cy="32008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ko-KR" altLang="en-US" sz="1600" smtClean="0" b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10000"/>
                  </a:schemeClr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defRPr>
            </a:lvl1pPr>
            <a:lvl2pPr marL="104478" indent="0">
              <a:buNone/>
              <a:defRPr lang="ko-KR" altLang="en-US" sz="823" smtClean="0"/>
            </a:lvl2pPr>
            <a:lvl3pPr marL="313432" indent="0">
              <a:buNone/>
              <a:defRPr lang="ko-KR" altLang="en-US" sz="823" smtClean="0"/>
            </a:lvl3pPr>
            <a:lvl4pPr marL="522387" indent="0">
              <a:buNone/>
              <a:defRPr lang="ko-KR" altLang="en-US" smtClean="0"/>
            </a:lvl4pPr>
            <a:lvl5pPr marL="731342" indent="0">
              <a:buNone/>
              <a:defRPr lang="ko-KR" altLang="en-US"/>
            </a:lvl5pPr>
          </a:lstStyle>
          <a:p>
            <a:pPr marL="0" marR="0" lvl="0" fontAlgn="auto">
              <a:spcAft>
                <a:spcPts val="0"/>
              </a:spcAft>
              <a:buClrTx/>
              <a:buSzTx/>
              <a:tabLst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9" name="슬라이드 번호 개체 틀 2">
            <a:extLst>
              <a:ext uri="{FF2B5EF4-FFF2-40B4-BE49-F238E27FC236}">
                <a16:creationId xmlns:a16="http://schemas.microsoft.com/office/drawing/2014/main" id="{CE098A9A-461E-2B74-D55E-49CB2DCBB94A}"/>
              </a:ext>
            </a:extLst>
          </p:cNvPr>
          <p:cNvSpPr txBox="1">
            <a:spLocks/>
          </p:cNvSpPr>
          <p:nvPr userDrawn="1"/>
        </p:nvSpPr>
        <p:spPr>
          <a:xfrm>
            <a:off x="3174610" y="9688018"/>
            <a:ext cx="508780" cy="527403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2A9537A-DB42-4D35-B31B-5C8E293FF6D7}" type="slidenum">
              <a:rPr lang="ko-KR" altLang="en-US" sz="900" smtClean="0"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pPr algn="ctr"/>
              <a:t>‹#›</a:t>
            </a:fld>
            <a:endParaRPr lang="ko-KR" altLang="en-US" sz="1000">
              <a:latin typeface="맑은 고딕" panose="00000600000000000000" pitchFamily="2" charset="-127"/>
              <a:ea typeface="맑은 고딕" panose="00000600000000000000" pitchFamily="2" charset="-127"/>
              <a:cs typeface="맑은 고딕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238406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C174FC7F-2931-4560-A3C1-364B07A5E3B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94234" y="1453800"/>
            <a:ext cx="6109424" cy="181525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ko-KR" altLang="en-US" sz="64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  <a:lvl2pPr>
              <a:defRPr lang="ko-KR" altLang="en-US" sz="823" smtClean="0"/>
            </a:lvl2pPr>
            <a:lvl3pPr>
              <a:defRPr lang="ko-KR" altLang="en-US" sz="823" smtClean="0"/>
            </a:lvl3pPr>
            <a:lvl4pPr>
              <a:defRPr lang="ko-KR" altLang="en-US" smtClean="0"/>
            </a:lvl4pPr>
            <a:lvl5pPr>
              <a:defRPr lang="ko-KR" altLang="en-US"/>
            </a:lvl5pPr>
          </a:lstStyle>
          <a:p>
            <a:pPr marL="0"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7" name="사각형: 둥근 한쪽 모서리 6">
            <a:extLst>
              <a:ext uri="{FF2B5EF4-FFF2-40B4-BE49-F238E27FC236}">
                <a16:creationId xmlns:a16="http://schemas.microsoft.com/office/drawing/2014/main" id="{B541F7BF-9ADF-46AB-81E5-B13C2B27F216}"/>
              </a:ext>
            </a:extLst>
          </p:cNvPr>
          <p:cNvSpPr/>
          <p:nvPr userDrawn="1"/>
        </p:nvSpPr>
        <p:spPr>
          <a:xfrm>
            <a:off x="0" y="473287"/>
            <a:ext cx="524014" cy="852098"/>
          </a:xfrm>
          <a:prstGeom prst="round1Rect">
            <a:avLst/>
          </a:prstGeom>
          <a:solidFill>
            <a:srgbClr val="008B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F5F91E45-9FCF-43BD-A8FF-24BD1BC3E732}"/>
              </a:ext>
            </a:extLst>
          </p:cNvPr>
          <p:cNvCxnSpPr>
            <a:cxnSpLocks/>
          </p:cNvCxnSpPr>
          <p:nvPr userDrawn="1"/>
        </p:nvCxnSpPr>
        <p:spPr>
          <a:xfrm>
            <a:off x="0" y="1325385"/>
            <a:ext cx="6608862" cy="0"/>
          </a:xfrm>
          <a:prstGeom prst="line">
            <a:avLst/>
          </a:prstGeom>
          <a:ln w="19050">
            <a:solidFill>
              <a:srgbClr val="0074A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텍스트 개체 틀 13">
            <a:extLst>
              <a:ext uri="{FF2B5EF4-FFF2-40B4-BE49-F238E27FC236}">
                <a16:creationId xmlns:a16="http://schemas.microsoft.com/office/drawing/2014/main" id="{B014F6E5-DAED-4795-8473-F27C314E903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69969" y="699426"/>
            <a:ext cx="5023588" cy="233013"/>
          </a:xfrm>
          <a:noFill/>
        </p:spPr>
        <p:txBody>
          <a:bodyPr wrap="square" rtlCol="0">
            <a:spAutoFit/>
          </a:bodyPr>
          <a:lstStyle>
            <a:lvl1pPr marL="0" indent="0">
              <a:lnSpc>
                <a:spcPct val="100000"/>
              </a:lnSpc>
              <a:buNone/>
              <a:defRPr lang="ko-KR" altLang="en-US" sz="914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pPr marL="0"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8" name="텍스트 개체 틀 13">
            <a:extLst>
              <a:ext uri="{FF2B5EF4-FFF2-40B4-BE49-F238E27FC236}">
                <a16:creationId xmlns:a16="http://schemas.microsoft.com/office/drawing/2014/main" id="{2ECBBF39-A383-4AFE-9C30-8005D916AD6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2769" y="655398"/>
            <a:ext cx="377293" cy="544593"/>
          </a:xfrm>
          <a:noFill/>
        </p:spPr>
        <p:txBody>
          <a:bodyPr wrap="square" rtlCol="0">
            <a:noAutofit/>
          </a:bodyPr>
          <a:lstStyle>
            <a:lvl1pPr marL="0" indent="0" algn="r">
              <a:buNone/>
              <a:defRPr lang="ko-KR" altLang="en-US" sz="1097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marL="0" lvl="0" algn="ctr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BF7D64-638A-0DB1-1838-1BFE0A31C328}"/>
              </a:ext>
            </a:extLst>
          </p:cNvPr>
          <p:cNvSpPr txBox="1"/>
          <p:nvPr userDrawn="1"/>
        </p:nvSpPr>
        <p:spPr>
          <a:xfrm>
            <a:off x="6522317" y="9372523"/>
            <a:ext cx="335685" cy="345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ko-KR" sz="823" b="0" i="0" u="none" strike="noStrike" kern="1200" cap="none" spc="0" normalizeH="0" baseline="0" noProof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나눔스퀘어"/>
                <a:ea typeface="나눔스퀘어"/>
                <a:cs typeface="+mn-cs"/>
              </a:rPr>
              <a:t>&lt;#&gt;</a:t>
            </a:r>
            <a:endParaRPr lang="ko-KR" altLang="en-US" sz="823"/>
          </a:p>
        </p:txBody>
      </p:sp>
    </p:spTree>
    <p:extLst>
      <p:ext uri="{BB962C8B-B14F-4D97-AF65-F5344CB8AC3E}">
        <p14:creationId xmlns:p14="http://schemas.microsoft.com/office/powerpoint/2010/main" val="5559893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42A813A-2054-9B7A-A3EE-537D2323E4B8}"/>
              </a:ext>
            </a:extLst>
          </p:cNvPr>
          <p:cNvSpPr/>
          <p:nvPr userDrawn="1"/>
        </p:nvSpPr>
        <p:spPr>
          <a:xfrm>
            <a:off x="0" y="0"/>
            <a:ext cx="6858000" cy="8168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CC0A6FCF-E2F3-8AD2-0209-5A0ACB9F8120}"/>
              </a:ext>
            </a:extLst>
          </p:cNvPr>
          <p:cNvSpPr/>
          <p:nvPr userDrawn="1"/>
        </p:nvSpPr>
        <p:spPr>
          <a:xfrm>
            <a:off x="56168" y="2"/>
            <a:ext cx="291683" cy="832380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chemeClr val="tx1">
              <a:lumMod val="95000"/>
              <a:lumOff val="5000"/>
              <a:alpha val="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4" name="자유형: 도형 3">
            <a:extLst>
              <a:ext uri="{FF2B5EF4-FFF2-40B4-BE49-F238E27FC236}">
                <a16:creationId xmlns:a16="http://schemas.microsoft.com/office/drawing/2014/main" id="{0CB78D1D-B4FE-DA6C-EE5A-0D2C0C024C53}"/>
              </a:ext>
            </a:extLst>
          </p:cNvPr>
          <p:cNvSpPr/>
          <p:nvPr userDrawn="1"/>
        </p:nvSpPr>
        <p:spPr>
          <a:xfrm>
            <a:off x="0" y="0"/>
            <a:ext cx="317814" cy="906949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rgbClr val="0074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75B00E28-9584-240E-0333-89C94C82345D}"/>
              </a:ext>
            </a:extLst>
          </p:cNvPr>
          <p:cNvSpPr/>
          <p:nvPr userDrawn="1"/>
        </p:nvSpPr>
        <p:spPr>
          <a:xfrm>
            <a:off x="-1749" y="0"/>
            <a:ext cx="283035" cy="846485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7" fmla="*/ 88356 w 545949"/>
              <a:gd name="connsiteY7" fmla="*/ 94325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545949 w 545949"/>
              <a:gd name="connsiteY0" fmla="*/ 0 h 647701"/>
              <a:gd name="connsiteX1" fmla="*/ 545949 w 545949"/>
              <a:gd name="connsiteY1" fmla="*/ 3 h 647701"/>
              <a:gd name="connsiteX2" fmla="*/ 374465 w 545949"/>
              <a:gd name="connsiteY2" fmla="*/ 568337 h 647701"/>
              <a:gd name="connsiteX3" fmla="*/ 346936 w 545949"/>
              <a:gd name="connsiteY3" fmla="*/ 613539 h 647701"/>
              <a:gd name="connsiteX4" fmla="*/ 252547 w 545949"/>
              <a:gd name="connsiteY4" fmla="*/ 647701 h 647701"/>
              <a:gd name="connsiteX5" fmla="*/ 0 w 545949"/>
              <a:gd name="connsiteY5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5949" h="647701">
                <a:moveTo>
                  <a:pt x="545949" y="0"/>
                </a:move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</a:path>
            </a:pathLst>
          </a:cu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6" name="텍스트 개체 틀 9">
            <a:extLst>
              <a:ext uri="{FF2B5EF4-FFF2-40B4-BE49-F238E27FC236}">
                <a16:creationId xmlns:a16="http://schemas.microsoft.com/office/drawing/2014/main" id="{5CC61270-E58C-4CD3-75BC-975AFBC2C2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7897" y="271413"/>
            <a:ext cx="5635526" cy="20633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ko-KR" altLang="en-US" sz="823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10000"/>
                  </a:schemeClr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defRPr>
            </a:lvl1pPr>
            <a:lvl2pPr marL="104479" indent="0">
              <a:buNone/>
              <a:defRPr lang="ko-KR" altLang="en-US" sz="823" smtClean="0"/>
            </a:lvl2pPr>
            <a:lvl3pPr marL="313437" indent="0">
              <a:buNone/>
              <a:defRPr lang="ko-KR" altLang="en-US" sz="823" smtClean="0"/>
            </a:lvl3pPr>
            <a:lvl4pPr marL="522394" indent="0">
              <a:buNone/>
              <a:defRPr lang="ko-KR" altLang="en-US" smtClean="0"/>
            </a:lvl4pPr>
            <a:lvl5pPr marL="731351" indent="0">
              <a:buNone/>
              <a:defRPr lang="ko-KR" altLang="en-US"/>
            </a:lvl5pPr>
          </a:lstStyle>
          <a:p>
            <a:pPr marL="0" marR="0" lvl="0" fontAlgn="auto">
              <a:spcAft>
                <a:spcPts val="0"/>
              </a:spcAft>
              <a:buClrTx/>
              <a:buSzTx/>
              <a:tabLst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9821875-ABEF-94C5-5C9F-62A6F241B498}"/>
              </a:ext>
            </a:extLst>
          </p:cNvPr>
          <p:cNvSpPr/>
          <p:nvPr userDrawn="1"/>
        </p:nvSpPr>
        <p:spPr>
          <a:xfrm>
            <a:off x="244812" y="2693909"/>
            <a:ext cx="3125255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55ED841-3E70-2D52-DBCB-E944C07C3B70}"/>
              </a:ext>
            </a:extLst>
          </p:cNvPr>
          <p:cNvSpPr/>
          <p:nvPr userDrawn="1"/>
        </p:nvSpPr>
        <p:spPr>
          <a:xfrm>
            <a:off x="3487937" y="2693909"/>
            <a:ext cx="3125255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9" name="슬라이드 번호 개체 틀 2">
            <a:extLst>
              <a:ext uri="{FF2B5EF4-FFF2-40B4-BE49-F238E27FC236}">
                <a16:creationId xmlns:a16="http://schemas.microsoft.com/office/drawing/2014/main" id="{B2797B26-B1E8-6159-7F70-D2371837A9AB}"/>
              </a:ext>
            </a:extLst>
          </p:cNvPr>
          <p:cNvSpPr txBox="1">
            <a:spLocks/>
          </p:cNvSpPr>
          <p:nvPr userDrawn="1"/>
        </p:nvSpPr>
        <p:spPr>
          <a:xfrm>
            <a:off x="6349221" y="9545322"/>
            <a:ext cx="508780" cy="527403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2A9537A-DB42-4D35-B31B-5C8E293FF6D7}" type="slidenum">
              <a:rPr lang="ko-KR" altLang="en-US" sz="457" smtClean="0"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pPr algn="r"/>
              <a:t>‹#›</a:t>
            </a:fld>
            <a:endParaRPr lang="ko-KR" altLang="en-US" sz="640">
              <a:latin typeface="맑은 고딕" panose="00000600000000000000" pitchFamily="2" charset="-127"/>
              <a:ea typeface="맑은 고딕" panose="00000600000000000000" pitchFamily="2" charset="-127"/>
              <a:cs typeface="맑은 고딕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381165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42A813A-2054-9B7A-A3EE-537D2323E4B8}"/>
              </a:ext>
            </a:extLst>
          </p:cNvPr>
          <p:cNvSpPr/>
          <p:nvPr userDrawn="1"/>
        </p:nvSpPr>
        <p:spPr>
          <a:xfrm>
            <a:off x="0" y="0"/>
            <a:ext cx="6858000" cy="8168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CC0A6FCF-E2F3-8AD2-0209-5A0ACB9F8120}"/>
              </a:ext>
            </a:extLst>
          </p:cNvPr>
          <p:cNvSpPr/>
          <p:nvPr userDrawn="1"/>
        </p:nvSpPr>
        <p:spPr>
          <a:xfrm>
            <a:off x="56168" y="2"/>
            <a:ext cx="291683" cy="832380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chemeClr val="tx1">
              <a:lumMod val="95000"/>
              <a:lumOff val="5000"/>
              <a:alpha val="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4" name="자유형: 도형 3">
            <a:extLst>
              <a:ext uri="{FF2B5EF4-FFF2-40B4-BE49-F238E27FC236}">
                <a16:creationId xmlns:a16="http://schemas.microsoft.com/office/drawing/2014/main" id="{0CB78D1D-B4FE-DA6C-EE5A-0D2C0C024C53}"/>
              </a:ext>
            </a:extLst>
          </p:cNvPr>
          <p:cNvSpPr/>
          <p:nvPr userDrawn="1"/>
        </p:nvSpPr>
        <p:spPr>
          <a:xfrm>
            <a:off x="0" y="0"/>
            <a:ext cx="317814" cy="906949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rgbClr val="0074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75B00E28-9584-240E-0333-89C94C82345D}"/>
              </a:ext>
            </a:extLst>
          </p:cNvPr>
          <p:cNvSpPr/>
          <p:nvPr userDrawn="1"/>
        </p:nvSpPr>
        <p:spPr>
          <a:xfrm>
            <a:off x="-1749" y="0"/>
            <a:ext cx="283035" cy="846485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7" fmla="*/ 88356 w 545949"/>
              <a:gd name="connsiteY7" fmla="*/ 94325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545949 w 545949"/>
              <a:gd name="connsiteY0" fmla="*/ 0 h 647701"/>
              <a:gd name="connsiteX1" fmla="*/ 545949 w 545949"/>
              <a:gd name="connsiteY1" fmla="*/ 3 h 647701"/>
              <a:gd name="connsiteX2" fmla="*/ 374465 w 545949"/>
              <a:gd name="connsiteY2" fmla="*/ 568337 h 647701"/>
              <a:gd name="connsiteX3" fmla="*/ 346936 w 545949"/>
              <a:gd name="connsiteY3" fmla="*/ 613539 h 647701"/>
              <a:gd name="connsiteX4" fmla="*/ 252547 w 545949"/>
              <a:gd name="connsiteY4" fmla="*/ 647701 h 647701"/>
              <a:gd name="connsiteX5" fmla="*/ 0 w 545949"/>
              <a:gd name="connsiteY5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5949" h="647701">
                <a:moveTo>
                  <a:pt x="545949" y="0"/>
                </a:move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</a:path>
            </a:pathLst>
          </a:cu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6" name="텍스트 개체 틀 9">
            <a:extLst>
              <a:ext uri="{FF2B5EF4-FFF2-40B4-BE49-F238E27FC236}">
                <a16:creationId xmlns:a16="http://schemas.microsoft.com/office/drawing/2014/main" id="{5CC61270-E58C-4CD3-75BC-975AFBC2C2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7897" y="271413"/>
            <a:ext cx="5635526" cy="20633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ko-KR" altLang="en-US" sz="823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10000"/>
                  </a:schemeClr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defRPr>
            </a:lvl1pPr>
            <a:lvl2pPr marL="104479" indent="0">
              <a:buNone/>
              <a:defRPr lang="ko-KR" altLang="en-US" sz="823" smtClean="0"/>
            </a:lvl2pPr>
            <a:lvl3pPr marL="313437" indent="0">
              <a:buNone/>
              <a:defRPr lang="ko-KR" altLang="en-US" sz="823" smtClean="0"/>
            </a:lvl3pPr>
            <a:lvl4pPr marL="522394" indent="0">
              <a:buNone/>
              <a:defRPr lang="ko-KR" altLang="en-US" smtClean="0"/>
            </a:lvl4pPr>
            <a:lvl5pPr marL="731351" indent="0">
              <a:buNone/>
              <a:defRPr lang="ko-KR" altLang="en-US"/>
            </a:lvl5pPr>
          </a:lstStyle>
          <a:p>
            <a:pPr marL="0" marR="0" lvl="0" fontAlgn="auto">
              <a:spcAft>
                <a:spcPts val="0"/>
              </a:spcAft>
              <a:buClrTx/>
              <a:buSzTx/>
              <a:tabLst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9821875-ABEF-94C5-5C9F-62A6F241B498}"/>
              </a:ext>
            </a:extLst>
          </p:cNvPr>
          <p:cNvSpPr/>
          <p:nvPr userDrawn="1"/>
        </p:nvSpPr>
        <p:spPr>
          <a:xfrm>
            <a:off x="244810" y="2693909"/>
            <a:ext cx="6368380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1F5EF080-74F1-2009-15B4-D5D932E8218F}"/>
              </a:ext>
            </a:extLst>
          </p:cNvPr>
          <p:cNvSpPr txBox="1">
            <a:spLocks/>
          </p:cNvSpPr>
          <p:nvPr userDrawn="1"/>
        </p:nvSpPr>
        <p:spPr>
          <a:xfrm>
            <a:off x="6349221" y="9545322"/>
            <a:ext cx="508780" cy="527403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2A9537A-DB42-4D35-B31B-5C8E293FF6D7}" type="slidenum">
              <a:rPr lang="ko-KR" altLang="en-US" sz="457" smtClean="0"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pPr algn="r"/>
              <a:t>‹#›</a:t>
            </a:fld>
            <a:endParaRPr lang="ko-KR" altLang="en-US" sz="640">
              <a:latin typeface="맑은 고딕" panose="00000600000000000000" pitchFamily="2" charset="-127"/>
              <a:ea typeface="맑은 고딕" panose="00000600000000000000" pitchFamily="2" charset="-127"/>
              <a:cs typeface="맑은 고딕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735162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42A813A-2054-9B7A-A3EE-537D2323E4B8}"/>
              </a:ext>
            </a:extLst>
          </p:cNvPr>
          <p:cNvSpPr/>
          <p:nvPr userDrawn="1"/>
        </p:nvSpPr>
        <p:spPr>
          <a:xfrm>
            <a:off x="0" y="0"/>
            <a:ext cx="6858000" cy="8168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CC0A6FCF-E2F3-8AD2-0209-5A0ACB9F8120}"/>
              </a:ext>
            </a:extLst>
          </p:cNvPr>
          <p:cNvSpPr/>
          <p:nvPr userDrawn="1"/>
        </p:nvSpPr>
        <p:spPr>
          <a:xfrm>
            <a:off x="56168" y="2"/>
            <a:ext cx="291683" cy="832380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chemeClr val="tx1">
              <a:lumMod val="95000"/>
              <a:lumOff val="5000"/>
              <a:alpha val="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4" name="자유형: 도형 3">
            <a:extLst>
              <a:ext uri="{FF2B5EF4-FFF2-40B4-BE49-F238E27FC236}">
                <a16:creationId xmlns:a16="http://schemas.microsoft.com/office/drawing/2014/main" id="{0CB78D1D-B4FE-DA6C-EE5A-0D2C0C024C53}"/>
              </a:ext>
            </a:extLst>
          </p:cNvPr>
          <p:cNvSpPr/>
          <p:nvPr userDrawn="1"/>
        </p:nvSpPr>
        <p:spPr>
          <a:xfrm>
            <a:off x="0" y="0"/>
            <a:ext cx="317814" cy="906949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rgbClr val="0074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75B00E28-9584-240E-0333-89C94C82345D}"/>
              </a:ext>
            </a:extLst>
          </p:cNvPr>
          <p:cNvSpPr/>
          <p:nvPr userDrawn="1"/>
        </p:nvSpPr>
        <p:spPr>
          <a:xfrm>
            <a:off x="-1749" y="0"/>
            <a:ext cx="283035" cy="846485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7" fmla="*/ 88356 w 545949"/>
              <a:gd name="connsiteY7" fmla="*/ 94325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545949 w 545949"/>
              <a:gd name="connsiteY0" fmla="*/ 0 h 647701"/>
              <a:gd name="connsiteX1" fmla="*/ 545949 w 545949"/>
              <a:gd name="connsiteY1" fmla="*/ 3 h 647701"/>
              <a:gd name="connsiteX2" fmla="*/ 374465 w 545949"/>
              <a:gd name="connsiteY2" fmla="*/ 568337 h 647701"/>
              <a:gd name="connsiteX3" fmla="*/ 346936 w 545949"/>
              <a:gd name="connsiteY3" fmla="*/ 613539 h 647701"/>
              <a:gd name="connsiteX4" fmla="*/ 252547 w 545949"/>
              <a:gd name="connsiteY4" fmla="*/ 647701 h 647701"/>
              <a:gd name="connsiteX5" fmla="*/ 0 w 545949"/>
              <a:gd name="connsiteY5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5949" h="647701">
                <a:moveTo>
                  <a:pt x="545949" y="0"/>
                </a:move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</a:path>
            </a:pathLst>
          </a:cu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6" name="텍스트 개체 틀 9">
            <a:extLst>
              <a:ext uri="{FF2B5EF4-FFF2-40B4-BE49-F238E27FC236}">
                <a16:creationId xmlns:a16="http://schemas.microsoft.com/office/drawing/2014/main" id="{5CC61270-E58C-4CD3-75BC-975AFBC2C2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7897" y="271413"/>
            <a:ext cx="5635526" cy="20633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ko-KR" altLang="en-US" sz="823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10000"/>
                  </a:schemeClr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defRPr>
            </a:lvl1pPr>
            <a:lvl2pPr marL="104479" indent="0">
              <a:buNone/>
              <a:defRPr lang="ko-KR" altLang="en-US" sz="823" smtClean="0"/>
            </a:lvl2pPr>
            <a:lvl3pPr marL="313437" indent="0">
              <a:buNone/>
              <a:defRPr lang="ko-KR" altLang="en-US" sz="823" smtClean="0"/>
            </a:lvl3pPr>
            <a:lvl4pPr marL="522394" indent="0">
              <a:buNone/>
              <a:defRPr lang="ko-KR" altLang="en-US" smtClean="0"/>
            </a:lvl4pPr>
            <a:lvl5pPr marL="731351" indent="0">
              <a:buNone/>
              <a:defRPr lang="ko-KR" altLang="en-US"/>
            </a:lvl5pPr>
          </a:lstStyle>
          <a:p>
            <a:pPr marL="0" marR="0" lvl="0" fontAlgn="auto">
              <a:spcAft>
                <a:spcPts val="0"/>
              </a:spcAft>
              <a:buClrTx/>
              <a:buSzTx/>
              <a:tabLst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60DC690-6E34-460F-B6A4-6CF5A62EB2C3}"/>
              </a:ext>
            </a:extLst>
          </p:cNvPr>
          <p:cNvSpPr/>
          <p:nvPr userDrawn="1"/>
        </p:nvSpPr>
        <p:spPr>
          <a:xfrm>
            <a:off x="244811" y="2693909"/>
            <a:ext cx="1989132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823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72717FD-D39F-8E98-379C-C3F05153C648}"/>
              </a:ext>
            </a:extLst>
          </p:cNvPr>
          <p:cNvSpPr/>
          <p:nvPr userDrawn="1"/>
        </p:nvSpPr>
        <p:spPr>
          <a:xfrm>
            <a:off x="4624058" y="2693909"/>
            <a:ext cx="1989132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823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B5475A5-6520-B581-0354-5E7DA0EF6ADD}"/>
              </a:ext>
            </a:extLst>
          </p:cNvPr>
          <p:cNvSpPr/>
          <p:nvPr userDrawn="1"/>
        </p:nvSpPr>
        <p:spPr>
          <a:xfrm>
            <a:off x="2434435" y="2693909"/>
            <a:ext cx="1989132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823"/>
          </a:p>
        </p:txBody>
      </p:sp>
      <p:sp>
        <p:nvSpPr>
          <p:cNvPr id="7" name="슬라이드 번호 개체 틀 2">
            <a:extLst>
              <a:ext uri="{FF2B5EF4-FFF2-40B4-BE49-F238E27FC236}">
                <a16:creationId xmlns:a16="http://schemas.microsoft.com/office/drawing/2014/main" id="{D7A74A86-AF2F-4131-0264-FB4B27ABEF36}"/>
              </a:ext>
            </a:extLst>
          </p:cNvPr>
          <p:cNvSpPr txBox="1">
            <a:spLocks/>
          </p:cNvSpPr>
          <p:nvPr userDrawn="1"/>
        </p:nvSpPr>
        <p:spPr>
          <a:xfrm>
            <a:off x="6349221" y="9545322"/>
            <a:ext cx="508780" cy="527403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2A9537A-DB42-4D35-B31B-5C8E293FF6D7}" type="slidenum">
              <a:rPr lang="ko-KR" altLang="en-US" sz="457" smtClean="0"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pPr algn="r"/>
              <a:t>‹#›</a:t>
            </a:fld>
            <a:endParaRPr lang="ko-KR" altLang="en-US" sz="640">
              <a:latin typeface="맑은 고딕" panose="00000600000000000000" pitchFamily="2" charset="-127"/>
              <a:ea typeface="맑은 고딕" panose="00000600000000000000" pitchFamily="2" charset="-127"/>
              <a:cs typeface="맑은 고딕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2931341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1E447B-F4B4-4E30-97EE-52936639FAEF}"/>
              </a:ext>
            </a:extLst>
          </p:cNvPr>
          <p:cNvSpPr txBox="1"/>
          <p:nvPr userDrawn="1"/>
        </p:nvSpPr>
        <p:spPr>
          <a:xfrm flipH="1">
            <a:off x="489703" y="1285390"/>
            <a:ext cx="2125266" cy="2279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ts val="275"/>
              </a:spcBef>
            </a:pPr>
            <a:r>
              <a:rPr lang="ko-KR" altLang="en-US" sz="731" kern="12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템인트 프레젠테이션 템플릿 저작권</a:t>
            </a:r>
            <a:endParaRPr lang="en-US" altLang="ko-KR" sz="731" kern="120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F0AAC5-6251-4A45-9BE4-4EDC00C4FF72}"/>
              </a:ext>
            </a:extLst>
          </p:cNvPr>
          <p:cNvSpPr txBox="1"/>
          <p:nvPr userDrawn="1"/>
        </p:nvSpPr>
        <p:spPr>
          <a:xfrm flipH="1">
            <a:off x="489703" y="2089168"/>
            <a:ext cx="5747149" cy="709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ts val="275"/>
              </a:spcBef>
            </a:pP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본 템플릿에 제공되는 디자인 재산권은 </a:t>
            </a:r>
            <a:r>
              <a:rPr lang="ko-KR" altLang="en-US" sz="548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템인트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(quiethee8)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이 소유하고 있습니다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>
              <a:lnSpc>
                <a:spcPct val="130000"/>
              </a:lnSpc>
              <a:spcBef>
                <a:spcPts val="275"/>
              </a:spcBef>
            </a:pP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어떠한 경우에도 </a:t>
            </a:r>
            <a:r>
              <a:rPr lang="ko-KR" altLang="en-US" sz="548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템인트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템플릿 및 디자인을 유료로 복제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판매하는 것은 금지하며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재배포를 금지합니다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b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본 프레젠테이션은 비영리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비상업적인 목적으로만 사용 가능합니다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또한 홍보 목적이 아닌 내부 자료로는 사용 가능합니다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b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상업적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영리적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홍보목적인 경우에는 구매 후 사용 가능합니다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상업적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영리목적일 시에는 블로그 혹은 메일로 연락 </a:t>
            </a:r>
            <a:r>
              <a:rPr lang="ko-KR" altLang="en-US" sz="548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주시길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바랍니다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  <a:p>
            <a:pPr>
              <a:lnSpc>
                <a:spcPct val="130000"/>
              </a:lnSpc>
              <a:spcBef>
                <a:spcPts val="275"/>
              </a:spcBef>
            </a:pP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이는 다운받는 블로그에도 기재되어 있으며 다운받고 사용시에 동의한 것으로 간주합니다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 </a:t>
            </a:r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26E1EB96-6ED2-443B-ACE2-CF11854FC42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282227894"/>
              </p:ext>
            </p:extLst>
          </p:nvPr>
        </p:nvGraphicFramePr>
        <p:xfrm>
          <a:off x="489705" y="4615250"/>
          <a:ext cx="5878595" cy="42499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2775">
                  <a:extLst>
                    <a:ext uri="{9D8B030D-6E8A-4147-A177-3AD203B41FA5}">
                      <a16:colId xmlns:a16="http://schemas.microsoft.com/office/drawing/2014/main" val="3182386323"/>
                    </a:ext>
                  </a:extLst>
                </a:gridCol>
                <a:gridCol w="2622910">
                  <a:extLst>
                    <a:ext uri="{9D8B030D-6E8A-4147-A177-3AD203B41FA5}">
                      <a16:colId xmlns:a16="http://schemas.microsoft.com/office/drawing/2014/main" val="2510118193"/>
                    </a:ext>
                  </a:extLst>
                </a:gridCol>
                <a:gridCol w="2622910">
                  <a:extLst>
                    <a:ext uri="{9D8B030D-6E8A-4147-A177-3AD203B41FA5}">
                      <a16:colId xmlns:a16="http://schemas.microsoft.com/office/drawing/2014/main" val="579559814"/>
                    </a:ext>
                  </a:extLst>
                </a:gridCol>
              </a:tblGrid>
              <a:tr h="6675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분류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CD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허용범위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CD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사용금지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예시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)</a:t>
                      </a:r>
                      <a:endParaRPr lang="ko-KR" altLang="en-US" sz="1700" kern="120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C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2181525"/>
                  </a:ext>
                </a:extLst>
              </a:tr>
              <a:tr h="6675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학생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학교 과제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학교 내부 발표용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공모전 출품 금지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[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문의가능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]</a:t>
                      </a:r>
                      <a:endParaRPr lang="ko-KR" altLang="en-US" sz="1700" kern="120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4952909"/>
                  </a:ext>
                </a:extLst>
              </a:tr>
              <a:tr h="91217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기업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내부자료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보안용 자료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대외용 발표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방송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행사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프로모션 등의 홍보자료 사용 금지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7693132"/>
                  </a:ext>
                </a:extLst>
              </a:tr>
              <a:tr h="6675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학교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학교 내부 강의자료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대외용 발표 자료 및 강의자료 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1159216"/>
                  </a:ext>
                </a:extLst>
              </a:tr>
              <a:tr h="6675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기업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내부자료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보안용 자료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대외용 발표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방송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행사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프로모션 등 사용 금지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042118"/>
                  </a:ext>
                </a:extLst>
              </a:tr>
              <a:tr h="6675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기타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기타 사용 부분에는 문의 바랍니다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kern="120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20319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222598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6133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8" r:id="rId14"/>
    <p:sldLayoutId id="2147483687" r:id="rId15"/>
    <p:sldLayoutId id="2147483686" r:id="rId16"/>
    <p:sldLayoutId id="2147483650" r:id="rId17"/>
    <p:sldLayoutId id="2147483654" r:id="rId18"/>
    <p:sldLayoutId id="2147483656" r:id="rId19"/>
    <p:sldLayoutId id="2147483655" r:id="rId20"/>
    <p:sldLayoutId id="2147483652" r:id="rId21"/>
  </p:sldLayoutIdLst>
  <p:hf hdr="0" ftr="0" dt="0"/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TextBox 5">
            <a:extLst>
              <a:ext uri="{FF2B5EF4-FFF2-40B4-BE49-F238E27FC236}">
                <a16:creationId xmlns:a16="http://schemas.microsoft.com/office/drawing/2014/main" id="{5E46FF42-C36A-87C9-3A55-247FEA1EEF60}"/>
              </a:ext>
            </a:extLst>
          </p:cNvPr>
          <p:cNvSpPr txBox="1"/>
          <p:nvPr/>
        </p:nvSpPr>
        <p:spPr>
          <a:xfrm>
            <a:off x="2826170" y="1555100"/>
            <a:ext cx="3584636" cy="1632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t>기술제안서</a:t>
            </a:r>
            <a:endParaRPr lang="en-US" altLang="ko-KR" sz="1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>
                  <a:lumMod val="50000"/>
                </a:schemeClr>
              </a:solidFill>
              <a:latin typeface="맑은 고딕" panose="00000600000000000000" pitchFamily="2" charset="-127"/>
              <a:ea typeface="맑은 고딕" panose="00000600000000000000" pitchFamily="2" charset="-127"/>
              <a:cs typeface="맑은 고딕" panose="00000600000000000000" pitchFamily="2" charset="-127"/>
            </a:endParaRPr>
          </a:p>
          <a:p>
            <a:pPr algn="r">
              <a:lnSpc>
                <a:spcPct val="150000"/>
              </a:lnSpc>
            </a:pPr>
            <a:r>
              <a:rPr lang="en-US" altLang="ko-KR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AI 기반 주차 수요예측·</a:t>
            </a:r>
            <a:endParaRPr lang="en-US" altLang="ko-KR" sz="28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0070C0"/>
              </a:solidFill>
              <a:latin typeface="a옛날사진관5" panose="02020600000000000000" pitchFamily="18" charset="-127"/>
              <a:ea typeface="a옛날사진관5" panose="02020600000000000000" pitchFamily="18" charset="-127"/>
            </a:endParaRPr>
          </a:p>
          <a:p>
            <a:pPr algn="r">
              <a:lnSpc>
                <a:spcPct val="150000"/>
              </a:lnSpc>
            </a:pPr>
            <a:r>
              <a:rPr lang="en-US" altLang="ko-KR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자동감면 서비스 개발 용역</a:t>
            </a:r>
            <a:endParaRPr lang="en-US" altLang="ko-KR" sz="28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0070C0"/>
              </a:solidFill>
              <a:latin typeface="a옛날사진관5" panose="02020600000000000000" pitchFamily="18" charset="-127"/>
              <a:ea typeface="a옛날사진관5" panose="02020600000000000000" pitchFamily="18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AEF8EA-14B3-6E55-F0E1-066986D1E0FA}"/>
              </a:ext>
            </a:extLst>
          </p:cNvPr>
          <p:cNvSpPr txBox="1"/>
          <p:nvPr/>
        </p:nvSpPr>
        <p:spPr>
          <a:xfrm>
            <a:off x="4601846" y="3560894"/>
            <a:ext cx="17604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2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사업PM </a:t>
            </a:r>
            <a:r>
              <a:rPr lang="ko-KR" altLang="en-US" sz="1200" b="1">
                <a:solidFill>
                  <a:srgbClr val="E00000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【성명】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8C5FC7-1811-9A2D-3F96-29EC88554124}"/>
              </a:ext>
            </a:extLst>
          </p:cNvPr>
          <p:cNvSpPr txBox="1"/>
          <p:nvPr/>
        </p:nvSpPr>
        <p:spPr>
          <a:xfrm>
            <a:off x="3660241" y="4152781"/>
            <a:ext cx="2291653" cy="11772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30598" indent="-130598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t>제출기관: (주)에이치나인</a:t>
            </a:r>
          </a:p>
          <a:p>
            <a:pPr marL="130598" indent="-130598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t>발주기관: ㈜동성아이텍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" name="TextBox 16">
            <a:extLst>
              <a:ext uri="{FF2B5EF4-FFF2-40B4-BE49-F238E27FC236}">
                <a16:creationId xmlns:a16="http://schemas.microsoft.com/office/drawing/2014/main" id="{1ED316A1-3D0B-757D-AEF4-F34868C8FC6D}"/>
              </a:ext>
            </a:extLst>
          </p:cNvPr>
          <p:cNvSpPr txBox="1"/>
          <p:nvPr/>
        </p:nvSpPr>
        <p:spPr>
          <a:xfrm>
            <a:off x="963899" y="1892346"/>
            <a:ext cx="4179139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altLang="ko-KR" sz="2800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70C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CONTENTS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23660C-AD3D-186F-0EF1-52BEE39D9A52}"/>
              </a:ext>
            </a:extLst>
          </p:cNvPr>
          <p:cNvSpPr txBox="1"/>
          <p:nvPr/>
        </p:nvSpPr>
        <p:spPr>
          <a:xfrm>
            <a:off x="1792637" y="2778782"/>
            <a:ext cx="3027013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defPPr>
              <a:defRPr lang="ko-KR"/>
            </a:defPPr>
            <a:lvl1pPr algn="ctr">
              <a:defRPr sz="2000">
                <a:solidFill>
                  <a:srgbClr val="00FE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itchFamily="18" charset="-127"/>
                <a:ea typeface="KoPub돋움체 Bold" pitchFamily="18" charset="-127"/>
              </a:defRPr>
            </a:lvl1pPr>
          </a:lstStyle>
          <a:p>
            <a:pPr algn="l" defTabSz="487783"/>
            <a:r>
              <a:rPr lang="ko-KR" altLang="en-US" sz="1800" b="1">
                <a:solidFill>
                  <a:schemeClr val="tx1"/>
                </a:solidFill>
                <a:effectLst/>
                <a:latin typeface="맑은 고딕" panose="00000800000000000000" pitchFamily="2" charset="-127"/>
                <a:ea typeface="맑은 고딕" panose="00000800000000000000" pitchFamily="2" charset="-127"/>
              </a:rPr>
              <a:t>제안개요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973BF974-F27A-A26D-92AE-A3FDA5DBD9B9}"/>
              </a:ext>
            </a:extLst>
          </p:cNvPr>
          <p:cNvSpPr/>
          <p:nvPr/>
        </p:nvSpPr>
        <p:spPr>
          <a:xfrm>
            <a:off x="997744" y="2671265"/>
            <a:ext cx="463836" cy="463836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0800000" scaled="0"/>
          </a:gra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 panose="00000300000000000000" pitchFamily="2" charset="-127"/>
              <a:ea typeface="맑은 고딕" panose="00000300000000000000" pitchFamily="2" charset="-127"/>
              <a:cs typeface="+mn-cs"/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AFF93279-6419-FEFA-DC07-59D0D037F171}"/>
              </a:ext>
            </a:extLst>
          </p:cNvPr>
          <p:cNvCxnSpPr>
            <a:cxnSpLocks/>
          </p:cNvCxnSpPr>
          <p:nvPr/>
        </p:nvCxnSpPr>
        <p:spPr>
          <a:xfrm>
            <a:off x="1457325" y="2893304"/>
            <a:ext cx="179070" cy="0"/>
          </a:xfrm>
          <a:prstGeom prst="straightConnector1">
            <a:avLst/>
          </a:prstGeom>
          <a:ln>
            <a:solidFill>
              <a:srgbClr val="00B0F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C71D9D8-E904-42CE-D557-CF9EB8160CF4}"/>
              </a:ext>
            </a:extLst>
          </p:cNvPr>
          <p:cNvSpPr txBox="1"/>
          <p:nvPr/>
        </p:nvSpPr>
        <p:spPr>
          <a:xfrm>
            <a:off x="1026096" y="2673089"/>
            <a:ext cx="419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Ⅰ</a:t>
            </a: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KoPub바탕체 Bold" panose="00000800000000000000" pitchFamily="2" charset="-127"/>
              <a:ea typeface="KoPub바탕체 Bold" panose="00000800000000000000" pitchFamily="2" charset="-127"/>
            </a:endParaRP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706EACA4-2A8B-84E5-3AB9-081E6CC8A010}"/>
              </a:ext>
            </a:extLst>
          </p:cNvPr>
          <p:cNvCxnSpPr/>
          <p:nvPr/>
        </p:nvCxnSpPr>
        <p:spPr>
          <a:xfrm>
            <a:off x="1792637" y="3168946"/>
            <a:ext cx="2715863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923660C-AD3D-186F-0EF1-52BEE39D9A52}"/>
              </a:ext>
            </a:extLst>
          </p:cNvPr>
          <p:cNvSpPr txBox="1"/>
          <p:nvPr/>
        </p:nvSpPr>
        <p:spPr>
          <a:xfrm>
            <a:off x="1792637" y="3341282"/>
            <a:ext cx="3027013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defPPr>
              <a:defRPr lang="ko-KR"/>
            </a:defPPr>
            <a:lvl1pPr algn="ctr">
              <a:defRPr sz="2000">
                <a:solidFill>
                  <a:srgbClr val="00FE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itchFamily="18" charset="-127"/>
                <a:ea typeface="KoPub돋움체 Bold" pitchFamily="18" charset="-127"/>
              </a:defRPr>
            </a:lvl1pPr>
          </a:lstStyle>
          <a:p>
            <a:pPr algn="l" defTabSz="487783"/>
            <a:r>
              <a:rPr lang="ko-KR" altLang="en-US" sz="1800" b="1">
                <a:solidFill>
                  <a:schemeClr val="tx1"/>
                </a:solidFill>
                <a:effectLst/>
                <a:latin typeface="맑은 고딕" panose="00000800000000000000" pitchFamily="2" charset="-127"/>
                <a:ea typeface="맑은 고딕" panose="00000800000000000000" pitchFamily="2" charset="-127"/>
              </a:rPr>
              <a:t>제안사 현황 및 수행역량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973BF974-F27A-A26D-92AE-A3FDA5DBD9B9}"/>
              </a:ext>
            </a:extLst>
          </p:cNvPr>
          <p:cNvSpPr/>
          <p:nvPr/>
        </p:nvSpPr>
        <p:spPr>
          <a:xfrm>
            <a:off x="997744" y="3233765"/>
            <a:ext cx="463836" cy="463836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0800000" scaled="0"/>
          </a:gra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 panose="00000300000000000000" pitchFamily="2" charset="-127"/>
              <a:ea typeface="맑은 고딕" panose="00000300000000000000" pitchFamily="2" charset="-127"/>
              <a:cs typeface="+mn-cs"/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AFF93279-6419-FEFA-DC07-59D0D037F171}"/>
              </a:ext>
            </a:extLst>
          </p:cNvPr>
          <p:cNvCxnSpPr>
            <a:cxnSpLocks/>
          </p:cNvCxnSpPr>
          <p:nvPr/>
        </p:nvCxnSpPr>
        <p:spPr>
          <a:xfrm>
            <a:off x="1457325" y="3455804"/>
            <a:ext cx="179070" cy="0"/>
          </a:xfrm>
          <a:prstGeom prst="straightConnector1">
            <a:avLst/>
          </a:prstGeom>
          <a:ln>
            <a:solidFill>
              <a:srgbClr val="00B0F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C71D9D8-E904-42CE-D557-CF9EB8160CF4}"/>
              </a:ext>
            </a:extLst>
          </p:cNvPr>
          <p:cNvSpPr txBox="1"/>
          <p:nvPr/>
        </p:nvSpPr>
        <p:spPr>
          <a:xfrm>
            <a:off x="1026096" y="3235589"/>
            <a:ext cx="419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Ⅱ</a:t>
            </a: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KoPub바탕체 Bold" panose="00000800000000000000" pitchFamily="2" charset="-127"/>
              <a:ea typeface="KoPub바탕체 Bold" panose="00000800000000000000" pitchFamily="2" charset="-127"/>
            </a:endParaRP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706EACA4-2A8B-84E5-3AB9-081E6CC8A010}"/>
              </a:ext>
            </a:extLst>
          </p:cNvPr>
          <p:cNvCxnSpPr/>
          <p:nvPr/>
        </p:nvCxnSpPr>
        <p:spPr>
          <a:xfrm>
            <a:off x="1792637" y="3731446"/>
            <a:ext cx="2715863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923660C-AD3D-186F-0EF1-52BEE39D9A52}"/>
              </a:ext>
            </a:extLst>
          </p:cNvPr>
          <p:cNvSpPr txBox="1"/>
          <p:nvPr/>
        </p:nvSpPr>
        <p:spPr>
          <a:xfrm>
            <a:off x="1792637" y="3903782"/>
            <a:ext cx="3027013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defPPr>
              <a:defRPr lang="ko-KR"/>
            </a:defPPr>
            <a:lvl1pPr algn="ctr">
              <a:defRPr sz="2000">
                <a:solidFill>
                  <a:srgbClr val="00FE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itchFamily="18" charset="-127"/>
                <a:ea typeface="KoPub돋움체 Bold" pitchFamily="18" charset="-127"/>
              </a:defRPr>
            </a:lvl1pPr>
          </a:lstStyle>
          <a:p>
            <a:pPr algn="l" defTabSz="487783"/>
            <a:r>
              <a:rPr lang="ko-KR" altLang="en-US" sz="1800" b="1">
                <a:solidFill>
                  <a:schemeClr val="tx1"/>
                </a:solidFill>
                <a:effectLst/>
                <a:latin typeface="맑은 고딕" panose="00000800000000000000" pitchFamily="2" charset="-127"/>
                <a:ea typeface="맑은 고딕" panose="00000800000000000000" pitchFamily="2" charset="-127"/>
              </a:rPr>
              <a:t>사업 추진전략 및 수행방법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973BF974-F27A-A26D-92AE-A3FDA5DBD9B9}"/>
              </a:ext>
            </a:extLst>
          </p:cNvPr>
          <p:cNvSpPr/>
          <p:nvPr/>
        </p:nvSpPr>
        <p:spPr>
          <a:xfrm>
            <a:off x="997744" y="3796265"/>
            <a:ext cx="463836" cy="463836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0800000" scaled="0"/>
          </a:gra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 panose="00000300000000000000" pitchFamily="2" charset="-127"/>
              <a:ea typeface="맑은 고딕" panose="00000300000000000000" pitchFamily="2" charset="-127"/>
              <a:cs typeface="+mn-cs"/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AFF93279-6419-FEFA-DC07-59D0D037F171}"/>
              </a:ext>
            </a:extLst>
          </p:cNvPr>
          <p:cNvCxnSpPr>
            <a:cxnSpLocks/>
          </p:cNvCxnSpPr>
          <p:nvPr/>
        </p:nvCxnSpPr>
        <p:spPr>
          <a:xfrm>
            <a:off x="1457325" y="4018304"/>
            <a:ext cx="179070" cy="0"/>
          </a:xfrm>
          <a:prstGeom prst="straightConnector1">
            <a:avLst/>
          </a:prstGeom>
          <a:ln>
            <a:solidFill>
              <a:srgbClr val="00B0F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C71D9D8-E904-42CE-D557-CF9EB8160CF4}"/>
              </a:ext>
            </a:extLst>
          </p:cNvPr>
          <p:cNvSpPr txBox="1"/>
          <p:nvPr/>
        </p:nvSpPr>
        <p:spPr>
          <a:xfrm>
            <a:off x="1026096" y="3798089"/>
            <a:ext cx="419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Ⅲ</a:t>
            </a: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KoPub바탕체 Bold" panose="00000800000000000000" pitchFamily="2" charset="-127"/>
              <a:ea typeface="KoPub바탕체 Bold" panose="00000800000000000000" pitchFamily="2" charset="-127"/>
            </a:endParaRP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706EACA4-2A8B-84E5-3AB9-081E6CC8A010}"/>
              </a:ext>
            </a:extLst>
          </p:cNvPr>
          <p:cNvCxnSpPr/>
          <p:nvPr/>
        </p:nvCxnSpPr>
        <p:spPr>
          <a:xfrm>
            <a:off x="1792637" y="4293946"/>
            <a:ext cx="2715863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923660C-AD3D-186F-0EF1-52BEE39D9A52}"/>
              </a:ext>
            </a:extLst>
          </p:cNvPr>
          <p:cNvSpPr txBox="1"/>
          <p:nvPr/>
        </p:nvSpPr>
        <p:spPr>
          <a:xfrm>
            <a:off x="1792637" y="4466282"/>
            <a:ext cx="3027013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defPPr>
              <a:defRPr lang="ko-KR"/>
            </a:defPPr>
            <a:lvl1pPr algn="ctr">
              <a:defRPr sz="2000">
                <a:solidFill>
                  <a:srgbClr val="00FE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itchFamily="18" charset="-127"/>
                <a:ea typeface="KoPub돋움체 Bold" pitchFamily="18" charset="-127"/>
              </a:defRPr>
            </a:lvl1pPr>
          </a:lstStyle>
          <a:p>
            <a:pPr algn="l" defTabSz="487783"/>
            <a:r>
              <a:rPr lang="ko-KR" altLang="en-US" sz="1800" b="1">
                <a:solidFill>
                  <a:schemeClr val="tx1"/>
                </a:solidFill>
                <a:effectLst/>
                <a:latin typeface="맑은 고딕" panose="00000800000000000000" pitchFamily="2" charset="-127"/>
                <a:ea typeface="맑은 고딕" panose="00000800000000000000" pitchFamily="2" charset="-127"/>
              </a:rPr>
              <a:t>AI 기반 주차 수요예측 및 운영 최적화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973BF974-F27A-A26D-92AE-A3FDA5DBD9B9}"/>
              </a:ext>
            </a:extLst>
          </p:cNvPr>
          <p:cNvSpPr/>
          <p:nvPr/>
        </p:nvSpPr>
        <p:spPr>
          <a:xfrm>
            <a:off x="997744" y="4358765"/>
            <a:ext cx="463836" cy="463836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0800000" scaled="0"/>
          </a:gra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 panose="00000300000000000000" pitchFamily="2" charset="-127"/>
              <a:ea typeface="맑은 고딕" panose="00000300000000000000" pitchFamily="2" charset="-127"/>
              <a:cs typeface="+mn-cs"/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AFF93279-6419-FEFA-DC07-59D0D037F171}"/>
              </a:ext>
            </a:extLst>
          </p:cNvPr>
          <p:cNvCxnSpPr>
            <a:cxnSpLocks/>
          </p:cNvCxnSpPr>
          <p:nvPr/>
        </p:nvCxnSpPr>
        <p:spPr>
          <a:xfrm>
            <a:off x="1457325" y="4580804"/>
            <a:ext cx="179070" cy="0"/>
          </a:xfrm>
          <a:prstGeom prst="straightConnector1">
            <a:avLst/>
          </a:prstGeom>
          <a:ln>
            <a:solidFill>
              <a:srgbClr val="00B0F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C71D9D8-E904-42CE-D557-CF9EB8160CF4}"/>
              </a:ext>
            </a:extLst>
          </p:cNvPr>
          <p:cNvSpPr txBox="1"/>
          <p:nvPr/>
        </p:nvSpPr>
        <p:spPr>
          <a:xfrm>
            <a:off x="1026096" y="4360589"/>
            <a:ext cx="419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Ⅳ</a:t>
            </a: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KoPub바탕체 Bold" panose="00000800000000000000" pitchFamily="2" charset="-127"/>
              <a:ea typeface="KoPub바탕체 Bold" panose="00000800000000000000" pitchFamily="2" charset="-127"/>
            </a:endParaRP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706EACA4-2A8B-84E5-3AB9-081E6CC8A010}"/>
              </a:ext>
            </a:extLst>
          </p:cNvPr>
          <p:cNvCxnSpPr/>
          <p:nvPr/>
        </p:nvCxnSpPr>
        <p:spPr>
          <a:xfrm>
            <a:off x="1792637" y="4856446"/>
            <a:ext cx="2715863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923660C-AD3D-186F-0EF1-52BEE39D9A52}"/>
              </a:ext>
            </a:extLst>
          </p:cNvPr>
          <p:cNvSpPr txBox="1"/>
          <p:nvPr/>
        </p:nvSpPr>
        <p:spPr>
          <a:xfrm>
            <a:off x="1792637" y="5028782"/>
            <a:ext cx="3027013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defPPr>
              <a:defRPr lang="ko-KR"/>
            </a:defPPr>
            <a:lvl1pPr algn="ctr">
              <a:defRPr sz="2000">
                <a:solidFill>
                  <a:srgbClr val="00FE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itchFamily="18" charset="-127"/>
                <a:ea typeface="KoPub돋움체 Bold" pitchFamily="18" charset="-127"/>
              </a:defRPr>
            </a:lvl1pPr>
          </a:lstStyle>
          <a:p>
            <a:pPr algn="l" defTabSz="487783"/>
            <a:r>
              <a:rPr lang="ko-KR" altLang="en-US" sz="1800" b="1">
                <a:solidFill>
                  <a:schemeClr val="tx1"/>
                </a:solidFill>
                <a:effectLst/>
                <a:latin typeface="맑은 고딕" panose="00000800000000000000" pitchFamily="2" charset="-127"/>
                <a:ea typeface="맑은 고딕" panose="00000800000000000000" pitchFamily="2" charset="-127"/>
              </a:rPr>
              <a:t>AI 기반 자동감면 기능 개발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973BF974-F27A-A26D-92AE-A3FDA5DBD9B9}"/>
              </a:ext>
            </a:extLst>
          </p:cNvPr>
          <p:cNvSpPr/>
          <p:nvPr/>
        </p:nvSpPr>
        <p:spPr>
          <a:xfrm>
            <a:off x="997744" y="4921265"/>
            <a:ext cx="463836" cy="463836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0800000" scaled="0"/>
          </a:gra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 panose="00000300000000000000" pitchFamily="2" charset="-127"/>
              <a:ea typeface="맑은 고딕" panose="00000300000000000000" pitchFamily="2" charset="-127"/>
              <a:cs typeface="+mn-cs"/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AFF93279-6419-FEFA-DC07-59D0D037F171}"/>
              </a:ext>
            </a:extLst>
          </p:cNvPr>
          <p:cNvCxnSpPr>
            <a:cxnSpLocks/>
          </p:cNvCxnSpPr>
          <p:nvPr/>
        </p:nvCxnSpPr>
        <p:spPr>
          <a:xfrm>
            <a:off x="1457325" y="5143304"/>
            <a:ext cx="179070" cy="0"/>
          </a:xfrm>
          <a:prstGeom prst="straightConnector1">
            <a:avLst/>
          </a:prstGeom>
          <a:ln>
            <a:solidFill>
              <a:srgbClr val="00B0F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C71D9D8-E904-42CE-D557-CF9EB8160CF4}"/>
              </a:ext>
            </a:extLst>
          </p:cNvPr>
          <p:cNvSpPr txBox="1"/>
          <p:nvPr/>
        </p:nvSpPr>
        <p:spPr>
          <a:xfrm>
            <a:off x="1026096" y="4923089"/>
            <a:ext cx="419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Ⅴ</a:t>
            </a: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KoPub바탕체 Bold" panose="00000800000000000000" pitchFamily="2" charset="-127"/>
              <a:ea typeface="KoPub바탕체 Bold" panose="00000800000000000000" pitchFamily="2" charset="-127"/>
            </a:endParaRP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706EACA4-2A8B-84E5-3AB9-081E6CC8A010}"/>
              </a:ext>
            </a:extLst>
          </p:cNvPr>
          <p:cNvCxnSpPr/>
          <p:nvPr/>
        </p:nvCxnSpPr>
        <p:spPr>
          <a:xfrm>
            <a:off x="1792637" y="5418946"/>
            <a:ext cx="2715863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923660C-AD3D-186F-0EF1-52BEE39D9A52}"/>
              </a:ext>
            </a:extLst>
          </p:cNvPr>
          <p:cNvSpPr txBox="1"/>
          <p:nvPr/>
        </p:nvSpPr>
        <p:spPr>
          <a:xfrm>
            <a:off x="1792637" y="5591282"/>
            <a:ext cx="3027013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defPPr>
              <a:defRPr lang="ko-KR"/>
            </a:defPPr>
            <a:lvl1pPr algn="ctr">
              <a:defRPr sz="2000">
                <a:solidFill>
                  <a:srgbClr val="00FE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itchFamily="18" charset="-127"/>
                <a:ea typeface="KoPub돋움체 Bold" pitchFamily="18" charset="-127"/>
              </a:defRPr>
            </a:lvl1pPr>
          </a:lstStyle>
          <a:p>
            <a:pPr algn="l" defTabSz="487783"/>
            <a:r>
              <a:rPr lang="ko-KR" altLang="en-US" sz="1800" b="1">
                <a:solidFill>
                  <a:schemeClr val="tx1"/>
                </a:solidFill>
                <a:effectLst/>
                <a:latin typeface="맑은 고딕" panose="00000800000000000000" pitchFamily="2" charset="-127"/>
                <a:ea typeface="맑은 고딕" panose="00000800000000000000" pitchFamily="2" charset="-127"/>
              </a:rPr>
              <a:t>시스템 연계 및 성능검증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973BF974-F27A-A26D-92AE-A3FDA5DBD9B9}"/>
              </a:ext>
            </a:extLst>
          </p:cNvPr>
          <p:cNvSpPr/>
          <p:nvPr/>
        </p:nvSpPr>
        <p:spPr>
          <a:xfrm>
            <a:off x="997744" y="5483765"/>
            <a:ext cx="463836" cy="463836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0800000" scaled="0"/>
          </a:gra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 panose="00000300000000000000" pitchFamily="2" charset="-127"/>
              <a:ea typeface="맑은 고딕" panose="00000300000000000000" pitchFamily="2" charset="-127"/>
              <a:cs typeface="+mn-cs"/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AFF93279-6419-FEFA-DC07-59D0D037F171}"/>
              </a:ext>
            </a:extLst>
          </p:cNvPr>
          <p:cNvCxnSpPr>
            <a:cxnSpLocks/>
          </p:cNvCxnSpPr>
          <p:nvPr/>
        </p:nvCxnSpPr>
        <p:spPr>
          <a:xfrm>
            <a:off x="1457325" y="5705804"/>
            <a:ext cx="179070" cy="0"/>
          </a:xfrm>
          <a:prstGeom prst="straightConnector1">
            <a:avLst/>
          </a:prstGeom>
          <a:ln>
            <a:solidFill>
              <a:srgbClr val="00B0F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C71D9D8-E904-42CE-D557-CF9EB8160CF4}"/>
              </a:ext>
            </a:extLst>
          </p:cNvPr>
          <p:cNvSpPr txBox="1"/>
          <p:nvPr/>
        </p:nvSpPr>
        <p:spPr>
          <a:xfrm>
            <a:off x="1026096" y="5485589"/>
            <a:ext cx="419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Ⅵ</a:t>
            </a: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KoPub바탕체 Bold" panose="00000800000000000000" pitchFamily="2" charset="-127"/>
              <a:ea typeface="KoPub바탕체 Bold" panose="00000800000000000000" pitchFamily="2" charset="-127"/>
            </a:endParaRP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706EACA4-2A8B-84E5-3AB9-081E6CC8A010}"/>
              </a:ext>
            </a:extLst>
          </p:cNvPr>
          <p:cNvCxnSpPr/>
          <p:nvPr/>
        </p:nvCxnSpPr>
        <p:spPr>
          <a:xfrm>
            <a:off x="1792637" y="5981446"/>
            <a:ext cx="2715863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923660C-AD3D-186F-0EF1-52BEE39D9A52}"/>
              </a:ext>
            </a:extLst>
          </p:cNvPr>
          <p:cNvSpPr txBox="1"/>
          <p:nvPr/>
        </p:nvSpPr>
        <p:spPr>
          <a:xfrm>
            <a:off x="1792637" y="6153782"/>
            <a:ext cx="3027013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defPPr>
              <a:defRPr lang="ko-KR"/>
            </a:defPPr>
            <a:lvl1pPr algn="ctr">
              <a:defRPr sz="2000">
                <a:solidFill>
                  <a:srgbClr val="00FE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itchFamily="18" charset="-127"/>
                <a:ea typeface="KoPub돋움체 Bold" pitchFamily="18" charset="-127"/>
              </a:defRPr>
            </a:lvl1pPr>
          </a:lstStyle>
          <a:p>
            <a:pPr algn="l" defTabSz="487783"/>
            <a:r>
              <a:rPr lang="ko-KR" altLang="en-US" sz="1800" b="1">
                <a:solidFill>
                  <a:schemeClr val="tx1"/>
                </a:solidFill>
                <a:effectLst/>
                <a:latin typeface="맑은 고딕" panose="00000800000000000000" pitchFamily="2" charset="-127"/>
                <a:ea typeface="맑은 고딕" panose="00000800000000000000" pitchFamily="2" charset="-127"/>
              </a:rPr>
              <a:t>품질·보안 및 기술이전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973BF974-F27A-A26D-92AE-A3FDA5DBD9B9}"/>
              </a:ext>
            </a:extLst>
          </p:cNvPr>
          <p:cNvSpPr/>
          <p:nvPr/>
        </p:nvSpPr>
        <p:spPr>
          <a:xfrm>
            <a:off x="997744" y="6046265"/>
            <a:ext cx="463836" cy="463836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0800000" scaled="0"/>
          </a:gra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 panose="00000300000000000000" pitchFamily="2" charset="-127"/>
              <a:ea typeface="맑은 고딕" panose="00000300000000000000" pitchFamily="2" charset="-127"/>
              <a:cs typeface="+mn-cs"/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AFF93279-6419-FEFA-DC07-59D0D037F171}"/>
              </a:ext>
            </a:extLst>
          </p:cNvPr>
          <p:cNvCxnSpPr>
            <a:cxnSpLocks/>
          </p:cNvCxnSpPr>
          <p:nvPr/>
        </p:nvCxnSpPr>
        <p:spPr>
          <a:xfrm>
            <a:off x="1457325" y="6268304"/>
            <a:ext cx="179070" cy="0"/>
          </a:xfrm>
          <a:prstGeom prst="straightConnector1">
            <a:avLst/>
          </a:prstGeom>
          <a:ln>
            <a:solidFill>
              <a:srgbClr val="00B0F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C71D9D8-E904-42CE-D557-CF9EB8160CF4}"/>
              </a:ext>
            </a:extLst>
          </p:cNvPr>
          <p:cNvSpPr txBox="1"/>
          <p:nvPr/>
        </p:nvSpPr>
        <p:spPr>
          <a:xfrm>
            <a:off x="1026096" y="6048089"/>
            <a:ext cx="419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Ⅶ</a:t>
            </a: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KoPub바탕체 Bold" panose="00000800000000000000" pitchFamily="2" charset="-127"/>
              <a:ea typeface="KoPub바탕체 Bold" panose="00000800000000000000" pitchFamily="2" charset="-127"/>
            </a:endParaRP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706EACA4-2A8B-84E5-3AB9-081E6CC8A010}"/>
              </a:ext>
            </a:extLst>
          </p:cNvPr>
          <p:cNvCxnSpPr/>
          <p:nvPr/>
        </p:nvCxnSpPr>
        <p:spPr>
          <a:xfrm>
            <a:off x="1792637" y="6543946"/>
            <a:ext cx="2715863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923660C-AD3D-186F-0EF1-52BEE39D9A52}"/>
              </a:ext>
            </a:extLst>
          </p:cNvPr>
          <p:cNvSpPr txBox="1"/>
          <p:nvPr/>
        </p:nvSpPr>
        <p:spPr>
          <a:xfrm>
            <a:off x="1792637" y="6716282"/>
            <a:ext cx="3027013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defPPr>
              <a:defRPr lang="ko-KR"/>
            </a:defPPr>
            <a:lvl1pPr algn="ctr">
              <a:defRPr sz="2000">
                <a:solidFill>
                  <a:srgbClr val="00FE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itchFamily="18" charset="-127"/>
                <a:ea typeface="KoPub돋움체 Bold" pitchFamily="18" charset="-127"/>
              </a:defRPr>
            </a:lvl1pPr>
          </a:lstStyle>
          <a:p>
            <a:pPr algn="l" defTabSz="487783"/>
            <a:r>
              <a:rPr lang="ko-KR" altLang="en-US" sz="1800" b="1">
                <a:solidFill>
                  <a:schemeClr val="tx1"/>
                </a:solidFill>
                <a:effectLst/>
                <a:latin typeface="맑은 고딕" panose="00000800000000000000" pitchFamily="2" charset="-127"/>
                <a:ea typeface="맑은 고딕" panose="00000800000000000000" pitchFamily="2" charset="-127"/>
              </a:rPr>
              <a:t>사업 수행 및 관리방안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973BF974-F27A-A26D-92AE-A3FDA5DBD9B9}"/>
              </a:ext>
            </a:extLst>
          </p:cNvPr>
          <p:cNvSpPr/>
          <p:nvPr/>
        </p:nvSpPr>
        <p:spPr>
          <a:xfrm>
            <a:off x="997744" y="6608765"/>
            <a:ext cx="463836" cy="463836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0800000" scaled="0"/>
          </a:gra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 panose="00000300000000000000" pitchFamily="2" charset="-127"/>
              <a:ea typeface="맑은 고딕" panose="00000300000000000000" pitchFamily="2" charset="-127"/>
              <a:cs typeface="+mn-cs"/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AFF93279-6419-FEFA-DC07-59D0D037F171}"/>
              </a:ext>
            </a:extLst>
          </p:cNvPr>
          <p:cNvCxnSpPr>
            <a:cxnSpLocks/>
          </p:cNvCxnSpPr>
          <p:nvPr/>
        </p:nvCxnSpPr>
        <p:spPr>
          <a:xfrm>
            <a:off x="1457325" y="6830804"/>
            <a:ext cx="179070" cy="0"/>
          </a:xfrm>
          <a:prstGeom prst="straightConnector1">
            <a:avLst/>
          </a:prstGeom>
          <a:ln>
            <a:solidFill>
              <a:srgbClr val="00B0F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C71D9D8-E904-42CE-D557-CF9EB8160CF4}"/>
              </a:ext>
            </a:extLst>
          </p:cNvPr>
          <p:cNvSpPr txBox="1"/>
          <p:nvPr/>
        </p:nvSpPr>
        <p:spPr>
          <a:xfrm>
            <a:off x="1026096" y="6610589"/>
            <a:ext cx="419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Ⅷ</a:t>
            </a: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KoPub바탕체 Bold" panose="00000800000000000000" pitchFamily="2" charset="-127"/>
              <a:ea typeface="KoPub바탕체 Bold" panose="00000800000000000000" pitchFamily="2" charset="-127"/>
            </a:endParaRP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706EACA4-2A8B-84E5-3AB9-081E6CC8A010}"/>
              </a:ext>
            </a:extLst>
          </p:cNvPr>
          <p:cNvCxnSpPr/>
          <p:nvPr/>
        </p:nvCxnSpPr>
        <p:spPr>
          <a:xfrm>
            <a:off x="1792637" y="7106446"/>
            <a:ext cx="2715863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>
            <a:extLst>
              <a:ext uri="{FF2B5EF4-FFF2-40B4-BE49-F238E27FC236}">
                <a16:creationId xmlns:a16="http://schemas.microsoft.com/office/drawing/2014/main" id="{8DF5FEDB-ABA7-CD11-C7AD-E40BDE3B293E}"/>
              </a:ext>
            </a:extLst>
          </p:cNvPr>
          <p:cNvSpPr txBox="1"/>
          <p:nvPr/>
        </p:nvSpPr>
        <p:spPr>
          <a:xfrm>
            <a:off x="1416060" y="1498812"/>
            <a:ext cx="5126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제안개요</a:t>
            </a: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1D84C8F8-5169-F371-3701-8467EC5A1DB8}"/>
              </a:ext>
            </a:extLst>
          </p:cNvPr>
          <p:cNvSpPr txBox="1"/>
          <p:nvPr/>
        </p:nvSpPr>
        <p:spPr>
          <a:xfrm>
            <a:off x="315018" y="1209008"/>
            <a:ext cx="1101042" cy="1142350"/>
          </a:xfrm>
          <a:prstGeom prst="rect">
            <a:avLst/>
          </a:prstGeom>
          <a:noFill/>
          <a:effectLst/>
        </p:spPr>
        <p:txBody>
          <a:bodyPr wrap="none" lIns="34022" tIns="17011" rIns="34022" bIns="17011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defTabSz="208696" latinLnBrk="0">
              <a:defRPr/>
            </a:pPr>
            <a:r>
              <a:rPr kumimoji="1" lang="en-US" altLang="ko-KR" sz="7200" b="1">
                <a:ln>
                  <a:solidFill>
                    <a:srgbClr val="4FD1FF">
                      <a:alpha val="0"/>
                    </a:srgbClr>
                  </a:solidFill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dhabi" panose="01000000000000000000" pitchFamily="2" charset="-78"/>
                <a:ea typeface="맑은 고딕" panose="00000800000000000000" pitchFamily="2" charset="-127"/>
                <a:cs typeface="Aldhabi" panose="01000000000000000000" pitchFamily="2" charset="-78"/>
              </a:rPr>
              <a:t>Ⅰ.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E0BB873-3323-D7E3-9919-67D51240FAB2}"/>
              </a:ext>
            </a:extLst>
          </p:cNvPr>
          <p:cNvCxnSpPr>
            <a:cxnSpLocks/>
          </p:cNvCxnSpPr>
          <p:nvPr/>
        </p:nvCxnSpPr>
        <p:spPr>
          <a:xfrm>
            <a:off x="713137" y="2472264"/>
            <a:ext cx="3528663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A023684-4D4D-73A4-B973-1E990C2DFFB4}"/>
              </a:ext>
            </a:extLst>
          </p:cNvPr>
          <p:cNvSpPr txBox="1"/>
          <p:nvPr/>
        </p:nvSpPr>
        <p:spPr>
          <a:xfrm>
            <a:off x="713137" y="2517722"/>
            <a:ext cx="4913749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사업 이해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목표 및 핵심 제안방향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사업 이해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Ⅰ. 제안개요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1.1.1 탄력주차에 AI를 내재화하는 사업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1.1 추진배경 및 사업범위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(예측 · 최적화 · 판단의 자동화) 탄력주차 플랫폼이 쌓아 온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입 · 출차 · 점유 데이터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로 수요를 예측해 주차면을 탄력 공급하고,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조례 · 마이데이터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로 감면을 자동 판단하여 운영과 정산을 사람 손에서 데이터로 옮김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사업범위 전체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3070192"/>
        </p:xfrm>
        <a:graphic>
          <a:graphicData uri="http://schemas.openxmlformats.org/drawingml/2006/table">
            <a:tbl>
              <a:tblPr firstRow="0" bandRow="0"/>
              <a:tblGrid>
                <a:gridCol w="1565100"/>
                <a:gridCol w="2112885"/>
                <a:gridCol w="2582415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현재 과제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본 사업의 해결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유휴 주차면이 비어 있음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거주자 복귀 시점 · 수요를 모름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복귀패턴 · 수요 예측으로 공유 가능 시간대 판단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공급 · 요금이 고정됨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시간대 · 구간별 수요 변화 미반영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자동 공급량 조정 · 동적 요금 (조례 상 · 하한 내)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감면 판단이 수작업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조례 · 자격 · 차량정보를 사람이 대조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조례 파싱 → Rule DB → 자격 연계 자동 판단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정책 변경 대응이 느림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고정 규칙 코드 수정 필요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Rule 버전 관리 · 시행일 기준 자동 전환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16800" y="5536195"/>
            <a:ext cx="4874400" cy="432000"/>
          </a:xfrm>
          <a:prstGeom prst="rect">
            <a:avLst/>
          </a:prstGeom>
          <a:solidFill>
            <a:srgbClr val="1F4E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4800" y="5536195"/>
            <a:ext cx="1044000" cy="43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과업 가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432800" y="5608195"/>
            <a:ext cx="1186800" cy="28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[주차장 자동 공급]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673600" y="5608195"/>
            <a:ext cx="1186800" cy="28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[거주자공유 예측]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914400" y="5608195"/>
            <a:ext cx="1186800" cy="28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[동적 요금제]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81200" y="5536195"/>
            <a:ext cx="1296000" cy="4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AI 수요예측 · 운영 최적화 (20점)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6800" y="6032995"/>
            <a:ext cx="4874400" cy="432000"/>
          </a:xfrm>
          <a:prstGeom prst="rect">
            <a:avLst/>
          </a:prstGeom>
          <a:solidFill>
            <a:srgbClr val="2E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4800" y="6032995"/>
            <a:ext cx="1044000" cy="43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과업 나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432800" y="6104995"/>
            <a:ext cx="1186800" cy="28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[조례 파싱] · Rule DB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673600" y="6104995"/>
            <a:ext cx="1186800" cy="28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마이데이터 자격 연계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914400" y="6104995"/>
            <a:ext cx="1186800" cy="28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감면 조합 · 정산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281200" y="6032995"/>
            <a:ext cx="1296000" cy="4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AI 자동감면 (20점)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6800" y="6529795"/>
            <a:ext cx="4874400" cy="432000"/>
          </a:xfrm>
          <a:prstGeom prst="rect">
            <a:avLst/>
          </a:prstGeom>
          <a:solidFill>
            <a:srgbClr val="0E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4800" y="6529795"/>
            <a:ext cx="1044000" cy="43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적용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432800" y="6601795"/>
            <a:ext cx="1186800" cy="28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탄력주차 플랫폼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673600" y="6601795"/>
            <a:ext cx="1186800" cy="28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TS 연계 환경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914400" y="6601795"/>
            <a:ext cx="1186800" cy="28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지자체 · 모빌리티 확산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281200" y="6529795"/>
            <a:ext cx="1296000" cy="4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내재화 · 기술이전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16800" y="7098595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ound Same Side Corner Rectangle 50"/>
          <p:cNvSpPr/>
          <p:nvPr/>
        </p:nvSpPr>
        <p:spPr>
          <a:xfrm>
            <a:off x="316800" y="7098595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운영 데이터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52800" y="7386595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입·출차·점유</a:t>
            </a:r>
          </a:p>
        </p:txBody>
      </p:sp>
      <p:sp>
        <p:nvSpPr>
          <p:cNvPr id="53" name="Isosceles Triangle 52"/>
          <p:cNvSpPr/>
          <p:nvPr/>
        </p:nvSpPr>
        <p:spPr>
          <a:xfrm rot="5400000">
            <a:off x="1493280" y="7640395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1590480" y="7098595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Round Same Side Corner Rectangle 54"/>
          <p:cNvSpPr/>
          <p:nvPr/>
        </p:nvSpPr>
        <p:spPr>
          <a:xfrm>
            <a:off x="1590480" y="7098595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예측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626480" y="7386595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수요·복귀</a:t>
            </a:r>
          </a:p>
        </p:txBody>
      </p:sp>
      <p:sp>
        <p:nvSpPr>
          <p:cNvPr id="57" name="Isosceles Triangle 56"/>
          <p:cNvSpPr/>
          <p:nvPr/>
        </p:nvSpPr>
        <p:spPr>
          <a:xfrm rot="5400000">
            <a:off x="2766960" y="7640395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2864160" y="7098595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Round Same Side Corner Rectangle 58"/>
          <p:cNvSpPr/>
          <p:nvPr/>
        </p:nvSpPr>
        <p:spPr>
          <a:xfrm>
            <a:off x="2864160" y="7098595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공급·요금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900160" y="7386595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자동 최적화</a:t>
            </a:r>
          </a:p>
        </p:txBody>
      </p:sp>
      <p:sp>
        <p:nvSpPr>
          <p:cNvPr id="61" name="Isosceles Triangle 60"/>
          <p:cNvSpPr/>
          <p:nvPr/>
        </p:nvSpPr>
        <p:spPr>
          <a:xfrm rot="5400000">
            <a:off x="4040640" y="7640395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4137840" y="7098595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Round Same Side Corner Rectangle 62"/>
          <p:cNvSpPr/>
          <p:nvPr/>
        </p:nvSpPr>
        <p:spPr>
          <a:xfrm>
            <a:off x="4137840" y="7098595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감면 판단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173840" y="7386595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조례·자격</a:t>
            </a:r>
          </a:p>
        </p:txBody>
      </p:sp>
      <p:sp>
        <p:nvSpPr>
          <p:cNvPr id="65" name="Isosceles Triangle 64"/>
          <p:cNvSpPr/>
          <p:nvPr/>
        </p:nvSpPr>
        <p:spPr>
          <a:xfrm rot="5400000">
            <a:off x="5314320" y="7640395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5411520" y="7098595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Round Same Side Corner Rectangle 66"/>
          <p:cNvSpPr/>
          <p:nvPr/>
        </p:nvSpPr>
        <p:spPr>
          <a:xfrm>
            <a:off x="5411520" y="7098595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정산·확산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447520" y="7386595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플랫폼·지자체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80800" y="8358595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사업명: AI 기반 주차 수요예측·자동감면 서비스 개발 용역 / 기간: 계약일부터 6개월 이내 / 예산: 257,000,000원 (VAT 별도) / 「디지털도로 AI 신기술 지원사업(AX Sprint)」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Ⅰ-1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목표 및 핵심 제안방향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Ⅰ. 제안개요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2.1.1 목표와 4대 핵심 제안방향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2.1 사업 목표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(설명 가능한 AI · 운영에 바로 쓰는 결과) 예측은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확률(구간)로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, 감면은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근거 조문과 함께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내놓아 운영자가 믿고 쓸 수 있게 하고, 6개월 뒤 발주기관이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스스로 운영 · 고도화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할 수 있는 형태로 넘김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일반사항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6800" y="2358000"/>
            <a:ext cx="14841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16800" y="2358000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4800" y="2412000"/>
            <a:ext cx="13221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2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개 엔진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4800" y="2808000"/>
            <a:ext cx="13221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수요예측 · 최적화
자동감면 · 정산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908900" y="2358000"/>
            <a:ext cx="14841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908900" y="2358000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016900" y="2412000"/>
            <a:ext cx="13221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100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16900" y="2808000"/>
            <a:ext cx="13221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감면 판단에
근거 조문 표시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01000" y="2358000"/>
            <a:ext cx="14841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501000" y="2358000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09000" y="2412000"/>
            <a:ext cx="13221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API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09000" y="2808000"/>
            <a:ext cx="13221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탄력주차 · TS 연계
표준 인터페이스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93100" y="2358000"/>
            <a:ext cx="14841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093100" y="2358000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201100" y="2412000"/>
            <a:ext cx="13221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6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개월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01100" y="2808000"/>
            <a:ext cx="13221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착수 → 검증 →
기술이전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16800" y="3348000"/>
            <a:ext cx="6260400" cy="6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16800" y="3348000"/>
            <a:ext cx="540000" cy="540000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4799" y="3391200"/>
            <a:ext cx="55404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확률로 말하는 예측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4799" y="3636000"/>
            <a:ext cx="5540400" cy="349887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수요 · 점유 · 복귀시간을 점 하나가 아닌 분위수(P10~P90)로 예측해, ‘거주자 복귀 전 90% 확률로 비는 시간’처럼 위험을 숫자로 관리하며 공급합니다.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16800" y="4086000"/>
            <a:ext cx="6260400" cy="6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16800" y="4086000"/>
            <a:ext cx="540000" cy="540000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4799" y="4129200"/>
            <a:ext cx="55404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조례를 데이터로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4799" y="4374000"/>
            <a:ext cx="5540400" cy="349887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자치법규 원문을 LLM + 규칙으로 파싱해 감면 대상 · 감면율 · 조건 · 예외를 Rule DB로 만들고, 담당자 검토 후에만 운영에 반영합니다.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16800" y="4824000"/>
            <a:ext cx="6260400" cy="6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16800" y="4824000"/>
            <a:ext cx="540000" cy="540000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64799" y="4867200"/>
            <a:ext cx="55404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근거가 남는 판단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64799" y="5112000"/>
            <a:ext cx="5540400" cy="349887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모든 감면 결과에 적용 Rule · 조례 조문 · 사용 자격정보를 남겨, 민원 · 정산 대사 · 감사에 바로 답할 수 있게 합니다.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16800" y="5562000"/>
            <a:ext cx="6260400" cy="6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16800" y="5562000"/>
            <a:ext cx="540000" cy="540000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64799" y="5605200"/>
            <a:ext cx="55404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내재화 우선 설계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64799" y="5850000"/>
            <a:ext cx="5540400" cy="349887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모델 · Rule · 파이프라인을 컨테이너 · 설정 기반으로 만들고 소스 · 모델 구조 · 매뉴얼을 넘겨, 지자체 확산 시 Rule만 추가하면 되도록 합니다.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80800" y="6336000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평가 항목별 제안 위치 &gt;</a:t>
            </a:r>
          </a:p>
        </p:txBody>
      </p:sp>
      <p:graphicFrame>
        <p:nvGraphicFramePr>
          <p:cNvPr id="64" name="Table 63"/>
          <p:cNvGraphicFramePr>
            <a:graphicFrameLocks noGrp="1"/>
          </p:cNvGraphicFramePr>
          <p:nvPr/>
        </p:nvGraphicFramePr>
        <p:xfrm>
          <a:off x="316800" y="6570000"/>
          <a:ext cx="6260400" cy="2363661"/>
        </p:xfrm>
        <a:graphic>
          <a:graphicData uri="http://schemas.openxmlformats.org/drawingml/2006/table">
            <a:tbl>
              <a:tblPr firstRow="0" bandRow="0"/>
              <a:tblGrid>
                <a:gridCol w="1721610"/>
                <a:gridCol w="547785"/>
                <a:gridCol w="3130200"/>
                <a:gridCol w="860805"/>
              </a:tblGrid>
              <a:tr h="30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 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배점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핵심 제안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578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 이해도 · 추진전략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· 기준선 우선, 2트랙 병행, CRISP-DM + MLOps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Ⅰ · Ⅲ장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8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수요예측 · 운영 최적화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분위수 예측 · 생존분석 복귀 예측 · 위험 한도 공급 · 조례 범위 요금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Ⅳ장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8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자동감면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LLM 조례 파싱 + 결정 테이블 Rule · 마이데이터 · 최적 조합 · 정산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Ⅴ장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개인정보 · 데이터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가명 학습 · 결과값만 보관 · LLM 개인정보 미전송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Ⅶ장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수행조직 및 인력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2트랙 조직 · 7명 22.5 M/M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Ⅷ장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5" name="Rectangle 64"/>
          <p:cNvSpPr/>
          <p:nvPr/>
        </p:nvSpPr>
        <p:spPr>
          <a:xfrm>
            <a:off x="280800" y="9041662"/>
            <a:ext cx="6332400" cy="721116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06799" y="9095662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한 줄 제안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06799" y="9293662"/>
            <a:ext cx="6080400" cy="415116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“주차면은 예측으로 더 많이 공급하고, 감면은 조례 근거로 자동 판단한다” — 탄력주차 플랫폼의 두 핵심 업무를 AI로 내재화합니다.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Ⅰ-2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>
            <a:extLst>
              <a:ext uri="{FF2B5EF4-FFF2-40B4-BE49-F238E27FC236}">
                <a16:creationId xmlns:a16="http://schemas.microsoft.com/office/drawing/2014/main" id="{8DF5FEDB-ABA7-CD11-C7AD-E40BDE3B293E}"/>
              </a:ext>
            </a:extLst>
          </p:cNvPr>
          <p:cNvSpPr txBox="1"/>
          <p:nvPr/>
        </p:nvSpPr>
        <p:spPr>
          <a:xfrm>
            <a:off x="1416060" y="1498812"/>
            <a:ext cx="5126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제안사 현황 및 수행역량</a:t>
            </a: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1D84C8F8-5169-F371-3701-8467EC5A1DB8}"/>
              </a:ext>
            </a:extLst>
          </p:cNvPr>
          <p:cNvSpPr txBox="1"/>
          <p:nvPr/>
        </p:nvSpPr>
        <p:spPr>
          <a:xfrm>
            <a:off x="315018" y="1209008"/>
            <a:ext cx="1101042" cy="1142350"/>
          </a:xfrm>
          <a:prstGeom prst="rect">
            <a:avLst/>
          </a:prstGeom>
          <a:noFill/>
          <a:effectLst/>
        </p:spPr>
        <p:txBody>
          <a:bodyPr wrap="none" lIns="34022" tIns="17011" rIns="34022" bIns="17011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defTabSz="208696" latinLnBrk="0">
              <a:defRPr/>
            </a:pPr>
            <a:r>
              <a:rPr kumimoji="1" lang="en-US" altLang="ko-KR" sz="7200" b="1">
                <a:ln>
                  <a:solidFill>
                    <a:srgbClr val="4FD1FF">
                      <a:alpha val="0"/>
                    </a:srgbClr>
                  </a:solidFill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dhabi" panose="01000000000000000000" pitchFamily="2" charset="-78"/>
                <a:ea typeface="맑은 고딕" panose="00000800000000000000" pitchFamily="2" charset="-127"/>
                <a:cs typeface="Aldhabi" panose="01000000000000000000" pitchFamily="2" charset="-78"/>
              </a:rPr>
              <a:t>Ⅱ.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E0BB873-3323-D7E3-9919-67D51240FAB2}"/>
              </a:ext>
            </a:extLst>
          </p:cNvPr>
          <p:cNvCxnSpPr>
            <a:cxnSpLocks/>
          </p:cNvCxnSpPr>
          <p:nvPr/>
        </p:nvCxnSpPr>
        <p:spPr>
          <a:xfrm>
            <a:off x="713137" y="2472264"/>
            <a:ext cx="3528663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A023684-4D4D-73A4-B973-1E990C2DFFB4}"/>
              </a:ext>
            </a:extLst>
          </p:cNvPr>
          <p:cNvSpPr txBox="1"/>
          <p:nvPr/>
        </p:nvSpPr>
        <p:spPr>
          <a:xfrm>
            <a:off x="713137" y="2517722"/>
            <a:ext cx="4913749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기업현황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AI 연구개발 기반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유사 수행실적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기업현황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제안사 현황 및 수행역량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1.1.1 회사 개요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1.1 일반현황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(사용자 중심 디지털 서비스 전문기업) 2010년 설립 이후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UX 기획·디자인부터 플랫폼 개발·AI 구축·운영까지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수행해 온 S/W개발 및 디자인 전문기업임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80800" y="2358000"/>
            <a:ext cx="6332400" cy="728141"/>
          </a:xfrm>
          <a:prstGeom prst="roundRect">
            <a:avLst>
              <a:gd name="adj" fmla="val 6000"/>
            </a:avLst>
          </a:prstGeom>
          <a:solidFill>
            <a:srgbClr val="FFF4E5"/>
          </a:solidFill>
          <a:ln w="12700">
            <a:solidFill>
              <a:srgbClr val="F4B1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90000" bIns="9000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7F3F00"/>
                </a:solidFill>
                <a:latin typeface="맑은 고딕"/>
                <a:ea typeface="맑은 고딕"/>
                <a:cs typeface="맑은 고딕"/>
              </a:rPr>
              <a:t>"우리는 기술을 통해 창의적인 경험을 만들어갑니다. 사려 깊은 디자인과 사용자 중심의 접근 방식을 바탕으로, 사람과 제품, 디지털 서비스 간의 의미 있는 연결을 만드는 것이 우리의 목표입니다."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02400" y="3208541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2400" y="3194141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일반현황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16800" y="3518141"/>
          <a:ext cx="6260400" cy="3826641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4930065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회사명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주식회사 에이치나인 (HNINE)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대표자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최우식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사업분야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S/W개발 및 공급, 전문/종합 디자인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서울 성동구 뚝섬로1길 25, 1001호 ~ 1005호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연락처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TEL 02-521-0518 / FAX 02-567-0518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회사설립년도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2010년 04월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해당부문 사업기간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2010년 04월 ~ 2026년 08월 (16년 5개월)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06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보유 자격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소프트웨어사업자(컴퓨터관련서비스사업 1468), 직접생산확인(정보시스템개발서비스 8111159901)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" name="Rectangle 33"/>
          <p:cNvSpPr/>
          <p:nvPr/>
        </p:nvSpPr>
        <p:spPr>
          <a:xfrm>
            <a:off x="302400" y="7467190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2400" y="7452790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본 사업과 연결되는 핵심 역량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6800" y="7776790"/>
            <a:ext cx="2026800" cy="1007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16800" y="7776790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AI 예측 · 이상탐지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2800" y="8035990"/>
            <a:ext cx="1954800" cy="75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Trading AI Agent — 시계열 이상탐지 자동화 · ML/DL 분석, 근거 위치 제시형 응답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433600" y="7776790"/>
            <a:ext cx="2026800" cy="1007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433600" y="7776790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운영 데이터 · 관제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69600" y="8035990"/>
            <a:ext cx="1954800" cy="75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MES AI Agent 'MOSAIC' — 운영 로그 · 상태 실시간 분석, 판단 이력 통합 관제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50400" y="7776790"/>
            <a:ext cx="2026800" cy="1007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50400" y="7776790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공공 플랫폼 운영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86400" y="8035990"/>
            <a:ext cx="1954800" cy="756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국립중앙박물관 교육 플랫폼 '모두' 구축 · 운영 (iF Design Award)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Ⅱ-1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AI 연구개발 기반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제안사 현황 및 수행역량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2.1.1 연구개발 조직 및 AI 연구인력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2.1 연구개발 조직 · 인력 · 인증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(연구소 + AI 개발 조직)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기업부설연구소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(2026년 10월 실사 완료)가 사용자 경험 · 인터랙션을 연구하고, DT개발실 · 신사업개발실의 AI · 데이터 인력이 생성형 AI Agent · 예측 모델을 개발하며, 두 조직이 함께 본 사업을 수행함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계량: 연구개발 조직 · 정책우대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0800" y="2358000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연구개발 조직 현황 ([양식 2]) &gt;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2592000"/>
          <a:ext cx="6260399" cy="1723606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939059"/>
                <a:gridCol w="1956375"/>
                <a:gridCol w="1956375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해당 여부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인정 · 등록번호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17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기업부설연구소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해당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【인정번호 · 인정일 — 인정서 기재】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인정서 사본 첨부 (2점)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연구개발전담부서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【해당 여부】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【번호】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전문연구사업자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【해당 여부】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【번호】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280800" y="4423608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연구개발 인력 &gt;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316800" y="4657608"/>
          <a:ext cx="6260400" cy="1930824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1330335"/>
                <a:gridCol w="3521475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소속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주요 연구 · 개발 분야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17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기업부설연구소 (인터랙션실)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8명 (현재 등록)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사용자 경험 · 인터랙션 연구 — AI 서비스 화면 · 운영자 대시보드 설계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7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기업부설연구소 (추가 등록)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【N명 — 변경신고 결과】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· SW 개발 인력 연구원 추가 등록 추진 (AI(SW) 연구개발인력 3명↑ 1점 · 5명↑ 2점)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7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DT개발실 · 신사업개발실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【N명】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Agent · LLM 응용 · 시계열 분석 · 이상탐지 — 본 사업 투입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280800" y="6696432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정책적 우대기업 및 기술역량 ([양식 4]) &gt;</a:t>
            </a:r>
          </a:p>
        </p:txBody>
      </p: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316800" y="6930432"/>
          <a:ext cx="6260400" cy="1827215"/>
        </p:xfrm>
        <a:graphic>
          <a:graphicData uri="http://schemas.openxmlformats.org/drawingml/2006/table">
            <a:tbl>
              <a:tblPr firstRow="0" bandRow="0"/>
              <a:tblGrid>
                <a:gridCol w="1956375"/>
                <a:gridCol w="1173825"/>
                <a:gridCol w="3130200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해당 여부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증빙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벤처기업 등 기술기업 인증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해당 (2014 최초)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벤처기업확인서 </a:t>
                      </a: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【유효기간 확인】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7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여성 · 청년대표 · 사회적경제기업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【해당 여부 확인】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7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지역 사업수행 기반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【지방 사업장 보유 여부】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7" name="TextBox 36"/>
          <p:cNvSpPr txBox="1"/>
          <p:nvPr/>
        </p:nvSpPr>
        <p:spPr>
          <a:xfrm>
            <a:off x="280800" y="8829648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내부 검토용 (제출 전 삭제): 연구개발 조직 2점 확정(기업부설연구소). 현 연구소 등록 인력 8명은 디자인 전공이라 AI(SW) 인력 인정이 어려워, 인력 점수(0~2점)는 연구원 변경신고 결과에 따름. 정책우대는 경영기획팀 회신 후 기입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Ⅱ-2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유사 수행실적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제안사 현황 및 수행역량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25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3.1.1 유사사업 수행실적 및 성과 ([양식 1])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3.1 AI 개발 · 공공 사업 수행실적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(AI 개발 + 공공 플랫폼) 민간 발주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AI 개발 · 서비스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실적과 공공기관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플랫폼 구축 · 운영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실적을 보유하며(발주기관 회신 기준 모두 관련 분야로 인정, 수행 중 건 포함), 모든 실적은 계약서 · 실적증명서로 증빙함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계량: 유사 수행실적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396" cy="3773569"/>
        </p:xfrm>
        <a:graphic>
          <a:graphicData uri="http://schemas.openxmlformats.org/drawingml/2006/table">
            <a:tbl>
              <a:tblPr firstRow="0" bandRow="0"/>
              <a:tblGrid>
                <a:gridCol w="939059"/>
                <a:gridCol w="2347650"/>
                <a:gridCol w="939059"/>
                <a:gridCol w="939059"/>
                <a:gridCol w="626040"/>
                <a:gridCol w="469529"/>
              </a:tblGrid>
              <a:tr h="44136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발주처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사업기간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금액(백만원)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4136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개발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서울아산병원 AI-IDP (통합데이터플랫폼) 구축사업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에스케이㈜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2026.06~2027.11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883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수행중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개발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Trading AI Agent 개발 및 ML/DL 분석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에스케이㈜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2026.04~06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완료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4136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개발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SKHy 제조 DT — MES AI Agent 'MOSAIC'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에스케이㈜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2026.03~06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【금액】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완료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· 데이터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SKHy '26년 표준 아키텍처 구축 Ph3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에스케이㈜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2026.07~12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1,107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수행중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4136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· 데이터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SKHy '25년 표준 아키텍처 구축 Ph2 (차세대)(DT)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에스케이㈜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2025.08~12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1,999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완료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4136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· 데이터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SKHy 25년 차세대 표준 아키텍처 구축 Ph1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에스케이㈜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2024.12~2025.01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220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완료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4136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25년 국립중앙박물관 모두 플랫폼 개선 및 유지보수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국립중앙박물관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2025.07~12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완료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4136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2024년 국립중앙박물관 교육 플랫폼 [모두] 유지보수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국립중앙박물관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2024.07~2025.01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완료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280800" y="6239570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계량 점수 산정 (증빙 첨부 기준) &gt;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16800" y="6473570"/>
          <a:ext cx="6260400" cy="1221774"/>
        </p:xfrm>
        <a:graphic>
          <a:graphicData uri="http://schemas.openxmlformats.org/drawingml/2006/table">
            <a:tbl>
              <a:tblPr firstRow="0" bandRow="0"/>
              <a:tblGrid>
                <a:gridCol w="1956375"/>
                <a:gridCol w="2738925"/>
                <a:gridCol w="1565100"/>
              </a:tblGrid>
              <a:tr h="30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해당 실적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예상 점수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578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개발 · 서비스 수행실적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AI-IDP · Trading AI · MOSAIC · 표준 아키텍처 Ph1~Ph3 (6건, 수행 중 2건 포함)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4점 (5건 이상)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8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국가R&amp;D · 공공 · 지자체 및 우수성과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국립중앙박물관 2건 + iF Design Award 2023 (모두) 수상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1.5점 ~ </a:t>
                      </a:r>
                      <a:r>
                        <a:rPr sz="9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【2점】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" name="Rectangle 33"/>
          <p:cNvSpPr/>
          <p:nvPr/>
        </p:nvSpPr>
        <p:spPr>
          <a:xfrm>
            <a:off x="280800" y="7803345"/>
            <a:ext cx="6332400" cy="892674"/>
          </a:xfrm>
          <a:prstGeom prst="rect">
            <a:avLst/>
          </a:prstGeom>
          <a:solidFill>
            <a:srgbClr val="E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06799" y="7857345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1E7B4F"/>
                </a:solidFill>
                <a:latin typeface="맑은 고딕"/>
                <a:ea typeface="맑은 고딕"/>
                <a:cs typeface="맑은 고딕"/>
              </a:rPr>
              <a:t>실적이 본 사업에 주는 차이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6799" y="8055345"/>
            <a:ext cx="6080400" cy="586674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시계열 이상탐지 · 운영 데이터 분석(Trading AI · MOSAIC)은 수요 · 복귀 예측에, 근거 위치를 제시하는 응답 구조는 ‘조문 근거가 붙은 감면 판단’에, 개인정보가 포함된 통합데이터플랫폼(서울아산병원 AI-IDP) 경험은 가명 처리 · 데이터 관리에 그대로 적용합니다.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Ⅱ-3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>
            <a:extLst>
              <a:ext uri="{FF2B5EF4-FFF2-40B4-BE49-F238E27FC236}">
                <a16:creationId xmlns:a16="http://schemas.microsoft.com/office/drawing/2014/main" id="{8DF5FEDB-ABA7-CD11-C7AD-E40BDE3B293E}"/>
              </a:ext>
            </a:extLst>
          </p:cNvPr>
          <p:cNvSpPr txBox="1"/>
          <p:nvPr/>
        </p:nvSpPr>
        <p:spPr>
          <a:xfrm>
            <a:off x="1416060" y="1498812"/>
            <a:ext cx="5126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사업 추진전략 및 수행방법</a:t>
            </a: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1D84C8F8-5169-F371-3701-8467EC5A1DB8}"/>
              </a:ext>
            </a:extLst>
          </p:cNvPr>
          <p:cNvSpPr txBox="1"/>
          <p:nvPr/>
        </p:nvSpPr>
        <p:spPr>
          <a:xfrm>
            <a:off x="315018" y="1209008"/>
            <a:ext cx="1101042" cy="1142350"/>
          </a:xfrm>
          <a:prstGeom prst="rect">
            <a:avLst/>
          </a:prstGeom>
          <a:noFill/>
          <a:effectLst/>
        </p:spPr>
        <p:txBody>
          <a:bodyPr wrap="none" lIns="34022" tIns="17011" rIns="34022" bIns="17011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defTabSz="208696" latinLnBrk="0">
              <a:defRPr/>
            </a:pPr>
            <a:r>
              <a:rPr kumimoji="1" lang="en-US" altLang="ko-KR" sz="7200" b="1">
                <a:ln>
                  <a:solidFill>
                    <a:srgbClr val="4FD1FF">
                      <a:alpha val="0"/>
                    </a:srgbClr>
                  </a:solidFill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dhabi" panose="01000000000000000000" pitchFamily="2" charset="-78"/>
                <a:ea typeface="맑은 고딕" panose="00000800000000000000" pitchFamily="2" charset="-127"/>
                <a:cs typeface="Aldhabi" panose="01000000000000000000" pitchFamily="2" charset="-78"/>
              </a:rPr>
              <a:t>Ⅲ.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E0BB873-3323-D7E3-9919-67D51240FAB2}"/>
              </a:ext>
            </a:extLst>
          </p:cNvPr>
          <p:cNvCxnSpPr>
            <a:cxnSpLocks/>
          </p:cNvCxnSpPr>
          <p:nvPr/>
        </p:nvCxnSpPr>
        <p:spPr>
          <a:xfrm>
            <a:off x="713137" y="2472264"/>
            <a:ext cx="3528663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A023684-4D4D-73A4-B973-1E990C2DFFB4}"/>
              </a:ext>
            </a:extLst>
          </p:cNvPr>
          <p:cNvSpPr txBox="1"/>
          <p:nvPr/>
        </p:nvSpPr>
        <p:spPr>
          <a:xfrm>
            <a:off x="713137" y="2517722"/>
            <a:ext cx="4913749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추진전략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개발방법론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요구사항 분석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추진전략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사업 추진전략 및 수행방법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1.1.1 데이터 · 기준선 · 내재화 먼저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1.1 사업 수행전략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(6개월 안에 운영 가능한 AI) 착수 1개월에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데이터 · 운영환경 진단과 성능 기준선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확정하고, 수요예측과 자동감면을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2개 트랙으로 병행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개발해 5개월 차부터 실데이터로 검증함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일반사항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6800" y="2358000"/>
            <a:ext cx="6260400" cy="687448"/>
          </a:xfrm>
          <a:prstGeom prst="rect">
            <a:avLst/>
          </a:prstGeom>
          <a:solidFill>
            <a:srgbClr val="FFFFFF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16800" y="2358000"/>
            <a:ext cx="540000" cy="540000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4799" y="2401200"/>
            <a:ext cx="55404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데이터 먼저 (M1)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4799" y="2646000"/>
            <a:ext cx="5540400" cy="399448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탄력주차 입 · 출차 · 점유 이력의 기간 · 결측 · 주기를 진단하고 학습 가능 범위를 확정합니다. 이력이 짧은 주차장은 유사 주차장 군집 모델로 보완합니다.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16800" y="3135448"/>
            <a:ext cx="6260400" cy="687448"/>
          </a:xfrm>
          <a:prstGeom prst="rect">
            <a:avLst/>
          </a:prstGeom>
          <a:solidFill>
            <a:srgbClr val="FFFFFF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16800" y="3135448"/>
            <a:ext cx="540000" cy="540000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4799" y="3178648"/>
            <a:ext cx="55404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기준선 먼저 (M1)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4799" y="3423448"/>
            <a:ext cx="5540400" cy="399448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‘전주 같은 요일 · 시간’ 같은 단순 예측과 현행 수작업 감면 결과를 기준선으로 두고, AI가 이를 얼마나 개선하는지로 성과를 판정합니다.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16800" y="3912897"/>
            <a:ext cx="6260400" cy="687448"/>
          </a:xfrm>
          <a:prstGeom prst="rect">
            <a:avLst/>
          </a:prstGeom>
          <a:solidFill>
            <a:srgbClr val="FFFFFF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16800" y="3912897"/>
            <a:ext cx="540000" cy="540000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4799" y="3956097"/>
            <a:ext cx="55404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2트랙 병행 (M2~M5)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4799" y="4200897"/>
            <a:ext cx="5540400" cy="399448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수요예측 · 최적화 트랙과 자동감면 트랙을 별도 팀으로 동시에 진행하고, 공통 데이터 · API 계층만 함께 씁니다.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6800" y="4690346"/>
            <a:ext cx="6260400" cy="687448"/>
          </a:xfrm>
          <a:prstGeom prst="rect">
            <a:avLst/>
          </a:prstGeom>
          <a:solidFill>
            <a:srgbClr val="FFFFFF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16800" y="4690346"/>
            <a:ext cx="540000" cy="540000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4799" y="4733546"/>
            <a:ext cx="55404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내재화 먼저 (전 기간)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4799" y="4978346"/>
            <a:ext cx="5540400" cy="399448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모델 학습 · 배포 · Rule 반영을 발주기관 인력이 직접 실행하는 절차로 만들고, 매월 기술 공유 세션으로 넘깁니다.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80800" y="5503795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주요 위험과 대응 (RFP 일반사항) &gt;</a:t>
            </a:r>
          </a:p>
        </p:txBody>
      </p:sp>
      <p:graphicFrame>
        <p:nvGraphicFramePr>
          <p:cNvPr id="48" name="Table 47"/>
          <p:cNvGraphicFramePr>
            <a:graphicFrameLocks noGrp="1"/>
          </p:cNvGraphicFramePr>
          <p:nvPr/>
        </p:nvGraphicFramePr>
        <p:xfrm>
          <a:off x="316800" y="5737795"/>
          <a:ext cx="6260400" cy="2912096"/>
        </p:xfrm>
        <a:graphic>
          <a:graphicData uri="http://schemas.openxmlformats.org/drawingml/2006/table">
            <a:tbl>
              <a:tblPr firstRow="0" bandRow="0"/>
              <a:tblGrid>
                <a:gridCol w="1643355"/>
                <a:gridCol w="4617045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품질 · 기간 부족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결측 보간 · 이상치 제거, 유사 주차장 군집 학습, 외부 변수(요일 · 공휴일 · 기상 · 행사)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성능 미달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기준선 대비 개선율로 관리, 불확실 구간은 공급 보류(안전 측) 정책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개인정보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가명 차량 ID · 최소 수집 · 마이데이터는 본인 동의 · 결과값만 보관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시스템 연계 · 일정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M1에 연계 규격 확정, Mock API로 선개발, 월 단위 마일스톤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9" name="Rectangle 48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Ⅲ-1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개발방법론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사업 추진전략 및 수행방법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2.1.1 CRISP-DM + MLOps 반복형 개발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2.1 AI 개발방법론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(실험이 아닌 운영 기준) 데이터 이해 → 준비 → 모델링 → 평가 → 배포의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CRISP-DM 단계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를 4주 반복으로 돌리고, 모델 · 데이터 · Rule 버전을 MLOps로 관리해 재학습 · 롤백이 가능하게 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일반사항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6800" y="2358000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800" y="2358000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업무 이해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34800" y="2430000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324800" y="2466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탄력주차 운영 · 감면 업무 인터뷰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446999" y="2466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성과 지표 · 기준선 합의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569200" y="2358000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M1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6800" y="3096000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4800" y="3096000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데이터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234800" y="3167999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324800" y="3204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입 · 출차 · 점유 · 요금 · 감면 이력 진단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446999" y="3204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피처 저장소 구성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569200" y="3096000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M1~M2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6800" y="3834000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4800" y="3834000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모델링 (반복)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234800" y="3906000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324800" y="3942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4주 단위 실험 · 평가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446999" y="3942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기준선 대비 개선 확인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569200" y="3834000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M2~M5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16800" y="4572000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4800" y="4572000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배포 · 검증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234800" y="4644000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1324800" y="4680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API 배포 · Shadow 모드 운영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446999" y="4680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실데이터 성능 검증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569200" y="4572000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M5~M6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16800" y="5310000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34800" y="5310000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내재화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234800" y="5382000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1324800" y="5418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재학습 파이프라인 · 매뉴얼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446999" y="5418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기술이전 교육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569200" y="5310000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M6</a:t>
            </a:r>
          </a:p>
        </p:txBody>
      </p:sp>
      <p:graphicFrame>
        <p:nvGraphicFramePr>
          <p:cNvPr id="61" name="Table 60"/>
          <p:cNvGraphicFramePr>
            <a:graphicFrameLocks noGrp="1"/>
          </p:cNvGraphicFramePr>
          <p:nvPr/>
        </p:nvGraphicFramePr>
        <p:xfrm>
          <a:off x="316800" y="6102000"/>
          <a:ext cx="6260400" cy="2576656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2504160"/>
                <a:gridCol w="2425905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MLOps 구성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적용 기술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효과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실험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MLflow (파라미터 · 지표 · 모델 버전)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 선택 근거 추적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· 피처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피처 정의 코드화 · 데이터 버전 (DVC)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 재현성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배포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컨테이너 · REST API · Shadow → Canary 전환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 무중단 반영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모니터링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예측 오차 · 데이터 드리프트 감시 → 재학습 알림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성능 저하 조기 탐지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2" name="TextBox 61"/>
          <p:cNvSpPr txBox="1"/>
          <p:nvPr/>
        </p:nvSpPr>
        <p:spPr>
          <a:xfrm>
            <a:off x="280800" y="8750656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Shadow 모드: AI 결과를 운영에 반영하지 않고 실제 결과와 나란히 기록 · 비교하는 단계 — 검증 후 발주기관 승인 시 운영 반영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Ⅲ-2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요구사항 분석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사업 추진전략 및 수행방법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3.1.1 과업 · 기능 · 산출물 추적표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3.1 과업 요구사항 분석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(과업 누락 0건) RFP 수행내용 2개 영역 · 12개 세부 과업을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기능 ID로 분해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하고 개발 · 검증 · 산출물까지 하나의 추적표로 관리함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수행내용 가 · 나 · 다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398" cy="5487124"/>
        </p:xfrm>
        <a:graphic>
          <a:graphicData uri="http://schemas.openxmlformats.org/drawingml/2006/table">
            <a:tbl>
              <a:tblPr firstRow="0" bandRow="0"/>
              <a:tblGrid>
                <a:gridCol w="1173825"/>
                <a:gridCol w="2973689"/>
                <a:gridCol w="1173825"/>
                <a:gridCol w="939059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세부 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 ID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제안서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가. 자동 공급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운영상태 분석 · 공급 가능시간 · 공급여부 판단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DF-01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Ⅳ-5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가. 자동 공급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공급량 조정 · 운영 최적화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DF-02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Ⅳ-5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가. 거주자공유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주차장별 · 시간대별 수요 · 점유 예측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DF-03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Ⅳ-3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가. 거주자공유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거주자 이용 · 복귀패턴 예측 · 공유 가능 시간대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DF-04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Ⅳ-4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가. 동적 요금제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실시간 수요 · 점유 기반 요금 산정 · 탄력요금 적용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DF-05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Ⅳ-6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456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나. 조례 파싱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지자체 조례 · 규정 분석, 감면 대상 · 율 · 조건 · 예외 추출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AR-01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Ⅴ-2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나. 조례 파싱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감면조건 구조화 · Rule DB 생성 ·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AR-02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Ⅴ-3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나. 조례 파싱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조례 · 감면기준 변경 Rule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AR-03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Ⅴ-4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나. 감면 판단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이용자 · 차량 자격정보와 Rule 연계 (마이데이터)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AR-04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Ⅴ-5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나. 감면 판단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적용 감면항목 자동판단 · 복수 감면 우선순위 · 조합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AR-05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Ⅴ-6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나. 감면 판단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감면결과 · 최종 정산금액 산출, 오류 · 예외 대응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AR-06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Ⅴ-7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456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다. 산출물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설계서 · AI 모델 구조 · 소스 · DB · API 규격 · 시험 · 매뉴얼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Ⅶ-2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ounded Rectangle 31"/>
          <p:cNvSpPr/>
          <p:nvPr/>
        </p:nvSpPr>
        <p:spPr>
          <a:xfrm>
            <a:off x="316800" y="7953134"/>
            <a:ext cx="1165680" cy="954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 Same Side Corner Rectangle 32"/>
          <p:cNvSpPr/>
          <p:nvPr/>
        </p:nvSpPr>
        <p:spPr>
          <a:xfrm>
            <a:off x="316800" y="7953134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과업 분해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800" y="8241134"/>
            <a:ext cx="1093680" cy="684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12개 세부 과업</a:t>
            </a:r>
          </a:p>
        </p:txBody>
      </p:sp>
      <p:sp>
        <p:nvSpPr>
          <p:cNvPr id="35" name="Isosceles Triangle 34"/>
          <p:cNvSpPr/>
          <p:nvPr/>
        </p:nvSpPr>
        <p:spPr>
          <a:xfrm rot="5400000">
            <a:off x="1493280" y="8386934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590480" y="7953134"/>
            <a:ext cx="1165680" cy="954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 Same Side Corner Rectangle 36"/>
          <p:cNvSpPr/>
          <p:nvPr/>
        </p:nvSpPr>
        <p:spPr>
          <a:xfrm>
            <a:off x="1590480" y="7953134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기능 ID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26480" y="8241134"/>
            <a:ext cx="1093680" cy="684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DF · AR 체계</a:t>
            </a:r>
          </a:p>
        </p:txBody>
      </p:sp>
      <p:sp>
        <p:nvSpPr>
          <p:cNvPr id="39" name="Isosceles Triangle 38"/>
          <p:cNvSpPr/>
          <p:nvPr/>
        </p:nvSpPr>
        <p:spPr>
          <a:xfrm rot="5400000">
            <a:off x="2766960" y="8386934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2864160" y="7953134"/>
            <a:ext cx="1165680" cy="954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 Same Side Corner Rectangle 40"/>
          <p:cNvSpPr/>
          <p:nvPr/>
        </p:nvSpPr>
        <p:spPr>
          <a:xfrm>
            <a:off x="2864160" y="7953134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설계 · 개발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00160" y="8241134"/>
            <a:ext cx="1093680" cy="684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기능별 담당</a:t>
            </a:r>
          </a:p>
        </p:txBody>
      </p:sp>
      <p:sp>
        <p:nvSpPr>
          <p:cNvPr id="43" name="Isosceles Triangle 42"/>
          <p:cNvSpPr/>
          <p:nvPr/>
        </p:nvSpPr>
        <p:spPr>
          <a:xfrm rot="5400000">
            <a:off x="4040640" y="8386934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137840" y="7953134"/>
            <a:ext cx="1165680" cy="954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 Same Side Corner Rectangle 44"/>
          <p:cNvSpPr/>
          <p:nvPr/>
        </p:nvSpPr>
        <p:spPr>
          <a:xfrm>
            <a:off x="4137840" y="7953134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검증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73840" y="8241134"/>
            <a:ext cx="1093680" cy="684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기능별 시험 항목</a:t>
            </a:r>
          </a:p>
        </p:txBody>
      </p:sp>
      <p:sp>
        <p:nvSpPr>
          <p:cNvPr id="47" name="Isosceles Triangle 46"/>
          <p:cNvSpPr/>
          <p:nvPr/>
        </p:nvSpPr>
        <p:spPr>
          <a:xfrm rot="5400000">
            <a:off x="5314320" y="8386934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411520" y="7953134"/>
            <a:ext cx="1165680" cy="954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ound Same Side Corner Rectangle 48"/>
          <p:cNvSpPr/>
          <p:nvPr/>
        </p:nvSpPr>
        <p:spPr>
          <a:xfrm>
            <a:off x="5411520" y="7953134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산출물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7520" y="8241134"/>
            <a:ext cx="1093680" cy="684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추적표 완료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Ⅲ-3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요구사항 분석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사업 추진전략 및 수행방법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3.2.1 데이터 요건 · 착수 시 확정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3.2 데이터 · 운영환경 분석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(불명확한 조건은 M1에 확정) 데이터 규모 · 제공 시점 · 연계 방식 · 성능 기준이 RFP에 정해져 있지 않으므로,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착수 2주 안에 확정 목록을 발주기관과 합의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하고 그 결과로 모델 범위를 정함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일반사항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399" cy="3153984"/>
        </p:xfrm>
        <a:graphic>
          <a:graphicData uri="http://schemas.openxmlformats.org/drawingml/2006/table">
            <a:tbl>
              <a:tblPr firstRow="0" bandRow="0"/>
              <a:tblGrid>
                <a:gridCol w="1173825"/>
                <a:gridCol w="2191140"/>
                <a:gridCol w="1486844"/>
                <a:gridCol w="140859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필요 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용도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최소 요건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입 · 출차 이력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주차장 · 면 · 입차/출차 시각 · 가명 차량 ID · 이용 유형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수요 · 복귀 예측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【12개월↑ 권장】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점유 현황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면별 점유 상태 · 센서/정산 기록 시각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점유율 예측 · 검증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【5분 단위】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거주자 배정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배정 면 · 이용 시간대 (가명)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공유 가능 시간대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【배정 이력】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요금 · 정산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요금표 · 결제 · 감면 적용 이력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동적 요금 · 감면 검증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【6개월↑】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외부 변수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공휴일 · 기상 · 주변 행사 · 시설 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예측 정확도 향상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공공 API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280800" y="5619985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착수 2주 내 확정 사항 (발주기관 질의 · 협의) &gt;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16800" y="5853985"/>
          <a:ext cx="6260400" cy="3418776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485181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확정 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750792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적용 대상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탄력주차 운영 지자체(강남구 · 성남시 · 의정부시 · 대구 시범사업 등) 중 대상 지자체 · 주차장 유형 · 수, 조례 파싱 초기 지자체 수 </a:t>
                      </a: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【회신 확인】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구현 수준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자동 공급 · 동적 요금 · 감면 결과를 ① 추천 · 산정까지 / ② 플랫폼 자동 반영까지 중 범위 확정 — 본 제안은 ①을 기본, ②는 API로 지원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· 연계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제공 데이터 종류 · 기간 · 형식 · 시점(파일 · DB · API), 탄력주차 앱 · 관리자 연계 방식, TS 대상 시스템 </a:t>
                      </a: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【회신 확인】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마이데이터 · 인프라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이용기관 승인 주체 · 비용 · 테스트 환경, 학습 · 운영 서버 제공 여부, 외부 LLM API 사용 · 이용료 부담 </a:t>
                      </a: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【회신 확인】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성능 기준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예측 · 감면 판단 정확도 검수 기준 (Ⅵ-3 제안 기준으로 협의)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" name="Rectangle 33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Ⅲ-4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>
            <a:extLst>
              <a:ext uri="{FF2B5EF4-FFF2-40B4-BE49-F238E27FC236}">
                <a16:creationId xmlns:a16="http://schemas.microsoft.com/office/drawing/2014/main" id="{8DF5FEDB-ABA7-CD11-C7AD-E40BDE3B293E}"/>
              </a:ext>
            </a:extLst>
          </p:cNvPr>
          <p:cNvSpPr txBox="1"/>
          <p:nvPr/>
        </p:nvSpPr>
        <p:spPr>
          <a:xfrm>
            <a:off x="1992060" y="1498812"/>
            <a:ext cx="4550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800"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AI 기반 주차 수요예측 및 운영 최적화</a:t>
            </a: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1D84C8F8-5169-F371-3701-8467EC5A1DB8}"/>
              </a:ext>
            </a:extLst>
          </p:cNvPr>
          <p:cNvSpPr txBox="1"/>
          <p:nvPr/>
        </p:nvSpPr>
        <p:spPr>
          <a:xfrm>
            <a:off x="315018" y="1209008"/>
            <a:ext cx="1101042" cy="1142350"/>
          </a:xfrm>
          <a:prstGeom prst="rect">
            <a:avLst/>
          </a:prstGeom>
          <a:noFill/>
          <a:effectLst/>
        </p:spPr>
        <p:txBody>
          <a:bodyPr wrap="none" lIns="34022" tIns="17011" rIns="34022" bIns="17011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defTabSz="208696" latinLnBrk="0">
              <a:defRPr/>
            </a:pPr>
            <a:r>
              <a:rPr kumimoji="1" lang="en-US" altLang="ko-KR" sz="7200" b="1">
                <a:ln>
                  <a:solidFill>
                    <a:srgbClr val="4FD1FF">
                      <a:alpha val="0"/>
                    </a:srgbClr>
                  </a:solidFill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dhabi" panose="01000000000000000000" pitchFamily="2" charset="-78"/>
                <a:ea typeface="맑은 고딕" panose="00000800000000000000" pitchFamily="2" charset="-127"/>
                <a:cs typeface="Aldhabi" panose="01000000000000000000" pitchFamily="2" charset="-78"/>
              </a:rPr>
              <a:t>Ⅳ.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E0BB873-3323-D7E3-9919-67D51240FAB2}"/>
              </a:ext>
            </a:extLst>
          </p:cNvPr>
          <p:cNvCxnSpPr>
            <a:cxnSpLocks/>
          </p:cNvCxnSpPr>
          <p:nvPr/>
        </p:nvCxnSpPr>
        <p:spPr>
          <a:xfrm>
            <a:off x="713137" y="2472264"/>
            <a:ext cx="3528663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A023684-4D4D-73A4-B973-1E990C2DFFB4}"/>
              </a:ext>
            </a:extLst>
          </p:cNvPr>
          <p:cNvSpPr txBox="1"/>
          <p:nvPr/>
        </p:nvSpPr>
        <p:spPr>
          <a:xfrm>
            <a:off x="713137" y="2517722"/>
            <a:ext cx="4913749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수요예측 엔진 구조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데이터 · 피처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수요 · 점유 예측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거주자공유 예측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주차장 자동 공급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동적 요금제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운영 화면 · 검증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수요예측 엔진 구조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Ⅳ. AI 기반 주차 수요예측 및 운영 최적화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1.1.1 예측 · 판단 · 실행 3단 구조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1.1 전체 구조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(하나의 예측으로 세 가지 결정) 수요 · 점유 · 복귀시간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예측 모델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의 결과를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공급 판단 · 요금 산정 최적화기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가 받아 탄력주차 플랫폼에 공급 시간 · 공급량 · 요금을 내려보냄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과업 가 전체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6800" y="2358000"/>
            <a:ext cx="4874400" cy="413999"/>
          </a:xfrm>
          <a:prstGeom prst="rect">
            <a:avLst/>
          </a:prstGeom>
          <a:solidFill>
            <a:srgbClr val="1C3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800" y="2358000"/>
            <a:ext cx="1044000" cy="413999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데이터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432800" y="2430000"/>
            <a:ext cx="8766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입 · 출차 · 점유 이력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363400" y="2430000"/>
            <a:ext cx="8766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거주자 배정 · 이용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294000" y="2430000"/>
            <a:ext cx="8766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요금 · 정산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24600" y="2430000"/>
            <a:ext cx="8766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외부 변수 (공휴일 · 기상 · 행사)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81200" y="2358000"/>
            <a:ext cx="1296000" cy="413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가명 처리 · 피처 저장소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6800" y="2836800"/>
            <a:ext cx="4874400" cy="413999"/>
          </a:xfrm>
          <a:prstGeom prst="rect">
            <a:avLst/>
          </a:prstGeom>
          <a:solidFill>
            <a:srgbClr val="1F4E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4800" y="2836800"/>
            <a:ext cx="1044000" cy="413999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예측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432800" y="2908800"/>
            <a:ext cx="11868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주차장 · 시간대 수요 예측 (DF-03)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673600" y="2908800"/>
            <a:ext cx="11868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면 단위 점유 예측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914400" y="2908800"/>
            <a:ext cx="11868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거주자 복귀시간 예측 (DF-04)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281200" y="2836800"/>
            <a:ext cx="1296000" cy="413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분위수 (P10~P90)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6800" y="3315599"/>
            <a:ext cx="4874400" cy="413999"/>
          </a:xfrm>
          <a:prstGeom prst="rect">
            <a:avLst/>
          </a:prstGeom>
          <a:solidFill>
            <a:srgbClr val="2E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4800" y="3315599"/>
            <a:ext cx="1044000" cy="413999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판단 · 최적화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432800" y="3387599"/>
            <a:ext cx="11868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공급 가능시간 · 공급여부 (DF-01)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673600" y="3387599"/>
            <a:ext cx="11868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공급량 조정 (DF-02)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914400" y="3387599"/>
            <a:ext cx="11868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동적 요금 (DF-05)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281200" y="3315599"/>
            <a:ext cx="1296000" cy="413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위험 한도 · 조례 상하한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16800" y="3794399"/>
            <a:ext cx="4874400" cy="413999"/>
          </a:xfrm>
          <a:prstGeom prst="rect">
            <a:avLst/>
          </a:prstGeom>
          <a:solidFill>
            <a:srgbClr val="0E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34800" y="3794399"/>
            <a:ext cx="1044000" cy="413999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실행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432800" y="3866399"/>
            <a:ext cx="11868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탄력주차 플랫폼 API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673600" y="3866399"/>
            <a:ext cx="11868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운영자 승인 / 자동 모드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914400" y="3866399"/>
            <a:ext cx="11868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결과 · 근거 기록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281200" y="3794399"/>
            <a:ext cx="1296000" cy="413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Shadow → 운영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16800" y="4273200"/>
            <a:ext cx="4874400" cy="413999"/>
          </a:xfrm>
          <a:prstGeom prst="rect">
            <a:avLst/>
          </a:prstGeom>
          <a:solidFill>
            <a:srgbClr val="2BA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34800" y="4273200"/>
            <a:ext cx="1044000" cy="413999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학습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432800" y="4345199"/>
            <a:ext cx="11868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실제 결과 피드백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2673600" y="4345199"/>
            <a:ext cx="11868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오차 · 드리프트 모니터링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914400" y="4345199"/>
            <a:ext cx="11868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주기 재학습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281200" y="4273200"/>
            <a:ext cx="1296000" cy="413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MLOps</a:t>
            </a:r>
          </a:p>
        </p:txBody>
      </p:sp>
      <p:graphicFrame>
        <p:nvGraphicFramePr>
          <p:cNvPr id="62" name="Table 61"/>
          <p:cNvGraphicFramePr>
            <a:graphicFrameLocks noGrp="1"/>
          </p:cNvGraphicFramePr>
          <p:nvPr/>
        </p:nvGraphicFramePr>
        <p:xfrm>
          <a:off x="316800" y="4823999"/>
          <a:ext cx="6260400" cy="2684307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1956375"/>
                <a:gridCol w="1799865"/>
                <a:gridCol w="1095570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입력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출력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갱신 주기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수요 · 점유 예측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이력 · 달력 · 외부 변수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시간대별 수요 · 점유율 분위수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15분 / 일 재학습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복귀시간 예측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거주자 출차 시각 · 요일 패턴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복귀 시각 확률분포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출차 이벤트마다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공급 · 요금 최적화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예측 분포 · 정책 제약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공급 시간 · 면 수 · 요금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15분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3" name="Rectangle 62"/>
          <p:cNvSpPr/>
          <p:nvPr/>
        </p:nvSpPr>
        <p:spPr>
          <a:xfrm>
            <a:off x="280800" y="7616307"/>
            <a:ext cx="6332400" cy="995608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06799" y="7670307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예측과 결정을 분리한 이유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06799" y="7868307"/>
            <a:ext cx="6080400" cy="689608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예측 모델은 ‘얼마나 찰지’만, 최적화기는 ‘그래서 몇 면을 언제 열지’만 책임지게 나눠, 정책(위험 한도 · 요금 상하한)이 바뀌어도 모델을 다시 학습하지 않고 설정만 바꿉니다.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Ⅳ-1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데이터 · 피처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Ⅳ. AI 기반 주차 수요예측 및 운영 최적화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2.1.1 수집 · 정제 · 피처 설계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2.1 데이터 처리 및 피처 엔지니어링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(예측 품질의 70%는 데이터) 입 · 출차 이벤트를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15분 단위 점유 시계열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로 바꾸고, 달력 · 외부 변수 · 주차장 특성을 더한 피처를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코드로 정의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해 학습과 운영이 같은 피처를 쓰게 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과업 가 · 일반사항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6800" y="2358000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800" y="2358000"/>
            <a:ext cx="864000" cy="61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수집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34800" y="2430000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324800" y="2466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탄력주차 DB · 이벤트 로그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446999" y="2466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외부 API (공휴일 · 기상)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569200" y="2358000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원천 적재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6800" y="3041999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4800" y="3041999"/>
            <a:ext cx="864000" cy="61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정제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234800" y="3113999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324800" y="3150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중복 · 누락 이벤트 보정 (입차만 / 출차만)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446999" y="3150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센서 오류 · 이상치 제거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569200" y="3041999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정제 이력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6800" y="3726000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4800" y="3726000"/>
            <a:ext cx="864000" cy="61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변환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234800" y="3797999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324800" y="3834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이벤트 → 15분 점유 시계열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446999" y="3834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체류시간 · 회전율 산출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569200" y="3726000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시계열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16800" y="4410000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4800" y="4410000"/>
            <a:ext cx="864000" cy="61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피처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234800" y="4482000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1324800" y="4518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달력 · 지연값 · 이동평균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446999" y="4518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주차장 특성 · 군집 ID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569200" y="4410000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피처 저장소</a:t>
            </a:r>
          </a:p>
        </p:txBody>
      </p:sp>
      <p:graphicFrame>
        <p:nvGraphicFramePr>
          <p:cNvPr id="55" name="Table 54"/>
          <p:cNvGraphicFramePr>
            <a:graphicFrameLocks noGrp="1"/>
          </p:cNvGraphicFramePr>
          <p:nvPr/>
        </p:nvGraphicFramePr>
        <p:xfrm>
          <a:off x="316800" y="5148000"/>
          <a:ext cx="6260399" cy="2758822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2973689"/>
                <a:gridCol w="1956375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피처 그룹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근거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17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시간 · 달력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요일 · 시간대 · 공휴일 · 연휴 전후 · 학교 방학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주기성 · 특수일 수요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지연 · 추세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1일 · 7일 전 같은 시간 점유, 4주 이동평균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자기상관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외부 요인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강수 · 기온, 인근 행사 · 시설 운영시간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수요 급변 요인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7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주차장 특성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면 수 · 유형(거주자 · 공영) · 요금 · 위치 군집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이력 부족 주차장 보완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7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거주자 행동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출차 시각 · 평균 외출시간 · 요일별 복귀 분포 (가명)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복귀 예측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6" name="Rectangle 55"/>
          <p:cNvSpPr/>
          <p:nvPr/>
        </p:nvSpPr>
        <p:spPr>
          <a:xfrm>
            <a:off x="280800" y="8014824"/>
            <a:ext cx="6332400" cy="738271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06799" y="8068824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이력이 짧은 주차장 대응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06799" y="8266824"/>
            <a:ext cx="6080400" cy="432271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주차장을 면 수 · 유형 · 위치 · 이용 패턴으로 군집화해 군집 공동 모델을 학습하고, 이력이 쌓이면 주차장별 보정 계수를 추가합니다. 신규 주차장도 첫날부터 예측을 제공합니다.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Ⅳ-2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수요 · 점유 예측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Ⅳ. AI 기반 주차 수요예측 및 운영 최적화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3.1.1 수요 · 점유 예측 (DF-03)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3.1 주차 수요 · 점유 예측 모델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(점이 아닌 구간으로) 주차장 · 시간대별 수요와 점유율을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LightGBM 분위수 회귀 + 시계열 딥러닝 앙상블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로 예측해 P10 · P50 · P90을 함께 내고, 공급 판단은 보수적인 분위수를 씀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과업 가 [거주자공유 예측]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399" cy="2344823"/>
        </p:xfrm>
        <a:graphic>
          <a:graphicData uri="http://schemas.openxmlformats.org/drawingml/2006/table">
            <a:tbl>
              <a:tblPr firstRow="0" bandRow="0"/>
              <a:tblGrid>
                <a:gridCol w="1486844"/>
                <a:gridCol w="2191140"/>
                <a:gridCol w="2582415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역할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선택 이유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17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기준선 (Seasonal Naive)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전주 같은 요일 · 시간 값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성능 개선 판정 기준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7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LightGBM 분위수 회귀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주력 — 1~24시간 앞 점유율 분위수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적은 데이터 · 빠른 학습 · 피처 기여도 설명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7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TFT / N-HiTS (시계열 DL)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다주차장 · 장기 패턴 보완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다중 시계열 공동 학습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앙상블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검증 오차 기반 가중 결합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단일 모델 대비 안정성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16800" y="4810823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4800" y="4810823"/>
            <a:ext cx="864000" cy="61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학습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34800" y="4882823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324800" y="4918824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시간 순 분할 (Rolling Origin)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46999" y="4918824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주차장 군집별 · 전체 모델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569200" y="4810823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후보 모델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6800" y="5494824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4800" y="5494824"/>
            <a:ext cx="864000" cy="61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평가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234800" y="5566823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324800" y="5602824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MAE · MAPE (점유율)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446999" y="5602824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분위수 손실 · 구간 적중률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569200" y="5494824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기준선 대비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6800" y="6178824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4800" y="6178824"/>
            <a:ext cx="864000" cy="61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설명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234800" y="6250823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324800" y="6286824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SHAP 피처 기여도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446999" y="6286824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‘우천 · 공휴일 영향’ 운영자 표시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569200" y="6178824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설명 가능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16800" y="6862823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34800" y="6862823"/>
            <a:ext cx="864000" cy="61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운영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234800" y="6934823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1324800" y="6970823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15분마다 추론 · 일 1회 재학습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446999" y="6970823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오차 급증 시 알림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569200" y="6862823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API 제공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16800" y="7600823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16800" y="7600823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24800" y="7654823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【15】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%↓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4800" y="8050823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점유율 예측 오차
(MAPE, 기준선 대비 개선)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439600" y="7600823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439600" y="7600823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547600" y="7654823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80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547600" y="8050823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P10~P90 구간
실제값 적중률 목표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562400" y="7600823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562400" y="7600823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670400" y="7654823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24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시간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670400" y="8050823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예측 범위
(15분 단위)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Ⅳ-3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4. 거주자공유 예측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Ⅳ. AI 기반 주차 수요예측 및 운영 최적화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4.1.1 복귀시간 · 공유 시간대 (DF-04)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4.1 거주자 이용 · 복귀패턴 예측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(거주자가 돌아오기 전까지만 공유) 거주자 출차 순간부터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‘언제 돌아올지’를 생존분석으로 확률 예측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하고, 복귀 확률이 기준 이하인 시간까지만 공유 가능 시간대로 판단함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과업 가 [거주자공유 예측]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6800" y="2358000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800" y="2358000"/>
            <a:ext cx="864000" cy="61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출차 감지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34800" y="2430000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324800" y="2466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배정 면 출차 이벤트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446999" y="2466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요일 · 시각 · 개인 패턴 조회 (가명)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569200" y="2358000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공유 후보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6800" y="3041999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4800" y="3041999"/>
            <a:ext cx="864000" cy="61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복귀 예측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234800" y="3113999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324800" y="3150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생존분석 (Cox · Gradient Boosted Survival)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446999" y="3150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시점별 ‘아직 미복귀’ 확률 곡선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569200" y="3041999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복귀 분포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6800" y="3726000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4800" y="3726000"/>
            <a:ext cx="864000" cy="61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시간대 판단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234800" y="3797999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324800" y="3834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미복귀 확률 ≥ 기준(예 95%) 구간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446999" y="3834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완충시간(예 30분) 차감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569200" y="3726000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공유 가능 시간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16800" y="4410000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4800" y="4410000"/>
            <a:ext cx="864000" cy="61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공유 · 갱신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234800" y="4482000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1324800" y="4518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탄력주차 공유 등록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446999" y="4518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실제 복귀 · 이용 결과로 재학습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569200" y="4410000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피드백</a:t>
            </a:r>
          </a:p>
        </p:txBody>
      </p:sp>
      <p:graphicFrame>
        <p:nvGraphicFramePr>
          <p:cNvPr id="55" name="Table 54"/>
          <p:cNvGraphicFramePr>
            <a:graphicFrameLocks noGrp="1"/>
          </p:cNvGraphicFramePr>
          <p:nvPr/>
        </p:nvGraphicFramePr>
        <p:xfrm>
          <a:off x="316800" y="5148000"/>
          <a:ext cx="6260400" cy="1619997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2582415"/>
                <a:gridCol w="2269395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패턴 유형 (군집 예)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특징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공유 판단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주간 출근형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평일 08시 출차 · 18~19시 복귀 규칙적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09~17시 공유 (신뢰 높음)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불규칙형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출차 · 복귀 시각 분산 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짧은 단위로만 공유 또는 보류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주말 외출형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주말 장시간 외출 · 평일 상시 주차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주말 낮 시간 공유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6" name="Table 55"/>
          <p:cNvGraphicFramePr>
            <a:graphicFrameLocks noGrp="1"/>
          </p:cNvGraphicFramePr>
          <p:nvPr/>
        </p:nvGraphicFramePr>
        <p:xfrm>
          <a:off x="316800" y="6876000"/>
          <a:ext cx="6260400" cy="1619997"/>
        </p:xfrm>
        <a:graphic>
          <a:graphicData uri="http://schemas.openxmlformats.org/drawingml/2006/table">
            <a:tbl>
              <a:tblPr firstRow="0" bandRow="0"/>
              <a:tblGrid>
                <a:gridCol w="1565100"/>
                <a:gridCol w="4695300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안전장치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보수적 기준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미복귀 확률 기준 · 완충시간을 지자체 · 주차장별로 설정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조기 복귀 대응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공유 이용자 출차 예정 알림, 인근 대체면 안내 (플랫폼 기능 연계)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개인정보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거주자 패턴은 가명 ID로만 학습 · 집계, 개인 이동 경로 수집 없음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7" name="Rectangle 56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Ⅳ-4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5. 주차장 자동 공급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Ⅳ. AI 기반 주차 수요예측 및 운영 최적화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5.1.1 운영상태 · 자동 공급 (DF-01·02)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5.1 공급 가능시간 · 공급량 최적화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(더 많이 공급하되 넘치지 않게) 예측 수요 · 점유 분포와 복귀 예측을 받아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‘기대 공급 효과 – 초과 위험 비용’을 최대화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하는 공급량 · 공급 시간을 15분마다 산출하고, 운영자 승인 또는 자동으로 반영함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과업 가 [주차장 자동 공급]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2394000"/>
        </p:xfrm>
        <a:graphic>
          <a:graphicData uri="http://schemas.openxmlformats.org/drawingml/2006/table">
            <a:tbl>
              <a:tblPr firstRow="0" bandRow="0"/>
              <a:tblGrid>
                <a:gridCol w="1252080"/>
                <a:gridCol w="2738925"/>
                <a:gridCol w="2269395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운영상태 (DF-01)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판단 기준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공급 조치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여유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예측 점유율 P90 &lt; </a:t>
                      </a: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【70%】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탄력 공급 확대 (공유면 개방)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P50 &lt; </a:t>
                      </a: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【85%】</a:t>
                      </a: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≤ P90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 공급 유지, 단시간 공유만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혼잡 예상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P50 ≥ </a:t>
                      </a: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【85%】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신규 공유 중단, 인근 주차장 안내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불확실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예측 구간 폭 과다 · 데이터 이상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자동 공급 보류 → 운영자 확인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16800" y="4860000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4800" y="4860000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입력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34800" y="4932000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324800" y="4968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시간대별 수요 · 점유 분위수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46999" y="4968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공유 가능 시간 (DF-04)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569200" y="4860000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예측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6800" y="5598000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4800" y="5598000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최적화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234800" y="5670000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324800" y="5706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목적: 공급 이용량 최대화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446999" y="5706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제약: 초과 확률 ≤ 한도 · 거주자 우선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569200" y="5598000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공급안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6800" y="6336000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4800" y="6336000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실행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234800" y="6408000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324800" y="6444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승인 모드 / 자동 모드 선택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446999" y="6444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플랫폼 API로 공급 반영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569200" y="6336000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공급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16800" y="7074000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34800" y="7074000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평가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234800" y="7146000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1324800" y="7182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실제 이용률 · 초과 발생 기록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446999" y="7182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한도 · 정책 조정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569200" y="7074000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개선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80800" y="7866000"/>
            <a:ext cx="6332400" cy="944141"/>
          </a:xfrm>
          <a:prstGeom prst="rect">
            <a:avLst/>
          </a:prstGeom>
          <a:solidFill>
            <a:srgbClr val="E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06799" y="7920000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1E7B4F"/>
                </a:solidFill>
                <a:latin typeface="맑은 고딕"/>
                <a:ea typeface="맑은 고딕"/>
                <a:cs typeface="맑은 고딕"/>
              </a:rPr>
              <a:t>운영자가 믿을 수 있는 자동화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06799" y="8118000"/>
            <a:ext cx="6080400" cy="638141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초기에는 AI 공급안을 운영자가 승인하는 모드로 시작해 승인율 · 초과 발생 건수를 확인하고, 기준을 충족한 주차장부터 자동 모드로 전환합니다. 모든 공급 결정에는 예측값 · 적용 기준이 기록됩니다.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Ⅳ-5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6. 동적 요금제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Ⅳ. AI 기반 주차 수요예측 및 운영 최적화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6.1.1 적정 요금 산정 (DF-05)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6.1 시간대 · 구간별 탄력요금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(조례가 허용하는 범위 안에서) 실시간 수요 · 점유와 가격 민감도를 반영해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목표 점유율(예 85%)을 맞추는 요금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시간대 · 구간별로 산정하되, 조례 · 고시 요금의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상 · 하한과 변경 빈도 제한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지킴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과업 가 [동적 요금제]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6800" y="2358000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800" y="2358000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수요 예측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34800" y="2430000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324800" y="2466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시간대 · 구간별 예측 점유율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446999" y="2466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현재 요금 · 대체 주차장 상황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569200" y="2358000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예측 점유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6800" y="3096000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4800" y="3096000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민감도 추정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234800" y="3167999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324800" y="3204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요금 변화 ↔ 이용 변화 탄력성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446999" y="3204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요금 이력 · A/B 구간 비교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569200" y="3096000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탄력성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6800" y="3834000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4800" y="3834000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요금 산정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234800" y="3906000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324800" y="3942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목표 점유율 달성 요금 탐색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446999" y="3942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조례 상하한 · 단계(예 100원 단위)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569200" y="3834000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요금안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16800" y="4572000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4800" y="4572000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적용 · 고지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234800" y="4644000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1324800" y="4680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시간대별 요금표 사전 고지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446999" y="4680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변경 빈도 제한 (예 1일 </a:t>
            </a:r>
            <a:r>
              <a:rPr sz="1000" b="1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【N회】</a:t>
            </a: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569200" y="4572000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탄력요금</a:t>
            </a:r>
          </a:p>
        </p:txBody>
      </p:sp>
      <p:graphicFrame>
        <p:nvGraphicFramePr>
          <p:cNvPr id="55" name="Table 54"/>
          <p:cNvGraphicFramePr>
            <a:graphicFrameLocks noGrp="1"/>
          </p:cNvGraphicFramePr>
          <p:nvPr/>
        </p:nvGraphicFramePr>
        <p:xfrm>
          <a:off x="316800" y="5364000"/>
          <a:ext cx="6260399" cy="2667984"/>
        </p:xfrm>
        <a:graphic>
          <a:graphicData uri="http://schemas.openxmlformats.org/drawingml/2006/table">
            <a:tbl>
              <a:tblPr firstRow="0" bandRow="0"/>
              <a:tblGrid>
                <a:gridCol w="1486844"/>
                <a:gridCol w="4773555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설계 원칙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법 · 제도 준수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지자체 주차장 조례 · 요금 고시 범위를 Rule로 관리 — 범위 밖 요금은 산출 불가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예측 가능성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이용자에게 시간대별 요금을 사전 고지, 입차 시점 요금 확정 방식 선택 가능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형평성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거주자 · 감면 대상자 요금은 별도 Rule로 보호 (감면 엔진과 연동)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시뮬레이션 우선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과거 데이터로 요금안 효과(점유율 · 수입) 시뮬레이션 → 발주기관 승인 후 적용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6" name="Rectangle 55"/>
          <p:cNvSpPr/>
          <p:nvPr/>
        </p:nvSpPr>
        <p:spPr>
          <a:xfrm>
            <a:off x="316800" y="8139985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16800" y="8139985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24800" y="8193985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85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4800" y="8589985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목표 점유율
(설정 가능)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439600" y="8139985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439600" y="8139985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547600" y="8193985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건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547600" y="8589985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조례 상하한
벗어난 요금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562400" y="8139985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562400" y="8139985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670400" y="8193985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100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670400" y="8589985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요금 산정 근거
(예측 · 규칙) 기록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Ⅳ-6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7. 운영 화면 · 검증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Ⅳ. AI 기반 주차 수요예측 및 운영 최적화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7.1.1 운영 대시보드 · 검증 방법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7.1 운영자 화면 및 성능 검증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(결과와 이유를 한 화면에) 운영자는 주차장별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예측 곡선 · 공급안 · 요금안과 그 근거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를 한 화면에서 보고 승인하며, 성능은 기준선 대비 개선율로 매주 리포트됨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과업 가 · 산출물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3312000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4851810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표시 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예측 현황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주차장별 24시간 점유 예측 (P10 · P50 · P90 밴드) · 실제값 비교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공급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공급안 · 운영상태 · 승인/자동 모드 · 공급 이력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거주자 공유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공유 가능 시간대 · 복귀 확률 · 조기 복귀 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요금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시간대별 요금안 · 시뮬레이션 결과 · 조례 범위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 상태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예측 오차 추이 · 데이터 드리프트 · 재학습 이력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280800" y="5778000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수요예측 영역 검증 지표 (검수 기준은 착수 시 협의 · 확정) &gt;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16800" y="6012000"/>
          <a:ext cx="6260400" cy="2833048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2504160"/>
                <a:gridCol w="2347650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제안 기준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수요 · 점유 예측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MAPE · 분위수 구간 적중률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기준선 대비 </a:t>
                      </a:r>
                      <a:r>
                        <a:rPr sz="11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【15%】</a:t>
                      </a: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개선 · 적중 80%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거주자 복귀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조기 복귀로 인한 공유 충돌 비율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【2%】</a:t>
                      </a: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이하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자동 공급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공유 면 이용률 · 초과 발생 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이용률 개선 · 초과 </a:t>
                      </a:r>
                      <a:r>
                        <a:rPr sz="11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【N건】</a:t>
                      </a: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이하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동적 요금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목표 점유율 근접도 (시뮬레이션)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목표 ±</a:t>
                      </a:r>
                      <a:r>
                        <a:rPr sz="11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【10%p】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280800" y="8917048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검증은 학습에 쓰지 않은 최근 기간 데이터(Hold-out) + 운영 Shadow 기간(4주) 결과로 수행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Ⅳ-7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>
            <a:extLst>
              <a:ext uri="{FF2B5EF4-FFF2-40B4-BE49-F238E27FC236}">
                <a16:creationId xmlns:a16="http://schemas.microsoft.com/office/drawing/2014/main" id="{8DF5FEDB-ABA7-CD11-C7AD-E40BDE3B293E}"/>
              </a:ext>
            </a:extLst>
          </p:cNvPr>
          <p:cNvSpPr txBox="1"/>
          <p:nvPr/>
        </p:nvSpPr>
        <p:spPr>
          <a:xfrm>
            <a:off x="1416060" y="1498812"/>
            <a:ext cx="5126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500"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AI 기반 자동감면 기능 개발</a:t>
            </a: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1D84C8F8-5169-F371-3701-8467EC5A1DB8}"/>
              </a:ext>
            </a:extLst>
          </p:cNvPr>
          <p:cNvSpPr txBox="1"/>
          <p:nvPr/>
        </p:nvSpPr>
        <p:spPr>
          <a:xfrm>
            <a:off x="315018" y="1209008"/>
            <a:ext cx="1101042" cy="1142350"/>
          </a:xfrm>
          <a:prstGeom prst="rect">
            <a:avLst/>
          </a:prstGeom>
          <a:noFill/>
          <a:effectLst/>
        </p:spPr>
        <p:txBody>
          <a:bodyPr wrap="none" lIns="34022" tIns="17011" rIns="34022" bIns="17011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defTabSz="208696" latinLnBrk="0">
              <a:defRPr/>
            </a:pPr>
            <a:r>
              <a:rPr kumimoji="1" lang="en-US" altLang="ko-KR" sz="7200" b="1">
                <a:ln>
                  <a:solidFill>
                    <a:srgbClr val="4FD1FF">
                      <a:alpha val="0"/>
                    </a:srgbClr>
                  </a:solidFill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dhabi" panose="01000000000000000000" pitchFamily="2" charset="-78"/>
                <a:ea typeface="맑은 고딕" panose="00000800000000000000" pitchFamily="2" charset="-127"/>
                <a:cs typeface="Aldhabi" panose="01000000000000000000" pitchFamily="2" charset="-78"/>
              </a:rPr>
              <a:t>Ⅴ.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E0BB873-3323-D7E3-9919-67D51240FAB2}"/>
              </a:ext>
            </a:extLst>
          </p:cNvPr>
          <p:cNvCxnSpPr>
            <a:cxnSpLocks/>
          </p:cNvCxnSpPr>
          <p:nvPr/>
        </p:nvCxnSpPr>
        <p:spPr>
          <a:xfrm>
            <a:off x="713137" y="2472264"/>
            <a:ext cx="3528663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A023684-4D4D-73A4-B973-1E990C2DFFB4}"/>
              </a:ext>
            </a:extLst>
          </p:cNvPr>
          <p:cNvSpPr txBox="1"/>
          <p:nvPr/>
        </p:nvSpPr>
        <p:spPr>
          <a:xfrm>
            <a:off x="713137" y="2517722"/>
            <a:ext cx="4913749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자동감면 엔진 구조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조례 파싱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Rule DB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Rule 변경관리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자격정보 연계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감면 판단 · 조합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정산 · 예외 대응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자동감면 엔진 구조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Ⅴ. AI 기반 자동감면 기능 개발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1.1.1 조례 · Rule · 자격 · 정산 구조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1.1 전체 구조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(AI는 읽고, 규칙은 판단한다) LLM은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조례를 읽어 Rule로 바꾸는 데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만 쓰고, 실제 감면 판단은 검토 · 승인된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Rule 엔진이 결정적으로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수행해 같은 입력엔 늘 같은 결과와 근거를 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과업 나 전체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6800" y="2358000"/>
            <a:ext cx="4874400" cy="413999"/>
          </a:xfrm>
          <a:prstGeom prst="rect">
            <a:avLst/>
          </a:prstGeom>
          <a:solidFill>
            <a:srgbClr val="1C3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800" y="2358000"/>
            <a:ext cx="1044000" cy="413999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조례 수집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432800" y="2430000"/>
            <a:ext cx="11868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자치법규 Open API (국가법령정보)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673600" y="2430000"/>
            <a:ext cx="11868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지자체 고시 · 요금표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914400" y="2430000"/>
            <a:ext cx="11868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개정 감지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281200" y="2358000"/>
            <a:ext cx="1296000" cy="413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AR-01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6800" y="2836800"/>
            <a:ext cx="4874400" cy="413999"/>
          </a:xfrm>
          <a:prstGeom prst="rect">
            <a:avLst/>
          </a:prstGeom>
          <a:solidFill>
            <a:srgbClr val="1F4E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4800" y="2836800"/>
            <a:ext cx="1044000" cy="413999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파싱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432800" y="2908800"/>
            <a:ext cx="11868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조문 구조화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673600" y="2908800"/>
            <a:ext cx="11868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LLM 정보 추출 (대상 · 율 · 조건 · 예외)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914400" y="2908800"/>
            <a:ext cx="11868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신뢰도 · 근거 조문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281200" y="2836800"/>
            <a:ext cx="1296000" cy="413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AR-01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6800" y="3315599"/>
            <a:ext cx="4874400" cy="413999"/>
          </a:xfrm>
          <a:prstGeom prst="rect">
            <a:avLst/>
          </a:prstGeom>
          <a:solidFill>
            <a:srgbClr val="2E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4800" y="3315599"/>
            <a:ext cx="1044000" cy="413999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Rule DB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432800" y="3387599"/>
            <a:ext cx="11868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감면 Rule (조건 · 율 · 우선순위)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673600" y="3387599"/>
            <a:ext cx="11868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버전 · 시행일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914400" y="3387599"/>
            <a:ext cx="11868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검토 · 승인 이력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281200" y="3315599"/>
            <a:ext cx="1296000" cy="413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AR-02 · 03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16800" y="3794399"/>
            <a:ext cx="4874400" cy="413999"/>
          </a:xfrm>
          <a:prstGeom prst="rect">
            <a:avLst/>
          </a:prstGeom>
          <a:solidFill>
            <a:srgbClr val="0E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4800" y="3794399"/>
            <a:ext cx="1044000" cy="413999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자격 연계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432800" y="3866399"/>
            <a:ext cx="11868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공공 마이데이터 (본인 동의)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673600" y="3866399"/>
            <a:ext cx="11868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TS 차량정보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914400" y="3866399"/>
            <a:ext cx="11868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플랫폼 회원정보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281200" y="3794399"/>
            <a:ext cx="1296000" cy="413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AR-04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16800" y="4273200"/>
            <a:ext cx="4874400" cy="413999"/>
          </a:xfrm>
          <a:prstGeom prst="rect">
            <a:avLst/>
          </a:prstGeom>
          <a:solidFill>
            <a:srgbClr val="2BA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34800" y="4273200"/>
            <a:ext cx="1044000" cy="413999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판단 · 정산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432800" y="4345199"/>
            <a:ext cx="11868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적용 가능 감면 판단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673600" y="4345199"/>
            <a:ext cx="11868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우선순위 · 조합 최적화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914400" y="4345199"/>
            <a:ext cx="11868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최종 정산금액 · 근거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81200" y="4273200"/>
            <a:ext cx="1296000" cy="413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AR-05 · 06</a:t>
            </a:r>
          </a:p>
        </p:txBody>
      </p:sp>
      <p:graphicFrame>
        <p:nvGraphicFramePr>
          <p:cNvPr id="61" name="Table 60"/>
          <p:cNvGraphicFramePr>
            <a:graphicFrameLocks noGrp="1"/>
          </p:cNvGraphicFramePr>
          <p:nvPr/>
        </p:nvGraphicFramePr>
        <p:xfrm>
          <a:off x="316800" y="4823999"/>
          <a:ext cx="6260399" cy="2617538"/>
        </p:xfrm>
        <a:graphic>
          <a:graphicData uri="http://schemas.openxmlformats.org/drawingml/2006/table">
            <a:tbl>
              <a:tblPr firstRow="0" bandRow="0"/>
              <a:tblGrid>
                <a:gridCol w="1486844"/>
                <a:gridCol w="4773555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설계 원칙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LLM 역할 한정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조례 → Rule 초안 변환과 근거 조문 연결까지만 — 운영 판단은 Rule 엔진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사람 검토 필수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AI가 만든 Rule은 담당자 검토 · 승인 후에만 운영 Rule DB에 반영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재현 가능성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판단 시점의 Rule 버전 · 자격정보 · 결과를 함께 저장 → 언제든 재계산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2" name="Rectangle 61"/>
          <p:cNvSpPr/>
          <p:nvPr/>
        </p:nvSpPr>
        <p:spPr>
          <a:xfrm>
            <a:off x="316800" y="7549538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16800" y="7549538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24800" y="7603538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건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24800" y="7999538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승인 전 Rule의
운영 반영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439600" y="7549538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2439600" y="7549538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547600" y="7603538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100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%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547600" y="7999538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판단 결과에
근거 조문 표시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562400" y="7549538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4562400" y="7549538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670400" y="7603538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N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개 지자체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670400" y="7999538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Rule 추가만으로
확장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Ⅴ-1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조례 파싱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Ⅴ. AI 기반 자동감면 기능 개발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2.1.1 조례 수집 · 추출 (AR-01)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2.1 조례 수집 및 AI 파싱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(조문 단위로 읽고 근거와 함께 추출) 지자체 주차장 조례를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자치법규 Open API로 수집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해 조 · 항 · 호와 별표로 구조화하고, LLM이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감면 대상 · 감면율 · 적용조건 · 예외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를 스키마에 맞춰 추출하며 근거 조문을 붙임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과업 나 [조례 파싱]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6800" y="2358000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800" y="2358000"/>
            <a:ext cx="864000" cy="61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수집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34800" y="2430000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324800" y="2466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국가법령정보 자치법규 API · 지자체 고시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446999" y="2466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시행일 · 개정 이력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569200" y="2358000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조례 원문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6800" y="3041999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4800" y="3041999"/>
            <a:ext cx="864000" cy="61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구조화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234800" y="3113999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324800" y="3150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조 · 항 · 호 · 별표(표) 파싱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446999" y="3150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감면 관련 조문 후보 선별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569200" y="3041999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조문 트리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6800" y="3726000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4800" y="3726000"/>
            <a:ext cx="864000" cy="61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정보 추출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234800" y="3797999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324800" y="3834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LLM + 스키마 강제 (JSON)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446999" y="3834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대상 · 율 · 조건 · 예외 · 한도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569200" y="3726000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Rule 초안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16800" y="4410000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4800" y="4410000"/>
            <a:ext cx="864000" cy="61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검증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234800" y="4482000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1324800" y="4518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규칙 검사 (율 0~100%, 조건 누락)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446999" y="4518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추출 신뢰도 · 원문 대조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569200" y="4410000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검토 대기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80800" y="5148000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추출 스키마 (예시 — 실제 감면 기준은 지자체 조례에 따름) &gt;</a:t>
            </a:r>
          </a:p>
        </p:txBody>
      </p:sp>
      <p:graphicFrame>
        <p:nvGraphicFramePr>
          <p:cNvPr id="56" name="Table 55"/>
          <p:cNvGraphicFramePr>
            <a:graphicFrameLocks noGrp="1"/>
          </p:cNvGraphicFramePr>
          <p:nvPr/>
        </p:nvGraphicFramePr>
        <p:xfrm>
          <a:off x="316800" y="5382000"/>
          <a:ext cx="6260400" cy="2655213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2895435"/>
                <a:gridCol w="2034630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예시 값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근거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17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감면 대상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장애인 등록 차량 / 국가유공자 / 경차 / 저공해차 / 다자녀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제○조 제○항 제○호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감면율 · 방식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50% · 80% · 면제 · 정액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같은 조 · 별표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7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적용 조건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본인 탑승 · 해당 지자체 주소 · 차량 등록 명의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조문 단서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적용 대상 시설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공영 노외 · 노상 · 거주자우선 (시설별 상이)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적용 범위 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예외 · 중복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‘2 이상 해당 시 감면율이 큰 것 하나만 적용’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중복 감면 조항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7" name="Rectangle 56"/>
          <p:cNvSpPr/>
          <p:nvPr/>
        </p:nvSpPr>
        <p:spPr>
          <a:xfrm>
            <a:off x="280800" y="8145215"/>
            <a:ext cx="6332400" cy="738271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06799" y="8199215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LLM 오류를 걸러내는 3단 검증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06799" y="8397216"/>
            <a:ext cx="6080400" cy="432271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① 스키마 강제로 형식 오류 제거 ② 규칙 검사로 값 범위 · 필수 항목 확인 ③ 원문 대조 화면에서 담당자가 근거 조문과 나란히 보고 승인 — 승인 전 Rule은 운영에 쓰이지 않습니다.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Ⅴ-2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Rule DB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Ⅴ. AI 기반 자동감면 기능 개발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3.1.1 Rule DB 생성 · 관리 (AR-02)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3.1 감면 Rule DB 설계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(조례 한 조문 = Rule 한 행) 감면조건을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지자체 · 시설 유형 · 자격 · 차량 조건 · 감면율 · 우선순위 · 시행기간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컬럼의 결정 테이블로 저장하고, 각 Rule이 근거 조문과 버전을 가짐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과업 나 [조례 파싱]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0800" y="2358000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감면 Rule 결정 테이블 구조 (예시) &gt;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2592000"/>
          <a:ext cx="6260399" cy="3723168"/>
        </p:xfrm>
        <a:graphic>
          <a:graphicData uri="http://schemas.openxmlformats.org/drawingml/2006/table">
            <a:tbl>
              <a:tblPr firstRow="0" bandRow="0"/>
              <a:tblGrid>
                <a:gridCol w="626040"/>
                <a:gridCol w="860805"/>
                <a:gridCol w="1017315"/>
                <a:gridCol w="860805"/>
                <a:gridCol w="547785"/>
                <a:gridCol w="547785"/>
                <a:gridCol w="860805"/>
                <a:gridCol w="939059"/>
              </a:tblGrid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Rule ID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지자체 · 시설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자격 조건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차량 조건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감면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우선순위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시행기간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근거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R-001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○○구 · 공영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장애인 (마이데이터)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본인 · 보호자 차량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80%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2026.01~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제○조①1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R-002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○○구 · 공영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국가유공자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본인 차량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50%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2026.01~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제○조①2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R-003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○○구 · 공영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경차 (TS)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50%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2026.01~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제○조①5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R-004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○○구 · 공영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저공해차 (TS)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50%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2026.01~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제○조①6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X-001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○○구 · 공통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중복 규칙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최대 1건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2026.01~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제○조②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16800" y="6423170"/>
          <a:ext cx="6260399" cy="2354096"/>
        </p:xfrm>
        <a:graphic>
          <a:graphicData uri="http://schemas.openxmlformats.org/drawingml/2006/table">
            <a:tbl>
              <a:tblPr firstRow="0" bandRow="0"/>
              <a:tblGrid>
                <a:gridCol w="1486844"/>
                <a:gridCol w="4773555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 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Rule 편집기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결정 테이블 화면 편집 · 조건 조합 · 감면율 · 우선순위 · 시행기간 설정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테스트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가상 이용자 · 차량 시나리오로 Rule 결과 미리보기 (회귀 테스트 세트)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지자체 확장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지자체 코드만 추가하면 같은 구조로 Rule 등록 — 코드 수정 없음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280800" y="8849268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Rule 엔진은 결정 테이블(DMN 호환) 방식으로 구현하여 판단 로직을 사람이 읽을 수 있게 하고, JSON으로 내보내 기술이전 · 타 시스템 재사용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Ⅴ-3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4. Rule 변경관리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Ⅴ. AI 기반 자동감면 기능 개발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4.1.1 개정 감지 · 버전 관리 (AR-03)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4.1 조례 · 감면기준 변경 대응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(개정되면 바로 알고, 시행일에 정확히 바뀜) 자치법규 개정을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매일 감지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해 바뀐 조문만 다시 파싱하고, 신구 Rule 비교 → 검토 · 승인 →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시행일 0시 자동 전환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, 이전 버전은 소급 재계산용으로 보존함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과업 나 [조례 파싱]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16800" y="2358000"/>
            <a:ext cx="116568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 Same Side Corner Rectangle 31"/>
          <p:cNvSpPr/>
          <p:nvPr/>
        </p:nvSpPr>
        <p:spPr>
          <a:xfrm>
            <a:off x="31680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개정 감지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800" y="2646000"/>
            <a:ext cx="109368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일 1회 API 조회</a:t>
            </a:r>
          </a:p>
        </p:txBody>
      </p:sp>
      <p:sp>
        <p:nvSpPr>
          <p:cNvPr id="34" name="Isosceles Triangle 33"/>
          <p:cNvSpPr/>
          <p:nvPr/>
        </p:nvSpPr>
        <p:spPr>
          <a:xfrm rot="5400000">
            <a:off x="1493280" y="2845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590480" y="2358000"/>
            <a:ext cx="116568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 Same Side Corner Rectangle 35"/>
          <p:cNvSpPr/>
          <p:nvPr/>
        </p:nvSpPr>
        <p:spPr>
          <a:xfrm>
            <a:off x="159048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변경 조문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26480" y="2646000"/>
            <a:ext cx="109368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차이만 재파싱</a:t>
            </a:r>
          </a:p>
        </p:txBody>
      </p:sp>
      <p:sp>
        <p:nvSpPr>
          <p:cNvPr id="38" name="Isosceles Triangle 37"/>
          <p:cNvSpPr/>
          <p:nvPr/>
        </p:nvSpPr>
        <p:spPr>
          <a:xfrm rot="5400000">
            <a:off x="2766960" y="2845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2864160" y="2358000"/>
            <a:ext cx="116568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 Same Side Corner Rectangle 39"/>
          <p:cNvSpPr/>
          <p:nvPr/>
        </p:nvSpPr>
        <p:spPr>
          <a:xfrm>
            <a:off x="286416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신구 비교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00160" y="2646000"/>
            <a:ext cx="109368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Rule 변경 요약</a:t>
            </a:r>
          </a:p>
        </p:txBody>
      </p:sp>
      <p:sp>
        <p:nvSpPr>
          <p:cNvPr id="42" name="Isosceles Triangle 41"/>
          <p:cNvSpPr/>
          <p:nvPr/>
        </p:nvSpPr>
        <p:spPr>
          <a:xfrm rot="5400000">
            <a:off x="4040640" y="2845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137840" y="2358000"/>
            <a:ext cx="116568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 Same Side Corner Rectangle 43"/>
          <p:cNvSpPr/>
          <p:nvPr/>
        </p:nvSpPr>
        <p:spPr>
          <a:xfrm>
            <a:off x="413784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검토 · 승인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73840" y="2646000"/>
            <a:ext cx="109368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담당자 · 책임자</a:t>
            </a:r>
          </a:p>
        </p:txBody>
      </p:sp>
      <p:sp>
        <p:nvSpPr>
          <p:cNvPr id="46" name="Isosceles Triangle 45"/>
          <p:cNvSpPr/>
          <p:nvPr/>
        </p:nvSpPr>
        <p:spPr>
          <a:xfrm rot="5400000">
            <a:off x="5314320" y="2845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411520" y="2358000"/>
            <a:ext cx="1165680" cy="10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 Same Side Corner Rectangle 47"/>
          <p:cNvSpPr/>
          <p:nvPr/>
        </p:nvSpPr>
        <p:spPr>
          <a:xfrm>
            <a:off x="541152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시행일 전환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47520" y="2646000"/>
            <a:ext cx="1093680" cy="79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자동 · 이력 보존</a:t>
            </a:r>
          </a:p>
        </p:txBody>
      </p:sp>
      <p:graphicFrame>
        <p:nvGraphicFramePr>
          <p:cNvPr id="50" name="Table 49"/>
          <p:cNvGraphicFramePr>
            <a:graphicFrameLocks noGrp="1"/>
          </p:cNvGraphicFramePr>
          <p:nvPr/>
        </p:nvGraphicFramePr>
        <p:xfrm>
          <a:off x="316800" y="3546000"/>
          <a:ext cx="6260399" cy="2394000"/>
        </p:xfrm>
        <a:graphic>
          <a:graphicData uri="http://schemas.openxmlformats.org/drawingml/2006/table">
            <a:tbl>
              <a:tblPr firstRow="0" bandRow="0"/>
              <a:tblGrid>
                <a:gridCol w="1486844"/>
                <a:gridCol w="4773555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변경 유형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처리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감면율 변경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기존 Rule 새 버전 생성 (시행일부터 적용), 이전 버전 유효기간 종료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대상 신설 · 폐지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Rule 추가 · 비활성화, 영향 받는 이용자 수 미리 산출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조건 변경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조건 컬럼 수정 + 회귀 테스트 세트 자동 실행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긴급 정정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 책임자 즉시 반영 + 사후 검토 기록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1" name="Table 50"/>
          <p:cNvGraphicFramePr>
            <a:graphicFrameLocks noGrp="1"/>
          </p:cNvGraphicFramePr>
          <p:nvPr/>
        </p:nvGraphicFramePr>
        <p:xfrm>
          <a:off x="316800" y="6048000"/>
          <a:ext cx="6260399" cy="1908000"/>
        </p:xfrm>
        <a:graphic>
          <a:graphicData uri="http://schemas.openxmlformats.org/drawingml/2006/table">
            <a:tbl>
              <a:tblPr firstRow="0" bandRow="0"/>
              <a:tblGrid>
                <a:gridCol w="1486844"/>
                <a:gridCol w="4773555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이력 · 감사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버전 보존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모든 Rule 버전 · 근거 조문 · 승인자 · 승인 시각 보존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판단 재현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과거 감면 건은 당시 Rule 버전으로 재계산 가능 (민원 · 정산 대사)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변경 알림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개정 감지 · 검토 대기 · 시행 예정 Rule을 담당자에게 알림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2" name="Rectangle 51"/>
          <p:cNvSpPr/>
          <p:nvPr/>
        </p:nvSpPr>
        <p:spPr>
          <a:xfrm>
            <a:off x="316800" y="8064000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16800" y="8064000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24800" y="8118000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1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일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24800" y="8514000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조례 개정
감지 주기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439600" y="8064000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439600" y="8064000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547600" y="8118000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시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547600" y="8514000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시행일 Rule
자동 전환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562400" y="8064000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562400" y="8064000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670400" y="8118000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100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670400" y="8514000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과거 판단
재현 가능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Ⅴ-4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5. 자격정보 연계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Ⅴ. AI 기반 자동감면 기능 개발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5.1.1 자격정보 · Rule 연계 (AR-04)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5.1 공공 마이데이터 · 차량정보 연계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(본인 동의로, 필요한 결과만) 이용자가 동의하면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공공 마이데이터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로 감면 자격(장애인 · 국가유공자 등)을,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TS 연계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로 차량 정보(경차 · 저공해차 등)를 확인하고, 원문 서류가 아니라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자격 여부 · 유효기간만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보관함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과업 나 [감면 판단]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6800" y="2358000"/>
            <a:ext cx="5162400" cy="774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800" y="2358000"/>
            <a:ext cx="864000" cy="774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동의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34800" y="2430000"/>
            <a:ext cx="7200" cy="630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324800" y="2466000"/>
            <a:ext cx="2032200" cy="576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앱에서 감면 신청 · 본인 인증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446999" y="2466000"/>
            <a:ext cx="2032200" cy="576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제공 항목 · 목적 · 기간 동의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569200" y="2358000"/>
            <a:ext cx="1007999" cy="774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동의 기록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6800" y="3204000"/>
            <a:ext cx="5162400" cy="774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4800" y="3204000"/>
            <a:ext cx="864000" cy="774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자격 조회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234800" y="3276000"/>
            <a:ext cx="7200" cy="630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324800" y="3312000"/>
            <a:ext cx="2032200" cy="576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공공 마이데이터 (행정정보)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446999" y="3312000"/>
            <a:ext cx="2032200" cy="576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TS 차량정보 · 플랫폼 회원정보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569200" y="3204000"/>
            <a:ext cx="1007999" cy="774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자격 응답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6800" y="4050000"/>
            <a:ext cx="5162400" cy="774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4800" y="4050000"/>
            <a:ext cx="864000" cy="774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정규화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234800" y="4121999"/>
            <a:ext cx="7200" cy="630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324800" y="4158000"/>
            <a:ext cx="2032200" cy="576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자격 코드 · 유효기간으로 변환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446999" y="4158000"/>
            <a:ext cx="2032200" cy="576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원문 정보 즉시 폐기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569200" y="4050000"/>
            <a:ext cx="1007999" cy="774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자격 프로필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16800" y="4896000"/>
            <a:ext cx="5162400" cy="774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4800" y="4896000"/>
            <a:ext cx="864000" cy="774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Rule 연계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234800" y="4968000"/>
            <a:ext cx="7200" cy="630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1324800" y="5004000"/>
            <a:ext cx="2032200" cy="576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자격 · 차량 조건 ↔ Rule 매칭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446999" y="5004000"/>
            <a:ext cx="2032200" cy="576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만료 시 재확인 요청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569200" y="4896000"/>
            <a:ext cx="1007999" cy="774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감면 후보</a:t>
            </a:r>
          </a:p>
        </p:txBody>
      </p:sp>
      <p:graphicFrame>
        <p:nvGraphicFramePr>
          <p:cNvPr id="55" name="Table 54"/>
          <p:cNvGraphicFramePr>
            <a:graphicFrameLocks noGrp="1"/>
          </p:cNvGraphicFramePr>
          <p:nvPr/>
        </p:nvGraphicFramePr>
        <p:xfrm>
          <a:off x="316800" y="5795999"/>
          <a:ext cx="6260400" cy="2617538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1956375"/>
                <a:gridCol w="1643355"/>
                <a:gridCol w="1330335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연계 대상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확인 정보 (예)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연계 방식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착수 시 확정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공공 마이데이터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장애인 · 국가유공자 · 기초생활 등 자격 여부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이용기관 API (본인 동의)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【이용기관 등록 주체】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TS 연계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차종(경차) · 연료(저공해) · 소유자 확인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기존 TS 연계 환경 활용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【적용 범위】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플랫폼 회원정보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주소지 · 거주자 배정 여부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내부 DB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6" name="TextBox 55"/>
          <p:cNvSpPr txBox="1"/>
          <p:nvPr/>
        </p:nvSpPr>
        <p:spPr>
          <a:xfrm>
            <a:off x="280800" y="8485538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마이데이터 연계 주체 · 인증 방식 · 대상 서류는 RFP에 정해져 있지 않아 착수 2주 내 발주기관과 확정하며, 연계 전까지는 운영자 서류 확인 결과를 같은 자격 코드로 입력해 엔진을 검증함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Ⅴ-5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6. 감면 판단 · 조합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Ⅴ. AI 기반 자동감면 기능 개발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6.1.1 감면 판단 · 최적 조합 (AR-05)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6.1 적용 감면 자동판단 및 최적 조합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(이용자에게 가장 유리하고 조례에 맞는 조합) 자격 프로필로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적용 가능한 감면을 모두 찾고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, 중복 금지 · 우선순위 · 한도 Rule을 제약으로 두어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조례가 허용하는 범위에서 감면액이 최대인 조합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선택함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과업 나 [감면 판단]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6800" y="2358000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800" y="2358000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후보 탐색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34800" y="2430000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324800" y="2466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자격 · 차량 · 시설 · 시간 조건 매칭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446999" y="2466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만족 Rule 전부 추출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569200" y="2358000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후보 감면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6800" y="3096000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4800" y="3096000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제약 적용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234800" y="3167999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324800" y="3204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중복 금지 · 상호 배타 Rule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446999" y="3204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우선순위 · 감면 한도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569200" y="3096000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허용 조합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6800" y="3834000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4800" y="3834000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최적 선택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234800" y="3906000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324800" y="3942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조합별 최종 요금 계산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446999" y="3942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최소 요금(최대 감면) 선택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569200" y="3834000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적용 감면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16800" y="4572000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4800" y="4572000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근거 생성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234800" y="4644000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1324800" y="4680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적용 · 미적용 Rule과 사유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446999" y="4680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근거 조문 · 사용 자격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569200" y="4572000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판단 결과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80800" y="5364000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판단 예시 (가상 — 조례에 따라 결과 상이) &gt;</a:t>
            </a:r>
          </a:p>
        </p:txBody>
      </p:sp>
      <p:graphicFrame>
        <p:nvGraphicFramePr>
          <p:cNvPr id="56" name="Table 55"/>
          <p:cNvGraphicFramePr>
            <a:graphicFrameLocks noGrp="1"/>
          </p:cNvGraphicFramePr>
          <p:nvPr/>
        </p:nvGraphicFramePr>
        <p:xfrm>
          <a:off x="316800" y="5598000"/>
          <a:ext cx="6260399" cy="1999328"/>
        </p:xfrm>
        <a:graphic>
          <a:graphicData uri="http://schemas.openxmlformats.org/drawingml/2006/table">
            <a:tbl>
              <a:tblPr firstRow="0" bandRow="0"/>
              <a:tblGrid>
                <a:gridCol w="1486844"/>
                <a:gridCol w="1565100"/>
                <a:gridCol w="1565100"/>
                <a:gridCol w="1643355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이용자 상황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후보 감면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적용 결과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장애인 + 경차 소유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R-001 80% · R-003 50%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중복 시 큰 것 1개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R-001 80% 적용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국가유공자 + 저공해차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R-002 50% · R-004 50%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중복 시 큰 것 1개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R-002 50% (동률 시 우선순위)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경차, 타 지자체 주소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R-003 50%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주소 조건 없음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R-003 50% 적용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7" name="Rectangle 56"/>
          <p:cNvSpPr/>
          <p:nvPr/>
        </p:nvSpPr>
        <p:spPr>
          <a:xfrm>
            <a:off x="280800" y="7705328"/>
            <a:ext cx="6332400" cy="944141"/>
          </a:xfrm>
          <a:prstGeom prst="rect">
            <a:avLst/>
          </a:prstGeom>
          <a:solidFill>
            <a:srgbClr val="E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06799" y="7759328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1E7B4F"/>
                </a:solidFill>
                <a:latin typeface="맑은 고딕"/>
                <a:ea typeface="맑은 고딕"/>
                <a:cs typeface="맑은 고딕"/>
              </a:rPr>
              <a:t>왜 그 감면인지 설명합니다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06799" y="7957328"/>
            <a:ext cx="6080400" cy="638141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결과 화면 · 영수증에 ‘적용: ○○구 조례 제○조 장애인 80% / 미적용: 경차 50% (중복 감면 불가, 제○조②)’처럼 적용 · 미적용 사유를 함께 보여 줘 민원 응대 시간을 줄입니다.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Ⅴ-6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7. 정산 · 예외 대응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Ⅴ. AI 기반 자동감면 기능 개발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7.1.1 정산 · 예외 대응 (AR-06)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7.1 감면 결과 · 정산 및 예외 처리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(정산까지 끝까지) 이용 시간 · 요금(동적 요금 포함) · 적용 감면으로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최종 정산금액을 계산해 플랫폼에 전달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하고, 자격 불확실 · Rule 충돌 · 연계 장애는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안전한 기본 처리 + 사후 정산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으로 대응함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과업 나 [감면 판단]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2137605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4851810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정산 단계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기본 요금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이용 시간 × 시간대별 요금 (동적 요금제 · 거주자 요금 반영)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7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감면 적용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최적 조합 감면율 · 정액 감면 · 한도 적용, 단수 처리 Rule (예 10원 미만 절사)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결과 전달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정산금액 · 감면 내역 · 근거를 플랫폼 결제 API로 전달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 단위 감면 · 정산 집계, 플랫폼 결제 결과와 자동 대사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4603608"/>
          <a:ext cx="6260400" cy="2137605"/>
        </p:xfrm>
        <a:graphic>
          <a:graphicData uri="http://schemas.openxmlformats.org/drawingml/2006/table">
            <a:tbl>
              <a:tblPr firstRow="0" bandRow="0"/>
              <a:tblGrid>
                <a:gridCol w="1565100"/>
                <a:gridCol w="4695300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예외 상황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17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마이데이터 · TS 연계 장애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감면 미적용으로 우선 정산 → 연계 복구 후 자동 재판단 · 차액 환급 안내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자격 만료 · 불일치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감면 보류 + 이용자 재확인 요청, 운영자 확인 큐 등록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Rule 충돌 · 미정의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판단 중단 없이 기본 요금 + 운영자 검토 큐 (Rule 보완 후 재계산)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이용자 이의 제기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판단 근거 조회 → 운영자 수동 조정 · 사유 기록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280800" y="6849215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자동감면 영역 검증 지표 (검수 기준은 착수 시 협의 · 확정) &gt;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316800" y="7083215"/>
          <a:ext cx="6260400" cy="1619997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2504160"/>
                <a:gridCol w="2347650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제안 기준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조례 파싱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추출 항목 정확도 (담당자 판정)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【90%】</a:t>
                      </a: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이상, 승인 후 100%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감면 판단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테스트 시나리오 판단 일치율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100% (승인 Rule 기준)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수작업 계산 대비 정산금액 일치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5" name="Rectangle 34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Ⅴ-7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>
            <a:extLst>
              <a:ext uri="{FF2B5EF4-FFF2-40B4-BE49-F238E27FC236}">
                <a16:creationId xmlns:a16="http://schemas.microsoft.com/office/drawing/2014/main" id="{8DF5FEDB-ABA7-CD11-C7AD-E40BDE3B293E}"/>
              </a:ext>
            </a:extLst>
          </p:cNvPr>
          <p:cNvSpPr txBox="1"/>
          <p:nvPr/>
        </p:nvSpPr>
        <p:spPr>
          <a:xfrm>
            <a:off x="1992060" y="1498812"/>
            <a:ext cx="4550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500"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시스템 연계 및 성능검증</a:t>
            </a: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1D84C8F8-5169-F371-3701-8467EC5A1DB8}"/>
              </a:ext>
            </a:extLst>
          </p:cNvPr>
          <p:cNvSpPr txBox="1"/>
          <p:nvPr/>
        </p:nvSpPr>
        <p:spPr>
          <a:xfrm>
            <a:off x="315018" y="1209008"/>
            <a:ext cx="1101042" cy="1142350"/>
          </a:xfrm>
          <a:prstGeom prst="rect">
            <a:avLst/>
          </a:prstGeom>
          <a:noFill/>
          <a:effectLst/>
        </p:spPr>
        <p:txBody>
          <a:bodyPr wrap="none" lIns="34022" tIns="17011" rIns="34022" bIns="17011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defTabSz="208696" latinLnBrk="0">
              <a:defRPr/>
            </a:pPr>
            <a:r>
              <a:rPr kumimoji="1" lang="en-US" altLang="ko-KR" sz="7200" b="1">
                <a:ln>
                  <a:solidFill>
                    <a:srgbClr val="4FD1FF">
                      <a:alpha val="0"/>
                    </a:srgbClr>
                  </a:solidFill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dhabi" panose="01000000000000000000" pitchFamily="2" charset="-78"/>
                <a:ea typeface="맑은 고딕" panose="00000800000000000000" pitchFamily="2" charset="-127"/>
                <a:cs typeface="Aldhabi" panose="01000000000000000000" pitchFamily="2" charset="-78"/>
              </a:rPr>
              <a:t>Ⅵ.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E0BB873-3323-D7E3-9919-67D51240FAB2}"/>
              </a:ext>
            </a:extLst>
          </p:cNvPr>
          <p:cNvCxnSpPr>
            <a:cxnSpLocks/>
          </p:cNvCxnSpPr>
          <p:nvPr/>
        </p:nvCxnSpPr>
        <p:spPr>
          <a:xfrm>
            <a:off x="713137" y="2472264"/>
            <a:ext cx="3528663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A023684-4D4D-73A4-B973-1E990C2DFFB4}"/>
              </a:ext>
            </a:extLst>
          </p:cNvPr>
          <p:cNvSpPr txBox="1"/>
          <p:nvPr/>
        </p:nvSpPr>
        <p:spPr>
          <a:xfrm>
            <a:off x="713137" y="2517722"/>
            <a:ext cx="4913749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전체 아키텍처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API 연계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성능검증 방안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전체 아키텍처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Ⅵ. 시스템 연계 및 성능검증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1.1.1 AI 서비스 구성도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1.1 목표 시스템 구성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(플랫폼은 그대로, AI는 옆에) 기존 탄력주차 플랫폼을 고치지 않고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수요예측 · 자동감면 AI 서비스를 별도 컨테이너로 두고 API로 연결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하여 장애가 서로 번지지 않고 단계적으로 적용할 수 있게 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일반사항 · 산출물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6800" y="2358000"/>
            <a:ext cx="4874400" cy="413999"/>
          </a:xfrm>
          <a:prstGeom prst="rect">
            <a:avLst/>
          </a:prstGeom>
          <a:solidFill>
            <a:srgbClr val="1C3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800" y="2358000"/>
            <a:ext cx="1044000" cy="413999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이용자 · 운영자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432800" y="2430000"/>
            <a:ext cx="1807199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탄력주차 앱 · 웹 (이용자)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94000" y="2430000"/>
            <a:ext cx="1807199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운영자 · 감면 담당 화면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281200" y="2358000"/>
            <a:ext cx="1296000" cy="413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기존 + AI 화면 추가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6800" y="2836800"/>
            <a:ext cx="4874400" cy="413999"/>
          </a:xfrm>
          <a:prstGeom prst="rect">
            <a:avLst/>
          </a:prstGeom>
          <a:solidFill>
            <a:srgbClr val="1F4E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4800" y="2836800"/>
            <a:ext cx="1044000" cy="413999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탄력주차 플랫폼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432800" y="2908800"/>
            <a:ext cx="11868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공유 · 예약 · 입출차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673600" y="2908800"/>
            <a:ext cx="11868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요금 · 결제 · 정산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914400" y="2908800"/>
            <a:ext cx="11868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회원 · 거주자 관리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281200" y="2836800"/>
            <a:ext cx="1296000" cy="413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기존 시스템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16800" y="3315599"/>
            <a:ext cx="4874400" cy="413999"/>
          </a:xfrm>
          <a:prstGeom prst="rect">
            <a:avLst/>
          </a:prstGeom>
          <a:solidFill>
            <a:srgbClr val="2E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34800" y="3315599"/>
            <a:ext cx="1044000" cy="413999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서비스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432800" y="3387599"/>
            <a:ext cx="8766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수요예측 API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363400" y="3387599"/>
            <a:ext cx="8766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공급 · 요금 최적화 API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294000" y="3387599"/>
            <a:ext cx="8766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자동감면 · 정산 API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224600" y="3387599"/>
            <a:ext cx="8766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Rule 관리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281200" y="3315599"/>
            <a:ext cx="1296000" cy="413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컨테이너 · REST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16800" y="3794399"/>
            <a:ext cx="4874400" cy="413999"/>
          </a:xfrm>
          <a:prstGeom prst="rect">
            <a:avLst/>
          </a:prstGeom>
          <a:solidFill>
            <a:srgbClr val="0E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4800" y="3794399"/>
            <a:ext cx="1044000" cy="413999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데이터 · MLOps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432800" y="3866399"/>
            <a:ext cx="8766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피처 저장소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363400" y="3866399"/>
            <a:ext cx="8766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모델 레지스트리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294000" y="3866399"/>
            <a:ext cx="8766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Rule DB · 이력 DB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224600" y="3866399"/>
            <a:ext cx="8766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모니터링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281200" y="3794399"/>
            <a:ext cx="1296000" cy="413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가명 데이터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16800" y="4273200"/>
            <a:ext cx="4874400" cy="413999"/>
          </a:xfrm>
          <a:prstGeom prst="rect">
            <a:avLst/>
          </a:prstGeom>
          <a:solidFill>
            <a:srgbClr val="2BA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34800" y="4273200"/>
            <a:ext cx="1044000" cy="413999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외부 연계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432800" y="4345199"/>
            <a:ext cx="8766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자치법규 Open API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2363400" y="4345199"/>
            <a:ext cx="8766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공공 마이데이터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294000" y="4345199"/>
            <a:ext cx="8766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TS 차량정보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224600" y="4345199"/>
            <a:ext cx="876600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공휴일 · 기상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281200" y="4273200"/>
            <a:ext cx="1296000" cy="413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보안 게이트웨이</a:t>
            </a:r>
          </a:p>
        </p:txBody>
      </p:sp>
      <p:graphicFrame>
        <p:nvGraphicFramePr>
          <p:cNvPr id="63" name="Table 62"/>
          <p:cNvGraphicFramePr>
            <a:graphicFrameLocks noGrp="1"/>
          </p:cNvGraphicFramePr>
          <p:nvPr/>
        </p:nvGraphicFramePr>
        <p:xfrm>
          <a:off x="316800" y="4823999"/>
          <a:ext cx="6260400" cy="3381076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3130200"/>
                <a:gridCol w="1721610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기술 (예정)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서비스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Python (FastAPI) · LightGBM · PyTorch · 생존분석 라이브러리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공개 SW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LLM (조례 파싱)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상용 LLM API 또는 오픈 모델 — 추상화 계층으로 교체 가능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【모델 · 비용 협의】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· 운영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PostgreSQL · MLflow · Docker · Prometheus/Grafana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공개 SW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배포 환경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탄력주차 플랫폼 운영환경 (클라우드/IDC) </a:t>
                      </a: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【확인】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착수 시 확정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4" name="Rectangle 63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Ⅵ-1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API 연계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Ⅵ. 시스템 연계 및 성능검증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2.1.1 연계 대상 · API 규격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2.1 외부 · 내부 시스템 연계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(규격부터 확정) 착수 1개월 안에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탄력주차 플랫폼 · TS · 마이데이터 · 자치법규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연계 규격서를 확정하고, 확정 전에는 Mock API로 개발해 연계 지연이 개발 지연이 되지 않게 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일반사항 · 산출물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3949048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1017315"/>
                <a:gridCol w="2582415"/>
                <a:gridCol w="1252080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API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주요 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호출 주기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/forecast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→ 플랫폼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주차장 · 시간대 점유 예측 (분위수)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15분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/supply-plan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→ 플랫폼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공급 가능시간 · 공급량 · 운영상태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15분 · 출차 이벤트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/pricing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→ 플랫폼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시간대 · 구간별 요금안 (조례 범위)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【시간 단위】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/discount/evaluate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플랫폼 → AI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이용 건 감면 판단 · 근거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정산 시점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/settlement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플랫폼 → AI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최종 정산금액 · 감면 내역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정산 시점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/rules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 화면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Rule 조회 · 편집 · 승인 · 버전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6415048"/>
          <a:ext cx="6260400" cy="2275048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2895435"/>
                <a:gridCol w="1956375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외부 연계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자치법규 Open API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국가법령정보 공동활용 API — 목록 · 본문 · 개정 이력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API 키 암호화 보관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공공 마이데이터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이용기관 연계 (본인 인증 · 동의)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전송 암호화 · 결과만 보관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TS 차량정보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기존 탄력주차 TS 연계 모듈 재사용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기존 보안 체계 준수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280800" y="8762097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모든 API는 OpenAPI 명세 · 인증 토큰 · 호출 로그를 갖추며, ‘API 및 외부시스템 연계 규격서’로 납품. 지자체 · 외부 모빌리티 서비스 확산 시 같은 API를 재사용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Ⅵ-2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성능검증 방안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Ⅵ. 시스템 연계 및 성능검증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3.1.1 3단계 성능 검증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3.1 기능 · 성능 검증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(실데이터로 증명)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과거 데이터 백테스트 → 4주 Shadow 운영 → 시범 적용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3단계로 검증하고, RFP에 정해지지 않은 성능 기준은 착수 시 아래 제안 기준으로 합의해 검수에 씀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산출물: 성능검증 · 테스트 결과서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6800" y="2358000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800" y="2358000"/>
            <a:ext cx="864000" cy="61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백테스트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34800" y="2430000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324800" y="2466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Hold-out 기간 예측 · 판단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446999" y="2466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기준선 대비 개선 확인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569200" y="2358000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M4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6800" y="3041999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4800" y="3041999"/>
            <a:ext cx="864000" cy="61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Shadow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234800" y="3113999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324800" y="3150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운영에 반영하지 않고 병행 기록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446999" y="3150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실제 결과와 4주 비교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569200" y="3041999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M5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6800" y="3726000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4800" y="3726000"/>
            <a:ext cx="864000" cy="61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시범 적용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234800" y="3797999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324800" y="3834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선정 주차장 · 지자체 적용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446999" y="3834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운영자 승인 모드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569200" y="3726000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M5~M6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16800" y="4410000"/>
            <a:ext cx="5162400" cy="612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4800" y="4410000"/>
            <a:ext cx="864000" cy="61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결과서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234800" y="4482000"/>
            <a:ext cx="7200" cy="467999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1324800" y="4518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성능검증 · 테스트 결과서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446999" y="4518000"/>
            <a:ext cx="2032200" cy="413999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개선 · 재학습 계획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569200" y="4410000"/>
            <a:ext cx="1007999" cy="612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M6</a:t>
            </a:r>
          </a:p>
        </p:txBody>
      </p:sp>
      <p:graphicFrame>
        <p:nvGraphicFramePr>
          <p:cNvPr id="55" name="Table 54"/>
          <p:cNvGraphicFramePr>
            <a:graphicFrameLocks noGrp="1"/>
          </p:cNvGraphicFramePr>
          <p:nvPr/>
        </p:nvGraphicFramePr>
        <p:xfrm>
          <a:off x="316800" y="5148000"/>
          <a:ext cx="6260400" cy="2447995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2504160"/>
                <a:gridCol w="2347650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검증 영역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제안 기준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수요 · 점유 예측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MAPE · 구간 적중률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기준선 대비 </a:t>
                      </a: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【15%】</a:t>
                      </a: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개선 · 80%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거주자 공유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조기 복귀 충돌률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【2%】</a:t>
                      </a: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이하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자동감면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판단 일치율 · 정산 일치율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100% · 100%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조례 파싱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 추출 정확도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【90%】</a:t>
                      </a: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이상 (승인 후 100%)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응답 성능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감면 판단 API 응답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【300ms】</a:t>
                      </a: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이내 (P95)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6" name="Rectangle 55"/>
          <p:cNvSpPr/>
          <p:nvPr/>
        </p:nvSpPr>
        <p:spPr>
          <a:xfrm>
            <a:off x="316800" y="7703999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16800" y="7703999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24800" y="7757999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3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단계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4800" y="8153999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백테스트 · Shadow ·
시범 적용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439600" y="7703999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439600" y="7703999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547600" y="7757999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4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주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547600" y="8153999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Shadow 운영
비교 기간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562400" y="7703999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562400" y="7703999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670400" y="7757999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100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670400" y="8153999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감면 · 정산
판단 일치율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Ⅵ-3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>
            <a:extLst>
              <a:ext uri="{FF2B5EF4-FFF2-40B4-BE49-F238E27FC236}">
                <a16:creationId xmlns:a16="http://schemas.microsoft.com/office/drawing/2014/main" id="{8DF5FEDB-ABA7-CD11-C7AD-E40BDE3B293E}"/>
              </a:ext>
            </a:extLst>
          </p:cNvPr>
          <p:cNvSpPr txBox="1"/>
          <p:nvPr/>
        </p:nvSpPr>
        <p:spPr>
          <a:xfrm>
            <a:off x="2280060" y="1498812"/>
            <a:ext cx="4262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품질·보안 및 기술이전</a:t>
            </a: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1D84C8F8-5169-F371-3701-8467EC5A1DB8}"/>
              </a:ext>
            </a:extLst>
          </p:cNvPr>
          <p:cNvSpPr txBox="1"/>
          <p:nvPr/>
        </p:nvSpPr>
        <p:spPr>
          <a:xfrm>
            <a:off x="315018" y="1209008"/>
            <a:ext cx="1101042" cy="1142350"/>
          </a:xfrm>
          <a:prstGeom prst="rect">
            <a:avLst/>
          </a:prstGeom>
          <a:noFill/>
          <a:effectLst/>
        </p:spPr>
        <p:txBody>
          <a:bodyPr wrap="none" lIns="34022" tIns="17011" rIns="34022" bIns="17011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defTabSz="208696" latinLnBrk="0">
              <a:defRPr/>
            </a:pPr>
            <a:r>
              <a:rPr kumimoji="1" lang="en-US" altLang="ko-KR" sz="7200" b="1">
                <a:ln>
                  <a:solidFill>
                    <a:srgbClr val="4FD1FF">
                      <a:alpha val="0"/>
                    </a:srgbClr>
                  </a:solidFill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dhabi" panose="01000000000000000000" pitchFamily="2" charset="-78"/>
                <a:ea typeface="맑은 고딕" panose="00000800000000000000" pitchFamily="2" charset="-127"/>
                <a:cs typeface="Aldhabi" panose="01000000000000000000" pitchFamily="2" charset="-78"/>
              </a:rPr>
              <a:t>Ⅶ.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E0BB873-3323-D7E3-9919-67D51240FAB2}"/>
              </a:ext>
            </a:extLst>
          </p:cNvPr>
          <p:cNvCxnSpPr>
            <a:cxnSpLocks/>
          </p:cNvCxnSpPr>
          <p:nvPr/>
        </p:nvCxnSpPr>
        <p:spPr>
          <a:xfrm>
            <a:off x="713137" y="2472264"/>
            <a:ext cx="3528663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A023684-4D4D-73A4-B973-1E990C2DFFB4}"/>
              </a:ext>
            </a:extLst>
          </p:cNvPr>
          <p:cNvSpPr txBox="1"/>
          <p:nvPr/>
        </p:nvSpPr>
        <p:spPr>
          <a:xfrm>
            <a:off x="713137" y="2517722"/>
            <a:ext cx="4913749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개인정보 및 데이터 관리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품질 · 산출물 · 기술이전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개인정보 및 데이터 관리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Ⅶ. 품질·보안 및 기술이전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1.1.1 개인정보 보호 · 데이터 관리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1.1 개인정보 보호 및 데이터 관리방안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(차량과 자격은 가장 민감한 정보) 차량번호 · 자격정보는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가명 처리 후 학습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, 마이데이터는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동의 범위 안에서 결과값만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보관하고, 원본 개인정보는 발주기관 환경 밖으로 나가지 않게 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평가: 품질 · 보안 (10점)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3822640"/>
        </p:xfrm>
        <a:graphic>
          <a:graphicData uri="http://schemas.openxmlformats.org/drawingml/2006/table">
            <a:tbl>
              <a:tblPr firstRow="0" bandRow="0"/>
              <a:tblGrid>
                <a:gridCol w="1173825"/>
                <a:gridCol w="5086575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보호 조치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목적별 최소 항목, 마이데이터는 이용자 동의 (항목 · 목적 · 기간 고지), 동의 기록 보관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 · 분석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차량번호 → 가명 ID (키 분리 보관), 거주자 패턴은 집계 · 가명으로만, 개발 환경에는 가명 데이터만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저장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자격정보는 자격 코드 · 유효기간만 (원문 서류 미보관), 개인정보 AES-256 · 전송 TLS 1.2+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접근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역할 기반 권한 (운영자 · 감면 담당 · 개발자), 개인정보 조회 이력 기록 · 정기 점검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LLM 사용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조례 파싱에는 공개 법령 텍스트만 전송 — 개인정보는 LLM에 보내지 않음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보유기간 경과 · 동의 철회 시 즉시 파기, 사업 종료 시 개발 데이터 파기 확인서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6288642"/>
          <a:ext cx="6260400" cy="1908000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4930065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결측 · 이상치 · 중복 자동 검사, 수집 실패 알림, 데이터 품질 리포트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이력 · 감사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 · Rule · 판단 결과 버전 보존, 판단 재현 가능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준수 기준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「개인정보 보호법」 · 가명정보 처리 가이드라인 · 발주기관 보안 정책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Rectangle 32"/>
          <p:cNvSpPr/>
          <p:nvPr/>
        </p:nvSpPr>
        <p:spPr>
          <a:xfrm>
            <a:off x="316800" y="8304642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16800" y="8304642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4800" y="8358642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4800" y="8754642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원본 개인정보
외부 반출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439600" y="8304642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439600" y="8304642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547600" y="8358642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건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47600" y="8754642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LLM으로
개인정보 전송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62400" y="8304642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62400" y="8304642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670400" y="8358642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256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bit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70400" y="8754642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AES 암호화
(개인 · 자격 정보)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Ⅶ-1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품질 · 산출물 · 기술이전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Ⅶ. 품질·보안 및 기술이전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2.1.1 품질 · 산출물 · 기술이전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2.1 품질관리 · 산출물 · 유지관리 · 기술이전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(발주기관이 스스로 운영하도록) 월별 품질 점검과 코드 리뷰로 품질을 지키고, RFP 산출물 6종을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소스 · 모델 · 매뉴얼과 함께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넘기며, 재학습 · Rule 반영을 발주기관 인력이 직접 해 보는 기술이전을 수행함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다. 주요 산출물 · 일반사항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4107144"/>
        </p:xfrm>
        <a:graphic>
          <a:graphicData uri="http://schemas.openxmlformats.org/drawingml/2006/table">
            <a:tbl>
              <a:tblPr firstRow="0" bandRow="0"/>
              <a:tblGrid>
                <a:gridCol w="1643355"/>
                <a:gridCol w="3599730"/>
                <a:gridCol w="1017315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산출물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시스템 및 기능 설계서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아키텍처 · 기능(DF · AR) · 화면 설계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모델 구조 및 소스코드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 구조서 · 학습 · 추론 코드 · 학습된 모델 · 파이프라인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· DB 명세서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피처 정의 · Rule DB · 이력 DB 스키마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M3 · M6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API 및 외부시스템 연계 규격서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OpenAPI 명세 · 연계 절차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M2 · M6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성능검증 및 테스트 결과서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백테스트 · Shadow · 시범 적용 결과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 · 유지보수 매뉴얼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재학습 · Rule 관리 · 장애 대응 · 모니터링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6573146"/>
          <a:ext cx="6260400" cy="2354096"/>
        </p:xfrm>
        <a:graphic>
          <a:graphicData uri="http://schemas.openxmlformats.org/drawingml/2006/table">
            <a:tbl>
              <a:tblPr firstRow="0" bandRow="0"/>
              <a:tblGrid>
                <a:gridCol w="1643355"/>
                <a:gridCol w="4617045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기술이전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월간 기술 공유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M2~M5 매월 1회 — 모델 · Rule 구조 · 진행 결과 공유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실습 이전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재학습 실행 · 모델 배포 · Rule 편집 · 승인 · 개정 대응을 발주기관 인력이 직접 실습 (M6, </a:t>
                      </a:r>
                      <a:r>
                        <a:rPr sz="11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【2회】</a:t>
                      </a: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유지관리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검수 후 </a:t>
                      </a:r>
                      <a:r>
                        <a:rPr sz="11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【N개월】</a:t>
                      </a: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하자보수 · 기술지원 (조건은 계약 협의), 모델 성능 저하 시 재학습 지원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280800" y="8999244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품질 활동: 코드 리뷰 100% · 단위 테스트 · 회귀 테스트 세트(감면 시나리오) · 월간 품질 점검 보고. 지식재산권 · 하자 조건은 계약 시 협의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Ⅶ-2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>
            <a:extLst>
              <a:ext uri="{FF2B5EF4-FFF2-40B4-BE49-F238E27FC236}">
                <a16:creationId xmlns:a16="http://schemas.microsoft.com/office/drawing/2014/main" id="{8DF5FEDB-ABA7-CD11-C7AD-E40BDE3B293E}"/>
              </a:ext>
            </a:extLst>
          </p:cNvPr>
          <p:cNvSpPr txBox="1"/>
          <p:nvPr/>
        </p:nvSpPr>
        <p:spPr>
          <a:xfrm>
            <a:off x="2568060" y="1498812"/>
            <a:ext cx="3974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500"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사업 수행 및 관리방안</a:t>
            </a: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1D84C8F8-5169-F371-3701-8467EC5A1DB8}"/>
              </a:ext>
            </a:extLst>
          </p:cNvPr>
          <p:cNvSpPr txBox="1"/>
          <p:nvPr/>
        </p:nvSpPr>
        <p:spPr>
          <a:xfrm>
            <a:off x="315018" y="1209008"/>
            <a:ext cx="1101042" cy="1142350"/>
          </a:xfrm>
          <a:prstGeom prst="rect">
            <a:avLst/>
          </a:prstGeom>
          <a:noFill/>
          <a:effectLst/>
        </p:spPr>
        <p:txBody>
          <a:bodyPr wrap="none" lIns="34022" tIns="17011" rIns="34022" bIns="17011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defTabSz="208696" latinLnBrk="0">
              <a:defRPr/>
            </a:pPr>
            <a:r>
              <a:rPr kumimoji="1" lang="en-US" altLang="ko-KR" sz="7200" b="1">
                <a:ln>
                  <a:solidFill>
                    <a:srgbClr val="4FD1FF">
                      <a:alpha val="0"/>
                    </a:srgbClr>
                  </a:solidFill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dhabi" panose="01000000000000000000" pitchFamily="2" charset="-78"/>
                <a:ea typeface="맑은 고딕" panose="00000800000000000000" pitchFamily="2" charset="-127"/>
                <a:cs typeface="Aldhabi" panose="01000000000000000000" pitchFamily="2" charset="-78"/>
              </a:rPr>
              <a:t>Ⅷ.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E0BB873-3323-D7E3-9919-67D51240FAB2}"/>
              </a:ext>
            </a:extLst>
          </p:cNvPr>
          <p:cNvCxnSpPr>
            <a:cxnSpLocks/>
          </p:cNvCxnSpPr>
          <p:nvPr/>
        </p:nvCxnSpPr>
        <p:spPr>
          <a:xfrm>
            <a:off x="713137" y="2472264"/>
            <a:ext cx="3528663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A023684-4D4D-73A4-B973-1E990C2DFFB4}"/>
              </a:ext>
            </a:extLst>
          </p:cNvPr>
          <p:cNvSpPr txBox="1"/>
          <p:nvPr/>
        </p:nvSpPr>
        <p:spPr>
          <a:xfrm>
            <a:off x="713137" y="2517722"/>
            <a:ext cx="4913749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수행조직 및 인력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일정 · 위험 · 진척관리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수행조직 및 인력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Ⅷ. 사업 수행 및 관리방안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1.1.1 수행조직 · 투입인력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1.1 수행조직 및 업무분담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(트랙별 책임 분명) PM 아래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수요예측 · 최적화 트랙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과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자동감면 트랙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나누고, 데이터 · 플랫폼 연계와 품질 · 보안을 공통 지원으로 두어 6개월 동안 병행 수행함 (공동수급 없이 자사 인력)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평가: 프로젝트 관리 (10점)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6800" y="2358000"/>
            <a:ext cx="4874400" cy="413999"/>
          </a:xfrm>
          <a:prstGeom prst="rect">
            <a:avLst/>
          </a:prstGeom>
          <a:solidFill>
            <a:srgbClr val="1C3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800" y="2358000"/>
            <a:ext cx="1044000" cy="413999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발주기관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432800" y="2430000"/>
            <a:ext cx="1807199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㈜동성아이텍 사업 담당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94000" y="2430000"/>
            <a:ext cx="1807199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탄력주차 운영 · 감면 담당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281200" y="2358000"/>
            <a:ext cx="1296000" cy="413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데이터 제공 · 검수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6800" y="2836800"/>
            <a:ext cx="4874400" cy="413999"/>
          </a:xfrm>
          <a:prstGeom prst="rect">
            <a:avLst/>
          </a:prstGeom>
          <a:solidFill>
            <a:srgbClr val="1F4E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4800" y="2836800"/>
            <a:ext cx="1044000" cy="413999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사업관리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432800" y="2908800"/>
            <a:ext cx="1807199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PM </a:t>
            </a:r>
            <a:r>
              <a:rPr sz="950" b="1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【성명】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294000" y="2908800"/>
            <a:ext cx="1807199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품질 · 보안 (QA)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281200" y="2836800"/>
            <a:ext cx="1296000" cy="413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주간 · 월간 보고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16800" y="3315599"/>
            <a:ext cx="4874400" cy="413999"/>
          </a:xfrm>
          <a:prstGeom prst="rect">
            <a:avLst/>
          </a:prstGeom>
          <a:solidFill>
            <a:srgbClr val="2E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34800" y="3315599"/>
            <a:ext cx="1044000" cy="413999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수요예측 트랙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432800" y="3387599"/>
            <a:ext cx="1807199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ML 엔지니어 2명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294000" y="3387599"/>
            <a:ext cx="1807199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최적화 · 요금 설계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281200" y="3315599"/>
            <a:ext cx="1296000" cy="413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DF-01~05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16800" y="3794399"/>
            <a:ext cx="4874400" cy="413999"/>
          </a:xfrm>
          <a:prstGeom prst="rect">
            <a:avLst/>
          </a:prstGeom>
          <a:solidFill>
            <a:srgbClr val="0E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34800" y="3794399"/>
            <a:ext cx="1044000" cy="413999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자동감면 트랙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432800" y="3866399"/>
            <a:ext cx="1807199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LLM · NLP 엔지니어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294000" y="3866399"/>
            <a:ext cx="1807199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Rule 엔진 · 정산 개발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281200" y="3794399"/>
            <a:ext cx="1296000" cy="413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AR-01~06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16800" y="4273200"/>
            <a:ext cx="4874400" cy="413999"/>
          </a:xfrm>
          <a:prstGeom prst="rect">
            <a:avLst/>
          </a:prstGeom>
          <a:solidFill>
            <a:srgbClr val="2BA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34800" y="4273200"/>
            <a:ext cx="1044000" cy="413999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공통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432800" y="4345199"/>
            <a:ext cx="1807199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데이터 엔지니어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294000" y="4345199"/>
            <a:ext cx="1807199" cy="269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백엔드 · 연계 개발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281200" y="4273200"/>
            <a:ext cx="1296000" cy="413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API · MLOps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80800" y="4823999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투입인력 총괄표 ([양식 3] — 재직 증빙 첨부) &gt;</a:t>
            </a:r>
          </a:p>
        </p:txBody>
      </p:sp>
      <p:graphicFrame>
        <p:nvGraphicFramePr>
          <p:cNvPr id="57" name="Table 56"/>
          <p:cNvGraphicFramePr>
            <a:graphicFrameLocks noGrp="1"/>
          </p:cNvGraphicFramePr>
          <p:nvPr/>
        </p:nvGraphicFramePr>
        <p:xfrm>
          <a:off x="316800" y="5058000"/>
          <a:ext cx="6260399" cy="4299608"/>
        </p:xfrm>
        <a:graphic>
          <a:graphicData uri="http://schemas.openxmlformats.org/drawingml/2006/table">
            <a:tbl>
              <a:tblPr firstRow="0" bandRow="0"/>
              <a:tblGrid>
                <a:gridCol w="1252080"/>
                <a:gridCol w="704295"/>
                <a:gridCol w="547785"/>
                <a:gridCol w="2191140"/>
                <a:gridCol w="939059"/>
                <a:gridCol w="626040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역할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등급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주요 경력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투입 기간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M/M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010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PM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【성명】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【특급】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【AI 서비스 · 공공 플랫폼 PM】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M1~M6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3.0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10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ML 엔지니어 (책임)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【성명】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【고급】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【Trading AI · 시계열 예측】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M1~M6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5.0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10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ML 엔지니어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【성명】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【중급】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【최적화 · 생존분석】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M2~M5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3.0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10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LLM · NLP 엔지니어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【성명】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【고급】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【LLM 정보 추출 · Agent】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M1~M6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4.0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10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백엔드 · Rule 엔진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【성명】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【고급】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【API · 정산 · 연계】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M2~M6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4.0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10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엔지니어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【성명】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【중급】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【데이터 파이프라인 · MLOps】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M1~M5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2.5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10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QA · 보안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【성명】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【고급】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【테스트 · 개인정보 보호】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M4~M6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합계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22.5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8" name="Rectangle 57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Ⅷ-1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일정 · 위험 · 진척관리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Ⅷ. 사업 수행 및 관리방안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2.1.1 추진일정 · 위험 · 진척관리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2.1 추진일정 및 관리방안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(월 단위 마일스톤)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M1 분석 → M2~M4 수요예측 · M3~M5 자동감면 병행 → M5 Shadow → M6 검증 · 산출물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, 매주 진척 보고와 월말 시연으로 발주기관이 결과를 직접 확인함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추진일정 · 일반사항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394" cy="3036170"/>
        </p:xfrm>
        <a:graphic>
          <a:graphicData uri="http://schemas.openxmlformats.org/drawingml/2006/table">
            <a:tbl>
              <a:tblPr firstRow="0" bandRow="0"/>
              <a:tblGrid>
                <a:gridCol w="1017315"/>
                <a:gridCol w="2425905"/>
                <a:gridCol w="469529"/>
                <a:gridCol w="469529"/>
                <a:gridCol w="469529"/>
                <a:gridCol w="469529"/>
                <a:gridCol w="469529"/>
                <a:gridCol w="469529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세부 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010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착수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요구사항 · 데이터 · 운영환경 분석, 연계 규격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수요예측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· 피처 · 수요 · 복귀 예측 모델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 최적화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자동 공급 · 동적 요금 · 운영 화면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자동감면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조례 파싱 · Rule DB · 변경관리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감면 · 정산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자격 연계 · 조합 판단 · 정산 · 예외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10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검증 · 완료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백테스트 · Shadow · 시범 적용, 산출물 · 기술이전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5502175"/>
          <a:ext cx="6260400" cy="2655213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4930065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 영역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진척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주간 보고 (진척 · 이슈 · 다음 주 계획), 월말 시연 · 마일스톤 점검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7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위험 관리 대장 — 데이터 제공 지연 · 마이데이터 연계 · 성능 미달 · 일정 지연 주간 점검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변경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과업 · 범위 변경은 협의 후 서면 확정, 협상 결과 반영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형상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Git 저장소 · 이슈 트래커 공유, 모델 · Rule 버전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76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수행 장소 · 보안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당사 사무실 원격 수행 + 주간 · 월말 대면 보고, 운영 데이터는 발주기관 VPN 내 가명 데이터로 접근 (반출 없음) </a:t>
                      </a: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【수행 조건 회신 확인】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Rectangle 32"/>
          <p:cNvSpPr/>
          <p:nvPr/>
        </p:nvSpPr>
        <p:spPr>
          <a:xfrm>
            <a:off x="280800" y="8265391"/>
            <a:ext cx="6332400" cy="738271"/>
          </a:xfrm>
          <a:prstGeom prst="rect">
            <a:avLst/>
          </a:prstGeom>
          <a:solidFill>
            <a:srgbClr val="E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6799" y="8319391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1E7B4F"/>
                </a:solidFill>
                <a:latin typeface="맑은 고딕"/>
                <a:ea typeface="맑은 고딕"/>
                <a:cs typeface="맑은 고딕"/>
              </a:rPr>
              <a:t>일정 지연을 막는 장치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6799" y="8517391"/>
            <a:ext cx="6080400" cy="432271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데이터 · 연계 규격이 늦어지면 합성 데이터 · Mock API로 개발을 계속하고, 수요예측 · 자동감면 두 트랙이 서로 기다리지 않도록 공통 API 규격만 M1에 먼저 고정합니다.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Ⅷ-2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맑은 고딕" panose="020F0302020204030204"/>
        <a:ea typeface="맑은 고딕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맑은 고딕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200" dirty="0" smtClean="0">
            <a:latin typeface="KoPubWorld돋움체 Bold" panose="00000800000000000000" pitchFamily="2" charset="-127"/>
            <a:ea typeface="KoPubWorld돋움체 Bold" panose="00000800000000000000" pitchFamily="2" charset="-127"/>
            <a:cs typeface="KoPubWorld돋움체 Bold" panose="00000800000000000000" pitchFamily="2" charset="-127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200" dirty="0" smtClean="0">
            <a:latin typeface="KoPubWorld돋움체 Medium" panose="00000600000000000000" pitchFamily="2" charset="-127"/>
            <a:ea typeface="KoPubWorld돋움체 Medium" panose="00000600000000000000" pitchFamily="2" charset="-127"/>
            <a:cs typeface="KoPubWorld돋움체 Medium" panose="00000600000000000000" pitchFamily="2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9D30EBE9304C2346AD8EC6952A85F23C" ma:contentTypeVersion="16" ma:contentTypeDescription="새 문서를 만듭니다." ma:contentTypeScope="" ma:versionID="0beda8d242283ca8ad5cd5bb1aa1bc86">
  <xsd:schema xmlns:xsd="http://www.w3.org/2001/XMLSchema" xmlns:xs="http://www.w3.org/2001/XMLSchema" xmlns:p="http://schemas.microsoft.com/office/2006/metadata/properties" xmlns:ns2="e7514280-9163-4412-ad0a-e8ade9193bee" xmlns:ns3="296b340d-c22f-4484-96dd-ad8bc868af40" targetNamespace="http://schemas.microsoft.com/office/2006/metadata/properties" ma:root="true" ma:fieldsID="c503c7f92b65afe15150ee6451e3405f" ns2:_="" ns3:_="">
    <xsd:import namespace="e7514280-9163-4412-ad0a-e8ade9193bee"/>
    <xsd:import namespace="296b340d-c22f-4484-96dd-ad8bc868af4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7514280-9163-4412-ad0a-e8ade9193be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이미지 태그" ma:readOnly="false" ma:fieldId="{5cf76f15-5ced-4ddc-b409-7134ff3c332f}" ma:taxonomyMulti="true" ma:sspId="dbb9d562-bd20-43bc-a33e-5cbb7cafe37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6b340d-c22f-4484-96dd-ad8bc868af40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89e01bde-2108-4b34-9411-c6bd49ed7aa3}" ma:internalName="TaxCatchAll" ma:showField="CatchAllData" ma:web="296b340d-c22f-4484-96dd-ad8bc868af4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7514280-9163-4412-ad0a-e8ade9193bee">
      <Terms xmlns="http://schemas.microsoft.com/office/infopath/2007/PartnerControls"/>
    </lcf76f155ced4ddcb4097134ff3c332f>
    <TaxCatchAll xmlns="296b340d-c22f-4484-96dd-ad8bc868af40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D62CDAD-107A-43D7-A7FF-44C6CD012359}">
  <ds:schemaRefs>
    <ds:schemaRef ds:uri="296b340d-c22f-4484-96dd-ad8bc868af40"/>
    <ds:schemaRef ds:uri="e7514280-9163-4412-ad0a-e8ade9193be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C756E700-2809-459B-84AD-EC3318970829}">
  <ds:schemaRefs>
    <ds:schemaRef ds:uri="296b340d-c22f-4484-96dd-ad8bc868af40"/>
    <ds:schemaRef ds:uri="e7514280-9163-4412-ad0a-e8ade9193be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DBF8794B-BC40-4BF3-B2D9-ECCD52D4CB8A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c21f85bf-30cf-4a3f-b20f-fc38a03d9031}" enabled="0" method="" siteId="{c21f85bf-30cf-4a3f-b20f-fc38a03d903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5876</TotalTime>
  <Words>54759</Words>
  <Application>Microsoft Office PowerPoint</Application>
  <PresentationFormat>A4 용지(210x297mm)</PresentationFormat>
  <Paragraphs>8851</Paragraphs>
  <Slides>220</Slides>
  <Notes>137</Notes>
  <HiddenSlides>0</HiddenSlides>
  <MMClips>0</MMClips>
  <ScaleCrop>false</ScaleCrop>
  <HeadingPairs>
    <vt:vector size="6" baseType="variant">
      <vt:variant>
        <vt:lpstr>사용한 글꼴</vt:lpstr>
      </vt:variant>
      <vt:variant>
        <vt:i4>22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220</vt:i4>
      </vt:variant>
    </vt:vector>
  </HeadingPairs>
  <TitlesOfParts>
    <vt:vector size="243" baseType="lpstr">
      <vt:lpstr>a옛날사진관5</vt:lpstr>
      <vt:lpstr>G마켓 산스 TTF Bold</vt:lpstr>
      <vt:lpstr>G마켓 산스 TTF Medium</vt:lpstr>
      <vt:lpstr>KoPubWorld돋움체 Bold</vt:lpstr>
      <vt:lpstr>KoPubWorld돋움체 Medium</vt:lpstr>
      <vt:lpstr>KoPubWorld바탕체 Light</vt:lpstr>
      <vt:lpstr>KoPub돋움체_Pro Medium</vt:lpstr>
      <vt:lpstr>KoPub바탕체 Bold</vt:lpstr>
      <vt:lpstr>Pretendard</vt:lpstr>
      <vt:lpstr>경기천년제목 Bold</vt:lpstr>
      <vt:lpstr>나눔스퀘어</vt:lpstr>
      <vt:lpstr>나눔스퀘어 Bold</vt:lpstr>
      <vt:lpstr>나눔스퀘어_ac</vt:lpstr>
      <vt:lpstr>나눔스퀘어_ac ExtraBold</vt:lpstr>
      <vt:lpstr>맑은 고딕</vt:lpstr>
      <vt:lpstr>맑은 고딕</vt:lpstr>
      <vt:lpstr>함초롬바탕</vt:lpstr>
      <vt:lpstr>Aldhabi</vt:lpstr>
      <vt:lpstr>Arial</vt:lpstr>
      <vt:lpstr>Calibri</vt:lpstr>
      <vt:lpstr>Calibri Light</vt:lpstr>
      <vt:lpstr>Wingdings</vt:lpstr>
      <vt:lpstr>Office 2013 - 2022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황보정운</dc:creator>
  <cp:lastModifiedBy>황보정운</cp:lastModifiedBy>
  <cp:revision>239</cp:revision>
  <cp:lastPrinted>2026-06-25T07:15:15Z</cp:lastPrinted>
  <dcterms:created xsi:type="dcterms:W3CDTF">2021-09-24T12:12:26Z</dcterms:created>
  <dcterms:modified xsi:type="dcterms:W3CDTF">2026-07-27T02:17:50Z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0x0101009D30EBE9304C2346AD8EC6952A85F23C</vt:lpwstr>
  </property>
  <property fmtid="{D5CDD505-2E9C-101B-9397-08002B2CF9AE}" pid="3" name="MediaServiceImageTags">
    <vt:lpwstr/>
  </property>
</Properties>
</file>