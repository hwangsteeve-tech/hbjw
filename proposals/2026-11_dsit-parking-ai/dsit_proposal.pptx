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45"/>
  </p:notesMasterIdLst>
  <p:handoutMasterIdLst>
    <p:handoutMasterId r:id="rId46"/>
  </p:handoutMasterIdLst>
  <p:sldIdLst>
    <p:sldId id="7488" r:id="rId5"/>
    <p:sldId id="7489" r:id="rId6"/>
    <p:sldId id="7490" r:id="rId7"/>
    <p:sldId id="7491" r:id="rId8"/>
    <p:sldId id="7492" r:id="rId9"/>
    <p:sldId id="7493" r:id="rId10"/>
    <p:sldId id="7494" r:id="rId11"/>
    <p:sldId id="7495" r:id="rId12"/>
    <p:sldId id="7496" r:id="rId13"/>
    <p:sldId id="7497" r:id="rId14"/>
    <p:sldId id="7498" r:id="rId15"/>
    <p:sldId id="7499" r:id="rId16"/>
    <p:sldId id="7500" r:id="rId17"/>
    <p:sldId id="7501" r:id="rId18"/>
    <p:sldId id="7502" r:id="rId19"/>
    <p:sldId id="7503" r:id="rId20"/>
    <p:sldId id="7504" r:id="rId21"/>
    <p:sldId id="7505" r:id="rId22"/>
    <p:sldId id="7506" r:id="rId23"/>
    <p:sldId id="7507" r:id="rId24"/>
    <p:sldId id="7508" r:id="rId25"/>
    <p:sldId id="7509" r:id="rId26"/>
    <p:sldId id="7510" r:id="rId27"/>
    <p:sldId id="7511" r:id="rId28"/>
    <p:sldId id="7512" r:id="rId29"/>
    <p:sldId id="7513" r:id="rId30"/>
    <p:sldId id="7514" r:id="rId31"/>
    <p:sldId id="7515" r:id="rId32"/>
    <p:sldId id="7516" r:id="rId33"/>
    <p:sldId id="7517" r:id="rId34"/>
    <p:sldId id="7518" r:id="rId35"/>
    <p:sldId id="7519" r:id="rId36"/>
    <p:sldId id="7520" r:id="rId37"/>
    <p:sldId id="7521" r:id="rId38"/>
    <p:sldId id="7522" r:id="rId39"/>
    <p:sldId id="7523" r:id="rId40"/>
    <p:sldId id="7524" r:id="rId41"/>
    <p:sldId id="7525" r:id="rId42"/>
    <p:sldId id="7526" r:id="rId43"/>
    <p:sldId id="7527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4332" y="78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b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9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0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2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4039267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 dirty="0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1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2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2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3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3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756253"/>
              </p:ext>
            </p:extLst>
          </p:nvPr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2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주차면이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차량정보를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Rule DB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모빌리티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확산</a:t>
            </a:r>
            <a:endParaRPr sz="90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  <a:endParaRPr sz="11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937971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고도화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 있는 형태로 이전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799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16800" y="33552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복귀시간을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점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하나가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아닌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분위수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(P10~P90)로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예측해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‘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거주자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전 90%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확률로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시간’처럼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관리하며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공급합니다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966936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항목별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991598"/>
              </p:ext>
            </p:extLst>
          </p:nvPr>
        </p:nvGraphicFramePr>
        <p:xfrm>
          <a:off x="316800" y="7200936"/>
          <a:ext cx="6260400" cy="2247774"/>
        </p:xfrm>
        <a:graphic>
          <a:graphicData uri="http://schemas.openxmlformats.org/drawingml/2006/table">
            <a:tbl>
              <a:tblPr/>
              <a:tblGrid>
                <a:gridCol w="1721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CRISP-DM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생존분석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  <a:endParaRPr sz="9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DFFDE844-B044-DBCE-FDDF-D7C948F6F395}"/>
              </a:ext>
            </a:extLst>
          </p:cNvPr>
          <p:cNvSpPr/>
          <p:nvPr/>
        </p:nvSpPr>
        <p:spPr>
          <a:xfrm>
            <a:off x="316800" y="424430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C6A77EA0-99B6-61D3-EDBC-D702841396E9}"/>
              </a:ext>
            </a:extLst>
          </p:cNvPr>
          <p:cNvSpPr/>
          <p:nvPr/>
        </p:nvSpPr>
        <p:spPr>
          <a:xfrm>
            <a:off x="316800" y="425151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339BA8-7C11-3B20-2B50-0D0AB21B0549}"/>
              </a:ext>
            </a:extLst>
          </p:cNvPr>
          <p:cNvSpPr txBox="1"/>
          <p:nvPr/>
        </p:nvSpPr>
        <p:spPr>
          <a:xfrm>
            <a:off x="964799" y="428751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49C8CD-03DD-9BE0-2DC6-D2F9D0D781FC}"/>
              </a:ext>
            </a:extLst>
          </p:cNvPr>
          <p:cNvSpPr txBox="1"/>
          <p:nvPr/>
        </p:nvSpPr>
        <p:spPr>
          <a:xfrm>
            <a:off x="964799" y="453231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자치법규 원문을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LLM +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규칙으로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파싱해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감면 대상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감면율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조건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예외를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DB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로 만들고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담당자 검토 후에만 운영에 반영합니다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1EBCE140-026F-177B-9EEA-E90C70034AE9}"/>
              </a:ext>
            </a:extLst>
          </p:cNvPr>
          <p:cNvSpPr/>
          <p:nvPr/>
        </p:nvSpPr>
        <p:spPr>
          <a:xfrm>
            <a:off x="316800" y="5145838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865588DE-FBF0-D4CB-EBBD-E5159245B68B}"/>
              </a:ext>
            </a:extLst>
          </p:cNvPr>
          <p:cNvSpPr/>
          <p:nvPr/>
        </p:nvSpPr>
        <p:spPr>
          <a:xfrm>
            <a:off x="316800" y="515303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9A4D77-8965-CD84-F4FD-E58199AA47B8}"/>
              </a:ext>
            </a:extLst>
          </p:cNvPr>
          <p:cNvSpPr txBox="1"/>
          <p:nvPr/>
        </p:nvSpPr>
        <p:spPr>
          <a:xfrm>
            <a:off x="964799" y="5189039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405A10-7D59-F39C-C8FD-F8BEC204073C}"/>
              </a:ext>
            </a:extLst>
          </p:cNvPr>
          <p:cNvSpPr txBox="1"/>
          <p:nvPr/>
        </p:nvSpPr>
        <p:spPr>
          <a:xfrm>
            <a:off x="964799" y="5433839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모든 감면 결과에 적용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조례 조문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사용 자격정보를 남겨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민원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정산 대사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감사에 바로 답할 수 있게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6595776F-74C0-64AB-B86E-2AF74F695C54}"/>
              </a:ext>
            </a:extLst>
          </p:cNvPr>
          <p:cNvSpPr/>
          <p:nvPr/>
        </p:nvSpPr>
        <p:spPr>
          <a:xfrm>
            <a:off x="316800" y="6052930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C5902A5E-0259-BA65-BFE4-76A2C35EF409}"/>
              </a:ext>
            </a:extLst>
          </p:cNvPr>
          <p:cNvSpPr/>
          <p:nvPr/>
        </p:nvSpPr>
        <p:spPr>
          <a:xfrm>
            <a:off x="316800" y="6060131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E32D5A-55F4-6E9C-7D6C-4231E8414592}"/>
              </a:ext>
            </a:extLst>
          </p:cNvPr>
          <p:cNvSpPr txBox="1"/>
          <p:nvPr/>
        </p:nvSpPr>
        <p:spPr>
          <a:xfrm>
            <a:off x="964799" y="6096131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8F5ED3-06C9-7740-8C5E-A20802BBBA21}"/>
              </a:ext>
            </a:extLst>
          </p:cNvPr>
          <p:cNvSpPr txBox="1"/>
          <p:nvPr/>
        </p:nvSpPr>
        <p:spPr>
          <a:xfrm>
            <a:off x="964799" y="63409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파이프라인을 컨테이너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설정 기반으로 만들고 소스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구조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매뉴얼을 넘겨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지자체 확산 시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만 추가하면 되도록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90000" rIns="90000" bIns="900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385260"/>
              </p:ext>
            </p:extLst>
          </p:nvPr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06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컴퓨터관련서비스사업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1468)</a:t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직접생산확인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정보시스템개발서비스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이상탐지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· ML/DL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개발 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개발 조직)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(2025.09 인정)가 사용자 경험 · 인터랙션을 연구하고,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서비스개발실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DT개발실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 인력 32명이 AI 서비스 · 플랫폼을 개발하며, 두 조직이 함께 본 사업을 수행함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682885"/>
              </p:ext>
            </p:extLst>
          </p:nvPr>
        </p:nvGraphicFramePr>
        <p:xfrm>
          <a:off x="316800" y="4554000"/>
          <a:ext cx="6260399" cy="1930824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인터랙션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(*AI,SW</a:t>
                      </a:r>
                      <a:r>
                        <a:rPr lang="ko-KR" alt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개발인력이 아님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API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 ·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Agent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163080"/>
              </p:ext>
            </p:extLst>
          </p:nvPr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/>
              <a:tblGrid>
                <a:gridCol w="2316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청년대표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사회적경제기업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수도권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외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703682"/>
              </p:ext>
            </p:extLst>
          </p:nvPr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/>
              <a:tblGrid>
                <a:gridCol w="558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7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85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72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AI-IDP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통합데이터플랫폼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Y1(M17)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DT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Ph1_FAB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ML/DL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분석_선투입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확산_FABMOS_원가선투입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[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]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/>
              <a:tblGrid>
                <a:gridCol w="195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933563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01088"/>
              </p:ext>
            </p:extLst>
          </p:nvPr>
        </p:nvGraphicFramePr>
        <p:xfrm>
          <a:off x="316800" y="6167563"/>
          <a:ext cx="6260400" cy="2912096"/>
        </p:xfrm>
        <a:graphic>
          <a:graphicData uri="http://schemas.openxmlformats.org/drawingml/2006/table">
            <a:tbl>
              <a:tblPr/>
              <a:tblGrid>
                <a:gridCol w="1475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4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개선율로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측)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마이데이터는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Mock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선개발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월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92F83DFA-920F-36AA-A75C-8641DD3269B9}"/>
              </a:ext>
            </a:extLst>
          </p:cNvPr>
          <p:cNvSpPr/>
          <p:nvPr/>
        </p:nvSpPr>
        <p:spPr>
          <a:xfrm>
            <a:off x="316800" y="233301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24DD9AAB-8EBE-BB38-CA4F-23A8CBBBB8E2}"/>
              </a:ext>
            </a:extLst>
          </p:cNvPr>
          <p:cNvSpPr/>
          <p:nvPr/>
        </p:nvSpPr>
        <p:spPr>
          <a:xfrm>
            <a:off x="316800" y="234021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5FEE5E-6E75-2A04-EDD9-2FCF980F228D}"/>
              </a:ext>
            </a:extLst>
          </p:cNvPr>
          <p:cNvSpPr txBox="1"/>
          <p:nvPr/>
        </p:nvSpPr>
        <p:spPr>
          <a:xfrm>
            <a:off x="964799" y="237621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데이터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37486-5B2D-E324-1970-AFEA670F071A}"/>
              </a:ext>
            </a:extLst>
          </p:cNvPr>
          <p:cNvSpPr txBox="1"/>
          <p:nvPr/>
        </p:nvSpPr>
        <p:spPr>
          <a:xfrm>
            <a:off x="964799" y="265759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탄력주차 입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출차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점유 이력의 기간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결측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주기를 진단하고 학습 가능 범위를 확정합니다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이력이 짧은 주차장은 유사 주차장 군집 모델로 보완합니다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84AD6BE7-09BE-FEA0-8244-3D392120CC2A}"/>
              </a:ext>
            </a:extLst>
          </p:cNvPr>
          <p:cNvSpPr/>
          <p:nvPr/>
        </p:nvSpPr>
        <p:spPr>
          <a:xfrm>
            <a:off x="316800" y="322932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28CB28AC-548A-5E5B-85EB-0DDBE9CD261B}"/>
              </a:ext>
            </a:extLst>
          </p:cNvPr>
          <p:cNvSpPr/>
          <p:nvPr/>
        </p:nvSpPr>
        <p:spPr>
          <a:xfrm>
            <a:off x="316800" y="323652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5C06FA-27A4-5482-37E7-21AB4FD2F180}"/>
              </a:ext>
            </a:extLst>
          </p:cNvPr>
          <p:cNvSpPr txBox="1"/>
          <p:nvPr/>
        </p:nvSpPr>
        <p:spPr>
          <a:xfrm>
            <a:off x="964799" y="327252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기준선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47064E-B18D-0BFE-FCF9-91B9357DC8F7}"/>
              </a:ext>
            </a:extLst>
          </p:cNvPr>
          <p:cNvSpPr txBox="1"/>
          <p:nvPr/>
        </p:nvSpPr>
        <p:spPr>
          <a:xfrm>
            <a:off x="964799" y="355390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‘전주 같은 요일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시간’ 같은 단순 예측과 현행 수작업 감면 결과를 기준선으로 두고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AI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가 이를 얼마나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개선하는지로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성과를 판정합니다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9C284D40-C920-148B-97AF-97461E066783}"/>
              </a:ext>
            </a:extLst>
          </p:cNvPr>
          <p:cNvSpPr/>
          <p:nvPr/>
        </p:nvSpPr>
        <p:spPr>
          <a:xfrm>
            <a:off x="316800" y="4130854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55C59083-5C9D-73F8-5DC9-5FFF51178DBB}"/>
              </a:ext>
            </a:extLst>
          </p:cNvPr>
          <p:cNvSpPr/>
          <p:nvPr/>
        </p:nvSpPr>
        <p:spPr>
          <a:xfrm>
            <a:off x="316800" y="413805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7491BD-BBB3-E222-C6CC-6AA2FBC1C932}"/>
              </a:ext>
            </a:extLst>
          </p:cNvPr>
          <p:cNvSpPr txBox="1"/>
          <p:nvPr/>
        </p:nvSpPr>
        <p:spPr>
          <a:xfrm>
            <a:off x="964799" y="4174055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2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트랙 병행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(M2~M5)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0382A0-1979-53B3-0066-0F85E2A742DF}"/>
              </a:ext>
            </a:extLst>
          </p:cNvPr>
          <p:cNvSpPr txBox="1"/>
          <p:nvPr/>
        </p:nvSpPr>
        <p:spPr>
          <a:xfrm>
            <a:off x="964799" y="44554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수요예측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최적화 트랙과 자동감면 트랙을 별도 팀으로 동시에 진행하고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공통 데이터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API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계층만 함께 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53" name="Rectangle 46">
            <a:extLst>
              <a:ext uri="{FF2B5EF4-FFF2-40B4-BE49-F238E27FC236}">
                <a16:creationId xmlns:a16="http://schemas.microsoft.com/office/drawing/2014/main" id="{A347E436-E6AB-2362-B281-AEED20E7B539}"/>
              </a:ext>
            </a:extLst>
          </p:cNvPr>
          <p:cNvSpPr/>
          <p:nvPr/>
        </p:nvSpPr>
        <p:spPr>
          <a:xfrm>
            <a:off x="316800" y="5037946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47">
            <a:extLst>
              <a:ext uri="{FF2B5EF4-FFF2-40B4-BE49-F238E27FC236}">
                <a16:creationId xmlns:a16="http://schemas.microsoft.com/office/drawing/2014/main" id="{7374ECE4-36BA-2565-0044-EA272F87EC1B}"/>
              </a:ext>
            </a:extLst>
          </p:cNvPr>
          <p:cNvSpPr/>
          <p:nvPr/>
        </p:nvSpPr>
        <p:spPr>
          <a:xfrm>
            <a:off x="316800" y="504514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288446-6526-D7ED-1156-241CF8A920A8}"/>
              </a:ext>
            </a:extLst>
          </p:cNvPr>
          <p:cNvSpPr txBox="1"/>
          <p:nvPr/>
        </p:nvSpPr>
        <p:spPr>
          <a:xfrm>
            <a:off x="964799" y="5081147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전 기간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DABD6F-AC9A-0E4A-F73E-7A113AA6063D}"/>
              </a:ext>
            </a:extLst>
          </p:cNvPr>
          <p:cNvSpPr txBox="1"/>
          <p:nvPr/>
        </p:nvSpPr>
        <p:spPr>
          <a:xfrm>
            <a:off x="964799" y="5362523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모델 학습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배포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Rule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반영을 발주기관 인력이 직접 실행하는 절차로 만들고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매월 기술 공유 세션으로 넘깁니다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이해 → 준비 → 모델링 → 평가 → 배포의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버전을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MLOps로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관리해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재학습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· 롤백이 가능하게 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572358"/>
              </p:ext>
            </p:extLst>
          </p:nvPr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2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REST API · Shadow → Canary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드리프트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RFP 수행내용 2개 영역 · 12개 세부 과업을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ID로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분해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726807"/>
              </p:ext>
            </p:extLst>
          </p:nvPr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9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가능시간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공급여부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거주자공유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567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율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감면기준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3999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감면항목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845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DB · API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212517"/>
              </p:ext>
            </p:extLst>
          </p:nvPr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3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9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12개월↑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출차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</a:t>
            </a:r>
            <a:endParaRPr sz="75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기상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행사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저장소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한도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상하한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453613"/>
              </p:ext>
            </p:extLst>
          </p:nvPr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5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확률분포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1809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분리한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이유</a:t>
            </a:r>
            <a:endParaRPr sz="1050" b="1" dirty="0">
              <a:solidFill>
                <a:srgbClr val="FFE69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55331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수요 예측과 공급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결정을 별도 모듈로 분리하여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, 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운영 정책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위험 한도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상하한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)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이 바뀌더라도 모델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재학습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 없이 설정 변경만으로 대응할 수 있도록 설계하였습니다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.</a:t>
            </a:r>
            <a:endParaRPr sz="1200" b="0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664258"/>
              </p:ext>
            </p:extLst>
          </p:nvPr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4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5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방학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4주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이동평균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외출시간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9773-5CD9-412B-5835-5C43183B7C11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863288"/>
              </p:ext>
            </p:extLst>
          </p:nvPr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/>
              <a:tblGrid>
                <a:gridCol w="178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3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1~24시간 앞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기여도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안정성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1100" b="1" dirty="0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52F18-56A5-48CC-7F76-E7CD6E050F79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22EBDA-DC05-3A47-75B3-E43B1D36285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60648"/>
              </p:ext>
            </p:extLst>
          </p:nvPr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P90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103655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AI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공급안을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운영자가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승인하는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시작해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승인율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건수를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확인하고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충족한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주차장부터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전환합니다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en-US" sz="1100" b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결정에는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예측값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기록됩니다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2FF63-CD8E-73ED-D11A-B58D606F7D36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상하한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(예 100원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빈도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(예 1일 </a:t>
            </a:r>
            <a:r>
              <a:rPr lang="en-US"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회</a:t>
            </a:r>
            <a:r>
              <a:rPr lang="en-US" altLang="ko-KR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88002"/>
              </p:ext>
            </p:extLst>
          </p:nvPr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/>
              <a:tblGrid>
                <a:gridCol w="1301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요금안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9C62C-61F6-A2C2-543B-579B50DAFC1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312531"/>
              </p:ext>
            </p:extLst>
          </p:nvPr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초과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±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C1027-FF7E-B9DE-F5CC-88187DF4EEF2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Open API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국가법령정보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Rule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838244"/>
              </p:ext>
            </p:extLst>
          </p:nvPr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4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결과를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언제든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</a:t>
                      </a:r>
                      <a:endParaRPr sz="11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(율 0~100%,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155706"/>
              </p:ext>
            </p:extLst>
          </p:nvPr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/>
              <a:tblGrid>
                <a:gridCol w="1091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8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230055"/>
              </p:ext>
            </p:extLst>
          </p:nvPr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/>
              <a:tblGrid>
                <a:gridCol w="62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649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81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565505"/>
              </p:ext>
            </p:extLst>
          </p:nvPr>
        </p:nvGraphicFramePr>
        <p:xfrm>
          <a:off x="316800" y="3171096"/>
          <a:ext cx="6260399" cy="2394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888"/>
              </p:ext>
            </p:extLst>
          </p:nvPr>
        </p:nvGraphicFramePr>
        <p:xfrm>
          <a:off x="316800" y="5673096"/>
          <a:ext cx="6260399" cy="1908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168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48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4396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5476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624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704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424741"/>
              </p:ext>
            </p:extLst>
          </p:nvPr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/>
              <a:tblGrid>
                <a:gridCol w="1127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03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기초생활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등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주체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TS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차량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시설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매칭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801817"/>
              </p:ext>
            </p:extLst>
          </p:nvPr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앱 · 웹 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01571"/>
              </p:ext>
            </p:extLst>
          </p:nvPr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2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LLM API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계층으로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비용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568355"/>
              </p:ext>
            </p:extLst>
          </p:nvPr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1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98976"/>
              </p:ext>
            </p:extLst>
          </p:nvPr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55719"/>
              </p:ext>
            </p:extLst>
          </p:nvPr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300ms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76195"/>
              </p:ext>
            </p:extLst>
          </p:nvPr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/>
              <a:tblGrid>
                <a:gridCol w="999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0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(키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가명으로만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AES-256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보내지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않음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036045"/>
              </p:ext>
            </p:extLst>
          </p:nvPr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4039"/>
              </p:ext>
            </p:extLst>
          </p:nvPr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인력이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(M6,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7754"/>
              </p:ext>
            </p:extLst>
          </p:nvPr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1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엔지니어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시계열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574864"/>
              </p:ext>
            </p:extLst>
          </p:nvPr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/>
              <a:tblGrid>
                <a:gridCol w="881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2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Shadow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</a:t>
                      </a: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140653"/>
              </p:ext>
            </p:extLst>
          </p:nvPr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/>
              <a:tblGrid>
                <a:gridCol w="1036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VPN 내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Props1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5939</TotalTime>
  <Words>7585</Words>
  <Application>Microsoft Office PowerPoint</Application>
  <PresentationFormat>A4 용지(210x297mm)</PresentationFormat>
  <Paragraphs>1487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a옛날사진관5</vt:lpstr>
      <vt:lpstr>G마켓 산스 TTF Bold</vt:lpstr>
      <vt:lpstr>G마켓 산스 TTF Medium</vt:lpstr>
      <vt:lpstr>KoPub바탕체 Bold</vt:lpstr>
      <vt:lpstr>경기천년제목 Bold</vt:lpstr>
      <vt:lpstr>나눔스퀘어</vt:lpstr>
      <vt:lpstr>나눔스퀘어 Bold</vt:lpstr>
      <vt:lpstr>맑은 고딕</vt:lpstr>
      <vt:lpstr>Aldhabi</vt:lpstr>
      <vt:lpstr>Arial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 정운</cp:lastModifiedBy>
  <cp:revision>304</cp:revision>
  <cp:lastPrinted>2026-06-25T07:15:15Z</cp:lastPrinted>
  <dcterms:created xsi:type="dcterms:W3CDTF">2021-09-24T12:12:26Z</dcterms:created>
  <dcterms:modified xsi:type="dcterms:W3CDTF">2026-10-19T07:27:57Z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