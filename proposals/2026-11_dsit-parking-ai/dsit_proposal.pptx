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수요예측·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자동감면 서비스 개발 용역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황보정운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㈜동성아이텍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현황 및 수행역량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추진전략 및 수행방법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주차 수요예측 및 운영 최적화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자동감면 기능 개발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시스템 연계 및 성능검증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품질·보안 및 기술이전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및 관리방안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핵심 제안방향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탄력주차에 AI를 내재화하는 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사업범위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· 최적화 · 판단의 자동화) 탄력주차 플랫폼이 쌓아 온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 · 출차 · 점유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수요를 예측해 주차면을 탄력 공급하고,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·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감면을 자동 판단하여 운영과 정산을 사람 손에서 데이터로 옮김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사업범위 전체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2112885"/>
                <a:gridCol w="25824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사업의 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 주차면이 비어 있음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 시점 · 수요를 모름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 · 수요 예측으로 공유 가능 시간대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요금이 고정됨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수요 변화 미반영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공급량 조정 · 동적 요금 (조례 상 · 하한 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판단이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자격 · 차량정보를 사람이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→ Rule DB → 자격 연계 자동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변경 대응이 느림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고정 규칙 코드 수정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버전 관리 · 시행일 기준 자동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536195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5361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[주차장 자동 공급]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[거주자공유 예측]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[동적 요금제]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55361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수요예측 · 운영 최적화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032995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0329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[조례 파싱] · Rule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 자격 연계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조합 · 정산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60329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자동감면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529795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5297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연계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· 모빌리티 확산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5297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내재화 · 기술이전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680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1680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80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입·출차·점유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149328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59048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159048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예측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648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수요·복귀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276696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6416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286416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공급·요금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0016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최적화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404064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13784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 Same Side Corner Rectangle 62"/>
          <p:cNvSpPr/>
          <p:nvPr/>
        </p:nvSpPr>
        <p:spPr>
          <a:xfrm>
            <a:off x="413784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감면 판단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7384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조례·자격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531432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41152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1152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정산·확산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4752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플랫폼·지자체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83585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사업명: AI 기반 주차 수요예측·자동감면 서비스 개발 용역 / 기간: 계약일부터 6개월 이내 / 예산: 257,000,000원 (VAT 별도) / 「디지털도로 AI 신기술 지원사업(AX Sprint)」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핵심 제안방향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목표와 4대 핵심 제안방향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(설명 가능한 AI · 운영에 바로 쓰는 결과) 예측은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확률(구간)로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감면은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내놓아 운영자가 믿고 쓸 수 있게 하고, 6개월 뒤 발주기관이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스스로 운영 · 고도화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할 수 있는 형태로 넘김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엔진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수요예측 · 최적화
자동감면 · 정산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판단에
근거 조문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· TS 연계
표준 인터페이스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→ 검증 →
기술이전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348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6800" y="33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확률로 말하는 예측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 · 점유 · 복귀시간을 점 하나가 아닌 분위수(P10~P90)로 예측해, ‘거주자 복귀 전 90% 확률로 비는 시간’처럼 위험을 숫자로 관리하며 공급합니다.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086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4086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799" y="4129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조례를 데이터로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799" y="4374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자치법규 원문을 LLM + 규칙으로 파싱해 감면 대상 · 감면율 · 조건 · 예외를 Rule DB로 만들고, 담당자 검토 후에만 운영에 반영합니다.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824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16800" y="4824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799" y="4867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근거가 남는 판단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799" y="5112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감면 결과에 적용 Rule · 조례 조문 · 사용 자격정보를 남겨, 민원 · 정산 대사 · 감사에 바로 답할 수 있게 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562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16800" y="5562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799" y="5605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우선 설계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799" y="5850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· Rule · 파이프라인을 컨테이너 · 설정 기반으로 만들고 소스 · 모델 구조 · 매뉴얼을 넘겨, 지자체 확산 시 Rule만 추가하면 되도록 합니다.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633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평가 항목별 제안 위치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16800" y="6570000"/>
          <a:ext cx="6260400" cy="2363661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547785"/>
                <a:gridCol w="3130200"/>
                <a:gridCol w="86080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이해도 ·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기준선 우선, 2트랙 병행, CRISP-DM + MLOps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 · 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 예측 · 생존분석 복귀 예측 · 위험 한도 공급 · 조례 범위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조례 파싱 + 결정 테이블 Rule · 마이데이터 · 최적 조합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학습 · 결과값만 보관 · LLM 개인정보 미전송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2트랙 조직 · 7명 22.5 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Ⅷ장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현황 및 수행역량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연구개발 기반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 수행실적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기업현황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18141"/>
          <a:ext cx="6260400" cy="382664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10월 (16년 7개월)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직접생산확인(정보시스템개발서비스 8111159901)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46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5279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예측 · 이상탐지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— 시계열 이상탐지 자동화 · ML/DL 분석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운영 데이터 · 관제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SKHy — 용인 Y1 · M14 · M15X 제조 AI 운영 데이터 · 시스템 구축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 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구축 · 운영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연구개발 기반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연구개발 조직 및 AI 연구인력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연구개발 조직 · 인력 · 인증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(연구소 + AI 개발 조직)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기업부설연구소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(2026년 10월 실사 완료)가 사용자 경험 · 인터랙션을 연구하고, DT개발실 · 신사업개발실의 AI · 데이터 인력이 생성형 AI Agent · 예측 모델을 개발하며, 두 조직이 함께 본 사업을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연구개발 조직 · 정책우대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조직 현황 ([양식 2])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619997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860805"/>
                <a:gridCol w="1486844"/>
                <a:gridCol w="1017315"/>
                <a:gridCol w="15651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발급기관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제2025112883호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2025.09.10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한국산업기술진흥협회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연구개발전담부서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전문연구사업자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2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인력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554000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330335"/>
                <a:gridCol w="35214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연구 · 개발 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(인터랙션실)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8명 (현재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경험 · 인터랙션 연구 — AI 서비스 화면 · 운영자 대시보드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(추가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 — 경영진 결정 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SW 개발 인력 연구원 추가 등록 검토 (이공계 학사 + 해당 분야 2년↑ 또는 정보처리기사)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DT개발실 · 신사업개발실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Agent · LLM 응용 · 시계열 분석 · 이상탐지 — 본 사업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59282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정책적 우대기업 및 기술역량 ([양식 4])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826824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173825"/>
                <a:gridCol w="31302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 · 이노비즈 · 메인비즈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여성 · 청년대표 · 사회적경제기업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사업수행 기반 (수도권 외 사업장)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280800" y="88296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내부 검토용 (제출 전 삭제): 연구개발 조직 2점 확정(기업부설연구소). 정책우대 5개 항목 모두 미해당(경영기획팀 10/19 회신) → 0점. 연구원 추가 등록은 연구소장(이은택 이사) · CFO · 대표 결정 필요 — 9명 이상 시 연구 공간 공사 또는 인력 조정, 추가 인력의 주간 연구자료 작성 필요, 신고 후 약 2주 소요. 미결정 시 인력 점수 0점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유사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유사사업 수행실적 및 성과 ([양식 1])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개발 · 공공 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개발 + 공공 플랫폼) 민간 발주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개발 ·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실적과 공공기관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플랫폼 구축 · 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보유하며(발주기관 회신 기준 모두 관련 분야로 인정, 수행 중 건 포함), 모든 실적은 계약서 · 실적증명서로 증빙함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유사 수행실적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5" cy="4749903"/>
        </p:xfrm>
        <a:graphic>
          <a:graphicData uri="http://schemas.openxmlformats.org/drawingml/2006/table">
            <a:tbl>
              <a:tblPr firstRow="0" bandRow="0"/>
              <a:tblGrid>
                <a:gridCol w="558252"/>
                <a:gridCol w="1993757"/>
                <a:gridCol w="717752"/>
                <a:gridCol w="917128"/>
                <a:gridCol w="717752"/>
                <a:gridCol w="478501"/>
                <a:gridCol w="877253"/>
              </a:tblGrid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서울아산병원 AI-IDP (통합데이터플랫폼) 구축사업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2026.06.10~2027.11.27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883.225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SK가스26년Trading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2026.07.01~2026.07.24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32.32462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Ph1_FAB MOS_원가선투입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2026.05.01~2026.06.30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38.00676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분석_선투입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129.38538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확산_FABMOS_원가선투입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2026.03.16~2026.06.30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32.8532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2026.03.01~2026.06.30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27.44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2025.07.01~2025.12.31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86.2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7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2024.07.18~2025.01.14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2159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수행실적 요약 (증빙 첨부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7449904"/>
          <a:ext cx="6260400" cy="142200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· 서비스 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6건 (수행 중 1건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국가R&amp;D · 공공 · 지자체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‘모두’ 개선 · 유지보수 2건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추진전략 및 수행방법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분석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· 기준선 · 내재화 먼저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수행전략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(6개월 안에 운영 가능한 AI) 착수 1개월에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운영환경 진단과 성능 기준선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확정하고, 수요예측과 자동감면을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2개 트랙으로 병행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개발해 5개월 차부터 실데이터로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먼저 (M1)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99" y="2646000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탄력주차 입 · 출차 · 점유 이력의 기간 · 결측 · 주기를 진단하고 학습 가능 범위를 확정합니다. 이력이 짧은 주차장은 유사 주차장 군집 모델로 보완합니다.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3135448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313544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799" y="317864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 (M1)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423448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‘전주 같은 요일 · 시간’ 같은 단순 예측과 현행 수작업 감면 결과를 기준선으로 두고, AI가 이를 얼마나 개선하는지로 성과를 판정합니다.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912897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391289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799" y="395609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2트랙 병행 (M2~M5)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799" y="4200897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수요예측 · 최적화 트랙과 자동감면 트랙을 별도 팀으로 동시에 진행하고, 공통 데이터 · API 계층만 함께 씁니다.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690346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469034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733546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먼저 (전 기간)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799" y="4978346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학습 · 배포 · Rule 반영을 발주기관 인력이 직접 실행하는 절차로 만들고, 매월 기술 공유 세션으로 넘깁니다.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50379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위험과 대응 (RFP 일반사항)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737795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 · 기간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보간 · 이상치 제거, 유사 주차장 군집 학습, 외부 변수(요일 · 공휴일 · 기상 · 행사)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성능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개선율로 관리, 불확실 구간은 공급 보류(안전 측)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차량 ID · 최소 수집 · 마이데이터는 본인 동의 · 결과값만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연계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M1에 연계 규격 확정, Mock API로 선개발, 월 단위 마일스톤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CRISP-DM + MLOps 반복형 개발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개발방법론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(실험이 아닌 운영 기준) 데이터 이해 → 준비 → 모델링 → 평가 → 배포의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CRISP-DM 단계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4주 반복으로 돌리고, 모델 · 데이터 · Rule 버전을 MLOps로 관리해 재학습 · 롤백이 가능하게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이해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운영 · 감면 업무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지표 · 기준선 합의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 · 출차 · 점유 · 요금 · 감면 이력 진단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피처 저장소 구성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모델링 (반복)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4주 단위 실험 · 평가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M2~M5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배포 · 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 배포 · Shadow 모드 운영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실데이터 성능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내재화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재학습 파이프라인 · 매뉴얼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기술이전 교육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257665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504160"/>
                <a:gridCol w="242590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 (파라미터 · 지표 · 모델 버전)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선택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코드화 · 데이터 버전 (DVC)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재현성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· REST API · Shadow → Canary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무중단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· 데이터 드리프트 감시 → 재학습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저하 조기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7506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Shadow 모드: AI 결과를 운영에 반영하지 않고 실제 결과와 나란히 기록 · 비교하는 단계 — 검증 후 발주기관 승인 시 운영 반영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과업 · 기능 · 산출물 추적표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과업 요구사항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(과업 누락 0건) RFP 수행내용 2개 영역 · 12개 세부 과업을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ID로 분해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개발 · 검증 · 산출물까지 하나의 추적표로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수행내용 가 · 나 · 다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548712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1173825"/>
                <a:gridCol w="93905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분석 · 공급 가능시간 · 공급여부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공급량 조정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· 시간대별 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이용 · 복귀패턴 예측 · 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동적 요금제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수요 · 점유 기반 요금 산정 · 탄력요금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조례 · 규정 분석, 감면 대상 · 율 · 조건 · 예외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감면조건 구조화 · Rule DB 생성 ·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감면기준 변경 Rule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· 차량 자격정보와 Rule 연계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감면항목 자동판단 · 복수 감면 우선순위 · 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감면결과 · 최종 정산금액 산출, 오류 · 예외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다.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 · AI 모델 구조 · 소스 · DB · API 규격 · 시험 ·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분해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12개 세부 과업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기능 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DF · AR 체계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 · 개발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담당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시험 항목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추적표 완료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요건 · 착수 시 확정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 · 운영환경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(불명확한 조건은 M1에 확정) 데이터 규모 · 제공 시점 · 연계 방식 · 성능 기준이 RFP에 정해져 있지 않으므로,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2주 안에 확정 목록을 발주기관과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그 결과로 모델 범위를 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1539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486844"/>
                <a:gridCol w="14085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 · 출차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면 · 입차/출차 시각 · 가명 차량 ID · 이용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【12개월↑ 권장】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면별 점유 상태 · 센서/정산 기록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 예측 ·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 면 · 이용 시간대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【배정 이력】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요금표 · 결제 · 감면 적용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 · 감면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【6개월↑】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 · 기상 · 주변 행사 · 시설 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정확도 향상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1998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착수 2주 내 확정 사항 (발주기관 질의 · 협의)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53985"/>
          <a:ext cx="6260400" cy="34187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운영 지자체(강남구 · 성남시 · 의정부시 · 대구 시범사업 등) 중 대상 지자체 · 주차장 유형 · 수, 조례 파싱 초기 지자체 수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감면 결과를 ① 추천 · 산정까지 / ② 플랫폼 자동 반영까지 중 범위 확정 — 본 제안은 ①을 기본, ②는 API로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데이터 종류 · 기간 · 형식 · 시점(파일 · DB · API), 탄력주차 앱 · 관리자 연계 방식, TS 대상 시스템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승인 주체 · 비용 · 테스트 환경, 학습 · 운영 서버 제공 여부, 외부 LLM API 사용 · 이용료 부담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· 감면 판단 정확도 검수 기준 (34쪽 제안 기준으로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 및 운영 최적화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피처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 · 점유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거주자공유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주차장 자동 공급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요금제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화면 ·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수요예측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예측 · 판단 · 실행 3단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(하나의 예측으로 세 가지 결정) 수요 · 점유 · 복귀시간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모델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결과를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 판단 · 요금 산정 최적화기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받아 탄력주차 플랫폼에 공급 시간 · 공급량 · 요금을 내려보냄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 · 출차 · 점유 이력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배정 · 이용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정산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변수 (공휴일 · 기상 · 행사)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처리 · 피처 저장소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 · 시간대 수요 예측 (DF-03)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면 단위 점유 예측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복귀시간 예측 (DF-04)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분위수 (P10~P90)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최적화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가능시간 · 공급여부 (DF-01)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공급량 조정 (DF-02)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동적 요금 (DF-05)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위험 한도 · 조례 상하한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 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승인 / 자동 모드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· 근거 기록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Shadow → 운영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실제 결과 피드백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오차 · 드리프트 모니터링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주기 재학습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MLOps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4823999"/>
          <a:ext cx="6260400" cy="268430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1799865"/>
                <a:gridCol w="109557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달력 · 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수요 ·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/ 일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복귀시간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출차 시각 · 요일 패턴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시각 확률분포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이벤트마다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분포 · 정책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시간 · 면 수 ·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80800" y="7616307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06799" y="767030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예측과 결정을 분리한 이유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799" y="7868307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 모델은 ‘얼마나 찰지’만, 최적화기는 ‘그래서 몇 면을 언제 열지’만 책임지게 나눠, 정책(위험 한도 · 요금 상하한)이 바뀌어도 모델을 다시 학습하지 않고 설정만 바꿉니다.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데이터 · 피처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수집 · 정제 · 피처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데이터 처리 및 피처 엔지니어링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품질의 70%는 데이터) 입 · 출차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15분 단위 점유 시계열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바꾸고, 달력 · 외부 변수 · 주차장 특성을 더한 피처를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코드로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학습과 운영이 같은 피처를 쓰게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DB · 이벤트 로그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API (공휴일 · 기상)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적재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· 누락 이벤트 보정 (입차만 / 출차만)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센서 오류 · 이상치 제거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 이력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 → 15분 점유 시계열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체류시간 · 회전율 산출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시계열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달력 · 지연값 · 이동평균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특성 · 군집 ID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399" cy="275882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973689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달력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 · 시간대 · 공휴일 · 연휴 전후 · 학교 방학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주기성 · 특수일 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· 추세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· 7일 전 같은 시간 점유, 4주 이동평균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자기상관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강수 · 기온, 인근 행사 · 시설 운영시간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급변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 수 · 유형(거주자 · 공영) · 요금 · 위치 군집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부족 주차장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행동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시각 · 평균 외출시간 · 요일별 복귀 분포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014824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806882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이력이 짧은 주차장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266824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주차장을 면 수 · 유형 · 위치 · 이용 패턴으로 군집화해 군집 공동 모델을 학습하고, 이력이 쌓이면 주차장별 보정 계수를 추가합니다. 신규 주차장도 첫날부터 예측을 제공합니다.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수요 · 점유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수요 · 점유 예측 (DF-03)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주차 수요 · 점유 예측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(점이 아닌 구간으로) 주차장 · 시간대별 수요와 점유율을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LightGBM 분위수 회귀 + 시계열 딥러닝 앙상블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예측해 P10 · P50 · P90을 함께 내고, 공급 판단은 보수적인 분위수를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44823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2191140"/>
                <a:gridCol w="25824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선택 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(Seasonal Naive)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전주 같은 요일 · 시간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개선 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LightGBM 분위수 회귀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주력 — 1~24시간 앞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적은 데이터 · 빠른 학습 · 피처 기여도 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TFT / N-HiTS (시계열 DL)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다주차장 · 장기 패턴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시계열 공동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앙상블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오차 기반 가중 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모델 대비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10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10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82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 순 분할 (Rolling Origin)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군집별 · 전체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10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모델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94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494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566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MAE · MAPE (점유율)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분위수 손실 · 구간 적중률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494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대비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178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178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250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SHAP 피처 기여도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‘우천 · 공휴일 영향’ 운영자 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178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62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862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934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15분마다 추론 · 일 1회 재학습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오차 급증 시 알림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862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API 제공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【15】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점유율 예측 오차
(MAPE, 기준선 대비 개선)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P10~P90 구간
실제값 적중률 목표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예측 범위
(15분 단위)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거주자공유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복귀시간 · 공유 시간대 (DF-04)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거주자 이용 · 복귀패턴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(거주자가 돌아오기 전까지만 공유) 거주자 출차 순간부터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‘언제 돌아올지’를 생존분석으로 확률 예측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복귀 확률이 기준 이하인 시간까지만 공유 가능 시간대로 판단함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출차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배정 면 출차 이벤트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요일 · 시각 · 개인 패턴 조회 (가명)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후보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예측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생존분석 (Cox · Gradient Boosted Survival)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시점별 ‘아직 미복귀’ 확률 곡선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분포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시간대 판단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미복귀 확률 ≥ 기준(예 95%) 구간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완충시간(예 30분) 차감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가능 시간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· 갱신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공유 등록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복귀 · 이용 결과로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 유형 (군집 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출근형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평일 08시 출차 · 18~19시 복귀 규칙적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09~17시 공유 (신뢰 높음)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불규칙형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· 복귀 시각 분산 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짧은 단위로만 공유 또는 보류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외출형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장시간 외출 · 평일 상시 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낮 시간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876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미복귀 확률 기준 · 완충시간을 지자체 · 주차장별로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이용자 출차 예정 알림, 인근 대체면 안내 (플랫폼 기능 연계)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패턴은 가명 ID로만 학습 · 집계, 개인 이동 경로 수집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주차장 자동 공급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운영상태 · 자동 공급 (DF-01·02)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공급 가능시간 · 공급량 최적화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(더 많이 공급하되 넘치지 않게) 예측 수요 · 점유 분포와 복귀 예측을 받아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‘기대 공급 효과 – 초과 위험 비용’을 최대화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공급량 · 공급 시간을 15분마다 산출하고, 운영자 승인 또는 자동으로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[주차장 자동 공급]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(DF-01)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점유율 P90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【70%】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 공급 확대 (공유면 개방)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≤ P90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 공급 유지, 단시간 공유만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≥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공유 중단, 인근 주차장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구간 폭 과다 · 데이터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보류 → 운영자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6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6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3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수요 · 점유 분위수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공유 가능 시간 (DF-04)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6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59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59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67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목적: 공급 이용량 최대화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제약: 초과 확률 ≤ 한도 · 거주자 우선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59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33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33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408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모드 / 자동 모드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API로 공급 반영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33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07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07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14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이용률 · 초과 발생 기록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한도 · 정책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07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866000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920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운영자가 믿을 수 있는 자동화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18000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초기에는 AI 공급안을 운영자가 승인하는 모드로 시작해 승인율 · 초과 발생 건수를 확인하고, 기준을 충족한 주차장부터 자동 모드로 전환합니다. 모든 공급 결정에는 예측값 · 적용 기준이 기록됩니다.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동적 요금제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적정 요금 산정 (DF-05)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시간대 · 구간별 탄력요금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(조례가 허용하는 범위 안에서) 실시간 수요 · 점유와 가격 민감도를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점유율(예 85%)을 맞추는 요금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시간대 · 구간별로 산정하되, 조례 · 고시 요금의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 · 하한과 변경 빈도 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[동적 요금제]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예측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 · 구간별 예측 점유율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현재 요금 · 대체 주차장 상황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점유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민감도 추정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변화 ↔ 이용 변화 탄력성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이력 · A/B 구간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 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 달성 요금 탐색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 · 단계(예 100원 단위)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· 고지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요금표 사전 고지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 빈도 제한 (예 1일 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【N회】</a:t>
            </a: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탄력요금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64000"/>
          <a:ext cx="6260399" cy="266798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주차장 조례 · 요금 고시 범위를 Rule로 관리 — 범위 밖 요금은 산출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이용자에게 시간대별 요금을 사전 고지, 입차 시점 요금 확정 방식 선택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형평성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· 감면 대상자 요금은 별도 Rule로 보호 (감면 엔진과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데이터로 요금안 효과(점유율 · 수입) 시뮬레이션 → 발주기관 승인 후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
(설정 가능)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
벗어난 요금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산정 근거
(예측 · 규칙) 기록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운영 화면 ·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운영 대시보드 · 검증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운영자 화면 및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(결과와 이유를 한 화면에) 운영자는 주차장별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곡선 · 공급안 · 요금안과 그 근거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한 화면에서 보고 승인하며, 성능은 기준선 대비 개선율로 매주 리포트됨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12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24시간 점유 예측 (P10 · P50 · P90 밴드) · 실제값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공급안 · 운영상태 · 승인/자동 모드 · 공급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 · 복귀 확률 · 조기 복귀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요금안 · 시뮬레이션 결과 · 조례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추이 · 데이터 드리프트 · 재학습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77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수요예측 영역 검증 지표 (검수 기준은 착수 시 협의 · 확정)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012000"/>
          <a:ext cx="6260400" cy="2833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분위수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적중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복귀로 인한 공유 충돌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면 이용률 · 초과 발생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이용률 개선 · 초과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【N건】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점유율 근접도 (시뮬레이션)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±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【10%p】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9170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검증은 학습에 쓰지 않은 최근 기간 데이터(Hold-out) + 운영 Shadow 기간(4주) 결과로 수행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자동감면 기능 개발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파싱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DB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변경관리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자격정보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판단 · 조합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정산 · 예외 대응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자동감면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조례 · Rule · 자격 · 정산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(AI는 읽고, 규칙은 판단한다) LLM은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조례를 읽어 Rule로 바꾸는 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 쓰고, 실제 감면 판단은 검토 · 승인된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엔진이 결정적으로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같은 입력엔 늘 같은 결과와 근거를 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조례 수집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 (국가법령정보)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고시 · 요금표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파싱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조문 구조화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정보 추출 (대상 · 율 · 조건 · 예외)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신뢰도 · 근거 조문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Rule DB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Rule (조건 · 율 · 우선순위)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버전 · 시행일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 이력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AR-02 · 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자격 연계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 (본인 동의)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회원정보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정산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적용 가능 감면 판단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· 조합 최적화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최종 정산금액 · 근거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AR-05 · 06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4823999"/>
          <a:ext cx="6260399" cy="261753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역할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→ Rule 초안 변환과 근거 조문 연결까지만 — 운영 판단은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 검토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AI가 만든 Rule은 담당자 검토 · 승인 후에만 운영 Rule DB에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시점의 Rule 버전 · 자격정보 · 결과를 함께 저장 → 언제든 재계산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68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48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전 Rule의
운영 반영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396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476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판단 결과에
근거 조문 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624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704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지자체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Rule 추가만으로
확장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조례 파싱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조례 수집 · 추출 (AR-01)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조례 수집 및 AI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읽고 근거와 함께 추출) 지자체 주차장 조례를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자치법규 Open API로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조 · 항 · 호와 별표로 구조화하고, LLM이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대상 · 감면율 · 적용조건 · 예외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스키마에 맞춰 추출하며 근거 조문을 붙임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국가법령정보 자치법규 API · 지자체 고시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조례 원문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 · 항 · 호 · 별표(표) 파싱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관련 조문 후보 선별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추출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+ 스키마 강제 (JSON)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율 · 조건 · 예외 · 한도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규칙 검사 (율 0~100%, 조건 누락)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추출 신뢰도 · 원문 대조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 대기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14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스키마 (예시 — 실제 감면 기준은 지자체 조례에 따름)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38200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등록 차량 / 국가유공자 / 경차 / 저공해차 / 다자녀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 제○항 제○호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 · 80% · 면제 · 정액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조 · 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탑승 · 해당 지자체 주소 · 차량 등록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 노외 · 노상 · 거주자우선 (시설별 상이)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범위 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·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‘2 이상 해당 시 감면율이 큰 것 하나만 적용’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감면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4521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819921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LLM 오류를 걸러내는 3단 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397216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스키마 강제로 형식 오류 제거 ② 규칙 검사로 값 범위 · 필수 항목 확인 ③ 원문 대조 화면에서 담당자가 근거 조문과 나란히 보고 승인 — 승인 전 Rule은 운영에 쓰이지 않습니다.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Rule DB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Rule DB 생성 · 관리 (AR-02)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감면 Rule DB 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 한 조문 = Rule 한 행) 감면조건을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지자체 · 시설 유형 · 자격 · 차량 조건 · 감면율 · 우선순위 · 시행기간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컬럼의 결정 테이블로 저장하고, 각 Rule이 근거 조문과 버전을 가짐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감면 Rule 결정 테이블 구조 (예시)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3723168"/>
        </p:xfrm>
        <a:graphic>
          <a:graphicData uri="http://schemas.openxmlformats.org/drawingml/2006/table">
            <a:tbl>
              <a:tblPr firstRow="0" bandRow="0"/>
              <a:tblGrid>
                <a:gridCol w="626040"/>
                <a:gridCol w="860805"/>
                <a:gridCol w="1017315"/>
                <a:gridCol w="860805"/>
                <a:gridCol w="547785"/>
                <a:gridCol w="547785"/>
                <a:gridCol w="860805"/>
                <a:gridCol w="939059"/>
              </a:tblGrid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·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· 보호자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1건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23170"/>
          <a:ext cx="6260399" cy="235409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편집기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테이블 화면 편집 · 조건 조합 · 감면율 · 우선순위 · 시행기간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이용자 · 차량 시나리오로 Rule 결과 미리보기 (회귀 테스트 세트)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코드만 추가하면 같은 구조로 Rule 등록 — 코드 수정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4926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Rule 엔진은 결정 테이블(DMN 호환) 방식으로 구현하여 판단 로직을 사람이 읽을 수 있게 하고, JSON으로 내보내 기술이전 · 타 시스템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Rule 변경관리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개정 감지 · 버전 관리 (AR-03)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조례 · 감면기준 변경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(개정되면 바로 알고, 시행일에 정확히 바뀜) 자치법규 개정을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매일 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바뀐 조문만 다시 파싱하고, 신구 Rule 비교 → 검토 · 승인 →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시행일 0시 자동 전환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이전 버전은 소급 재계산용으로 보존함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 1회 API 조회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조문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차이만 재파싱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신구 비교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Rule 변경 요약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책임자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시행일 전환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· 이력 보존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46000"/>
          <a:ext cx="6260399" cy="2394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Rule 새 버전 생성 (시행일부터 적용), 이전 버전 유효기간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신설 · 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추가 · 비활성화, 영향 받는 이용자 수 미리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컬럼 수정 + 회귀 테스트 세트 자동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책임자 즉시 반영 + 사후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048000"/>
          <a:ext cx="6260399" cy="1908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Rule 버전 · 근거 조문 · 승인자 · 승인 시각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감면 건은 당시 Rule 버전으로 재계산 가능 (민원 · 정산 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감지 · 검토 대기 · 시행 예정 Rule을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168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개정
감지 주기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Rule
자동 전환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과거 판단
재현 가능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자격정보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자격정보 · Rule 연계 (AR-04)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공공 마이데이터 · 차량정보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(본인 동의로, 필요한 결과만) 이용자가 동의하면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공공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 자격(장애인 · 국가유공자 등)을,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TS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차량 정보(경차 · 저공해차 등)를 확인하고, 원문 서류가 아니라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 여부 · 유효기간만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앱에서 감면 신청 · 본인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 항목 · 목적 · 기간 동의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 기록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조회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공공 마이데이터 (행정정보)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TS 차량정보 · 플랫폼 회원정보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응답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코드 · 유효기간으로 변환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정보 즉시 폐기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프로필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연계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조건 ↔ Rule 매칭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만료 시 재확인 요청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감면 후보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795999"/>
          <a:ext cx="6260400" cy="26175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956375"/>
                <a:gridCol w="1643355"/>
                <a:gridCol w="133033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정보 (예)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· 국가유공자 · 기초생활 등 자격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API (본인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【이용기관 등록 주체】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차종(경차) · 연료(저공해) · 소유자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TS 연계 환경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【적용 범위】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회원정보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주소지 · 거주자 배정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855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마이데이터 연계 주체 · 인증 방식 · 대상 서류는 RFP에 정해져 있지 않아 착수 2주 내 발주기관과 확정하며, 연계 전까지는 운영자 서류 확인 결과를 같은 자격 코드로 입력해 엔진을 검증함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감면 판단 · 조합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감면 판단 · 최적 조합 (AR-05)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적용 감면 자동판단 및 최적 조합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(이용자에게 가장 유리하고 조례에 맞는 조합) 자격 프로필로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 가능한 감면을 모두 찾고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중복 금지 · 우선순위 · 한도 Rule을 제약으로 두어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조례가 허용하는 범위에서 감면액이 최대인 조합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선택함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탐색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· 시설 · 시간 조건 매칭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만족 Rule 전부 추출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감면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제약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금지 · 상호 배타 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감면 한도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조합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선택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조합별 최종 요금 계산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최소 요금(최대 감면) 선택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감면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· 미적용 Rule과 사유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조문 · 사용 자격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36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판단 예시 (가상 — 조례에 따라 결과 상이)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598000"/>
          <a:ext cx="6260399" cy="19993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1565100"/>
                <a:gridCol w="1565100"/>
                <a:gridCol w="16433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+ 경차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· 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 + 저공해차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· R-004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(동률 시 우선순위)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경차, 타 지자체 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 조건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7705328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775932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왜 그 감면인지 설명합니다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957328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화면 · 영수증에 ‘적용: ○○구 조례 제○조 장애인 80% / 미적용: 경차 50% (중복 감면 불가, 제○조②)’처럼 적용 · 미적용 사유를 함께 보여 줘 민원 응대 시간을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정산 · 예외 대응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정산 · 예외 대응 (AR-06)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감면 결과 · 정산 및 예외 처리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(정산까지 끝까지) 이용 시간 · 요금(동적 요금 포함) · 적용 감면으로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최종 정산금액을 계산해 플랫폼에 전달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자격 불확실 · Rule 충돌 · 연계 장애는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안전한 기본 처리 + 사후 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시간 × 시간대별 요금 (동적 요금제 · 거주자 요금 반영)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 조합 감면율 · 정액 감면 · 한도 적용, 단수 처리 Rule (예 10원 미만 절사)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 · 감면 내역 · 근거를 플랫폼 결제 API로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감면 · 정산 집계, 플랫폼 결제 결과와 자동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03608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TS 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미적용으로 우선 정산 → 연계 복구 후 자동 재판단 · 차액 환급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만료 ·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보류 + 이용자 재확인 요청, 운영자 확인 큐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충돌 · 미정의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중단 없이 기본 요금 + 운영자 검토 큐 (Rule 보완 후 재계산)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이의 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근거 조회 → 운영자 수동 조정 · 사유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84921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자동감면 영역 검증 지표 (검수 기준은 착수 시 협의 · 확정)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7083215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항목 정확도 (담당자 판정)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이상, 승인 후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시나리오 판단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(승인 Rule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수작업 계산 대비 정산금액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시스템 연계 및 성능검증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전체 아키텍처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API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성능검증 방안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전체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서비스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(플랫폼은 그대로, AI는 옆에) 기존 탄력주차 플랫폼을 고치지 않고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자동감면 AI 서비스를 별도 컨테이너로 두고 API로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장애가 서로 번지지 않고 단계적으로 적용할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이용자 · 운영자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앱 · 웹 (이용자)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· 감면 담당 화면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+ AI 화면 추가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공유 · 예약 · 입출차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결제 · 정산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회원 · 거주자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· 요금 최적화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자동감면 · 정산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 · REST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· MLOps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레지스트리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DB · 이력 DB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데이터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외부 연계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 · 기상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게이트웨이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16800" y="4823999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130200"/>
                <a:gridCol w="17216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(예정)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(FastAPI) · LightGBM · PyTorch · 생존분석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(조례 파싱)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 LLM API 또는 오픈 모델 — 추상화 계층으로 교체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【모델 · 비용 협의】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· MLflow · Docker · Prometheus/Grafana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플랫폼 운영환경 (클라우드/IDC)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API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연계 대상 · API 규격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외부 · 내부 시스템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(규격부터 확정) 착수 1개월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탄력주차 플랫폼 · TS · 마이데이터 · 자치법규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연계 규격서를 확정하고, 확정 전에는 Mock API로 개발해 연계 지연이 개발 지연이 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2582415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/forecast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시간대 점유 예측 (분위수)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/supply-plan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가능시간 · 공급량 · 운영상태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· 출차 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/pricing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요금안 (조례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【시간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/discount/evaluate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건 감면 판단 ·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/settlement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정산금액 · 감면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/rules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조회 · 편집 · 승인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415048"/>
          <a:ext cx="6260400" cy="2275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895435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자치법규 Open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공동활용 API — 목록 · 본문 · 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암호화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연계 (본인 인증 ·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암호화 · 결과만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차량정보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탄력주차 TS 연계 모듈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보안 체계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76209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모든 API는 OpenAPI 명세 · 인증 토큰 · 호출 로그를 갖추며, ‘API 및 외부시스템 연계 규격서’로 납품. 지자체 · 외부 모빌리티 서비스 확산 시 같은 API를 재사용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성능검증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3단계 성능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기능 ·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증명)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과거 데이터 백테스트 → 4주 Shadow 운영 → 시범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3단계로 검증하고, RFP에 정해지지 않은 성능 기준은 착수 시 아래 제안 기준으로 합의해 검수에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산출물: 성능검증 · 테스트 결과서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백테스트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Hold-out 기간 예측 ·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Shadow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운영에 반영하지 않고 병행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결과와 4주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선정 주차장 · 지자체 적용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승인 모드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성능검증 · 테스트 결과서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· 재학습 계획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충돌률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일치율 · 정산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·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 추출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 (승인 후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 API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【300ms】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백테스트 · Shadow ·
시범 적용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Shadow 운영
비교 기간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· 정산
판단 일치율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품질·보안 및 기술이전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개인정보 및 데이터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산출물 · 기술이전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개인정보 및 데이터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개인정보 보호 ·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개인정보 보호 및 데이터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(차량과 자격은 가장 민감한 정보) 차량번호 · 자격정보는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 처리 후 학습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마이데이터는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동의 범위 안에서 결과값만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보관하고, 원본 개인정보는 발주기관 환경 밖으로 나가지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품질 · 보안 (10점)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8226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최소 항목, 마이데이터는 이용자 동의 (항목 · 목적 · 기간 고지), 동의 기록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차량번호 → 가명 ID (키 분리 보관), 거주자 패턴은 집계 · 가명으로만, 개발 환경에는 가명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자격정보는 자격 코드 · 유효기간만 (원문 서류 미보관), 개인정보 AES-256 · 전송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권한 (운영자 · 감면 담당 · 개발자), 개인정보 조회 이력 기록 · 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파싱에는 공개 법령 텍스트만 전송 — 개인정보는 LLM에 보내지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 경과 · 동의 철회 시 즉시 파기, 사업 종료 시 개발 데이터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288642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· 이상치 · 중복 자동 검사, 수집 실패 알림, 데이터 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Rule · 판단 결과 버전 보존, 판단 재현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「개인정보 보호법」 · 가명정보 처리 가이드라인 · 발주기관 보안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개인정보
외부 반출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LLM으로
개인정보 전송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 · 자격 정보)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산출물 ·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· 산출물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품질관리 · 산출물 · 유지관리 ·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스스로 운영하도록) 월별 품질 점검과 코드 리뷰로 품질을 지키고, RFP 산출물 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모델 · 매뉴얼과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넘기며, 재학습 · Rule 반영을 발주기관 인력이 직접 해 보는 기술이전을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다. 주요 산출물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3599730"/>
                <a:gridCol w="10173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및 기능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기능(DF · AR) · 화면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구조 및 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구조서 · 학습 · 추론 코드 · 학습된 모델 ·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DB 명세서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· Rule DB · 이력 DB 스키마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및 외부시스템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OpenAPI 명세 · 연계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성능검증 및 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유지보수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· Rule 관리 · 장애 대응 ·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573146"/>
          <a:ext cx="6260400" cy="2354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기술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 매월 1회 — 모델 · Rule 구조 · 진행 결과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실행 · 모델 배포 · Rule 편집 · 승인 · 개정 대응을 발주기관 인력이 직접 실습 (M6,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【2회】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【N개월】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하자보수 · 기술지원 (조건은 계약 협의), 모델 성능 저하 시 재학습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99924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 활동: 코드 리뷰 100% · 단위 테스트 · 회귀 테스트 세트(감면 시나리오) · 월간 품질 점검 보고. 지식재산권 · 하자 조건은 계약 시 협의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및 관리방안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 · 위험 · 진척관리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및 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투입인력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및 업무분담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(트랙별 책임 분명)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최적화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데이터 · 플랫폼 연계와 품질 · 보안을 공통 지원으로 두어 6개월 동안 병행 수행함 (공동수급 없이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프로젝트 관리 (10점)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㈜동성아이텍 사업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운영 · 감면 담당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제공 · 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수요예측 트랙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 엔지니어 2명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40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 · 요금 설계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DF-01~05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자동감면 트랙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NLP 엔지니어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엔진 · 정산 개발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AR-01~06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엔지니어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940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백엔드 · 연계 개발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· MLOps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4823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투입인력 총괄표 ([양식 3] — 재직 증빙 첨부)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5058000"/>
          <a:ext cx="6260399" cy="429960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704295"/>
                <a:gridCol w="547785"/>
                <a:gridCol w="2191140"/>
                <a:gridCol w="939059"/>
                <a:gridCol w="62604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서비스 · 공공 플랫폼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 (책임)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· 시계열 예측】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【최적화 · 생존분석】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NLP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【LLM 정보 추출 · Agent】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 ·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정산 · 연계】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파이프라인 · MLOps】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【테스트 · 개인정보 보호】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 · 위험 · 진척관리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추진일정 · 위험 · 진척관리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추진일정 및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(월 단위 마일스톤)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M1 분석 → M2~M4 수요예측 · M3~M5 자동감면 병행 → M5 Shadow → M6 검증 · 산출물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매주 진척 보고와 월말 시연으로 발주기관이 결과를 직접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추진일정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4" cy="303617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425905"/>
                <a:gridCol w="469529"/>
                <a:gridCol w="469529"/>
                <a:gridCol w="469529"/>
                <a:gridCol w="469529"/>
                <a:gridCol w="469529"/>
                <a:gridCol w="46952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· 데이터 · 운영환경 분석, 연계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 · 수요 · 복귀 예측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운영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· Rule DB ·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연계 · 조합 판단 · 정산 · 예외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적용, 산출물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02175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보고 (진척 · 이슈 · 다음 주 계획), 월말 시연 · 마일스톤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 — 데이터 제공 지연 · 마이데이터 연계 · 성능 미달 · 일정 지연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· 범위 변경은 협의 후 서면 확정, 협상 결과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 공유, 모델 · Rule 버전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장소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사무실 원격 수행 + 주간 · 월말 대면 보고, 운영 데이터는 발주기관 VPN 내 가명 데이터로 접근 (반출 없음)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【수행 조건 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265391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31939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일정 지연을 막는 장치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517391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데이터 · 연계 규격이 늦어지면 합성 데이터 · Mock API로 개발을 계속하고, 수요예측 · 자동감면 두 트랙이 서로 기다리지 않도록 공통 API 규격만 M1에 먼저 고정합니다.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