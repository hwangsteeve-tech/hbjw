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45"/>
  </p:notesMasterIdLst>
  <p:handoutMasterIdLst>
    <p:handoutMasterId r:id="rId46"/>
  </p:handoutMasterIdLst>
  <p:sldIdLst>
    <p:sldId id="7488" r:id="rId5"/>
    <p:sldId id="7489" r:id="rId6"/>
    <p:sldId id="7490" r:id="rId7"/>
    <p:sldId id="7491" r:id="rId8"/>
    <p:sldId id="7492" r:id="rId9"/>
    <p:sldId id="7493" r:id="rId10"/>
    <p:sldId id="7494" r:id="rId11"/>
    <p:sldId id="7495" r:id="rId12"/>
    <p:sldId id="7496" r:id="rId13"/>
    <p:sldId id="7497" r:id="rId14"/>
    <p:sldId id="7498" r:id="rId15"/>
    <p:sldId id="7499" r:id="rId16"/>
    <p:sldId id="7500" r:id="rId17"/>
    <p:sldId id="7501" r:id="rId18"/>
    <p:sldId id="7502" r:id="rId19"/>
    <p:sldId id="7503" r:id="rId20"/>
    <p:sldId id="7504" r:id="rId21"/>
    <p:sldId id="7505" r:id="rId22"/>
    <p:sldId id="7506" r:id="rId23"/>
    <p:sldId id="7507" r:id="rId24"/>
    <p:sldId id="7508" r:id="rId25"/>
    <p:sldId id="7509" r:id="rId26"/>
    <p:sldId id="7510" r:id="rId27"/>
    <p:sldId id="7511" r:id="rId28"/>
    <p:sldId id="7512" r:id="rId29"/>
    <p:sldId id="7513" r:id="rId30"/>
    <p:sldId id="7514" r:id="rId31"/>
    <p:sldId id="7515" r:id="rId32"/>
    <p:sldId id="7516" r:id="rId33"/>
    <p:sldId id="7517" r:id="rId34"/>
    <p:sldId id="7518" r:id="rId35"/>
    <p:sldId id="7519" r:id="rId36"/>
    <p:sldId id="7520" r:id="rId37"/>
    <p:sldId id="7521" r:id="rId38"/>
    <p:sldId id="7522" r:id="rId39"/>
    <p:sldId id="7523" r:id="rId40"/>
    <p:sldId id="7524" r:id="rId41"/>
    <p:sldId id="7525" r:id="rId42"/>
    <p:sldId id="7526" r:id="rId43"/>
    <p:sldId id="7527" r:id="rId44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 varScale="1">
        <p:scale>
          <a:sx n="93" d="100"/>
          <a:sy n="93" d="100"/>
        </p:scale>
        <p:origin x="570" y="9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notesMaster" Target="notesMasters/notesMaster1.xml"/><Relationship Id="rId46" Type="http://schemas.openxmlformats.org/officeDocument/2006/relationships/handoutMaster" Target="handoutMasters/handout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b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ctr"/>
              <a:t>‹#›</a:t>
            </a:fld>
            <a:endParaRPr lang="ko-KR" altLang="en-US" sz="100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정성제안서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기반 주차 수요예측·</a:t>
            </a: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자동감면 서비스 개발 용역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황보정운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제출기관: (주)에이치나인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발주기관: ㈜동성아이텍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제안개요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3412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제안사 현황 및 수행역량</a:t>
            </a:r>
          </a:p>
        </p:txBody>
      </p:sp>
      <p:sp>
        <p:nvSpPr>
          <p:cNvPr id="4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2337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4558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2355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7314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903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사업 추진전략 및 수행방법</a:t>
            </a:r>
          </a:p>
        </p:txBody>
      </p:sp>
      <p:sp>
        <p:nvSpPr>
          <p:cNvPr id="9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796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10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018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798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12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293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466282"/>
            <a:ext cx="4039267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 dirty="0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AI 기반 주차 수요예측 및 운영 최적화</a:t>
            </a:r>
          </a:p>
        </p:txBody>
      </p:sp>
      <p:sp>
        <p:nvSpPr>
          <p:cNvPr id="14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3587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1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5808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3605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18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8564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502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AI 기반 자동감면 기능 개발</a:t>
            </a:r>
          </a:p>
        </p:txBody>
      </p:sp>
      <p:sp>
        <p:nvSpPr>
          <p:cNvPr id="20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92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21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514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92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Ⅴ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23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41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55912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시스템 연계 및 성능검증</a:t>
            </a:r>
          </a:p>
        </p:txBody>
      </p:sp>
      <p:sp>
        <p:nvSpPr>
          <p:cNvPr id="25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54837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26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57058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54855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Ⅵ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28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9814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6153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품질·보안 및 기술이전</a:t>
            </a:r>
          </a:p>
        </p:txBody>
      </p:sp>
      <p:sp>
        <p:nvSpPr>
          <p:cNvPr id="30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6046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31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6268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6048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Ⅶ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33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6543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67162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사업 수행 및 관리방안</a:t>
            </a:r>
          </a:p>
        </p:txBody>
      </p:sp>
      <p:sp>
        <p:nvSpPr>
          <p:cNvPr id="35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66087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36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68308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66105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Ⅷ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38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71064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제안개요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 이해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목표 및 핵심 제안방향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 이해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제안개요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탄력주차에 AI를 내재화하는 사업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추진배경 및 사업범위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(예측 · 최적화 · 판단의 자동화) 탄력주차 플랫폼이 쌓아 온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입 · 출차 · 점유 데이터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수요를 예측해 주차면을 탄력 공급하고,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조례 · 마이데이터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감면을 자동 판단하여 운영과 정산을 사람 손에서 데이터로 옮김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사업범위 전체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756253"/>
              </p:ext>
            </p:extLst>
          </p:nvPr>
        </p:nvGraphicFramePr>
        <p:xfrm>
          <a:off x="316800" y="2358000"/>
          <a:ext cx="6260400" cy="3070192"/>
        </p:xfrm>
        <a:graphic>
          <a:graphicData uri="http://schemas.openxmlformats.org/drawingml/2006/table">
            <a:tbl>
              <a:tblPr/>
              <a:tblGrid>
                <a:gridCol w="156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2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과제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사업의 해결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0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유휴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주차면이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비어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있음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 복귀 시점 · 수요를 모름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복귀패턴 · 수요 예측으로 공유 가능 시간대 판단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0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 · 요금이 고정됨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시간대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구간별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변화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미반영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공급량 조정 · 동적 요금 (조례 상 · 하한 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0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 판단이 수작업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조례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자격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차량정보를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사람이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대조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조례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파싱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Rule DB →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자격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0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 변경 대응이 느림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고정 규칙 코드 수정 필요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Rule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시행일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전환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536195"/>
            <a:ext cx="4874400" cy="432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4800" y="5536195"/>
            <a:ext cx="1044000" cy="43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 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32800" y="5608195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[</a:t>
            </a:r>
            <a:r>
              <a:rPr sz="9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주차장</a:t>
            </a:r>
            <a:r>
              <a:rPr sz="9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자동</a:t>
            </a:r>
            <a:r>
              <a:rPr sz="9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공급</a:t>
            </a:r>
            <a:r>
              <a:rPr sz="9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73600" y="5608195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[거주자공유 예측]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14400" y="5608195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[동적 요금제]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81200" y="5536195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950" b="0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수요예측</a:t>
            </a:r>
            <a:r>
              <a:rPr sz="95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950" b="0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운영</a:t>
            </a:r>
            <a:r>
              <a:rPr sz="95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95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</a:br>
            <a:r>
              <a:rPr sz="950" b="0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최적화</a:t>
            </a:r>
            <a:endParaRPr sz="950" b="0" dirty="0">
              <a:solidFill>
                <a:srgbClr val="1F386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16800" y="6032995"/>
            <a:ext cx="4874400" cy="432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4800" y="6032995"/>
            <a:ext cx="1044000" cy="43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 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32800" y="6104995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[조례 파싱] · Rule DB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73600" y="6104995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마이데이터 자격 연계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14400" y="6104995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감면 조합 · 정산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81200" y="6032995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자동감면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6529795"/>
            <a:ext cx="4874400" cy="432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34800" y="6529795"/>
            <a:ext cx="1044000" cy="43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적용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32800" y="6601795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탄력주차 플랫폼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73600" y="6601795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TS 연계 환경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14400" y="6601795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지자체</a:t>
            </a:r>
            <a:r>
              <a:rPr sz="9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9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모빌리티</a:t>
            </a:r>
            <a:r>
              <a:rPr sz="9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9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</a:br>
            <a:r>
              <a:rPr sz="9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확산</a:t>
            </a:r>
            <a:endParaRPr sz="900" b="1" dirty="0">
              <a:solidFill>
                <a:srgbClr val="1F386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281200" y="6529795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내재화 · 기술이전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16800" y="7098595"/>
            <a:ext cx="1165680" cy="69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ound Same Side Corner Rectangle 50"/>
          <p:cNvSpPr/>
          <p:nvPr/>
        </p:nvSpPr>
        <p:spPr>
          <a:xfrm>
            <a:off x="316800" y="70985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데이터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2800" y="7386595"/>
            <a:ext cx="1093680" cy="3366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입·출차·점유</a:t>
            </a:r>
            <a:endParaRPr sz="1150" b="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3" name="Isosceles Triangle 52"/>
          <p:cNvSpPr/>
          <p:nvPr/>
        </p:nvSpPr>
        <p:spPr>
          <a:xfrm rot="5400000">
            <a:off x="1493280" y="742093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590480" y="7098595"/>
            <a:ext cx="1165680" cy="69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ound Same Side Corner Rectangle 54"/>
          <p:cNvSpPr/>
          <p:nvPr/>
        </p:nvSpPr>
        <p:spPr>
          <a:xfrm>
            <a:off x="1590480" y="70985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예측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26480" y="7386595"/>
            <a:ext cx="1093680" cy="3366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수요·복귀</a:t>
            </a:r>
          </a:p>
        </p:txBody>
      </p:sp>
      <p:sp>
        <p:nvSpPr>
          <p:cNvPr id="57" name="Isosceles Triangle 56"/>
          <p:cNvSpPr/>
          <p:nvPr/>
        </p:nvSpPr>
        <p:spPr>
          <a:xfrm rot="5400000">
            <a:off x="2766960" y="742093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2864160" y="7098595"/>
            <a:ext cx="1165680" cy="69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Round Same Side Corner Rectangle 58"/>
          <p:cNvSpPr/>
          <p:nvPr/>
        </p:nvSpPr>
        <p:spPr>
          <a:xfrm>
            <a:off x="2864160" y="70985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공급·요금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00160" y="7386595"/>
            <a:ext cx="1093680" cy="3366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자동 최적화</a:t>
            </a:r>
          </a:p>
        </p:txBody>
      </p:sp>
      <p:sp>
        <p:nvSpPr>
          <p:cNvPr id="61" name="Isosceles Triangle 60"/>
          <p:cNvSpPr/>
          <p:nvPr/>
        </p:nvSpPr>
        <p:spPr>
          <a:xfrm rot="5400000">
            <a:off x="4040640" y="742093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4137840" y="7098595"/>
            <a:ext cx="1165680" cy="69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Round Same Side Corner Rectangle 62"/>
          <p:cNvSpPr/>
          <p:nvPr/>
        </p:nvSpPr>
        <p:spPr>
          <a:xfrm>
            <a:off x="4137840" y="70985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감면 판단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73840" y="7386595"/>
            <a:ext cx="1093680" cy="3366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조례·자격</a:t>
            </a:r>
          </a:p>
        </p:txBody>
      </p:sp>
      <p:sp>
        <p:nvSpPr>
          <p:cNvPr id="65" name="Isosceles Triangle 64"/>
          <p:cNvSpPr/>
          <p:nvPr/>
        </p:nvSpPr>
        <p:spPr>
          <a:xfrm rot="5400000">
            <a:off x="5314320" y="742093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5411520" y="7098595"/>
            <a:ext cx="1165680" cy="691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Round Same Side Corner Rectangle 66"/>
          <p:cNvSpPr/>
          <p:nvPr/>
        </p:nvSpPr>
        <p:spPr>
          <a:xfrm>
            <a:off x="5411520" y="70985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정산·확산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47520" y="7386595"/>
            <a:ext cx="1093680" cy="3366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플랫폼·지자체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0800" y="7937971"/>
            <a:ext cx="63324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사업명: AI 기반 주차 수요예측·자동감면 서비스 개발 용역 / 기간: 계약일부터 6개월 이내 / 예산: 257,000,000원 (VAT 별도) / 「디지털도로 AI 신기술 지원사업(AX Sprint)」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목표 및 핵심 제안방향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제안개요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목표와 4대 핵심 제안방향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사업 목표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예측은 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확률(구간)로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감면은 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근거 조문과 함께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내놓아 운영자가 믿고 쓸 수 있게 하고, 6개월 뒤 발주기관이 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스스로 운영 · </a:t>
            </a:r>
            <a:r>
              <a:rPr lang="ko-KR" altLang="en-US" sz="1200" b="1" dirty="0" err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고도화</a:t>
            </a:r>
            <a:r>
              <a:rPr lang="ko-KR" altLang="en-US" sz="1200" b="1" dirty="0" err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할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수 있는 형태로 이전</a:t>
            </a:r>
            <a:r>
              <a:rPr lang="en-US" altLang="ko-KR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.</a:t>
            </a:r>
            <a:endParaRPr lang="ko-KR" altLang="en-US" sz="1200" b="1" dirty="0">
              <a:ln w="12700">
                <a:solidFill>
                  <a:schemeClr val="tx1">
                    <a:alpha val="0"/>
                  </a:schemeClr>
                </a:solidFill>
              </a:ln>
              <a:latin typeface="맑은 고딕" panose="00000800000000000000" pitchFamily="2" charset="-127"/>
              <a:ea typeface="맑은 고딕" panose="00000800000000000000" pitchFamily="2" charset="-127"/>
              <a:cs typeface="맑은 고딕" panose="00000800000000000000" pitchFamily="2" charset="-127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일반사항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168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4800" y="2412000"/>
            <a:ext cx="13221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엔진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800" y="2808000"/>
            <a:ext cx="13221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수요예측 · 최적화
자동감면 · 정산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08900" y="2358000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9089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16900" y="2412000"/>
            <a:ext cx="13221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6900" y="2808000"/>
            <a:ext cx="13221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감면 판단에
근거 조문 표시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01000" y="2358000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5010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09000" y="2412000"/>
            <a:ext cx="13221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09000" y="2808000"/>
            <a:ext cx="13221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탄력주차 · TS 연계
표준 인터페이스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93100" y="2358000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0931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201100" y="2412000"/>
            <a:ext cx="13221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6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01100" y="2808000"/>
            <a:ext cx="13221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착수 → 검증 →
기술이전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6800" y="3347999"/>
            <a:ext cx="6260400" cy="851869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16800" y="33552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799" y="3391200"/>
            <a:ext cx="55404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확률로 말하는 예측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799" y="3636000"/>
            <a:ext cx="5540400" cy="349887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수요</a:t>
            </a:r>
            <a:r>
              <a:rPr sz="9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95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점유</a:t>
            </a:r>
            <a:r>
              <a:rPr sz="9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95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복귀시간을</a:t>
            </a:r>
            <a:r>
              <a:rPr sz="9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점 </a:t>
            </a:r>
            <a:r>
              <a:rPr sz="95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하나가</a:t>
            </a:r>
            <a:r>
              <a:rPr sz="9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아닌</a:t>
            </a:r>
            <a:r>
              <a:rPr sz="9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분위수</a:t>
            </a:r>
            <a:r>
              <a:rPr sz="9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(P10~P90)로 </a:t>
            </a:r>
            <a:r>
              <a:rPr sz="95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예측해</a:t>
            </a:r>
            <a:r>
              <a:rPr sz="9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‘</a:t>
            </a:r>
            <a:r>
              <a:rPr sz="95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거주자</a:t>
            </a:r>
            <a:r>
              <a:rPr sz="9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복귀</a:t>
            </a:r>
            <a:r>
              <a:rPr sz="9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전 90% </a:t>
            </a:r>
            <a:r>
              <a:rPr sz="95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확률로</a:t>
            </a:r>
            <a:r>
              <a:rPr sz="9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비는</a:t>
            </a:r>
            <a:r>
              <a:rPr sz="9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시간’처럼</a:t>
            </a:r>
            <a:r>
              <a:rPr sz="9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위험을</a:t>
            </a:r>
            <a:r>
              <a:rPr sz="9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숫자로</a:t>
            </a:r>
            <a:r>
              <a:rPr sz="9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관리하며</a:t>
            </a:r>
            <a:r>
              <a:rPr sz="9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공급합니다</a:t>
            </a:r>
            <a:r>
              <a:rPr sz="95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0800" y="6966936"/>
            <a:ext cx="63324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</a:t>
            </a:r>
            <a:r>
              <a:rPr sz="11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평가</a:t>
            </a: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항목별</a:t>
            </a: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제안</a:t>
            </a: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위치</a:t>
            </a: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&gt;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991598"/>
              </p:ext>
            </p:extLst>
          </p:nvPr>
        </p:nvGraphicFramePr>
        <p:xfrm>
          <a:off x="316800" y="7200936"/>
          <a:ext cx="6260400" cy="2247774"/>
        </p:xfrm>
        <a:graphic>
          <a:graphicData uri="http://schemas.openxmlformats.org/drawingml/2006/table">
            <a:tbl>
              <a:tblPr/>
              <a:tblGrid>
                <a:gridCol w="1721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7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0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이해도 · 추진전략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기준선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2트랙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병행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CRISP-DM +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MLOps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Ⅰ · Ⅲ장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8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수요예측 · 운영 최적화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분위수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생존분석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복귀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한도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조례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요금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Ⅳ장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8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자동감면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조례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파싱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테이블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Rule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마이데이터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최적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조합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정산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Ⅴ장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· 데이터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가명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결과값만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보관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LLM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미전송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Ⅶ장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수행조직 및 인력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2트랙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7명 22.5 M/M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Ⅷ장</a:t>
                      </a:r>
                      <a:endParaRPr sz="95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5" name="Rectangle 6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DFFDE844-B044-DBCE-FDDF-D7C948F6F395}"/>
              </a:ext>
            </a:extLst>
          </p:cNvPr>
          <p:cNvSpPr/>
          <p:nvPr/>
        </p:nvSpPr>
        <p:spPr>
          <a:xfrm>
            <a:off x="316800" y="4244309"/>
            <a:ext cx="6260400" cy="851869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47">
            <a:extLst>
              <a:ext uri="{FF2B5EF4-FFF2-40B4-BE49-F238E27FC236}">
                <a16:creationId xmlns:a16="http://schemas.microsoft.com/office/drawing/2014/main" id="{C6A77EA0-99B6-61D3-EDBC-D702841396E9}"/>
              </a:ext>
            </a:extLst>
          </p:cNvPr>
          <p:cNvSpPr/>
          <p:nvPr/>
        </p:nvSpPr>
        <p:spPr>
          <a:xfrm>
            <a:off x="316800" y="425151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en-US" sz="18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8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339BA8-7C11-3B20-2B50-0D0AB21B0549}"/>
              </a:ext>
            </a:extLst>
          </p:cNvPr>
          <p:cNvSpPr txBox="1"/>
          <p:nvPr/>
        </p:nvSpPr>
        <p:spPr>
          <a:xfrm>
            <a:off x="964799" y="4287510"/>
            <a:ext cx="55404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ea typeface="맑은 고딕"/>
                <a:cs typeface="맑은 고딕"/>
              </a:rPr>
              <a:t>조례를 데이터로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49C8CD-03DD-9BE0-2DC6-D2F9D0D781FC}"/>
              </a:ext>
            </a:extLst>
          </p:cNvPr>
          <p:cNvSpPr txBox="1"/>
          <p:nvPr/>
        </p:nvSpPr>
        <p:spPr>
          <a:xfrm>
            <a:off x="964799" y="4532310"/>
            <a:ext cx="5540400" cy="349887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dirty="0">
                <a:solidFill>
                  <a:srgbClr val="333333"/>
                </a:solidFill>
                <a:ea typeface="맑은 고딕"/>
                <a:cs typeface="맑은 고딕"/>
              </a:rPr>
              <a:t>자치법규 원문을 </a:t>
            </a:r>
            <a:r>
              <a:rPr lang="en-US" altLang="ko-KR" sz="950" dirty="0">
                <a:solidFill>
                  <a:srgbClr val="333333"/>
                </a:solidFill>
                <a:ea typeface="맑은 고딕"/>
                <a:cs typeface="맑은 고딕"/>
              </a:rPr>
              <a:t>LLM + </a:t>
            </a:r>
            <a:r>
              <a:rPr lang="ko-KR" altLang="en-US" sz="950" dirty="0">
                <a:solidFill>
                  <a:srgbClr val="333333"/>
                </a:solidFill>
                <a:ea typeface="맑은 고딕"/>
                <a:cs typeface="맑은 고딕"/>
              </a:rPr>
              <a:t>규칙으로 </a:t>
            </a:r>
            <a:r>
              <a:rPr lang="ko-KR" altLang="en-US" sz="950" dirty="0" err="1">
                <a:solidFill>
                  <a:srgbClr val="333333"/>
                </a:solidFill>
                <a:ea typeface="맑은 고딕"/>
                <a:cs typeface="맑은 고딕"/>
              </a:rPr>
              <a:t>파싱해</a:t>
            </a:r>
            <a:r>
              <a:rPr lang="ko-KR" altLang="en-US" sz="950" dirty="0">
                <a:solidFill>
                  <a:srgbClr val="333333"/>
                </a:solidFill>
                <a:ea typeface="맑은 고딕"/>
                <a:cs typeface="맑은 고딕"/>
              </a:rPr>
              <a:t> 감면 대상 </a:t>
            </a:r>
            <a:r>
              <a:rPr lang="en-US" altLang="ko-KR" sz="950" dirty="0">
                <a:solidFill>
                  <a:srgbClr val="333333"/>
                </a:solidFill>
                <a:ea typeface="맑은 고딕"/>
                <a:cs typeface="맑은 고딕"/>
              </a:rPr>
              <a:t>· </a:t>
            </a:r>
            <a:r>
              <a:rPr lang="ko-KR" altLang="en-US" sz="950" dirty="0" err="1">
                <a:solidFill>
                  <a:srgbClr val="333333"/>
                </a:solidFill>
                <a:ea typeface="맑은 고딕"/>
                <a:cs typeface="맑은 고딕"/>
              </a:rPr>
              <a:t>감면율</a:t>
            </a:r>
            <a:r>
              <a:rPr lang="ko-KR" altLang="en-US" sz="950" dirty="0">
                <a:solidFill>
                  <a:srgbClr val="333333"/>
                </a:solidFill>
                <a:ea typeface="맑은 고딕"/>
                <a:cs typeface="맑은 고딕"/>
              </a:rPr>
              <a:t> </a:t>
            </a:r>
            <a:r>
              <a:rPr lang="en-US" altLang="ko-KR" sz="950" dirty="0">
                <a:solidFill>
                  <a:srgbClr val="333333"/>
                </a:solidFill>
                <a:ea typeface="맑은 고딕"/>
                <a:cs typeface="맑은 고딕"/>
              </a:rPr>
              <a:t>· </a:t>
            </a:r>
            <a:r>
              <a:rPr lang="ko-KR" altLang="en-US" sz="950" dirty="0">
                <a:solidFill>
                  <a:srgbClr val="333333"/>
                </a:solidFill>
                <a:ea typeface="맑은 고딕"/>
                <a:cs typeface="맑은 고딕"/>
              </a:rPr>
              <a:t>조건 </a:t>
            </a:r>
            <a:r>
              <a:rPr lang="en-US" altLang="ko-KR" sz="950" dirty="0">
                <a:solidFill>
                  <a:srgbClr val="333333"/>
                </a:solidFill>
                <a:ea typeface="맑은 고딕"/>
                <a:cs typeface="맑은 고딕"/>
              </a:rPr>
              <a:t>· </a:t>
            </a:r>
            <a:r>
              <a:rPr lang="ko-KR" altLang="en-US" sz="950" dirty="0">
                <a:solidFill>
                  <a:srgbClr val="333333"/>
                </a:solidFill>
                <a:ea typeface="맑은 고딕"/>
                <a:cs typeface="맑은 고딕"/>
              </a:rPr>
              <a:t>예외를 </a:t>
            </a:r>
            <a:r>
              <a:rPr lang="en-US" altLang="ko-KR" sz="950" dirty="0">
                <a:solidFill>
                  <a:srgbClr val="333333"/>
                </a:solidFill>
                <a:ea typeface="맑은 고딕"/>
                <a:cs typeface="맑은 고딕"/>
              </a:rPr>
              <a:t>Rule DB</a:t>
            </a:r>
            <a:r>
              <a:rPr lang="ko-KR" altLang="en-US" sz="950" dirty="0">
                <a:solidFill>
                  <a:srgbClr val="333333"/>
                </a:solidFill>
                <a:ea typeface="맑은 고딕"/>
                <a:cs typeface="맑은 고딕"/>
              </a:rPr>
              <a:t>로 만들고</a:t>
            </a:r>
            <a:r>
              <a:rPr lang="en-US" altLang="ko-KR" sz="950" dirty="0">
                <a:solidFill>
                  <a:srgbClr val="333333"/>
                </a:solidFill>
                <a:ea typeface="맑은 고딕"/>
                <a:cs typeface="맑은 고딕"/>
              </a:rPr>
              <a:t>, </a:t>
            </a:r>
            <a:r>
              <a:rPr lang="ko-KR" altLang="en-US" sz="950" dirty="0">
                <a:solidFill>
                  <a:srgbClr val="333333"/>
                </a:solidFill>
                <a:ea typeface="맑은 고딕"/>
                <a:cs typeface="맑은 고딕"/>
              </a:rPr>
              <a:t>담당자 검토 후에만 운영에 반영합니다</a:t>
            </a:r>
            <a:r>
              <a:rPr lang="en-US" altLang="ko-KR" sz="950" dirty="0">
                <a:solidFill>
                  <a:srgbClr val="333333"/>
                </a:solidFill>
                <a:ea typeface="맑은 고딕"/>
                <a:cs typeface="맑은 고딕"/>
              </a:rPr>
              <a:t>.</a:t>
            </a:r>
          </a:p>
        </p:txBody>
      </p:sp>
      <p:sp>
        <p:nvSpPr>
          <p:cNvPr id="15" name="Rectangle 46">
            <a:extLst>
              <a:ext uri="{FF2B5EF4-FFF2-40B4-BE49-F238E27FC236}">
                <a16:creationId xmlns:a16="http://schemas.microsoft.com/office/drawing/2014/main" id="{1EBCE140-026F-177B-9EEA-E90C70034AE9}"/>
              </a:ext>
            </a:extLst>
          </p:cNvPr>
          <p:cNvSpPr/>
          <p:nvPr/>
        </p:nvSpPr>
        <p:spPr>
          <a:xfrm>
            <a:off x="316800" y="5145838"/>
            <a:ext cx="6260400" cy="851869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47">
            <a:extLst>
              <a:ext uri="{FF2B5EF4-FFF2-40B4-BE49-F238E27FC236}">
                <a16:creationId xmlns:a16="http://schemas.microsoft.com/office/drawing/2014/main" id="{865588DE-FBF0-D4CB-EBBD-E5159245B68B}"/>
              </a:ext>
            </a:extLst>
          </p:cNvPr>
          <p:cNvSpPr/>
          <p:nvPr/>
        </p:nvSpPr>
        <p:spPr>
          <a:xfrm>
            <a:off x="316800" y="5153039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en-US" sz="18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8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9A4D77-8965-CD84-F4FD-E58199AA47B8}"/>
              </a:ext>
            </a:extLst>
          </p:cNvPr>
          <p:cNvSpPr txBox="1"/>
          <p:nvPr/>
        </p:nvSpPr>
        <p:spPr>
          <a:xfrm>
            <a:off x="964799" y="5189039"/>
            <a:ext cx="55404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ea typeface="맑은 고딕"/>
                <a:cs typeface="맑은 고딕"/>
              </a:rPr>
              <a:t>근거가 남는 판단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405A10-7D59-F39C-C8FD-F8BEC204073C}"/>
              </a:ext>
            </a:extLst>
          </p:cNvPr>
          <p:cNvSpPr txBox="1"/>
          <p:nvPr/>
        </p:nvSpPr>
        <p:spPr>
          <a:xfrm>
            <a:off x="964799" y="5433839"/>
            <a:ext cx="5540400" cy="349887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dirty="0">
                <a:solidFill>
                  <a:srgbClr val="333333"/>
                </a:solidFill>
                <a:ea typeface="맑은 고딕"/>
                <a:cs typeface="맑은 고딕"/>
              </a:rPr>
              <a:t>모든 감면 결과에 적용 </a:t>
            </a:r>
            <a:r>
              <a:rPr lang="en-US" altLang="ko-KR" sz="950" dirty="0">
                <a:solidFill>
                  <a:srgbClr val="333333"/>
                </a:solidFill>
                <a:ea typeface="맑은 고딕"/>
                <a:cs typeface="맑은 고딕"/>
              </a:rPr>
              <a:t>Rule · </a:t>
            </a:r>
            <a:r>
              <a:rPr lang="ko-KR" altLang="en-US" sz="950" dirty="0">
                <a:solidFill>
                  <a:srgbClr val="333333"/>
                </a:solidFill>
                <a:ea typeface="맑은 고딕"/>
                <a:cs typeface="맑은 고딕"/>
              </a:rPr>
              <a:t>조례 조문 </a:t>
            </a:r>
            <a:r>
              <a:rPr lang="en-US" altLang="ko-KR" sz="950" dirty="0">
                <a:solidFill>
                  <a:srgbClr val="333333"/>
                </a:solidFill>
                <a:ea typeface="맑은 고딕"/>
                <a:cs typeface="맑은 고딕"/>
              </a:rPr>
              <a:t>· </a:t>
            </a:r>
            <a:r>
              <a:rPr lang="ko-KR" altLang="en-US" sz="950" dirty="0">
                <a:solidFill>
                  <a:srgbClr val="333333"/>
                </a:solidFill>
                <a:ea typeface="맑은 고딕"/>
                <a:cs typeface="맑은 고딕"/>
              </a:rPr>
              <a:t>사용 자격정보를 남겨</a:t>
            </a:r>
            <a:r>
              <a:rPr lang="en-US" altLang="ko-KR" sz="950" dirty="0">
                <a:solidFill>
                  <a:srgbClr val="333333"/>
                </a:solidFill>
                <a:ea typeface="맑은 고딕"/>
                <a:cs typeface="맑은 고딕"/>
              </a:rPr>
              <a:t>, </a:t>
            </a:r>
            <a:r>
              <a:rPr lang="ko-KR" altLang="en-US" sz="950" dirty="0">
                <a:solidFill>
                  <a:srgbClr val="333333"/>
                </a:solidFill>
                <a:ea typeface="맑은 고딕"/>
                <a:cs typeface="맑은 고딕"/>
              </a:rPr>
              <a:t>민원 </a:t>
            </a:r>
            <a:r>
              <a:rPr lang="en-US" altLang="ko-KR" sz="950" dirty="0">
                <a:solidFill>
                  <a:srgbClr val="333333"/>
                </a:solidFill>
                <a:ea typeface="맑은 고딕"/>
                <a:cs typeface="맑은 고딕"/>
              </a:rPr>
              <a:t>· </a:t>
            </a:r>
            <a:r>
              <a:rPr lang="ko-KR" altLang="en-US" sz="950" dirty="0">
                <a:solidFill>
                  <a:srgbClr val="333333"/>
                </a:solidFill>
                <a:ea typeface="맑은 고딕"/>
                <a:cs typeface="맑은 고딕"/>
              </a:rPr>
              <a:t>정산 대사 </a:t>
            </a:r>
            <a:r>
              <a:rPr lang="en-US" altLang="ko-KR" sz="950" dirty="0">
                <a:solidFill>
                  <a:srgbClr val="333333"/>
                </a:solidFill>
                <a:ea typeface="맑은 고딕"/>
                <a:cs typeface="맑은 고딕"/>
              </a:rPr>
              <a:t>· </a:t>
            </a:r>
            <a:r>
              <a:rPr lang="ko-KR" altLang="en-US" sz="950" dirty="0">
                <a:solidFill>
                  <a:srgbClr val="333333"/>
                </a:solidFill>
                <a:ea typeface="맑은 고딕"/>
                <a:cs typeface="맑은 고딕"/>
              </a:rPr>
              <a:t>감사에 바로 답할 수 있게 합니다</a:t>
            </a:r>
            <a:r>
              <a:rPr lang="en-US" altLang="ko-KR" sz="950" dirty="0">
                <a:solidFill>
                  <a:srgbClr val="333333"/>
                </a:solidFill>
                <a:ea typeface="맑은 고딕"/>
                <a:cs typeface="맑은 고딕"/>
              </a:rPr>
              <a:t>.</a:t>
            </a:r>
          </a:p>
        </p:txBody>
      </p:sp>
      <p:sp>
        <p:nvSpPr>
          <p:cNvPr id="23" name="Rectangle 46">
            <a:extLst>
              <a:ext uri="{FF2B5EF4-FFF2-40B4-BE49-F238E27FC236}">
                <a16:creationId xmlns:a16="http://schemas.microsoft.com/office/drawing/2014/main" id="{6595776F-74C0-64AB-B86E-2AF74F695C54}"/>
              </a:ext>
            </a:extLst>
          </p:cNvPr>
          <p:cNvSpPr/>
          <p:nvPr/>
        </p:nvSpPr>
        <p:spPr>
          <a:xfrm>
            <a:off x="316800" y="6052930"/>
            <a:ext cx="6260400" cy="851869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47">
            <a:extLst>
              <a:ext uri="{FF2B5EF4-FFF2-40B4-BE49-F238E27FC236}">
                <a16:creationId xmlns:a16="http://schemas.microsoft.com/office/drawing/2014/main" id="{C5902A5E-0259-BA65-BFE4-76A2C35EF409}"/>
              </a:ext>
            </a:extLst>
          </p:cNvPr>
          <p:cNvSpPr/>
          <p:nvPr/>
        </p:nvSpPr>
        <p:spPr>
          <a:xfrm>
            <a:off x="316800" y="6060131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en-US" sz="18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8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E32D5A-55F4-6E9C-7D6C-4231E8414592}"/>
              </a:ext>
            </a:extLst>
          </p:cNvPr>
          <p:cNvSpPr txBox="1"/>
          <p:nvPr/>
        </p:nvSpPr>
        <p:spPr>
          <a:xfrm>
            <a:off x="964799" y="6096131"/>
            <a:ext cx="55404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ea typeface="맑은 고딕"/>
                <a:cs typeface="맑은 고딕"/>
              </a:rPr>
              <a:t>내재화 우선 설계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B8F5ED3-06C9-7740-8C5E-A20802BBBA21}"/>
              </a:ext>
            </a:extLst>
          </p:cNvPr>
          <p:cNvSpPr txBox="1"/>
          <p:nvPr/>
        </p:nvSpPr>
        <p:spPr>
          <a:xfrm>
            <a:off x="964799" y="6340931"/>
            <a:ext cx="5540400" cy="349887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950" dirty="0">
                <a:solidFill>
                  <a:srgbClr val="333333"/>
                </a:solidFill>
                <a:ea typeface="맑은 고딕"/>
                <a:cs typeface="맑은 고딕"/>
              </a:rPr>
              <a:t>모델 </a:t>
            </a:r>
            <a:r>
              <a:rPr lang="en-US" altLang="ko-KR" sz="950" dirty="0">
                <a:solidFill>
                  <a:srgbClr val="333333"/>
                </a:solidFill>
                <a:ea typeface="맑은 고딕"/>
                <a:cs typeface="맑은 고딕"/>
              </a:rPr>
              <a:t>· Rule · </a:t>
            </a:r>
            <a:r>
              <a:rPr lang="ko-KR" altLang="en-US" sz="950" dirty="0">
                <a:solidFill>
                  <a:srgbClr val="333333"/>
                </a:solidFill>
                <a:ea typeface="맑은 고딕"/>
                <a:cs typeface="맑은 고딕"/>
              </a:rPr>
              <a:t>파이프라인을 컨테이너 </a:t>
            </a:r>
            <a:r>
              <a:rPr lang="en-US" altLang="ko-KR" sz="950" dirty="0">
                <a:solidFill>
                  <a:srgbClr val="333333"/>
                </a:solidFill>
                <a:ea typeface="맑은 고딕"/>
                <a:cs typeface="맑은 고딕"/>
              </a:rPr>
              <a:t>· </a:t>
            </a:r>
            <a:r>
              <a:rPr lang="ko-KR" altLang="en-US" sz="950" dirty="0">
                <a:solidFill>
                  <a:srgbClr val="333333"/>
                </a:solidFill>
                <a:ea typeface="맑은 고딕"/>
                <a:cs typeface="맑은 고딕"/>
              </a:rPr>
              <a:t>설정 기반으로 만들고 소스 </a:t>
            </a:r>
            <a:r>
              <a:rPr lang="en-US" altLang="ko-KR" sz="950" dirty="0">
                <a:solidFill>
                  <a:srgbClr val="333333"/>
                </a:solidFill>
                <a:ea typeface="맑은 고딕"/>
                <a:cs typeface="맑은 고딕"/>
              </a:rPr>
              <a:t>· </a:t>
            </a:r>
            <a:r>
              <a:rPr lang="ko-KR" altLang="en-US" sz="950" dirty="0">
                <a:solidFill>
                  <a:srgbClr val="333333"/>
                </a:solidFill>
                <a:ea typeface="맑은 고딕"/>
                <a:cs typeface="맑은 고딕"/>
              </a:rPr>
              <a:t>모델 구조 </a:t>
            </a:r>
            <a:r>
              <a:rPr lang="en-US" altLang="ko-KR" sz="950" dirty="0">
                <a:solidFill>
                  <a:srgbClr val="333333"/>
                </a:solidFill>
                <a:ea typeface="맑은 고딕"/>
                <a:cs typeface="맑은 고딕"/>
              </a:rPr>
              <a:t>· </a:t>
            </a:r>
            <a:r>
              <a:rPr lang="ko-KR" altLang="en-US" sz="950" dirty="0">
                <a:solidFill>
                  <a:srgbClr val="333333"/>
                </a:solidFill>
                <a:ea typeface="맑은 고딕"/>
                <a:cs typeface="맑은 고딕"/>
              </a:rPr>
              <a:t>매뉴얼을 넘겨</a:t>
            </a:r>
            <a:r>
              <a:rPr lang="en-US" altLang="ko-KR" sz="950" dirty="0">
                <a:solidFill>
                  <a:srgbClr val="333333"/>
                </a:solidFill>
                <a:ea typeface="맑은 고딕"/>
                <a:cs typeface="맑은 고딕"/>
              </a:rPr>
              <a:t>, </a:t>
            </a:r>
            <a:r>
              <a:rPr lang="ko-KR" altLang="en-US" sz="950" dirty="0">
                <a:solidFill>
                  <a:srgbClr val="333333"/>
                </a:solidFill>
                <a:ea typeface="맑은 고딕"/>
                <a:cs typeface="맑은 고딕"/>
              </a:rPr>
              <a:t>지자체 확산 시 </a:t>
            </a:r>
            <a:r>
              <a:rPr lang="en-US" altLang="ko-KR" sz="950" dirty="0">
                <a:solidFill>
                  <a:srgbClr val="333333"/>
                </a:solidFill>
                <a:ea typeface="맑은 고딕"/>
                <a:cs typeface="맑은 고딕"/>
              </a:rPr>
              <a:t>Rule</a:t>
            </a:r>
            <a:r>
              <a:rPr lang="ko-KR" altLang="en-US" sz="950" dirty="0">
                <a:solidFill>
                  <a:srgbClr val="333333"/>
                </a:solidFill>
                <a:ea typeface="맑은 고딕"/>
                <a:cs typeface="맑은 고딕"/>
              </a:rPr>
              <a:t>만 추가하면 되도록 합니다</a:t>
            </a:r>
            <a:r>
              <a:rPr lang="en-US" altLang="ko-KR" sz="950" dirty="0">
                <a:solidFill>
                  <a:srgbClr val="333333"/>
                </a:solidFill>
                <a:ea typeface="맑은 고딕"/>
                <a:cs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제안사 현황 및 수행역량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기업현황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연구개발 기반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유사 수행실적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기업현황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제안사 현황 및 수행역량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회사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(사용자 중심 디지털 서비스 전문기업) 2010년 설립 이후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UX 기획·디자인부터 플랫폼 개발·AI 구축·운영까지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수행해 온 S/W개발 및 디자인 전문기업임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0800" y="2358000"/>
            <a:ext cx="6332400" cy="728141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90000" rIns="90000" bIns="90000" rtlCol="0" anchor="ctr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"우리는 기술을 통해 창의적인 경험을 만들어갑니다. 사려 깊은 디자인과 사용자 중심의 접근 방식을 바탕으로, 사람과 제품, 디지털 서비스 간의 의미 있는 연결을 만드는 것이 우리의 목표입니다."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3208541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2400" y="3194141"/>
            <a:ext cx="6156000" cy="25199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일반현황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935743"/>
              </p:ext>
            </p:extLst>
          </p:nvPr>
        </p:nvGraphicFramePr>
        <p:xfrm>
          <a:off x="316800" y="3518141"/>
          <a:ext cx="6260400" cy="4065421"/>
        </p:xfrm>
        <a:graphic>
          <a:graphicData uri="http://schemas.openxmlformats.org/drawingml/2006/table">
            <a:tbl>
              <a:tblPr/>
              <a:tblGrid>
                <a:gridCol w="1330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0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(HNINE)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S/W개발 및 공급, 전문/종합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 성동구 뚝섬로1길 25, 1001호 ~ 1005호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연락처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TEL 02-521-0518 / FAX 02-567-0518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회사설립년도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해당부문 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 ~ 2026년 10월 (16년 7개월)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06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 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소프트웨어사업자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(1426 · 1468 · 1469 · 1470)</a:t>
                      </a:r>
                      <a:br>
                        <a:rPr lang="en-US"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직접생산확인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6종(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정보시스템개발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패키지SW개발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및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도입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정보인프라구축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정보시스템유지관리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빅데이터분석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SW유지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및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지원서비스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  <a:br>
                        <a:rPr lang="en-US"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endParaRPr lang="en-US" sz="11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02400" y="769719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2400" y="7682790"/>
            <a:ext cx="6156000" cy="25199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본 사업과 연결되는 핵심 역량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8006790"/>
            <a:ext cx="2026800" cy="757611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16800" y="800679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AI 예측 · 이상탐지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8265990"/>
            <a:ext cx="1954800" cy="422210"/>
          </a:xfrm>
          <a:prstGeom prst="rect">
            <a:avLst/>
          </a:prstGeom>
          <a:noFill/>
        </p:spPr>
        <p:txBody>
          <a:bodyPr wrap="square" lIns="18000" tIns="18000" r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Trading AI Agent —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시계열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이상탐지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자동화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· ML/DL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분석</a:t>
            </a:r>
            <a:endParaRPr sz="900" b="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433600" y="8006790"/>
            <a:ext cx="2026800" cy="757611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433600" y="800679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AI 운영 데이터 · 관제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9600" y="8265990"/>
            <a:ext cx="1954800" cy="422210"/>
          </a:xfrm>
          <a:prstGeom prst="rect">
            <a:avLst/>
          </a:prstGeom>
          <a:noFill/>
        </p:spPr>
        <p:txBody>
          <a:bodyPr wrap="square" lIns="18000" tIns="18000" r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SKHy — 용인 Y1 · M14 · M15X 제조 AI 운영 데이터 · 시스템 구축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0400" y="8006790"/>
            <a:ext cx="2026800" cy="757611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550400" y="800679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공공 플랫폼 운영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6400" y="8265990"/>
            <a:ext cx="1954800" cy="422210"/>
          </a:xfrm>
          <a:prstGeom prst="rect">
            <a:avLst/>
          </a:prstGeom>
          <a:noFill/>
        </p:spPr>
        <p:txBody>
          <a:bodyPr wrap="square" lIns="18000" tIns="18000" r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국립중앙박물관 교육 플랫폼 '모두' 구축 · 운영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AI 연구개발 기반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제안사 현황 및 수행역량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연구개발 조직 및 개발 인력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연구개발 조직 · 인력 · 인증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(연구소 + 개발 조직) 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기업부설연구소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(2025.09 인정)가 사용자 경험 · 인터랙션을 연구하고, 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서비스개발실 · </a:t>
            </a:r>
            <a:r>
              <a:rPr lang="ko-KR" altLang="en-US" sz="1200" b="1" dirty="0" err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DT개발실</a:t>
            </a:r>
            <a:r>
              <a:rPr lang="ko-KR" altLang="en-US" sz="1200" b="1" dirty="0" err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의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개발 인력 32명이 AI 서비스 · 플랫폼을 개발하며, 두 조직이 함께 본 사업을 수행함</a:t>
            </a:r>
            <a:r>
              <a:rPr lang="en-US" altLang="ko-KR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.</a:t>
            </a:r>
            <a:endParaRPr lang="ko-KR" altLang="en-US" sz="1200" b="1" dirty="0">
              <a:ln w="12700">
                <a:solidFill>
                  <a:schemeClr val="tx1">
                    <a:alpha val="0"/>
                  </a:schemeClr>
                </a:solidFill>
              </a:ln>
              <a:latin typeface="맑은 고딕" panose="00000800000000000000" pitchFamily="2" charset="-127"/>
              <a:ea typeface="맑은 고딕" panose="00000800000000000000" pitchFamily="2" charset="-127"/>
              <a:cs typeface="맑은 고딕" panose="00000800000000000000" pitchFamily="2" charset="-127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연구개발 조직 · 정책우대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연구개발 조직 현황 ([양식 2])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9" cy="1619997"/>
        </p:xfrm>
        <a:graphic>
          <a:graphicData uri="http://schemas.openxmlformats.org/drawingml/2006/table">
            <a:tbl>
              <a:tblPr/>
              <a:tblGrid>
                <a:gridCol w="1330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6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5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인정 · 등록번호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인정 · 등록일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발급기관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기업부설연구소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제2025112883호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2025.09.10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한국산업기술진흥협회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연구개발전담부서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전문연구사업자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4320000"/>
            <a:ext cx="63324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</a:t>
            </a:r>
            <a:r>
              <a:rPr sz="11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연구</a:t>
            </a:r>
            <a:r>
              <a:rPr lang="ko-KR" altLang="en-US" sz="11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소 및 </a:t>
            </a:r>
            <a:r>
              <a:rPr sz="11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개발</a:t>
            </a: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인력</a:t>
            </a: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682885"/>
              </p:ext>
            </p:extLst>
          </p:nvPr>
        </p:nvGraphicFramePr>
        <p:xfrm>
          <a:off x="316800" y="4554000"/>
          <a:ext cx="6260399" cy="1930824"/>
        </p:xfrm>
        <a:graphic>
          <a:graphicData uri="http://schemas.openxmlformats.org/drawingml/2006/table">
            <a:tbl>
              <a:tblPr/>
              <a:tblGrid>
                <a:gridCol w="1408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연구 · 개발 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6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기업부설연구소</a:t>
                      </a:r>
                      <a:endParaRPr sz="10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디자인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분야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경험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인터랙션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AI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  <a:r>
                        <a:rPr lang="en-US"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(*AI,SW</a:t>
                      </a:r>
                      <a:r>
                        <a:rPr lang="ko-KR" altLang="en-US"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개발인력이 아님</a:t>
                      </a:r>
                      <a:r>
                        <a:rPr lang="en-US"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  <a:endParaRPr sz="10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6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서비스개발실</a:t>
                      </a:r>
                      <a:endParaRPr sz="10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S/W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en-US"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API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6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DT개발실</a:t>
                      </a:r>
                      <a:endParaRPr sz="10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DT · AI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AI Agent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80800" y="6592824"/>
            <a:ext cx="63324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정책적 우대기업 및 기술역량 ([양식 4]) &gt;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163080"/>
              </p:ext>
            </p:extLst>
          </p:nvPr>
        </p:nvGraphicFramePr>
        <p:xfrm>
          <a:off x="316800" y="6826824"/>
          <a:ext cx="6260400" cy="1930824"/>
        </p:xfrm>
        <a:graphic>
          <a:graphicData uri="http://schemas.openxmlformats.org/drawingml/2006/table">
            <a:tbl>
              <a:tblPr/>
              <a:tblGrid>
                <a:gridCol w="2316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3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60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벤처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이노비즈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메인비즈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60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여성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청년대표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사회적경제기업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60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수도권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외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사업장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유사 수행실적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제안사 현황 및 수행역량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유사사업 수행실적 및 성과 ([양식 1])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AI 개발 · 공공 사업 수행실적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(AI 개발 + 공공 플랫폼) 민간 발주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개발 · 서비스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실적과 공공기관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플랫폼 구축 · 운영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실적을 보유하며(수행 중 사업 포함), 모든 실적은 계약서 · 실적증명서로 증빙함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유사 수행실적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703682"/>
              </p:ext>
            </p:extLst>
          </p:nvPr>
        </p:nvGraphicFramePr>
        <p:xfrm>
          <a:off x="316800" y="2358000"/>
          <a:ext cx="6260395" cy="4749903"/>
        </p:xfrm>
        <a:graphic>
          <a:graphicData uri="http://schemas.openxmlformats.org/drawingml/2006/table">
            <a:tbl>
              <a:tblPr/>
              <a:tblGrid>
                <a:gridCol w="558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3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7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77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5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72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77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계약금액(백만원)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7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서울아산병원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AI-IDP </a:t>
                      </a:r>
                      <a:b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통합데이터플랫폼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구축사업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2026.06.10~</a:t>
                      </a:r>
                      <a:b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2027.11.27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883.225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계약서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7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SK가스26년Trading AI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(PP)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2026.07.01~</a:t>
                      </a:r>
                      <a:b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2026.07.24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32.32462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실적증명서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b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7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용인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Y1(M17)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DT </a:t>
                      </a:r>
                      <a:b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Ph1_FAB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MOS_원가선투입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2026.05.01~</a:t>
                      </a:r>
                      <a:b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34.5516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실적증명서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b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7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및 ML/DL </a:t>
                      </a:r>
                      <a:b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분석_선투입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2026.04.08~</a:t>
                      </a:r>
                      <a:b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129.38538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실적증명서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b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7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M14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차세대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확산_FABMOS_원가선투입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2026.03.16~</a:t>
                      </a:r>
                      <a:b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32.8532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실적증명서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b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7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M15X Ph4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차세대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_FAB MOS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2026.03.01~</a:t>
                      </a:r>
                      <a:b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27.44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실적증명서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b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77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25년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모두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b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및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유지보수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</a:t>
                      </a:r>
                      <a:b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박물관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2025.07.01~</a:t>
                      </a:r>
                      <a:b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2025.12.31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86.2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실적증명서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b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77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[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모두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]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유지보수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</a:t>
                      </a:r>
                      <a:b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박물관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2024.07.18~</a:t>
                      </a:r>
                      <a:b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2025.01.14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실적증명서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br>
                        <a:rPr lang="en-US"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7215904"/>
            <a:ext cx="63324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수행실적 요약 (증빙 첨부 기준)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7449904"/>
          <a:ext cx="6260400" cy="1422000"/>
        </p:xfrm>
        <a:graphic>
          <a:graphicData uri="http://schemas.openxmlformats.org/drawingml/2006/table">
            <a:tbl>
              <a:tblPr/>
              <a:tblGrid>
                <a:gridCol w="195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실적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개발 · 서비스 수행실적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개발 6건 (수행 중 1건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국가R&amp;D · 공공 · 지자체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 교육 플랫폼 ‘모두’ 개선 · 유지보수 2건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사업 추진전략 및 수행방법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추진전략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개발방법론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요구사항 분석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 추진전략 및 수행방법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데이터 · 기준선 · 내재화 먼저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 수행전략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(6개월 안에 운영 가능한 AI) 착수 1개월에 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데이터 · 운영환경 진단과 성능 기준선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확정하고, 수요예측과 자동감면을 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2개 트랙으로 병행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개발해 5개월 차부터 실데이터로 검증함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일반사항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0800" y="5933563"/>
            <a:ext cx="63324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주요 위험과 대응 (RFP 일반사항) &gt;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301088"/>
              </p:ext>
            </p:extLst>
          </p:nvPr>
        </p:nvGraphicFramePr>
        <p:xfrm>
          <a:off x="316800" y="6167563"/>
          <a:ext cx="6260400" cy="2912096"/>
        </p:xfrm>
        <a:graphic>
          <a:graphicData uri="http://schemas.openxmlformats.org/drawingml/2006/table">
            <a:tbl>
              <a:tblPr/>
              <a:tblGrid>
                <a:gridCol w="1475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4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0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부족</a:t>
                      </a:r>
                      <a:endParaRPr sz="95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결측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보간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이상치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제거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유사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주차장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군집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변수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요일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공휴일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기상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행사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미달</a:t>
                      </a:r>
                      <a:endParaRPr sz="95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기준선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대비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개선율로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불확실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구간은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보류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측)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</a:t>
                      </a:r>
                      <a:endParaRPr sz="95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0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  <a:endParaRPr sz="95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가명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ID ·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최소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마이데이터는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동의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결과값만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보관</a:t>
                      </a:r>
                      <a:endParaRPr sz="95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연계 · 일정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M1에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규격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Mock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API로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선개발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월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마일스톤</a:t>
                      </a:r>
                      <a:endParaRPr sz="95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" name="Rectangle 4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92F83DFA-920F-36AA-A75C-8641DD3269B9}"/>
              </a:ext>
            </a:extLst>
          </p:cNvPr>
          <p:cNvSpPr/>
          <p:nvPr/>
        </p:nvSpPr>
        <p:spPr>
          <a:xfrm>
            <a:off x="316800" y="2333015"/>
            <a:ext cx="6260400" cy="851869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47">
            <a:extLst>
              <a:ext uri="{FF2B5EF4-FFF2-40B4-BE49-F238E27FC236}">
                <a16:creationId xmlns:a16="http://schemas.microsoft.com/office/drawing/2014/main" id="{24DD9AAB-8EBE-BB38-CA4F-23A8CBBBB8E2}"/>
              </a:ext>
            </a:extLst>
          </p:cNvPr>
          <p:cNvSpPr/>
          <p:nvPr/>
        </p:nvSpPr>
        <p:spPr>
          <a:xfrm>
            <a:off x="316800" y="2340216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5FEE5E-6E75-2A04-EDD9-2FCF980F228D}"/>
              </a:ext>
            </a:extLst>
          </p:cNvPr>
          <p:cNvSpPr txBox="1"/>
          <p:nvPr/>
        </p:nvSpPr>
        <p:spPr>
          <a:xfrm>
            <a:off x="964799" y="2376216"/>
            <a:ext cx="55404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ea typeface="맑은 고딕"/>
                <a:cs typeface="맑은 고딕"/>
              </a:rPr>
              <a:t>데이터 먼저 </a:t>
            </a:r>
            <a:r>
              <a:rPr lang="en-US" altLang="ko-KR" sz="1200" b="1" dirty="0">
                <a:solidFill>
                  <a:srgbClr val="000000"/>
                </a:solidFill>
                <a:ea typeface="맑은 고딕"/>
                <a:cs typeface="맑은 고딕"/>
              </a:rPr>
              <a:t>(M1)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737486-5B2D-E324-1970-AFEA670F071A}"/>
              </a:ext>
            </a:extLst>
          </p:cNvPr>
          <p:cNvSpPr txBox="1"/>
          <p:nvPr/>
        </p:nvSpPr>
        <p:spPr>
          <a:xfrm>
            <a:off x="964799" y="2657592"/>
            <a:ext cx="5540400" cy="349887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dirty="0">
                <a:solidFill>
                  <a:srgbClr val="333333"/>
                </a:solidFill>
                <a:ea typeface="맑은 고딕"/>
                <a:cs typeface="맑은 고딕"/>
              </a:rPr>
              <a:t>탄력주차 입 </a:t>
            </a:r>
            <a:r>
              <a:rPr lang="en-US" altLang="ko-KR" sz="1000" dirty="0">
                <a:solidFill>
                  <a:srgbClr val="333333"/>
                </a:solidFill>
                <a:ea typeface="맑은 고딕"/>
                <a:cs typeface="맑은 고딕"/>
              </a:rPr>
              <a:t>· </a:t>
            </a:r>
            <a:r>
              <a:rPr lang="ko-KR" altLang="en-US" sz="1000" dirty="0" err="1">
                <a:solidFill>
                  <a:srgbClr val="333333"/>
                </a:solidFill>
                <a:ea typeface="맑은 고딕"/>
                <a:cs typeface="맑은 고딕"/>
              </a:rPr>
              <a:t>출차</a:t>
            </a:r>
            <a:r>
              <a:rPr lang="ko-KR" altLang="en-US" sz="1000" dirty="0">
                <a:solidFill>
                  <a:srgbClr val="333333"/>
                </a:solidFill>
                <a:ea typeface="맑은 고딕"/>
                <a:cs typeface="맑은 고딕"/>
              </a:rPr>
              <a:t> </a:t>
            </a:r>
            <a:r>
              <a:rPr lang="en-US" altLang="ko-KR" sz="1000" dirty="0">
                <a:solidFill>
                  <a:srgbClr val="333333"/>
                </a:solidFill>
                <a:ea typeface="맑은 고딕"/>
                <a:cs typeface="맑은 고딕"/>
              </a:rPr>
              <a:t>· </a:t>
            </a:r>
            <a:r>
              <a:rPr lang="ko-KR" altLang="en-US" sz="1000" dirty="0">
                <a:solidFill>
                  <a:srgbClr val="333333"/>
                </a:solidFill>
                <a:ea typeface="맑은 고딕"/>
                <a:cs typeface="맑은 고딕"/>
              </a:rPr>
              <a:t>점유 이력의 기간 </a:t>
            </a:r>
            <a:r>
              <a:rPr lang="en-US" altLang="ko-KR" sz="1000" dirty="0">
                <a:solidFill>
                  <a:srgbClr val="333333"/>
                </a:solidFill>
                <a:ea typeface="맑은 고딕"/>
                <a:cs typeface="맑은 고딕"/>
              </a:rPr>
              <a:t>· </a:t>
            </a:r>
            <a:r>
              <a:rPr lang="ko-KR" altLang="en-US" sz="1000" dirty="0">
                <a:solidFill>
                  <a:srgbClr val="333333"/>
                </a:solidFill>
                <a:ea typeface="맑은 고딕"/>
                <a:cs typeface="맑은 고딕"/>
              </a:rPr>
              <a:t>결측 </a:t>
            </a:r>
            <a:r>
              <a:rPr lang="en-US" altLang="ko-KR" sz="1000" dirty="0">
                <a:solidFill>
                  <a:srgbClr val="333333"/>
                </a:solidFill>
                <a:ea typeface="맑은 고딕"/>
                <a:cs typeface="맑은 고딕"/>
              </a:rPr>
              <a:t>· </a:t>
            </a:r>
            <a:r>
              <a:rPr lang="ko-KR" altLang="en-US" sz="1000" dirty="0">
                <a:solidFill>
                  <a:srgbClr val="333333"/>
                </a:solidFill>
                <a:ea typeface="맑은 고딕"/>
                <a:cs typeface="맑은 고딕"/>
              </a:rPr>
              <a:t>주기를 진단하고 학습 가능 범위를 확정합니다</a:t>
            </a:r>
            <a:r>
              <a:rPr lang="en-US" altLang="ko-KR" sz="1000" dirty="0">
                <a:solidFill>
                  <a:srgbClr val="333333"/>
                </a:solidFill>
                <a:ea typeface="맑은 고딕"/>
                <a:cs typeface="맑은 고딕"/>
              </a:rPr>
              <a:t>. </a:t>
            </a:r>
            <a:r>
              <a:rPr lang="ko-KR" altLang="en-US" sz="1000" dirty="0">
                <a:solidFill>
                  <a:srgbClr val="333333"/>
                </a:solidFill>
                <a:ea typeface="맑은 고딕"/>
                <a:cs typeface="맑은 고딕"/>
              </a:rPr>
              <a:t>이력이 짧은 주차장은 유사 주차장 군집 모델로 보완합니다</a:t>
            </a:r>
            <a:r>
              <a:rPr lang="en-US" altLang="ko-KR" sz="1000" dirty="0">
                <a:solidFill>
                  <a:srgbClr val="333333"/>
                </a:solidFill>
                <a:ea typeface="맑은 고딕"/>
                <a:cs typeface="맑은 고딕"/>
              </a:rPr>
              <a:t>.</a:t>
            </a:r>
          </a:p>
        </p:txBody>
      </p:sp>
      <p:sp>
        <p:nvSpPr>
          <p:cNvPr id="15" name="Rectangle 46">
            <a:extLst>
              <a:ext uri="{FF2B5EF4-FFF2-40B4-BE49-F238E27FC236}">
                <a16:creationId xmlns:a16="http://schemas.microsoft.com/office/drawing/2014/main" id="{84AD6BE7-09BE-FEA0-8244-3D392120CC2A}"/>
              </a:ext>
            </a:extLst>
          </p:cNvPr>
          <p:cNvSpPr/>
          <p:nvPr/>
        </p:nvSpPr>
        <p:spPr>
          <a:xfrm>
            <a:off x="316800" y="3229325"/>
            <a:ext cx="6260400" cy="851869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47">
            <a:extLst>
              <a:ext uri="{FF2B5EF4-FFF2-40B4-BE49-F238E27FC236}">
                <a16:creationId xmlns:a16="http://schemas.microsoft.com/office/drawing/2014/main" id="{28CB28AC-548A-5E5B-85EB-0DDBE9CD261B}"/>
              </a:ext>
            </a:extLst>
          </p:cNvPr>
          <p:cNvSpPr/>
          <p:nvPr/>
        </p:nvSpPr>
        <p:spPr>
          <a:xfrm>
            <a:off x="316800" y="3236526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en-US" sz="18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8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5C06FA-27A4-5482-37E7-21AB4FD2F180}"/>
              </a:ext>
            </a:extLst>
          </p:cNvPr>
          <p:cNvSpPr txBox="1"/>
          <p:nvPr/>
        </p:nvSpPr>
        <p:spPr>
          <a:xfrm>
            <a:off x="964799" y="3272526"/>
            <a:ext cx="55404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ea typeface="맑은 고딕"/>
                <a:cs typeface="맑은 고딕"/>
              </a:rPr>
              <a:t>기준선 먼저 </a:t>
            </a:r>
            <a:r>
              <a:rPr lang="en-US" altLang="ko-KR" sz="1200" b="1" dirty="0">
                <a:solidFill>
                  <a:srgbClr val="000000"/>
                </a:solidFill>
                <a:ea typeface="맑은 고딕"/>
                <a:cs typeface="맑은 고딕"/>
              </a:rPr>
              <a:t>(M1)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47064E-B18D-0BFE-FCF9-91B9357DC8F7}"/>
              </a:ext>
            </a:extLst>
          </p:cNvPr>
          <p:cNvSpPr txBox="1"/>
          <p:nvPr/>
        </p:nvSpPr>
        <p:spPr>
          <a:xfrm>
            <a:off x="964799" y="3553902"/>
            <a:ext cx="5540400" cy="349887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dirty="0">
                <a:solidFill>
                  <a:srgbClr val="333333"/>
                </a:solidFill>
                <a:ea typeface="맑은 고딕"/>
                <a:cs typeface="맑은 고딕"/>
              </a:rPr>
              <a:t>‘전주 같은 요일 </a:t>
            </a:r>
            <a:r>
              <a:rPr lang="en-US" altLang="ko-KR" sz="1000" dirty="0">
                <a:solidFill>
                  <a:srgbClr val="333333"/>
                </a:solidFill>
                <a:ea typeface="맑은 고딕"/>
                <a:cs typeface="맑은 고딕"/>
              </a:rPr>
              <a:t>· </a:t>
            </a:r>
            <a:r>
              <a:rPr lang="ko-KR" altLang="en-US" sz="1000" dirty="0">
                <a:solidFill>
                  <a:srgbClr val="333333"/>
                </a:solidFill>
                <a:ea typeface="맑은 고딕"/>
                <a:cs typeface="맑은 고딕"/>
              </a:rPr>
              <a:t>시간’ 같은 단순 예측과 현행 수작업 감면 결과를 기준선으로 두고</a:t>
            </a:r>
            <a:r>
              <a:rPr lang="en-US" altLang="ko-KR" sz="1000" dirty="0">
                <a:solidFill>
                  <a:srgbClr val="333333"/>
                </a:solidFill>
                <a:ea typeface="맑은 고딕"/>
                <a:cs typeface="맑은 고딕"/>
              </a:rPr>
              <a:t>, AI</a:t>
            </a:r>
            <a:r>
              <a:rPr lang="ko-KR" altLang="en-US" sz="1000" dirty="0">
                <a:solidFill>
                  <a:srgbClr val="333333"/>
                </a:solidFill>
                <a:ea typeface="맑은 고딕"/>
                <a:cs typeface="맑은 고딕"/>
              </a:rPr>
              <a:t>가 이를 얼마나 </a:t>
            </a:r>
            <a:r>
              <a:rPr lang="ko-KR" altLang="en-US" sz="1000" dirty="0" err="1">
                <a:solidFill>
                  <a:srgbClr val="333333"/>
                </a:solidFill>
                <a:ea typeface="맑은 고딕"/>
                <a:cs typeface="맑은 고딕"/>
              </a:rPr>
              <a:t>개선하는지로</a:t>
            </a:r>
            <a:r>
              <a:rPr lang="ko-KR" altLang="en-US" sz="1000" dirty="0">
                <a:solidFill>
                  <a:srgbClr val="333333"/>
                </a:solidFill>
                <a:ea typeface="맑은 고딕"/>
                <a:cs typeface="맑은 고딕"/>
              </a:rPr>
              <a:t> 성과를 판정합니다</a:t>
            </a:r>
            <a:r>
              <a:rPr lang="en-US" altLang="ko-KR" sz="1000" dirty="0">
                <a:solidFill>
                  <a:srgbClr val="333333"/>
                </a:solidFill>
                <a:ea typeface="맑은 고딕"/>
                <a:cs typeface="맑은 고딕"/>
              </a:rPr>
              <a:t>.</a:t>
            </a:r>
          </a:p>
        </p:txBody>
      </p:sp>
      <p:sp>
        <p:nvSpPr>
          <p:cNvPr id="23" name="Rectangle 46">
            <a:extLst>
              <a:ext uri="{FF2B5EF4-FFF2-40B4-BE49-F238E27FC236}">
                <a16:creationId xmlns:a16="http://schemas.microsoft.com/office/drawing/2014/main" id="{9C284D40-C920-148B-97AF-97461E066783}"/>
              </a:ext>
            </a:extLst>
          </p:cNvPr>
          <p:cNvSpPr/>
          <p:nvPr/>
        </p:nvSpPr>
        <p:spPr>
          <a:xfrm>
            <a:off x="316800" y="4130854"/>
            <a:ext cx="6260400" cy="851869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47">
            <a:extLst>
              <a:ext uri="{FF2B5EF4-FFF2-40B4-BE49-F238E27FC236}">
                <a16:creationId xmlns:a16="http://schemas.microsoft.com/office/drawing/2014/main" id="{55C59083-5C9D-73F8-5DC9-5FFF51178DBB}"/>
              </a:ext>
            </a:extLst>
          </p:cNvPr>
          <p:cNvSpPr/>
          <p:nvPr/>
        </p:nvSpPr>
        <p:spPr>
          <a:xfrm>
            <a:off x="316800" y="4138055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en-US" sz="18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8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7491BD-BBB3-E222-C6CC-6AA2FBC1C932}"/>
              </a:ext>
            </a:extLst>
          </p:cNvPr>
          <p:cNvSpPr txBox="1"/>
          <p:nvPr/>
        </p:nvSpPr>
        <p:spPr>
          <a:xfrm>
            <a:off x="964799" y="4174055"/>
            <a:ext cx="55404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altLang="ko-KR" sz="1200" b="1" dirty="0">
                <a:solidFill>
                  <a:srgbClr val="000000"/>
                </a:solidFill>
                <a:ea typeface="맑은 고딕"/>
                <a:cs typeface="맑은 고딕"/>
              </a:rPr>
              <a:t>2</a:t>
            </a:r>
            <a:r>
              <a:rPr lang="ko-KR" altLang="en-US" sz="1200" b="1" dirty="0">
                <a:solidFill>
                  <a:srgbClr val="000000"/>
                </a:solidFill>
                <a:ea typeface="맑은 고딕"/>
                <a:cs typeface="맑은 고딕"/>
              </a:rPr>
              <a:t>트랙 병행 </a:t>
            </a:r>
            <a:r>
              <a:rPr lang="en-US" altLang="ko-KR" sz="1200" b="1" dirty="0">
                <a:solidFill>
                  <a:srgbClr val="000000"/>
                </a:solidFill>
                <a:ea typeface="맑은 고딕"/>
                <a:cs typeface="맑은 고딕"/>
              </a:rPr>
              <a:t>(M2~M5)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0382A0-1979-53B3-0066-0F85E2A742DF}"/>
              </a:ext>
            </a:extLst>
          </p:cNvPr>
          <p:cNvSpPr txBox="1"/>
          <p:nvPr/>
        </p:nvSpPr>
        <p:spPr>
          <a:xfrm>
            <a:off x="964799" y="4455431"/>
            <a:ext cx="5540400" cy="349887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dirty="0">
                <a:solidFill>
                  <a:srgbClr val="333333"/>
                </a:solidFill>
                <a:ea typeface="맑은 고딕"/>
                <a:cs typeface="맑은 고딕"/>
              </a:rPr>
              <a:t>수요예측 </a:t>
            </a:r>
            <a:r>
              <a:rPr lang="en-US" altLang="ko-KR" sz="1000" dirty="0">
                <a:solidFill>
                  <a:srgbClr val="333333"/>
                </a:solidFill>
                <a:ea typeface="맑은 고딕"/>
                <a:cs typeface="맑은 고딕"/>
              </a:rPr>
              <a:t>· </a:t>
            </a:r>
            <a:r>
              <a:rPr lang="ko-KR" altLang="en-US" sz="1000" dirty="0">
                <a:solidFill>
                  <a:srgbClr val="333333"/>
                </a:solidFill>
                <a:ea typeface="맑은 고딕"/>
                <a:cs typeface="맑은 고딕"/>
              </a:rPr>
              <a:t>최적화 트랙과 자동감면 트랙을 별도 팀으로 동시에 진행하고</a:t>
            </a:r>
            <a:r>
              <a:rPr lang="en-US" altLang="ko-KR" sz="1000" dirty="0">
                <a:solidFill>
                  <a:srgbClr val="333333"/>
                </a:solidFill>
                <a:ea typeface="맑은 고딕"/>
                <a:cs typeface="맑은 고딕"/>
              </a:rPr>
              <a:t>, </a:t>
            </a:r>
            <a:r>
              <a:rPr lang="ko-KR" altLang="en-US" sz="1000" dirty="0">
                <a:solidFill>
                  <a:srgbClr val="333333"/>
                </a:solidFill>
                <a:ea typeface="맑은 고딕"/>
                <a:cs typeface="맑은 고딕"/>
              </a:rPr>
              <a:t>공통 데이터 </a:t>
            </a:r>
            <a:r>
              <a:rPr lang="en-US" altLang="ko-KR" sz="1000" dirty="0">
                <a:solidFill>
                  <a:srgbClr val="333333"/>
                </a:solidFill>
                <a:ea typeface="맑은 고딕"/>
                <a:cs typeface="맑은 고딕"/>
              </a:rPr>
              <a:t>· API </a:t>
            </a:r>
            <a:r>
              <a:rPr lang="ko-KR" altLang="en-US" sz="1000" dirty="0">
                <a:solidFill>
                  <a:srgbClr val="333333"/>
                </a:solidFill>
                <a:ea typeface="맑은 고딕"/>
                <a:cs typeface="맑은 고딕"/>
              </a:rPr>
              <a:t>계층만 함께 씁니다</a:t>
            </a:r>
            <a:r>
              <a:rPr lang="en-US" altLang="ko-KR" sz="1000" dirty="0">
                <a:solidFill>
                  <a:srgbClr val="333333"/>
                </a:solidFill>
                <a:ea typeface="맑은 고딕"/>
                <a:cs typeface="맑은 고딕"/>
              </a:rPr>
              <a:t>.</a:t>
            </a:r>
          </a:p>
        </p:txBody>
      </p:sp>
      <p:sp>
        <p:nvSpPr>
          <p:cNvPr id="53" name="Rectangle 46">
            <a:extLst>
              <a:ext uri="{FF2B5EF4-FFF2-40B4-BE49-F238E27FC236}">
                <a16:creationId xmlns:a16="http://schemas.microsoft.com/office/drawing/2014/main" id="{A347E436-E6AB-2362-B281-AEED20E7B539}"/>
              </a:ext>
            </a:extLst>
          </p:cNvPr>
          <p:cNvSpPr/>
          <p:nvPr/>
        </p:nvSpPr>
        <p:spPr>
          <a:xfrm>
            <a:off x="316800" y="5037946"/>
            <a:ext cx="6260400" cy="851869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47">
            <a:extLst>
              <a:ext uri="{FF2B5EF4-FFF2-40B4-BE49-F238E27FC236}">
                <a16:creationId xmlns:a16="http://schemas.microsoft.com/office/drawing/2014/main" id="{7374ECE4-36BA-2565-0044-EA272F87EC1B}"/>
              </a:ext>
            </a:extLst>
          </p:cNvPr>
          <p:cNvSpPr/>
          <p:nvPr/>
        </p:nvSpPr>
        <p:spPr>
          <a:xfrm>
            <a:off x="316800" y="5045147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en-US" sz="18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8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D288446-6526-D7ED-1156-241CF8A920A8}"/>
              </a:ext>
            </a:extLst>
          </p:cNvPr>
          <p:cNvSpPr txBox="1"/>
          <p:nvPr/>
        </p:nvSpPr>
        <p:spPr>
          <a:xfrm>
            <a:off x="964799" y="5081147"/>
            <a:ext cx="55404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ea typeface="맑은 고딕"/>
                <a:cs typeface="맑은 고딕"/>
              </a:rPr>
              <a:t>내재화 먼저 </a:t>
            </a:r>
            <a:r>
              <a:rPr lang="en-US" altLang="ko-KR" sz="1200" b="1" dirty="0">
                <a:solidFill>
                  <a:srgbClr val="000000"/>
                </a:solidFill>
                <a:ea typeface="맑은 고딕"/>
                <a:cs typeface="맑은 고딕"/>
              </a:rPr>
              <a:t>(</a:t>
            </a:r>
            <a:r>
              <a:rPr lang="ko-KR" altLang="en-US" sz="1200" b="1" dirty="0">
                <a:solidFill>
                  <a:srgbClr val="000000"/>
                </a:solidFill>
                <a:ea typeface="맑은 고딕"/>
                <a:cs typeface="맑은 고딕"/>
              </a:rPr>
              <a:t>전 기간</a:t>
            </a:r>
            <a:r>
              <a:rPr lang="en-US" altLang="ko-KR" sz="1200" b="1" dirty="0">
                <a:solidFill>
                  <a:srgbClr val="000000"/>
                </a:solidFill>
                <a:ea typeface="맑은 고딕"/>
                <a:cs typeface="맑은 고딕"/>
              </a:rPr>
              <a:t>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DABD6F-AC9A-0E4A-F73E-7A113AA6063D}"/>
              </a:ext>
            </a:extLst>
          </p:cNvPr>
          <p:cNvSpPr txBox="1"/>
          <p:nvPr/>
        </p:nvSpPr>
        <p:spPr>
          <a:xfrm>
            <a:off x="964799" y="5362523"/>
            <a:ext cx="5540400" cy="349887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dirty="0">
                <a:solidFill>
                  <a:srgbClr val="333333"/>
                </a:solidFill>
                <a:ea typeface="맑은 고딕"/>
                <a:cs typeface="맑은 고딕"/>
              </a:rPr>
              <a:t>모델 학습 </a:t>
            </a:r>
            <a:r>
              <a:rPr lang="en-US" altLang="ko-KR" sz="1000" dirty="0">
                <a:solidFill>
                  <a:srgbClr val="333333"/>
                </a:solidFill>
                <a:ea typeface="맑은 고딕"/>
                <a:cs typeface="맑은 고딕"/>
              </a:rPr>
              <a:t>· </a:t>
            </a:r>
            <a:r>
              <a:rPr lang="ko-KR" altLang="en-US" sz="1000" dirty="0">
                <a:solidFill>
                  <a:srgbClr val="333333"/>
                </a:solidFill>
                <a:ea typeface="맑은 고딕"/>
                <a:cs typeface="맑은 고딕"/>
              </a:rPr>
              <a:t>배포 </a:t>
            </a:r>
            <a:r>
              <a:rPr lang="en-US" altLang="ko-KR" sz="1000" dirty="0">
                <a:solidFill>
                  <a:srgbClr val="333333"/>
                </a:solidFill>
                <a:ea typeface="맑은 고딕"/>
                <a:cs typeface="맑은 고딕"/>
              </a:rPr>
              <a:t>· Rule </a:t>
            </a:r>
            <a:r>
              <a:rPr lang="ko-KR" altLang="en-US" sz="1000" dirty="0">
                <a:solidFill>
                  <a:srgbClr val="333333"/>
                </a:solidFill>
                <a:ea typeface="맑은 고딕"/>
                <a:cs typeface="맑은 고딕"/>
              </a:rPr>
              <a:t>반영을 발주기관 인력이 직접 실행하는 절차로 만들고</a:t>
            </a:r>
            <a:r>
              <a:rPr lang="en-US" altLang="ko-KR" sz="1000" dirty="0">
                <a:solidFill>
                  <a:srgbClr val="333333"/>
                </a:solidFill>
                <a:ea typeface="맑은 고딕"/>
                <a:cs typeface="맑은 고딕"/>
              </a:rPr>
              <a:t>, </a:t>
            </a:r>
            <a:r>
              <a:rPr lang="ko-KR" altLang="en-US" sz="1000" dirty="0">
                <a:solidFill>
                  <a:srgbClr val="333333"/>
                </a:solidFill>
                <a:ea typeface="맑은 고딕"/>
                <a:cs typeface="맑은 고딕"/>
              </a:rPr>
              <a:t>매월 기술 공유 세션으로 넘깁니다</a:t>
            </a:r>
            <a:r>
              <a:rPr lang="en-US" altLang="ko-KR" sz="1000" dirty="0">
                <a:solidFill>
                  <a:srgbClr val="333333"/>
                </a:solidFill>
                <a:ea typeface="맑은 고딕"/>
                <a:cs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개발방법론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 추진전략 및 수행방법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CRISP-DM + MLOps 반복형 개발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AI 개발방법론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데이터 이해 → 준비 → 모델링 → 평가 → 배포의 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CRISP-DM 단계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4주 반복으로 돌리고, 모델 · 데이터 · </a:t>
            </a:r>
            <a:r>
              <a:rPr lang="ko-KR" altLang="en-US" sz="1200" b="1" dirty="0" err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Rule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버전을 </a:t>
            </a:r>
            <a:r>
              <a:rPr lang="ko-KR" altLang="en-US" sz="1200" b="1" dirty="0" err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MLOps로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관리해 </a:t>
            </a:r>
            <a:r>
              <a:rPr lang="ko-KR" altLang="en-US" sz="1200" b="1" dirty="0" err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재학습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· 롤백이 가능하게 함</a:t>
            </a:r>
            <a:r>
              <a:rPr lang="en-US" altLang="ko-KR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.</a:t>
            </a:r>
            <a:endParaRPr lang="ko-KR" altLang="en-US" sz="1200" b="1" dirty="0">
              <a:ln w="12700">
                <a:solidFill>
                  <a:schemeClr val="tx1">
                    <a:alpha val="0"/>
                  </a:schemeClr>
                </a:solidFill>
              </a:ln>
              <a:latin typeface="맑은 고딕" panose="00000800000000000000" pitchFamily="2" charset="-127"/>
              <a:ea typeface="맑은 고딕" panose="00000800000000000000" pitchFamily="2" charset="-127"/>
              <a:cs typeface="맑은 고딕" panose="00000800000000000000" pitchFamily="2" charset="-127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일반사항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업무 이해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탄력주차 운영 · 감면 업무 인터뷰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성과 지표 · 기준선 합의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입 · 출차 · 점유 · 요금 · 감면 이력 진단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피처 저장소 구성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M1~M2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모델링 (반복)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4주 단위 실험 · 평가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기준선 대비 개선 확인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M2~M5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배포 · 검증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API 배포 · Shadow 모드 운영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실데이터 성능 검증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M5~M6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5310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34800" y="5310000"/>
            <a:ext cx="864000" cy="66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내재화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4800" y="5382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324800" y="541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재학습 파이프라인 · 매뉴얼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46999" y="541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기술이전 교육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69200" y="5310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M6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572358"/>
              </p:ext>
            </p:extLst>
          </p:nvPr>
        </p:nvGraphicFramePr>
        <p:xfrm>
          <a:off x="316800" y="6102000"/>
          <a:ext cx="6260400" cy="2576656"/>
        </p:xfrm>
        <a:graphic>
          <a:graphicData uri="http://schemas.openxmlformats.org/drawingml/2006/table">
            <a:tbl>
              <a:tblPr/>
              <a:tblGrid>
                <a:gridCol w="1330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7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MLOps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기술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효과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</a:t>
                      </a:r>
                      <a:r>
                        <a:rPr sz="10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</a:t>
                      </a:r>
                      <a:endParaRPr sz="10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MLflow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파라미터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선택 근거 추적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10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피처</a:t>
                      </a:r>
                      <a:endParaRPr sz="10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피처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코드화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(DVC)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재현성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3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컨테이너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REST API · Shadow → Canary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전환</a:t>
                      </a:r>
                      <a:endParaRPr sz="10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무중단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반영</a:t>
                      </a:r>
                      <a:endParaRPr sz="10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3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오차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드리프트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감시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재학습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</a:t>
                      </a:r>
                      <a:endParaRPr sz="10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저하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조기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</a:t>
                      </a:r>
                      <a:endParaRPr sz="10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280800" y="8750656"/>
            <a:ext cx="63324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Shadow 모드: AI 결과를 운영에 반영하지 않고 실제 결과와 나란히 기록 · 비교하는 단계 — 검증 후 발주기관 승인 시 운영 반영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요구사항 분석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 추진전략 및 수행방법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과업 · 기능 · 산출물 추적표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과업 요구사항 분석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RFP 수행내용 2개 영역 · 12개 세부 과업을 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기능 </a:t>
            </a:r>
            <a:r>
              <a:rPr lang="ko-KR" altLang="en-US" sz="1200" b="1" dirty="0" err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ID로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분해</a:t>
            </a:r>
            <a:r>
              <a:rPr lang="ko-KR" altLang="en-US" sz="1200" b="1" dirty="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 개발 · 검증 · 산출물까지 하나의 추적표로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수행내용 가 · 나 · 다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726807"/>
              </p:ext>
            </p:extLst>
          </p:nvPr>
        </p:nvGraphicFramePr>
        <p:xfrm>
          <a:off x="316800" y="2358000"/>
          <a:ext cx="6260398" cy="5487124"/>
        </p:xfrm>
        <a:graphic>
          <a:graphicData uri="http://schemas.openxmlformats.org/drawingml/2006/table">
            <a:tbl>
              <a:tblPr/>
              <a:tblGrid>
                <a:gridCol w="117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ID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99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가.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운영상태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가능시간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공급여부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DF-01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공급량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조정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최적화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DF-02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999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가.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거주자공유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주차장별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시간대별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점유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DF-03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99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복귀패턴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공유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가능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시간대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DF-04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가. 동적 요금제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수요 · 점유 기반 요금 산정 · 탄력요금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DF-05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567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나.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조례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파싱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지자체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조례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율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예외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추출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AR-01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3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감면조건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구조화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Rule DB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AR-02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399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조례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감면기준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Rule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AR-03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3999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나.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이용자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자격정보와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Rule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마이데이터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AR-04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3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감면항목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자동판단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복수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우선순위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조합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AR-05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399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감면결과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정산금액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예외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AR-06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845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다.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설계서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AI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DB · API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규격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7953134"/>
            <a:ext cx="1165680" cy="69709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795313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 분해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8286854"/>
            <a:ext cx="1093680" cy="293267"/>
          </a:xfrm>
          <a:prstGeom prst="rect">
            <a:avLst/>
          </a:prstGeom>
          <a:noFill/>
        </p:spPr>
        <p:txBody>
          <a:bodyPr wrap="square" lIns="18000" tIns="18000" rIns="18000" bIns="1800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12개 </a:t>
            </a:r>
            <a:r>
              <a:rPr sz="1050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세부</a:t>
            </a:r>
            <a:r>
              <a:rPr sz="105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</a:t>
            </a:r>
            <a:endParaRPr sz="1050" b="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832292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590480" y="7953134"/>
            <a:ext cx="1165680" cy="69709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795313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기능 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8286854"/>
            <a:ext cx="1093680" cy="293267"/>
          </a:xfrm>
          <a:prstGeom prst="rect">
            <a:avLst/>
          </a:prstGeom>
          <a:noFill/>
        </p:spPr>
        <p:txBody>
          <a:bodyPr wrap="square" lIns="18000" tIns="18000" rIns="18000" bIns="1800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DF · AR 체계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832292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864160" y="7953134"/>
            <a:ext cx="1165680" cy="69709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795313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 · 개발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8286854"/>
            <a:ext cx="1093680" cy="293267"/>
          </a:xfrm>
          <a:prstGeom prst="rect">
            <a:avLst/>
          </a:prstGeom>
          <a:noFill/>
        </p:spPr>
        <p:txBody>
          <a:bodyPr wrap="square" lIns="18000" tIns="18000" rIns="18000" bIns="1800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기능별 담당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832292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137840" y="7953134"/>
            <a:ext cx="1165680" cy="69709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795313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8286854"/>
            <a:ext cx="1093680" cy="293267"/>
          </a:xfrm>
          <a:prstGeom prst="rect">
            <a:avLst/>
          </a:prstGeom>
          <a:noFill/>
        </p:spPr>
        <p:txBody>
          <a:bodyPr wrap="square" lIns="18000" tIns="18000" rIns="18000" bIns="1800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기능별 시험 항목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832292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5411520" y="7953134"/>
            <a:ext cx="1165680" cy="69709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795313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산출물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8286854"/>
            <a:ext cx="1093680" cy="293267"/>
          </a:xfrm>
          <a:prstGeom prst="rect">
            <a:avLst/>
          </a:prstGeom>
          <a:noFill/>
        </p:spPr>
        <p:txBody>
          <a:bodyPr wrap="square" lIns="18000" tIns="18000" rIns="18000" bIns="1800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추적표</a:t>
            </a:r>
            <a:r>
              <a:rPr sz="105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완료</a:t>
            </a:r>
            <a:endParaRPr sz="1050" b="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요구사항 분석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 추진전략 및 수행방법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3.2.1 데이터 요건 · 착수 시 확정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데이터 · 운영환경 분석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(불명확한 조건은 M1에 확정) 데이터 규모 · 제공 시점 · 연계 방식 · 성능 기준은 선정 후 협의 사항이므로, 아래 전제로 제안하고 착수 2주 안에 발주기관과 합의해 그 결과로 모델 범위를 정함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/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일반사항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212517"/>
              </p:ext>
            </p:extLst>
          </p:nvPr>
        </p:nvGraphicFramePr>
        <p:xfrm>
          <a:off x="316800" y="2358000"/>
          <a:ext cx="6260399" cy="3153984"/>
        </p:xfrm>
        <a:graphic>
          <a:graphicData uri="http://schemas.openxmlformats.org/drawingml/2006/table">
            <a:tbl>
              <a:tblPr/>
              <a:tblGrid>
                <a:gridCol w="117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3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3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0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최소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3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 · 출차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주차장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면 ·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입차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출차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시각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가명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ID ·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</a:t>
                      </a:r>
                      <a:endParaRPr sz="105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 · 복귀 예측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12개월↑ 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3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점유 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면별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점유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센서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정산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시각</a:t>
                      </a:r>
                      <a:endParaRPr sz="105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점유율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  <a:endParaRPr sz="105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5분 </a:t>
                      </a:r>
                      <a:r>
                        <a:rPr sz="1050" b="1" dirty="0" err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</a:t>
                      </a:r>
                      <a:endParaRPr sz="1050" b="1" dirty="0">
                        <a:solidFill>
                          <a:srgbClr val="E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 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배정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면 ·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시간대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가명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공유 가능 시간대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 err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배정</a:t>
                      </a:r>
                      <a:r>
                        <a:rPr sz="105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1" dirty="0" err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</a:t>
                      </a:r>
                      <a:endParaRPr sz="1050" b="1" dirty="0">
                        <a:solidFill>
                          <a:srgbClr val="E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요금 · 정산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요금표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결제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</a:t>
                      </a:r>
                      <a:endParaRPr sz="105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동적 요금 · 감면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6개월↑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3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공휴일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기상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주변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행사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시설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</a:t>
                      </a:r>
                      <a:endParaRPr sz="105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정확도 향상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5619985"/>
            <a:ext cx="63324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제안 전제조건 (질의회신 10.16 · 10.26 반영, 선정 후 협의 확정)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5853985"/>
          <a:ext cx="6260400" cy="3245312"/>
        </p:xfrm>
        <a:graphic>
          <a:graphicData uri="http://schemas.openxmlformats.org/drawingml/2006/table">
            <a:tbl>
              <a:tblPr/>
              <a:tblGrid>
                <a:gridCol w="1408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1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전제 (가정)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3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지자체 3~4곳 · 주차장 15곳 이상, 조례 파싱은 적용 지자체(최대 4곳)의 주차장 감면 조례 · 규칙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3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수준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공급은 산정 · 운영자 추천, 요금은 산정 · 시뮬레이션, 감면은 판단 · 정산금액 산출까지 — 플랫폼 반영은 연계 API 제공 시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3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·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 실증 · 운영 데이터 착수 후 제공(부족 시 공공데이터 보완), 플랫폼 연계 API는 발주기관 제공, TS는 범위 확정 후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3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마이데이터 · 인프라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마이데이터 승인 절차는 발주기관 · 연계 기술은 당사 지원, 서버 · 클라우드 이용료 발주기관 부담, 외부 LLM API 사용 여부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단계에 당사가 목표치 제시(34쪽 기준) → 협의 확정 후 검수 기준으로 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기반 주차 수요예측 및 운영 최적화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Ⅳ.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수요예측 엔진 구조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데이터 · 피처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수요 · 점유 예측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거주자공유 예측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주차장 자동 공급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동적 요금제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 화면 · 검증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수요예측 엔진 구조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294001" y="298577"/>
            <a:ext cx="34255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AI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기반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주차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수요예측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및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최적화</a:t>
            </a:r>
            <a:endParaRPr lang="en-US" altLang="ko-KR" sz="1200" b="1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latin typeface="맑은 고딕" panose="00000800000000000000" pitchFamily="2" charset="-127"/>
              <a:ea typeface="맑은 고딕" panose="00000800000000000000" pitchFamily="2" charset="-127"/>
              <a:cs typeface="맑은 고딕" panose="000008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예측 · 판단 · 실행 3단 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전체 구조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(하나의 예측으로 세 가지 결정) 수요 · 점유 · 복귀시간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예측 모델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의 결과를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공급 판단 · 요금 산정 최적화기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가 받아 탄력주차 플랫폼에 공급 시간 · 공급량 · 요금을 내려보냄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가 전체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13999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13999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입 · </a:t>
            </a:r>
            <a:r>
              <a:rPr sz="75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출차</a:t>
            </a:r>
            <a:r>
              <a:rPr sz="75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75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점유</a:t>
            </a:r>
            <a:r>
              <a:rPr sz="75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75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</a:br>
            <a:r>
              <a:rPr sz="75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이력</a:t>
            </a:r>
            <a:endParaRPr sz="750" b="1" dirty="0">
              <a:solidFill>
                <a:srgbClr val="1F386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2363400" y="2430000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거주자 배정 · 이용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4000" y="2430000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요금 · 정산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24600" y="2430000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외부</a:t>
            </a:r>
            <a:r>
              <a:rPr sz="75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75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변수</a:t>
            </a:r>
            <a:r>
              <a:rPr sz="75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sz="75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공휴일</a:t>
            </a:r>
            <a:r>
              <a:rPr sz="75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75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기상</a:t>
            </a:r>
            <a:r>
              <a:rPr sz="75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75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행사</a:t>
            </a:r>
            <a:r>
              <a:rPr sz="75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81200" y="23580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가명</a:t>
            </a:r>
            <a:r>
              <a:rPr sz="95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처리</a:t>
            </a:r>
            <a:r>
              <a:rPr sz="95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950" b="0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피처</a:t>
            </a:r>
            <a:r>
              <a:rPr sz="95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95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</a:br>
            <a:r>
              <a:rPr sz="950" b="0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저장소</a:t>
            </a:r>
            <a:endParaRPr sz="950" b="0" dirty="0">
              <a:solidFill>
                <a:srgbClr val="1F386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16800" y="2836800"/>
            <a:ext cx="4874400" cy="413999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4800" y="2836800"/>
            <a:ext cx="1044000" cy="413999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328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주차장 · 시간대 수요 예측 (DF-03)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736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면 단위 점유 예측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144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거주자 복귀시간 예측 (DF-04)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81200" y="28368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분위수 (P10~P90)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3315599"/>
            <a:ext cx="4874400" cy="413999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34800" y="3315599"/>
            <a:ext cx="1044000" cy="413999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· 최적화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32800" y="33875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공급 가능시간 · 공급여부 (DF-01)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73600" y="33875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공급량 조정 (DF-02)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14400" y="33875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동적 요금 (DF-05)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81200" y="33155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위험</a:t>
            </a:r>
            <a:r>
              <a:rPr sz="95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한도</a:t>
            </a:r>
            <a:r>
              <a:rPr sz="95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950" b="0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조례</a:t>
            </a:r>
            <a:r>
              <a:rPr sz="95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95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</a:br>
            <a:r>
              <a:rPr sz="950" b="0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상하한</a:t>
            </a:r>
            <a:endParaRPr sz="950" b="0" dirty="0">
              <a:solidFill>
                <a:srgbClr val="1F386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16800" y="3794399"/>
            <a:ext cx="4874400" cy="413999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34800" y="3794399"/>
            <a:ext cx="1044000" cy="413999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32800" y="38663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탄력주차 플랫폼 API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673600" y="38663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운영자 승인 / 자동 모드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14400" y="38663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결과 · 근거 기록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81200" y="37943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Shadow → 운영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6800" y="4273200"/>
            <a:ext cx="4874400" cy="413999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34800" y="4273200"/>
            <a:ext cx="1044000" cy="413999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432800" y="43451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실제 결과 피드백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673600" y="43451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오차 · 드리프트 모니터링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914400" y="43451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주기 재학습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81200" y="42732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MLOps</a:t>
            </a:r>
          </a:p>
        </p:txBody>
      </p:sp>
      <p:graphicFrame>
        <p:nvGraphicFramePr>
          <p:cNvPr id="62" name="Table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453613"/>
              </p:ext>
            </p:extLst>
          </p:nvPr>
        </p:nvGraphicFramePr>
        <p:xfrm>
          <a:off x="316800" y="4823999"/>
          <a:ext cx="6260400" cy="2684307"/>
        </p:xfrm>
        <a:graphic>
          <a:graphicData uri="http://schemas.openxmlformats.org/drawingml/2006/table">
            <a:tbl>
              <a:tblPr/>
              <a:tblGrid>
                <a:gridCol w="1255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1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5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갱신 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</a:t>
                      </a:r>
                      <a:r>
                        <a:rPr sz="10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점유</a:t>
                      </a:r>
                      <a:r>
                        <a:rPr sz="10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</a:t>
                      </a:r>
                      <a:endParaRPr sz="10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 · 달력 · 외부 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시간대별 수요 · 점유율 분위수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15분 / 일 재학습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복귀시간 예측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출차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시각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요일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패턴</a:t>
                      </a:r>
                      <a:endParaRPr sz="10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복귀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시각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확률분포</a:t>
                      </a:r>
                      <a:endParaRPr sz="10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출차 이벤트마다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 · 요금 최적화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분포 · 정책 제약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면 수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요금</a:t>
                      </a:r>
                      <a:endParaRPr sz="10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3" name="Rectangle 62"/>
          <p:cNvSpPr/>
          <p:nvPr/>
        </p:nvSpPr>
        <p:spPr>
          <a:xfrm>
            <a:off x="280800" y="7616307"/>
            <a:ext cx="6332400" cy="918094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06799" y="7670307"/>
            <a:ext cx="60804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050" b="1" dirty="0" err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예측과</a:t>
            </a:r>
            <a:r>
              <a:rPr sz="1050" b="1" dirty="0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1" dirty="0" err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결정을</a:t>
            </a:r>
            <a:r>
              <a:rPr sz="1050" b="1" dirty="0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1" dirty="0" err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분리한</a:t>
            </a:r>
            <a:r>
              <a:rPr sz="1050" b="1" dirty="0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1" dirty="0" err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이유</a:t>
            </a:r>
            <a:endParaRPr sz="1050" b="1" dirty="0">
              <a:solidFill>
                <a:srgbClr val="FFE69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06799" y="7868307"/>
            <a:ext cx="6080400" cy="553317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dirty="0">
                <a:solidFill>
                  <a:srgbClr val="FFFFFF"/>
                </a:solidFill>
                <a:ea typeface="맑은 고딕"/>
                <a:cs typeface="맑은 고딕"/>
              </a:rPr>
              <a:t>수요 예측과 공급</a:t>
            </a:r>
            <a:r>
              <a:rPr lang="en-US" altLang="ko-KR" sz="1200" dirty="0">
                <a:solidFill>
                  <a:srgbClr val="FFFFFF"/>
                </a:solidFill>
                <a:ea typeface="맑은 고딕"/>
                <a:cs typeface="맑은 고딕"/>
              </a:rPr>
              <a:t>·</a:t>
            </a:r>
            <a:r>
              <a:rPr lang="ko-KR" altLang="en-US" sz="1200" dirty="0">
                <a:solidFill>
                  <a:srgbClr val="FFFFFF"/>
                </a:solidFill>
                <a:ea typeface="맑은 고딕"/>
                <a:cs typeface="맑은 고딕"/>
              </a:rPr>
              <a:t>요금 결정을 별도 모듈로 분리하여</a:t>
            </a:r>
            <a:r>
              <a:rPr lang="en-US" altLang="ko-KR" sz="1200" dirty="0">
                <a:solidFill>
                  <a:srgbClr val="FFFFFF"/>
                </a:solidFill>
                <a:ea typeface="맑은 고딕"/>
                <a:cs typeface="맑은 고딕"/>
              </a:rPr>
              <a:t>, </a:t>
            </a:r>
            <a:r>
              <a:rPr lang="ko-KR" altLang="en-US" sz="1200" dirty="0">
                <a:solidFill>
                  <a:srgbClr val="FFFFFF"/>
                </a:solidFill>
                <a:ea typeface="맑은 고딕"/>
                <a:cs typeface="맑은 고딕"/>
              </a:rPr>
              <a:t>운영 정책</a:t>
            </a:r>
            <a:r>
              <a:rPr lang="en-US" altLang="ko-KR" sz="1200" dirty="0">
                <a:solidFill>
                  <a:srgbClr val="FFFFFF"/>
                </a:solidFill>
                <a:ea typeface="맑은 고딕"/>
                <a:cs typeface="맑은 고딕"/>
              </a:rPr>
              <a:t>(</a:t>
            </a:r>
            <a:r>
              <a:rPr lang="ko-KR" altLang="en-US" sz="1200" dirty="0">
                <a:solidFill>
                  <a:srgbClr val="FFFFFF"/>
                </a:solidFill>
                <a:ea typeface="맑은 고딕"/>
                <a:cs typeface="맑은 고딕"/>
              </a:rPr>
              <a:t>위험 한도</a:t>
            </a:r>
            <a:r>
              <a:rPr lang="en-US" altLang="ko-KR" sz="1200" dirty="0">
                <a:solidFill>
                  <a:srgbClr val="FFFFFF"/>
                </a:solidFill>
                <a:ea typeface="맑은 고딕"/>
                <a:cs typeface="맑은 고딕"/>
              </a:rPr>
              <a:t>·</a:t>
            </a:r>
            <a:r>
              <a:rPr lang="ko-KR" altLang="en-US" sz="1200" dirty="0">
                <a:solidFill>
                  <a:srgbClr val="FFFFFF"/>
                </a:solidFill>
                <a:ea typeface="맑은 고딕"/>
                <a:cs typeface="맑은 고딕"/>
              </a:rPr>
              <a:t>요금 </a:t>
            </a:r>
            <a:r>
              <a:rPr lang="ko-KR" altLang="en-US" sz="1200" dirty="0" err="1">
                <a:solidFill>
                  <a:srgbClr val="FFFFFF"/>
                </a:solidFill>
                <a:ea typeface="맑은 고딕"/>
                <a:cs typeface="맑은 고딕"/>
              </a:rPr>
              <a:t>상하한</a:t>
            </a:r>
            <a:r>
              <a:rPr lang="en-US" altLang="ko-KR" sz="1200" dirty="0">
                <a:solidFill>
                  <a:srgbClr val="FFFFFF"/>
                </a:solidFill>
                <a:ea typeface="맑은 고딕"/>
                <a:cs typeface="맑은 고딕"/>
              </a:rPr>
              <a:t>)</a:t>
            </a:r>
            <a:r>
              <a:rPr lang="ko-KR" altLang="en-US" sz="1200" dirty="0">
                <a:solidFill>
                  <a:srgbClr val="FFFFFF"/>
                </a:solidFill>
                <a:ea typeface="맑은 고딕"/>
                <a:cs typeface="맑은 고딕"/>
              </a:rPr>
              <a:t>이 바뀌더라도 모델 </a:t>
            </a:r>
            <a:r>
              <a:rPr lang="ko-KR" altLang="en-US" sz="1200" dirty="0" err="1">
                <a:solidFill>
                  <a:srgbClr val="FFFFFF"/>
                </a:solidFill>
                <a:ea typeface="맑은 고딕"/>
                <a:cs typeface="맑은 고딕"/>
              </a:rPr>
              <a:t>재학습</a:t>
            </a:r>
            <a:r>
              <a:rPr lang="ko-KR" altLang="en-US" sz="1200" dirty="0">
                <a:solidFill>
                  <a:srgbClr val="FFFFFF"/>
                </a:solidFill>
                <a:ea typeface="맑은 고딕"/>
                <a:cs typeface="맑은 고딕"/>
              </a:rPr>
              <a:t> 없이 설정 변경만으로 대응할 수 있도록 설계하였습니다</a:t>
            </a:r>
            <a:r>
              <a:rPr lang="en-US" altLang="ko-KR" sz="1200" dirty="0">
                <a:solidFill>
                  <a:srgbClr val="FFFFFF"/>
                </a:solidFill>
                <a:ea typeface="맑은 고딕"/>
                <a:cs typeface="맑은 고딕"/>
              </a:rPr>
              <a:t>.</a:t>
            </a:r>
            <a:endParaRPr sz="1200" b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데이터 · 피처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수집 · 정제 · 피처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데이터 처리 및 피처 엔지니어링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(예측 품질의 70%는 데이터) 입 · 출차 이벤트를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15분 단위 점유 시계열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바꾸고, 달력 · 외부 변수 · 주차장 특성을 더한 피처를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코드로 정의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학습과 운영이 같은 피처를 쓰게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가 · 일반사항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1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수집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탄력주차 DB · 이벤트 로그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외부 API (공휴일 · 기상)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원천 적재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41999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4800" y="3041999"/>
            <a:ext cx="864000" cy="61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13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324800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중복</a:t>
            </a: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누락</a:t>
            </a: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이벤트</a:t>
            </a: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보정</a:t>
            </a: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</a:b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입차만</a:t>
            </a: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출차만</a:t>
            </a: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센서 오류 · 이상치 제거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41999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정제 이력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726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4800" y="3726000"/>
            <a:ext cx="864000" cy="61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변환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797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324800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이벤트 → 15분 점유 시계열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체류시간 · 회전율 산출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726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시계열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410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4800" y="4410000"/>
            <a:ext cx="864000" cy="61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피처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482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324800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달력 · 지연값 · 이동평균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주차장 특성 · 군집 ID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410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피처 저장소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664258"/>
              </p:ext>
            </p:extLst>
          </p:nvPr>
        </p:nvGraphicFramePr>
        <p:xfrm>
          <a:off x="316800" y="5148000"/>
          <a:ext cx="6260399" cy="2758822"/>
        </p:xfrm>
        <a:graphic>
          <a:graphicData uri="http://schemas.openxmlformats.org/drawingml/2006/table">
            <a:tbl>
              <a:tblPr/>
              <a:tblGrid>
                <a:gridCol w="1330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4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5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피처 그룹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6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 · 달력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요일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시간대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공휴일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연휴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전후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학교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방학</a:t>
                      </a:r>
                      <a:endParaRPr sz="10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주기성 · 특수일 수요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지연 · 추세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· 7일 전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점유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4주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이동평균</a:t>
                      </a:r>
                      <a:endParaRPr sz="10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자기상관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요인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강수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기온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인근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행사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시설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운영시간</a:t>
                      </a:r>
                      <a:endParaRPr sz="10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 급변 요인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6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주차장 특성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면 수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공영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요금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군집</a:t>
                      </a:r>
                      <a:endParaRPr sz="10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 부족 주차장 보완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6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 행동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출차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시각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외출시간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요일별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복귀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분포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가명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복귀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</a:t>
                      </a:r>
                      <a:endParaRPr sz="10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280800" y="8014824"/>
            <a:ext cx="6332400" cy="738271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06799" y="8068824"/>
            <a:ext cx="60804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이력이 짧은 주차장 대응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799" y="8266824"/>
            <a:ext cx="6080400" cy="432271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주차장을 면 수 · 유형 · 위치 · 이용 패턴으로 군집화해 군집 공동 모델을 학습하고, 이력이 쌓이면 주차장별 보정 계수를 추가합니다. 신규 주차장도 첫날부터 예측을 제공합니다.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69773-5CD9-412B-5835-5C43183B7C11}"/>
              </a:ext>
            </a:extLst>
          </p:cNvPr>
          <p:cNvSpPr txBox="1"/>
          <p:nvPr/>
        </p:nvSpPr>
        <p:spPr>
          <a:xfrm>
            <a:off x="3294001" y="298577"/>
            <a:ext cx="34255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AI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기반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주차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수요예측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및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최적화</a:t>
            </a:r>
            <a:endParaRPr lang="en-US" altLang="ko-KR" sz="1200" b="1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latin typeface="맑은 고딕" panose="00000800000000000000" pitchFamily="2" charset="-127"/>
              <a:ea typeface="맑은 고딕" panose="00000800000000000000" pitchFamily="2" charset="-127"/>
              <a:cs typeface="맑은 고딕" panose="00000800000000000000" pitchFamily="2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수요 · 점유 예측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수요 · 점유 예측 (DF-03)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주차 수요 · 점유 예측 모델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(점이 아닌 구간으로) 주차장 · 시간대별 수요와 점유율을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LightGBM 분위수 회귀 + 시계열 딥러닝 앙상블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예측해 P10 · P50 · P90을 함께 내고, 공급 판단은 보수적인 분위수를 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가 [거주자공유 예측]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863288"/>
              </p:ext>
            </p:extLst>
          </p:nvPr>
        </p:nvGraphicFramePr>
        <p:xfrm>
          <a:off x="316800" y="2358000"/>
          <a:ext cx="6260399" cy="2344823"/>
        </p:xfrm>
        <a:graphic>
          <a:graphicData uri="http://schemas.openxmlformats.org/drawingml/2006/table">
            <a:tbl>
              <a:tblPr/>
              <a:tblGrid>
                <a:gridCol w="178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3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 이유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6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기준선 (Seasonal Naive)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전주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요일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값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개선 판정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6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LightGBM 분위수 회귀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주력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1~24시간 앞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점유율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분위수</a:t>
                      </a:r>
                      <a:endParaRPr sz="10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적은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빠른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피처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br>
                        <a:rPr lang="en-US"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기여도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설명</a:t>
                      </a:r>
                      <a:endParaRPr sz="10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6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TFT / N-HiTS (시계열 DL)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다주차장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장기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패턴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보완</a:t>
                      </a:r>
                      <a:endParaRPr sz="10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 시계열 공동 학습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앙상블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오차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가중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결합</a:t>
                      </a:r>
                      <a:endParaRPr sz="10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대비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안정성</a:t>
                      </a:r>
                      <a:endParaRPr sz="10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4810823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4800" y="4810823"/>
            <a:ext cx="864000" cy="61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488282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324800" y="4918824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시간 순 분할 (Rolling Origin)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4918824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주차장 군집별 · 전체 모델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4810823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후보 모델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5494824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4800" y="5494824"/>
            <a:ext cx="864000" cy="61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556682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324800" y="5602824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MAE · MAPE (점유율)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5602824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분위수 손실 · 구간 적중률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5494824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기준선 대비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6178824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34800" y="6178824"/>
            <a:ext cx="864000" cy="61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625082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324800" y="6286824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SHAP 피처 기여도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6286824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‘우천 · 공휴일 영향’ 운영자 표시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6178824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설명 가능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6862823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34800" y="6862823"/>
            <a:ext cx="864000" cy="61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693482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1324800" y="697082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15분마다 추론 · 일 1회 재학습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697082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오차 급증 시 알림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6862823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API 제공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6800" y="7600823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16800" y="760082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4800" y="7654823"/>
            <a:ext cx="18528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 dirty="0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15</a:t>
            </a:r>
            <a:r>
              <a:rPr sz="1100" b="1" dirty="0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4800" y="8050823"/>
            <a:ext cx="18528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점유율 예측 오차
(MAPE, 기준선 대비 개선)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39600" y="7600823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39600" y="760082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547600" y="7654823"/>
            <a:ext cx="18528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80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47600" y="8050823"/>
            <a:ext cx="18528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P10~P90 구간
실제값 적중률 목표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62400" y="7600823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562400" y="760082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70400" y="7654823"/>
            <a:ext cx="18528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시간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70400" y="8050823"/>
            <a:ext cx="18528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예측 범위
(15분 단위)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152F18-56A5-48CC-7F76-E7CD6E050F79}"/>
              </a:ext>
            </a:extLst>
          </p:cNvPr>
          <p:cNvSpPr txBox="1"/>
          <p:nvPr/>
        </p:nvSpPr>
        <p:spPr>
          <a:xfrm>
            <a:off x="3294001" y="298577"/>
            <a:ext cx="34255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AI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기반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주차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수요예측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및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최적화</a:t>
            </a:r>
            <a:endParaRPr lang="en-US" altLang="ko-KR" sz="1200" b="1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latin typeface="맑은 고딕" panose="00000800000000000000" pitchFamily="2" charset="-127"/>
              <a:ea typeface="맑은 고딕" panose="00000800000000000000" pitchFamily="2" charset="-127"/>
              <a:cs typeface="맑은 고딕" panose="00000800000000000000" pitchFamily="2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거주자공유 예측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복귀시간 · 공유 시간대 (DF-04)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거주자 이용 · 복귀패턴 예측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(거주자가 돌아오기 전까지만 공유) 거주자 출차 순간부터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‘언제 돌아올지’를 생존분석으로 확률 예측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복귀 확률이 기준 이하인 시간까지만 공유 가능 시간대로 판단함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가 [거주자공유 예측]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1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출차 감지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배정 면 출차 이벤트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요일</a:t>
            </a:r>
            <a:r>
              <a:rPr sz="9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9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시각</a:t>
            </a:r>
            <a:r>
              <a:rPr sz="9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9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개인</a:t>
            </a:r>
            <a:r>
              <a:rPr sz="9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패턴</a:t>
            </a:r>
            <a:r>
              <a:rPr sz="9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조회</a:t>
            </a:r>
            <a:r>
              <a:rPr sz="9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sz="9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가명</a:t>
            </a:r>
            <a:r>
              <a:rPr sz="9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공유 후보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41999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4800" y="3041999"/>
            <a:ext cx="864000" cy="61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복귀 예측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13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324800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생존분석</a:t>
            </a:r>
            <a:r>
              <a:rPr sz="9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9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</a:br>
            <a:r>
              <a:rPr sz="9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(Cox · Gradient Boosted Survival)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시점별 ‘아직 미복귀’ 확률 곡선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41999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복귀 분포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726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4800" y="3726000"/>
            <a:ext cx="864000" cy="61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시간대 판단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797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324800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미복귀 확률 ≥ 기준(예 95%) 구간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완충시간(예 30분) 차감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726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공유 가능 시간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410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4800" y="4410000"/>
            <a:ext cx="864000" cy="61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공유 · 갱신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482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324800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탄력주차 공유 등록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실제 복귀 · 이용 결과로 재학습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410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피드백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148000"/>
          <a:ext cx="6260400" cy="1619997"/>
        </p:xfrm>
        <a:graphic>
          <a:graphicData uri="http://schemas.openxmlformats.org/drawingml/2006/table">
            <a:tbl>
              <a:tblPr/>
              <a:tblGrid>
                <a:gridCol w="1408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2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9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패턴 유형 (군집 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공유 판단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출근형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평일 08시 출차 · 18~19시 복귀 규칙적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09~17시 공유 (신뢰 높음)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불규칙형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출차 · 복귀 시각 분산 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짧은 단위로만 공유 또는 보류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주말 외출형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주말 장시간 외출 · 평일 상시 주차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주말 낮 시간 공유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316800" y="6876000"/>
          <a:ext cx="6260400" cy="1619997"/>
        </p:xfrm>
        <a:graphic>
          <a:graphicData uri="http://schemas.openxmlformats.org/drawingml/2006/table">
            <a:tbl>
              <a:tblPr/>
              <a:tblGrid>
                <a:gridCol w="156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안전장치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보수적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미복귀 확률 기준 · 완충시간을 지자체 · 주차장별로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조기 복귀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공유 이용자 출차 예정 알림, 인근 대체면 안내 (플랫폼 기능 연계)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 패턴은 가명 ID로만 학습 · 집계, 개인 이동 경로 수집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22EBDA-DC05-3A47-75B3-E43B1D362858}"/>
              </a:ext>
            </a:extLst>
          </p:cNvPr>
          <p:cNvSpPr txBox="1"/>
          <p:nvPr/>
        </p:nvSpPr>
        <p:spPr>
          <a:xfrm>
            <a:off x="3294001" y="298577"/>
            <a:ext cx="34255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AI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기반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주차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수요예측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및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최적화</a:t>
            </a:r>
            <a:endParaRPr lang="en-US" altLang="ko-KR" sz="1200" b="1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latin typeface="맑은 고딕" panose="00000800000000000000" pitchFamily="2" charset="-127"/>
              <a:ea typeface="맑은 고딕" panose="00000800000000000000" pitchFamily="2" charset="-127"/>
              <a:cs typeface="맑은 고딕" panose="00000800000000000000" pitchFamily="2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주차장 자동 공급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5.1.1 운영상태 · 자동 공급 (DF-01·02)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5.1 공급 가능시간 · 공급량 최적화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(더 많이 공급하되 넘치지 않게) 예측 수요 · 점유 분포와 복귀 예측을 받아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‘기대 공급 효과 – 초과 위험 비용’을 최대화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하는 공급량 · 공급 시간을 15분마다 산출하고, 운영자 승인 또는 자동으로 반영함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가 [주차장 자동 공급]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560648"/>
              </p:ext>
            </p:extLst>
          </p:nvPr>
        </p:nvGraphicFramePr>
        <p:xfrm>
          <a:off x="316800" y="2358000"/>
          <a:ext cx="6260400" cy="2394000"/>
        </p:xfrm>
        <a:graphic>
          <a:graphicData uri="http://schemas.openxmlformats.org/drawingml/2006/table">
            <a:tbl>
              <a:tblPr/>
              <a:tblGrid>
                <a:gridCol w="125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9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운영상태 (DF-01)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점유율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P90 &lt; </a:t>
                      </a:r>
                      <a:r>
                        <a:rPr sz="105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탄력 공급 확대 (공유면 개방)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P50 &lt; </a:t>
                      </a:r>
                      <a:r>
                        <a:rPr sz="105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85%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≤ P90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 공급 유지, 단시간 공유만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혼잡 예상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P50 ≥ </a:t>
                      </a:r>
                      <a:r>
                        <a:rPr sz="105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85%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공유 중단, 인근 주차장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불확실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구간 폭 과다 · 데이터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보류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</a:t>
                      </a:r>
                      <a:endParaRPr sz="105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4860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4800" y="4860000"/>
            <a:ext cx="864000" cy="66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4932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324800" y="496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시간대별 수요 · 점유 분위수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496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공유 가능 시간 (DF-04)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4860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예측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559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4800" y="5598000"/>
            <a:ext cx="864000" cy="66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최적화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567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324800" y="570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목적: 공급 이용량 최대화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570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제약: 초과 확률 ≤ 한도 · 거주자 우선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559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공급안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633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34800" y="6336000"/>
            <a:ext cx="864000" cy="66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6408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324800" y="644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승인 모드 / 자동 모드 선택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644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플랫폼 API로 공급 반영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633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707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34800" y="7074000"/>
            <a:ext cx="864000" cy="66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714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1324800" y="718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실제 이용률 · 초과 발생 기록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718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한도 · 정책 조정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707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개선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0800" y="7866000"/>
            <a:ext cx="6332400" cy="1036556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06799" y="7920000"/>
            <a:ext cx="60804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운영자가 믿을 수 있는 자동화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799" y="8118000"/>
            <a:ext cx="6080400" cy="638141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초기에는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공급안을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운영자가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승인하는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모드로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시작해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승인율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초과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발생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건수를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확인하고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기준을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충족한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주차장부터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자동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모드로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전환합니다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 </a:t>
            </a:r>
            <a:endParaRPr lang="en-US" sz="1100" b="0" dirty="0">
              <a:solidFill>
                <a:srgbClr val="333333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모든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공급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결정에는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예측값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적용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기준이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기록됩니다</a:t>
            </a:r>
            <a:r>
              <a:rPr sz="1100" b="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2FF63-CD8E-73ED-D11A-B58D606F7D36}"/>
              </a:ext>
            </a:extLst>
          </p:cNvPr>
          <p:cNvSpPr txBox="1"/>
          <p:nvPr/>
        </p:nvSpPr>
        <p:spPr>
          <a:xfrm>
            <a:off x="3294001" y="298577"/>
            <a:ext cx="34255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AI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기반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주차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수요예측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및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최적화</a:t>
            </a:r>
            <a:endParaRPr lang="en-US" altLang="ko-KR" sz="1200" b="1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latin typeface="맑은 고딕" panose="00000800000000000000" pitchFamily="2" charset="-127"/>
              <a:ea typeface="맑은 고딕" panose="00000800000000000000" pitchFamily="2" charset="-127"/>
              <a:cs typeface="맑은 고딕" panose="00000800000000000000" pitchFamily="2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6. 동적 요금제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6.1.1 적정 요금 산정 (DF-05)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6.1 시간대 · 구간별 탄력요금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(조례가 허용하는 범위 안에서) 실시간 수요 · 점유와 가격 민감도를 반영해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목표 점유율(예 85%)을 맞추는 요금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시간대 · 구간별로 산정하되, 조례 · 고시 요금의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상 · 하한과 변경 빈도 제한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지킴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가 [동적 요금제]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수요 예측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시간대 · 구간별 예측 점유율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현재 요금 · 대체 주차장 상황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예측 점유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민감도 추정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요금 변화 ↔ 이용 변화 탄력성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요금 이력 · A/B 구간 비교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탄력성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요금 산정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목표 점유율 달성 요금 탐색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조례</a:t>
            </a: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상하한</a:t>
            </a: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단계</a:t>
            </a:r>
            <a:br>
              <a:rPr lang="en-US"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</a:b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(예 100원 </a:t>
            </a: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단위</a:t>
            </a: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요금안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적용 · 고지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시간대별 요금표 사전 고지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변경</a:t>
            </a: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빈도</a:t>
            </a: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제한</a:t>
            </a: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(예 1일 </a:t>
            </a:r>
            <a:r>
              <a:rPr lang="en-US" sz="1000" b="1" dirty="0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1000" b="1" dirty="0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회</a:t>
            </a:r>
            <a:r>
              <a:rPr lang="en-US" altLang="ko-KR"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000" b="1" dirty="0">
              <a:solidFill>
                <a:srgbClr val="4040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탄력요금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388002"/>
              </p:ext>
            </p:extLst>
          </p:nvPr>
        </p:nvGraphicFramePr>
        <p:xfrm>
          <a:off x="316800" y="5364000"/>
          <a:ext cx="6260399" cy="2667984"/>
        </p:xfrm>
        <a:graphic>
          <a:graphicData uri="http://schemas.openxmlformats.org/drawingml/2006/table">
            <a:tbl>
              <a:tblPr/>
              <a:tblGrid>
                <a:gridCol w="1301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8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원칙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3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 · 제도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지자체 주차장 조례 · 요금 고시 범위를 Rule로 관리 — 범위 밖 요금은 산출 불가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3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가능성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이용자에게 시간대별 요금을 사전 고지, 입차 시점 요금 확정 방식 선택 가능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형평성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 · 감면 대상자 요금은 별도 Rule로 보호 (감면 엔진과 연동)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3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시뮬레이션 우선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과거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데이터로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요금안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효과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점유율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수입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시뮬레이션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</a:t>
                      </a:r>
                      <a:r>
                        <a:rPr sz="10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후 </a:t>
                      </a:r>
                      <a:r>
                        <a:rPr sz="10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  <a:endParaRPr sz="105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316800" y="813998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16800" y="81399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4800" y="8193985"/>
            <a:ext cx="18528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85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4800" y="8589985"/>
            <a:ext cx="18528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목표 점유율
(설정 가능)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39600" y="813998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39600" y="81399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547600" y="8193985"/>
            <a:ext cx="18528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47600" y="8589985"/>
            <a:ext cx="18528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조례 상하한
벗어난 요금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62400" y="813998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562400" y="81399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70400" y="8193985"/>
            <a:ext cx="18528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70400" y="8589985"/>
            <a:ext cx="18528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요금 산정 근거
(예측 · 규칙) 기록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9C62C-61F6-A2C2-543B-579B50DAFC18}"/>
              </a:ext>
            </a:extLst>
          </p:cNvPr>
          <p:cNvSpPr txBox="1"/>
          <p:nvPr/>
        </p:nvSpPr>
        <p:spPr>
          <a:xfrm>
            <a:off x="3294001" y="298577"/>
            <a:ext cx="34255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AI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기반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주차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수요예측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및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최적화</a:t>
            </a:r>
            <a:endParaRPr lang="en-US" altLang="ko-KR" sz="1200" b="1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latin typeface="맑은 고딕" panose="00000800000000000000" pitchFamily="2" charset="-127"/>
              <a:ea typeface="맑은 고딕" panose="00000800000000000000" pitchFamily="2" charset="-127"/>
              <a:cs typeface="맑은 고딕" panose="00000800000000000000" pitchFamily="2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7. 운영 화면 · 검증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7.1.1 운영 대시보드 · 검증 방법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7.1 운영자 화면 및 성능 검증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(결과와 이유를 한 화면에) 운영자는 주차장별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예측 곡선 · 공급안 · 요금안과 그 근거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한 화면에서 보고 승인하며, 성능은 기준선 대비 개선율로 매주 리포트됨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가 · 산출물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312000"/>
        </p:xfrm>
        <a:graphic>
          <a:graphicData uri="http://schemas.openxmlformats.org/drawingml/2006/table">
            <a:tbl>
              <a:tblPr/>
              <a:tblGrid>
                <a:gridCol w="1408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1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주차장별 24시간 점유 예측 (P10 · P50 · P90 밴드) · 실제값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공급안 · 운영상태 · 승인/자동 모드 · 공급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 공유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공유 가능 시간대 · 복귀 확률 · 조기 복귀 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요금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시간대별 요금안 · 시뮬레이션 결과 · 조례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오차 추이 · 데이터 드리프트 · 재학습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5778000"/>
            <a:ext cx="63324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수요예측 영역 검증 지표 (검수 기준은 착수 시 협의 · 확정)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312531"/>
              </p:ext>
            </p:extLst>
          </p:nvPr>
        </p:nvGraphicFramePr>
        <p:xfrm>
          <a:off x="316800" y="6012000"/>
          <a:ext cx="6260400" cy="2833048"/>
        </p:xfrm>
        <a:graphic>
          <a:graphicData uri="http://schemas.openxmlformats.org/drawingml/2006/table">
            <a:tbl>
              <a:tblPr/>
              <a:tblGrid>
                <a:gridCol w="1408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0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 · 점유 예측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MAPE · 분위수 구간 적중률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기준선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대비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15%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적중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80%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 복귀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조기 복귀로 인한 공유 충돌 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2%</a:t>
                      </a:r>
                      <a:r>
                        <a:rPr lang="en-US" sz="11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이하</a:t>
                      </a:r>
                      <a:endParaRPr sz="11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공급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공유 면 이용률 · 초과 발생 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이용률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초과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en-US" sz="11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  <a:r>
                        <a:rPr sz="11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</a:t>
                      </a:r>
                      <a:r>
                        <a:rPr lang="en-US" sz="11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이하</a:t>
                      </a:r>
                      <a:endParaRPr sz="11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동적 요금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점유율 근접도 (시뮬레이션)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±</a:t>
                      </a:r>
                      <a:r>
                        <a:rPr sz="11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10%p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8917048"/>
            <a:ext cx="63324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검증은 학습에 쓰지 않은 최근 기간 데이터(Hold-out) + 운영 Shadow 기간(4주) 결과로 수행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DC1027-FF7E-B9DE-F5CC-88187DF4EEF2}"/>
              </a:ext>
            </a:extLst>
          </p:cNvPr>
          <p:cNvSpPr txBox="1"/>
          <p:nvPr/>
        </p:nvSpPr>
        <p:spPr>
          <a:xfrm>
            <a:off x="3294001" y="298577"/>
            <a:ext cx="34255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AI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기반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주차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수요예측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및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</a:t>
            </a:r>
            <a:r>
              <a:rPr lang="en-US" altLang="ko-KR" sz="1200" b="1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</a:t>
            </a:r>
            <a:r>
              <a:rPr lang="en-US" altLang="ko-KR" sz="12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최적화</a:t>
            </a:r>
            <a:endParaRPr lang="en-US" altLang="ko-KR" sz="1200" b="1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latin typeface="맑은 고딕" panose="00000800000000000000" pitchFamily="2" charset="-127"/>
              <a:ea typeface="맑은 고딕" panose="00000800000000000000" pitchFamily="2" charset="-127"/>
              <a:cs typeface="맑은 고딕" panose="00000800000000000000" pitchFamily="2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기반 자동감면 기능 개발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Ⅴ.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자동감면 엔진 구조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조례 파싱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Rule DB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Rule 변경관리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자격정보 연계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감면 판단 · 조합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정산 · 예외 대응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자동감면 엔진 구조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AI 기반 자동감면 기능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조례 · Rule · 자격 · 정산 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전체 구조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(AI는 읽고, 규칙은 판단한다) LLM은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조례를 읽어 Rule로 바꾸는 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만 쓰고, 실제 감면 판단은 검토 · 승인된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Rule 엔진이 결정적으로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수행해 같은 입력엔 늘 같은 결과와 근거를 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나 전체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13999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13999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조례 수집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자치법규</a:t>
            </a: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Open API </a:t>
            </a:r>
            <a:br>
              <a:rPr lang="en-US"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</a:b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8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국가법령정보</a:t>
            </a: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73600" y="24300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지자체 고시 · 요금표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4400" y="24300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개정 감지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23580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AR-01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2836800"/>
            <a:ext cx="4874400" cy="413999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4800" y="2836800"/>
            <a:ext cx="1044000" cy="413999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파싱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조문 구조화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736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LLM </a:t>
            </a:r>
            <a:r>
              <a:rPr sz="8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정보</a:t>
            </a: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추출</a:t>
            </a: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</a:b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8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대상</a:t>
            </a: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· 율 · </a:t>
            </a:r>
            <a:r>
              <a:rPr sz="8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8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예외</a:t>
            </a: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144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신뢰도 · 근거 조문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81200" y="28368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AR-01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315599"/>
            <a:ext cx="4874400" cy="413999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4800" y="3315599"/>
            <a:ext cx="1044000" cy="413999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Rule DB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32800" y="33875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감면</a:t>
            </a: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Rule </a:t>
            </a:r>
            <a:br>
              <a:rPr lang="en-US"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</a:b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8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· 율 · </a:t>
            </a:r>
            <a:r>
              <a:rPr sz="8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우선순위</a:t>
            </a: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73600" y="33875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버전 · 시행일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14400" y="33875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검토 · 승인 이력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81200" y="33155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AR-02 · 03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3794399"/>
            <a:ext cx="4874400" cy="413999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4800" y="3794399"/>
            <a:ext cx="1044000" cy="413999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자격 연계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32800" y="38663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공공</a:t>
            </a: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마이데이터</a:t>
            </a: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</a:b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8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본인</a:t>
            </a: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동의</a:t>
            </a: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73600" y="38663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TS 차량정보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14400" y="38663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플랫폼 회원정보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81200" y="37943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AR-04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4273200"/>
            <a:ext cx="4874400" cy="413999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34800" y="4273200"/>
            <a:ext cx="1044000" cy="413999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· 정산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432800" y="43451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적용 가능 감면 판단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73600" y="43451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우선순위 · 조합 최적화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914400" y="43451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최종 정산금액 · 근거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81200" y="42732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AR-05 · 06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838244"/>
              </p:ext>
            </p:extLst>
          </p:nvPr>
        </p:nvGraphicFramePr>
        <p:xfrm>
          <a:off x="316800" y="4823999"/>
          <a:ext cx="6260399" cy="2617538"/>
        </p:xfrm>
        <a:graphic>
          <a:graphicData uri="http://schemas.openxmlformats.org/drawingml/2006/table">
            <a:tbl>
              <a:tblPr/>
              <a:tblGrid>
                <a:gridCol w="1255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4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원칙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역할 한정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조례 → Rule 초안 변환과 근거 조문 연결까지만 — 운영 판단은 Rule 엔진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 검토 필수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AI가 만든 Rule은 담당자 검토 · 승인 후에만 운영 Rule DB에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 가능성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</a:t>
                      </a:r>
                      <a:r>
                        <a:rPr sz="11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시점의</a:t>
                      </a:r>
                      <a:r>
                        <a:rPr sz="11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Rule </a:t>
                      </a:r>
                      <a:r>
                        <a:rPr sz="11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</a:t>
                      </a:r>
                      <a:r>
                        <a:rPr sz="11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1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자격정보</a:t>
                      </a:r>
                      <a:r>
                        <a:rPr sz="11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1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결과를</a:t>
                      </a:r>
                      <a:r>
                        <a:rPr sz="11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함께</a:t>
                      </a:r>
                      <a:r>
                        <a:rPr sz="11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</a:t>
                      </a:r>
                      <a:r>
                        <a:rPr sz="11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11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언제든</a:t>
                      </a:r>
                      <a:r>
                        <a:rPr sz="11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재계산</a:t>
                      </a:r>
                      <a:endParaRPr sz="115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2" name="Rectangle 61"/>
          <p:cNvSpPr/>
          <p:nvPr/>
        </p:nvSpPr>
        <p:spPr>
          <a:xfrm>
            <a:off x="316800" y="754953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16800" y="754953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24800" y="7603538"/>
            <a:ext cx="18528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4800" y="7999538"/>
            <a:ext cx="18528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승인 전 Rule의
운영 반영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39600" y="754953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2439600" y="754953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547600" y="7603538"/>
            <a:ext cx="18528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47600" y="7999538"/>
            <a:ext cx="18528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판단 결과에
근거 조문 표시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62400" y="754953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562400" y="754953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670400" y="7603538"/>
            <a:ext cx="18528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N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지자체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70400" y="7999538"/>
            <a:ext cx="18528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Rule 추가만으로
확장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조례 파싱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AI 기반 자동감면 기능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조례 수집 · 추출 (AR-01)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조례 수집 및 AI 파싱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(조문 단위로 읽고 근거와 함께 추출) 지자체 주차장 조례를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자치법규 Open API로 수집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조 · 항 · 호와 별표로 구조화하고, LLM이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감면 대상 · 감면율 · 적용조건 · 예외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스키마에 맞춰 추출하며 근거 조문을 붙임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나 [조례 파싱]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1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수집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국가법령정보 자치법규 API · 지자체 고시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시행일 · 개정 이력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조례 원문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41999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4800" y="3041999"/>
            <a:ext cx="864000" cy="61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구조화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13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324800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 · 항 · 호 · 별표(표) 파싱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감면 관련 조문 후보 선별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41999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조문 트리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726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4800" y="3726000"/>
            <a:ext cx="864000" cy="61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정보 추출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797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324800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LLM + 스키마 강제 (JSON)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대상 · 율 · 조건 · 예외 · 한도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726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Rule 초안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410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4800" y="4410000"/>
            <a:ext cx="864000" cy="61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482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324800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규칙</a:t>
            </a: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검사</a:t>
            </a: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</a:b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(율 0~100%, </a:t>
            </a: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누락</a:t>
            </a: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추출 신뢰도 · 원문 대조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410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검토 대기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0800" y="5148000"/>
            <a:ext cx="63324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추출 스키마 (예시 — 실제 감면 기준은 지자체 조례에 따름) &gt;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155706"/>
              </p:ext>
            </p:extLst>
          </p:nvPr>
        </p:nvGraphicFramePr>
        <p:xfrm>
          <a:off x="316800" y="5382000"/>
          <a:ext cx="6260400" cy="2655213"/>
        </p:xfrm>
        <a:graphic>
          <a:graphicData uri="http://schemas.openxmlformats.org/drawingml/2006/table">
            <a:tbl>
              <a:tblPr/>
              <a:tblGrid>
                <a:gridCol w="1091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8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예시 값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6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장애인 등록 차량 / 국가유공자 / 경차 / 저공해차 / 다자녀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제○조 제○항 제○호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감면율 ·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50% · 80% · 면제 · 정액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조 · 별표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6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 탑승 · 해당 지자체 주소 · 차량 등록 명의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조문 단서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대상 시설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공영 노외 · 노상 · 거주자우선 (시설별 상이)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범위 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예외 · 중복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‘2 이상 해당 시 감면율이 큰 것 하나만 적용’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중복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조항</a:t>
                      </a:r>
                      <a:endParaRPr sz="10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7" name="Rectangle 56"/>
          <p:cNvSpPr/>
          <p:nvPr/>
        </p:nvSpPr>
        <p:spPr>
          <a:xfrm>
            <a:off x="280800" y="8145215"/>
            <a:ext cx="6332400" cy="738271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06799" y="8199215"/>
            <a:ext cx="60804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LLM 오류를 걸러내는 3단 검증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6799" y="8397216"/>
            <a:ext cx="6080400" cy="432271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스키마 강제로 형식 오류 제거 ② 규칙 검사로 값 범위 · 필수 항목 확인 ③ 원문 대조 화면에서 담당자가 근거 조문과 나란히 보고 승인 — 승인 전 Rule은 운영에 쓰이지 않습니다.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Rule DB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AI 기반 자동감면 기능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Rule DB 생성 · 관리 (AR-02)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감면 Rule DB 설계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(조례 한 조문 = Rule 한 행) 감면조건을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지자체 · 시설 유형 · 자격 · 차량 조건 · 감면율 · 우선순위 · 시행기간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컬럼의 결정 테이블로 저장하고, 각 Rule이 근거 조문과 버전을 가짐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나 [조례 파싱]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감면 Rule 결정 테이블 구조 (예시)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230558"/>
              </p:ext>
            </p:extLst>
          </p:nvPr>
        </p:nvGraphicFramePr>
        <p:xfrm>
          <a:off x="316800" y="2592000"/>
          <a:ext cx="6260399" cy="3723168"/>
        </p:xfrm>
        <a:graphic>
          <a:graphicData uri="http://schemas.openxmlformats.org/drawingml/2006/table">
            <a:tbl>
              <a:tblPr/>
              <a:tblGrid>
                <a:gridCol w="62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0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7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64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81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205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Rule ID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지자체 · 시설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자격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우선순위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시행기간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5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○○구 · </a:t>
                      </a:r>
                      <a:r>
                        <a:rPr sz="10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공영</a:t>
                      </a:r>
                      <a:endParaRPr sz="10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장애인 (마이데이터)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 · 보호자 차량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2026.01~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제○조①1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5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○○구 · 공영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국가유공자</a:t>
                      </a:r>
                      <a:endParaRPr sz="10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 차량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2026.01~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제○조①2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5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○○구 · 공영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경차 (TS)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2026.01~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제○조①5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5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○○구 · 공영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저공해차</a:t>
                      </a:r>
                      <a:r>
                        <a:rPr sz="10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br>
                        <a:rPr lang="en-US" sz="10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10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(TS)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2026.01~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제○조①6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5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○○구 · 공통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중복 규칙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최대 1건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2026.01~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제○조</a:t>
                      </a:r>
                      <a:r>
                        <a:rPr sz="10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423170"/>
          <a:ext cx="6260399" cy="2354096"/>
        </p:xfrm>
        <a:graphic>
          <a:graphicData uri="http://schemas.openxmlformats.org/drawingml/2006/table">
            <a:tbl>
              <a:tblPr/>
              <a:tblGrid>
                <a:gridCol w="1486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3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0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Rule 편집기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테이블 화면 편집 · 조건 조합 · 감면율 · 우선순위 · 시행기간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0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 이용자 · 차량 시나리오로 Rule 결과 미리보기 (회귀 테스트 세트)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지자체 확장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지자체 코드만 추가하면 같은 구조로 Rule 등록 — 코드 수정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8849268"/>
            <a:ext cx="63324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Rule 엔진은 결정 테이블(DMN 호환) 방식으로 구현하여 판단 로직을 사람이 읽을 수 있게 하고, JSON으로 내보내 기술이전 · 타 시스템 재사용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Rule 변경관리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AI 기반 자동감면 기능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개정 감지 · 버전 관리 (AR-03)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조례 · 감면기준 변경 대응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(개정되면 바로 알고, 시행일에 정확히 바뀜) 자치법규 개정을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매일 감지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바뀐 조문만 다시 파싱하고, 신구 Rule 비교 → 검토 · 승인 →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시행일 0시 자동 전환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이전 버전은 소급 재계산용으로 보존함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나 [조례 파싱]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6983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개정 감지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2826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 1회 API 조회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73607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6983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 조문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2826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차이만 재파싱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73607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6983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신구 비교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2826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Rule 변경 요약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73607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6983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검토 · 승인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2826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담당자 · 책임자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73607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6983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시행일 전환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2826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자동 · 이력 보존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565505"/>
              </p:ext>
            </p:extLst>
          </p:nvPr>
        </p:nvGraphicFramePr>
        <p:xfrm>
          <a:off x="316800" y="3171096"/>
          <a:ext cx="6260399" cy="2394000"/>
        </p:xfrm>
        <a:graphic>
          <a:graphicData uri="http://schemas.openxmlformats.org/drawingml/2006/table">
            <a:tbl>
              <a:tblPr/>
              <a:tblGrid>
                <a:gridCol w="1486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3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감면율 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Rule 새 버전 생성 (시행일부터 적용), 이전 버전 유효기간 종료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신설 · 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Rule 추가 · 비활성화, 영향 받는 이용자 수 미리 산출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 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 컬럼 수정 + 회귀 테스트 세트 자동 실행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긴급 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책임자 즉시 반영 + 사후 검토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399888"/>
              </p:ext>
            </p:extLst>
          </p:nvPr>
        </p:nvGraphicFramePr>
        <p:xfrm>
          <a:off x="316800" y="5673096"/>
          <a:ext cx="6260399" cy="1908000"/>
        </p:xfrm>
        <a:graphic>
          <a:graphicData uri="http://schemas.openxmlformats.org/drawingml/2006/table">
            <a:tbl>
              <a:tblPr/>
              <a:tblGrid>
                <a:gridCol w="1486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3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 · 감사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 보존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Rule 버전 · 근거 조문 · 승인자 · 승인 시각 보존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 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과거 감면 건은 당시 Rule 버전으로 재계산 가능 (민원 · 정산 대사)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개정 감지 · 검토 대기 · 시행 예정 Rule을 담당자에게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2" name="Rectangle 51"/>
          <p:cNvSpPr/>
          <p:nvPr/>
        </p:nvSpPr>
        <p:spPr>
          <a:xfrm>
            <a:off x="316800" y="768909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16800" y="768909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24800" y="7743096"/>
            <a:ext cx="18528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4800" y="8139096"/>
            <a:ext cx="18528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조례 개정
감지 주기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39600" y="768909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439600" y="768909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547600" y="7743096"/>
            <a:ext cx="18528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47600" y="8139096"/>
            <a:ext cx="18528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시행일 Rule
자동 전환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62400" y="768909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562400" y="768909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670400" y="7743096"/>
            <a:ext cx="18528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70400" y="8139096"/>
            <a:ext cx="18528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과거 판단
재현 가능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자격정보 연계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AI 기반 자동감면 기능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5.1.1 자격정보 · Rule 연계 (AR-04)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5.1 공공 마이데이터 · 차량정보 연계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(본인 동의로, 필요한 결과만) 이용자가 동의하면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공공 마이데이터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감면 자격(장애인 · 국가유공자 등)을,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TS 연계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차량 정보(경차 · 저공해차 등)를 확인하고, 원문 서류가 아니라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자격 여부 · 유효기간만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보관함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나 [감면 판단]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774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동의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앱에서 감면 신청 · 본인 인증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제공 항목 · 목적 · 기간 동의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동의 기록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204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4800" y="3204000"/>
            <a:ext cx="864000" cy="774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자격 조회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276000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324800" y="3312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공공 마이데이터 (행정정보)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312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TS 차량정보 · 플랫폼 회원정보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204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자격 응답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4050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4800" y="4050000"/>
            <a:ext cx="864000" cy="774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정규화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4121999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324800" y="4158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자격 코드 · 유효기간으로 변환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4158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원문 정보 즉시 폐기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4050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자격 프로필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896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4800" y="4896000"/>
            <a:ext cx="864000" cy="774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Rule 연계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968000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324800" y="5004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자격 · 차량 조건 ↔ Rule 매칭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5004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만료 시 재확인 요청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896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감면 후보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272300"/>
              </p:ext>
            </p:extLst>
          </p:nvPr>
        </p:nvGraphicFramePr>
        <p:xfrm>
          <a:off x="316800" y="5795999"/>
          <a:ext cx="6260400" cy="2617538"/>
        </p:xfrm>
        <a:graphic>
          <a:graphicData uri="http://schemas.openxmlformats.org/drawingml/2006/table">
            <a:tbl>
              <a:tblPr/>
              <a:tblGrid>
                <a:gridCol w="1127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3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0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정보 (예)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시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</a:t>
                      </a:r>
                      <a:r>
                        <a:rPr sz="10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마이데이터</a:t>
                      </a:r>
                      <a:endParaRPr sz="10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장애인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국가유공자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기초생활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 </a:t>
                      </a:r>
                      <a:br>
                        <a:rPr lang="en-US"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자격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여부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이용기관 API (본인 동의)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 err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이용기관</a:t>
                      </a:r>
                      <a:r>
                        <a:rPr sz="10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</a:t>
                      </a:r>
                      <a:r>
                        <a:rPr sz="10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주체</a:t>
                      </a:r>
                      <a:endParaRPr sz="1000" b="1" dirty="0">
                        <a:solidFill>
                          <a:srgbClr val="E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TS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차종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경차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연료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저공해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소유자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TS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활용</a:t>
                      </a:r>
                      <a:endParaRPr sz="10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 err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  <a:r>
                        <a:rPr sz="10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  <a:endParaRPr sz="1000" b="1" dirty="0">
                        <a:solidFill>
                          <a:srgbClr val="E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회원정보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주소지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배정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여부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280800" y="8485538"/>
            <a:ext cx="63324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마이데이터 이용기관 승인은 발주기관이 진행하고 인증 방식 · 대상 서류는 착수 2주 내 확정하며, 연계 전까지는 운영자 서류 확인 결과를 같은 자격 코드로 입력해 엔진을 검증함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6. 감면 판단 · 조합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AI 기반 자동감면 기능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6.1.1 감면 판단 · 최적 조합 (AR-05)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6.1 적용 감면 자동판단 및 최적 조합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(이용자에게 가장 유리하고 조례에 맞는 조합) 자격 프로필로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적용 가능한 감면을 모두 찾고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중복 금지 · 우선순위 · 한도 Rule을 제약으로 두어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조례가 허용하는 범위에서 감면액이 최대인 조합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선택함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나 [감면 판단]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후보 탐색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자격</a:t>
            </a: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차량</a:t>
            </a: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시설</a:t>
            </a: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시간</a:t>
            </a: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100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</a:br>
            <a:r>
              <a:rPr sz="1000" b="1" dirty="0" err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매칭</a:t>
            </a:r>
            <a:endParaRPr sz="1000" b="1" dirty="0">
              <a:solidFill>
                <a:srgbClr val="4040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만족 Rule 전부 추출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후보 감면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제약 적용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중복 금지 · 상호 배타 Rule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우선순위 · 감면 한도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허용 조합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최적 선택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조합별 최종 요금 계산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최소 요금(최대 감면) 선택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적용 감면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근거 생성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적용 · 미적용 Rule과 사유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근거 조문 · 사용 자격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판단 결과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0800" y="5364000"/>
            <a:ext cx="63324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판단 예시 (가상 — 조례에 따라 결과 상이) &gt;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316800" y="5598000"/>
          <a:ext cx="6260399" cy="1999328"/>
        </p:xfrm>
        <a:graphic>
          <a:graphicData uri="http://schemas.openxmlformats.org/drawingml/2006/table">
            <a:tbl>
              <a:tblPr/>
              <a:tblGrid>
                <a:gridCol w="1486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3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이용자 상황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후보 감면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장애인 + 경차 소유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R-001 80% · R-003 50%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중복 시 큰 것 1개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R-001 80%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3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국가유공자 + 저공해차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R-002 50% · R-004 50%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중복 시 큰 것 1개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R-002 50% (동률 시 우선순위)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경차, 타 지자체 주소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R-003 50%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주소 조건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R-003 50%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7" name="Rectangle 56"/>
          <p:cNvSpPr/>
          <p:nvPr/>
        </p:nvSpPr>
        <p:spPr>
          <a:xfrm>
            <a:off x="280800" y="7705328"/>
            <a:ext cx="6332400" cy="944141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06799" y="7759328"/>
            <a:ext cx="60804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왜 그 감면인지 설명합니다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6799" y="7957328"/>
            <a:ext cx="6080400" cy="638141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결과 화면 · 영수증에 ‘적용: ○○구 조례 제○조 장애인 80% / 미적용: 경차 50% (중복 감면 불가, 제○조②)’처럼 적용 · 미적용 사유를 함께 보여 줘 민원 응대 시간을 줄입니다.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7. 정산 · 예외 대응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AI 기반 자동감면 기능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7.1.1 정산 · 예외 대응 (AR-06)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7.1 감면 결과 · 정산 및 예외 처리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(정산까지 끝까지) 이용 시간 · 요금(동적 요금 포함) · 적용 감면으로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최종 정산금액을 계산해 플랫폼에 전달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자격 불확실 · Rule 충돌 · 연계 장애는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안전한 기본 처리 + 사후 정산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대응함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나 [감면 판단]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137605"/>
        </p:xfrm>
        <a:graphic>
          <a:graphicData uri="http://schemas.openxmlformats.org/drawingml/2006/table">
            <a:tbl>
              <a:tblPr/>
              <a:tblGrid>
                <a:gridCol w="1408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1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정산 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요금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 시간 × 시간대별 요금 (동적 요금제 · 거주자 요금 반영)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6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최적 조합 감면율 · 정액 감면 · 한도 적용, 단수 처리 Rule (예 10원 미만 절사)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 전달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정산금액 · 감면 내역 · 근거를 플랫폼 결제 API로 전달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단위 감면 · 정산 집계, 플랫폼 결제 결과와 자동 대사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603608"/>
          <a:ext cx="6260400" cy="2137605"/>
        </p:xfrm>
        <a:graphic>
          <a:graphicData uri="http://schemas.openxmlformats.org/drawingml/2006/table">
            <a:tbl>
              <a:tblPr/>
              <a:tblGrid>
                <a:gridCol w="156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예외 상황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6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마이데이터 · TS 연계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 미적용으로 우선 정산 → 연계 복구 후 자동 재판단 · 차액 환급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자격 만료 · 불일치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 보류 + 이용자 재확인 요청, 운영자 확인 큐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Rule 충돌 · 미정의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 중단 없이 기본 요금 + 운영자 검토 큐 (Rule 보완 후 재계산)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이용자 이의 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 근거 조회 → 운영자 수동 조정 · 사유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6849215"/>
            <a:ext cx="63324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자동감면 영역 검증 지표 (검수 기준은 착수 시 협의 · 확정)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801817"/>
              </p:ext>
            </p:extLst>
          </p:nvPr>
        </p:nvGraphicFramePr>
        <p:xfrm>
          <a:off x="316800" y="7083215"/>
          <a:ext cx="6260400" cy="1619997"/>
        </p:xfrm>
        <a:graphic>
          <a:graphicData uri="http://schemas.openxmlformats.org/drawingml/2006/table">
            <a:tbl>
              <a:tblPr/>
              <a:tblGrid>
                <a:gridCol w="1408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조례 파싱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추출 항목 정확도 (담당자 판정)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90%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이상,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후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 판단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시나리오 판단 일치율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 (승인 Rule 기준)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수작업 계산 대비 정산금액 일치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시스템 연계 및 성능검증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Ⅵ.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전체 아키텍처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API 연계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성능검증 방안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전체 아키텍처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시스템 연계 및 성능검증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AI 서비스 구성도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목표 시스템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(플랫폼은 그대로, AI는 옆에) 기존 탄력주차 플랫폼을 고치지 않고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수요예측 · 자동감면 AI 서비스를 별도 컨테이너로 두고 API로 연결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하여 장애가 서로 번지지 않고 단계적으로 적용할 수 있게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일반사항 · 산출물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13999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13999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이용자 · 운영자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탄력주차</a:t>
            </a: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앱 · 웹 (</a:t>
            </a:r>
            <a:r>
              <a:rPr sz="8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이용자</a:t>
            </a: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4000" y="2430000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운영자 · 감면 담당 화면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3580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기존 + AI 화면 추가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2836800"/>
            <a:ext cx="4874400" cy="413999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4800" y="2836800"/>
            <a:ext cx="1044000" cy="413999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탄력주차 플랫폼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공유 · 예약 · 입출차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736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요금 · 결제 · 정산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144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회원 · 거주자 관리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81200" y="28368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기존 시스템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3315599"/>
            <a:ext cx="4874400" cy="413999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4800" y="3315599"/>
            <a:ext cx="1044000" cy="413999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32800" y="33875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수요예측 API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63400" y="33875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공급</a:t>
            </a: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8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요금</a:t>
            </a: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</a:br>
            <a:r>
              <a:rPr sz="8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최적화</a:t>
            </a:r>
            <a:r>
              <a:rPr sz="8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API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94000" y="33875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자동감면 · 정산 API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24600" y="33875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Rule 관리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81200" y="33155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컨테이너 · REST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3794399"/>
            <a:ext cx="4874400" cy="413999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4800" y="3794399"/>
            <a:ext cx="1044000" cy="413999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· MLOps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32800" y="38663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피처 저장소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363400" y="38663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모델 레지스트리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94000" y="38663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Rule DB · 이력 DB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24600" y="38663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모니터링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81200" y="37943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가명 데이터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6800" y="4273200"/>
            <a:ext cx="4874400" cy="413999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34800" y="4273200"/>
            <a:ext cx="1044000" cy="413999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외부 연계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432800" y="43451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자치법규 Open API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63400" y="43451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공공 마이데이터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94000" y="43451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TS 차량정보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24600" y="43451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공휴일 · 기상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81200" y="42732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보안 게이트웨이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101571"/>
              </p:ext>
            </p:extLst>
          </p:nvPr>
        </p:nvGraphicFramePr>
        <p:xfrm>
          <a:off x="316800" y="4823999"/>
          <a:ext cx="6260400" cy="3314307"/>
        </p:xfrm>
        <a:graphic>
          <a:graphicData uri="http://schemas.openxmlformats.org/drawingml/2006/table">
            <a:tbl>
              <a:tblPr/>
              <a:tblGrid>
                <a:gridCol w="1408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2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(예정)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 (FastAPI) · LightGBM · PyTorch · 생존분석 라이브러리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SW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(조례 파싱)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상용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LLM API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또는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추상화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계층으로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교체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가능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 여부 · 모델 착수 시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·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PostgreSQL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MLflow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Docker · Prometheus/Grafana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SW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탄력주차 플랫폼 운영환경 (클라우드/IDC)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시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4" name="Rectangle 6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API 연계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시스템 연계 및 성능검증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연계 대상 · API 규격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외부 · 내부 시스템 연계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(규격부터 확정) 착수 1개월 안에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탄력주차 플랫폼 · TS · 마이데이터 · 자치법규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연계 규격서를 확정하고, 확정 전에는 Mock API로 개발해 연계 지연이 개발 지연이 되지 않게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일반사항 · 산출물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568355"/>
              </p:ext>
            </p:extLst>
          </p:nvPr>
        </p:nvGraphicFramePr>
        <p:xfrm>
          <a:off x="316800" y="2358000"/>
          <a:ext cx="6260400" cy="3949048"/>
        </p:xfrm>
        <a:graphic>
          <a:graphicData uri="http://schemas.openxmlformats.org/drawingml/2006/table">
            <a:tbl>
              <a:tblPr/>
              <a:tblGrid>
                <a:gridCol w="1408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2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호출 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/forecast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→ 플랫폼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주차장 · 시간대 점유 예측 (분위수)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0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/supply-plan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→ 플랫폼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 가능시간 · 공급량 · 운영상태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15분 · 출차 이벤트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/pricing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→ 플랫폼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시간대 · 구간별 요금안 (조례 범위)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</a:t>
                      </a:r>
                      <a:r>
                        <a:rPr sz="11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</a:t>
                      </a:r>
                      <a:endParaRPr sz="1100" b="1" dirty="0">
                        <a:solidFill>
                          <a:srgbClr val="E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/discount/evaluate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→ 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 건 감면 판단 · 근거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정산 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/settlement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→ 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정산금액 · 감면 내역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정산 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/rules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Rule 조회 · 편집 · 승인 · 버전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수시</a:t>
                      </a:r>
                      <a:endParaRPr sz="11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898976"/>
              </p:ext>
            </p:extLst>
          </p:nvPr>
        </p:nvGraphicFramePr>
        <p:xfrm>
          <a:off x="316800" y="6415048"/>
          <a:ext cx="6260400" cy="2275048"/>
        </p:xfrm>
        <a:graphic>
          <a:graphicData uri="http://schemas.openxmlformats.org/drawingml/2006/table">
            <a:tbl>
              <a:tblPr/>
              <a:tblGrid>
                <a:gridCol w="1408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0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자치법규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Open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국가법령정보 공동활용 API — 목록 · 본문 · 개정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 키 암호화 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 마이데이터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이용기관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동의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암호화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결과만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보관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TS 차량정보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탄력주차 TS 연계 모듈 재사용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체계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준수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8762097"/>
            <a:ext cx="63324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모든 API는 OpenAPI 명세 · 인증 토큰 · 호출 로그를 갖추며, ‘API 및 외부시스템 연계 규격서’로 납품. 지자체 · 외부 모빌리티 서비스 확산 시 같은 API를 재사용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성능검증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시스템 연계 및 성능검증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3단계 성능 검증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기능 · 성능 검증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(실데이터로 증명)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과거 데이터 백테스트 → 4주 Shadow 운영 → 시범 적용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3단계로 검증하고, RFP에 정해지지 않은 성능 기준은 착수 시 아래 제안 기준으로 합의해 검수에 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산출물: 성능검증 · 테스트 결과서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1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백테스트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Hold-out 기간 예측 · 판단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기준선 대비 개선 확인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41999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4800" y="3041999"/>
            <a:ext cx="864000" cy="61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Shadow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13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324800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운영에 반영하지 않고 병행 기록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실제 결과와 4주 비교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41999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726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4800" y="3726000"/>
            <a:ext cx="864000" cy="61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시범 적용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797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324800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선정 주차장 · 지자체 적용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운영자 승인 모드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726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M5~M6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410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4800" y="4410000"/>
            <a:ext cx="864000" cy="612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결과서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482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324800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성능검증 · 테스트 결과서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개선 · 재학습 계획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410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M6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155719"/>
              </p:ext>
            </p:extLst>
          </p:nvPr>
        </p:nvGraphicFramePr>
        <p:xfrm>
          <a:off x="316800" y="5148000"/>
          <a:ext cx="6260400" cy="2447995"/>
        </p:xfrm>
        <a:graphic>
          <a:graphicData uri="http://schemas.openxmlformats.org/drawingml/2006/table">
            <a:tbl>
              <a:tblPr/>
              <a:tblGrid>
                <a:gridCol w="1408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 · 점유 예측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MAPE · 구간 적중률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기준선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대비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15%</a:t>
                      </a:r>
                      <a:r>
                        <a:rPr lang="en-US" sz="10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80%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 공유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조기 복귀 충돌률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2%</a:t>
                      </a:r>
                      <a:r>
                        <a:rPr lang="en-US" sz="10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이하</a:t>
                      </a:r>
                      <a:endParaRPr sz="10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자동감면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 일치율 · 정산 일치율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 ·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조례 파싱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 추출 정확도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90%</a:t>
                      </a:r>
                      <a:r>
                        <a:rPr lang="en-US" sz="10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이상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후 100%)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 판단 API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300ms</a:t>
                      </a:r>
                      <a:r>
                        <a:rPr lang="en-US" sz="10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이내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(P95)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316800" y="7703999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16800" y="7703999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4800" y="7757999"/>
            <a:ext cx="18528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단계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4800" y="8153999"/>
            <a:ext cx="18528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백테스트 · Shadow ·
시범 적용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39600" y="7703999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39600" y="7703999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547600" y="7757999"/>
            <a:ext cx="18528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47600" y="8153999"/>
            <a:ext cx="18528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Shadow 운영
비교 기간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62400" y="7703999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562400" y="7703999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70400" y="7757999"/>
            <a:ext cx="18528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70400" y="8153999"/>
            <a:ext cx="18528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감면 · 정산
판단 일치율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2280060" y="1498812"/>
            <a:ext cx="4262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품질·보안 및 기술이전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Ⅶ.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개인정보 및 데이터 관리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품질 · 산출물 · 기술이전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개인정보 및 데이터 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Ⅶ. 품질·보안 및 기술이전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개인정보 보호 · 데이터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개인정보 보호 및 데이터 관리방안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(차량과 자격은 가장 민감한 정보) 차량번호 · 자격정보는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가명 처리 후 학습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마이데이터는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동의 범위 안에서 결과값만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보관하고, 원본 개인정보는 발주기관 환경 밖으로 나가지 않게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품질 · 보안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76195"/>
              </p:ext>
            </p:extLst>
          </p:nvPr>
        </p:nvGraphicFramePr>
        <p:xfrm>
          <a:off x="316800" y="2358000"/>
          <a:ext cx="6260400" cy="3822640"/>
        </p:xfrm>
        <a:graphic>
          <a:graphicData uri="http://schemas.openxmlformats.org/drawingml/2006/table">
            <a:tbl>
              <a:tblPr/>
              <a:tblGrid>
                <a:gridCol w="999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0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보호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3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목적별 최소 항목, 마이데이터는 이용자 동의 (항목 · 목적 · 기간 고지), 동의 기록 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3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·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차량번호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가명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ID (키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분리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보관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),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패턴은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집계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가명으로만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환경에는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가명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데이터만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3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자격정보는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자격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유효기간만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원문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서류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미보관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),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AES-256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TLS 1.2+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3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개발자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),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정기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조례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파싱에는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법령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텍스트만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개인정보는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LLM에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보내지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않음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73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보유기간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경과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동의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철회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시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파기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시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파기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확인서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6288642"/>
          <a:ext cx="6260400" cy="1908000"/>
        </p:xfrm>
        <a:graphic>
          <a:graphicData uri="http://schemas.openxmlformats.org/drawingml/2006/table">
            <a:tbl>
              <a:tblPr/>
              <a:tblGrid>
                <a:gridCol w="1330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0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결측 · 이상치 · 중복 자동 검사, 수집 실패 알림, 데이터 품질 리포트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 · 감사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· Rule · 판단 결과 버전 보존, 판단 재현 가능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준수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「개인정보 보호법」 · 가명정보 처리 가이드라인 · 발주기관 보안 정책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8304642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16800" y="830464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4800" y="8358642"/>
            <a:ext cx="18528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8754642"/>
            <a:ext cx="18528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원본 개인정보
외부 반출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9600" y="8304642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439600" y="830464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547600" y="8358642"/>
            <a:ext cx="18528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7600" y="8754642"/>
            <a:ext cx="18528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LLM으로
개인정보 전송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2400" y="8304642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62400" y="830464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70400" y="8358642"/>
            <a:ext cx="18528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256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bit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0400" y="8754642"/>
            <a:ext cx="1852800" cy="377999"/>
          </a:xfrm>
          <a:prstGeom prst="rect">
            <a:avLst/>
          </a:prstGeom>
          <a:noFill/>
        </p:spPr>
        <p:txBody>
          <a:bodyPr wrap="square" lIns="7200" tIns="7200" r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AES 암호화
(개인 · 자격 정보)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품질 · 산출물 · 기술이전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Ⅶ. 품질·보안 및 기술이전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품질 · 산출물 · 기술이전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품질관리 · 산출물 · 유지관리 · 기술이전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(발주기관이 스스로 운영하도록) 월별 품질 점검과 코드 리뷰로 품질을 지키고, RFP 산출물 6종을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소스 · 모델 · 매뉴얼과 함께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넘기며, 재학습 · Rule 반영을 발주기관 인력이 직접 해 보는 기술이전을 수행함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다. 주요 산출물 · 일반사항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036045"/>
              </p:ext>
            </p:extLst>
          </p:nvPr>
        </p:nvGraphicFramePr>
        <p:xfrm>
          <a:off x="316800" y="2358000"/>
          <a:ext cx="6260400" cy="4107144"/>
        </p:xfrm>
        <a:graphic>
          <a:graphicData uri="http://schemas.openxmlformats.org/drawingml/2006/table">
            <a:tbl>
              <a:tblPr/>
              <a:tblGrid>
                <a:gridCol w="1643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9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7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및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설계서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아키텍처 · 기능(DF · AR) · 화면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0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모델 구조 및 소스코드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구조서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학습된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파이프라인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· DB 명세서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피처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Rule DB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DB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스키마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 · 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0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 및 외부시스템 연계 규격서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OpenAPI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명세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절차</a:t>
                      </a:r>
                      <a:endParaRPr sz="9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 · 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0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성능검증 및 테스트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백테스트 · Shadow · 시범 적용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· 유지보수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재학습 · Rule 관리 · 장애 대응 ·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924039"/>
              </p:ext>
            </p:extLst>
          </p:nvPr>
        </p:nvGraphicFramePr>
        <p:xfrm>
          <a:off x="316800" y="6573146"/>
          <a:ext cx="6260400" cy="2354096"/>
        </p:xfrm>
        <a:graphic>
          <a:graphicData uri="http://schemas.openxmlformats.org/drawingml/2006/table">
            <a:tbl>
              <a:tblPr/>
              <a:tblGrid>
                <a:gridCol w="1643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2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기술 공유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M2~M5 매월 1회 — 모델 · Rule 구조 · 진행 결과 공유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0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실습 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재학습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Rule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편집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개정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대응을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인력이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직접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실습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(M6, </a:t>
                      </a:r>
                      <a:r>
                        <a:rPr sz="11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2회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0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후 </a:t>
                      </a:r>
                      <a:r>
                        <a:rPr lang="en-US" sz="11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  <a:r>
                        <a:rPr sz="11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개월</a:t>
                      </a:r>
                      <a:r>
                        <a:rPr lang="en-US" sz="110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기술지원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조건은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협의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),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저하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시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재학습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  <a:endParaRPr sz="11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8999244"/>
            <a:ext cx="63324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품질 활동: 코드 리뷰 100% · 단위 테스트 · 회귀 테스트 세트(감면 시나리오) · 월간 품질 점검 보고. 산출물 지식재산권은 발주기관 귀속(당사 기보유 모듈은 사용권 부여), 하자 조건은 계약 시 협의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2568060" y="1498812"/>
            <a:ext cx="3974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사업 수행 및 관리방안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Ⅷ.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수행조직 및 인력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일정 · 위험 · 진척관리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수행조직 및 인력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Ⅷ. 사업 수행 및 관리방안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수행조직 · 투입인력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수행조직 및 업무분담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(트랙별 책임 분명) PM 아래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수요예측 · 최적화 트랙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자동감면 트랙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나누고, 데이터 · 플랫폼 연계와 품질 · 보안을 공통 지원으로 두어 6개월 동안 병행 수행함 (공동수급 없이 자사 인력)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프로젝트 관리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13999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13999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㈜동성아이텍 사업 담당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4000" y="2430000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탄력주차 운영 · 감면 담당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3580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데이터 제공 · 검수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2836800"/>
            <a:ext cx="4874400" cy="413999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4800" y="2836800"/>
            <a:ext cx="1044000" cy="413999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사업관리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2908800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PM 황보정운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4000" y="2908800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 · 보안 (QA)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81200" y="28368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주간 · 월간 보고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800" y="3315599"/>
            <a:ext cx="4874400" cy="413999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34800" y="3315599"/>
            <a:ext cx="1044000" cy="413999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수요예측 트랙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32800" y="3387599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ML 엔지니어 2명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4000" y="3387599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최적화 · 요금 설계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81200" y="33155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DF-01~05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6800" y="3794399"/>
            <a:ext cx="4874400" cy="413999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34800" y="3794399"/>
            <a:ext cx="1044000" cy="413999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자동감면 트랙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32800" y="3866399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LLM · NLP 엔지니어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4000" y="3866399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Rule 엔진 · 정산 개발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81200" y="37943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AR-01~06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4273200"/>
            <a:ext cx="4874400" cy="413999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34800" y="4273200"/>
            <a:ext cx="1044000" cy="413999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32800" y="4345199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데이터 엔지니어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94000" y="4345199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18000" rIns="18000" bIns="18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백엔드 · 연계 개발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81200" y="42732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800" tIns="28800" rIns="28800" bIns="288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API · MLOps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0800" y="4823999"/>
            <a:ext cx="63324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투입인력 총괄표 ([양식 3] — 재직 증빙 첨부) &gt;</a:t>
            </a:r>
          </a:p>
        </p:txBody>
      </p:sp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97754"/>
              </p:ext>
            </p:extLst>
          </p:nvPr>
        </p:nvGraphicFramePr>
        <p:xfrm>
          <a:off x="316800" y="5058000"/>
          <a:ext cx="6260399" cy="4299608"/>
        </p:xfrm>
        <a:graphic>
          <a:graphicData uri="http://schemas.openxmlformats.org/drawingml/2006/table">
            <a:tbl>
              <a:tblPr/>
              <a:tblGrid>
                <a:gridCol w="125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1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9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경력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 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M/M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0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황보정운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950" b="1" dirty="0">
                        <a:solidFill>
                          <a:srgbClr val="E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【AI </a:t>
                      </a:r>
                      <a:r>
                        <a:rPr sz="950" b="1" dirty="0" err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</a:t>
                      </a:r>
                      <a:r>
                        <a:rPr sz="95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50" b="1" dirty="0" err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</a:t>
                      </a:r>
                      <a:r>
                        <a:rPr sz="95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</a:t>
                      </a:r>
                      <a:r>
                        <a:rPr sz="95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PM】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M1~M6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0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엔지니어</a:t>
                      </a:r>
                      <a:endParaRPr sz="95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950" b="1" dirty="0">
                        <a:solidFill>
                          <a:srgbClr val="E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【Trading AI · </a:t>
                      </a:r>
                      <a:r>
                        <a:rPr sz="950" b="1" dirty="0" err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시계열</a:t>
                      </a:r>
                      <a:r>
                        <a:rPr sz="95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</a:t>
                      </a:r>
                      <a:r>
                        <a:rPr sz="950" b="1" dirty="0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M1~M6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0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 엔지니어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950" b="1" dirty="0">
                        <a:solidFill>
                          <a:srgbClr val="E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【최적화 · 생존분석】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M2~M5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0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· NLP 엔지니어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950" b="1" dirty="0">
                        <a:solidFill>
                          <a:srgbClr val="E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【LLM 정보 추출 · Agent】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M1~M6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10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백엔드 · Rule 엔진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950" b="1" dirty="0">
                        <a:solidFill>
                          <a:srgbClr val="E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【API · 정산 · 연계】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M2~M6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10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엔지니어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950" b="1" dirty="0">
                        <a:solidFill>
                          <a:srgbClr val="E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【데이터 파이프라인 · MLOps】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M1~M5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10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950" b="1" dirty="0">
                        <a:solidFill>
                          <a:srgbClr val="E0000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【테스트 · 개인정보 보호】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M4~M6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8" name="Rectangle 5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일정 · 위험 · 진척관리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Ⅷ. 사업 수행 및 관리방안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추진일정 · 위험 · 진척관리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추진일정 및 관리방안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(월 단위 마일스톤)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M1 분석 → M2~M4 수요예측 · M3~M5 자동감면 병행 → M5 Shadow → M6 검증 · 산출물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매주 진척 보고와 월말 시연으로 발주기관이 결과를 직접 확인함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43200" rIns="43200" bIns="432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추진일정 · 일반사항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574864"/>
              </p:ext>
            </p:extLst>
          </p:nvPr>
        </p:nvGraphicFramePr>
        <p:xfrm>
          <a:off x="316800" y="2358000"/>
          <a:ext cx="6260394" cy="3036170"/>
        </p:xfrm>
        <a:graphic>
          <a:graphicData uri="http://schemas.openxmlformats.org/drawingml/2006/table">
            <a:tbl>
              <a:tblPr/>
              <a:tblGrid>
                <a:gridCol w="881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2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5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95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95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95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95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sz="10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  <a:endParaRPr sz="10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0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</a:t>
                      </a:r>
                      <a:endParaRPr sz="95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운영환경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규격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수요예측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피처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복귀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최적화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동적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요금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자동감면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조례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파싱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Rule DB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변경관리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 · 정산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자격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조합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정산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예외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10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·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백테스트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Shadow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  <a:r>
                        <a:rPr sz="9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기술이전</a:t>
                      </a:r>
                      <a:endParaRPr sz="9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</a:t>
                      </a:r>
                      <a:r>
                        <a:rPr sz="95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140653"/>
              </p:ext>
            </p:extLst>
          </p:nvPr>
        </p:nvGraphicFramePr>
        <p:xfrm>
          <a:off x="316800" y="5502175"/>
          <a:ext cx="6260400" cy="2655213"/>
        </p:xfrm>
        <a:graphic>
          <a:graphicData uri="http://schemas.openxmlformats.org/drawingml/2006/table">
            <a:tbl>
              <a:tblPr/>
              <a:tblGrid>
                <a:gridCol w="1036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보고 (진척 · 이슈 · 다음 주 계획), 월말 시연 · 마일스톤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6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관리 대장 — 데이터 제공 지연 · 마이데이터 연계 · 성능 미달 · 일정 지연 주간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과업 · 범위 변경은 협의 후 서면 확정, 협상 결과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Git 저장소 · 이슈 트래커 공유, 모델 · Rule 버전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6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 장소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사무실 원격 수행, 주간 서면 · 월간 대면(화상) 보고, 운영 데이터는 보안 지침에 따른 VPN 등으로 가명 데이터 접근 (반출 없음)</a:t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r>
                        <a:rPr sz="10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맑은 고딕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6218</TotalTime>
  <Words>7611</Words>
  <Application>Microsoft Office PowerPoint</Application>
  <PresentationFormat>A4 용지(210x297mm)</PresentationFormat>
  <Paragraphs>1487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52" baseType="lpstr">
      <vt:lpstr>a옛날사진관5</vt:lpstr>
      <vt:lpstr>G마켓 산스 TTF Bold</vt:lpstr>
      <vt:lpstr>G마켓 산스 TTF Medium</vt:lpstr>
      <vt:lpstr>KoPub바탕체 Bold</vt:lpstr>
      <vt:lpstr>경기천년제목 Bold</vt:lpstr>
      <vt:lpstr>나눔스퀘어</vt:lpstr>
      <vt:lpstr>나눔스퀘어 Bold</vt:lpstr>
      <vt:lpstr>맑은 고딕</vt:lpstr>
      <vt:lpstr>Aldhabi</vt:lpstr>
      <vt:lpstr>Arial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309</cp:revision>
  <cp:lastPrinted>2026-06-25T07:15:15Z</cp:lastPrinted>
  <dcterms:created xsi:type="dcterms:W3CDTF">2021-09-24T12:12:26Z</dcterms:created>
  <dcterms:modified xsi:type="dcterms:W3CDTF">2026-10-26T06:28:57Z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