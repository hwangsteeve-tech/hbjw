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제안요약서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교육혁신본부 AX를 위한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에이전트 플랫폼 구축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(주)에이치나인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부산대학교 교육혁신본부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일반현황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전략 및 방법론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기술 및 기능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8631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성능 · 품질 · 인터페이스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7556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9777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7574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2533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5579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프로젝트 관리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4504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6725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4522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Ⅴ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9481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6252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프로젝트 지원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6145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367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6147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Ⅵ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6642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일반현황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 일반현황 및 유사실적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조직 및 참여인력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회사 개요와 유사분야 수행실적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유사실적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(3개 유사분야 보유) 16년간 서비스 기획·UX·개발·운영을 수행했고,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플랫폼 · AI 애플리케이션 · 공공 홈페이지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실적을 본 사업 3개 부문에 그대로 적용함 (→ Ⅰ-1~5)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2447995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 / 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 / 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설립 / 소재지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4월 / 서울 성동구 뚝섬로1길 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임직원 129명 (특급 기술자 22명), 2025년 매출 111억 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소프트웨어사업자(1468), 직접생산확인(8111159901), 중소기업확인서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【평가기관 · 유효기간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4928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4913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유사분야 수행실적 (최근 5년, 사업실적증명서 첨부)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238000"/>
          <a:ext cx="6260400" cy="2394383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3130200"/>
                <a:gridCol w="1095570"/>
                <a:gridCol w="101731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애플리케이션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2026.04 ~ 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플랫폼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MES AI Agent 'MOSAIC' (실행 이력·상태 관제)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 ~ 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 교육 플랫폼 [모두] 유지보수 ·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2024.07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【추가 실적】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【AI 플랫폼 · 공공기관·대학 홈페이지 구축 실적 — 실적 대장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16800" y="77403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7403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800" y="77943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【5】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800" y="81903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유사분야 실적
(5건 이상 = 5.0점)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39600" y="77403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39600" y="77403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47600" y="77943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분야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7600" y="81903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플랫폼 · AI 앱 ·
홈페이지 모두 보유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62400" y="77403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62400" y="77403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0400" y="77943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111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억 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0400" y="81903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2025년 매출
(부채비율 71.8%)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조직 및 참여인력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부문별 수행조직 · 참여인력 · 하도급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수행조직 및 인력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(3개 부문 책임자 + 독립 품질) 사업PM 아래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실행기반 · AI 애플리케이션 · 홈페이지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책임자를 두고 13명 · 29.9 M/M을 투입하며, 하도급은 통합 수행 조직으로 50% 이하 관리 (→ Ⅰ-6~8)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68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교육혁신본부장 (총괄)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에듀테크센터 (사업관리자)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요구사항 확정·검수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890800"/>
            <a:ext cx="4874400" cy="468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8908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총괄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962799"/>
            <a:ext cx="1807199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4000" y="2962799"/>
            <a:ext cx="1807199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품질·보안 담당 (독립 보고)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28908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주간보고·위험 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423600"/>
            <a:ext cx="4874400" cy="468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423600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 부문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4955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① 실행기반 (2명)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73600" y="34955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② AI 애플리케이션 (4명)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14400" y="34955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③ 홈페이지 (5명)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1200" y="3423600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부문 책임자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6800" y="3956399"/>
            <a:ext cx="4874400" cy="468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4800" y="3956399"/>
            <a:ext cx="1044000" cy="46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협력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32800" y="40283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【플랫폼 공급사】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73600" y="40283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【부산 소재 지원 협력사】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14400" y="4028399"/>
            <a:ext cx="1186800" cy="3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【서버 공급사】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81200" y="3956399"/>
            <a:ext cx="1296000" cy="468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하도급 ≤ 50%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316800" y="4561200"/>
          <a:ext cx="6260400" cy="3102252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3521475"/>
                <a:gridCol w="704295"/>
                <a:gridCol w="7825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M/M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총괄 · 단일 창구 · 일정·위험·과업변경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실행기반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사용권 · 설치요건서 · SSO · 권한 · 실행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AI 애플리케이션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시스템 연계 · 과제 1~4 · 골든셋 · 모델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 · 디자인 · CMS · 신청 · 서버 · 과제 5 패널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검토 · TER-003 사전 측정 · 시큐어코딩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29.9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" name="Rectangle 53"/>
          <p:cNvSpPr/>
          <p:nvPr/>
        </p:nvSpPr>
        <p:spPr>
          <a:xfrm>
            <a:off x="280800" y="7771456"/>
            <a:ext cx="6332400" cy="73827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6799" y="782545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인력 운영 원칙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6799" y="8023456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PM과 부문 책임자 4명은 착수부터 검수까지 교체 없이 투입하고, 교체 요구 시 동등 이상 인력으로 5영업일 이내 교체합니다.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전략 및 방법론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사업이해도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추진전략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적용기술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표준 프레임워크 및 개발 방법론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학내 공통 AI와 역할 분담 · 이용자 혼선 방지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본 사업의 위치와 역할 분담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(대체·중복 없음) 범용 질의는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학내 공통 AI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원천 데이터 조회 · 시스템 처리 · 통제는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본 사업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— 명칭 · 첫 화면 · 범위 밖 전환 · 운영 협의체로 혼선을 막음 (→ Ⅱ-1~4)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2514512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425905"/>
                <a:gridCol w="266067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공통 AI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(교육혁신본부 에이전트)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3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범용 질의·요약·번역·생성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 데이터 조회·대조, 시스템 상태 변경, 권한 통제·실행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문서, 업로드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학사정보·대학성과관리·성과 입력 (서버 측 권한 검증)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질문 → 검색 → 답변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실행 → 결과 관찰 → 다음 단계 (반복)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41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답변·생성물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조항이 붙은 대조 결과, 승인 후 등록·신청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4980513"/>
            <a:ext cx="14976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4980513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명칭 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5239713"/>
            <a:ext cx="14256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‘교육혁신본부 에이전트’, 담당 범위 상시 표기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04400" y="4980513"/>
            <a:ext cx="14976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4400" y="4980513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첫 화면 안내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0400" y="5239713"/>
            <a:ext cx="14256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추천 질문을 본부 업무로 한정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92000" y="4980513"/>
            <a:ext cx="14976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92000" y="4980513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범위 밖 전환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8000" y="5239713"/>
            <a:ext cx="14256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범용 질의는 공통 AI 바로가기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9600" y="4980513"/>
            <a:ext cx="14976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79600" y="4980513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운영 협의체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15600" y="5239713"/>
            <a:ext cx="14256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AX·정보화혁신본부와 정기 점검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0800" y="6132513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3개 부문 · 5개 서비스 과제 &gt;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316800" y="6366513"/>
          <a:ext cx="6260400" cy="2447995"/>
        </p:xfrm>
        <a:graphic>
          <a:graphicData uri="http://schemas.openxmlformats.org/drawingml/2006/table">
            <a:tbl>
              <a:tblPr firstRow="0" bandRow="0"/>
              <a:tblGrid>
                <a:gridCol w="626040"/>
                <a:gridCol w="1956375"/>
                <a:gridCol w="1721610"/>
                <a:gridCol w="195637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관리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대학성과관리 (조회)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집계만, 개인 식별 조회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 성과 입력 보조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입력 (쓰기)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 전체 확인 → 승인 후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교육과정 상담 보조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학사정보 (조회), 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유형은 신분 정보로 판별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에이전트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골든셋 (CLI)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JSON·CSV 판정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본부 안내 (사이드 패널)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홈페이지, 세션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비로그인 차등, 확인 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종료일 역산 · 3트랙 병행 전략과 위험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추진 전략 및 위험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(기반 먼저, 12주 3트랙) 실행기반·통제를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착수 3주 안에 먼저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세우고 과제와 홈페이지를 병행하며, 연계 규격·영향평가 등 고유 위험 6개는 대체 경로로 흡수함 (→ Ⅱ-5~7)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18198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291207"/>
                <a:gridCol w="1291207"/>
                <a:gridCol w="1252080"/>
                <a:gridCol w="125208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W1~2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W3~5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W6~9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시험·검수 W10~12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실행기반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설치요건서 (D+7)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설치·SSO·권한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검사·실행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전환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AI 애플리케이션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골든셋 90문항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설계·MCP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1~4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TER-003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IA·메뉴 (D+14)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시안 3종 →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CMS·신청·서버·패널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접근성·관리자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647985"/>
          <a:ext cx="6260400" cy="3062656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규격·계정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API·DB 양방식 연계 설계 선행, 합성 데이터 Mock 서버로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영향평가 대상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가명·합성 데이터로 시험·검수, 실데이터 개통 일정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서버 제공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개발 서버 사전 구성 → 제공 즉시 1일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원고·시안 확정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원고 템플릿 W2 배포, 시안 수정 2회 일정 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TER-003 기준 미달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W6부터 테스트 에이전트 주간 자동 측정, 기준별 담당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7818641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7872641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계약이 늦어질 때의 대응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070641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설계·구성을 1주 단축하고 구현을 2개 팀으로 병행하되 시험·검수 3주는 줄이지 않습니다. 홈페이지 공개는 검수 후 발주기관 지정일로 분리되어 일정 위험이 없습니다.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적용기술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실행 구조 · 확장 체계 · 라이선스 정책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플랫폼 실행 구조 · 라이선스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(관찰하며 다음 단계를 정하는 엔진)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계획 → 도구 선택 → 정책 검사 → 실행 → 관찰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반복하고, 도구는 MCP 등록 · 스킬은 승인 배포 · 모델은 설정 변경으로 확장함 (→ Ⅱ-8~12)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SFR-001, PSR-004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 수립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질의·권한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도구 선택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권한 내 도구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 검사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허용·차단·승인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실행·관찰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결과를 데이터로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종료·기록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 + 실행 기록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546000"/>
          <a:ext cx="6260400" cy="199932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521475"/>
                <a:gridCol w="14085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(데이터원)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MCP 서버 등록 → 접근 범위·작업 종류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절차 (스킬)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 작성 → 관리자 승인 → 조직·전사 배포, 변경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게이트웨이에 2종 이상 등록, 과제별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80800" y="565332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플랫폼 라이선스 정책 (PSR-004 — 정책서·단가표 별첨) &gt;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16800" y="5887328"/>
          <a:ext cx="6260400" cy="3062656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제품명 · 버전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【제품명 · 버전】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영구 사용권, 발주기관 명의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산정 단위 · 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【서버(노드) 단위 · ○식】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(동시 구동 10식 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 · 세션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【이용자 수 제한 없음 · 동시 세션 제한 없음】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확대 단가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【○원/식】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계약일부터 36개월 인상 없음, 30,000명(동시 6,000명)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【○원】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레퍼런스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【제안 플랫폼 국내외 운영 사례 3건】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H9 Agent 운영 적용 2건 (2026)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표준 프레임워크 및 개발 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표준프레임워크 적용 범위 · 혼합형 개발 방법론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기술 적용 및 방법론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(적용 가능한 곳은 모두) 홈페이지·CMS·연계 모듈은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전자정부 표준프레임워크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플랫폼 본체·에이전트 런타임은 사유와 대체 기술을 명시하고, 구현은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1주 스프린트 × 4회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측정함 (→ Ⅱ-13~14)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1723606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860805"/>
                <a:gridCol w="359973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사유 · 대체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· CMS · 연계 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표준프레임워크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【4.x】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실행환경, 공통 컴포넌트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사이드 패널 위젯 · SDK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브라우저 스크립트는 HTML5·ES 모듈, 서버 API는 표준FW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본체 · AI 서비스 런타임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 제품 고유 구조 / Python 에이전트 런타임 — MCP·OIDC·REST로만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189607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4189607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착수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4261607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429760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설치요건서 D+7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429760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사업수행계획서 D+14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4189607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W1~W2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4873608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4873608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분석·설계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4945607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498160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요구사항정의서·추적표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498160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서비스·보안 설계, IA·시안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4873608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W2~W5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5557608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5557608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5629607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566560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1주 스프린트 × 4회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566560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매주 골든셋 측정·시연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5557608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W6~W9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6241607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6241607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시험·검수·이관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6313607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6349607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통합·성능·보안·접근성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6349607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교육·소스 이관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6241607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W10~W12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6979607"/>
          <a:ext cx="6260400" cy="1827215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524308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요구사항정의서, 서비스 설계서, 보안 설계서, IA·메뉴 구성표, 디자인 시안·UI/UX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구현 완료 보고서, 테스트 에이전트·골든셋, 소스·형상 저장소, 위젯·SDK 규격서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시험·이관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테스트·성능·인젝션·접근성 결과서, 검수결과서, 매뉴얼, 교육결과보고서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기술 및 기능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장비구성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기능 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 · 데이터 · 운영 · 제약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장비구성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웹 서버 1식 사양 · 플랫폼 설치 요건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웹 서버 및 플랫폼 설치 요건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(최소 사양 상회 · 이중화) 웹 서버는 RFP 최소 사양을 모두 넘는 1U 랙 서버로 납품하고, 플랫폼은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D+7 설치요건서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연산 자원 · 포트 · 계정을 확정함 (→ Ⅲ-1~3)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WEB-012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97132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112885"/>
                <a:gridCol w="2973689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RFP 최소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·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제안사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【제조사 · 모델】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1U 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 · 메모리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8코어 · 32GB ECC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【12코어】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64GB DDR5 ECC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저장장치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SSD 960GB×2 RAID1 핫스왑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SSD 960GB×2 RAID1 + 백업 SSD 1.92TB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전원 · 네트워크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 전원 · 1GbE×2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 전원 핫스왑 · 1GbE×4 (본딩 + 관리)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하자담보기간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【3년】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제조사 보증,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【익일 방문】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부품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43732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플랫폼 설치 요건 (시범 100명 기준, 발주기관 제공 서버)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671328"/>
          <a:ext cx="6260399" cy="1908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3521475"/>
                <a:gridCol w="939059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권장 사양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 (실행기반·서비스·MCP)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【16 vCPU · 64GB · SSD 500GB】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(작업공간·실행 기록)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【8 vCPU · 32GB · SSD 1TB】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이중화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색인 (지식 데이터)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【8 vCPU · 32GB · SSD 500GB】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16800" y="768732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68732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800" y="774132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99.5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800" y="813732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홈페이지 월 가용률
(목표)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39600" y="768732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39600" y="768732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47600" y="774132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D+7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7600" y="813732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설치요건서
(자원·포트·계정)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62400" y="768732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62400" y="768732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0400" y="774132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0400" y="813732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서버 제공 후
플랫폼 이관 설치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실행기반 · 과제 1~4 구현 방식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실행기반 및 서비스 과제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(조회는 그대로, 쓰기는 승인 후) 과제 1은 집계만, 과제 2는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값 전체 승인 후 등록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과제 3은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요건별 충족·미충족 + 근거 조항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과제 4는 골든셋 자동 판정 CLI로 구현함 (→ Ⅲ-4~9)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SFR-002, SFR-005, SFR-006, SFR-007, SFR-009, SFR-010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3664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286710"/>
                <a:gridCol w="17998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스킬 승인 배포 · 격리 작업공간 · 세션 재개 · 관리자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SFR-002~004 · 008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 시점 원천 조회, 개인 식별 항목 없는 도구 + 결과 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차단 실패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2 성과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추출 → 항목 확인·수정 → 서지 출처 → 사전 검증 → 승인 →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누락 0건, 9/10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3 상담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신분으로 유형 판별, 요건 대조 + 근거 조항 + 사용 이수 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일치 100%, 단정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4 CLI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골든셋 변환 없이 입력, 횟수·모델·인자 지정, JSON·CSV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TER-003 판정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802642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802642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모델 등록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874641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910642"/>
            <a:ext cx="41544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교내 개방형 모델 1종 + 상용 모델 1종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5802642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2종 이상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6540642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6540642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설정 전환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6612642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6648642"/>
            <a:ext cx="41544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관리자 화면에서 과제별 모델 변경 (코드 수정 없음)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69200" y="6540642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SFR-009 시연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7278642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7278642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비교 실행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34800" y="7350642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324800" y="7386642"/>
            <a:ext cx="41544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같은 골든셋 30문항을 두 모델로 실행 · 판정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69200" y="7278642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비교 결과서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0800" y="8070642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6799" y="8124641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숫자는 모델이 다시 쓰지 않습니다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799" y="8322642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학사·성과 조회 값은 도구 결과를 그대로 표로 보여 주어 원천 값과 제시 값이 100% 일치하게 하고, 근거 조항은 응답 전 원문과 대조합니다.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기능 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사이드 패널 · 홈페이지 구축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사이드 패널 및 홈페이지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(보는 페이지를 이해하는 패널) 페이지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URL · 경로 · 제목 · 요지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컨텍스트로 넘기고, 비로그인은 공개 근거만 · 신청은 확인 카드 승인 후 실행하며, 홈페이지는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3단계·3클릭 IA와 시안 3종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구축함 (→ Ⅲ-10~17)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SFR-011, SFR-012, SFR-013, SFR-014, WEB-001, WEB-002, WEB-003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페이지 열람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프로그램 상세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패널 호출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컨텍스트 수집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서버 검증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SSO 세션 권한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 카드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명시적 승인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실행·기록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MCP 도구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654000"/>
          <a:ext cx="6260400" cy="219600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347650"/>
                <a:gridCol w="273892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비로그인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(SSO)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콘텐츠·규정·FAQ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+ 권한 범위 내 학내 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연계 도구 호출 안 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신분·소속 권한 범위 (플랫폼과 동일)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종료 시 폐기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저장·재조회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5958000"/>
          <a:ext cx="6260400" cy="307019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 · 디자인 (001·002)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D+14 IA 승인, 메인 시안 3종(에이전트 퍼스트·프로그램 허브·교육혁신 포털), 서브 8종, 3단 반응형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· 게시판 (003·004)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수정 없는 메뉴·페이지·게시판 생성, 역할별 권한, 비종속 자체 CMS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신청 · 교육과정 (005·006)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 시 공고·신청서 자동 생성, 신청→승인→출석→수료→설문, 학사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검색·다국어·접근성 (007~011)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본문 검색 → 패널 연결, Language Set, KWCAG 2.2, 정적 10쪽 제작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보안 · 데이터 · 운영 · 제약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기술 및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실행 안전성 · 이력 보존 · 직접 운영 · 제약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보안 · 데이터 · 운영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(모델을 믿지 않는 설계) 권한은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세션 식별자 주입 + 3중 서버 검증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문서·첨부는 데이터로만 처리하고, 이력은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접속기록 2년 · 질의응답 1년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보존 후 개방 형식으로 이관함 (→ Ⅲ-18~26)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SER-001, SER-003, DAR-001, DAR-002, DAR-004, SFR-008, QUR-002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지점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플랫폼 정책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사용자·그룹·자원·작업 종류 사전 검사, 변경 작업 승인 토큰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MCP 도구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토큰으로 주체·대상 재검증, 결과 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학내 시스템 계정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전용 / 변경 전용 계정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374000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 적재 (DAR-001)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조항 단위 분할 · 출처(문서명·조항) · 발주기관 직접 추가·교체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보존 (DAR-002)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접속기록 2년 이상(위·변조 방지), 질의응답 1년 후 자동 파기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· 백업 (DAR-003)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JSON·CSV·SQL 덤프 이관, 일 1회 + 1시간 로그, RTO 4h · RPO 1h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색인 (DAR-004)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변경 이벤트 → 1시간 이내(목표 10분), 비공개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876000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430402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서버 발주기관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D+7 설치요건서, 당사 서버 사전 구성 후 1일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도입 범위 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게이트웨이 연계만 개발, 모델 소재지·처리 방식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규격 계약 후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API·DB 양방식 어댑터, 합성 데이터 Mock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영향평가 전 실데이터 미개통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가명·합성 데이터로 시험·검수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성능 · 품질 · 인터페이스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성능 · 품질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인터페이스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성능 · 품질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· 품질 · 인터페이스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성능 · 가용성 수치와 TER-003 달성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성능 및 정량 판정 기준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(모든 기준을 수치로)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동시 100명 · 플랫폼 월 99.0% · 홈페이지 99.5% · RTO 4h / RPO 1h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검수 시 측정하고, 10개 판정 기준을 W6부터 매주 자동 측정함 (→ Ⅳ-1~4)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QUR-001, QUR-003, TER-003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655213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2112885"/>
                <a:gridCol w="258241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100명 성능 저하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100명 30분 지속 (혼합 시나리오)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월 99.0% / 홈페이지 99.5%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— AP 2대 Active-Active, DB 이중화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RTO · RPO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4시간 · 1시간 / 홈페이지 4시간 · 6시간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 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【0.2초】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 (비동기 로딩)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6,000명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【16대】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DB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【4대】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수평 증설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121216"/>
          <a:ext cx="6260400" cy="2861994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860805"/>
                <a:gridCol w="344322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원천값 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결과 그대로 렌더링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조항 실재·일치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조항 색인 · 응답 전 원문 대조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밖 미노출 / 승인 누락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 /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식별자 주입 · 승인 토큰 서버 강제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인젝션·우회 성공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신뢰 경계 · 유출 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호출 성공률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스키마 검증 · 재시도 · 대체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필드 정확도 / 단정 표현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9/10↑ /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교차 추출 / 금지 표현 출력 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809121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809121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814521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54121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동시 사용자
(30분 지속 시험)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809121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809121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814521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99.0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54121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플랫폼 월 가용률
(홈페이지 99.5%)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809121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809121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814521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6,000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54121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확장 설계
(전 구성원 20%)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인터페이스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성능 · 품질 · 인터페이스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조회형 · 변경형 연계와 MCP · 세션 공유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학내 시스템 연계 · 세션 공유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(모든 접근은 MCP 한 길로) 학사·성과관리는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조회 전용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성과 입력은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승인 토큰 필수 변경형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분리하고, 홈페이지 패널은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1회용 단기 토큰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재로그인 없이 인증을 이어받음 (→ Ⅳ-5~8)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SIR-001, SIR-002, SIR-003, SIR-004, SIR-005, SIR-006, SIR-007, SIR-008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137605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704295"/>
                <a:gridCol w="2347650"/>
                <a:gridCol w="203463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SAML 2.0 / OIDC, 신분·소속 속성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발급, 재인증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대학성과관리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API·DB 양방식, 집계만 반환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소속·권한 서버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API·DB 양방식, 최소 항목, 원천 직접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유형·대상 유효성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입력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검증 → 트랜잭션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· 승인 토큰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603608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4603608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로그인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4675607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471160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홈페이지 SSO 로그인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471160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HttpOnly 세션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4603608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홈페이지 세션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287608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5287608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토큰 교환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359607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539560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웹 서버 ↔ 플랫폼 mTLS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539560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【60초】</a:t>
            </a: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 1회용 토큰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287608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패널 세션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5971607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5971607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최소 정보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043607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6079607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신분·소속·식별자만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6079607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권한은 플랫폼 재판정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5971607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권한 적용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6655607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6655607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로그아웃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6727607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6763607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홈페이지 로그아웃 이벤트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6763607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패널 세션 동시 폐기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6655607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동시 종료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7393607"/>
          <a:ext cx="6260400" cy="1619997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 · 위젯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채팅 (SIR-006)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자유 대화 · 세션 이어 대화 · 처리 과정 펼쳐 보기 · AI 생성 상시 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임베딩 위젯 (SIR-007)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스크립트 1줄, 영향 0.5초 이내, 허용 도메인 · CORS · CSP · SRI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접근성 (WEB-009)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키보드 조작 · ARIA live · 명도 대비 4.5:1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관리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Ⅴ.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관리방법론 및 일정계획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관리방법론 및 일정계획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프로젝트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관리 방법 · 종료일 역산 주차별 일정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관리 및 주차별 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(12주 역산) W12(’27. 2. 15.~19.)를 검수 · 이관 주로 고정하고, 착수 산출물 3종과 관문 4개로 관리하며, 홈페이지 공개는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검수 후 ’27 상반기 지정일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 별도 수행함 (→ Ⅴ-1~5)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PMR-001, PMR-003, WEB-014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314101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1330335"/>
                <a:gridCol w="1408590"/>
                <a:gridCol w="1408590"/>
                <a:gridCol w="1173825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실행기반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AI 애플리케이션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W1~W2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설치요건서 (D+7)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골든셋 · 범위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인터뷰 · IA (D+14)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W3~W5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· SSO · 정책 ·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설계 · MCP · 적재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시안 3종 →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설계서 ·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W6~W9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· 관리자 · 스킬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1~4 · 과제 5 패널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· 신청 · 서버 · 위젯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완료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W10~W12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· 인젝션 ·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통합시험 · TER-003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접근성 · 관리자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검수결과서 ·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작업 · 4주 안정화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점검표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780101"/>
          <a:ext cx="6260400" cy="167400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·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WBS · 관문 4개(W2·W5·W9·W12), 58개 요구사항 추적표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·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관리 대장, 주간보고(매주), 영향 사항 즉시 서면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 ·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· 리뷰 승인 병합, 영향 이벤트 로그 1년, 소스·저장소 일체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보안 개발 환경 + 합성 데이터, 발주기관 웹 테스트 환경 W6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6562101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656210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6616101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D+7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7012101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설치요건서
(자원·포트·계정)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6562101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656210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6616101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D+14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7012101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사업수행계획서
승인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6562101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656210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6616101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7012101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정보구조도(IA)·
메뉴 구성표 승인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0800" y="7552101"/>
            <a:ext cx="6332400" cy="892674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6799" y="7606101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홈페이지는 검수와 공개를 나누어 관리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799" y="7804101"/>
            <a:ext cx="6080400" cy="586674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검수는 접근 제한 환경에서 구현·시험 통과로 W12에 마치고, 관리자 교육을 검수 전에 끝내 발주기관이 공개 전까지 콘텐츠를 직접 등록하게 합니다. 공개 작업과 공개 후 4주 안정화는 하자담보기간 내 무상으로 수행합니다.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프로젝트 지원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Ⅵ.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품질보증 · 시험운영 · 교육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유지관리 · 하자보수 · 보안 · 비상대책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품질보증 · 시험운영 · 교육훈련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품질보증 · 골든셋 시험 · 교육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품질 · 시험 · 교육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(함께 만드는 골든셋, 직접 운영하는 역량) 착수 2주에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골든셋 90 + 홈페이지 70문항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공동 구성하고, 온사이트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2회차·16시간·회차당 30명·1인 1실습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교육을 실시함 (→ Ⅵ-1~4)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TER-001, TER-002, TER-004, PSR-001, WEB-013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91209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품질관리팀(CTO) 독립 점검, 코드 리뷰 100%, 관문별 품질 감사 4회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골든셋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1~3 각 30↑ · 홈페이지 50↑ · 페이지 컨텍스트 20↑ · 보안 공격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【60】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단위(W6~9) → 통합(W10) → 골든셋(매주·W11) → 성능·보안·접근성(W10)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사용자(100명 범위) 과제 1~3 직접 수행 → 보완 →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378097"/>
          <a:ext cx="6260400" cy="2433144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565100"/>
                <a:gridCol w="1565100"/>
                <a:gridCol w="133033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구성·운영 1회차 (8h)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·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30명↑ · 1인 1실습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정책·실행 기록 2회차 (8h)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·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30명↑ · 1인 1실습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관리자 교육 2회 (각 2h+)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· 콘텐츠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W11 (검수 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919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919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973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160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문항↑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369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골든셋
(90 + 홈페이지 70)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7919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7919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7973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369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온사이트 교육
2회차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7919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7919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7973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369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종료 후
온라인 질의 대응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Ⅵ-1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유지관리 · 하자보수 · 보안 · 비상대책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프로젝트 지원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기술지원 · 하자보수 · 기밀보안 · 온사이트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사업 종료 후 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(부산 현장 도착 시간 약속) 1등급 장애는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30분 응답 ·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【2시간】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이내 현장 도착 · 4시간 복구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인도일부터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1년 무상 하자보수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(TER-003 정확성 미달 포함), 유지관리 요율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【○%】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(→ Ⅵ-5~8)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PSR-002, PSR-003, SER-002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090656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330335"/>
                <a:gridCol w="1330335"/>
                <a:gridCol w="17998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최초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복구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도착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1등급 (전체 중단·개인정보)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【2시간】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2등급 (과제 중단·연계 장애)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【4시간】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3등급 (일부 오류)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2영업일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556656"/>
          <a:ext cx="6260400" cy="306265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조직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본사(서울) 원격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【4명】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【부산 소재 협력사】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현장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【2명】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+ 서버 제조사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【부산 서비스센터】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(무상)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인도일부터 1년, 비정상 동작·미충족·TER-003 미달, 원인·조치 문서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 (유상)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추가·환경 변화 조정 — 연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【○%】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(개발비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기밀보안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인력 보안서약, 자료 반출 통제, 시큐어코딩 전수 진단, 종료 시 반납·파기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·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RPO 1시간 · 홈페이지 6시간, RTO 4시간, 검수 시 복구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7727313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7781313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현장 인력이 시스템을 미리 아는 방법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7979313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부산 현장 지원 인력은 웹 서버 설치(W7)·시험(W10)에 직접 참여하고 운영자 교육을 수강하며, 장애 대응 절차서·구성도를 인계받아 분기 1회 모의 훈련을 실시합니다.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Ⅵ-2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