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566" r:id="rId94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  <p:sldId id="7536" r:id="rId64"/>
    <p:sldId id="7537" r:id="rId65"/>
    <p:sldId id="7538" r:id="rId66"/>
    <p:sldId id="7539" r:id="rId67"/>
    <p:sldId id="7540" r:id="rId68"/>
    <p:sldId id="7541" r:id="rId69"/>
    <p:sldId id="7542" r:id="rId70"/>
    <p:sldId id="7543" r:id="rId71"/>
    <p:sldId id="7544" r:id="rId72"/>
    <p:sldId id="7545" r:id="rId73"/>
    <p:sldId id="7546" r:id="rId74"/>
    <p:sldId id="7547" r:id="rId75"/>
    <p:sldId id="7548" r:id="rId76"/>
    <p:sldId id="7549" r:id="rId77"/>
    <p:sldId id="7550" r:id="rId78"/>
    <p:sldId id="7551" r:id="rId79"/>
    <p:sldId id="7552" r:id="rId80"/>
    <p:sldId id="7553" r:id="rId81"/>
    <p:sldId id="7554" r:id="rId82"/>
    <p:sldId id="7555" r:id="rId83"/>
    <p:sldId id="7556" r:id="rId84"/>
    <p:sldId id="7557" r:id="rId85"/>
    <p:sldId id="7558" r:id="rId86"/>
    <p:sldId id="7559" r:id="rId87"/>
    <p:sldId id="7560" r:id="rId88"/>
    <p:sldId id="7561" r:id="rId89"/>
    <p:sldId id="7562" r:id="rId90"/>
    <p:sldId id="7563" r:id="rId91"/>
    <p:sldId id="7564" r:id="rId92"/>
    <p:sldId id="7565" r:id="rId93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교육혁신본부 AX를 위한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에이전트 플랫폼 구축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부산대학교 교육혁신본부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요구사항 대비 수용여부 조견표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84240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280800">
                <a:tc rowSpan="1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실행 엔진 및 도구 실행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Ⅱ-10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스킬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Ⅱ-11, Ⅲ-4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사용자 및 작업공간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Ⅱ-9, Ⅲ-4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관리 및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관리 통계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 성과 입력 보조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교육과정 상담 보조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Ⅲ-5, Ⅲ-24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모델 운용 및 무종속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Ⅱ-11, Ⅲ-5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검증 테스트 에이전트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사이드 패널 에이전트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컨텍스트 인식 및 사이트 내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사이드 패널 서비스 과제 실행 및 확인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로그인·비로그인 차등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8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통합인증(SSO)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대학성과관리 시스템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Ⅲ-6, Ⅳ-5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 성과 입력 관리 시스템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Ⅲ-7, Ⅳ-5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학사정보 시스템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Ⅲ-8, Ⅳ-5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도구 연동 규격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인터페이스 및 기본 채팅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임베딩 위젯 및 SDK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홈페이지–플랫폼 인증 세션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데이터 적재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데이터 관리 및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보존 및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콘텐츠 자동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환경 및 평가용 질의 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Ⅲ-9, Ⅴ-5, Ⅵ-2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시나리오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Ⅵ-3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대상 범위 및 판정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전략 및 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기술 및 기능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성능 · 품질 · 인터페이스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579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관리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504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6725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522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481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252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145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367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147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642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제안사의 조직 및 업무분장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참여인력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 ([붙임 2호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2814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20854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94141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518141"/>
          <a:ext cx="6260400" cy="424064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08월 (16년 5개월)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소프트웨어사업자(컴퓨터관련서비스업 1468), 직접생산확인(정보시스템개발서비스 8111159901), 중소기업확인서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【SP인증·ISO 등 품질 인증 보유 여부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88119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86679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 3개 부문과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819079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8190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AI 에이전트 실행기반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44999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Agent 실행 이력·상태 통합 관제(MOSAIC), 실행 기록·권한 기반 업무 플랫폼 구축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819079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8190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AI 애플리케이션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44999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위치 제시형 Trading AI Agent, 업무 시스템 연동형 Agent 개발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819079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8190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홈페이지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44999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공공 교육 플랫폼(국립중앙박물관 '모두') 구축·운영, iF Design Award 수상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주요 연혁 및 수상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서비스 품질) iF · Good Design · ICT AWARD KOREA 등 국내외 수상과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한국디자인진흥원 우수디자인전문기업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선정으로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72379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ㆍ㈜에이치나인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 광고 대상 미디어 부문 은상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ㆍ칸느 광고제 미디어 부문 동상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골드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ㆍKorea Design Award 올해의 디자인 프로젝트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우수디자인(GD) 서비스/경험디자인 부문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ㆍ스마트 앱 어워드 KT 고객센터 커뮤니케이션 분야 최우수상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ㆍK-DESIGN AWARD "Everything Moments"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ㆍGood Design 코레일톡 플러스 모바일 앱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ㆍ중소벤처기업부 사내벤처육성기업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ㆍKIDP 한국디자인진흥원 "우수 디자인 전문 회사 선도 부문"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"모스랜드 헌터스"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디자인(GD)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ㆍi-AWARDS WEB AWARD KOREA (쇼핑몰 부문 통합대상)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8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Website 부문 수상 (국립중앙박물관 교육플랫폼 '모두')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ㆍ서울시 청소년 문제해결 프로젝트 디자인 가치상 (DMI 미국 디자인경영연구소)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ㆍ한국무역협회 1백만불 수출의 탑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ㆍICT AWARD KOREA 디지털 서비스혁신 분야 GOLD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2024 우수디자인전문기업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ㆍDesign Award 2025 Service 부문 수상 (Daishin Securities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자본금 및 최근 3년간 매출액 ([붙임 3호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자본금 및 매출액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기업신용평가등급: BBB0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【신용평가기관·평가일·유효기간 — 신용평가등급확인서 기준】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(정량 경영상태 5점, BBB0 = 4.6점)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최근 5년 AI 플랫폼·AI 애플리케이션·홈페이지 구축 실적 ([붙임 4호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유사분야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(3개 유사분야 모두 보유) RFP가 정한 유사분야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① AI 플랫폼 ② AI 애플리케이션(RAG·에이전트) ③ 공공기관·대학 홈페이지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구축을 모두 수행했으며, 실적증명서(발주기관 날인)를 첨부함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8" cy="3913968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895435"/>
                <a:gridCol w="1095570"/>
                <a:gridCol w="860805"/>
                <a:gridCol w="46952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 (근거 위치 제시형 Agent)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제조 DT 시스템 — MES AI Agent 'MOSAIC' (실행 이력·상태 관제)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【AI 플랫폼 구축 실적 추가 — 실적 대장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2024.07 ~ 2025.01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2025.07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【공공기관·대학 홈페이지 구축 실적 — 실적 대장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637997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637997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643397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【5】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682997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유사분야 실적
(5건 이상 = 5.0점)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637997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637997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643397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분야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682997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플랫폼 · AI 앱 ·
홈페이지 모두 보유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637997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637997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643397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682997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UX·플랫폼 구축 업력
(2010년 설립)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0800" y="733397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공고일 기준 최근 5년 이내 완료된 단독 실적, 사업실적증명서([붙임 5호]) 첨부 건만 기재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7549970"/>
            <a:ext cx="6332400" cy="94414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760397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실적이 본 사업에 주는 차이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7801970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시스템을 직접 조회하고 실행 이력을 남기는 Agent를 이미 운영 환경에 적용해 보았고, 공공 교육 플랫폼의 정보구조·접근성·운영 이관을 수행한 경험으로 홈페이지와 에이전트를 한 조직에서 함께 만듭니다.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1.3.2 본 사업 관련 주요 수행사례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유사분야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기술, 같은 결과물) 근거를 함께 제시하는 Agent, 실행 이력을 남기는 Agent 관제, 공공 교육 플랫폼의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세 가지 경험을 과제 1~5와 홈페이지에 직접 적용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Trading AI Agent 개발 (에스케이㈜, 2026)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2682000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718000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(근거 기반 응답) 자연어 질의에 </a:t>
            </a:r>
            <a:r>
              <a:rPr sz="120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근거 데이터의 위치를 함께 제시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하는 추적 가능한 Agent 응답 구조 구현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과제 3 근거 규정·조항 인용(정확도 90%↑), 과제 2 서지정보 조회 경로·출처 제시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414287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412848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SK하이닉스 MES AI Agent 'MOSAIC' (2026)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00" y="4452480"/>
            <a:ext cx="6332400" cy="116586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4488480"/>
            <a:ext cx="6224400" cy="112986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(실행 관제) Agent의 도구 실행 이력·상태를 통합 관제하고, Judge Agent가 정확성·근거 충실도를 </a:t>
            </a:r>
            <a:r>
              <a:rPr sz="120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자동 평가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SER-001 실행 기록 체계, 과제 4 테스트 에이전트의 자동 판정 구조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2400" y="572274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00" y="570834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 플랫폼 '모두' (2023~2025)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00" y="6032340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6068340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(공공 교육 플랫폼) 교육 프로그램 탐색·신청·콘텐츠 운영, </a:t>
            </a:r>
            <a:r>
              <a:rPr sz="120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iF Design Award 2023 Website 부문 수상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WEB-001 정보구조, WEB-005 프로그램 신청·이수 관리, WEB-009 접근성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6800" y="747882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168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제시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" y="776682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조항·출처 (과제 2·3)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1811700" y="802062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908900" y="747882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19089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기록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4900" y="776682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도구 실행 관제 (SER-001)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3403800" y="802062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501000" y="747882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35010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평가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7000" y="776682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판정 자동화 (과제 4)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4995900" y="802062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93100" y="7478820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50931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교육 플랫폼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9100" y="7766820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신청·이수 (WEB-005)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제안사의 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부문별 수행조직 및 보고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수행조직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(3개 부문 책임자 체계) 사업PM 아래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① 실행기반 ② AI 애플리케이션 ③ 홈페이지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부문 책임자를 두고, 품질·보안 담당이 수행 조직과 별도로 산출물과 검수 기준을 점검함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50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교육혁신본부장 (총괄)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에듀테크센터 (사업관리자)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소관부서·정보화 담당부서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요구사항 확정·검수·연계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872800"/>
            <a:ext cx="4874400" cy="45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8728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44800"/>
            <a:ext cx="1807199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2944800"/>
            <a:ext cx="1807199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품질·보안 담당 (PMO)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28728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주간보고·위험·형상 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387600"/>
            <a:ext cx="4874400" cy="45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3876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실행기반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4596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 설치·구성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73600" y="34596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인증·권한 체계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4400" y="34596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거버넌스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3876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책임자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3902400"/>
            <a:ext cx="4874400" cy="45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39024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AI 애플리케이션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3974399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학내 시스템 연계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73600" y="3974399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1~4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14400" y="3974399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모델 연계·배포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81200" y="39024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책임자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4417200"/>
            <a:ext cx="4874400" cy="450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800" y="44172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홈페이지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32800" y="44892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IA·디자인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73600" y="44892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CMS·기능·서버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14400" y="44892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사이드 패널(과제 5)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81200" y="44172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책임자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316800" y="5003999"/>
          <a:ext cx="6260400" cy="370724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3443220"/>
                <a:gridCol w="15651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및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총괄, 발주기관 단일 창구, 일정·위험·과업변경 관리, 주간보고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주간보고·월간 검토회의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사용권 공급, 설치요건서(7일), SSO·권한·작업공간, 실행 정책·실행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부문 일일 점검 →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SIR-002~005 연계, 과제 1~4, 골든셋·테스트 에이전트, SFR-009 모델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부문 일일 점검 →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IA(2주)·시안 3종·CMS·프로그램 신청·교육과정·웹 서버·콘텐츠·과제 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부문 일일 점검 →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품질·보안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검토, TER-003 판정 기준 사전 측정, 시큐어코딩·취약점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PM과 별도로 발주기관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Rectangle 6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제안사의 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부문별 업무분장 · 하도급 분담 범위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업무분장 및 하도급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(통합 수행 조직) 하도급 사업자를 수행 조직의 일원으로 포함하여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같은 회의·보고·보안·품질 기준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적용하고, 하도급 금액은 계약금액의 50% 이하로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PMR-002, PSR-002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77845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252080"/>
                <a:gridCol w="2738925"/>
                <a:gridCol w="109557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주체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【플랫폼 공급사 / 자사】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사용권 공급, 설치·구성 기술지원, 플랫폼 하자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【하도급 여부】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에이치나인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모듈, 과제 1~4, 골든셋, 테스트 에이전트, 모델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자사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에이치나인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IA·디자인·퍼블리싱·CMS·기능 개발·콘텐츠 제작·과제 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자사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HW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【서버 공급사】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1식 납품·설치, 하드웨어 보증·부품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물품 공급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온사이트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【부산 소재 지원 협력사】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1차 현장 대응, 서버·네트워크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【하도급 여부】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55824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54384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하도급 관리 방안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8678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8678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사전 승인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12704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계약 전 하도급 계획서(범위·금액·관리 방안) 제출, 발주기관 서면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68678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68678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통합 회의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712704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착수·진행·검수 회의와 주간보고에 하도급 인력 참여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68678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68678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동일 기준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712704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보안서약·시큐어코딩·산출물 기준을 자사 인력과 동일 적용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68678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68678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책임 일원화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712704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발주기관 지시는 사업PM을 통해 전달, 계약상 책임은 당사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800" y="830784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하도급 사업자·분담 비율·참여 인력 및 참여 확약서: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【하도급 계획 확정 후 기입 — 합계 계약금액의 50% 이하】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참여인력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사업책임자 · 부문별 책임자 · 주요 참여인력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참여인력 및 투입공수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(종료일 고정 일정에 맞춘 집중 투입) 계약 후 12주 동안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핵심 인력을 전 기간 상주 투입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디자인·시험 인력은 단계별로 투입함 (계약일 2026년 12월 초 가정)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5392101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704295"/>
                <a:gridCol w="547785"/>
                <a:gridCol w="2191140"/>
                <a:gridCol w="939059"/>
                <a:gridCol w="62604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경력·자격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【AI·플랫폼 사업 PM 경력, 자격】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 책임 (아키텍트)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【에이전트 플랫폼·SSO·권한 설계】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【컨테이너·온프레미스 설치·운영】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~ W10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애플리케이션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【AI Agent·RAG 개발 (Trading AI Agent)】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 (과제 1·3)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【LLM 도구 연동·MCP 개발】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 (과제 2·4)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【중급】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【문서 추출·CLI 도구 개발】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【학사·성과 시스템 API/DB 연계】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 ~ 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 책임 (UX)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【공공 홈페이지 IA·UX (모두 플랫폼)】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디자이너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【디자인 시스템·반응형】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~ W7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퍼블리셔 (접근성)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【중급】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【KWCAG 2.2 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W4 ~ 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개발 (CMS·신청)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【CMS·프로그램 신청 개발】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개발 (위젯·색인)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【중급】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【위젯·SDK, 색인 연동】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W5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품질·보안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【시큐어코딩·웹 취약점 점검】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822101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인력별 학력·경력·자격·기술등급 증빙은 참여인력 이력사항으로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【이력서·경력증명서】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 하도급 사업자 인력은 2.2 확정 후 추가 기재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800" y="8038101"/>
            <a:ext cx="6332400" cy="721116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09210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인력 운영 원칙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290101"/>
            <a:ext cx="6080400" cy="415116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PM과 부문 책임자 4명은 착수부터 검수까지 교체 없이 투입하며, 발주기관이 자격 미달·부적정을 확인하여 교체를 요구하면 동등 이상 등급 인력으로 5영업일 이내 교체합니다.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전략 및 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사업이해도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적용기술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프레임워크 적용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 방법론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부산대학교 AI 추진 현황과 본 사업의 위치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배경 및 본 사업의 위치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(범용 AI 위에 업무 완결형 에이전트) 본교는 PNU-AX 전략·A.U.R.A 2.0에 따라 범용 AI를 운영 중이며, 본 사업은 그 위에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원천 데이터 조회·시스템 처리·통제·기록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더해 교육혁신본부 업무를 완결하는 첫 사례임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46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대학 전략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PNU-AX 전략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73600" y="24300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A.U.R.A 2.0 마스터플랜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14400" y="2430000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글로컬대학30 9-3-2 과제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에듀테크 교육혁신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90800"/>
            <a:ext cx="4874400" cy="46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908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학내 공통 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62799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다중 LLM 질의·요약·번역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962799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 구성원 생성형 AI 도구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908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범용 · 공개 문서 기반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423600"/>
            <a:ext cx="4874400" cy="46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4236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사업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업무 결합 AI 서비스 (과제 1~5)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736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실행기반 (권한·실행 기록)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44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본부 홈페이지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34236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부서 특화 · 원천 데이터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3956399"/>
            <a:ext cx="4874400" cy="468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800" y="3956399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향후 확산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32800" y="4028399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타 부서 업무 스킬 추가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4000" y="4028399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임베딩 위젯으로 타 사이트 이식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81200" y="3956399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 구성원 30,000명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0800" y="45612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질의응답형 챗봇과 본 사업 AI 에이전트의 차이 (RFP Ⅳ장 나.) &gt;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16800" y="4795200"/>
          <a:ext cx="6260400" cy="291209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347650"/>
                <a:gridCol w="27389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질의응답형 챗봇 (공통 AI)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에이전트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문서·안내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규정·이수 이력·성과 정보 (원천 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 → 검색 → 답변 (단발)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실행 → 결과 관찰 → 다음 단계 판단 (반복)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불필요 (공개 정보)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통합인증 + 서버 측 권한 검증 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완결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안내에서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등록·프로그램 신청까지 승인 후 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280800" y="7815297"/>
            <a:ext cx="6332400" cy="969875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6799" y="786929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에이치나인의 이해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6799" y="8067297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사업의 핵심은 답변을 잘 만드는 것보다, 누가 어떤 데이터에 접근해 무엇을 실행했는지를 서버에서 통제하고 기록하는 실행 기반을 먼저 세우는 것입니다. 5개 과제는 그 기반이 실제 업무에서 동작함을 증명하는 시범 구현입니다.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3개 부문 사업 범위와 5개 서비스 과제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사업 범위 및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(3개 부문 · 5개 과제 · 58개 요구사항)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① 실행기반 ② AI 애플리케이션 ③ 홈페이지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하나의 인증·권한·실행 기록 체계로 묶고, 플랫폼 구동 서버와 LLM 도입은 범위에서 제외함을 명확히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2026800" cy="112881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AI 에이전트 실행기반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1954800" cy="87681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플랫폼 사용권 공급 (PSR-004)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발주기관 서버에 설치·구성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SSO·권한·작업공간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실행 정책·실행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33600" y="2358000"/>
            <a:ext cx="2026800" cy="112881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336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AI 애플리케이션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9600" y="2617200"/>
            <a:ext cx="1954800" cy="87681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학사·성과관리·성과입력 연동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 1~3 서비스, 과제 4 CLI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지식 데이터 구성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LLM 모델 연계·배포 환경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50400" y="2358000"/>
            <a:ext cx="2026800" cy="112881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504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교육혁신본부 홈페이지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6400" y="2617200"/>
            <a:ext cx="1954800" cy="87681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IA·시안 3종·UI/UX 가이드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CMS·신청·교육과정·검색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웹 서버 1식 납품·설치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사이드 패널 이식 (과제 5)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316800" y="3630816"/>
          <a:ext cx="6260400" cy="2966040"/>
        </p:xfrm>
        <a:graphic>
          <a:graphicData uri="http://schemas.openxmlformats.org/drawingml/2006/table">
            <a:tbl>
              <a:tblPr firstRow="0" bandRow="0"/>
              <a:tblGrid>
                <a:gridCol w="547785"/>
                <a:gridCol w="1643355"/>
                <a:gridCol w="1095570"/>
                <a:gridCol w="1408590"/>
                <a:gridCol w="15651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관리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대학성과관리 (조회)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집계만 반환, 개인 식별 조회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 성과 입력 보조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 성과 입력 (쓰기)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 전체 제시 → 승인 후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교육과정 상담 보조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본인, 상담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학사정보 (조회),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유형은 신분 정보로 판별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검증 테스트 에이전트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(CLI)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JSON·CSV 판정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 안내 (사이드 패널)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방문자 전체, 로그인 구성원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홈페이지, SSO 세션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비로그인 차등, 확인 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280800" y="670485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범위에서 제외되는 사항과 본 사업의 대응 &gt;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316800" y="6938856"/>
          <a:ext cx="6260400" cy="1827215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사업의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구동 서버 (발주기관 제공)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7일 이내 설치요건서 제출 — 연산 자원·저장 용량·포트·계정 (Ⅲ-1)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도입·학습 (별도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SFR-009 모델 연계 개발로 교내 개방형 + 상용 모델 2종 이상 등록·전환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전교 정식 서비스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QUR-003 동시 6,000명 확장 설계와 PSR-004 확대 단가로 근거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1.2.2 목표시스템 상세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사업 범위 및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(두 서버, 하나의 통제 지점) 플랫폼은 발주기관 서버에, 홈페이지는 납품 웹 서버에 구성하고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모든 학내 시스템 접근은 표준 도구(MCP)를 거쳐 서버 측 권한 검증과 실행 기록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의 대상이 되도록 설계함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이용자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교원 · 학생 · 상담 담당자 · 평가 담당자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40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방문자 (비로그인 포함)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SSO로 신분·소속 식별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 접점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328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 웹 (채팅·과제·관리자)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736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+ 사이드 패널 위젯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144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테스트 에이전트 CLI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SIR-006·007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1 통계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634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2 성과 입력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40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3 이수 상담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46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5 안내·신청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SFR-005~007·013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실행기반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실행 엔진·도구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634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스킬·작업공간·세션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40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정책 검사·실행 기록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246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다중 모델·지식 데이터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SFR-001~004·008·009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 연동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328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MCP 서버 (조회형)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36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MCP 서버 (변경형·승인 필수)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144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도구 서버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SIR-005, SER-003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6800" y="4752000"/>
            <a:ext cx="4874400" cy="413999"/>
          </a:xfrm>
          <a:prstGeom prst="rect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4800" y="4752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학내 시스템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32800" y="48239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통합인증(SSO)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63400" y="48239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학사정보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94000" y="48239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대학성과관리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24600" y="48239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교수 성과 입력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81200" y="4752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규격은 계약 후 제공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16800" y="5302799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504160"/>
                <a:gridCol w="23476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서버 (발주기관 제공)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실행기반·AI 서비스·MCP 서버·지식 색인 (온프레미스)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교내망, 관리자 접근 IP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(본 사업 납품)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웹·WAS·DB, CMS, 위젯 배포, 색인 이벤트 발행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TLS 1.2+, 방화벽 허용 포트 한정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서버 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↔ 플랫폼 API, 단기 토큰 교환, 색인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암호화, 허용 도메인·CORS·CSP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↔ 학내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전용 계정 + 변경 전용 계정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암호화, 호출별 실행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Rectangle 6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학내 공통 AI 서비스와 역할 분담 및 이용자 혼선 방지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학내 AI 서비스와의 역할 분담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(대체·중복 없음) 범용 질의응답·생성은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학내 공통 AI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가, 원천 데이터 조회·시스템 처리·통제는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본 사업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이 맡도록 영역을 나누고, 화면·안내·전환 경로로 이용자 혼선을 막음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25191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425905"/>
                <a:gridCol w="266067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공통 AI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(교육혁신본부 에이전트)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범용 질의·요약·번역·문서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업무 절차 결합 원천 데이터 조회·대조 ② 시스템 상태 변경 ③ 권한 통제·실행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문서, 이용자 업로드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학사정보·대학성과관리·성과 입력 (서버 측 권한 검증)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구성원 (동일 동작)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사용자 100명 + 홈페이지 방문자 (신분별 차등)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답변·생성물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조항이 붙은 대조 결과, 승인 후 등록·신청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573231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571791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이용자 혼선 방지 방안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6041919"/>
            <a:ext cx="1497600" cy="1268622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60419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서비스 명칭 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6301119"/>
            <a:ext cx="1425600" cy="101662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‘교육혁신본부 에이전트’로 명칭·아이콘을 구분, 패널 상단에 담당 범위 상시 표기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04400" y="6041919"/>
            <a:ext cx="1497600" cy="1268622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04400" y="60419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첫 화면 안내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0400" y="6301119"/>
            <a:ext cx="1425600" cy="101662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추천 질문을 본부 업무(이수 상담·성과 등록·프로그램)로 한정해 용도를 안내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6041919"/>
            <a:ext cx="1497600" cy="1268622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60419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범위 밖 질의 전환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6301119"/>
            <a:ext cx="1425600" cy="101662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번역·일반 작문 등 범용 질의는 학내 공통 AI 바로가기 링크로 안내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9600" y="6041919"/>
            <a:ext cx="1497600" cy="1268622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9600" y="60419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 협의체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5600" y="6301119"/>
            <a:ext cx="1425600" cy="1016622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AX·정보화혁신본부와 분기 1회 역할·로드맵 점검 (사업 중 착수·검수 2회)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6800" y="7454541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316800" y="7454541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질의 접수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800" y="7742541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패널·플랫폼 채팅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1811700" y="799634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908900" y="7454541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1908900" y="7454541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범위 판별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44900" y="7742541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본부 업무 / 범용 분류</a:t>
            </a:r>
          </a:p>
        </p:txBody>
      </p:sp>
      <p:sp>
        <p:nvSpPr>
          <p:cNvPr id="52" name="Isosceles Triangle 51"/>
          <p:cNvSpPr/>
          <p:nvPr/>
        </p:nvSpPr>
        <p:spPr>
          <a:xfrm rot="5400000">
            <a:off x="3403800" y="799634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3501000" y="7454541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>
            <a:off x="3501000" y="7454541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본부 업무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37000" y="7742541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도구 실행·근거 제시</a:t>
            </a:r>
          </a:p>
        </p:txBody>
      </p:sp>
      <p:sp>
        <p:nvSpPr>
          <p:cNvPr id="56" name="Isosceles Triangle 55"/>
          <p:cNvSpPr/>
          <p:nvPr/>
        </p:nvSpPr>
        <p:spPr>
          <a:xfrm rot="5400000">
            <a:off x="4995900" y="7996341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093100" y="7454541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>
            <a:off x="5093100" y="7454541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범용 질의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29100" y="7742541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 AI로 안내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0800" y="8714541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범위 판별 규칙과 안내 문구는 관리자가 설정할 수 있도록 하며(SFR-008·011), 판별 결과는 실행 기록에 남겨 오분류를 주기적으로 점검함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추진 목표와 4대 추진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 목표 및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(기반 먼저, 과제는 그 위에) 실행기반·통제 체계를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착수 3주 안에 먼저 세우고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과제 1~5와 홈페이지를 그 위에 병행 구축하여 종료일(’27. 2. 19.) 안에 검수를 마침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8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과제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8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업무 결합 AI 서비스
시범 구현 (MVP)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089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89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69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69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권한 밖 노출 · 승인 누락 ·
인젝션 성공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010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010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90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90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원천 조회값과
제시값 일치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931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931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011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 이내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011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홈페이지 게시물
지식 데이터 반영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3348000"/>
            <a:ext cx="6260400" cy="1107417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6800" y="334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799" y="339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실행 기반 우선 확보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799" y="3636000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설치요건서(7일)·플랫폼 설치(3주) 후 SSO·권한·정책 검사·실행 기록을 먼저 구성하고, 과제는 이 기반의 도구·스킬로 추가합니다.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4799" y="4003887"/>
            <a:ext cx="5540400" cy="43353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8799" y="4039887"/>
            <a:ext cx="5432400" cy="37952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과제별 개별 개발 없음 — 도구(MCP)·스킬 등록 방식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발주기관이 직접 도구·스킬 추가 (운영자 매뉴얼)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4545417"/>
            <a:ext cx="6260400" cy="9356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6800" y="454541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799" y="458861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종료일 역산 · 3트랙 병행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799" y="4833417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실행기반 · AI 애플리케이션 · 홈페이지 3개 트랙을 동시에 진행하고, 트랙 간 연결점(SSO·위젯·색인)만 일정으로 고정합니다.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4799" y="5201305"/>
            <a:ext cx="5540400" cy="26176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8799" y="5237305"/>
            <a:ext cx="5432400" cy="20776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IA·시안 확정 선행 (2주), 패널 이식은 인증 연계 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6800" y="557107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6800" y="557107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799" y="561427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검수 기준을 처음부터 측정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799" y="5859070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골든셋 90문항+홈페이지 70문항을 착수 2주에 만들고, 테스트 에이전트로 매주 자동 측정해 TER-003 기준 미달을 조기에 찾습니다.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6800" y="630907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6800" y="630907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799" y="635227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확산 가능한 구조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4799" y="6597070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표준 도구 연동(MCP)·임베딩 위젯·개방 형식 내보내기로 타 부서·타 사이트로 추가 개발 없이 확장할 수 있게 합니다.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0800" y="708307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RFP 성과지표와 달성 방안 &gt;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316800" y="7317070"/>
          <a:ext cx="6260400" cy="1872734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017315"/>
                <a:gridCol w="2660670"/>
                <a:gridCol w="7825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문서·조항 인용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조항 단위 청킹·출처 메타데이터, 근거 없으면 확인 불가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Ⅲ-4.1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호출 성공률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스키마 사전 검증, 재시도 2회·대체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Ⅱ-3.2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 · 가용률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 / 월 99.0%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분산 2중화, 성능 시험(100명 30분 유지)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Ⅳ-1.1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역량 이전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2회·16시간·30명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1인 1실습, 이해도 평가, 6개월 온라인 질의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Ⅵ-3.1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종료일 고정 · 플랫폼과 홈페이지 병행 구축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사업기간 및 병행 구축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(12주 3트랙 병행) 계약일과 관계없이 종료일이 같으므로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검수(W11~W12)를 먼저 고정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역산하여, 착수 산출물 3종(설치요건서 7일·수행계획서 14일·IA 2주)을 일정의 첫 관문으로 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57961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291207"/>
                <a:gridCol w="1291207"/>
                <a:gridCol w="1252080"/>
                <a:gridCol w="1252080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(W1~W2)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설계·구성 (W3~W5)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(W6~W9)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시험·검수 (W10~W12)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설치요건서 (D+7)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설치·SSO·권한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검사·실행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전환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90문항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설계·MCP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1~4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IA·메뉴 (D+14)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3종 →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CMS·신청·서버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접근성·관리자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 연결점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규격 수령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연계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위젯·세션 공유·색인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통합시험·검수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045616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045616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관문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117615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153616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설치요건서 D+7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153616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수행계획서 D+14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045616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W2 착수 완료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783616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783616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관문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855616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891616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플랫폼 설치·SSO 연계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891616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IA·디자인 시안 확정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783616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W5 기반 완료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521616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521616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관문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593616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629616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과제 1~4 구현 완료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629616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패널 이식·색인 연동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521616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W9 구현 완료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259616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259616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관문 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7331616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7367616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TER-003·004 판정 통과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7367616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검수·교육·이관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7259616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’27. 2. 19. 종료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0800" y="8051616"/>
            <a:ext cx="6332400" cy="94414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810561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계약이 늦어질 때의 대응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303616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계약일이 늦어 12주보다 짧아지면 설계·구성 단계를 1주 단축하고 과제 1~3 구현을 2개 팀으로 나누어 병행하며, 검수 2주는 줄이지 않습니다. 홈페이지 공개(오픈)는 검수 후 발주기관 지정일로 분리되어 일정 위험이 없습니다.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주요 위험 요소와 대응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위험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(위험을 일정으로 관리) 연계 규격 지연·영향평가·자료 제공 지연 등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본 사업 고유 위험 6개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착수 시 등록하고, 발생 즉시 서면 보고와 대체 경로로 일정 영향을 차단함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67548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939059"/>
                <a:gridCol w="3130200"/>
                <a:gridCol w="7825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 · 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규격·계정 발급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1~3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API·DB 양방식 연계 설계 선행, 규격 수령 전 합성 데이터 Mock 서버로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영향평가 대상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실데이터 미개통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가명·합성 데이터로 시험·검수 수행, 실데이터 개통 일정은 협의 후 분리 (RFP 허용)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서버 제공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D+7 설치요건서, 제공 전 개발 서버(당사)에서 구성 검증 후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원고 제공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WEB-011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원고 요청서·템플릿 W2 배포, 정적 페이지 10개 일정표로 주간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시안 확정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전체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3종 W3 제시, 수정 2회 일정 고정, 확정 전 공통 컴포넌트 선개발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W4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 기준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불합격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W6부터 테스트 에이전트 주간 자동 측정, 기준별 담당자 지정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141492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14149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식별·등록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429492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위험 관리 대장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77372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7141492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714149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주간 점검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7429492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주간보고에 상태 보고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77372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7141492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714149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서면 보고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7429492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 사항 지체 없이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77372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7141492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714149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조치·변경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7429492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필요 시 SW진흥법 제50조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800" y="850949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사업 수행에 영향을 미치는 사항(연계 승인 지연, 자료 제공 지연 등)은 발생 당일 서면 보고하고, 과업 변경이 필요하면 「소프트웨어 진흥법」 제50조 절차를 따름 (PMR-001)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제안 플랫폼 · 상용 소프트웨어 제품 내역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제안 플랫폼 및 상용 소프트웨어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(제품·버전·라이선스를 수치로) 제안 실행기반과 상용 소프트웨어의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제품명·버전·기능·라이선스 형태·유지보수 요율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품목별로 명시하고, 직접구매 대상 판정 정보를 함께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62044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408590"/>
                <a:gridCol w="1878119"/>
                <a:gridCol w="1095570"/>
                <a:gridCol w="860805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제품명 · 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형태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 요율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260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【제품명 · 버전】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엔진·도구·스킬·작업공간·정책 검사·실행 기록·다중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영구 사용권 (발주기관 명의)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【연 ○%】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【OS 제품 · 버전】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운영체제 (WEB-012)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명의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【연 ○%】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60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웹·WAS·DB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【공개SW: Nginx · Tomcat · PostgreSQL 등 버전】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홈페이지·CMS 구동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공개SW (무상)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자체 개발 (특정 상용 제품 비종속)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메뉴·페이지·게시판·권한·이력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납품 (발주기관 귀속)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【공개SW: OpenSearch 등 버전】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통합검색·지식 데이터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공개SW (Apache 2.0)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08644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상용소프트웨어 직접구매 판정 정보 (RFP Ⅳ장 바. 2))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320448"/>
          <a:ext cx="6260400" cy="153280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721610"/>
                <a:gridCol w="1565100"/>
                <a:gridCol w="1408590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종합쇼핑몰·디지털서비스몰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(GS·CC·NEP·NET)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【등록 여부】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【인증 보유】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【등록 여부】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【인증 보유】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80800" y="7961256"/>
            <a:ext cx="6332400" cy="94414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801525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라이선스 확보 원칙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8213255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상용 라이선스는 발주기관 명의로 확보하여 사업 종료 후에도 추가 비용 없이 사용하고, 공개SW는 사용 목록과 라이선스 조건(Apache 2.0·MIT·PostgreSQL 등)을 제출하여 발주기관 사용에 제약이 없음을 확인합니다.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플랫폼 라이선스 정책 · 확대 시 비용 (PSR-004)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제안 플랫폼 및 상용 소프트웨어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(이용자 수 제한 없음) 발주기관 명의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영구 사용권, 동시 구동 서버 10식 이상, 이용자 수 무제한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최소 조건으로 하고, 확대 단가는 계약일부터 36개월간 인상 없이 고정함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PSR-004, SFR-003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208037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2191140"/>
                <a:gridCol w="258241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최소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내용 (수치)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산정 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 이용약관상 단위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【서버(노드) 단위 / Named·Concurrent User 중 택1】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구동 서버 10식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【서버 ○식】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(운영 + 개발·검증 환경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없음 (있으면 수치 명시)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【제한 없음】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등록 인원·동시 접속 인원 무제한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에이전트 세션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유무·수치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【제한 없음 / ○세션】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재할당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조건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【제한 없음】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(퇴직·전보 시 즉시 재할당)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형태·기간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영구 사용권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영구 사용권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【갱신 비용 없음】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개발·검증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필요 시 조건·비용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【추가 라이선스 불필요 / 조건】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운영 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운영·TER-002·SFR-010 제약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 없음 확인서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67404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확대 시 추가 단가표 (계약체결일부터 36개월 유효, 인상 불가)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908040"/>
          <a:ext cx="6260400" cy="186321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017315"/>
                <a:gridCol w="1408590"/>
                <a:gridCol w="2425905"/>
              </a:tblGrid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단가 (VAT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구성원 30,000명 (동시 6,000명)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서버(노드)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【○원】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【○식 × ○원 = ○원】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【단위】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【○원】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【이용자 무제한 시 0원】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【총 ○원 — 라이선스 정책서·단가표 별첨】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84325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수치는 플랫폼 공급사 라이선스 정책서 확정 후 기입하며, 「발주기관 명의 라이선스 확인서·라이선스 정책서·확대 시 추가 단가표」를 필수 제출서류로 별첨함 (미제출 시 PSR-004 미수용 간주)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계획 수립 · 도구 선택 · 실행 · 관찰의 반복 처리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플랫폼 실행 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(관찰하며 다음 단계를 정하는 엔진) 질의마다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계획 → 도구 선택 → 정책 검사 → 실행 → 결과 관찰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목표 달성까지 반복하고, 모든 단계를 사용자 화면과 실행 기록에 남김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계획 수립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질의·페이지 컨텍스트·사용자 권한으로 수행 계획 작성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필요 도구·스킬 후보 선정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수행 계획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도구 선택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MCP 도구 목록에서 권한 범위 내 도구만 노출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순차·병렬 실행 계획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 목록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정책 검사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사용자·그룹·자원·작업 종류 사전 검사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변경 작업은 승인 카드 대기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허용 / 차단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실행·관찰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도구 실행 결과를 데이터로 관찰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오류 시 재시도·대체 도구·중단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다음 단계 판단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종료·제시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목표 달성 시 결과·근거 제시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실행 과정 전체를 기록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응답 + 실행 기록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446053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SFR-001 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 도구 순차·병렬 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의존성이 없는 조회(예: 이수 내역 + 규정 검색)는 병렬, 등록은 조회 완료 후 순차 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과정 실시간 관찰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패널·채팅에 ‘사용한 도구 → 결과 요약’ 단계 카드를 스트리밍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시 재시도·대체·중단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도구별 재시도 횟수(기본 2회)·타임아웃 설정, 실패 시 대체 도구 또는 사유 안내 후 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도구 · 신규 도구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조회·작성·편집, 외부 연동 호출 기본 제공, 신규 도구는 MCP 서버 등록만으로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280800" y="893331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산출정보: 실행 엔진 구성도, 도구 목록 및 확장 절차서 (설계 단계 제출)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3.3.1 확장 체계 · 권한 통제 · 다중 모델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확장 · 통제 · 모델 운용 방식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(발주기관이 직접 늘리고 바꾸는 구조) 도구는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MCP 서버 등록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업무 절차는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스킬 배포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모델은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설정 변경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만으로 추가·교체하고, 모든 실행은 서버 측 정책 검사를 통과해야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SFR-002, SFR-009, SER-001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도구·업무절차(스킬) 확장 체계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2646000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신규 데이터원은 MCP 서버를 등록해 도구로 추가하고, 여러 도구를 순서대로 묶은 스킬을 개인 → 관리자 승인 → 조직·전사 단위로 배포합니다.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799" y="3063448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799" y="3099448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스킬·지시문 변경 이력 관리, 담당자 이동과 무관하게 자산 보존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발주기관 자체 제작·배포 방법을 운영자 매뉴얼에 수록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652633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800" y="3652633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3695833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실행 권한 통제 방식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799" y="3940633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요청 주체 식별자는 SSO 세션에서 서버가 강제 주입하고, 도구 실행 직전 정책 엔진이 사용자·그룹·대상 자원·작업 종류를 검사합니다.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799" y="4358082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8799" y="4394082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언어모델의 판단은 권한 근거가 되지 않음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변경 작업은 확인 카드 승인 후에만 실행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947267"/>
            <a:ext cx="6260400" cy="1009041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494726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499046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다중 모델 운용 방식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799" y="5235267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 게이트웨이에 교내 개방형 모델과 상용 모델을 2종 이상 등록하고, 관리자 화면에서 모델·버전·파라미터를 바꾸면 응용 코드 수정 없이 전환됩니다.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799" y="5652716"/>
            <a:ext cx="5540400" cy="28559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8799" y="5688716"/>
            <a:ext cx="5432400" cy="231592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과제별 기본 모델 지정, 동일 골든셋으로 모델 간 비교 실행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6082308"/>
          <a:ext cx="6260400" cy="254819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 (발주기관 자체)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(데이터원)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MCP 서버 주소·인증 정보 등록 → 접근 범위·작업 종류 제한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변경 (개발 없음)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절차 (스킬)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스킬 편집기에서 도구 순서·지시문 작성 → 승인 → 배포 범위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게이트웨이에 엔드포인트 추가 → 과제별 모델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3.4.1 제안 플랫폼 국내외 운영 사례 및 에이치나인 적용 경험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3.4 실증 레퍼런스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플랫폼 + 적용 경험) 제안 플랫폼의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국내외 실제 운영 사례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와, 에이치나인이 업무 시스템 연동 Agent를 운영 환경에 적용한 경험을 함께 제시함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제안 플랫폼 운영 사례 (레퍼런스)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243314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2504160"/>
                <a:gridCol w="1095570"/>
                <a:gridCol w="109557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 · 기업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【레퍼런스 1 — 대학·공공】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【적용 업무】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【사용자 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【레퍼런스 2 — 국내 기업】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【적용 업무】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【사용자 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【레퍼런스 3 — 해외】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【적용 업무】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【사용자 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13314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에이치나인 AI Agent 적용 경험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367146"/>
          <a:ext cx="6260399" cy="2433144"/>
        </p:xfrm>
        <a:graphic>
          <a:graphicData uri="http://schemas.openxmlformats.org/drawingml/2006/table">
            <a:tbl>
              <a:tblPr firstRow="0" bandRow="0"/>
              <a:tblGrid>
                <a:gridCol w="1878119"/>
                <a:gridCol w="2425905"/>
                <a:gridCol w="19563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(에스케이㈜, 2026)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데이터 위치 제시형 응답, 이상탐지 자동화, 일일 리포트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 근거 조항 인용, 과제 2 출처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 AI Agent 'MOSAIC' (SK하이닉스, 2026)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로그·상태 실시간 분석, Judge Agent 자동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기록, 과제 4 자동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표준 아키텍처 Ph1~Ph3 (2024~2026)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시스템 데이터 표준·매핑·흐름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학사·성과 항목 매핑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16800" y="790829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90829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96229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【3】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35829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제안 플랫폼
운영 레퍼런스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790829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790829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796229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835829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H9 업무 연동 Agent
운영 적용 (2026)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790829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790829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796229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단계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835829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데이터 표준 아키텍처
(Ph1~Ph3)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800" y="886229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레퍼런스는 플랫폼 공급사 확인서·운영 화면 등 입증 자료를 별첨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【공급사 자료 확보】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표준 프레임워크 적용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표준프레임워크 적용 범위 및 기술적용계획표 ([붙임 6호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전자정부 표준프레임워크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(적용 가능한 곳은 모두 적용) 홈페이지·CMS·연계 모듈은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전자정부 표준프레임워크 기반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개발하고, 플랫폼 본체와 AI 서비스 런타임은 제품 고유 구조를 사용하는 사유와 대체 기술을 명시함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8" cy="296604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939059"/>
                <a:gridCol w="3756239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범위 · 사유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홈페이지·CMS (WEB-003~008)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표준프레임워크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【4.x】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실행환경 (화면·업무처리·데이터처리·연계 레이어)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시스템 연계 모듈 (SIR-002~004)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레이어·공통 컴포넌트(로그·보안) 활용, MCP 서버로 감싸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사이드 패널 위젯·SDK (SIR-007)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스크립트는 표준 HTML5·ES 모듈, 서버 API는 표준프레임워크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실행기반 (플랫폼 본체)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제품 고유 구조 — 원시코드 납품 제외 대상, 개방형 API·MCP로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서비스·테스트 에이전트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기반 에이전트 런타임·CLI — LLM·MCP SDK 호환성 확보 목적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543204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기술적용계획표 요약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666040"/>
          <a:ext cx="6260400" cy="224121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 ·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언어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Java 17 (표준프레임워크), Python 3.11 (에이전트·CLI), TypeScript (위젯)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Model Context Protocol, REST/JSON, SAML 2.0 · OIDC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개방형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HTML5 · CSS3 · WAI-ARIA, KWCAG 2.2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TLS 1.2+, SRI · CSP · CORS, 시큐어코딩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SER-002·004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015256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0692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비종속 원칙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267256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표준프레임워크 미적용 영역도 개방형 규격(MCP·OIDC·REST)으로만 연결하고, 데이터·설정·스킬은 JSON·CSV·SQL 덤프로 내보낼 수 있게 하여 특정 제품에 묶이지 않도록 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개발 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반복형 개발 방법론과 단계별 산출물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개발 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(설계는 한 번에, 구현은 주 단위로) 분석·설계까지는 단계형으로 확정하고, 구현은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1주 반복(스프린트)마다 골든셋으로 측정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하는 혼합형 방법론을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착수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설치요건서 (D+7)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사업수행계획서 (D+14)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W1~W2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8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8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분석·설계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06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요구사항정의서·추적표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서비스·보안 설계서, IA·시안·UI/UX 가이드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298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W2~W5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61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61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구현 (반복)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69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1주 스프린트 × 4회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매주 골든셋 자동 측정·시연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61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W6~W9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24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24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시험·검수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32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35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통합·성능·보안·접근성 시험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35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사용자 시나리오 검증, 검수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24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W10~W12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487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487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495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498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매뉴얼·교육·소스코드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498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 지원 계획서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487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800" y="5562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단계별 산출물 및 제출 시기 (RFP Ⅳ장 바. 1) 대응) &gt;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316800" y="5796000"/>
          <a:ext cx="6260400" cy="2755468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4304025"/>
                <a:gridCol w="109557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설치요건서, 사업수행계획서(부문별 산출내역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D+7 / D+14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요구사항정의서(추적표), 서비스 설계서, 보안 설계서, IA·메뉴 구성표, 디자인 시안·UI/UX 가이드, 교육과정 정보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 ~ W5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구현 완료 보고서, 테스트 에이전트·골든셋, 소스코드·형상 저장소, 홈페이지 소스·디자인 원본, 위젯·SDK 규격서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 ~ 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수행 결과서, 성능·인젝션·접근성 결과서, 검수결과서, 홈페이지 기반 평가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3종, 교육결과보고서, 운영 지원 계획서, 데이터 이관 절차서, 서버 구성 내역서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점검표, 공개 작업 결과 보고서, 안정화 지원 결과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지정일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 및 기능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시스템 장비구성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시스템 운영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제약사항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장비구성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웹 서버 1식 사양 · 구성 · 보증 조건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홈페이지 웹 서버 (하드웨어)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(최소 사양 이상 · 이중화) RFP 최소 사양(8코어·32GB ECC·SSD 960GB×2 RAID1·이중 전원·1GbE×2)을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모두 상회하는 1U 랙 서버 1식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납품·설치하고, 보증은 하자담보기간 이상으로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WEB-012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41481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112885"/>
                <a:gridCol w="2973689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최소 사양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사양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·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제안사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【제조사 · 모델 (1U 랙 서버, 동등 이상)】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서버용 x86-64 8코어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【서버용 x86-64 12코어 이상 1소켓】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메모리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32GB 이상 (ECC)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64GB DDR5 ECC RDIMM (2 × 32GB)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960GB × 2, RAID 1, 핫스왑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960GB × 2 (RAID 1, 핫스왑) + 백업용 SSD 1.92TB × 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RAID 컨트롤러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하드웨어 RAID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하드웨어 RAID 컨트롤러 (캐시 탑재)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【모델】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 전원 (핫스왑)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 전원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【○W × 2】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핫스왑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1GbE 2포트 이상 (이중화)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1GbE 4포트 (서비스 2포트 본딩 + 관리·백업 분리)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관리 · 폼팩터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관리 포트, 1U/2U 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전용 원격 관리 포트(iDRAC·iLO 등), 1U 랙 장착 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 ·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명의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【OS 제품 · 버전】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발주기관 명의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880823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보증 · 지원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무상 보증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【3년】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(하자담보책임기간 1년 이상 충족), 제조사 보증서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시 부품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【익일 방문 (NBD)】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제조사 부품 교체, 디스크는 핫스왑으로 무중단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반입 · 보안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교내망 연결 전 정보보안 절차에 따른 반입·보안 점검 이행 (SER-002)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장비구성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웹 서버 소프트웨어 구성 · 도메인 · 인증서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홈페이지 웹 서버 (하드웨어)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(한 대에서 안정적으로) 웹·WAS·DB를 컨테이너로 분리 구성하고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pusan.ac.kr 하위 도메인·SSL을 부산대학교 명의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등록하며, 백업은 일 1회 별도 디스크와 원격지에 보관함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3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pusan.ac.kr 하위 도메인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SSL 인증서 (부산대 명의)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TLS 1.2+ · HSTS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54800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548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Nginx (정적·리버스 프록시)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위젯 스크립트 배포 (SRI)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548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WEB-009·SER-004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351599"/>
            <a:ext cx="4874400" cy="43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351599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WAS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4235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CMS · 프로그램 신청 · 교육과정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4000" y="34235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통합검색 · 홈페이지 도구 API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1200" y="3351599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표준프레임워크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3848400"/>
            <a:ext cx="4874400" cy="432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38484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 · 저장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2800" y="39203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PostgreSQL (콘텐츠·신청)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73600" y="39203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첨부파일 저장소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14400" y="39203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검색 색인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81200" y="38484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RAID 1 + 백업 디스크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4417200"/>
          <a:ext cx="6260400" cy="3314307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· 인증서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하위 도메인 신청·정보화 담당부서 승인 절차 지원, 도메인·SSL 부산대학교 명의 등록, 만료 30일 전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DB·첨부 일 1회 전체 + 6시간 증분, 백업 디스크 14세대 보관, 주 1회 원격지(플랫폼 서버) 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RTO 4시간 / RPO 6시간 (홈페이지), 검수 시 백업본 복구 1회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99.5% 이상 목표 — 이중 전원·디스크 RAID·서비스 포트 본딩·장애 자동 재기동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316800" y="78395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6800" y="78395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4800" y="78935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99.5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4800" y="82895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홈페이지 월 가용률
(목표)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39600" y="78395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39600" y="78395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47600" y="78935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47600" y="82895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RTO
(홈페이지 복구 목표)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62400" y="78395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62400" y="78395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70400" y="78935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세대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70400" y="82895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백업 보관
(일 1회 + 6시간 증분)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장비구성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플랫폼 설치 요건 (사전 제시)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플랫폼 설치 요건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(계약 7일 이내 확정) 시범 사용자 100명 기준의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연산 자원·저장 용량·네트워크 포트·계정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아래와 같이 미리 제시하고, 계약 후 7일 이내 설치요건서로 확정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QUR-003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67984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799865"/>
                <a:gridCol w="2738925"/>
                <a:gridCol w="70429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권장 사양 (시범 100명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실행기반 · AI 서비스 · MCP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【16 vCPU · 64GB RAM · SSD 500GB】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작업공간 · 세션 · 실행 기록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【8 vCPU · 32GB RAM · SSD 1TB (이중화)】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데이터 · 벡터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【8 vCPU · 32GB RAM · SSD 500GB】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(선택)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 개방형 모델 구동 (SFR-009 시연용)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【GPU ○장 — LLM 별도 사업 환경 활용 시 생략】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133985"/>
          <a:ext cx="6260400" cy="2576656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 포트 · 계정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접속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443/TCP (HTTPS) — 교내망·홈페이지 웹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↔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443/TCP 위젯 API, 색인 이벤트 수신 — 웹 서버 IP만 허용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→ 학내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SSO(SAML/OIDC), 학사정보·성과관리·성과 입력 API 또는 DB 포트 — 규격 수령 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계정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전용 계정 2종(학사·성과관리), 변경 계정 1종(성과 입력), SSO 연계 등록, OS 관리자 계정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778264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동시 6,000명 확장 시 AP 서버 수평 증설 산정은 Ⅳ-1 참조. 시범 단계 사양은 제공 서버 현황에 맞추어 설치요건서에서 조정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7998642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805264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설치 지연 방지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8250642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발주기관 서버 제공 전에는 당사 개발 서버에서 동일 구성으로 설치를 검증하고, 서버가 제공되면 구성 스크립트로 1일 안에 이관 설치합니다.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스킬 관리 · 다중 사용자 작업공간 · 세션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AI 에이전트 실행기반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(사람이 바뀌어도 남는 업무 자산) 스킬은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개인 → 승인 → 조직·전사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단위로 배포·이력 관리하고, 사용자별 격리 작업공간과 끊겨도 이어지는 세션을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SFR-002, SFR-003, SFR-004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977296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956375"/>
                <a:gridCol w="33649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스킬 정의·배포 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전사·조직·개인 단위 배포, 사용 범위를 사용자·그룹 단위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스킬 → 조직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승인 큐(검토 → 승인 → 배포), 반려 사유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이력 · 자산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스킬·지시문 버전 이력과 되돌리기, 소유자 이동 시 조직 자산으로 승계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격리 작업공간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사용자별 파일·설정·이력 분리 저장, 복수 프로젝트 동시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맥락 유지 · 웹 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메모리로 이전 맥락 유지, 설치 없이 브라우저 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수 제한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100명, 라이선스는 이용자 수 무제한 조건 (PSR-004)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저장 · 재개 · 다기기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서버 저장, 복수 브라우저·기기 동시 재접속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끊김 시 유지 ·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실행은 서버에서 계속, 재접속 시 상태 복원, 보관·고정·보존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44329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44329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73129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스킬 편집기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793109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744329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744329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 요청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773129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관리자 검토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793109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744329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744329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 배포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773129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범위 지정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793109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744329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744329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이력 관리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773129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버전·되돌리기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800" y="859529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발주기관이 계약상대자 지원 없이 스킬·지시문을 제작·수정·배포하는 방법을 운영자 매뉴얼에 화면 단위로 수록 (PSR-001)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관리자 기능 · 다중 모델 운용 및 모델 전환 시연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AI 에이전트 실행기반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(설정만으로 모델 교체) 교내 개방형 모델 1종 이상을 포함한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2종 이상의 모델을 등록하고 검수 시 설정 변경만으로 전환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되는 것을 시연하며, 관리 기능은 웹 화면으로 개발 없이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SFR-008, SFR-009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권한·자원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1720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사용자·그룹 권한, 접근 범위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조직별 모델·도구·스킬 지정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3600" y="235800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36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현황·사용량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9600" y="261720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진행 중 세션·작업 조회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사용자·조직별 사용량·비용 (QUR-002)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0400" y="235800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504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기록·설정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6400" y="261720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실행 기록 조회·내보내기 (DAR-002)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패널 안내문·추천 질문 설정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2400" y="3524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400" y="3510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SFR-009 모델 전환 시연 방안 (검수 시)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834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834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34800" y="3906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324800" y="394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교내 개방형 모델 1종 (예: </a:t>
            </a:r>
            <a:r>
              <a:rPr sz="10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【모델명】</a:t>
            </a: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46999" y="394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상용 모델 1종 (예: </a:t>
            </a:r>
            <a:r>
              <a:rPr sz="10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【모델명】</a:t>
            </a: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69200" y="3834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2종 이상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51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51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전환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34800" y="459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324800" y="462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관리자 화면에서 과제 3 기본 모델 변경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46999" y="462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응용 코드 수정·재배포 없음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69200" y="451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5202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800" y="5202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34800" y="5274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324800" y="531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같은 골든셋 30문항을 두 모델로 실행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46999" y="531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테스트 에이전트 판정 결과 비교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69200" y="5202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비교 결과서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6800" y="588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4800" y="588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내보내기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34800" y="5958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324800" y="599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데이터·설정·스킬 JSON 내보내기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46999" y="599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다른 환경 가져오기 확인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69200" y="588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이식성 확인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316800" y="6623999"/>
          <a:ext cx="6260400" cy="1827215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무종속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특정 모델·공급사 비종속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게이트웨이(OpenAI 호환 API 규격) 뒤에 모델을 두어 응용 기능은 모델을 직접 호출하지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· 클라우드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 기반 배포, 동일 이미지로 클라우드 이전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종료 후 자체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매뉴얼·교육과 개방 형식 자산 내보내기로 자체 운영·확장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280800" y="852321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검증용 모델 소재지: 교내 개방형 모델 = 부산대학교 교내 인프라 / 상용 모델 =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【국가·리전, 데이터 처리 방식(학습 미사용)】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— 실데이터 시험은 교내 모델로만 수행 (TER-003)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과제 1 · 성과 관리 통계 서비스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애플리케이션 (서비스 과제)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(집계만, 개인은 차단) 대학성과관리 시스템을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질의 시점에 직접 조회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학과·과목·학기 단위 집계와 시계열·학과 간 비교를 제시하고, 개인 식별 가능 조회는 도구 단계에서 차단함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SFR-005, SIR-002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질의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“최근 3년간 이 과목 수강 인원 추이”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교원 SSO 신분·소속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권한 범위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도구 호출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MCP 통계 도구 (조회 전용)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학과·과목·학기 파라미터만 허용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집계 질의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차단 검사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학번·성명 등 개인 식별 파라미터 거부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집계 셀 소수 인원 마스킹 (</a:t>
            </a:r>
            <a:r>
              <a:rPr sz="10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【5명 미만】</a:t>
            </a: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집계 결과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제시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표·추이 차트, 비교 해설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조회 시점·출처 시스템 표기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응답 + 기록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재학생·수강·이수 현황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학과·과목·학기 집계 도구 3종(재학생 수, 수강 인원, 이수 현황)을 MCP 도구로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식별 조회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입력 스키마에 개인 식별 항목 자체가 없음 + 서버 측 결과 검사(행 단위 개인정보 반환 시 폐기)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시계열 · 학과 간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기간·학과 목록을 받아 연속 조회 후 비교표·증감률 산출 (원천 값 그대로 제시)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조회값 일치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숫자는 모델이 다시 쓰지 않고 도구 결과를 표로 직접 렌더링 (TER-003)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8231313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828531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차단 실패 = 검수 불합격에 대한 대비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483313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 식별 차단을 프롬프트가 아니라 도구 입력 스키마와 서버 결과 검사 2중으로 구현하고, 골든셋에 개인 조회 유도 질의 10문항 이상을 넣어 매주 차단 여부를 자동 확인합니다.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과제 2 · 교수 성과 입력 보조 서비스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애플리케이션 (서비스 과제)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(추출 → 확인 → 승인 → 등록) 논문 파일·서지정보에서 성과 항목을 추출해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항목별로 보여주고 수정받은 뒤, 값 전체를 확인 카드로 승인받아야만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성과 시스템에 등록함 (승인 누락 0건)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SFR-006, SIR-003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항목 추출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PDF·DOCX 논문 / DOI·서지정보 입력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성과 시스템 항목 체계·코드로 매핑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추출 결과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확인·수정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항목별 제시, 개별 수정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추출 못한 항목은 ‘미확인’ 표시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수정본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서지 조회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IF 등 외부 서지정보 — 조회 경로·출처 표기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조회 불가 시 ‘확인 불가’ (추정 금지)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출처 포함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사전 검증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필수 항목·값 형식·코드 검증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원천 검증 규칙 위배 값 전송 차단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등록 가능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094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094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승인·등록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166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20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값 전체 확인 카드 → 명시적 승인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20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등록 결과 표시, 실행 기록 보존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094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등록 완료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5832000"/>
          <a:ext cx="6260400" cy="2862431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형식 · 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PDF·DOCX·HWP(X)·TXT, 파일당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【20MB】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·질의당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【5개】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(SIR-006과 동일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등록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1건 단위 트랜잭션 — 실패 시 전체 취소, 실패 사유·후속 조치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성과만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주체 = SSO 세션 식별자(서버 주입), 등록 대상 교원 ID와 불일치 시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내용은 데이터로만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본문은 ‘데이터 영역’으로 격리 전달, 지시문으로 해석하지 않음 (SER-003)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필드 정확도 10건 중 9건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항목별 추출 규칙 + 모델 추출 교차 확인, 골든셋 30문항으로 주간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280800" y="876643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등록 대상 성과 유형(학술논문·저서·특허 등)과 서지정보원(구독 여부·접근 경로)은 착수 후 요구사항 정의 단계에서 확정하여 요구사항정의서에 명시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2.2.3 과제 3 · 학생 교육과정 상담 보조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애플리케이션 (서비스 과제)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(규정과 이수 내역을 나란히) 학생 본인 또는 상담 대상 학생의 이수 내역을 학사정보에서 조회해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요건별 충족 · 미충족 · 확인 필요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와 근거 조항을 함께 제시하며, 졸업 판정을 단정하지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SFR-007, SIR-004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796096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643355"/>
                <a:gridCol w="1643355"/>
                <a:gridCol w="19563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판별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흐름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신분 = 학부생·대학원생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통합인증으로 식별된 본인만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학번은 세션에서 서버 주입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상담 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신분 = 지정 상담 담당자 그룹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상담 결과를 전송한 학생만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학생이 ‘상담 결과 전송’ → 담당자 열람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262097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262097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규정 확인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334097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370097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학생설계전공·편입·부·복수·연계·융합 규정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370097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조항 단위 색인 (DAR-001)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262097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요건 목록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054097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054097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이수 조회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126097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162097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이수 교과목·취득 학점·학적·전공 (조회 전용)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162097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조회 내역 기록 (일시·조회자·유형·대상·항목)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054097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원천 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5846097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5846097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5918097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5954097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요건별 충족·미충족·확인 필요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5954097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판단마다 근거 조항 + 사용한 이수 내역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5846097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대조표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6638097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6638097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 자문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6710097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6746097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미충족 요건 이수 경로 예시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6746097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상담 결과 서식으로 내보내기 (담당자 수정)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6638097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상담 자료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7484097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748409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단정 표현 0건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2800" y="7743297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‘졸업 가능합니다’ 등 금지 표현 사전·출력 검사, 위반 시 ‘요건 충족 여부 안내’로 재작성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3600" y="7484097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33600" y="748409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상시 고지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9600" y="7743297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‘공식 졸업 사정·학사 판정을 대체하지 않음’을 화면 상단 고정 표기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50400" y="7484097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50400" y="748409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없으면 확인 불가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86400" y="7743297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지식원에 근거가 없으면 추측하지 않고 확인 불가 + 담당 부서 안내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0800" y="881609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상담 담당자는 학생 계정 정보를 입력·보관하지 않음. 대상 제도 범위는 착수 후 2주 이내 확정. 개인정보 영향평가 대상이면 평가 완료 전 실데이터 미개통 (가명·합성 데이터로 시험)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2.2.4 과제 4 · 테스트 에이전트 (CLI)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애플리케이션 (서비스 과제)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(골든셋을 그대로 넣고 판정까지 자동) 평가 담당자가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골든셋 파일 · 실행 횟수 · 질의 인자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지정해 일괄 실행하면 기대 결과와 대조·판정하여 JSON · CSV 결과 파일을 산출함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SFR-010, TER-001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3664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TER-001 골든셋(YAML/JSONL: 질의 · 기대 결과 · 판정 기준 · 과제 · 유형) — 변환 없이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옵션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--set (파일) · --repeat (실행 횟수) · --task (과제) · --model (모델) · --param (질의 인자)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 일치(조회값) · 근거 조항 일치 · 확인 불가 적절성 · 승인 카드 발생 여부 · 금지 표현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문항별 결과 JSON, 요약 CSV, 기준별 합격 여부 리포트(TER-003 정량 기준 10항목)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형태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명령행(CLI) 도구 + 실행 매뉴얼 + 소스코드 납품 (일반 이용자 화면 없음)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802642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802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골든셋 등록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090642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과제별 30문항↑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2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802642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802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일괄 실행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090642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횟수·모델 지정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2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802642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802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판정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090642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기준별 대조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2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802642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802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산출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090642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JSON · CSV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2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802642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802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검수 판정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090642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담당자 참여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6990642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테스트 에이전트를 이용한 서비스 평가 방안 &gt;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7224641"/>
          <a:ext cx="6260400" cy="199932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130200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(W6~W9, 매주)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골든셋 자동 실행, 기준 미달 문항 목록화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 보완 대상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전환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골든셋을 모델별 실행·비교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SFR-009 비교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(W11)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담당자 참여 하에 최종 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TER-003·004 검수결과서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사이드 패널 화면 · 페이지 컨텍스트 전달 방식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사이드 패널 에이전트 (과제 5)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(지금 보는 페이지를 이해하는 패널) 모든 페이지 우측 패널(모바일 하단 시트)이 열릴 때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URL · 메뉴 경로 · 제목 · 본문 요지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컨텍스트로 넘겨 “이 프로그램 신청 자격 되나?”에 바로 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SFR-011, SFR-012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페이지 열람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프로그램 상세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791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패널 호출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위젯 클릭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791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컨텍스트 수집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URL·경로·제목·요지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791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비공개 항목 제외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791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지시어 해석·응답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343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페이지 유형별 컨텍스트 전달 항목 (관리자 설정) &gt;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3672000"/>
          <a:ext cx="6260400" cy="2241214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738925"/>
                <a:gridCol w="226939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전달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 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상세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ID · 명칭 · 모집 기간 · 대상 · 정원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“이 프로그램 신청 자격 돼?”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교육과정 상세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교육과정 ID · 유형 · 이수 요건 요지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“이 마이크로디그리 요건이 뭐야?”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제목 · 본문 요지(최대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【1,000자】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· 첨부명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“이 공지 요약해줘”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URL · 메뉴 경로 · 페이지 제목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“이 센터 담당자 연락처는?”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6021216"/>
          <a:ext cx="6260400" cy="2448432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SFR-011·012 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채팅 동일 제공, 스트리밍 응답, 파일 첨부·복사·근거 링크·피드백·부적절 신고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· 상시 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사용자만 이력 저장, 비로그인 대화는 세션 종료 시 폐기 / AI 생성 결과·오류 가능성 상단 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링크 이동 · 맥락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링크 클릭 시 패널 유지한 채 이동, 대화 맥락 유지 (SPA 셸 + 세션 유지)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없는 페이지 안내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링크는 색인된 실재 URL 목록에서만 생성하고 응답 전 존재·권한 확인 (TER-004)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2.3.2 과제 실행 · 확인 카드 · 로그인 차등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사이드 패널 에이전트 (과제 5)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(비로그인은 공개 정보만, 신청은 확인 카드로) 비로그인 이용자에게는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공개 콘텐츠 근거 응답만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제공하고, 로그인 후 과제 1~3·5를 같은 패널에서 실행하되 상태 변경은 확인 카드 승인 후에만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SFR-013, SFR-014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153984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347650"/>
                <a:gridCol w="266067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비로그인 이용자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이용자 (SSO)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공개 콘텐츠·규정·FAQ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콘텐츠 + 권한 범위 내 학내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시스템 연계 도구 호출 안 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신분·소속 권한 범위 내 (SFR-003과 동일)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한도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세션·IP 기준 한도 (관리자 설정, 예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【30회/일】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사용자·조직 한도 (QUR-002)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종료 시 폐기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저장·재조회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정보 질의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유도 → 로그인 후 이전 질의 이어서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619985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619985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691985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727985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“이 프로그램 신청해줘”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727985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프로그램 상세 페이지 컨텍스트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619985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 의도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357985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357985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서버 검증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429985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465985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플랫폼 서버가 SSO 세션으로 신분·자격 검증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465985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위젯 전달 정보는 권한 근거로 쓰지 않음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357985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자격 확인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095985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095985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 카드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167985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203985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프로그램명·일정·신청 항목 요약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203985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[신청] / [취소] 명시적 선택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095985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833985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833985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실행·안내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7905985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7941985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MCP 홈페이지 도구로 신청 실행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7941985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결과·사유 표시, ‘나의 신청 내역’ 링크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7833985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 기록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800" y="858998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과제별 화면·도구는 플랫폼의 것을 재사용하고 패널용으로 별도 구현하지 않음. 프로그램 조회·신청·신청 내역·교육과정 검색 도구는 SIR-005 표준 규격(MCP)으로 구성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2.4.1 정보구조(IA) 설계 및 메뉴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교육혁신본부 홈페이지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(3단계 · 3클릭) 계약 2주 이내 본부·산하 센터 인터뷰로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메뉴 3단계 이내, 어느 페이지에서든 3클릭 이내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정보구조를 확정하고, 사용자 유형별 이용 경로를 IA에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메뉴 구성(안) — 착수 후 협의하여 확정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68999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364965"/>
                <a:gridCol w="172161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1단계 메뉴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2단계 메뉴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 소개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인사말 · 비전 · 조직 · 오시는 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글로컬대학30 과제 · AI 에듀테크 · 교육혁신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 · 성과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교과 · 비교과 · 마이크로디그리 · 교육과정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프로그램·행사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모집 중 · 일정(캘린더) · 나의 신청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자료·성과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자료실 · 성과 보고 · 뉴스레터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공지사항 · 보도자료 · 갤러리 · FAQ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산하 센터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교육혁신실 · 융합교육센터 · 에듀테크센터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센터별 하위 사이트형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통합검색 · 언어 선택 · 사이트맵 · 사이드 패널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WEB-007·008, 과제 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6390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사용자 유형별 주요 이용 경로 (3개 이상 정의)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6623999"/>
          <a:ext cx="6260400" cy="2137605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4460535"/>
                <a:gridCol w="7825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이용 경로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클릭 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 → 프로그램(모집 중) → 상세 → 패널 “자격 확인·신청” → 나의 신청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 → 교육과정 → 교과 검색 → 상세 → 관련 규정·자료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교직원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 → 자료·성과 → 성과 보고 → 첨부 내려받기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방문자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 → 주요 사업 → 사업 소개 → 소식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883360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산출: 정보구조도(IA), 메뉴 구성표, 이용 경로 정의서 (D+14 제출·승인). 승인 후 변경은 변경관리 절차(PMR-001)로 처리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2.4.2 메인 디자인 방향 · 시안 3종 계획 · UI/UX 가이드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교육혁신본부 홈페이지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(부산대 UI 위에 3가지 방향) 부산대학교 UI를 지키면서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방향이 다른 메인 시안 3종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제시하고, 선정 시안을 2회 이상 수정하며, 서브 템플릿 8종과 패널까지 하나의 디자인 시스템으로 묶음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6260400" cy="960115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시안 A — ‘에이전트 퍼스트’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2646000"/>
            <a:ext cx="5540400" cy="3664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메인 상단에 질의창을 두고 추천 질문으로 프로그램·교육과정 탐색을 시작하게 하는 대화형 진입 구조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799" y="3030408"/>
            <a:ext cx="5540400" cy="269707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799" y="3066408"/>
            <a:ext cx="5432400" cy="21570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에듀테크 선도 이미지, 패널 이용률 확보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408115"/>
            <a:ext cx="6260400" cy="794911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800" y="3408115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3451315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시안 B — ‘프로그램 허브’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799" y="3696115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모집 중 프로그램·일정 캘린더·마감 임박을 메인 중심에 두는 신청 중심 구조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799" y="3915319"/>
            <a:ext cx="5540400" cy="269707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8799" y="3951319"/>
            <a:ext cx="5432400" cy="21570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재학생 이용 경로 최단화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293027"/>
            <a:ext cx="6260400" cy="794911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429302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433622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시안 C — ‘교육혁신 포털’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799" y="4581027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주요 사업·성과 인포그래픽과 산하 센터 바로가기를 강조하는 기관 소개형 구조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799" y="4800231"/>
            <a:ext cx="5540400" cy="269707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8799" y="4836231"/>
            <a:ext cx="5432400" cy="21570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대외 홍보·성과 확산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5213938"/>
          <a:ext cx="6260399" cy="255160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 시안 3종 제시 → W4 선정 → 수정 2회(각 3영업일) → W5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서브 템플릿 8종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 · 목록 · 상세 · 신청 · 나의 신청 · 검색 결과 · 교육과정 상세 · 캘린더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3단 반응형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≥ 1280px · 태블릿 768~1279px · 모바일 ≤ 767px (모든 페이지)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UI/UX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색상 · 타이포그래피 · 컴포넌트 · 아이콘 정의, 사이드 패널 화면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· 저작권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편집 가능한 디자인 원본·아이콘·이미지 납품, 폰트·이미지 저작권 내역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Rectangle 49"/>
          <p:cNvSpPr/>
          <p:nvPr/>
        </p:nvSpPr>
        <p:spPr>
          <a:xfrm>
            <a:off x="280800" y="7873546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79275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수상 경험 기반 디자인 품질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8125546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iF Design Award(국립중앙박물관 ‘모두’ 등)·우수디자인전문기업 선정 경험의 UX·비주얼 인력이 시안을 직접 맡고, 접근성 명도 대비는 시안 단계부터 4.5:1 이상으로 설계합니다.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2.4.3 CMS 구조 및 게시판·콘텐츠 유형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교육혁신본부 홈페이지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(소스 수정 없이 직접 운영) 메뉴·페이지·게시판·배너를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관리자 화면에서 생성·편집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역할별 권한과 변경·접속 이력을 관리하는 비종속 CMS를 자체 개발하여 소스와 함께 귀속함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WEB-003, WEB-004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역할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총괄관리자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부서관리자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게시자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메뉴·게시판 단위 권한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사이트 구조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메뉴 생성·이동·숨김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페이지 신규 생성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게시판 생성·설정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코드 수정 없음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콘텐츠 편집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WYSIWYG 편집기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634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임시저장·예약 게시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40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노출 기간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246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첨부 확장자·용량 제한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WEB-003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요소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배너·팝업·퀵메뉴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736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다국어 Language Set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144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색인 제외 지정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WEB-008·DAR-004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이력·연계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328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콘텐츠 변경 이력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34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관리자 접속 이력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940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색인 이벤트 발행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246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RSS·API 제공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감사·확산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0800" y="482399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게시판 유형 (WEB-004) &gt;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16800" y="5058000"/>
          <a:ext cx="6260400" cy="339104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공지 · 보도자료 · 뉴스레터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카테고리, 상단 고정, 새 글 표시, 조회수, 첨부 다중 업로드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자료실 · 갤러리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첨부파일명 검색, 이미지 썸네일·대체텍스트 필수 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FAQ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분류별 Q&amp;A, 공개 게시물은 1시간 이내 지식 데이터 자동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(캘린더)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월·주·목록 보기, 프로그램 모집 기간 자동 연동 (WEB-005)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RSS·REST API로 대학 통합 홈페이지 등에 게시물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2.4.4 프로그램 신청 · 교육과정 정보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교육혁신본부 홈페이지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(등록하면 공고와 신청서가 자동 생성) 관리자가 프로그램을 등록하면 모집 공고·신청 화면이 만들어지고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신청 → 승인 → 출석 → 수료 → 설문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까지 관리하며, 교육과정은 학사정보와 연계해 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WEB-005, WEB-006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SSO 로그인·자격 제한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승인·대기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정원 초과 시 대기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QR·명단 체크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 자동 판정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만족도 설문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 통계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546000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WEB-005 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명칭·기간·정원·대상·신청 항목 등록 시 공고 게시물·신청 화면·캘린더 일정 자동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 제한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학생·교원·교직원 신분별 자격 제한, 단계별 이메일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나의 신청 내역 · 엑셀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신청·취소·수료 현황 조회, 관리자 명단·출석·수료 엑셀 내려받기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연동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조회·신청·신청 내역 API를 MCP 도구로 제공 → 과제 5 패널에서 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6139328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WEB-006 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교과·비교과·마이크로디그리별 명칭·개요·이수 요건·개설 단위·학점/시간·역량·담당 부서 (설계 승인)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학사정보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개설 교과목·교육과정 조회 전용 연계(SIR-004 준용), 미연계 항목은 CMS 직접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·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키워드·유형·단과대학/학과·역량·학기 다중 필터, 상세에서 관련 프로그램·규정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· 개인화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교육과정 정보 색인 → “OO 역량 과정은?” 응답, 개인 이수 결합은 로그인 본인만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2.4.5 통합검색 · 다국어 지원 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교육혁신본부 홈페이지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(찾고, 바로 물어보기) 페이지·게시물·첨부 본문·교육과정을 한 번에 찾는 통합검색에서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같은 검색어를 패널 에이전트로 넘겨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대화형 답을 받게 하고, 다국어는 Language Set 방식으로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WEB-007, WEB-008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576656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WEB-007 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본문 · 게시물 · 첨부(HWP·PDF·DOCX·XLSX) 본문 · 교육과정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탭, 검색어 강조, 정확도·최신순 정렬, 검색어 통계 (WEB-010)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비공개·권한 제한 콘텐츠는 색인 단계에서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결과 상단 ‘에이전트에게 물어보기’ → 검색어를 패널 질의로 전달 (SFR-012)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042656"/>
          <a:ext cx="6260400" cy="3062656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WEB-008 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Language Set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언어별 콘텐츠 등록·수정·노출 설정, 국문·영문 기본 + 추가 언어 등록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문구 편집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메뉴명·버튼·안내 문구를 언어별 문구 사전에서 코드 수정 없이 편집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 유지 · 대체 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헤더 언어 선택 유지, 미등록 페이지는 국문 대체 표출 + 안내, 메뉴 비노출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·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제공 표본 콘텐츠 5쪽 내외로 시연 (번역·작성은 범위 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 다국어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국문 외 언어 질의 시 색인된 국문 콘텐츠를 근거로 해당 언어로 답변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213313"/>
            <a:ext cx="6332400" cy="94414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26731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검색과 에이전트의 역할 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465313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통합검색은 원문을 빠짐없이 찾는 도구, 사이드 패널은 찾은 내용을 해석·실행하는 도구로 나누고, 두 기능이 같은 색인을 쓰도록 하여 검색 결과와 에이전트 답의 근거가 어긋나지 않게 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2.4.6 웹 표준 · 접근성 · 호환성 및 신규 콘텐츠 제작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교육혁신본부 홈페이지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(패널까지 KWCAG 2.2) 사이드 패널을 포함한 전 화면을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KWCAG 2.2 · HTML5/CSS3 · 5종 브라우저 최신 2개 버전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기준으로 구현하고, 정적 페이지 10개 이상과 메인 인포그래픽을 제작함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WEB-009, WEB-011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62431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582415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KWCAG 2.2, 장애인차별금지법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공인 자동 점검 도구 + 전문가 수동 점검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사이드 패널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키보드 조작 · 스크린리더(ARIA live) · 명도 대비 4.5:1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NVDA·VoiceOver 실사용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W3C HTML5 · CSS3 유효성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W3C Validator 전 템플릿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Chrome · Edge · Firefox · Safari · 삼성인터넷 최신 2개 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호환성 테스트 결과서 (10개 환경)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지능정보화 기본법 접근성 규정, 전자정부 홈페이지 품질관리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체크리스트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328432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신규 콘텐츠 제작 (WEB-011)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562432"/>
          <a:ext cx="6260400" cy="2137605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원고 기반 10개 이상 구조화·편집 (본부 소개 4 · 주요 사업 3 · 센터 3 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메인·주요 사업 이미지 · 아이콘 · 인포그래픽 제작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저작권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제작 콘텐츠 저작권 확인, 확인 불가 콘텐츠는 목록으로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시점까지 완료, 검수 후 추가 원고 등록은 WEB-014 공개 지원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16800" y="780804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80804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86203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2.2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KWCAG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25804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패널 포함 전 화면
전문가 수동 점검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780804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780804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786203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 × 2버전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825804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브라우저 호환
10개 환경 시험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780804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780804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786203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이상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825804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신규 정적 페이지
콘텐츠 제작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접근 · 실행 권한 · 실행 기록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접근·실행 권한 통제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(최소 권한 · 사전 검사 · 전부 기록) 그룹 상속형 최소 권한으로 접근을 통제하고, 도구 실행마다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사용자 · 그룹 · 대상 자원 · 작업 종류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사전 검사하며, 접근·모델 호출·도구 실행·연계 호출을 모두 기록함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권한 매트릭스 (예시 — 설계 단계에서 확정)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8" cy="3105211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939059"/>
                <a:gridCol w="1017315"/>
                <a:gridCol w="1017315"/>
                <a:gridCol w="939059"/>
                <a:gridCol w="1017315"/>
              </a:tblGrid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 (SSO 신분)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2 성과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 상담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5 신청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학과 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성과만 (승인)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이수만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상담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전송받은 학생만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에이전트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권한·정책·기록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비로그인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응답만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580521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580521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접근 통제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800" y="587721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24800" y="5913216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사용자·그룹 단위 데이터 범위·기능 지정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6999" y="5913216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그룹 권한 상속, 기본값 최소 권한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9200" y="580521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작업공간 격리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648921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648921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 전 검사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800" y="656121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24800" y="659721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요청 사용자·소속 그룹 · 대상 자원 범위 · 작업 종류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46999" y="659721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정책 위배 실행 차단 + 차단 사유 기록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9200" y="648921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허용 / 차단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717321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717321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변경 승인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800" y="724521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4800" y="728121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외부 시스템 상태 변경은 확인 카드 승인 후 실행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6999" y="728121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승인자·승인 시각 기록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69200" y="717321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승인 기록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85721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785721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 기록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800" y="792921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324800" y="796521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사용자 접근 · 모델 호출 · 도구 실행 · 연계 호출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46999" y="796521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일시 · 주체 · 수행 내용 · 결과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69200" y="785721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DAR-002 보존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800" y="855921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산출: 보안 설계서, 권한 정책 정의서, 실행 기록 샘플 (설계 단계)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권한 검증의 소재 및 프롬프트 인젝션 방어 구현 방식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에이전트 실행 안전성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(모델을 믿지 않는 설계) 권한은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도구 서버에서 다시 검증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요청 주체 식별자는 세션에서 강제 주입하며, 문서·연계 응답·첨부는 지시가 아닌 데이터로만 처리하여 인젝션·권한 우회 성공 0건을 목표로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권한 검증 지점 (3중)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239009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756239"/>
                <a:gridCol w="1095570"/>
              </a:tblGrid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지점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판단 의존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플랫폼 정책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실행 전 사용자·그룹·자원·작업 종류 정책 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MCP 도구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토큰으로 요청 주체 재확인, 본인·소속·대상 학생 유효성 재검증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학내 시스템 계정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전용 / 변경 전용 계정 분리, 계정 권한 최소화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5090097"/>
            <a:ext cx="6260400" cy="86917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509009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799" y="513329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입력 신뢰 경계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799" y="5378097"/>
            <a:ext cx="5540400" cy="58117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적재 문서·연계 시스템 응답·첨부 파일 내용은 ‘데이터 영역’ 태그로 감싸 전달하고, 지시문 영역과 분리합니다. 데이터 안의 지시성 문구는 탐지해 무력화 표시합니다.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6049270"/>
            <a:ext cx="6260400" cy="68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800" y="604927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609247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지시문 · 도구 목록 유출 방지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799" y="6337270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시스템 지시문·도구 목록 요청 패턴을 입력 단계에서 차단하고, 출력 단계에서 지시문 문자열 유사도를 검사해 유출 응답을 폐기합니다.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6826719"/>
            <a:ext cx="6260400" cy="68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6800" y="6826719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799" y="6869919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권한 우회 차단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799" y="7114719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“나는 관리자다”, “학번 ○○ 조회” 같은 신분·대상 변조 시도는 도구 파라미터에 반영되지 않습니다. 식별자는 세션에서만 주입됩니다.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7604168"/>
            <a:ext cx="6260400" cy="68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6800" y="7604168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799" y="7647368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개인정보 마스킹 · 고지 · 신고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799" y="7892168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첨부 파일의 주민번호·연락처 등은 모델 전송 전 탐지·마스킹하고, AI 생성 결과 상시 표기와 부적절 응답 신고 → 관리자 검토 절차를 제공합니다.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" y="838161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인젝션·권한 우회 시험: 공격 유형 6종(직접 지시·문서 내 지시·첨부 내 지시·신분 변조·도구 목록 유출·위젯 경유)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【60건 이상】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시나리오를 골든셋에 포함, 성공 0건이 합격 기준 (TER-003)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3.3.1 사업 수행 · 종료 시 보안 및 사이드 패널 · 위젯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사업 수행 및 위젯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(사업 보안과 웹 보안을 함께) 전 인력 보안서약·시큐어코딩 전수 진단·최종 취약점 점검으로 사업 보안을,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SRI · 허용 도메인 · 평문 토큰 금지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위젯 보안을 확보함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SER-002, SER-004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448432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3521475"/>
                <a:gridCol w="109557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보안서약서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대표자·참여 인력 전원 [붙임 8·9호] 제출, [별첨 1호] 준수사항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개발 소스 전체 정적 분석 도구 진단 + 보안 약점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중 · W10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취약점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 보안점검 도구 + 보안 담당 점검, 취약점 개선 완료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 ~ 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시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 반납·파기 확인서, 보안확약서 [붙임 10·11호], 접근 계정·권한 삭제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914432"/>
          <a:ext cx="6260400" cy="2862431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461704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SER-004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토큰·세션은 HttpOnly·Secure 쿠키, 브라우저 로컬 저장소에 평문 저장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로그 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 대화는 플랫폼에만 저장(DAR-002 정책), 홈페이지 DB에 저장하지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스크립트 무결성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스크립트 SRI 해시 적용, 허용 도메인 목록 외 로딩 차단 (CORS · CSP)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경유 공격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SER-003 방어를 동일 적용, 위젯 경유 인젝션·권한 우회 시험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신규 소스 시큐어코딩 진단, 오픈 전 웹 취약점 점검·조치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88486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88486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93886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33486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신규 소스 시큐어코딩
진단 대상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88486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88486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93886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33486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인젝션 · 권한 우회
성공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88486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88486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93886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33486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비로그인 개인정보
노출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지식 데이터 적재 도구 및 시범 적재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지식 데이터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(발주기관이 직접 올리고 바꾸는 지식) 문서를 올리면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조항 단위로 쪼개 색인하고 출처(문서명 · 조항 위치)를 붙이는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적재 도구를 제공하며, 시범 적재 대상은 착수 2주 이내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관리자 화면 업로드 (HWP·PDF·DOCX)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추가·교체·삭제 직접 수행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원본 보관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구조화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장·절·조·항 단위 분할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규정명·조항 번호·개정일 메타데이터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조항 단위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색인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키워드 + 벡터 하이브리드 색인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갱신 시 자동 재색인 / 수동 재색인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검색 가능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답변에 문서명 · 조항 위치 표기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원문 해당 위치 링크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제시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0800" y="5364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시범 적재 대상 (안) — 착수 후 2주 이내 확정, 요구사항정의서에 명시 &gt;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5598000"/>
          <a:ext cx="6260400" cy="209065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521475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교육과정 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학생설계전공 운영지침, 부전공·복수전공·연계전공·융합전공 규정, 편입생 학점 인정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 성과 입력 기준·항목 정의, 성과 관리 관련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 ·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콘텐츠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페이지 · 게시물 · FAQ · 교육과정 정보 (DAR-004 자동 색인)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80800" y="7796656"/>
            <a:ext cx="6332400" cy="94414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799" y="78506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근거 인용 90% 이상을 위한 장치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799" y="8048656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조항 단위로 쪼개 색인하면 답변이 ‘문서 전체’가 아니라 ‘제○조 제○항’을 가리킬 수 있습니다. 인용된 조항이 실제로 존재하고 내용이 일치하는지 응답 전에 원문과 대조합니다.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4.2.1 이력 데이터 보존기간 및 개방 형식 이관 · 백업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이력 · 보존 · 이관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(수치로 정한 보존 · 개방 형식 이관)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접속기록 2년 · 질의응답 1년(기본)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보존 후 자동 파기하고, 종료·해지 시 JSON · CSV · SQL 덤프로 이관한 뒤 사본을 파기함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DAR-002, DAR-003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70192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504160"/>
                <a:gridCol w="1095570"/>
                <a:gridCol w="140859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 · 주체 · 접속지 · 수행 업무 · 처리 정보주체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2년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위·변조 방지 (해시 체인)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질의·응답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· 응답 · 근거 · 피드백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(방침에 따라 조정)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경과 시 자동 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실행·연계 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도구명 · 파라미터 · 결과 · 승인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조회·내보내기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정보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 · 조회자 · 이용 유형 · 대상 ·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SIR-004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36195"/>
          <a:ext cx="6260400" cy="3470096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461704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DAR-003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소유권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생성·적재 데이터와 성과 데이터 소유권은 발주기관 단독 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형식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JSON(대화·스킬·설정) · CSV(실행 기록·통계) · SQL 덤프(DB) — 이관 절차서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DB 일 1회 전체 + 1시간 단위 로그 백업, 14세대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RTO 4시간 · RPO 1시간 (플랫폼), 검수 시 백업본 복구 1회 이상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사본 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완료 후 계약상대자 보유 사본 파기, 파기 확인서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907829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정보주체 열람·삭제 요구: 관리자 화면에서 정보주체별 이력 조회·삭제 처리 기능 제공, 처리 내역 기록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4.3.1 홈페이지 콘텐츠 자동 색인 (1시간 이내 반영)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4.3 홈페이지 콘텐츠 색인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(게시하면 1시간 안에 에이전트가 앎) CMS 변경 이벤트를 받아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등록 · 수정 · 삭제를 1시간 이내(목표 10분) 색인에 반영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비공개·색인 제외 콘텐츠는 처음부터 넘기지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CMS 변경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등록·수정·삭제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이벤트 발행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웹 서버 → 플랫폼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비공개·제외 차단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본문 추출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HWP·PDF·DOCX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색인 반영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목표 10분 이내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761999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이내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이벤트 즉시 처리(큐), 실패 건 5분 간격 재시도, 1시간 정기 전수 대조로 누락 보정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제외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비공개·권한 제한·관리자 ‘색인 제외’ 지정 콘텐츠는 이벤트 단계에서 미발행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건수 · 최종 반영 시각 · 실패 건 표시, 건별·전체 수동 재색인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형식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페이지명 · URL · 메뉴 경로를 메타데이터로 저장 → 응답 근거 링크 (SFR-012)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316800" y="725107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25107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30507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분 목표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770107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게시물 색인 반영
(기준 1시간 이내)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39600" y="725107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39600" y="725107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47600" y="730507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7600" y="770107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첨부 본문 추출
HWP·PDF·DOCX·XLSX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62400" y="725107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62400" y="725107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70400" y="730507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70400" y="770107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비공개 콘텐츠
색인 노출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시스템 운영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발주기관 직접 운영 절차 · 사용량 및 비용 관측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플랫폼 운영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(개발사 없이 운영) 권한 · 스킬 · 도구 · 지식 데이터 · 모델 변경을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운영자가 관리자 화면에서 직접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처리하도록 절차화하고, 사용자·조직별 사용량과 모델 비용을 관측·제한함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SFR-008, QUR-002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97132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782550"/>
                <a:gridCol w="406926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절차 (관리자 화면)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·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그룹 매핑 확인 → 그룹 권한 변경 → 변경 이력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스킬 · 지시문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스킬 승인 큐 검토 → 배포 범위 지정 → 이력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개정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교체 → 재색인 → 골든셋 재실행으로 영향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기록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차단·실패·신고 건 필터 조회 → 내보내기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비교 실행 → 과제별 기본 모델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43732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사용량 및 비용 관측 (QUR-002)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671328"/>
          <a:ext cx="6260400" cy="2971328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사용량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사용자·조직별 요청 수 · 토큰 처리량 · 도구 호출 수 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모델 단가표 등록 → 사용량 × 단가 자동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한도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사용자·조직 월 한도, 80% 알림 · 100% 초과 시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기간별 사용 현황 보고서 (월간 자동 생성, 엑셀 내려받기)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단계 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월 사용량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【○만 토큰】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× 단가 → 월 모델 이용료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【○원】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산정서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71465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사업 기간 중 개발·시험용 모델 이용료는 계약상대자가 부담 (사업 예산 포함)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시스템 운영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5.2.1 이용 통계 · 백업·복구 · 검수 후 공개 및 안정화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5.2 홈페이지 운영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(검수와 오픈을 분리) 홈페이지는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사업기간 내 검수 완료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대외 공개는 ’27년 상반기 발주기관 지정일에 시행하고 공개 후 4주 안정화를 하자담보기간 내 무상으로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WEB-010, WEB-012, WEB-014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이용 통계 대시보드 (WEB-010)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75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기간별 방문자 · 페이지뷰 · 메뉴별 조회 · 유입 경로 · 기기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프로그램별 신청 · 수료, 교육과정 검색어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 열람 수 · 질의 수 · 페이지별 이용률 (같은 대시보드)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내려받기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엑셀 내려받기, 개인 식별 정보 미포함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5454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5454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800" y="5526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24800" y="556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접근 제한 환경에서 구현·시험 통과 확인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6999" y="556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관리자 교육 완료 (WEB-013)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9200" y="5454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’27. 2. 19. 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6246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6246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공개 준비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800" y="6318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24800" y="6354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발주기관 콘텐츠 직접 등록·점검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46999" y="6354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등록 콘텐츠 오류 조치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9200" y="6246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검수 ~ 공개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7038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7038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공개 작업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800" y="7110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4800" y="714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대외 도메인 · SSL · 검색엔진 수집 허용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6999" y="714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최종 점검표 (링크·권한·개인정보·패널·접근성)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69200" y="7038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지정일 (’27 상반기)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830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7830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안정화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800" y="7902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324800" y="793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공개일부터 4주 콘텐츠 등록 지원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46999" y="793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장애 대응 · 오류 조치, 결과 보고서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69200" y="7830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4주 · 무상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800" y="8639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백업·복구는 Ⅲ-1(웹 서버 구성) 기준: 일 1회 전체 + 6시간 증분, 14세대, RTO 4시간·RPO 6시간. 공개가 검수일부터 6개월을 넘겨 지연되면 수행 시기·방법을 협의하여 정함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요구사항 구현 시 제약사항과 대응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제약사항 및 대응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(제약을 일정 위험으로 만들지 않음) 서버 제공 · LLM 범위 제외 · 연계 규격 사후 제공 · 영향평가 4대 제약을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사전 준비물과 대체 경로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흡수하여 검수 일정에 영향이 없게 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774614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1173825"/>
                <a:gridCol w="344322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구동 서버를 발주기관이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시점 의존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D+7 설치요건서(자원·포트·계정), 당사 개발 서버 사전 구성 → 제공 즉시 1일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자체 도입은 범위 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검증용 모델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게이트웨이로 교내 개방형 모델 + 상용 모델 연계만 개발, 모델 소재지·처리 방식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규격은 계약 후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개발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API·DB 양방식 어댑터 설계 선행, 합성 데이터 Mock 서버로 과제 개발 병행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영향평가 완료 전 실데이터 미개통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실데이터 시험 불가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가명·합성 데이터로 시험·검수, 실데이터 개통은 평가 완료 후 별도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대외 공개는 검수 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시점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검수까지와 공개 작업 계획을 분리 수립, 하자담보기간 내 공개·4주 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구현(MVP)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전교 확대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QUR-003 6,000명 확장 설계와 PSR-004 확대 단가로 후속 판단 근거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7240615"/>
            <a:ext cx="6332400" cy="995608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729461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실데이터 없이도 검수 기준을 증명하는 방법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7492615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학사·성과 시스템의 항목 구조를 그대로 본뜬 합성 데이터 세트(학생 </a:t>
            </a:r>
            <a:r>
              <a:rPr sz="12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【300명】</a:t>
            </a: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·교원 </a:t>
            </a:r>
            <a:r>
              <a:rPr sz="12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【100명】</a:t>
            </a: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규모)를 착수 3주 안에 만들고, 골든셋 기대 결과를 이 데이터로 확정하여 실데이터 개통 여부와 관계없이 TER-003 판정을 수행합니다.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성능 · 품질 · 인터페이스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인터페이스 요구사항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성능 · 가용성 기준 충족 구성 및 측정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성능 · 가용성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(모든 기준을 수치로) 동시 사용자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100명 성능 저하 없음, 플랫폼 월 가용률 99.0%·홈페이지 99.5%, 플랫폼 RTO 4시간·RPO 1시간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검수 시 측정하여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65556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330335"/>
                <a:gridCol w="1486844"/>
                <a:gridCol w="203463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 성능 저하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 30분 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도구로 과제 1~3·5 혼합 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시작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후 협의 (스트리밍)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응답 표시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【3초】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(모델 생성 제외)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구간 지연 측정 (P95)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호출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도구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【1초】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(P95)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MCP 서버 호출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표시 0.5초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【0.2초】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(비동기 로딩)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有/無 비교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가용률 (플랫폼)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99.0%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99.0%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상태 점검 1분 간격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가용률 (홈페이지)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99.5% (목표)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99.5%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상태 점검 1분 간격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RTO · RPO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4시간 · 1시간 / 홈페이지 4시간 · 6시간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시 복구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12157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712157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부하 분산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719357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L7 부하 분산 (AP 2대 Active-Active)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719357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세션 서버 저장 → 무중단 전환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712157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100명 기준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7600370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760037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계층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767237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에이전트 실행 워커 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767237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도구 호출 비동기 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767237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모델 게이트웨이 동시성 제한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760037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과부하 시 대기열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8079170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807917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계층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815117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DB 이중화 (Primary-Standby)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815117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색인 복제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815117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1시간 로그 백업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807917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RPO 1시간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" y="859397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언어모델 자체의 생성 속도는 검수 제외(TER-003)이므로, 플랫폼 구간(인증·정책 검사·도구 호출·스트리밍 시작)을 분리 측정하여 성능 시험 결과서에 제시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동시 6,000명 확장 설계 · 자원 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확장 설계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(수평 증설로 60배) 전 구성원 30,000명 ·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동시 6,000명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은 AP·워커를 수평 증설하고 DB·색인을 분리 확장하는 구조로 수용하며, 산정 근거와 추가 라이선스 비용을 함께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QUR-003, PSR-004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153984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1408590"/>
                <a:gridCol w="1565100"/>
                <a:gridCol w="219114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(동시 100명)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(동시 6,000명)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산정 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 · 실행 워커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【16대】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(Auto-scale)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대당 동시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【400】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세션 × 여유율 1.5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2대 (이중화)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【4대】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(쓰기 1 + 읽기 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기록 쓰기량 × 6,000 / 대당 처리량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색인 ·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【3대】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(클러스터)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질의량 · 색인 크기 증가분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L7 1식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L7 2식 (이중화)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가용률 99.5% 이상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별도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별도 사업 (게이트웨이 분산)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처리량은 LLM 사업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619985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61998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100명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907985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시범 · 검수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6107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5619985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561998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1,000명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5907985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단과대 확대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6107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5619985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561998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3,000명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5907985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AP 8대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6107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5619985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5619985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6,000명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5907985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AP 16대 · DB 4대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316800" y="6807985"/>
          <a:ext cx="6260400" cy="209065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증설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 이미지 동일 배포, 노드 추가만으로 수평 확장 (코드 변경 없음)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상태를 외부 저장소에 두어 어느 AP에서나 세션 재개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단가표(Ⅱ-3.1) 기준 — 서버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【○식】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추가 비용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【○원】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(36개월 고정)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280800" y="897064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확장 설계 및 자원 산정서는 시범 성능 시험 결과(대당 처리량 실측)를 반영해 확정하며, 확장 설계 요건은 제안 평가 대상(검수 대상 아님)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품질 확보 방안 · 단계별 품질 점검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품질 확보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(단계마다 관문) 분석 · 설계 · 구현 단계별 품질 점검표로 산출물을 검토·승인받고, 소스·산출물 형상관리와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영향 이벤트 로그 1년 보존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사용자 피드백 반영 절차를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912750"/>
                <a:gridCol w="133033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점검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주체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58개 추적표 등록, 모호 요구 0건, 과제별 범위 확정 (착수 2주)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품질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매트릭스·연계 설계 검토, 보안 설계 점검, IA·시안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부문 책임 · 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리뷰 100%, 시큐어코딩 진단, 주간 골든셋 측정, 단위시험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통합·성능·보안·접근성 시험, TER-003 기준별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담당 · 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225313"/>
            <a:ext cx="6260400" cy="670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5225313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5268513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형상관리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799" y="5513313"/>
            <a:ext cx="5540400" cy="38292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소스·설정·스킬·골든셋을 Git 저장소로 관리하고, 브랜치 보호·리뷰 승인 후 병합합니다. 저장소 일체를 종료 시 이관합니다.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5986242"/>
            <a:ext cx="6260400" cy="670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5986242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799" y="6029442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 이벤트 로그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6274242"/>
            <a:ext cx="5540400" cy="38292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형상관리·DB·개발서버 접근 등 산출물에 영향을 준 모든 이벤트 로그를 1년 이상 보존하고 발주기관에 제출합니다.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6747170"/>
            <a:ext cx="6260400" cy="670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6800" y="674717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799" y="679037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 피드백 반영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799" y="7035170"/>
            <a:ext cx="5540400" cy="38292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패널 ‘도움 안 됨’·신고 건을 주간 분류 → 골든셋 추가 → 보완 → 재측정 순으로 처리합니다.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6800" y="754409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316800" y="754409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피드백 수집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800" y="783209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도움됨/안 됨 · 신고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1811700" y="803189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908900" y="754409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1908900" y="754409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주간 분류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4900" y="783209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원인 유형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3403800" y="803189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501000" y="754409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3501000" y="754409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골든셋 추가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37000" y="783209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4995900" y="803189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93100" y="754409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>
            <a:off x="5093100" y="754409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보완·재측정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9100" y="783209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테스트 에이전트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TER-003 정량 판정 기준별 달성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정량 판정 기준 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(10개 기준 모두 사전 측정) 검수 판정 기준 10개를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구현 첫 주부터 테스트 에이전트로 매주 측정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불합격 직결 4개 기준(권한 밖 노출·승인 누락·인젝션·차단)은 구조로 막음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534424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860805"/>
                <a:gridCol w="344322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조회값 ↔ 제시값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숫자·값은 도구 결과를 그대로 표로 렌더링, 모델 재서술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문서·조항 실재·일치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조항 단위 색인, 응답 전 인용 조항 원문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밖 데이터 미노출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식별자 주입 + 도구 서버 재검증 + 결과 검사 (3중)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없는 질의 확인 불가 적절성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근거 점수 미달 시 확인 불가 + 담당 부서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작업 승인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도구는 승인 토큰 없이는 실행 불가 (서버 강제)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인젝션 · 권한 우회 성공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신뢰 경계 · 유출 검사 · 식별자 주입 (Ⅲ-3.2)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호출 성공률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스키마 검증, 재시도 2회, 대체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항목 필드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10건 중 9건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항목 규칙 추출 + 모델 추출 교차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서지정보 출처 일치 · 미생성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 /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API 값만 표시, 조회 불가는 ‘확인 불가’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졸업 판정 단정 표현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금지 표현 출력 검사 후 재작성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8000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80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805442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기준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450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매주 자동 측정
(W6부터)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8000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80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805442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450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불합격 직결 기준
구조적 차단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8000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80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805442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문항↑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450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골든셋 90 +
홈페이지 70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0800" y="8954424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검수 환경: 가명·합성 데이터, 실데이터 시험은 교내 완결 모델로만 수행. 검수는 완료보고서 접수 후 7일 이내, 불합격 항목은 보완 후 재검수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SSO 연계 · 조회형/변경형 구분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학내 시스템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(조회와 쓰기를 다른 길로) 학사정보·대학성과관리는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조회 전용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교수 성과 입력은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승인 후에만 호출되는 변경형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계정·도구·기록을 분리하고, 모두 질의 시점 원천 직접 조회로 구현함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SIR-001, SIR-002, SIR-003, SIR-004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57106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704295"/>
                <a:gridCol w="1643355"/>
                <a:gridCol w="1565100"/>
                <a:gridCol w="11738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SIR-001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SAML 2.0 / OIDC, 신분·소속 속성 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발급, 만료 시 재인증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SIR-002 대학성과관리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API·DB 양방식 어댑터, 집계만 반환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소속·권한 서버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SIR-004 학사정보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API·DB 양방식, 최소 항목, 원천 직접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유형 · 대상 학생 유효성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내역 5항목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67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SIR-003 성과 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체계·필수 항목 조회 → 사전 검증 →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성과 · 승인 토큰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승인·결과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037061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037061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조회형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109061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145061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조회 전용 계정 · read-only 도구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145061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질의 시점 원천 조회 (사전 적재 사본 아님)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037061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변경 불가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883061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883061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변경형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955061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991061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변경 전용 계정 · 승인 토큰 필수 도구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991061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사전 검증 → 트랜잭션 등록 → 결과 확인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883061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승인 후 실행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729061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729061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801061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837061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전송 암호화 (TLS)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837061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언어모델 판단에 의존하지 않는 서버 검증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729061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 기록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8593061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시스템 명칭·인터페이스·인증 방식은 계약 후 제공 — 설치요건서에 필요한 계정 권한 범위를 제시. 영향평가 대상이면 평가 완료 전 실데이터 미개통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MCP 기반 데이터 접근 구조와 권한 검증 지점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표준 도구 연동 규격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(모든 데이터 접근은 MCP 한 길로) 학내 시스템과 홈페이지 기능을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Model Context Protocol 서버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감싸 도구로 제공하고, 연동 서버별 데이터 범위·작업 종류를 제한하며 장애를 격리함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39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실행 엔진 (계획·도구 선택)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MCP 클라이언트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도구 목록 = 권한 범위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18800"/>
            <a:ext cx="4874400" cy="39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188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890800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정책 엔진 — 사용자·그룹·자원·작업 사전 검사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890800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변경 작업 승인 토큰 확인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188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 서버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279600"/>
            <a:ext cx="4874400" cy="39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2796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 서버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학사정보 (조회)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634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성과관리 (조회)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40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성과 입력 (변경)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46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(조회·신청)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2796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서버별 범위·작업 제한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3740400"/>
            <a:ext cx="4874400" cy="39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37404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3812400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세션 토큰으로 주체 재확인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4000" y="3812400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대상 유효성·결과 검사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37404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도구 서버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4201200"/>
            <a:ext cx="4874400" cy="396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42012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328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학사정보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634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대학성과관리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40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교수 성과 입력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246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DB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81200" y="42012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검증 ③ 계정 권한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316800" y="4734000"/>
          <a:ext cx="6260400" cy="2991144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SIR-005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개방형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Model Context Protocol (Linux Foundation 산하 개방형 표준, 승인 없이 구현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설정만으로 추가·제거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화면에서 MCP 서버 주소·인증 등록/해제, 재배포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자체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MCP 서버 템플릿(Python/Java)과 추가 절차서를 운영자 매뉴얼에 수록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격리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서버별 타임아웃·서킷 브레이커 — 한 서버 장애 시 해당 도구만 비활성, 나머지 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Rectangle 60"/>
          <p:cNvSpPr/>
          <p:nvPr/>
        </p:nvSpPr>
        <p:spPr>
          <a:xfrm>
            <a:off x="280800" y="7833146"/>
            <a:ext cx="6332400" cy="969875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6799" y="78871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확산 시 그대로 쓰는 구조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6799" y="8085146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타 부서가 자기 업무 시스템을 연결하려면 MCP 서버 하나를 추가하고 그 서버의 데이터 범위·작업 종류만 정책에 등록하면 됩니다. 권한 검증과 실행 기록은 기존 체계가 그대로 적용됩니다.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3.3.1 기본 채팅 화면 · 임베딩 위젯 및 SDK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사용자 인터페이스 · 위젯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(익숙한 채팅, 스크립트 한 줄 이식) 별도 학습 없이 쓰는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채팅형 기본 화면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과, 스크립트 1개 삽입으로 타 학내 사이트에도 추가 개발 없이 붙는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임베딩 위젯 · SDK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SIR-006, SIR-007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SIR-006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채팅 에이전트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지정 없이 자유 대화, 세션 단위 대화·이전 대화 탐색·이어 대화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과정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계획 · 사용 도구 · 실행 결과를 단계 카드로 펼쳐 보기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업로드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PDF·DOCX·HWP(X)·TXT·XLSX, 파일당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【20MB】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이용자별 격리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한국어 · 고지 ·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화면 한국어, AI 생성·오류 가능성 상시 표기, 발주기관 디자인 가이드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951328"/>
          <a:ext cx="6260400" cy="3153984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SIR-007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스크립트 1개 삽입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&lt;script src=… data-site=…&gt; 1줄 — 위치·색상·안내문·노출 페이지 규칙은 관리자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 0.5초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async·지연 로딩, 런처 버튼만 먼저 표시, 패널 본체는 클릭 시 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장애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로딩 실패 시 런처 숨김 — 홈페이지 이용에 영향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 규격 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컨텍스트 전달 · 응답 스트리밍 · 과제 실행 API 규격서 + 적용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허용 도메인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도메인 외 동작 차단, CORS · CSP, 양 서버 간 방화벽 요건은 설치요건서에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213313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26731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웹 접근성 준수 (WEB-009 연계)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465313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채팅·패널은 키보드만으로 열기·입력·닫기가 가능하고, 새 응답은 스크린리더가 읽도록 ARIA live 영역으로 알리며, 명도 대비 4.5:1 이상을 디자인 시스템에서 강제합니다.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3.4.1 홈페이지–플랫폼 인증 세션 공유 방식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3.4 인증 세션 공유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(재로그인 없이, 최소 정보만) 홈페이지 SSO 로그인 사용자는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유효기간이 짧은 1회용 토큰 교환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패널 인증을 이어받고, 로그아웃하면 패널 세션도 함께 종료됨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로그인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홈페이지 → SSO 로그인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홈페이지 세션 생성 (HttpOnly 쿠키)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홈페이지 세션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토큰 요청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패널 열기 → 웹 서버가 플랫폼에 교환 토큰 요청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서버 간 상호 인증 (mTLS)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1회용 토큰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토큰 교환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위젯이 토큰 전달 → 플랫폼이 검증·폐기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유효기간 </a:t>
            </a:r>
            <a:r>
              <a:rPr sz="10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【60초】</a:t>
            </a: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, 재사용 불가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패널 세션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최소 정보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신분 · 소속 · 사용자 식별자만 포함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과제 실행 권한은 플랫폼이 재판정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권한 적용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⑤ 로그아웃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홈페이지 로그아웃 이벤트 → 플랫폼 세션 폐기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SSO 단일 로그아웃 연동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동시 종료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저장소에 토큰 저장 안 함 (메모리 1회 전달 후 폐기)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재사용 · 탈취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1회용 · 단기 만료 · 발급 대상 도메인 바인딩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유도 이어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비로그인 질의 중 로그인 → 교환 완료 후 이전 질의 자동 재처리 (SFR-014)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정보화 담당부서와 협의하여 확정, 인증 연계 설계서에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관리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관리방법론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일정계획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개발장비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일정 · 위험 · 보안 · 형상 관리와 보고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수행 계획 및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(착수 14일 안에 관리 틀 완성) 사업수행계획서에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 조직 · 일정 · 산출물 · 위험 · 의사소통 · 품질 · 보안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7개 관리 방안을 담아 승인받고, 주간보고와 요구사항 추적표로 매주 진척을 보고함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13968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3521475"/>
                <a:gridCol w="16433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·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주차별 WBS, 관문 4개(W2·W5·W9·W12) 통과 기준, 지연 1주 이상 시 만회 계획 서면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· 주간보고서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58개 요구사항 추적표 — 설계·구현·시험·검수 단계별 반영 여부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관리 대장 6개 항목 착수 등록, 주간 상태 점검 (Ⅱ-2.3)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관리 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보안서약·자료 반출입 통제·개발 환경 접근 통제 (Ⅵ-6)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점검표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저장소·브랜치 보호·리뷰 승인 병합, 영향 이벤트 로그 1년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 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요구사항·IA 변경은 변경 요청서 → 영향 분석 → 승인, 과업 변경은 SW진흥법 제50조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변경관리 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37997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보고 체계 및 의사소통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613970"/>
          <a:ext cx="6260398" cy="2759312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939059"/>
                <a:gridCol w="1878119"/>
                <a:gridCol w="23476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완료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본부장 · 사업관리자 · 소관부서 · 전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 / 검수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사업관리자 · PM · 부문 책임자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진척 · 이슈 · 다음 주 계획 · 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검토회의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관문별 4회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사업관리자 · 소관부서 · 정보화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관문 통과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즉시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승인 · 자료 제공 지연 등 서면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산출물 관리 · 소스코드 및 형상관리 저장소 이관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산출물 관리 및 소스코드 이관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(RFP 산출물만, 편집 가능한 원본으로) 산출물은 RFP Ⅳ장 바. 1) 목록으로 한정해 수행계획서에서 승인받고,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애플리케이션 · 연계 모듈 · 테스트 에이전트 소스와 저장소 일체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빌드·배포 절차서와 함께 이관함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45732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3286710"/>
                <a:gridCol w="14085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1~3·5 서비스, 스킬·지시문, MCP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+ Git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시스템 연계 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· 학사정보 · 성과관리 · 성과 입력 어댑터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+ Git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에이전트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CLI 소스 · 골든셋 · 실행 결과 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+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CMS 설정 · 디자인 원본 · 위젯·SDK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+ 원본 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 ·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빌드·배포 절차서, 실행 설정 정보(비밀값 별도 봉인 전달)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+ 스크립트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본체 원시코드 (제Ⅶ장 라. 2))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92332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92332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작성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99532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03132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한국어 · 편집 가능한 원본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03132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산출물 표준 양식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92332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66132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66132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73332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76932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 담당 내부 검토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76932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 추적표 대조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66132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 완료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39932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39932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47132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50732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발주기관 검토·승인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50732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형상 기준선 등록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39932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기준선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13732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813732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820932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824532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저장소 일체 · 빌드 재현 확인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824532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SW사업 정보 제출 (SW진흥법 제46조)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813732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인수 확인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800" y="889332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이관 시 발주기관 환경에서 빌드·배포 절차서대로 재빌드하여 동일 동작을 확인한 후 인수 확인서를 받음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일정계획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종료일(’27. 2. 19.) 역산 주차별 일정 및 산출물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주차별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(12주 역산) W12(’27. 2. 15.~19.)를 검수 · 이관 주로 고정하고 역산하여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착수 산출물 3종 · 관문 4개 · 시험·검수 3주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배치함 (W1 = 계약일 주, 2026. 11. 30. 가정)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WEB-001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6748296"/>
        </p:xfrm>
        <a:graphic>
          <a:graphicData uri="http://schemas.openxmlformats.org/drawingml/2006/table">
            <a:tbl>
              <a:tblPr firstRow="0" bandRow="0"/>
              <a:tblGrid>
                <a:gridCol w="469529"/>
                <a:gridCol w="860805"/>
                <a:gridCol w="1252080"/>
                <a:gridCol w="1330335"/>
                <a:gridCol w="1252080"/>
                <a:gridCol w="109557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11.30~12.04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설치요건서 (D+7)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요청 · 합성 데이터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본부·센터 인터뷰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설치요건서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12.07~12.11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서버 사전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90문항 · 범위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IA·메뉴 (D+14)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수행계획서 · IA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12.14~12.18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설치 ·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설계 · Mock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3종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12.21~12.24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· 작업공간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MCP 서버 (조회형)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선정 · 수정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12.28~12.31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검사 · 실행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데이터 적재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확정 ·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01.04~01.08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모델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 · 과제 4 CLI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· 게시판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01.11~01.15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사용량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 (상담)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 · 교육과정 · 서버 설치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구성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01.18~01.22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스킬 배포 ·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2 (성과 등록)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· 다국어 · 위젯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위젯·SDK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01.25~01.29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공유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5 패널 ·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10쪽 ·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완료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02.01~02.05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인젝션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통합시험 · 사용자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호환성 · 취약점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02.08~02.12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전환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TER-003·004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교육 (WEB-013)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02.15~02.19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2회 ·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이관 ·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완료 (공개 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교육·이관 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917830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계약일이 늦어지면 W3~W5 설계·구성을 1주 단축하고 W6~W9 구현을 2개 팀 병행으로 흡수하며, W10~W12 시험·검수 3주는 줄이지 않음. 설 연휴(’27. 2월 초)는 W10~W11 작업 계획에 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일정계획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홈페이지 검수까지의 일정과 공개 시점 작업 계획 구분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주차별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(검수와 오픈은 다른 일정) 홈페이지는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W12까지 접근 제한 환경에서 검수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마치고, 대외 공개는 ’27년 상반기(검수일부터 6개월 이내) 발주기관 지정일에 별도 작업 계획으로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WEB-014, PMR-001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① 검수까지의 일정 (사업기간 내)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704295"/>
                <a:gridCol w="2895435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 ·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~ W5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인터뷰 → IA 승인(D+14) → 시안 3종 → 수정 2회 →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 · 시안 · UI/UX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 ~ 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· 신청 · 교육과정 · 검색 · 다국어, 웹 서버 반입·설치 (W7)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화면설계서 · 서버 구성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 이식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W8 ~ 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연계 완료 후 위젯 이식 · 세션 공유 · 색인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위젯·SDK 규격서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·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 · 호환성 · 취약점 · TER-004, 관리자 교육 (검수 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결과서 · 검수결과서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459313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② 공개 시점 작업 계획 (검수 후, 하자담보기간 내 · 무상)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693313"/>
          <a:ext cx="6260400" cy="218198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D-7 ~ D-1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등록 콘텐츠 오류 조치, 최종 점검(링크 · 권한 · 개인정보 · 패널 · 접근성 재점검)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점검표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공개일 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대외 도메인 연결 · SSL 적용 · 검색엔진 수집 허용, 공개 직후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작업 결과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D+1 ~ D+28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4주 안정화 — 콘텐츠 등록 지원, 장애 대응, 오류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 지원 결과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80800" y="7983298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799" y="803729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공개 지연에도 책임 유지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99" y="8235298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검수 후 공개 전까지 발주기관이 콘텐츠를 직접 등록할 수 있도록 관리자 교육을 검수 전에 끝내고, 공개 일정이 정해지면 2주 전에 공개 작업 계획서를 제출합니다.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개발장비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개발 · 시험 장비 · 테스트 환경 구성 및 보안 조치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개발 · 시험 환경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(실데이터 없는 개발 환경) 개발·시험은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당사 보안 개발 환경과 합성 데이터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수행하고, 발주기관이 직접 확인하는 웹 테스트 환경을 W6부터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TER-001, SER-002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24531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364965"/>
                <a:gridCol w="17216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【16 vCPU · 64GB · SSD 1TB × 2대】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(플랫폼 사전 구성·CI)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보유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PC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 인력 13명 노트북 (디스크 암호화 · 보안 SW)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보유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 · CI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Git 서버 · CI 파이프라인 · 정적 분석 도구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보유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시험 도구, 접근성 점검 도구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【제품명】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웹 취약점 점검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보유 ·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【임차】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(개발용)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모델 API (개발·시험 이용료 당사 부담), 개방형 모델 GPU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711313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테스트 환경 (TER-001)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945313"/>
          <a:ext cx="6260400" cy="199932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담당자용 웹 테스트 환경 — 접속 정보 W6 제공, 과제별 시험 계정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가명처리 또는 합성 데이터만 사용 (실데이터 반입 금지)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운영과 같은 구성의 축소판 — 실행기반 · 과제 1~5 · 홈페이지 스테이징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16800" y="8052642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8052642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장비 보안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8311841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개발 PC 디스크 암호화·보안 USB 외 매체 차단, 반출 시 데이터 완전 삭제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8052642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8052642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접근 통제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8311841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개발 서버 VPN·2단계 인증, 계정은 인력별 발급·종료 시 즉시 삭제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8052642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8052642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자료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8311841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발주기관 자료는 지정 저장소에만 보관, 종료 시 반납·파기 확인서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품질보증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시험운영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교육훈련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유지관리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하자보수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기밀보안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비상대책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품질보증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품질보증 조직 · 방법 ·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품질보증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(수행 조직과 분리된 품질 점검) 품질관리팀(CTO) 소속 품질 담당이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 조직과 독립적으로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산출물·소스·검수 기준을 점검하고, 결과를 PM과 별도로 발주기관에 보고함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3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책임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품질관리팀 (CTO)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품질보증계획 승인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독립 보고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54800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548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담당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267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산출물 검토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3600" y="29267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코드 리뷰 · 정적 분석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4400" y="29267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TER-003 사전 측정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28548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본 사업 배정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351599"/>
            <a:ext cx="4874400" cy="43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351599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 조직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4235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① 실행기반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73600" y="34235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② AI 애플리케이션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4400" y="34235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③ 홈페이지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351599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자체 점검 → 품질 검토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16800" y="3920400"/>
          <a:ext cx="6260400" cy="362819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677985"/>
                <a:gridCol w="11738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품질보증계획 수립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목표(TER-003 10개 기준) · 점검 항목 · 일정 · 책임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(D+14)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양식 · 요구사항 추적 · 완전성 점검표 검토 후 발주기관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리뷰 100% · 정적 분석 · 시큐어코딩 진단, 결함 추적 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사전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에이전트 주간 측정 결과 검토, 미달 기준 시정 조치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 ~ 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감사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관문 4개 시점 품질 감사, 부적합 시정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관문별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316800" y="76565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6800" y="76565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4800" y="77105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4800" y="81065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코드 리뷰
(병합 전 승인)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9600" y="76565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39600" y="76565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47600" y="77105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47600" y="81065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관문별
품질 감사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62400" y="76565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62400" y="76565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70400" y="77105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【SP】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인증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70400" y="81065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 인증 보유 시
증빙 첨부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시험운영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단위 · 통합시험과 평가용 질의 세트(골든셋)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시험 및 평가용 질의 세트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(발주기관과 함께 만드는 골든셋) 착수 2주 이내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과제 1~3 각 30문항 이상 · 전체 90문항 이상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공동 구성하고, 홈페이지 콘텐츠 50문항 · 페이지 컨텍스트 20문항을 추가함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TER-001, TER-004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8" cy="37313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939059"/>
                <a:gridCol w="3991004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문항 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(질의 · 기대 결과 · 판정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집계 조회 · 비교 질의 + 개인 식별 조회 시도 (차단 기대)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2 성과 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 추출 · 서지 조회 · 승인 없는 등록 유도 (승인 카드 기대)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 상담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요건 대조 · 근거 조항 · 타인 조회 시도 · 근거 없는 질의 · 단정 유도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콘텐츠 (TER-004)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· 프로그램 · 교육과정 · FAQ · 규정 질의 + 근거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컨텍스트 (TER-004)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“이 프로그램 …” 지시어 질의, 비로그인 개인정보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공격 (공통)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【60】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인젝션 6종 · 권한 우회 · 지시문 유출 (SER-003·004)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197313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521475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도구·화면 단위 시험, 개발자 수행 → 품질 담당 확인 (W6~W9)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단위테스트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과제별 시나리오 · 학내 연계(Mock/합성) · 패널 연동 (W10)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통합테스트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에이전트로 전 문항 실행 · 판정 (매주 + W11 최종)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수행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보안 ·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 부하 · 인젝션 · 웹 취약점 · KWCAG (W10)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902862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골든셋은 SFR-010 테스트 에이전트가 변환 없이 실행하는 형식(YAML/JSONL)으로 작성하며, 제Ⅳ장 라. 과제별 질문 예시를 모두 포함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시험운영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사용자 시나리오 검증 · 검수 후 공개 및 안정화 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사용자 시나리오 검증 및 공개·안정화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(실제 쓸 사람이 확인) 발주기관이 지정한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시범 사용자(100명 범위)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가 과제 1~3 업무 시나리오를 직접 수행해 확인하고, 결과를 보완한 뒤 검수하며, 홈페이지는 검수 후 공개·4주 안정화를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TER-002, WEB-014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15398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408590"/>
                <a:gridCol w="344322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학과·과목 추이 조회, 비교 분석, 개인 조회 차단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2 성과 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논문 업로드 → 항목 확인·수정 → 승인 → 등록 결과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 상담 (학생)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【20명】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이수 대조, 근거 조항, 미충족 요건 경로 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 상담 (담당자)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상담 담당자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전송 결과 열람, 상담 결과 서식 수정·내보내기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5 패널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구성원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【20명】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컨텍스트 질의, 로그인 전환, 프로그램 신청 확인 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619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619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시나리오 배포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907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W9 안내·계정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107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619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619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수행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5907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W10 (1주)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107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619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619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의견 수집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5907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설문 · 피드백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107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619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619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보완 조치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5907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W10~W11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107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619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619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5907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 결과서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6807985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검수 후 공개 · 안정화 (WEB-014) &gt;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7041985"/>
          <a:ext cx="6260400" cy="199932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대외 도메인 · SSL · 검색엔진 수집 허용, 공개 직전 최종 점검표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 4주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등록 지원 · 장애 대응 · 오류 조치 (PSR-002 체계 적용), 결과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하자담보책임기간 내 수행, 추가 비용 청구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교육훈련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대상별 교육 계획 · 매뉴얼 제공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교육 및 매뉴얼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(직접 만들고 운영할 수 있게) 에이전트 구성·운영 온사이트 교육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2회차 · 2일 16시간 · 회차당 30명 이상 · 1인 1실습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 별도의 CMS 관리자 교육 2회를 실시하고, 매뉴얼 6종을 원본과 함께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WEB-013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095570"/>
                <a:gridCol w="1173825"/>
                <a:gridCol w="2034630"/>
                <a:gridCol w="7825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1회차 (8시간)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·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30명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동작 원리, 도구(MCP) 연계, 스킬 작성·관리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2회차 (8시간)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·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30명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구성, 권한 정책 · 실행 기록 운영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관리자 1·2회 (각 2시간+)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콘텐츠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메뉴·페이지·게시판·프로그램·통계, 공개 전 콘텐츠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W11 (검수 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매뉴얼 · 패널 내 도움말 · 시나리오 검증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225313"/>
          <a:ext cx="6260400" cy="235544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운영 · 권한·정책 · 실행 기록 · 지식 데이터 갱신 · 스킬 제작·배포 · MCP 도구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· 테스트 에이전트 실행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이용 방법 / CLI 옵션 · 골든셋 작성 · 결과 해석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관리자 · 콘텐츠 담당자 · 인프라 운영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캡처 포함, 웹 서버 백업·복구·인증서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688763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688763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이해도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7947963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회차 종료 시 실습 과제 + 평가, 결과를 교육결과보고서에 포함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3600" y="7688763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3600" y="7688763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6개월 질의 대응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9600" y="7947963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종료 후 6개월 온라인 질의 창구, 2영업일 이내 답변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50400" y="7688763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50400" y="7688763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비용 · 자료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6400" y="7947963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교육 비용 당사 부담, 교육자료 전자문서·편집 원본 제공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유지관리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기술지원 체계 · 유지관리 범위와 요율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기술지원 및 유지관리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(창구 하나, 등급별 시간 약속) 단일 지원 창구에서 장애 등급별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최초 응답 · 복구 목표 시간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지키고, 무상 하자보수와 유상 유지관리의 범위를 나누어 요율을 수치로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PSR-002, PSR-003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99932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창구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전용 전화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【번호】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이메일 · 이슈 관리 포털 (24시간 접수)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평일 09:00~18:00 상시, 1등급 장애는 24시간 · 365일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 · 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지원 우선 (발주기관 승인 원격 접속), 1·2등급 미복구 시 온사이트 방문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465328"/>
          <a:ext cx="6260398" cy="2576656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191140"/>
                <a:gridCol w="939059"/>
                <a:gridCol w="1095570"/>
                <a:gridCol w="109557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최초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온사이트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1등급 (긴급)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전체 중단, 개인정보 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【2시간】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도착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2등급 (중요)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1개 이상 중단, 연계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【4시간】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도착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3등급 (일반)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기능 오류, 화면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2영업일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4등급 (문의)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문의, 개선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1영업일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7149985"/>
          <a:ext cx="6260400" cy="160465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677985"/>
                <a:gridCol w="14085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(무상)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비정상 동작 · 요구사항 미충족 · 오류 수정, TER-003 정량 기준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(유상)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추가·개선, 환경 변화(학내 시스템 변경·모델 교체)에 따른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【○%】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(개발비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826641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유지관리 비용은 RFP에 따라 추후 별도 협의하되, 제안 요율은 위 수치로 고정 제시 (작성지침: 유지관리 요율 수치 기재)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하자보수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하자보수 조직 · 절차 · 범위 및 기간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하자보수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(종료 후 1년, 응답 정확성까지 하자) 최종산출물 인도일부터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1년간 무상 하자보수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하며, TER-003 정량 기준 미달도 하자로 보고 원인·조치 내역을 문서로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지원 창구 접수 · 등급 판정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이슈 번호 발행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접수 통보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8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8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06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재현 · 원인 분석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골든셋 재실행으로 영향 확인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298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원인 확정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61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61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69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수정 · 시험 · 형상 반영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온사이트 필요 시 방문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61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완료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24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24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32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35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원인 · 조치 내역 문서 제출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35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재발 방지 골든셋 추가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24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하자 처리 보고서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4932000"/>
          <a:ext cx="6260400" cy="258977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최종산출물 인도일부터 1년 (홈페이지 공개·4주 안정화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비정상 동작 · 요구사항 미충족 · 오류, TER-003 정량 판정 기준 응답 정확성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제외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생성 문장의 표현·유창성, 언어모델 자체 생성 속도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책임자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부문별 담당 3명, 온사이트 지원 조직 (Ⅵ-7)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하자보증 이행 각서 제출, 하자보수 보증금은 국가계약법령에 따름, 모든 비용 당사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하드웨어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제조사 보증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【3년】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부품은 최초 납품 규격 이상으로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316800" y="762977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762977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4800" y="768377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07977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무상 하자보수
(인도일부터)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9600" y="762977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39600" y="762977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47600" y="768377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7600" y="807977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공개 후 안정화
(무상)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62400" y="762977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62400" y="762977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0400" y="768377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【3】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400" y="807977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서버 HW
제조사 보증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기밀보안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사업 수행 중 보안 관리 체계 · 개인정보 보호 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보안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(사업자 보안 준수사항 그대로) [별첨 1호] 사업자 보안 준수사항에 따라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인원 · 자료 · 장비 · 원격 수행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보안을 관리하고, 개인정보는 가명·합성 데이터 원칙과 접근 기록으로 보호함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2652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인력 보안서약서 제출 · 착수 보안 교육, 하도급 인력 동일 적용, 투입·철수 시 계정 발급·삭제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자료 지정 저장소 보관 · 반출 승인, 누출금지 대상정보(연계 규격 등) 별도 관리, 종료 시 반납·파기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PC 디스크 암호화 · 백신 · 매체 통제, 반입 서버 보안 점검 후 교내망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수행 장소 · 인원 사전 제출, 발주기관 승인 VPN · 2단계 인증 · 접속 기록, 화면 녹화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【적용】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시험·검수는 가명·합성 데이터, 실데이터는 교내 완결 모델만 사용, 영향평가 전 실데이터 미개통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위규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[별첨 2호] 위규 처리 기준 · [별첨 3호] 위약금 기준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731244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73124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019244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서약 · 보안 교육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7273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6731244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673124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7019244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 1회 보안 점검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7273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6731244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673124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검수 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7019244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시큐어코딩 · 취약점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7273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6731244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673124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7019244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반납 · 파기 · 확약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800" y="8027244"/>
            <a:ext cx="6332400" cy="969875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799" y="808124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AI 사업에 특화된 보안 항목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799" y="8279244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 중 상용 모델 API에는 합성 데이터만 보내고, 모델 공급사의 학습 미사용·데이터 미보관 조건을 확인한 계정만 사용합니다. 프롬프트·실행 기록에 개인정보가 남지 않도록 마스킹 상태를 주 1회 점검합니다.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7. 비상대책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7.1.1 장애 대응 · 온사이트 · 백업·복구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7.1 장애 대응 및 온사이트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(부산 현장 도착 시간을 입증) 부산 소재 지원 조직이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장애 접수 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【2시간】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이내 현장 도착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서울 본사 원격 지원과 함께 복구하며, 현장 인력은 구축 과정에 참여해 시스템을 미리 익힘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827215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330335"/>
                <a:gridCol w="626040"/>
                <a:gridCol w="1799865"/>
                <a:gridCol w="133033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입증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본사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(본사)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진단 · 수정 배포 · 2차 방문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재직증명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부산 현장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【부산 소재 협력사 · 주소】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현장 대응 · 서버·네트워크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【사업자등록증 · 확약서】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제조사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【부산 서비스센터】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하드웨어 부품 교체 (NBD)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【보증서】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293216"/>
          <a:ext cx="6260400" cy="1759605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인력 지식 공유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 과정 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설치(W7) · 플랫폼 설치 · 시험(W10)에 현장 인력 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교육 2회차 참석, 인프라 운영 매뉴얼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대응 절차서 · 구성도 · 연락 체계 인계, 분기 1회 모의 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6160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616082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감지·접수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800" y="6232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24800" y="6268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모니터링 알림 · 창구 접수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6999" y="6268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등급 판정 (30분 이내 응답)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9200" y="6160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장애 등급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6844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684482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1차 대응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800" y="6916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24800" y="6952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원격 진단 · 현장 출동 (1등급 </a:t>
            </a:r>
            <a:r>
              <a:rPr sz="10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【2시간】</a:t>
            </a: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46999" y="6952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서비스 우회 (위젯 비활성 등)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9200" y="6844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영향 차단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7528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752882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800" y="7600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4800" y="7636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백업본 복구 (플랫폼 RPO 1시간, 홈페이지 6시간)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6999" y="7636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RTO 4시간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69200" y="7528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서비스 정상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8212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821282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800" y="8284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324800" y="8320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원인 · 조치 보고서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46999" y="8320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재발 방지 · 모의 훈련 반영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69200" y="8212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보고 완료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800" y="891482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소재지 자체 가점은 없으며(RFP 주1), 온사이트 대응 역량은 제시 내용과 입증 자료로 평가됨 — 지원 조직 구성·소재·인원 입증 자료 별첨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【확보 필요】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요구사항 대비 수용여부 조견표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84240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콘텐츠 기반 평가용 질의 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Ⅵ-2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관리 공통사항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Ⅱ-11, Ⅲ-18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 및 종료 시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Ⅲ-20, Ⅴ-5, Ⅵ-7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실행 안전성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사이드 패널·위젯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확보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Ⅳ-3, Ⅵ-1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사용량 및 비용 관측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가용성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Ⅲ-3, Ⅳ-1~2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 계획 및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Ⅱ-6~7, Ⅲ-3, Ⅴ-1, Ⅴ-3~4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Ⅰ-6~8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관리 및 소스코드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Ⅱ-14, Ⅴ-2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제공 및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Ⅵ-4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 및 원격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Ⅰ-7, Ⅵ-5, Ⅵ-8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및 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Ⅵ-5~6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라이선스 및 사용권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Ⅱ-8~9, Ⅳ-2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1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정보구조(IA) 설계 및 메뉴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Ⅲ-12, Ⅴ-3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시안 및 UI/UX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콘텐츠관리시스템(CMS)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 및 콘텐츠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프로그램·행사 신청 및 이수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교육과정(커리큘럼) 정보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다국어 지원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표준·접근성·호환성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통계 및 방문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콘텐츠 제작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구축·도메인·인증서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Ⅲ-1~2, Ⅲ-25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매뉴얼 및 관리자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Ⅵ-4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WEB-014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공개(오픈) 지원 및 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Ⅲ-25, Ⅴ-4, Ⅵ-3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