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교육혁신본부 AX를 위한 AI 에이전트 플랫폼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부산대학교 교육혁신본부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부산대학교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5922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246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246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5 · 유사분야 개발경험 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추진 현황·본 사업 위치, 공통 AI와 역할 분담·혼선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사업기간·병행 구축 고려 추진 전략, 위험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8, 10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적용기술·방법론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기술·SW 적정성·확장성, 방법론·단계별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(SFR)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조회·등록, 이수 설계 자문, 모델 전환 시연, 테스트 에이전트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17~19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(SER)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접근·실행 권한 통제, 인젝션·권한우회 대응, 실행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14, 20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(DAR)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 데이터 적재·시범 적재, 이력 보존·개방 형식 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실행기반 역량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실행기반 아키텍처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실행·결과 관찰·다음 단계 판단 반복 구조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9, 12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도구·업무절차 확장성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연동 규격, 데이터원 직접 접근, 자체 제작·배포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통제·거버넌스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정책 검사, 변경 작업 승인, 실행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무종속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모델 등록·교체·비교, 자산 내보내기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15, 19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실증 레퍼런스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플랫폼 실제 운영 사례·검증 수준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구현·연계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(SIR)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연동 연계, 권한 검증, 쓰기 연계 안전성, 접근성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18, 23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테스트·검수 (TER)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구성, 정량 기준 달성, 시나리오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품질·성능 (QUR)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관리, 성능·가용성, 사용량·비용 관측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홈페이지·에이전트 이식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IA·디자인·UX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정보구조, 디자인 방향·시안, 반응형·UX (WEB-001·002)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CMS·콘텐츠·접근성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운영·무종속, 신청·교육과정, 접근성·서버·공개 (WEB-003~014)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사이드 패널·위젯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적용·확산, 세션 공유, 컨텍스트·자동 색인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관리방법론·일정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일정·위험·보안·형상 관리, 주차별 일정, 보고 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10, 32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조직·인력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조직(하도급 포함), 전문성·투입공수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매뉴얼·교육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충실성, 교육 회차·인원·실습, 기술이전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기술지원·라이선스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기술지원, 현장 도착·지원 조직, 하자·유지관리, 라이선스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15, 34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4675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0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에이전트 실행기반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4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6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서비스 연계 및 검증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0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홈페이지 구축 및 에이전트 이식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8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2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4060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6060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48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프로젝트 관리 및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본 사업의 위치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역할 분담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목표와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목표 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12주 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질의응답을 넘어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업무를 완결하는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 교육혁신본부 AI 에이전트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실행기반(권한 · 실행 기록) 위에 과제 1~5 시범 구현 + 본부 홈페이지 신규 구축 · 사이드 패널 이식 (글로컬대학30 9-3-2)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부산대학교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교육혁신본부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계약일 ~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’27. 2. 19.(금)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5억 4,100만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3개 부문 · 5개 과제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58개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본 사업의 위치 — 범용 AI 위의 업무 완결형 에이전트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학내 공통 AI는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공개 문서 기반 범용 도구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본 사업은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원천 데이터 조회 · 시스템 처리 · 통제 · 기록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더해 본부 업무를 끝까지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핵심은 답변 품질보다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누가 무엇에 접근해 무엇을 실행했는지를 서버가 통제 · 기록하는 기반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433981" cy="4716000"/>
        </p:xfrm>
        <a:graphic>
          <a:graphicData uri="http://schemas.openxmlformats.org/drawingml/2006/table">
            <a:tbl>
              <a:tblPr firstRow="0" bandRow="0"/>
              <a:tblGrid>
                <a:gridCol w="1225520"/>
                <a:gridCol w="2348914"/>
                <a:gridCol w="2859547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질의응답형 챗봇 (공통 AI)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에이전트 (본 사업)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문서 · 안내 자료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 · 이수 이력 · 성과 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 → 검색 → 답변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 → 관찰 → 다음 단계 (반복)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불필요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+ 서버 측 권한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일시 · 주체 · 수행 내용 · 결과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완결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안내에서 종료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등록 · 프로그램 신청 (승인 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919982" y="1260000"/>
            <a:ext cx="3635217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5982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대학 전략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982" y="1324800"/>
            <a:ext cx="1133608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PNU-AX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31591" y="1324800"/>
            <a:ext cx="1133608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A.U.R.A 2.0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45200" y="1260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글로컬30 9-3-2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9982" y="2106000"/>
            <a:ext cx="3635217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5982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3982" y="2170800"/>
            <a:ext cx="1133608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다중 LLM 질의·요약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1591" y="2170800"/>
            <a:ext cx="1133608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생성형 AI 도구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45200" y="2106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범용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9982" y="2951999"/>
            <a:ext cx="3635217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5982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3982" y="3016799"/>
            <a:ext cx="73773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1~5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35721" y="3016799"/>
            <a:ext cx="73773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실행기반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7460" y="3016799"/>
            <a:ext cx="73773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45200" y="2951999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부서 특화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9982" y="3798000"/>
            <a:ext cx="3635217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5982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43982" y="3862800"/>
            <a:ext cx="1133608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타 부서 스킬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1591" y="3862800"/>
            <a:ext cx="1133608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위젯 이식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45200" y="3798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30,000명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학내 공통 AI와 역할 분담 · 이용자 혼선 방지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범용 질의는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공통 AI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원천 데이터 · 시스템 처리는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본 사업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명칭 · 첫 화면 · 범위 밖 전환 · 운영 협의체로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혼선 없이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운영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598" cy="4248000"/>
        </p:xfrm>
        <a:graphic>
          <a:graphicData uri="http://schemas.openxmlformats.org/drawingml/2006/table">
            <a:tbl>
              <a:tblPr firstRow="0" bandRow="0"/>
              <a:tblGrid>
                <a:gridCol w="1117992"/>
                <a:gridCol w="2032714"/>
                <a:gridCol w="2540892"/>
              </a:tblGrid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AI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요약 · 번역 · 생성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· 대조 · 상태 변경 ·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문서 · 업로드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· 성과 (서버 검증)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구성원 동일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100명 + 방문자 차등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9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답변 · 생성물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조항 대조 · 승인 후 실행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40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패널·채팅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범위 판별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본부 / 범용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본부 업무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도구 실행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범용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공통 AI 안내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7600" y="1260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9600" y="1303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서비스 명칭 구분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9600" y="1555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1600" y="1584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‘교육혁신본부 에이전트’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담당 범위 상단 상시 표기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아이콘 · 색상도 공통 AI와 구분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8400" y="1260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0400" y="1303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첫 화면 안내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0400" y="1555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2400" y="1584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추천 질문을 본부 업무로 한정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이수 상담 · 성과 · 프로그램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관리자가 안내문 직접 수정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7600" y="3915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9600" y="3958199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범위 밖 전환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9600" y="4210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1600" y="4239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번역 · 작문 등 범용 질의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공통 AI 바로가기 안내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판별 결과 기록 · 오분류 점검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68400" y="3915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0400" y="3958199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운영 협의체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0400" y="4210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22400" y="4239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AX·정보화혁신본부와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역할 · 로드맵 정기 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· 검수 시 2회 협의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목표와 4대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실행기반 · 통제 체계를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착수 3주 안에 먼저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세우고, 과제 1~5와 홈페이지를 그 위에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3트랙 병행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구축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실행 기반 우선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SSO · 권한 · 정책 검사 · 실행 기록 선구축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과제는 도구(MCP) · 스킬로 추가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설치요건서 D+7 → 설치 W3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종료일 역산 3트랙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실행기반 · AI 앱 · 홈페이지 동시 진행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연결점(SSO · 위젯 · 색인)만 일정 고정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IA · 시안 확정 선행 (2주)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검수 기준 상시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골든셋 160문항 착수 2주 구성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테스트 에이전트로 매주 자동 측정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미달 기준은 담당자 지정 보완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확산 가능한 구조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MCP · 임베딩 위젯 · 개방 형식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타 부서 · 타 사이트 추가 개발 없음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35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 구성원 30,000명 확장 설계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 과제 MVP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32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권한 밖 노출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126199" y="2231999"/>
          <a:ext cx="4743000" cy="4248000"/>
        </p:xfrm>
        <a:graphic>
          <a:graphicData uri="http://schemas.openxmlformats.org/drawingml/2006/table">
            <a:tbl>
              <a:tblPr firstRow="0" bandRow="0"/>
              <a:tblGrid>
                <a:gridCol w="2754000"/>
                <a:gridCol w="1989000"/>
              </a:tblGrid>
              <a:tr h="70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0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원천값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인용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 성공률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목표 시스템 — 두 서버, 하나의 통제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플랫폼은 발주기관 서버, 홈페이지는 납품 웹 서버 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모든 학내 시스템 접근은 MCP 도구를 거쳐 서버 검증 · 실행 기록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 대상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도입 · 플랫폼 서버는 범위 외 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설치요건서(D+7)와 모델 게이트웨이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 연결만 책임짐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295200" cy="741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41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이용자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39636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교원 · 학생 · 상담 담당자 · 평가 담당자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65600" y="1324800"/>
            <a:ext cx="39636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방문자 (비로그인 포함)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09200" y="1260000"/>
            <a:ext cx="2160000" cy="741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SSO로 신분 · 소속 식별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055000"/>
            <a:ext cx="9295200" cy="741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055000"/>
            <a:ext cx="1152000" cy="741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119800"/>
            <a:ext cx="26244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웹 (채팅 · 관리자)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6400" y="2119800"/>
            <a:ext cx="26244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+ 사이드 패널 위젯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4800" y="2119800"/>
            <a:ext cx="26244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테스트 에이전트 CLI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09200" y="2055000"/>
            <a:ext cx="2160000" cy="741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SIR-006 · 007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000" y="2850000"/>
            <a:ext cx="9295200" cy="741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00" y="2850000"/>
            <a:ext cx="1152000" cy="741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48000" y="2914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1 통계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56800" y="2914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2 성과 입력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65600" y="2914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3 이수 상담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74400" y="2914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과제 5 안내 · 신청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09200" y="2850000"/>
            <a:ext cx="2160000" cy="741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SFR-005~007 · 013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000" y="3645000"/>
            <a:ext cx="9295200" cy="741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3645000"/>
            <a:ext cx="1152000" cy="741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실행기반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48000" y="370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실행 엔진 · 도구 · 스킬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56800" y="370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작업공간 · 세션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65600" y="370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정책 검사 · 실행 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74400" y="370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다중 모델 · 지식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09200" y="3645000"/>
            <a:ext cx="2160000" cy="741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발주기관 제공 서버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000" y="4440000"/>
            <a:ext cx="9295200" cy="741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" y="4440000"/>
            <a:ext cx="1152000" cy="741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8000" y="4504800"/>
            <a:ext cx="26244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MCP 조회형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26400" y="4504800"/>
            <a:ext cx="26244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MCP 변경형 (승인 필수)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4800" y="4504800"/>
            <a:ext cx="26244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홈페이지 도구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09200" y="4440000"/>
            <a:ext cx="2160000" cy="741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 측 권한 재검증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4000" y="5235000"/>
            <a:ext cx="9295200" cy="741000"/>
          </a:xfrm>
          <a:prstGeom prst="rect">
            <a:avLst/>
          </a:prstGeom>
          <a:solidFill>
            <a:srgbClr val="3A7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0000" y="5235000"/>
            <a:ext cx="1152000" cy="741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학내 시스템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48000" y="529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56800" y="529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학사정보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565600" y="529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대학성과관리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74400" y="5299800"/>
            <a:ext cx="1954800" cy="611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교수 성과 입력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09200" y="5235000"/>
            <a:ext cx="2160000" cy="741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규격은 계약 후 제공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종료일(’27. 2. 19.) 역산 12주 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검수 · 이관(W11~W12)을 먼저 고정하고 역산 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설치요건서 D+7 · 수행계획서 D+14 · IA 2주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가 첫 관문, 홈페이지 공개는 검수 후 별도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7005045" cy="5058000"/>
        </p:xfrm>
        <a:graphic>
          <a:graphicData uri="http://schemas.openxmlformats.org/drawingml/2006/table">
            <a:tbl>
              <a:tblPr firstRow="0" bandRow="0"/>
              <a:tblGrid>
                <a:gridCol w="1401009"/>
                <a:gridCol w="1401009"/>
                <a:gridCol w="1401009"/>
                <a:gridCol w="1401009"/>
                <a:gridCol w="1401009"/>
              </a:tblGrid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W1~2 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W3~5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W6~9 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W10~12 시험·검수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설치요건서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· SSO · 권한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· 기록 · 모델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전환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설계 · Mock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1~4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 (D+14)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3종 →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· 서버 · 패널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· 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1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수령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· 색인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1046" y="1422000"/>
            <a:ext cx="4378153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3046" y="1465200"/>
            <a:ext cx="4234153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계약이 늦어지면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63046" y="1717200"/>
            <a:ext cx="4234153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5046" y="1746000"/>
            <a:ext cx="4270153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설계 1주 단축 · 구현 2팀 병행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시험 · 검수 3주는 유지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영향 사항은 즉시 서면 보고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1046" y="3996000"/>
            <a:ext cx="4378153" cy="248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63046" y="4039200"/>
            <a:ext cx="4234153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홈페이지 공개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63046" y="4291200"/>
            <a:ext cx="4234153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5046" y="4320000"/>
            <a:ext cx="4270153" cy="212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검수 후 ’27 상반기 지정일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공개 후 4주 안정화 (무상)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58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교육은 검수 전 완료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에이전트 실행기반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실행 구조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확장 체계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권한 통제 · 거버넌스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모델 무종속 · 라이선스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실행 구조 — 계획 · 도구 선택 · 실행 · 관찰의 반복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에이전트 실행기반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SFR-001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질의마다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계획 → 도구 선택 → 정책 검사 → 실행 → 관찰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목표 달성까지 반복하고, 모든 단계를 화면과 실행 기록에 남김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128396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 수립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041996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질의 · 컨텍스트 · 권한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481196" y="1724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50396" y="1422000"/>
            <a:ext cx="1128396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50396" y="1422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도구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3596" y="1764000"/>
            <a:ext cx="1041996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권한 내 도구만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07593" y="1724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76793" y="1422000"/>
            <a:ext cx="1128396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6793" y="1422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검사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9993" y="1764000"/>
            <a:ext cx="1041996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허용 / 차단 / 승인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33989" y="1724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3189" y="1422000"/>
            <a:ext cx="1128396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03189" y="1422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 · 관찰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6389" y="1764000"/>
            <a:ext cx="1041996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결과를 데이터로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460386" y="1724938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9586" y="1422000"/>
            <a:ext cx="1128396" cy="821877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29586" y="1422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 · 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2786" y="1764000"/>
            <a:ext cx="1041996" cy="461877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+ 실행 기록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2351877"/>
          <a:ext cx="6433982" cy="4128120"/>
        </p:xfrm>
        <a:graphic>
          <a:graphicData uri="http://schemas.openxmlformats.org/drawingml/2006/table">
            <a:tbl>
              <a:tblPr firstRow="0" bandRow="0"/>
              <a:tblGrid>
                <a:gridCol w="1996753"/>
                <a:gridCol w="4437229"/>
              </a:tblGrid>
              <a:tr h="103203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SFR-001 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203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순차 · 병렬 실행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독립 조회는 병렬, 등록은 조회 후 순차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203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관찰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 도구 → 결과 요약 단계 카드 스트리밍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203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재시도 2회 · 타임아웃 · 대체 도구 · 중단 안내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919982" y="1422000"/>
          <a:ext cx="4949217" cy="4368105"/>
        </p:xfrm>
        <a:graphic>
          <a:graphicData uri="http://schemas.openxmlformats.org/drawingml/2006/table">
            <a:tbl>
              <a:tblPr firstRow="0" bandRow="0"/>
              <a:tblGrid>
                <a:gridCol w="2828124"/>
                <a:gridCol w="2121093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기반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스킬 관리 · 승인 배포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격리 작업공간 · 맥락 유지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저장 · 재개 · 다기기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사용량 ·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SFR-008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919982" y="5898109"/>
            <a:ext cx="4949217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에이치나인 MOSAIC Agent 관제 · Trading AI Agent 경험을 실행 기록 · 근거 제시 구조에 그대로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도구 · 업무절차 확장 — 발주기관이 직접 늘리는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에이전트 실행기반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SIR-005, SFR-002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도구는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MCP 서버 등록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업무 절차는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스킬 배포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모델은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설정 변경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개발사 없이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다른 업무 · 부서로 확장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4086000"/>
        </p:xfrm>
        <a:graphic>
          <a:graphicData uri="http://schemas.openxmlformats.org/drawingml/2006/table">
            <a:tbl>
              <a:tblPr firstRow="0" bandRow="0"/>
              <a:tblGrid>
                <a:gridCol w="1321264"/>
                <a:gridCol w="3049071"/>
                <a:gridCol w="1321264"/>
              </a:tblGrid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(데이터원)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MCP 서버 등록 → 범위 · 작업 제한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 절차 (스킬)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편집 → 관리자 승인 → 배포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 작업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언어모델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게이트웨이 엔드포인트 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사이트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스크립트 1줄 + 허용 도메인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개인 작성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스킬 편집기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272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6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96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검토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96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조직 · 전사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12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44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버전 · 되돌리기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7600" y="1422000"/>
            <a:ext cx="5691600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7600" y="1422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SIR-005 표준 도구 연동 (Model Context Protocol)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7600" y="1800000"/>
            <a:ext cx="5511600" cy="4608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Linux Foundation 산하 개방형 표준 — 승인 없이 구현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학사 · 성과관리 · 성과 입력 · 홈페이지를 MCP 서버로 제공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서버별 데이터 범위 · 작업 종류 제한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서킷 브레이커 — 한 서버 장애가 전체로 번지지 않음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MCP 서버 템플릿 · 추가 절차서를 운영자 매뉴얼에 수록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실행 권한 통제 · 거버넌스 — 모델을 믿지 않는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에이전트 실행기반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SER-001, SER-003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식별자는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세션에서 서버가 주입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도구 실행마다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사전 정책 검사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변경 작업은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확인 카드 승인 후에만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모든 실행은 기록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475000"/>
        </p:xfrm>
        <a:graphic>
          <a:graphicData uri="http://schemas.openxmlformats.org/drawingml/2006/table">
            <a:tbl>
              <a:tblPr firstRow="0" bandRow="0"/>
              <a:tblGrid>
                <a:gridCol w="1626171"/>
                <a:gridCol w="4065428"/>
              </a:tblGrid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지점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정책 엔진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그룹 · 자원 · 작업 종류 사전 검사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MCP 도구 서버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토큰으로 주체 · 대상 재검증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학내 시스템 계정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전용 / 변경 전용 계정 분리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005000"/>
          <a:ext cx="5691599" cy="2475000"/>
        </p:xfrm>
        <a:graphic>
          <a:graphicData uri="http://schemas.openxmlformats.org/drawingml/2006/table">
            <a:tbl>
              <a:tblPr firstRow="0" bandRow="0"/>
              <a:tblGrid>
                <a:gridCol w="3353978"/>
                <a:gridCol w="2337621"/>
              </a:tblGrid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 기록 (위 · 변조 방지)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 · 연계 호출 ·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(방침 따라)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1422000"/>
            <a:ext cx="2800800" cy="20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96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입력 신뢰 경계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96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00" y="1746000"/>
            <a:ext cx="2692800" cy="167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문서 · 연계 응답 · 첨부 = 데이터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지시성 문구 탐지 · 무력화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지시문 영역과 분리 전달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8400" y="1422000"/>
            <a:ext cx="2800800" cy="20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0400" y="1465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유출 방지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0400" y="1717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22400" y="1746000"/>
            <a:ext cx="2692800" cy="167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지시문 · 도구 목록 요청 차단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출력 유사도 검사 후 폐기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차단 건 실행 기록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7600" y="3546000"/>
            <a:ext cx="2800800" cy="20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9600" y="3589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권한 우회 차단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9600" y="3841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00" y="3870000"/>
            <a:ext cx="2692800" cy="167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신분 · 학번 변조 무시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식별자는 세션에서만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위젯 전달 정보 불신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8400" y="3546000"/>
            <a:ext cx="2800800" cy="203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0400" y="3589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마스킹 · 신고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0400" y="3841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2400" y="3870000"/>
            <a:ext cx="2692800" cy="1674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첨부 개인정보 전송 전 마스킹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부적절 응답 신고 → 검토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97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생성 결과 상시 표기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인젝션 · 우회 성공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승인 누락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모델 무종속 · 라이선스 · 레퍼런스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AI 에이전트 실행기반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SFR-009, PSR-004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교내 개방형 + 상용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2종 이상 모델을 설정만으로 전환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시연, 라이선스는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발주기관 명의 · 영구 · 이용자 무제한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확대 단가 36개월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2종 등록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개방형 + 상용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설정 전환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코드 수정 없음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골든셋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같은 30문항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내보내기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JSON · CSV · SQL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2334340"/>
          <a:ext cx="5691599" cy="4145656"/>
        </p:xfrm>
        <a:graphic>
          <a:graphicData uri="http://schemas.openxmlformats.org/drawingml/2006/table">
            <a:tbl>
              <a:tblPr firstRow="0" bandRow="0"/>
              <a:tblGrid>
                <a:gridCol w="3758603"/>
                <a:gridCol w="1932996"/>
              </a:tblGrid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플랫폼 레퍼런스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【레퍼런스 1 — 대학 · 공공】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【사용자 수】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【레퍼런스 2 — 국내 기업】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【사용자 수】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6414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H9: Trading AI Agent · MOSAIC (2026)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5057997"/>
        </p:xfrm>
        <a:graphic>
          <a:graphicData uri="http://schemas.openxmlformats.org/drawingml/2006/table">
            <a:tbl>
              <a:tblPr firstRow="0" bandRow="0"/>
              <a:tblGrid>
                <a:gridCol w="2040384"/>
                <a:gridCol w="3651215"/>
              </a:tblGrid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PSR-004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 · 버전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【제품명 · 버전】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형태 · 명의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영구 사용권 · 발주기관 명의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산정 단위 · 수량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【서버 단위 · ○식】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(10식 이상)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【제한 없음】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세션 · 재할당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【제한 없음】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257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확대 (6,000명)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【○원】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36개월 인상 없음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과제 1 ·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과제 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과제 4 · 모델 전환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보안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데이터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과제 1 · 2 — 성과 통계 조회와 승인 기반 성과 등록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SFR-005, SFR-006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과제 1은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집계만 반환 · 개인 조회 2중 차단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과제 2는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추출 → 확인 · 수정 → 값 전체 승인 → 등록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승인 누락 0건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5174181" cy="4569054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000" y="1422000"/>
            <a:ext cx="517418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1 · 성과 관리 통계 (조회형)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9" y="1800000"/>
            <a:ext cx="4994181" cy="4119054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질의 시점 대학성과관리 직접 조회 (사본 아님)</a:t>
            </a:r>
          </a:p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학과 · 과목 · 학기 집계, 시계열 · 학과 간 비교</a:t>
            </a:r>
          </a:p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개인 식별 항목 없는 도구 스키마 + 결과 검사</a:t>
            </a:r>
          </a:p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숫자는 도구 결과 그대로 표 렌더링 (일치 100%)</a:t>
            </a:r>
          </a:p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소수 인원 집계 셀 마스킹 (</a:t>
            </a:r>
            <a:r>
              <a:rPr sz="15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【5명 미만】</a:t>
            </a: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)</a:t>
            </a:r>
          </a:p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조회 시점 · 출처 시스템을 응답에 표기</a:t>
            </a:r>
          </a:p>
          <a:p>
            <a:pPr algn="l" marL="115200" indent="-100800">
              <a:lnSpc>
                <a:spcPct val="120000"/>
              </a:lnSpc>
              <a:spcBef>
                <a:spcPts val="1643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조회 전용 계정 · 전송 암호화 · 호출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6099054"/>
            <a:ext cx="5174181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골든셋에 개인 조회 유도 질의 10문항 이상 — 매주 차단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0181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0181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3381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PDF · DOI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772385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1585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41585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·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84785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미확인 표시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053789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2989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2989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서지 조회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89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출처 · 확인 불가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35192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504392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04392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사전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7592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코드 · 형식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616596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785796" y="1422000"/>
            <a:ext cx="1083403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785796" y="1422000"/>
            <a:ext cx="1083403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 · 등록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8996" y="1764000"/>
            <a:ext cx="997003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확인 카드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60181" y="2334340"/>
          <a:ext cx="6209018" cy="4145655"/>
        </p:xfrm>
        <a:graphic>
          <a:graphicData uri="http://schemas.openxmlformats.org/drawingml/2006/table">
            <a:tbl>
              <a:tblPr firstRow="0" bandRow="0"/>
              <a:tblGrid>
                <a:gridCol w="1919151"/>
                <a:gridCol w="4289867"/>
              </a:tblGrid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 요구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성과만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식별자 ↔ 등록 대상 교원 ID 대조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부분 등록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1건 트랜잭션, 실패 시 전체 취소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=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본문은 지시로 해석하지 않음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필드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10건 중 9건 이상 (주간 측정)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과제 3 — 학생 교육과정 상담 보조 (개인별 이수 설계 자문)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SFR-007, SIR-004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이용 유형은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SSO 신분으로만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판별, 요건별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충족 · 미충족 · 확인 필요 + 근거 조항 + 사용한 이수 내역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제시하고 졸업 판정은 단정하지 않음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4086000"/>
        </p:xfrm>
        <a:graphic>
          <a:graphicData uri="http://schemas.openxmlformats.org/drawingml/2006/table">
            <a:tbl>
              <a:tblPr firstRow="0" bandRow="0"/>
              <a:tblGrid>
                <a:gridCol w="1264800"/>
                <a:gridCol w="2108000"/>
                <a:gridCol w="2318800"/>
              </a:tblGrid>
              <a:tr h="13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64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3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신분 = 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(학번 서버 주입)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3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지정 상담 그룹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결과를 전송한 학생만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규정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조항 단위 색인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27200" y="5910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6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이수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9600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학사정보 조회 전용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9600" y="5910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요건 대조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충족 · 미충족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5910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12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 자문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4400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이수 경로 예시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7600" y="1422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9600" y="1465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단정 표현 0건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9600" y="1717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1600" y="1746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금지 표현 출력 검사 → 재작성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‘공식 졸업 사정 대체 아님’ 상시 표기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골든셋 단정 유도 질의로 매주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7600" y="3138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49600" y="3181199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 없으면 확인 불가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9600" y="3433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1600" y="3462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추측 금지, 담당 부서 안내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점수 미달 시 자동 전환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적절성 90% 이상 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7600" y="4854000"/>
            <a:ext cx="5691600" cy="16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9600" y="4897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83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조회 내역 기록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9600" y="5149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1600" y="5178000"/>
            <a:ext cx="5583600" cy="126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일시 · 조회자 · 유형 · 대상 · 항목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2년 보존 · 관리자 내보내기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17"/>
              </a:spcAft>
              <a:buFont typeface="Segoe UI Symbol"/>
              <a:buChar char="✓"/>
            </a:pPr>
            <a:r>
              <a:rPr sz="1383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상담 결과 서식 내보내기 (담당자 수정)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과제 4 테스트 에이전트 · 모델 전환 시연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SFR-010, SFR-009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골든셋 파일을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변환 없이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넣고 실행 횟수 · 모델 · 인자를 지정하면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기대 결과와 자동 대조 → JSON · CSV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판정 — 모델 전환도 같은 골든셋으로 비교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209017" cy="4086000"/>
        </p:xfrm>
        <a:graphic>
          <a:graphicData uri="http://schemas.openxmlformats.org/drawingml/2006/table">
            <a:tbl>
              <a:tblPr firstRow="0" bandRow="0"/>
              <a:tblGrid>
                <a:gridCol w="1354694"/>
                <a:gridCol w="4854323"/>
              </a:tblGrid>
              <a:tr h="68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 YAML/JSONL (질의 · 기대 결과 · 판정 기준)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옵션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--set · --repeat · --task · --model · --param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 일치 · 근거 일치 · 확인 불가 · 승인 카드 · 금지 표현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문항별 JSON · 요약 CSV · 기준별 합격 리포트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CLI + 실행 매뉴얼 + 소스코드 (화면 없음)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403754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골든셋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317354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과제별 30↑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756554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25754" y="5616000"/>
            <a:ext cx="1403754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25754" y="5616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일괄 실행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8954" y="5958000"/>
            <a:ext cx="1317354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횟수 · 모델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358309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527509" y="5616000"/>
            <a:ext cx="1403754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27509" y="5616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0709" y="5958000"/>
            <a:ext cx="1317354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10개 기준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960063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9263" y="5616000"/>
            <a:ext cx="1403754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9263" y="5616000"/>
            <a:ext cx="1403754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파일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2463" y="5958000"/>
            <a:ext cx="1317354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JSON · CSV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695018" y="1422000"/>
          <a:ext cx="5174181" cy="4368108"/>
        </p:xfrm>
        <a:graphic>
          <a:graphicData uri="http://schemas.openxmlformats.org/drawingml/2006/table">
            <a:tbl>
              <a:tblPr firstRow="0" bandRow="0"/>
              <a:tblGrid>
                <a:gridCol w="1799715"/>
                <a:gridCol w="3374466"/>
              </a:tblGrid>
              <a:tr h="109202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9202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W6~W9 (매주)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 문항 → 스프린트 보완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202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전환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골든셋 모델별 비교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9202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W11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담당자 참여 최종 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695018" y="5898109"/>
            <a:ext cx="5174181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검수 시 교내 개방형 1종 포함 2종 등록 → 관리자 화면 설정 변경만으로 전환 시연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보안 — 사업 · 에이전트 · 위젯 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SER-002, SER-004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그룹 상속형 최소 권한 · 실행 전 정책 검사 · 3중 검증에 더해,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전 인력 보안서약 · 시큐어코딩 전수 진단 · SRI · 허용 도메인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까지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7" cy="2616685"/>
        </p:xfrm>
        <a:graphic>
          <a:graphicData uri="http://schemas.openxmlformats.org/drawingml/2006/table">
            <a:tbl>
              <a:tblPr firstRow="0" bandRow="0"/>
              <a:tblGrid>
                <a:gridCol w="1298084"/>
                <a:gridCol w="1098378"/>
                <a:gridCol w="1098378"/>
                <a:gridCol w="1198231"/>
                <a:gridCol w="998526"/>
              </a:tblGrid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집계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(승인)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상담 담당자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146685"/>
          <a:ext cx="5691599" cy="2333312"/>
        </p:xfrm>
        <a:graphic>
          <a:graphicData uri="http://schemas.openxmlformats.org/drawingml/2006/table">
            <a:tbl>
              <a:tblPr firstRow="0" bandRow="0"/>
              <a:tblGrid>
                <a:gridCol w="1552254"/>
                <a:gridCol w="4139345"/>
              </a:tblGrid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보안서약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인력 [붙임 8·9호], 착수 보안 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소스 100% 진단 ·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반납 · 파기 확인서 · 계정 삭제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1776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1825607"/>
                <a:gridCol w="3865992"/>
              </a:tblGrid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 위젯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토큰 저장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HttpOnly 쿠키, 로컬 저장소 평문 금지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플랫폼에만 저장, 홈페이지 DB 미저장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무결성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SRI 해시, 허용 도메인 외 차단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CORS · CSP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허용 도메인 목록 기반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경유 공격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 동일 적용 · 시험 결과 제출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시큐어코딩 진단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0건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비로그인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데이터 — 지식 적재 · 이력 보존 · 개방 형식 이관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DAR-001, DAR-002, DAR-003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규정을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조항 단위로 적재해 출처를 붙이고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이력은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접속기록 2년 · 질의응답 1년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보존, 종료 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JSON · CSV · SQL 덤프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이관 후 사본 파기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HWP · PDF · DOCX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조항 분할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 · 절 · 조 · 항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색인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키워드 + 벡터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문서명 · 조항 링크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2334340"/>
          <a:ext cx="5691599" cy="4145657"/>
        </p:xfrm>
        <a:graphic>
          <a:graphicData uri="http://schemas.openxmlformats.org/drawingml/2006/table">
            <a:tbl>
              <a:tblPr firstRow="0" bandRow="0"/>
              <a:tblGrid>
                <a:gridCol w="4295547"/>
                <a:gridCol w="1396052"/>
              </a:tblGrid>
              <a:tr h="99074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적재 (착수 2주 확정)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173422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학생설계전공 · 부 · 복수 · 연계 · 융합전공 규정, 편입 학점 인정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74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 성과 입력 기준 · 성과 관리 지침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· 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9074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콘텐츠 (자동 색인)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8" cy="2475000"/>
        </p:xfrm>
        <a:graphic>
          <a:graphicData uri="http://schemas.openxmlformats.org/drawingml/2006/table">
            <a:tbl>
              <a:tblPr firstRow="0" bandRow="0"/>
              <a:tblGrid>
                <a:gridCol w="1932996"/>
                <a:gridCol w="1396052"/>
                <a:gridCol w="2362550"/>
              </a:tblGrid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접속기록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해시 체인 위 · 변조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질의 ·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(기본)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경과 시 자동 파기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실행 ·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· 내보내기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77600" y="4005000"/>
          <a:ext cx="5691599" cy="2475000"/>
        </p:xfrm>
        <a:graphic>
          <a:graphicData uri="http://schemas.openxmlformats.org/drawingml/2006/table">
            <a:tbl>
              <a:tblPr firstRow="0" bandRow="0"/>
              <a:tblGrid>
                <a:gridCol w="1932996"/>
                <a:gridCol w="3758603"/>
              </a:tblGrid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· 백업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이관 형식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JSON · CSV · SQL 덤프 + 절차서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1회 전체 + 1시간 로그, 14세대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8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 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RTO 4시간 · RPO 1시간, 복구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서비스 연계 및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학내 시스템 연계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테스트 · 검수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품질 · 성능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학내 시스템 연계 — 조회형과 변경형을 다른 길로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서비스 연계 및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SIR-001, SIR-002, SIR-003, SIR-004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학사정보 · 대학성과관리는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조회 전용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교수 성과 입력은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승인 토큰 없이는 호출 불가한 변경형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모두 질의 시점 원천 직접 조회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433981" cy="4085998"/>
        </p:xfrm>
        <a:graphic>
          <a:graphicData uri="http://schemas.openxmlformats.org/drawingml/2006/table">
            <a:tbl>
              <a:tblPr firstRow="0" bandRow="0"/>
              <a:tblGrid>
                <a:gridCol w="1452834"/>
                <a:gridCol w="933965"/>
                <a:gridCol w="2179252"/>
                <a:gridCol w="1867930"/>
              </a:tblGrid>
              <a:tr h="7806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6334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SAML 2.0 / OIDC, 신분 · 소속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발급 · 재인증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06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대학성과관리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· DB 양방식, 집계만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· 권한 서버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06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· DB 양방식, 최소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유형 · 대상 유효성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06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입력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검증 → 트랜잭션 등록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· 승인 토큰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459995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규격 수령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373595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 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812795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81995" y="5616000"/>
            <a:ext cx="1459995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81995" y="5616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양방식 어댑터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5195" y="5958000"/>
            <a:ext cx="1373595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API / DB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70791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39991" y="5616000"/>
            <a:ext cx="1459995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39991" y="5616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Mock 개발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3191" y="5958000"/>
            <a:ext cx="1373595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합성 데이터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128786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297986" y="5616000"/>
            <a:ext cx="1459995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297986" y="5616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연동 시험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1186" y="5958000"/>
            <a:ext cx="1373595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19982" y="1422000"/>
            <a:ext cx="4949217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19982" y="1422000"/>
            <a:ext cx="4949217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접근성 (WEB-009 연계) · 기본 채팅 (SIR-006)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9982" y="1800000"/>
            <a:ext cx="4769217" cy="4608000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키보드만으로 열기 · 입력 · 닫기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새 응답은 ARIA live로 스크린리더 안내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명도 대비 4.5:1 디자인 시스템 강제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처리 과정(계획 · 도구 · 결과) 펼쳐 보기</a:t>
            </a:r>
          </a:p>
          <a:p>
            <a:pPr algn="l" marL="115200" indent="-100800">
              <a:lnSpc>
                <a:spcPct val="120000"/>
              </a:lnSpc>
              <a:spcBef>
                <a:spcPts val="2700"/>
              </a:spcBef>
              <a:spcAft>
                <a:spcPts val="0"/>
              </a:spcAft>
              <a:buFont typeface="Arial"/>
              <a:buChar char="•"/>
            </a:pPr>
            <a:r>
              <a:rPr sz="150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생성 · 오류 가능성 상시 표기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테스트 · 검수 — 10개 판정 기준을 매주 측정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서비스 연계 및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TER-001, TER-003, TER-004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2주에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골든셋 90 + 홈페이지 70문항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공동 구성하고, 불합격 직결 4개 기준은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구조로 차단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나머지는 W6부터 매주 자동 측정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433982" cy="5058000"/>
        </p:xfrm>
        <a:graphic>
          <a:graphicData uri="http://schemas.openxmlformats.org/drawingml/2006/table">
            <a:tbl>
              <a:tblPr firstRow="0" bandRow="0"/>
              <a:tblGrid>
                <a:gridCol w="2179252"/>
                <a:gridCol w="933965"/>
                <a:gridCol w="3320765"/>
              </a:tblGrid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원천값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결과 그대로 렌더링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조항 실재 ·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조항 색인 · 응답 전 원문 대조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밖 미노출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식별자 주입 + 3중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불가 적절성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90%↑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 점수 미달 시 확인 불가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누락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토큰 없이는 실행 불가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인젝션 · 우회 성공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신뢰 경계 · 유출 검사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호출 성공률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스키마 검증 · 재시도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필드 정확도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9/10↑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규칙 + 모델 교차 추출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919982" y="1422000"/>
          <a:ext cx="4949217" cy="3003425"/>
        </p:xfrm>
        <a:graphic>
          <a:graphicData uri="http://schemas.openxmlformats.org/drawingml/2006/table">
            <a:tbl>
              <a:tblPr firstRow="0" bandRow="0"/>
              <a:tblGrid>
                <a:gridCol w="3256064"/>
                <a:gridCol w="1693153"/>
              </a:tblGrid>
              <a:tr h="600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골든셋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00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1 · 2 · 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각 30↑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홈페이지 콘텐츠 (TER-004)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컨텍스트 (TER-004)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06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공격 (공통)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【60】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919982" y="4533425"/>
            <a:ext cx="4949217" cy="1946574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9982" y="4533425"/>
            <a:ext cx="4949217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TER-002 사용자 시나리오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9982" y="4911426"/>
            <a:ext cx="4769217" cy="1496574"/>
          </a:xfrm>
          <a:prstGeom prst="rect">
            <a:avLst/>
          </a:prstGeom>
          <a:noFill/>
        </p:spPr>
        <p:txBody>
          <a:bodyPr wrap="square" anchor="ctr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91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시범 사용자(100명 범위)가 과제 1~3 직접 수행 (W10)</a:t>
            </a:r>
          </a:p>
          <a:p>
            <a:pPr algn="l" marL="115200" indent="-100800">
              <a:lnSpc>
                <a:spcPct val="120000"/>
              </a:lnSpc>
              <a:spcBef>
                <a:spcPts val="1791"/>
              </a:spcBef>
              <a:spcAft>
                <a:spcPts val="0"/>
              </a:spcAft>
              <a:buFont typeface="Arial"/>
              <a:buChar char="•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설문 · 피드백 → 보완 → 검증 결과서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품질 · 성능 · 사용량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서비스 연계 및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QUR-001, QUR-002, QUR-003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100명 성능 저하 없음 · 플랫폼 월 99.0% · 홈페이지 99.5%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전 구성원 확대 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동시 6,000명은 수평 증설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수용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600" cy="4086000"/>
        </p:xfrm>
        <a:graphic>
          <a:graphicData uri="http://schemas.openxmlformats.org/drawingml/2006/table">
            <a:tbl>
              <a:tblPr firstRow="0" bandRow="0"/>
              <a:tblGrid>
                <a:gridCol w="2008800"/>
                <a:gridCol w="3682800"/>
              </a:tblGrid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동시 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100명 30분 지속 (혼합 시나리오)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월 99.0% · 홈페이지 99.5%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RTO · RPO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· 1시간 (플랫폼)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17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【0.2초】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(기준 0.5초)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100명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AP 2대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272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6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1,000명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96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단과대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96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3,000명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AP 8대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582248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5616000"/>
            <a:ext cx="1274400" cy="62897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12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6,000명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4400" y="5958000"/>
            <a:ext cx="1188000" cy="26897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AP 16 · DB 4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2616685"/>
        </p:xfrm>
        <a:graphic>
          <a:graphicData uri="http://schemas.openxmlformats.org/drawingml/2006/table">
            <a:tbl>
              <a:tblPr firstRow="0" bandRow="0"/>
              <a:tblGrid>
                <a:gridCol w="2189076"/>
                <a:gridCol w="3502523"/>
              </a:tblGrid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사용량 · 비용 관측 (QUR-002)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· 조직별 요청 · 토큰 · 도구 호출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모델 단가 × 사용량 자동 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한도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 알림 · 100% 초과 제한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자동 생성 · 엑셀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77600" y="4146685"/>
          <a:ext cx="5691599" cy="2333312"/>
        </p:xfrm>
        <a:graphic>
          <a:graphicData uri="http://schemas.openxmlformats.org/drawingml/2006/table">
            <a:tbl>
              <a:tblPr firstRow="0" bandRow="0"/>
              <a:tblGrid>
                <a:gridCol w="2189076"/>
                <a:gridCol w="3502523"/>
              </a:tblGrid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관리 (QUR-001)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· 리뷰 승인 병합 · 저장소 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 이벤트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이상 보존 · 제출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피드백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 → 골든셋 추가 → 재측정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홈페이지 구축 및 에이전트 이식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정보구조 · 디자인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CMS · 서비스 · 서버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사이드 패널 · 위젯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정보구조 · 디자인 ·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홈페이지 구축 및 에이전트 이식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WEB-001, WEB-002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 2주 안에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3단계 메뉴 · 3클릭 도달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IA를 확정하고, 부산대 UI 위에 방향이 다른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메인 시안 3종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 패널까지 포함한 디자인 시스템 구축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2616685"/>
        </p:xfrm>
        <a:graphic>
          <a:graphicData uri="http://schemas.openxmlformats.org/drawingml/2006/table">
            <a:tbl>
              <a:tblPr firstRow="0" bandRow="0"/>
              <a:tblGrid>
                <a:gridCol w="1181275"/>
                <a:gridCol w="4510324"/>
              </a:tblGrid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이용 경로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→ 상세 → 패널 ‘자격 확인 · 신청’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 → 교과 검색 → 관련 규정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교직원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· 성과 → 성과 보고 → 첨부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33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방문자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사업 → 사업 소개 → 소식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4146685"/>
          <a:ext cx="5691599" cy="2333312"/>
        </p:xfrm>
        <a:graphic>
          <a:graphicData uri="http://schemas.openxmlformats.org/drawingml/2006/table">
            <a:tbl>
              <a:tblPr firstRow="0" bandRow="0"/>
              <a:tblGrid>
                <a:gridCol w="1503441"/>
                <a:gridCol w="4188158"/>
              </a:tblGrid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시안 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W3 3종 → W4 선정 → 수정 2회 → W5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서브 템플릿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8종 (정적 · 목록 · 상세 · 신청 · 검색 등)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3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 ≥1280 · 태블릿 768~1279 · 모바일 ≤767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1422000"/>
            <a:ext cx="5691600" cy="13960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9600" y="1465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시안 A · 에이전트 퍼스트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9600" y="1717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1600" y="1746000"/>
            <a:ext cx="5583600" cy="1036036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메인 질의창 + 추천 질문으로 탐색 시작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에듀테크 선도 이미지 · 패널 이용률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7600" y="2908036"/>
            <a:ext cx="5691600" cy="13960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600" y="2951236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시안 B · 프로그램 허브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600" y="3203236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1600" y="3232036"/>
            <a:ext cx="5583600" cy="1036036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모집 중 · 캘린더 · 마감 임박 중심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재학생 신청 경로 최단화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7600" y="4394072"/>
            <a:ext cx="5691600" cy="13960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9600" y="4437272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시안 C · 교육혁신 포털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9600" y="4689273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1600" y="4718073"/>
            <a:ext cx="5583600" cy="1036036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· 성과 인포그래픽 · 센터 바로가기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18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대외 홍보 · 성과 확산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76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iF Design Award(국립중앙박물관 ‘모두’) · 우수디자인전문기업 인력이 시안 직접 수행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CMS · 프로그램 신청 · 교육과정 · 접근성 · 웹 서버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홈페이지 구축 및 에이전트 이식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WEB-003, WEB-005, WEB-009, WEB-012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소스 수정 없이 운영하는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비종속 CMS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등록하면 공고 · 신청서가 생기는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프로그램 관리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KWCAG 2.2 · 이중화 웹 서버 · 검수 후 공개까지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4085998"/>
        </p:xfrm>
        <a:graphic>
          <a:graphicData uri="http://schemas.openxmlformats.org/drawingml/2006/table">
            <a:tbl>
              <a:tblPr firstRow="0" bandRow="0"/>
              <a:tblGrid>
                <a:gridCol w="1503441"/>
                <a:gridCol w="4188158"/>
              </a:tblGrid>
              <a:tr h="6231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231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(003·004)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· 페이지 · 게시판 생성, 역할별 권한,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31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(005)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→ 승인 → 출석 → 수료 → 설문, MCP 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315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교육과정 (006)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교과 · 비교과 · 마이크로디그리, 학사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66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· 다국어 (007·008)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 본문 검색 → 패널 연결, Language Set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669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· 콘텐츠 (010·011)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지표 포함 대시보드, 정적 10쪽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0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200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’27. 2. 19. 전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627200" y="5910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964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 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9600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직접 등록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099600" y="5910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688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1999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’27 상반기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572000" y="5910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5616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41200" y="5616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4400" y="5958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4주 · 무상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서버 (WEB-012)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사양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【제조사 · 모델】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1U 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 · 메모리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【12코어】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64GB ECC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 · 전원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SSD 960GB×2 RAID1 · 이중 전원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1GbE 4포트 (본딩 + 관리)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【3년】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도메인 · SSL 부산대 명의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KWCAG 전 화면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5×2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브라우저 · 버전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사이드 패널 · 임베딩 위젯 · 세션 공유 · 자동 색인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홈페이지 구축 및 에이전트 이식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SFR-012, SIR-007, SIR-008, DAR-004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지금 보는 페이지의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URL · 경로 · 제목 · 요지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넘겨 지시어 질의에 답하고,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1회용 토큰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재로그인 없이 이어받으며, 게시물은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1시간 이내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색인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홈페이지 SSO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6272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964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토큰 요청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96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간 mTLS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996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2688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토큰 교환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1999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【60초】</a:t>
            </a: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· 1회용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17161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422000"/>
            <a:ext cx="1274400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41200" y="1422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로그아웃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4400" y="1764000"/>
            <a:ext cx="1188000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패널 동시 종료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24000" y="2334340"/>
          <a:ext cx="5691599" cy="4145655"/>
        </p:xfrm>
        <a:graphic>
          <a:graphicData uri="http://schemas.openxmlformats.org/drawingml/2006/table">
            <a:tbl>
              <a:tblPr firstRow="0" bandRow="0"/>
              <a:tblGrid>
                <a:gridCol w="1718218"/>
                <a:gridCol w="3973381"/>
              </a:tblGrid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패널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컨텍스트 전달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프로그램 · 교육과정 · 게시물 · 일반 페이지별 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차등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비로그인 = 공개 근거만, 연계 도구 미호출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신청 · 취소는 확인 카드 승인 후 실행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91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없는 페이지 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색인된 실재 URL만 링크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1751261"/>
                <a:gridCol w="3940338"/>
              </a:tblGrid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 · 색인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스크립트 1줄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학내 사이트도 추가 개발 없이 적용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 0.5초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비동기 · 지연 로딩, 장애 시 런처 숨김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색인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이벤트 → 목표 10분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색인 제외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비공개 · 권한 제한 · 제외 지정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61776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76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76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스크립트 이식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74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74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74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색인 반영 목표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관리 및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조직 · 인력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관리 · 위험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교육 · 매뉴얼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기술지원 · 하자보수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 조직 · 참여 인력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Ⅵ.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아래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3개 부문 책임자 + 독립 품질 · 보안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체계, 13명 · 29.9 M/M — PM · 부문 책임자는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착수부터 검수까지 교체 없이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투입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4377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교육혁신본부장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6799" y="1486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에듀테크센터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600" y="1422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검수 · 승인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268000"/>
            <a:ext cx="4377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총괄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332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6799" y="2332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600" y="2268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000" y="3114000"/>
            <a:ext cx="4377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48000" y="3178800"/>
            <a:ext cx="985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① 실행기반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87199" y="3178800"/>
            <a:ext cx="985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② AI 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26399" y="3178800"/>
            <a:ext cx="9851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③ 홈페이지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91600" y="3114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책임자 </a:t>
            </a: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000" y="3960000"/>
            <a:ext cx="43776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8000" y="4024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【플랫폼 공급사】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06799" y="4024800"/>
            <a:ext cx="150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【부산 지원 협력사】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91600" y="3960000"/>
            <a:ext cx="1224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하도급 ≤50%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77600" y="1422000"/>
          <a:ext cx="5691598" cy="5057995"/>
        </p:xfrm>
        <a:graphic>
          <a:graphicData uri="http://schemas.openxmlformats.org/drawingml/2006/table">
            <a:tbl>
              <a:tblPr firstRow="0" bandRow="0"/>
              <a:tblGrid>
                <a:gridCol w="3093260"/>
                <a:gridCol w="1361034"/>
                <a:gridCol w="1237304"/>
              </a:tblGrid>
              <a:tr h="6703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03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3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실행기반 (2명)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 · 고급】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305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AI 앱 (4명)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 · 고급 · 중급】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5305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홈페이지 (5명)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 · 고급 · 중급】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3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3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관리 방법론 · 위험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Ⅵ.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PMR-001, PMR-003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수행계획서(D+14)에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7개 관리 방안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58개 요구사항 추적표 · 주간보고 · 관문 4개로 관리하고, 고유 위험 6개는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착수 시 등록 · 즉시 서면 보고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5058000"/>
        </p:xfrm>
        <a:graphic>
          <a:graphicData uri="http://schemas.openxmlformats.org/drawingml/2006/table">
            <a:tbl>
              <a:tblPr firstRow="0" bandRow="0"/>
              <a:tblGrid>
                <a:gridCol w="1932996"/>
                <a:gridCol w="3758603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규격 · 계정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양방식 설계 선행 · Mock 서버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영향평가 대상 판정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 · 합성 데이터로 시험 · 검수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서버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서버 사전 구성 → 1일 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원고 · 시안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원고 템플릿 W2 · 수정 2회 일정 고정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TER-003 미달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W6부터 주간 자동 측정 · 담당 지정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422000"/>
          <a:ext cx="5691599" cy="4368105"/>
        </p:xfrm>
        <a:graphic>
          <a:graphicData uri="http://schemas.openxmlformats.org/drawingml/2006/table">
            <a:tbl>
              <a:tblPr firstRow="0" bandRow="0"/>
              <a:tblGrid>
                <a:gridCol w="3632936"/>
                <a:gridCol w="2058663"/>
              </a:tblGrid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·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 (진척 · 이슈 · 위험)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검토회의 (관문 판정)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 사항 서면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즉시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362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· 영향 이벤트 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1년 보존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5898109"/>
            <a:ext cx="5691600" cy="563622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AI 앱 · 연계 모듈 · 테스트 에이전트 소스와 저장소 일체 이관 — 발주기관 환경 재빌드로 인수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매뉴얼 · 교육 — 직접 만들고 운영하는 역량 이전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Ⅵ.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PSR-001, WEB-013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온사이트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2회차 · 16시간 · 회차당 30명 · 1인 1실습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+ 별도 CMS 관리자 교육 2회, 매뉴얼 6종 원본 제공, 종료 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6개월 온라인 질의 대응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5691599" cy="4158000"/>
        </p:xfrm>
        <a:graphic>
          <a:graphicData uri="http://schemas.openxmlformats.org/drawingml/2006/table">
            <a:tbl>
              <a:tblPr firstRow="0" bandRow="0"/>
              <a:tblGrid>
                <a:gridCol w="1503441"/>
                <a:gridCol w="3221660"/>
                <a:gridCol w="966498"/>
              </a:tblGrid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1회차 8h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동작 원리 · 도구(MCP) · 스킬 실습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2회차 8h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 구성 · 권한 정책 · 실행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2회 (2h+)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· 게시판 · 프로그램 · 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W11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16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안내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패널 도움말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3240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0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16h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0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2회차 온사이트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3800" y="5688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3800" y="5742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30명↑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3800" y="6210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회차당 · 1인 1실습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177600" y="1422000"/>
          <a:ext cx="5691599" cy="2751425"/>
        </p:xfrm>
        <a:graphic>
          <a:graphicData uri="http://schemas.openxmlformats.org/drawingml/2006/table">
            <a:tbl>
              <a:tblPr firstRow="0" bandRow="0"/>
              <a:tblGrid>
                <a:gridCol w="1860715"/>
                <a:gridCol w="3830884"/>
              </a:tblGrid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권한 · 기록 · 지식 갱신 · 스킬 · MCP 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이용 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에이전트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CLI 옵션 · 골든셋 작성 · 결과 해석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CMS · 콘텐츠 · 인프라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캡처 포함, 백업 · 인증서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6177600" y="4281426"/>
            <a:ext cx="2800800" cy="21985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9600" y="4324625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이해도 확인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9600" y="4576626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1600" y="4605426"/>
            <a:ext cx="2692800" cy="1838574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21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실습 과제 + 평가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21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교육결과보고서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21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1인 1실습 환경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8400" y="4281426"/>
            <a:ext cx="2800800" cy="21985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0400" y="4324625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6개월 질의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0400" y="4576626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2400" y="4605426"/>
            <a:ext cx="2692800" cy="1838574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21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온라인 창구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21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2영업일 이내 답변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21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교육자료 전자문서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기술지원 · 온사이트 · 하자보수 · 유지관리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Ⅵ. 프로젝트 관리 및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PSR-002, PSR-003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부산 지원 조직이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1등급 장애 </a:t>
            </a:r>
            <a:r>
              <a:rPr sz="13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【2시간】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 이내 현장 도착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인도일부터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1년 무상 하자보수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(TER-003 정확성 미달 포함), 유지관리 요율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 </a:t>
            </a:r>
            <a:r>
              <a:rPr sz="13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【○%】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교육혁신본부 업무를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안전하게 끝까지 처리하는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에이전트 — 에이치나인이 기반부터 함께 만듭니다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1422000"/>
          <a:ext cx="5691598" cy="2223000"/>
        </p:xfrm>
        <a:graphic>
          <a:graphicData uri="http://schemas.openxmlformats.org/drawingml/2006/table">
            <a:tbl>
              <a:tblPr firstRow="0" bandRow="0"/>
              <a:tblGrid>
                <a:gridCol w="1532353"/>
                <a:gridCol w="1094538"/>
                <a:gridCol w="1094538"/>
                <a:gridCol w="1970169"/>
              </a:tblGrid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도착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1등급 (긴급)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【2시간】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2등급 (중요)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【4시간】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3등급 (일반)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2영업일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4000" y="3753000"/>
          <a:ext cx="5691599" cy="2223000"/>
        </p:xfrm>
        <a:graphic>
          <a:graphicData uri="http://schemas.openxmlformats.org/drawingml/2006/table">
            <a:tbl>
              <a:tblPr firstRow="0" bandRow="0"/>
              <a:tblGrid>
                <a:gridCol w="1860715"/>
                <a:gridCol w="3830884"/>
              </a:tblGrid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조직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소재 · 인원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본사 원격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·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【4명】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부산 현장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소재 협력사】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·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【2명】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(입증 자료)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57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HW 제조사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【부산 서비스센터】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NBD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7600" y="1422000"/>
          <a:ext cx="5691599" cy="3654000"/>
        </p:xfrm>
        <a:graphic>
          <a:graphicData uri="http://schemas.openxmlformats.org/drawingml/2006/table">
            <a:tbl>
              <a:tblPr firstRow="0" bandRow="0"/>
              <a:tblGrid>
                <a:gridCol w="1641807"/>
                <a:gridCol w="4049792"/>
              </a:tblGrid>
              <a:tr h="73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3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(무상 1년)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비정상 동작 · 미충족 · TER-003 미달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(유상)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추가 · 환경 변화 — 연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【○%】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안정화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후 4주 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8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인력 지식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 참여 · 교육 · 문서 인계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177600" y="5184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7600" y="5238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7600" y="5706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무상 하자보수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7400" y="5184000"/>
            <a:ext cx="27918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7400" y="5238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【2h】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7400" y="5706000"/>
            <a:ext cx="27918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1등급 현장 도착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교육혁신본부 AX를 업무 완결형 에이전트로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